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07.xml"/>
  <Override ContentType="application/vnd.openxmlformats-officedocument.presentationml.notesSlide+xml" PartName="/ppt/notesSlides/notesSlide100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8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77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73.xml"/>
  <Override ContentType="application/vnd.openxmlformats-officedocument.presentationml.notesSlide+xml" PartName="/ppt/notesSlides/notesSlide8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69.xml"/>
  <Override ContentType="application/vnd.openxmlformats-officedocument.presentationml.notesSlide+xml" PartName="/ppt/notesSlides/notesSlide105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93.xml"/>
  <Override ContentType="application/vnd.openxmlformats-officedocument.presentationml.notesSlide+xml" PartName="/ppt/notesSlides/notesSlide87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75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103.xml"/>
  <Override ContentType="application/vnd.openxmlformats-officedocument.presentationml.notesSlide+xml" PartName="/ppt/notesSlides/notesSlide97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9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101.xml"/>
  <Override ContentType="application/vnd.openxmlformats-officedocument.presentationml.notesSlide+xml" PartName="/ppt/notesSlides/notesSlide95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78.xml"/>
  <Override ContentType="application/vnd.openxmlformats-officedocument.presentationml.notesSlide+xml" PartName="/ppt/notesSlides/notesSlide71.xml"/>
  <Override ContentType="application/vnd.openxmlformats-officedocument.presentationml.notesSlide+xml" PartName="/ppt/notesSlides/notesSlide92.xml"/>
  <Override ContentType="application/vnd.openxmlformats-officedocument.presentationml.notesSlide+xml" PartName="/ppt/notesSlides/notesSlide84.xml"/>
  <Override ContentType="application/vnd.openxmlformats-officedocument.presentationml.notesSlide+xml" PartName="/ppt/notesSlides/notesSlide76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68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82.xml"/>
  <Override ContentType="application/vnd.openxmlformats-officedocument.presentationml.notesSlide+xml" PartName="/ppt/notesSlides/notesSlide9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108.xml"/>
  <Override ContentType="application/vnd.openxmlformats-officedocument.presentationml.notesSlide+xml" PartName="/ppt/notesSlides/notesSlide90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86.xml"/>
  <Override ContentType="application/vnd.openxmlformats-officedocument.presentationml.notesSlide+xml" PartName="/ppt/notesSlides/notesSlide106.xml"/>
  <Override ContentType="application/vnd.openxmlformats-officedocument.presentationml.notesSlide+xml" PartName="/ppt/notesSlides/notesSlide99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80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7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8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70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72.xml"/>
  <Override ContentType="application/vnd.openxmlformats-officedocument.presentationml.notesSlide+xml" PartName="/ppt/notesSlides/notesSlide98.xml"/>
  <Override ContentType="application/vnd.openxmlformats-officedocument.presentationml.notesSlide+xml" PartName="/ppt/notesSlides/notesSlide104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9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96.xml"/>
  <Override ContentType="application/vnd.openxmlformats-officedocument.presentationml.notesSlide+xml" PartName="/ppt/notesSlides/notesSlide102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83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3.xml"/>
  <Override ContentType="application/vnd.openxmlformats-officedocument.presentationml.slide+xml" PartName="/ppt/slides/slide78.xml"/>
  <Override ContentType="application/vnd.openxmlformats-officedocument.presentationml.slide+xml" PartName="/ppt/slides/slide86.xml"/>
  <Override ContentType="application/vnd.openxmlformats-officedocument.presentationml.slide+xml" PartName="/ppt/slides/slide35.xml"/>
  <Override ContentType="application/vnd.openxmlformats-officedocument.presentationml.slide+xml" PartName="/ppt/slides/slide105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68.xml"/>
  <Override ContentType="application/vnd.openxmlformats-officedocument.presentationml.slide+xml" PartName="/ppt/slides/slide94.xml"/>
  <Override ContentType="application/vnd.openxmlformats-officedocument.presentationml.slide+xml" PartName="/ppt/slides/slide84.xml"/>
  <Override ContentType="application/vnd.openxmlformats-officedocument.presentationml.slide+xml" PartName="/ppt/slides/slide107.xml"/>
  <Override ContentType="application/vnd.openxmlformats-officedocument.presentationml.slide+xml" PartName="/ppt/slides/slide37.xml"/>
  <Override ContentType="application/vnd.openxmlformats-officedocument.presentationml.slide+xml" PartName="/ppt/slides/slide71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66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53.xml"/>
  <Override ContentType="application/vnd.openxmlformats-officedocument.presentationml.slide+xml" PartName="/ppt/slides/slide96.xml"/>
  <Override ContentType="application/vnd.openxmlformats-officedocument.presentationml.slide+xml" PartName="/ppt/slides/slide48.xml"/>
  <Override ContentType="application/vnd.openxmlformats-officedocument.presentationml.slide+xml" PartName="/ppt/slides/slide22.xml"/>
  <Override ContentType="application/vnd.openxmlformats-officedocument.presentationml.slide+xml" PartName="/ppt/slides/slide82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2.xml"/>
  <Override ContentType="application/vnd.openxmlformats-officedocument.presentationml.slide+xml" PartName="/ppt/slides/slide108.xml"/>
  <Override ContentType="application/vnd.openxmlformats-officedocument.presentationml.slide+xml" PartName="/ppt/slides/slide98.xml"/>
  <Override ContentType="application/vnd.openxmlformats-officedocument.presentationml.slide+xml" PartName="/ppt/slides/slide72.xml"/>
  <Override ContentType="application/vnd.openxmlformats-officedocument.presentationml.slide+xml" PartName="/ppt/slides/slide20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89.xml"/>
  <Override ContentType="application/vnd.openxmlformats-officedocument.presentationml.slide+xml" PartName="/ppt/slides/slide76.xml"/>
  <Override ContentType="application/vnd.openxmlformats-officedocument.presentationml.slide+xml" PartName="/ppt/slides/slide63.xml"/>
  <Override ContentType="application/vnd.openxmlformats-officedocument.presentationml.slide+xml" PartName="/ppt/slides/slide93.xml"/>
  <Override ContentType="application/vnd.openxmlformats-officedocument.presentationml.slide+xml" PartName="/ppt/slides/slide101.xml"/>
  <Override ContentType="application/vnd.openxmlformats-officedocument.presentationml.slide+xml" PartName="/ppt/slides/slide80.xml"/>
  <Override ContentType="application/vnd.openxmlformats-officedocument.presentationml.slide+xml" PartName="/ppt/slides/slide103.xml"/>
  <Override ContentType="application/vnd.openxmlformats-officedocument.presentationml.slide+xml" PartName="/ppt/slides/slide61.xml"/>
  <Override ContentType="application/vnd.openxmlformats-officedocument.presentationml.slide+xml" PartName="/ppt/slides/slide91.xml"/>
  <Override ContentType="application/vnd.openxmlformats-officedocument.presentationml.slide+xml" PartName="/ppt/slides/slide31.xml"/>
  <Override ContentType="application/vnd.openxmlformats-officedocument.presentationml.slide+xml" PartName="/ppt/slides/slide87.xml"/>
  <Override ContentType="application/vnd.openxmlformats-officedocument.presentationml.slide+xml" PartName="/ppt/slides/slide74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95.xml"/>
  <Override ContentType="application/vnd.openxmlformats-officedocument.presentationml.slide+xml" PartName="/ppt/slides/slide69.xml"/>
  <Override ContentType="application/vnd.openxmlformats-officedocument.presentationml.slide+xml" PartName="/ppt/slides/slide85.xml"/>
  <Override ContentType="application/vnd.openxmlformats-officedocument.presentationml.slide+xml" PartName="/ppt/slides/slide42.xml"/>
  <Override ContentType="application/vnd.openxmlformats-officedocument.presentationml.slide+xml" PartName="/ppt/slides/slide50.xml"/>
  <Override ContentType="application/vnd.openxmlformats-officedocument.presentationml.slide+xml" PartName="/ppt/slides/slide77.xml"/>
  <Override ContentType="application/vnd.openxmlformats-officedocument.presentationml.slide+xml" PartName="/ppt/slides/slide34.xml"/>
  <Override ContentType="application/vnd.openxmlformats-officedocument.presentationml.slide+xml" PartName="/ppt/slides/slide16.xml"/>
  <Override ContentType="application/vnd.openxmlformats-officedocument.presentationml.slide+xml" PartName="/ppt/slides/slide104.xml"/>
  <Override ContentType="application/vnd.openxmlformats-officedocument.presentationml.slide+xml" PartName="/ppt/slides/slide24.xml"/>
  <Override ContentType="application/vnd.openxmlformats-officedocument.presentationml.slide+xml" PartName="/ppt/slides/slide97.xml"/>
  <Override ContentType="application/vnd.openxmlformats-officedocument.presentationml.slide+xml" PartName="/ppt/slides/slide11.xml"/>
  <Override ContentType="application/vnd.openxmlformats-officedocument.presentationml.slide+xml" PartName="/ppt/slides/slide6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79.xml"/>
  <Override ContentType="application/vnd.openxmlformats-officedocument.presentationml.slide+xml" PartName="/ppt/slides/slide49.xml"/>
  <Override ContentType="application/vnd.openxmlformats-officedocument.presentationml.slide+xml" PartName="/ppt/slides/slide83.xml"/>
  <Override ContentType="application/vnd.openxmlformats-officedocument.presentationml.slide+xml" PartName="/ppt/slides/slide106.xml"/>
  <Override ContentType="application/vnd.openxmlformats-officedocument.presentationml.slide+xml" PartName="/ppt/slides/slide70.xml"/>
  <Override ContentType="application/vnd.openxmlformats-officedocument.presentationml.slide+xml" PartName="/ppt/slides/slide6.xml"/>
  <Override ContentType="application/vnd.openxmlformats-officedocument.presentationml.slide+xml" PartName="/ppt/slides/slide40.xml"/>
  <Override ContentType="application/vnd.openxmlformats-officedocument.presentationml.slide+xml" PartName="/ppt/slides/slide73.xml"/>
  <Override ContentType="application/vnd.openxmlformats-officedocument.presentationml.slide+xml" PartName="/ppt/slides/slide30.xml"/>
  <Override ContentType="application/vnd.openxmlformats-officedocument.presentationml.slide+xml" PartName="/ppt/slides/slide99.xml"/>
  <Override ContentType="application/vnd.openxmlformats-officedocument.presentationml.slide+xml" PartName="/ppt/slides/slide3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47.xml"/>
  <Override ContentType="application/vnd.openxmlformats-officedocument.presentationml.slide+xml" PartName="/ppt/slides/slide21.xml"/>
  <Override ContentType="application/vnd.openxmlformats-officedocument.presentationml.slide+xml" PartName="/ppt/slides/slide100.xml"/>
  <Override ContentType="application/vnd.openxmlformats-officedocument.presentationml.slide+xml" PartName="/ppt/slides/slide64.xml"/>
  <Override ContentType="application/vnd.openxmlformats-officedocument.presentationml.slide+xml" PartName="/ppt/slides/slide81.xml"/>
  <Override ContentType="application/vnd.openxmlformats-officedocument.presentationml.slide+xml" PartName="/ppt/slides/slide90.xml"/>
  <Override ContentType="application/vnd.openxmlformats-officedocument.presentationml.slide+xml" PartName="/ppt/slides/slide8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75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88.xml"/>
  <Override ContentType="application/vnd.openxmlformats-officedocument.presentationml.slide+xml" PartName="/ppt/slides/slide92.xml"/>
  <Override ContentType="application/vnd.openxmlformats-officedocument.presentationml.slide+xml" PartName="/ppt/slides/slide10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</p:sldIdLst>
  <p:sldSz cy="5143500" cx="9144000"/>
  <p:notesSz cx="6858000" cy="9144000"/>
  <p:embeddedFontLst>
    <p:embeddedFont>
      <p:font typeface="Roboto Medium"/>
      <p:regular r:id="rId115"/>
      <p:bold r:id="rId116"/>
      <p:italic r:id="rId117"/>
      <p:boldItalic r:id="rId118"/>
    </p:embeddedFont>
    <p:embeddedFont>
      <p:font typeface="Roboto"/>
      <p:regular r:id="rId119"/>
      <p:bold r:id="rId120"/>
      <p:italic r:id="rId121"/>
      <p:boldItalic r:id="rId122"/>
    </p:embeddedFont>
    <p:embeddedFont>
      <p:font typeface="Roboto Light"/>
      <p:regular r:id="rId123"/>
      <p:bold r:id="rId124"/>
      <p:italic r:id="rId125"/>
      <p:boldItalic r:id="rId1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9A57BFC-BF9F-44FD-95FC-58D745B5DC61}">
  <a:tblStyle styleId="{B9A57BFC-BF9F-44FD-95FC-58D745B5DC6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07" Type="http://schemas.openxmlformats.org/officeDocument/2006/relationships/slide" Target="slides/slide101.xml"/><Relationship Id="rId106" Type="http://schemas.openxmlformats.org/officeDocument/2006/relationships/slide" Target="slides/slide100.xml"/><Relationship Id="rId105" Type="http://schemas.openxmlformats.org/officeDocument/2006/relationships/slide" Target="slides/slide99.xml"/><Relationship Id="rId104" Type="http://schemas.openxmlformats.org/officeDocument/2006/relationships/slide" Target="slides/slide98.xml"/><Relationship Id="rId109" Type="http://schemas.openxmlformats.org/officeDocument/2006/relationships/slide" Target="slides/slide103.xml"/><Relationship Id="rId108" Type="http://schemas.openxmlformats.org/officeDocument/2006/relationships/slide" Target="slides/slide102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103" Type="http://schemas.openxmlformats.org/officeDocument/2006/relationships/slide" Target="slides/slide97.xml"/><Relationship Id="rId102" Type="http://schemas.openxmlformats.org/officeDocument/2006/relationships/slide" Target="slides/slide96.xml"/><Relationship Id="rId101" Type="http://schemas.openxmlformats.org/officeDocument/2006/relationships/slide" Target="slides/slide95.xml"/><Relationship Id="rId100" Type="http://schemas.openxmlformats.org/officeDocument/2006/relationships/slide" Target="slides/slide94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26" Type="http://schemas.openxmlformats.org/officeDocument/2006/relationships/font" Target="fonts/RobotoLight-boldItalic.fntdata"/><Relationship Id="rId26" Type="http://schemas.openxmlformats.org/officeDocument/2006/relationships/slide" Target="slides/slide20.xml"/><Relationship Id="rId121" Type="http://schemas.openxmlformats.org/officeDocument/2006/relationships/font" Target="fonts/Roboto-italic.fntdata"/><Relationship Id="rId25" Type="http://schemas.openxmlformats.org/officeDocument/2006/relationships/slide" Target="slides/slide19.xml"/><Relationship Id="rId120" Type="http://schemas.openxmlformats.org/officeDocument/2006/relationships/font" Target="fonts/Roboto-bold.fntdata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125" Type="http://schemas.openxmlformats.org/officeDocument/2006/relationships/font" Target="fonts/RobotoLight-italic.fntdata"/><Relationship Id="rId29" Type="http://schemas.openxmlformats.org/officeDocument/2006/relationships/slide" Target="slides/slide23.xml"/><Relationship Id="rId124" Type="http://schemas.openxmlformats.org/officeDocument/2006/relationships/font" Target="fonts/RobotoLight-bold.fntdata"/><Relationship Id="rId123" Type="http://schemas.openxmlformats.org/officeDocument/2006/relationships/font" Target="fonts/RobotoLight-regular.fntdata"/><Relationship Id="rId122" Type="http://schemas.openxmlformats.org/officeDocument/2006/relationships/font" Target="fonts/Roboto-boldItalic.fntdata"/><Relationship Id="rId95" Type="http://schemas.openxmlformats.org/officeDocument/2006/relationships/slide" Target="slides/slide89.xml"/><Relationship Id="rId94" Type="http://schemas.openxmlformats.org/officeDocument/2006/relationships/slide" Target="slides/slide88.xml"/><Relationship Id="rId97" Type="http://schemas.openxmlformats.org/officeDocument/2006/relationships/slide" Target="slides/slide91.xml"/><Relationship Id="rId96" Type="http://schemas.openxmlformats.org/officeDocument/2006/relationships/slide" Target="slides/slide90.xml"/><Relationship Id="rId11" Type="http://schemas.openxmlformats.org/officeDocument/2006/relationships/slide" Target="slides/slide5.xml"/><Relationship Id="rId99" Type="http://schemas.openxmlformats.org/officeDocument/2006/relationships/slide" Target="slides/slide93.xml"/><Relationship Id="rId10" Type="http://schemas.openxmlformats.org/officeDocument/2006/relationships/slide" Target="slides/slide4.xml"/><Relationship Id="rId98" Type="http://schemas.openxmlformats.org/officeDocument/2006/relationships/slide" Target="slides/slide92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91" Type="http://schemas.openxmlformats.org/officeDocument/2006/relationships/slide" Target="slides/slide85.xml"/><Relationship Id="rId90" Type="http://schemas.openxmlformats.org/officeDocument/2006/relationships/slide" Target="slides/slide84.xml"/><Relationship Id="rId93" Type="http://schemas.openxmlformats.org/officeDocument/2006/relationships/slide" Target="slides/slide87.xml"/><Relationship Id="rId92" Type="http://schemas.openxmlformats.org/officeDocument/2006/relationships/slide" Target="slides/slide86.xml"/><Relationship Id="rId118" Type="http://schemas.openxmlformats.org/officeDocument/2006/relationships/font" Target="fonts/RobotoMedium-boldItalic.fntdata"/><Relationship Id="rId117" Type="http://schemas.openxmlformats.org/officeDocument/2006/relationships/font" Target="fonts/RobotoMedium-italic.fntdata"/><Relationship Id="rId116" Type="http://schemas.openxmlformats.org/officeDocument/2006/relationships/font" Target="fonts/RobotoMedium-bold.fntdata"/><Relationship Id="rId115" Type="http://schemas.openxmlformats.org/officeDocument/2006/relationships/font" Target="fonts/RobotoMedium-regular.fntdata"/><Relationship Id="rId119" Type="http://schemas.openxmlformats.org/officeDocument/2006/relationships/font" Target="fonts/Roboto-regular.fntdata"/><Relationship Id="rId15" Type="http://schemas.openxmlformats.org/officeDocument/2006/relationships/slide" Target="slides/slide9.xml"/><Relationship Id="rId110" Type="http://schemas.openxmlformats.org/officeDocument/2006/relationships/slide" Target="slides/slide104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14" Type="http://schemas.openxmlformats.org/officeDocument/2006/relationships/slide" Target="slides/slide108.xml"/><Relationship Id="rId18" Type="http://schemas.openxmlformats.org/officeDocument/2006/relationships/slide" Target="slides/slide12.xml"/><Relationship Id="rId113" Type="http://schemas.openxmlformats.org/officeDocument/2006/relationships/slide" Target="slides/slide107.xml"/><Relationship Id="rId112" Type="http://schemas.openxmlformats.org/officeDocument/2006/relationships/slide" Target="slides/slide106.xml"/><Relationship Id="rId111" Type="http://schemas.openxmlformats.org/officeDocument/2006/relationships/slide" Target="slides/slide105.xml"/><Relationship Id="rId84" Type="http://schemas.openxmlformats.org/officeDocument/2006/relationships/slide" Target="slides/slide78.xml"/><Relationship Id="rId83" Type="http://schemas.openxmlformats.org/officeDocument/2006/relationships/slide" Target="slides/slide77.xml"/><Relationship Id="rId86" Type="http://schemas.openxmlformats.org/officeDocument/2006/relationships/slide" Target="slides/slide80.xml"/><Relationship Id="rId85" Type="http://schemas.openxmlformats.org/officeDocument/2006/relationships/slide" Target="slides/slide79.xml"/><Relationship Id="rId88" Type="http://schemas.openxmlformats.org/officeDocument/2006/relationships/slide" Target="slides/slide82.xml"/><Relationship Id="rId87" Type="http://schemas.openxmlformats.org/officeDocument/2006/relationships/slide" Target="slides/slide81.xml"/><Relationship Id="rId89" Type="http://schemas.openxmlformats.org/officeDocument/2006/relationships/slide" Target="slides/slide83.xml"/><Relationship Id="rId80" Type="http://schemas.openxmlformats.org/officeDocument/2006/relationships/slide" Target="slides/slide74.xml"/><Relationship Id="rId82" Type="http://schemas.openxmlformats.org/officeDocument/2006/relationships/slide" Target="slides/slide76.xml"/><Relationship Id="rId81" Type="http://schemas.openxmlformats.org/officeDocument/2006/relationships/slide" Target="slides/slide75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73" Type="http://schemas.openxmlformats.org/officeDocument/2006/relationships/slide" Target="slides/slide67.xml"/><Relationship Id="rId72" Type="http://schemas.openxmlformats.org/officeDocument/2006/relationships/slide" Target="slides/slide66.xml"/><Relationship Id="rId75" Type="http://schemas.openxmlformats.org/officeDocument/2006/relationships/slide" Target="slides/slide69.xml"/><Relationship Id="rId74" Type="http://schemas.openxmlformats.org/officeDocument/2006/relationships/slide" Target="slides/slide68.xml"/><Relationship Id="rId77" Type="http://schemas.openxmlformats.org/officeDocument/2006/relationships/slide" Target="slides/slide71.xml"/><Relationship Id="rId76" Type="http://schemas.openxmlformats.org/officeDocument/2006/relationships/slide" Target="slides/slide70.xml"/><Relationship Id="rId79" Type="http://schemas.openxmlformats.org/officeDocument/2006/relationships/slide" Target="slides/slide73.xml"/><Relationship Id="rId78" Type="http://schemas.openxmlformats.org/officeDocument/2006/relationships/slide" Target="slides/slide72.xml"/><Relationship Id="rId71" Type="http://schemas.openxmlformats.org/officeDocument/2006/relationships/slide" Target="slides/slide65.xml"/><Relationship Id="rId70" Type="http://schemas.openxmlformats.org/officeDocument/2006/relationships/slide" Target="slides/slide64.xml"/><Relationship Id="rId62" Type="http://schemas.openxmlformats.org/officeDocument/2006/relationships/slide" Target="slides/slide56.xml"/><Relationship Id="rId61" Type="http://schemas.openxmlformats.org/officeDocument/2006/relationships/slide" Target="slides/slide55.xml"/><Relationship Id="rId64" Type="http://schemas.openxmlformats.org/officeDocument/2006/relationships/slide" Target="slides/slide58.xml"/><Relationship Id="rId63" Type="http://schemas.openxmlformats.org/officeDocument/2006/relationships/slide" Target="slides/slide57.xml"/><Relationship Id="rId66" Type="http://schemas.openxmlformats.org/officeDocument/2006/relationships/slide" Target="slides/slide60.xml"/><Relationship Id="rId65" Type="http://schemas.openxmlformats.org/officeDocument/2006/relationships/slide" Target="slides/slide59.xml"/><Relationship Id="rId68" Type="http://schemas.openxmlformats.org/officeDocument/2006/relationships/slide" Target="slides/slide62.xml"/><Relationship Id="rId67" Type="http://schemas.openxmlformats.org/officeDocument/2006/relationships/slide" Target="slides/slide61.xml"/><Relationship Id="rId60" Type="http://schemas.openxmlformats.org/officeDocument/2006/relationships/slide" Target="slides/slide54.xml"/><Relationship Id="rId69" Type="http://schemas.openxmlformats.org/officeDocument/2006/relationships/slide" Target="slides/slide6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3" Type="http://schemas.openxmlformats.org/officeDocument/2006/relationships/slide" Target="slides/slide47.xml"/><Relationship Id="rId52" Type="http://schemas.openxmlformats.org/officeDocument/2006/relationships/slide" Target="slides/slide46.xml"/><Relationship Id="rId55" Type="http://schemas.openxmlformats.org/officeDocument/2006/relationships/slide" Target="slides/slide49.xml"/><Relationship Id="rId54" Type="http://schemas.openxmlformats.org/officeDocument/2006/relationships/slide" Target="slides/slide48.xml"/><Relationship Id="rId57" Type="http://schemas.openxmlformats.org/officeDocument/2006/relationships/slide" Target="slides/slide51.xml"/><Relationship Id="rId56" Type="http://schemas.openxmlformats.org/officeDocument/2006/relationships/slide" Target="slides/slide50.xml"/><Relationship Id="rId59" Type="http://schemas.openxmlformats.org/officeDocument/2006/relationships/slide" Target="slides/slide53.xml"/><Relationship Id="rId58" Type="http://schemas.openxmlformats.org/officeDocument/2006/relationships/slide" Target="slides/slide5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22e21dfd57_0_1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322e21dfd57_0_1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Slides template credit: Josh Hug, Lisa Yan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22e21dfd57_0_666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322e21dfd57_0_6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2e473607ca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" name="Google Shape;195;g32e473607ca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2e473607ca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g32e473607ca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32e473607ca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" name="Google Shape;233;g32e473607ca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32e473607ca_0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8" name="Google Shape;248;g32e473607ca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g32e473607ca_0_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5" name="Google Shape;265;g32e473607ca_0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32e473607ca_0_6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7" name="Google Shape;287;g32e473607ca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32e473607ca_0_1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4" name="Google Shape;294;g32e473607ca_0_1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32e4c9aada8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0" name="Google Shape;300;g32e4c9aada8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g32e4c9aada8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5" name="Google Shape;335;g32e4c9aada8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g32e4c9aada8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0" name="Google Shape;440;g32e4c9aada8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3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g32e4c9aada8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5" name="Google Shape;545;g32e4c9aada8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We’ll stick with clos since we’ve already studied it, but just so you know torus also </a:t>
            </a:r>
            <a:r>
              <a:rPr lang="en"/>
              <a:t>exists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4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Google Shape;595;g32e6d4b0952_0_3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6" name="Google Shape;596;g32e6d4b0952_0_3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Front to back as well </a:t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0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1" name="Google Shape;661;g32e4c9aada8_0_28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2" name="Google Shape;662;g32e4c9aada8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7" name="Shape 6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8" name="Google Shape;668;g32e4c9aada8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9" name="Google Shape;669;g32e4c9aada8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Supercomputers for scientific </a:t>
            </a:r>
            <a:r>
              <a:rPr lang="en"/>
              <a:t>computing</a:t>
            </a:r>
            <a:r>
              <a:rPr lang="en"/>
              <a:t>, physics, weather forecasting </a:t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3" name="Shape 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4" name="Google Shape;674;g32e4c9aada8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5" name="Google Shape;675;g32e4c9aada8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9" name="Shape 6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0" name="Google Shape;680;g32e76c5512d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1" name="Google Shape;681;g32e76c5512d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API operations for collectives </a:t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5" name="Shape 6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" name="Google Shape;686;g32e76c5512d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7" name="Google Shape;687;g32e76c5512d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6" name="Shape 7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" name="Google Shape;737;g32e76c5512d_0_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8" name="Google Shape;738;g32e76c5512d_0_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7" name="Shape 7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" name="Google Shape;788;g32e76c5512d_0_1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9" name="Google Shape;789;g32e76c5512d_0_1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8" name="Shape 8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" name="Google Shape;839;g32e76c5512d_0_2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0" name="Google Shape;840;g32e76c5512d_0_2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4" name="Shape 8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5" name="Google Shape;845;g32e473607ca_0_117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6" name="Google Shape;846;g32e473607ca_0_1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1" name="Shape 8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2" name="Google Shape;852;g322e21dfd57_0_9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3" name="Google Shape;853;g322e21dfd57_0_9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1" name="Shape 9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2" name="Google Shape;902;g322e21dfd57_0_7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3" name="Google Shape;903;g322e21dfd57_0_7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1" name="Shape 9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" name="Google Shape;952;g322e21dfd57_0_8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3" name="Google Shape;953;g322e21dfd57_0_8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1" name="Shape 10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Google Shape;1002;g322e21dfd57_0_8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3" name="Google Shape;1003;g322e21dfd57_0_8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1" name="Shape 10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2" name="Google Shape;1052;g322e21dfd57_0_140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3" name="Google Shape;1053;g322e21dfd57_0_1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8" name="Shape 10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9" name="Google Shape;1059;g322e21dfd57_0_5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0" name="Google Shape;1060;g322e21dfd57_0_5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8" name="Shape 1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9" name="Google Shape;1109;g322e21dfd57_0_5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0" name="Google Shape;1110;g322e21dfd57_0_5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8" name="Shape 1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9" name="Google Shape;1159;g322e21dfd57_0_4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0" name="Google Shape;1160;g322e21dfd57_0_4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8" name="Shape 1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9" name="Google Shape;1209;g322e21dfd57_0_1288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0" name="Google Shape;1210;g322e21dfd57_0_12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5" name="Shape 1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6" name="Google Shape;1216;g32e76c5512d_0_2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7" name="Google Shape;1217;g32e76c5512d_0_2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2" name="Shape 1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3" name="Google Shape;1223;g322e21dfd57_0_12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4" name="Google Shape;1224;g322e21dfd57_0_12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4" name="Shape 1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5" name="Google Shape;1315;g322e21dfd57_0_14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6" name="Google Shape;1316;g322e21dfd57_0_14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6" name="Shape 1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7" name="Google Shape;1407;g322e21dfd57_0_14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8" name="Google Shape;1408;g322e21dfd57_0_14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8" name="Shape 1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9" name="Google Shape;1499;g322e21dfd57_0_15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0" name="Google Shape;1500;g322e21dfd57_0_15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AllReduce is it’s own dual (in the paper), or maybe doesn’t have a dual </a:t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0" name="Shape 1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1" name="Google Shape;1571;g322e21dfd57_0_1680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2" name="Google Shape;1572;g322e21dfd57_0_16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do the implementers have to do? What topology, how does data get sent</a:t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7" name="Shape 1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8" name="Google Shape;1578;g32e76c5512d_0_2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9" name="Google Shape;1579;g32e76c5512d_0_2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4" name="Shape 1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5" name="Google Shape;1595;g322e21dfd57_0_16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6" name="Google Shape;1596;g322e21dfd57_0_16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2" name="Shape 1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3" name="Google Shape;1663;g3246e16ef29_0_5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4" name="Google Shape;1664;g3246e16ef29_0_5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8" name="Shape 1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9" name="Google Shape;1709;g3246e16ef29_0_7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0" name="Google Shape;1710;g3246e16ef29_0_7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8" name="Shape 17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9" name="Google Shape;1779;g3246e16ef29_0_8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0" name="Google Shape;1780;g3246e16ef29_0_8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8" name="Shape 18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9" name="Google Shape;1869;g3246e16ef29_0_9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0" name="Google Shape;1870;g3246e16ef29_0_9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8" name="Shape 19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9" name="Google Shape;1979;g3246e16ef29_0_10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0" name="Google Shape;1980;g3246e16ef29_0_10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8" name="Shape 2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9" name="Google Shape;2109;g3246e16ef29_0_11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0" name="Google Shape;2110;g3246e16ef29_0_11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8" name="Shape 2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9" name="Google Shape;2259;g3246e16ef29_0_13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0" name="Google Shape;2260;g3246e16ef29_0_13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4" name="Shape 2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5" name="Google Shape;2305;g32e76c5512d_0_2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06" name="Google Shape;2306;g32e76c5512d_0_2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1" name="Shape 2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2" name="Google Shape;2312;g32aa9d600c7_0_27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3" name="Google Shape;2313;g32aa9d600c7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8" name="Shape 2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9" name="Google Shape;2319;g32aa9d600c7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0" name="Google Shape;2320;g32aa9d600c7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8" name="Shape 2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9" name="Google Shape;2359;g32aa9d600c7_0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60" name="Google Shape;2360;g32aa9d600c7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2" name="Shape 2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3" name="Google Shape;2403;g32aa9d600c7_0_1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04" name="Google Shape;2404;g32aa9d600c7_0_1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2" name="Shape 2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3" name="Google Shape;2423;g32aa9d600c7_0_1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24" name="Google Shape;2424;g32aa9d600c7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6" name="Shape 2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7" name="Google Shape;2467;g32e76c5512d_0_2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68" name="Google Shape;2468;g32e76c5512d_0_2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3" name="Shape 2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4" name="Google Shape;2474;g3246e16ef29_0_543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5" name="Google Shape;2475;g3246e16ef29_0_5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0" name="Shape 2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1" name="Google Shape;2481;g322e21dfd57_0_18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82" name="Google Shape;2482;g322e21dfd57_0_18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0" name="Shape 2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1" name="Google Shape;2521;g3246e16ef29_0_3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2" name="Google Shape;2522;g3246e16ef29_0_3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3" name="Shape 2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4" name="Google Shape;2564;g3246e16ef29_0_3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65" name="Google Shape;2565;g3246e16ef29_0_3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4" name="Shape 2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5" name="Google Shape;2595;g3246e16ef29_0_4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96" name="Google Shape;2596;g3246e16ef29_0_4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7" name="Shape 2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8" name="Google Shape;2628;g3246e16ef29_0_4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29" name="Google Shape;2629;g3246e16ef29_0_4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8" name="Shape 2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9" name="Google Shape;2649;g3246e16ef29_0_4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50" name="Google Shape;2650;g3246e16ef29_0_4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1" name="Shape 2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2" name="Google Shape;2682;g3246e16ef29_0_4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3" name="Google Shape;2683;g3246e16ef29_0_4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4" name="Shape 27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5" name="Google Shape;2725;g32e76c5512d_0_2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26" name="Google Shape;2726;g32e76c5512d_0_2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1" name="Shape 2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2" name="Google Shape;2732;g322e21dfd57_0_2237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33" name="Google Shape;2733;g322e21dfd57_0_22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8" name="Shape 27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9" name="Google Shape;2739;g322e21dfd57_0_22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40" name="Google Shape;2740;g322e21dfd57_0_22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4" name="Shape 27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5" name="Google Shape;2785;g322e21dfd57_0_28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86" name="Google Shape;2786;g322e21dfd57_0_28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0" name="Shape 28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1" name="Google Shape;2831;g322e21dfd57_0_28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32" name="Google Shape;2832;g322e21dfd57_0_28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1" name="Shape 28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2" name="Google Shape;2872;g322e21dfd57_0_28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73" name="Google Shape;2873;g322e21dfd57_0_28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2" name="Shape 29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3" name="Google Shape;2913;g322e21dfd57_0_29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14" name="Google Shape;2914;g322e21dfd57_0_29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8" name="Shape 29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9" name="Google Shape;2949;g322e21dfd57_0_29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50" name="Google Shape;2950;g322e21dfd57_0_29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4" name="Shape 2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5" name="Google Shape;2985;g322e21dfd57_0_29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6" name="Google Shape;2986;g322e21dfd57_0_29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5" name="Shape 30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6" name="Google Shape;3016;g322e21dfd57_0_30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17" name="Google Shape;3017;g322e21dfd57_0_30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6" name="Shape 30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7" name="Google Shape;3047;g322e21dfd57_0_30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48" name="Google Shape;3048;g322e21dfd57_0_30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2" name="Shape 30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3" name="Google Shape;3073;g322e21dfd57_0_30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74" name="Google Shape;3074;g322e21dfd57_0_30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3" name="Shape 3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4" name="Google Shape;3124;g32e76c5512d_0_2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25" name="Google Shape;3125;g32e76c5512d_0_2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0" name="Shape 3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1" name="Google Shape;3131;g322e21dfd57_0_3130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32" name="Google Shape;3132;g322e21dfd57_0_3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7" name="Shape 3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8" name="Google Shape;3138;g322e21dfd57_0_31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39" name="Google Shape;3139;g322e21dfd57_0_3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Previously bursty - can go back through previous animation</a:t>
            </a:r>
            <a:endParaRPr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8" name="Shape 3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9" name="Google Shape;3189;g322e21dfd57_0_33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90" name="Google Shape;3190;g322e21dfd57_0_33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4" name="Shape 3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5" name="Google Shape;3235;g322e21dfd57_0_33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36" name="Google Shape;3236;g322e21dfd57_0_33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0" name="Shape 3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1" name="Google Shape;3281;g322e21dfd57_0_34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82" name="Google Shape;3282;g322e21dfd57_0_34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21" name="Shape 3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2" name="Google Shape;3322;g322e21dfd57_0_35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23" name="Google Shape;3323;g322e21dfd57_0_35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2" name="Shape 3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3" name="Google Shape;3363;g322e21dfd57_0_35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64" name="Google Shape;3364;g322e21dfd57_0_35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98" name="Shape 3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9" name="Google Shape;3399;g322e21dfd57_0_36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00" name="Google Shape;3400;g322e21dfd57_0_36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34" name="Shape 3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5" name="Google Shape;3435;g322e21dfd57_0_36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36" name="Google Shape;3436;g322e21dfd57_0_36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65" name="Shape 3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6" name="Google Shape;3466;g322e21dfd57_0_36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67" name="Google Shape;3467;g322e21dfd57_0_36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91" name="Shape 3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2" name="Google Shape;3492;g322e21dfd57_0_37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93" name="Google Shape;3493;g322e21dfd57_0_37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22" name="Shape 3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3" name="Google Shape;3523;g322e21dfd57_0_37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24" name="Google Shape;3524;g322e21dfd57_0_37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58" name="Shape 3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9" name="Google Shape;3559;g322e21dfd57_0_38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60" name="Google Shape;3560;g322e21dfd57_0_38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99" name="Shape 3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0" name="Google Shape;3600;g3246e16ef2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01" name="Google Shape;3601;g3246e16ef2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45" name="Shape 3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6" name="Google Shape;3646;g3246e16ef29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47" name="Google Shape;3647;g3246e16ef29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91" name="Shape 36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2" name="Google Shape;3692;g32e76c5512d_0_2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93" name="Google Shape;3693;g32e76c5512d_0_2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98" name="Shape 3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9" name="Google Shape;3699;g32aa9d600c7_0_261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00" name="Google Shape;3700;g32aa9d600c7_0_2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05" name="Shape 37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6" name="Google Shape;3706;g32aa9d600c7_0_9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07" name="Google Shape;3707;g32aa9d600c7_0_9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Sometimes the physical topology doesn’t match our ring - at least directly </a:t>
            </a:r>
            <a:endParaRPr/>
          </a:p>
        </p:txBody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52" name="Shape 37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3" name="Google Shape;3753;g32aa9d600c7_0_8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54" name="Google Shape;3754;g32aa9d600c7_0_8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84" name="Shape 37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5" name="Google Shape;3785;g32aa9d600c7_0_4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86" name="Google Shape;3786;g32aa9d600c7_0_4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31" name="Shape 38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2" name="Google Shape;3832;g32aa9d600c7_0_3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33" name="Google Shape;3833;g32aa9d600c7_0_3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79" name="Shape 38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0" name="Google Shape;3880;g32aa9d600c7_0_4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81" name="Google Shape;3881;g32aa9d600c7_0_4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28" name="Shape 39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9" name="Google Shape;3929;g32aa9d600c7_0_5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30" name="Google Shape;3930;g32aa9d600c7_0_5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78" name="Shape 39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9" name="Google Shape;3979;g32aa9d600c7_0_5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80" name="Google Shape;3980;g32aa9d600c7_0_5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30" name="Shape 40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1" name="Google Shape;4031;g32aa9d600c7_0_6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32" name="Google Shape;4032;g32aa9d600c7_0_6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77" name="Shape 40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8" name="Google Shape;4078;g32aa9d600c7_0_6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79" name="Google Shape;4079;g32aa9d600c7_0_6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25" name="Shape 4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6" name="Google Shape;4126;g32aa9d600c7_0_7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27" name="Google Shape;4127;g32aa9d600c7_0_7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74" name="Shape 4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5" name="Google Shape;4175;g32aa9d600c7_0_7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76" name="Google Shape;4176;g32aa9d600c7_0_7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24" name="Shape 4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5" name="Google Shape;4225;g32aa9d600c7_0_8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26" name="Google Shape;4226;g32aa9d600c7_0_8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76" name="Shape 4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7" name="Google Shape;4277;g32aa9d600c7_0_9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78" name="Google Shape;4278;g32aa9d600c7_0_9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08" name="Shape 4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9" name="Google Shape;4309;g32e7a04817f_0_2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10" name="Google Shape;4310;g32e7a04817f_0_2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56" name="Shape 4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7" name="Google Shape;4357;g32e7a04817f_0_3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58" name="Google Shape;4358;g32e7a04817f_0_3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77" name="Shape 4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8" name="Google Shape;4378;g32e7a04817f_0_3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79" name="Google Shape;4379;g32e7a04817f_0_3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1pPr>
            <a:lvl2pPr lvl="1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2pPr>
            <a:lvl3pPr lvl="2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3pPr>
            <a:lvl4pPr lvl="3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4pPr>
            <a:lvl5pPr lvl="4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5pPr>
            <a:lvl6pPr lvl="5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6pPr>
            <a:lvl7pPr lvl="6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7pPr>
            <a:lvl8pPr lvl="7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8pPr>
            <a:lvl9pPr lvl="8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153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" name="Google Shape;16;p3"/>
          <p:cNvSpPr txBox="1"/>
          <p:nvPr>
            <p:ph idx="1" type="subTitle"/>
          </p:nvPr>
        </p:nvSpPr>
        <p:spPr>
          <a:xfrm>
            <a:off x="311700" y="2834125"/>
            <a:ext cx="8520600" cy="153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 b="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21" name="Google Shape;21;p4"/>
          <p:cNvCxnSpPr/>
          <p:nvPr/>
        </p:nvCxnSpPr>
        <p:spPr>
          <a:xfrm>
            <a:off x="95431" y="402210"/>
            <a:ext cx="89097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oadmap">
  <p:cSld name="SECTION_TITLE_AND_DESCRIPTION_1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"/>
          <p:cNvSpPr/>
          <p:nvPr/>
        </p:nvSpPr>
        <p:spPr>
          <a:xfrm>
            <a:off x="0" y="-125"/>
            <a:ext cx="4572000" cy="51435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5" name="Google Shape;25;p5"/>
          <p:cNvSpPr txBox="1"/>
          <p:nvPr>
            <p:ph idx="1" type="body"/>
          </p:nvPr>
        </p:nvSpPr>
        <p:spPr>
          <a:xfrm>
            <a:off x="4812375" y="402198"/>
            <a:ext cx="3999900" cy="426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26" name="Google Shape;26;p5"/>
          <p:cNvSpPr txBox="1"/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cxnSp>
        <p:nvCxnSpPr>
          <p:cNvPr id="27" name="Google Shape;27;p5"/>
          <p:cNvCxnSpPr/>
          <p:nvPr/>
        </p:nvCxnSpPr>
        <p:spPr>
          <a:xfrm>
            <a:off x="266975" y="4049175"/>
            <a:ext cx="40380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8" name="Google Shape;28;p5"/>
          <p:cNvSpPr txBox="1"/>
          <p:nvPr>
            <p:ph idx="2" type="subTitle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mo slide right">
  <p:cSld name="SECTION_TITLE_AND_DESCRIPTION_2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6"/>
          <p:cNvSpPr txBox="1"/>
          <p:nvPr>
            <p:ph idx="1" type="subTitle"/>
          </p:nvPr>
        </p:nvSpPr>
        <p:spPr>
          <a:xfrm>
            <a:off x="4835400" y="4198275"/>
            <a:ext cx="4045200" cy="46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2" name="Google Shape;32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3" name="Google Shape;33;p6"/>
          <p:cNvSpPr txBox="1"/>
          <p:nvPr/>
        </p:nvSpPr>
        <p:spPr>
          <a:xfrm>
            <a:off x="6365900" y="3724875"/>
            <a:ext cx="25911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Demo Slides</a:t>
            </a:r>
            <a:endParaRPr b="1" sz="2500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" name="Google Shape;34;p6"/>
          <p:cNvSpPr txBox="1"/>
          <p:nvPr>
            <p:ph idx="2" type="body"/>
          </p:nvPr>
        </p:nvSpPr>
        <p:spPr>
          <a:xfrm>
            <a:off x="95425" y="402200"/>
            <a:ext cx="4302300" cy="42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35" name="Google Shape;35;p6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cxnSp>
        <p:nvCxnSpPr>
          <p:cNvPr id="36" name="Google Shape;36;p6"/>
          <p:cNvCxnSpPr/>
          <p:nvPr/>
        </p:nvCxnSpPr>
        <p:spPr>
          <a:xfrm>
            <a:off x="95431" y="402210"/>
            <a:ext cx="43521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mo slide left">
  <p:cSld name="SECTION_TITLE_AND_DESCRIPTION_2_1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7"/>
          <p:cNvSpPr/>
          <p:nvPr/>
        </p:nvSpPr>
        <p:spPr>
          <a:xfrm>
            <a:off x="0" y="-125"/>
            <a:ext cx="4572000" cy="5143500"/>
          </a:xfrm>
          <a:prstGeom prst="rect">
            <a:avLst/>
          </a:prstGeom>
          <a:solidFill>
            <a:srgbClr val="FDF6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7"/>
          <p:cNvSpPr txBox="1"/>
          <p:nvPr>
            <p:ph idx="1" type="subTitle"/>
          </p:nvPr>
        </p:nvSpPr>
        <p:spPr>
          <a:xfrm>
            <a:off x="225450" y="3943400"/>
            <a:ext cx="4045200" cy="46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0" name="Google Shape;40;p7"/>
          <p:cNvSpPr txBox="1"/>
          <p:nvPr/>
        </p:nvSpPr>
        <p:spPr>
          <a:xfrm>
            <a:off x="208440" y="3420075"/>
            <a:ext cx="41217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Demo Slides</a:t>
            </a:r>
            <a:endParaRPr b="1" sz="2500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" name="Google Shape;41;p7"/>
          <p:cNvSpPr txBox="1"/>
          <p:nvPr>
            <p:ph idx="2" type="body"/>
          </p:nvPr>
        </p:nvSpPr>
        <p:spPr>
          <a:xfrm>
            <a:off x="4667425" y="402200"/>
            <a:ext cx="4302300" cy="42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42" name="Google Shape;42;p7"/>
          <p:cNvSpPr txBox="1"/>
          <p:nvPr>
            <p:ph type="title"/>
          </p:nvPr>
        </p:nvSpPr>
        <p:spPr>
          <a:xfrm>
            <a:off x="4572000" y="0"/>
            <a:ext cx="4572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cxnSp>
        <p:nvCxnSpPr>
          <p:cNvPr id="43" name="Google Shape;43;p7"/>
          <p:cNvCxnSpPr/>
          <p:nvPr/>
        </p:nvCxnSpPr>
        <p:spPr>
          <a:xfrm>
            <a:off x="4667431" y="402210"/>
            <a:ext cx="43521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44" name="Google Shape;44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Wide Puzzle">
  <p:cSld name="SECTION_TITLE_AND_DESCRIPTION_2_1_1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8"/>
          <p:cNvSpPr/>
          <p:nvPr/>
        </p:nvSpPr>
        <p:spPr>
          <a:xfrm>
            <a:off x="0" y="-125"/>
            <a:ext cx="2776500" cy="5143500"/>
          </a:xfrm>
          <a:prstGeom prst="rect">
            <a:avLst/>
          </a:prstGeom>
          <a:solidFill>
            <a:srgbClr val="FDF6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8"/>
          <p:cNvSpPr txBox="1"/>
          <p:nvPr>
            <p:ph idx="1" type="subTitle"/>
          </p:nvPr>
        </p:nvSpPr>
        <p:spPr>
          <a:xfrm>
            <a:off x="225450" y="3943400"/>
            <a:ext cx="2450400" cy="71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9" name="Google Shape;49;p8"/>
          <p:cNvSpPr txBox="1"/>
          <p:nvPr>
            <p:ph idx="2" type="body"/>
          </p:nvPr>
        </p:nvSpPr>
        <p:spPr>
          <a:xfrm>
            <a:off x="2937350" y="402200"/>
            <a:ext cx="6032400" cy="42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50" name="Google Shape;50;p8"/>
          <p:cNvSpPr txBox="1"/>
          <p:nvPr>
            <p:ph type="title"/>
          </p:nvPr>
        </p:nvSpPr>
        <p:spPr>
          <a:xfrm>
            <a:off x="2776500" y="0"/>
            <a:ext cx="63675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cxnSp>
        <p:nvCxnSpPr>
          <p:cNvPr id="51" name="Google Shape;51;p8"/>
          <p:cNvCxnSpPr/>
          <p:nvPr/>
        </p:nvCxnSpPr>
        <p:spPr>
          <a:xfrm>
            <a:off x="2937350" y="402200"/>
            <a:ext cx="60822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52" name="Google Shape;52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4" name="Google Shape;54;p8"/>
          <p:cNvSpPr txBox="1"/>
          <p:nvPr/>
        </p:nvSpPr>
        <p:spPr>
          <a:xfrm>
            <a:off x="208440" y="3420075"/>
            <a:ext cx="41217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Demo</a:t>
            </a:r>
            <a:endParaRPr b="1" sz="2500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Wide Puzzle 1">
  <p:cSld name="SECTION_TITLE_AND_DESCRIPTION_2_1_1_2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9"/>
          <p:cNvSpPr/>
          <p:nvPr/>
        </p:nvSpPr>
        <p:spPr>
          <a:xfrm>
            <a:off x="0" y="-125"/>
            <a:ext cx="2776500" cy="5143500"/>
          </a:xfrm>
          <a:prstGeom prst="rect">
            <a:avLst/>
          </a:prstGeom>
          <a:solidFill>
            <a:srgbClr val="FDF6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9"/>
          <p:cNvSpPr txBox="1"/>
          <p:nvPr>
            <p:ph idx="1" type="subTitle"/>
          </p:nvPr>
        </p:nvSpPr>
        <p:spPr>
          <a:xfrm>
            <a:off x="225450" y="3943400"/>
            <a:ext cx="2450400" cy="71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8" name="Google Shape;58;p9"/>
          <p:cNvSpPr txBox="1"/>
          <p:nvPr/>
        </p:nvSpPr>
        <p:spPr>
          <a:xfrm>
            <a:off x="208445" y="3420075"/>
            <a:ext cx="18738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Compare</a:t>
            </a:r>
            <a:endParaRPr b="1" sz="2500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9" name="Google Shape;59;p9"/>
          <p:cNvSpPr txBox="1"/>
          <p:nvPr>
            <p:ph idx="2" type="body"/>
          </p:nvPr>
        </p:nvSpPr>
        <p:spPr>
          <a:xfrm>
            <a:off x="2937350" y="402200"/>
            <a:ext cx="6032400" cy="42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60" name="Google Shape;60;p9"/>
          <p:cNvSpPr txBox="1"/>
          <p:nvPr>
            <p:ph type="title"/>
          </p:nvPr>
        </p:nvSpPr>
        <p:spPr>
          <a:xfrm>
            <a:off x="2776500" y="0"/>
            <a:ext cx="63675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cxnSp>
        <p:nvCxnSpPr>
          <p:cNvPr id="61" name="Google Shape;61;p9"/>
          <p:cNvCxnSpPr/>
          <p:nvPr/>
        </p:nvCxnSpPr>
        <p:spPr>
          <a:xfrm>
            <a:off x="2937350" y="402200"/>
            <a:ext cx="60822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62" name="Google Shape;62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Wide Puzzle Solution">
  <p:cSld name="SECTION_TITLE_AND_DESCRIPTION_2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0"/>
          <p:cNvSpPr/>
          <p:nvPr/>
        </p:nvSpPr>
        <p:spPr>
          <a:xfrm>
            <a:off x="0" y="-125"/>
            <a:ext cx="2776500" cy="51435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10"/>
          <p:cNvSpPr txBox="1"/>
          <p:nvPr>
            <p:ph idx="1" type="subTitle"/>
          </p:nvPr>
        </p:nvSpPr>
        <p:spPr>
          <a:xfrm>
            <a:off x="225450" y="3943400"/>
            <a:ext cx="2450400" cy="71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67" name="Google Shape;67;p10"/>
          <p:cNvSpPr txBox="1"/>
          <p:nvPr/>
        </p:nvSpPr>
        <p:spPr>
          <a:xfrm>
            <a:off x="208445" y="3420075"/>
            <a:ext cx="18738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Solution</a:t>
            </a:r>
            <a:endParaRPr b="1" sz="2500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8" name="Google Shape;68;p10"/>
          <p:cNvSpPr txBox="1"/>
          <p:nvPr>
            <p:ph idx="2" type="body"/>
          </p:nvPr>
        </p:nvSpPr>
        <p:spPr>
          <a:xfrm>
            <a:off x="2937350" y="402200"/>
            <a:ext cx="6032400" cy="42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69" name="Google Shape;69;p10"/>
          <p:cNvSpPr txBox="1"/>
          <p:nvPr>
            <p:ph type="title"/>
          </p:nvPr>
        </p:nvSpPr>
        <p:spPr>
          <a:xfrm>
            <a:off x="2776500" y="0"/>
            <a:ext cx="63675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cxnSp>
        <p:nvCxnSpPr>
          <p:cNvPr id="70" name="Google Shape;70;p10"/>
          <p:cNvCxnSpPr/>
          <p:nvPr/>
        </p:nvCxnSpPr>
        <p:spPr>
          <a:xfrm>
            <a:off x="2937350" y="402200"/>
            <a:ext cx="60822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71" name="Google Shape;71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1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5" name="Google Shape;75;p11"/>
          <p:cNvSpPr txBox="1"/>
          <p:nvPr>
            <p:ph idx="1" type="body"/>
          </p:nvPr>
        </p:nvSpPr>
        <p:spPr>
          <a:xfrm>
            <a:off x="4812381" y="402206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76" name="Google Shape;76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77" name="Google Shape;77;p11"/>
          <p:cNvCxnSpPr/>
          <p:nvPr/>
        </p:nvCxnSpPr>
        <p:spPr>
          <a:xfrm>
            <a:off x="95431" y="402210"/>
            <a:ext cx="89097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8" name="Google Shape;78;p11"/>
          <p:cNvSpPr txBox="1"/>
          <p:nvPr>
            <p:ph idx="2" type="body"/>
          </p:nvPr>
        </p:nvSpPr>
        <p:spPr>
          <a:xfrm>
            <a:off x="95431" y="402206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2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82" name="Google Shape;82;p12"/>
          <p:cNvCxnSpPr/>
          <p:nvPr/>
        </p:nvCxnSpPr>
        <p:spPr>
          <a:xfrm>
            <a:off x="95431" y="402210"/>
            <a:ext cx="89097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85" name="Google Shape;85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_TITLE_AND_DESCRIPTION_3">
  <p:cSld name="SECTION_TITLE_AND_DESCRIPTION_3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4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14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9" name="Google Shape;89;p14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90" name="Google Shape;90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1" name="Google Shape;91;p14"/>
          <p:cNvSpPr txBox="1"/>
          <p:nvPr>
            <p:ph idx="2" type="body"/>
          </p:nvPr>
        </p:nvSpPr>
        <p:spPr>
          <a:xfrm>
            <a:off x="4812381" y="402206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4" name="Google Shape;94;p15"/>
          <p:cNvSpPr txBox="1"/>
          <p:nvPr>
            <p:ph type="title"/>
          </p:nvPr>
        </p:nvSpPr>
        <p:spPr>
          <a:xfrm>
            <a:off x="95425" y="4288400"/>
            <a:ext cx="8658900" cy="768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sz="2400"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sz="2400"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sz="2400"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sz="2400"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sz="2400"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sz="2400"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sz="2400"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sz="24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cxnSp>
        <p:nvCxnSpPr>
          <p:cNvPr id="95" name="Google Shape;95;p15"/>
          <p:cNvCxnSpPr/>
          <p:nvPr/>
        </p:nvCxnSpPr>
        <p:spPr>
          <a:xfrm>
            <a:off x="168250" y="4288400"/>
            <a:ext cx="87570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dark">
  <p:cSld name="BLANK_1">
    <p:bg>
      <p:bgPr>
        <a:solidFill>
          <a:schemeClr val="dk1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lude">
  <p:cSld name="SECTION_TITLE_AND_DESCRIPTION_1_3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8"/>
          <p:cNvSpPr/>
          <p:nvPr/>
        </p:nvSpPr>
        <p:spPr>
          <a:xfrm>
            <a:off x="0" y="-1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3" name="Google Shape;103;p18"/>
          <p:cNvSpPr txBox="1"/>
          <p:nvPr>
            <p:ph idx="1" type="body"/>
          </p:nvPr>
        </p:nvSpPr>
        <p:spPr>
          <a:xfrm>
            <a:off x="4812375" y="402198"/>
            <a:ext cx="3999900" cy="426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pic>
        <p:nvPicPr>
          <p:cNvPr id="104" name="Google Shape;104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8"/>
          <p:cNvSpPr txBox="1"/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cxnSp>
        <p:nvCxnSpPr>
          <p:cNvPr id="106" name="Google Shape;106;p18"/>
          <p:cNvCxnSpPr/>
          <p:nvPr/>
        </p:nvCxnSpPr>
        <p:spPr>
          <a:xfrm>
            <a:off x="266975" y="4049175"/>
            <a:ext cx="40380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7" name="Google Shape;107;p18"/>
          <p:cNvSpPr txBox="1"/>
          <p:nvPr>
            <p:ph idx="2" type="subTitle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1">
  <p:cSld name="SECTION_TITLE_AND_DESCRIPTION_1_1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1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11" name="Google Shape;111;p1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12" name="Google Shape;112;p1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13" name="Google Shape;113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de on left">
  <p:cSld name="SECTION_TITLE_AND_DESCRIPTION_1_1_1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0"/>
          <p:cNvSpPr/>
          <p:nvPr/>
        </p:nvSpPr>
        <p:spPr>
          <a:xfrm>
            <a:off x="0" y="6"/>
            <a:ext cx="4572000" cy="5143500"/>
          </a:xfrm>
          <a:prstGeom prst="rect">
            <a:avLst/>
          </a:prstGeom>
          <a:solidFill>
            <a:srgbClr val="FDF6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7" name="Google Shape;117;p20"/>
          <p:cNvSpPr txBox="1"/>
          <p:nvPr>
            <p:ph idx="1" type="body"/>
          </p:nvPr>
        </p:nvSpPr>
        <p:spPr>
          <a:xfrm>
            <a:off x="4882900" y="1152150"/>
            <a:ext cx="3950100" cy="342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18" name="Google Shape;118;p20"/>
          <p:cNvSpPr txBox="1"/>
          <p:nvPr>
            <p:ph idx="2" type="body"/>
          </p:nvPr>
        </p:nvSpPr>
        <p:spPr>
          <a:xfrm>
            <a:off x="310900" y="448050"/>
            <a:ext cx="3950100" cy="412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19" name="Google Shape;119;p20"/>
          <p:cNvSpPr txBox="1"/>
          <p:nvPr>
            <p:ph type="title"/>
          </p:nvPr>
        </p:nvSpPr>
        <p:spPr>
          <a:xfrm>
            <a:off x="4882900" y="445025"/>
            <a:ext cx="3950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20" name="Google Shape;120;p2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de left, Heading">
  <p:cSld name="SECTION_TITLE_AND_DESCRIPTION_1_1_1_1"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1"/>
          <p:cNvSpPr/>
          <p:nvPr/>
        </p:nvSpPr>
        <p:spPr>
          <a:xfrm>
            <a:off x="0" y="6"/>
            <a:ext cx="4572000" cy="5143500"/>
          </a:xfrm>
          <a:prstGeom prst="rect">
            <a:avLst/>
          </a:prstGeom>
          <a:solidFill>
            <a:srgbClr val="FDF6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4" name="Google Shape;124;p21"/>
          <p:cNvSpPr txBox="1"/>
          <p:nvPr>
            <p:ph idx="1" type="body"/>
          </p:nvPr>
        </p:nvSpPr>
        <p:spPr>
          <a:xfrm>
            <a:off x="4882900" y="1152150"/>
            <a:ext cx="3950100" cy="342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25" name="Google Shape;125;p21"/>
          <p:cNvSpPr txBox="1"/>
          <p:nvPr>
            <p:ph idx="2" type="body"/>
          </p:nvPr>
        </p:nvSpPr>
        <p:spPr>
          <a:xfrm>
            <a:off x="310900" y="448050"/>
            <a:ext cx="3950100" cy="412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26" name="Google Shape;126;p21"/>
          <p:cNvSpPr txBox="1"/>
          <p:nvPr>
            <p:ph idx="3" type="subTitle"/>
          </p:nvPr>
        </p:nvSpPr>
        <p:spPr>
          <a:xfrm>
            <a:off x="225450" y="3943400"/>
            <a:ext cx="4045200" cy="46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27" name="Google Shape;127;p21"/>
          <p:cNvSpPr txBox="1"/>
          <p:nvPr>
            <p:ph type="title"/>
          </p:nvPr>
        </p:nvSpPr>
        <p:spPr>
          <a:xfrm>
            <a:off x="208450" y="3418425"/>
            <a:ext cx="39501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pic>
        <p:nvPicPr>
          <p:cNvPr id="128" name="Google Shape;128;p2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1">
  <p:cSld name="SECTION_HEADER_1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2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31" name="Google Shape;131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de on right">
  <p:cSld name="SECTION_TITLE_AND_DESCRIPTION_1_2"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3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FDF6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5" name="Google Shape;135;p23"/>
          <p:cNvSpPr txBox="1"/>
          <p:nvPr>
            <p:ph idx="1" type="body"/>
          </p:nvPr>
        </p:nvSpPr>
        <p:spPr>
          <a:xfrm>
            <a:off x="311700" y="1152150"/>
            <a:ext cx="3950100" cy="342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36" name="Google Shape;136;p23"/>
          <p:cNvSpPr txBox="1"/>
          <p:nvPr>
            <p:ph idx="2" type="body"/>
          </p:nvPr>
        </p:nvSpPr>
        <p:spPr>
          <a:xfrm>
            <a:off x="4882900" y="448050"/>
            <a:ext cx="3950100" cy="412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37" name="Google Shape;137;p23"/>
          <p:cNvSpPr txBox="1"/>
          <p:nvPr>
            <p:ph type="title"/>
          </p:nvPr>
        </p:nvSpPr>
        <p:spPr>
          <a:xfrm>
            <a:off x="311700" y="445025"/>
            <a:ext cx="3950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11.xml"/><Relationship Id="rId22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10.xml"/><Relationship Id="rId21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23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6" Type="http://schemas.openxmlformats.org/officeDocument/2006/relationships/slideLayout" Target="../slideLayouts/slideLayout6.xml"/><Relationship Id="rId1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600"/>
              <a:buFont typeface="Roboto Medium"/>
              <a:buNone/>
              <a:defRPr sz="16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572700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42900" lvl="1" marL="9144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42900" lvl="2" marL="13716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42900" lvl="3" marL="18288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42900" lvl="4" marL="22860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42900" lvl="5" marL="27432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42900" lvl="6" marL="32004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42900" lvl="7" marL="36576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42900" lvl="8" marL="41148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rt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rt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rt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rt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rt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rt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rt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hyperlink" Target="https://github.com/NVIDIA/nccl" TargetMode="Externa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4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2.xml"/></Relationships>
</file>

<file path=ppt/slides/_rels/slide7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3.xml"/></Relationships>
</file>

<file path=ppt/slides/_rels/slide7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4.xml"/></Relationships>
</file>

<file path=ppt/slides/_rels/slide7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5.xml"/></Relationships>
</file>

<file path=ppt/slides/_rels/slide7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6.xml"/></Relationships>
</file>

<file path=ppt/slides/_rels/slide7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7.xml"/></Relationships>
</file>

<file path=ppt/slides/_rels/slide7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8.xml"/></Relationships>
</file>

<file path=ppt/slides/_rels/slide7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9.xml"/></Relationships>
</file>

<file path=ppt/slides/_rels/slide8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0.xml"/></Relationships>
</file>

<file path=ppt/slides/_rels/slide8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1.xml"/></Relationships>
</file>

<file path=ppt/slides/_rels/slide8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2.xml"/></Relationships>
</file>

<file path=ppt/slides/_rels/slide8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3.xml"/></Relationships>
</file>

<file path=ppt/slides/_rels/slide8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4.xml"/></Relationships>
</file>

<file path=ppt/slides/_rels/slide8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5.xml"/></Relationships>
</file>

<file path=ppt/slides/_rels/slide8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6.xml"/></Relationships>
</file>

<file path=ppt/slides/_rels/slide8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7.xml"/></Relationships>
</file>

<file path=ppt/slides/_rels/slide8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8.xml"/></Relationships>
</file>

<file path=ppt/slides/_rels/slide8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9.xml"/></Relationships>
</file>

<file path=ppt/slides/_rels/slide9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0.xml"/></Relationships>
</file>

<file path=ppt/slides/_rels/slide9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1.xml"/></Relationships>
</file>

<file path=ppt/slides/_rels/slide9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2.xml"/></Relationships>
</file>

<file path=ppt/slides/_rels/slide9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3.xml"/></Relationships>
</file>

<file path=ppt/slides/_rels/slide9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4.xml"/></Relationships>
</file>

<file path=ppt/slides/_rels/slide9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5.xml"/></Relationships>
</file>

<file path=ppt/slides/_rels/slide9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6.xml"/></Relationships>
</file>

<file path=ppt/slides/_rels/slide9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7.xml"/></Relationships>
</file>

<file path=ppt/slides/_rels/slide9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8.xml"/></Relationships>
</file>

<file path=ppt/slides/_rels/slide9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9.xml"/></Relationships>
</file>

<file path=ppt/slides/_rels/slide10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0.xml"/></Relationships>
</file>

<file path=ppt/slides/_rels/slide10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1.xml"/></Relationships>
</file>

<file path=ppt/slides/_rels/slide10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2.xml"/></Relationships>
</file>

<file path=ppt/slides/_rels/slide10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3.xml"/></Relationships>
</file>

<file path=ppt/slides/_rels/slide10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4.xml"/></Relationships>
</file>

<file path=ppt/slides/_rels/slide10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5.xml"/></Relationships>
</file>

<file path=ppt/slides/_rels/slide10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6.xml"/></Relationships>
</file>

<file path=ppt/slides/_rels/slide10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7.xml"/></Relationships>
</file>

<file path=ppt/slides/_rels/slide10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3" name="Google Shape;143;p24"/>
          <p:cNvSpPr txBox="1"/>
          <p:nvPr/>
        </p:nvSpPr>
        <p:spPr>
          <a:xfrm>
            <a:off x="311700" y="3854350"/>
            <a:ext cx="8520600" cy="80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600">
                <a:latin typeface="Roboto Medium"/>
                <a:ea typeface="Roboto Medium"/>
                <a:cs typeface="Roboto Medium"/>
                <a:sym typeface="Roboto Medium"/>
              </a:rPr>
              <a:t>CS 168, </a:t>
            </a:r>
            <a:r>
              <a:rPr lang="en" sz="1600">
                <a:latin typeface="Roboto Medium"/>
                <a:ea typeface="Roboto Medium"/>
                <a:cs typeface="Roboto Medium"/>
                <a:sym typeface="Roboto Medium"/>
              </a:rPr>
              <a:t>Spring 2026</a:t>
            </a:r>
            <a:r>
              <a:rPr lang="en" sz="1600">
                <a:latin typeface="Roboto Medium"/>
                <a:ea typeface="Roboto Medium"/>
                <a:cs typeface="Roboto Medium"/>
                <a:sym typeface="Roboto Medium"/>
              </a:rPr>
              <a:t> </a:t>
            </a:r>
            <a:r>
              <a:rPr lang="en" sz="1600">
                <a:solidFill>
                  <a:srgbClr val="000000"/>
                </a:solidFill>
                <a:latin typeface="Roboto Medium"/>
                <a:ea typeface="Roboto Medium"/>
                <a:cs typeface="Roboto Medium"/>
                <a:sym typeface="Roboto Medium"/>
              </a:rPr>
              <a:t>@ UC Berkeley</a:t>
            </a:r>
            <a:endParaRPr sz="1600">
              <a:solidFill>
                <a:srgbClr val="000000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600">
                <a:latin typeface="Roboto Light"/>
                <a:ea typeface="Roboto Light"/>
                <a:cs typeface="Roboto Light"/>
                <a:sym typeface="Roboto Light"/>
              </a:rPr>
              <a:t>Slides credit: Sylvia Ratnasamy, Rob Shakir, Peyrin Kao</a:t>
            </a:r>
            <a:endParaRPr sz="1600">
              <a:solidFill>
                <a:srgbClr val="000000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144" name="Google Shape;144;p24"/>
          <p:cNvSpPr txBox="1"/>
          <p:nvPr/>
        </p:nvSpPr>
        <p:spPr>
          <a:xfrm>
            <a:off x="311700" y="1658975"/>
            <a:ext cx="8709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rPr>
              <a:t>Collective Operations</a:t>
            </a:r>
            <a:endParaRPr sz="3600">
              <a:solidFill>
                <a:srgbClr val="0B5394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145" name="Google Shape;145;p24"/>
          <p:cNvSpPr txBox="1"/>
          <p:nvPr/>
        </p:nvSpPr>
        <p:spPr>
          <a:xfrm>
            <a:off x="345775" y="2740300"/>
            <a:ext cx="2762700" cy="28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BF9000"/>
                </a:solidFill>
                <a:latin typeface="Roboto Medium"/>
                <a:ea typeface="Roboto Medium"/>
                <a:cs typeface="Roboto Medium"/>
                <a:sym typeface="Roboto Medium"/>
              </a:rPr>
              <a:t>Lecture 23 (Beyond Client-Server 2)</a:t>
            </a:r>
            <a:endParaRPr sz="1200">
              <a:solidFill>
                <a:srgbClr val="BF9000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146" name="Google Shape;146;p24"/>
          <p:cNvSpPr/>
          <p:nvPr/>
        </p:nvSpPr>
        <p:spPr>
          <a:xfrm>
            <a:off x="4788222" y="812558"/>
            <a:ext cx="779100" cy="142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7" name="Google Shape;147;p24"/>
          <p:cNvSpPr/>
          <p:nvPr/>
        </p:nvSpPr>
        <p:spPr>
          <a:xfrm>
            <a:off x="5736065" y="812558"/>
            <a:ext cx="779100" cy="1422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8" name="Google Shape;148;p24"/>
          <p:cNvSpPr/>
          <p:nvPr/>
        </p:nvSpPr>
        <p:spPr>
          <a:xfrm>
            <a:off x="6687837" y="812558"/>
            <a:ext cx="779100" cy="1422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9" name="Google Shape;149;p24"/>
          <p:cNvSpPr/>
          <p:nvPr/>
        </p:nvSpPr>
        <p:spPr>
          <a:xfrm>
            <a:off x="7637464" y="812558"/>
            <a:ext cx="779100" cy="1422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0" name="Google Shape;150;p24"/>
          <p:cNvSpPr/>
          <p:nvPr/>
        </p:nvSpPr>
        <p:spPr>
          <a:xfrm>
            <a:off x="3837526" y="1157874"/>
            <a:ext cx="779100" cy="1422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1" name="Google Shape;151;p24"/>
          <p:cNvSpPr/>
          <p:nvPr/>
        </p:nvSpPr>
        <p:spPr>
          <a:xfrm>
            <a:off x="3794354" y="1201031"/>
            <a:ext cx="779100" cy="142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2" name="Google Shape;152;p24"/>
          <p:cNvSpPr/>
          <p:nvPr/>
        </p:nvSpPr>
        <p:spPr>
          <a:xfrm>
            <a:off x="5736065" y="1157874"/>
            <a:ext cx="779100" cy="1422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3" name="Google Shape;153;p24"/>
          <p:cNvSpPr/>
          <p:nvPr/>
        </p:nvSpPr>
        <p:spPr>
          <a:xfrm>
            <a:off x="6687837" y="1157874"/>
            <a:ext cx="779100" cy="1422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4" name="Google Shape;154;p24"/>
          <p:cNvSpPr/>
          <p:nvPr/>
        </p:nvSpPr>
        <p:spPr>
          <a:xfrm>
            <a:off x="7637464" y="1157874"/>
            <a:ext cx="779100" cy="1422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5" name="Google Shape;155;p24"/>
          <p:cNvSpPr/>
          <p:nvPr/>
        </p:nvSpPr>
        <p:spPr>
          <a:xfrm>
            <a:off x="3837526" y="1503190"/>
            <a:ext cx="779100" cy="1422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6" name="Google Shape;156;p24"/>
          <p:cNvSpPr/>
          <p:nvPr/>
        </p:nvSpPr>
        <p:spPr>
          <a:xfrm>
            <a:off x="4788222" y="1503190"/>
            <a:ext cx="779100" cy="142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7" name="Google Shape;157;p24"/>
          <p:cNvSpPr/>
          <p:nvPr/>
        </p:nvSpPr>
        <p:spPr>
          <a:xfrm>
            <a:off x="4743995" y="1546354"/>
            <a:ext cx="779100" cy="1422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8" name="Google Shape;158;p24"/>
          <p:cNvSpPr/>
          <p:nvPr/>
        </p:nvSpPr>
        <p:spPr>
          <a:xfrm>
            <a:off x="6687837" y="1503190"/>
            <a:ext cx="779100" cy="1422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9" name="Google Shape;159;p24"/>
          <p:cNvSpPr/>
          <p:nvPr/>
        </p:nvSpPr>
        <p:spPr>
          <a:xfrm>
            <a:off x="7637464" y="1503190"/>
            <a:ext cx="779100" cy="1422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0" name="Google Shape;160;p24"/>
          <p:cNvSpPr/>
          <p:nvPr/>
        </p:nvSpPr>
        <p:spPr>
          <a:xfrm>
            <a:off x="3834665" y="1848506"/>
            <a:ext cx="779100" cy="1422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1" name="Google Shape;161;p24"/>
          <p:cNvSpPr/>
          <p:nvPr/>
        </p:nvSpPr>
        <p:spPr>
          <a:xfrm>
            <a:off x="4785361" y="1848506"/>
            <a:ext cx="779100" cy="142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2" name="Google Shape;162;p24"/>
          <p:cNvSpPr/>
          <p:nvPr/>
        </p:nvSpPr>
        <p:spPr>
          <a:xfrm>
            <a:off x="5733204" y="1848506"/>
            <a:ext cx="779100" cy="1422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3" name="Google Shape;163;p24"/>
          <p:cNvSpPr/>
          <p:nvPr/>
        </p:nvSpPr>
        <p:spPr>
          <a:xfrm>
            <a:off x="5690046" y="1891670"/>
            <a:ext cx="779100" cy="1422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4" name="Google Shape;164;p24"/>
          <p:cNvSpPr/>
          <p:nvPr/>
        </p:nvSpPr>
        <p:spPr>
          <a:xfrm>
            <a:off x="7634603" y="1848506"/>
            <a:ext cx="779100" cy="1422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5" name="Google Shape;165;p24"/>
          <p:cNvSpPr/>
          <p:nvPr/>
        </p:nvSpPr>
        <p:spPr>
          <a:xfrm>
            <a:off x="3834665" y="2193821"/>
            <a:ext cx="779100" cy="1422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6" name="Google Shape;166;p24"/>
          <p:cNvSpPr/>
          <p:nvPr/>
        </p:nvSpPr>
        <p:spPr>
          <a:xfrm>
            <a:off x="4785361" y="2193821"/>
            <a:ext cx="779100" cy="142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7" name="Google Shape;167;p24"/>
          <p:cNvSpPr/>
          <p:nvPr/>
        </p:nvSpPr>
        <p:spPr>
          <a:xfrm>
            <a:off x="5733204" y="2193821"/>
            <a:ext cx="779100" cy="1422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8" name="Google Shape;168;p24"/>
          <p:cNvSpPr/>
          <p:nvPr/>
        </p:nvSpPr>
        <p:spPr>
          <a:xfrm>
            <a:off x="6684976" y="2193821"/>
            <a:ext cx="779100" cy="1422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9" name="Google Shape;169;p24"/>
          <p:cNvSpPr/>
          <p:nvPr/>
        </p:nvSpPr>
        <p:spPr>
          <a:xfrm>
            <a:off x="6641812" y="2236986"/>
            <a:ext cx="779100" cy="1422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0" name="Google Shape;170;p24"/>
          <p:cNvSpPr/>
          <p:nvPr/>
        </p:nvSpPr>
        <p:spPr>
          <a:xfrm>
            <a:off x="7594299" y="855722"/>
            <a:ext cx="779100" cy="1422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1" name="Google Shape;171;p24"/>
          <p:cNvSpPr/>
          <p:nvPr/>
        </p:nvSpPr>
        <p:spPr>
          <a:xfrm>
            <a:off x="7914144" y="460105"/>
            <a:ext cx="222900" cy="222900"/>
          </a:xfrm>
          <a:prstGeom prst="ellipse">
            <a:avLst/>
          </a:prstGeom>
          <a:solidFill>
            <a:srgbClr val="D9D2E9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5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2" name="Google Shape;172;p24"/>
          <p:cNvSpPr/>
          <p:nvPr/>
        </p:nvSpPr>
        <p:spPr>
          <a:xfrm>
            <a:off x="6964517" y="460105"/>
            <a:ext cx="222900" cy="222900"/>
          </a:xfrm>
          <a:prstGeom prst="ellipse">
            <a:avLst/>
          </a:prstGeom>
          <a:solidFill>
            <a:srgbClr val="D9EAD3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4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3" name="Google Shape;173;p24"/>
          <p:cNvSpPr/>
          <p:nvPr/>
        </p:nvSpPr>
        <p:spPr>
          <a:xfrm>
            <a:off x="6014890" y="460105"/>
            <a:ext cx="222900" cy="222900"/>
          </a:xfrm>
          <a:prstGeom prst="ellipse">
            <a:avLst/>
          </a:prstGeom>
          <a:solidFill>
            <a:srgbClr val="F4CCCC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3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4" name="Google Shape;174;p24"/>
          <p:cNvSpPr/>
          <p:nvPr/>
        </p:nvSpPr>
        <p:spPr>
          <a:xfrm>
            <a:off x="4115636" y="460105"/>
            <a:ext cx="222900" cy="222900"/>
          </a:xfrm>
          <a:prstGeom prst="ellipse">
            <a:avLst/>
          </a:prstGeom>
          <a:solidFill>
            <a:srgbClr val="FCE5CD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1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5" name="Google Shape;175;p24"/>
          <p:cNvSpPr/>
          <p:nvPr/>
        </p:nvSpPr>
        <p:spPr>
          <a:xfrm>
            <a:off x="5065263" y="460105"/>
            <a:ext cx="222900" cy="222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2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76" name="Google Shape;176;p24"/>
          <p:cNvCxnSpPr>
            <a:stCxn id="175" idx="2"/>
            <a:endCxn id="174" idx="6"/>
          </p:cNvCxnSpPr>
          <p:nvPr/>
        </p:nvCxnSpPr>
        <p:spPr>
          <a:xfrm rot="10800000">
            <a:off x="4338663" y="571555"/>
            <a:ext cx="7266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7" name="Google Shape;177;p24"/>
          <p:cNvCxnSpPr>
            <a:stCxn id="173" idx="2"/>
            <a:endCxn id="175" idx="6"/>
          </p:cNvCxnSpPr>
          <p:nvPr/>
        </p:nvCxnSpPr>
        <p:spPr>
          <a:xfrm rot="10800000">
            <a:off x="5288290" y="571555"/>
            <a:ext cx="7266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8" name="Google Shape;178;p24"/>
          <p:cNvCxnSpPr>
            <a:stCxn id="172" idx="2"/>
            <a:endCxn id="173" idx="6"/>
          </p:cNvCxnSpPr>
          <p:nvPr/>
        </p:nvCxnSpPr>
        <p:spPr>
          <a:xfrm rot="10800000">
            <a:off x="6237917" y="571555"/>
            <a:ext cx="7266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9" name="Google Shape;179;p24"/>
          <p:cNvCxnSpPr>
            <a:stCxn id="171" idx="2"/>
            <a:endCxn id="172" idx="6"/>
          </p:cNvCxnSpPr>
          <p:nvPr/>
        </p:nvCxnSpPr>
        <p:spPr>
          <a:xfrm rot="10800000">
            <a:off x="7187544" y="571555"/>
            <a:ext cx="7266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80" name="Google Shape;180;p24"/>
          <p:cNvGrpSpPr/>
          <p:nvPr/>
        </p:nvGrpSpPr>
        <p:grpSpPr>
          <a:xfrm>
            <a:off x="3780588" y="326841"/>
            <a:ext cx="4691866" cy="244898"/>
            <a:chOff x="432175" y="3745075"/>
            <a:chExt cx="8282200" cy="432300"/>
          </a:xfrm>
        </p:grpSpPr>
        <p:sp>
          <p:nvSpPr>
            <p:cNvPr id="181" name="Google Shape;181;p24"/>
            <p:cNvSpPr/>
            <p:nvPr/>
          </p:nvSpPr>
          <p:spPr>
            <a:xfrm>
              <a:off x="8282075" y="3745075"/>
              <a:ext cx="432300" cy="432300"/>
            </a:xfrm>
            <a:prstGeom prst="arc">
              <a:avLst>
                <a:gd fmla="val 16200000" name="adj1"/>
                <a:gd fmla="val 5392788" name="adj2"/>
              </a:avLst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182" name="Google Shape;182;p24"/>
            <p:cNvCxnSpPr>
              <a:stCxn id="181" idx="0"/>
              <a:endCxn id="183" idx="0"/>
            </p:cNvCxnSpPr>
            <p:nvPr/>
          </p:nvCxnSpPr>
          <p:spPr>
            <a:xfrm rot="10800000">
              <a:off x="648425" y="3745075"/>
              <a:ext cx="7849800" cy="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84" name="Google Shape;184;p24"/>
            <p:cNvCxnSpPr>
              <a:stCxn id="174" idx="2"/>
              <a:endCxn id="183" idx="2"/>
            </p:cNvCxnSpPr>
            <p:nvPr/>
          </p:nvCxnSpPr>
          <p:spPr>
            <a:xfrm flipH="1">
              <a:off x="648010" y="4177050"/>
              <a:ext cx="375600" cy="30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83" name="Google Shape;183;p24"/>
            <p:cNvSpPr/>
            <p:nvPr/>
          </p:nvSpPr>
          <p:spPr>
            <a:xfrm flipH="1">
              <a:off x="432175" y="3745075"/>
              <a:ext cx="432300" cy="432300"/>
            </a:xfrm>
            <a:prstGeom prst="arc">
              <a:avLst>
                <a:gd fmla="val 16200000" name="adj1"/>
                <a:gd fmla="val 5392788" name="adj2"/>
              </a:avLst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185" name="Google Shape;185;p24"/>
            <p:cNvCxnSpPr>
              <a:stCxn id="181" idx="2"/>
              <a:endCxn id="171" idx="6"/>
            </p:cNvCxnSpPr>
            <p:nvPr/>
          </p:nvCxnSpPr>
          <p:spPr>
            <a:xfrm rot="10800000">
              <a:off x="8122178" y="4177075"/>
              <a:ext cx="376500" cy="30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5"/>
          <p:cNvSpPr txBox="1"/>
          <p:nvPr>
            <p:ph idx="1" type="body"/>
          </p:nvPr>
        </p:nvSpPr>
        <p:spPr>
          <a:xfrm>
            <a:off x="4812375" y="402200"/>
            <a:ext cx="4038000" cy="426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Distributed AI Training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Roboto"/>
              <a:buChar char="•"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Motivation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Infrastructure</a:t>
            </a:r>
            <a:endParaRPr>
              <a:solidFill>
                <a:srgbClr val="B7B7B7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</a:rPr>
              <a:t>Defining Collectives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Definition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Redistribution Operations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Consolidation Operations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Duals and Compositions</a:t>
            </a:r>
            <a:endParaRPr>
              <a:solidFill>
                <a:srgbClr val="B7B7B7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</a:rPr>
              <a:t>Implementing Collectives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Mesh Topology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Single Root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Tree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Ring (Naive)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Ring (Optimized)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Overlay/Underlay Topologies</a:t>
            </a:r>
            <a:endParaRPr>
              <a:solidFill>
                <a:srgbClr val="B7B7B7"/>
              </a:solidFill>
            </a:endParaRPr>
          </a:p>
        </p:txBody>
      </p:sp>
      <p:sp>
        <p:nvSpPr>
          <p:cNvPr id="191" name="Google Shape;191;p25"/>
          <p:cNvSpPr txBox="1"/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Motivation: Distributed AI Training</a:t>
            </a:r>
            <a:endParaRPr/>
          </a:p>
        </p:txBody>
      </p:sp>
      <p:sp>
        <p:nvSpPr>
          <p:cNvPr id="192" name="Google Shape;192;p25"/>
          <p:cNvSpPr txBox="1"/>
          <p:nvPr>
            <p:ph idx="2" type="subTitle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Lecture 23</a:t>
            </a:r>
            <a:r>
              <a:rPr lang="en"/>
              <a:t>, CS 168, </a:t>
            </a:r>
            <a:r>
              <a:rPr lang="en"/>
              <a:t>Spring 2026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6"/>
          <p:cNvSpPr txBox="1"/>
          <p:nvPr>
            <p:ph idx="1" type="body"/>
          </p:nvPr>
        </p:nvSpPr>
        <p:spPr>
          <a:xfrm>
            <a:off x="107050" y="402200"/>
            <a:ext cx="8909700" cy="143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Modern AI systems require training models on huge amounts of data.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For this class, we'll use a very simplified model of AI training.</a:t>
            </a:r>
            <a:endParaRPr/>
          </a:p>
        </p:txBody>
      </p:sp>
      <p:sp>
        <p:nvSpPr>
          <p:cNvPr id="198" name="Google Shape;198;p26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Motivation: AI Training</a:t>
            </a:r>
            <a:endParaRPr/>
          </a:p>
        </p:txBody>
      </p:sp>
      <p:sp>
        <p:nvSpPr>
          <p:cNvPr id="199" name="Google Shape;199;p26"/>
          <p:cNvSpPr/>
          <p:nvPr/>
        </p:nvSpPr>
        <p:spPr>
          <a:xfrm>
            <a:off x="332350" y="1989900"/>
            <a:ext cx="2619300" cy="8589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Roboto"/>
                <a:ea typeface="Roboto"/>
                <a:cs typeface="Roboto"/>
                <a:sym typeface="Roboto"/>
              </a:rPr>
              <a:t>Input: Untrained Model</a:t>
            </a:r>
            <a:endParaRPr sz="16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(A big matrix of random numbers.)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0" name="Google Shape;200;p26"/>
          <p:cNvSpPr/>
          <p:nvPr/>
        </p:nvSpPr>
        <p:spPr>
          <a:xfrm>
            <a:off x="332500" y="3033150"/>
            <a:ext cx="2619300" cy="7134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Input: Training Data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(A big matrix of numbers.)</a:t>
            </a:r>
            <a:endParaRPr sz="16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1" name="Google Shape;201;p26"/>
          <p:cNvSpPr/>
          <p:nvPr/>
        </p:nvSpPr>
        <p:spPr>
          <a:xfrm>
            <a:off x="6192350" y="1989900"/>
            <a:ext cx="2619300" cy="8589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Roboto"/>
                <a:ea typeface="Roboto"/>
                <a:cs typeface="Roboto"/>
                <a:sym typeface="Roboto"/>
              </a:rPr>
              <a:t>Output</a:t>
            </a:r>
            <a:r>
              <a:rPr lang="en" sz="1600">
                <a:latin typeface="Roboto"/>
                <a:ea typeface="Roboto"/>
                <a:cs typeface="Roboto"/>
                <a:sym typeface="Roboto"/>
              </a:rPr>
              <a:t>: </a:t>
            </a:r>
            <a:r>
              <a:rPr lang="en" sz="1600">
                <a:latin typeface="Roboto"/>
                <a:ea typeface="Roboto"/>
                <a:cs typeface="Roboto"/>
                <a:sym typeface="Roboto"/>
              </a:rPr>
              <a:t>Trained </a:t>
            </a:r>
            <a:r>
              <a:rPr lang="en" sz="1600">
                <a:latin typeface="Roboto"/>
                <a:ea typeface="Roboto"/>
                <a:cs typeface="Roboto"/>
                <a:sym typeface="Roboto"/>
              </a:rPr>
              <a:t>Model</a:t>
            </a:r>
            <a:endParaRPr sz="16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(A big matrix of useful numbers.)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2" name="Google Shape;202;p26"/>
          <p:cNvSpPr/>
          <p:nvPr/>
        </p:nvSpPr>
        <p:spPr>
          <a:xfrm>
            <a:off x="3665550" y="1989900"/>
            <a:ext cx="1812900" cy="17565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Roboto"/>
                <a:ea typeface="Roboto"/>
                <a:cs typeface="Roboto"/>
                <a:sym typeface="Roboto"/>
              </a:rPr>
              <a:t>AI Training Job</a:t>
            </a:r>
            <a:endParaRPr sz="16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(Matrix multiplications.)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03" name="Google Shape;203;p26"/>
          <p:cNvCxnSpPr>
            <a:stCxn id="199" idx="3"/>
          </p:cNvCxnSpPr>
          <p:nvPr/>
        </p:nvCxnSpPr>
        <p:spPr>
          <a:xfrm>
            <a:off x="2951650" y="2419350"/>
            <a:ext cx="709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04" name="Google Shape;204;p26"/>
          <p:cNvCxnSpPr>
            <a:endCxn id="201" idx="1"/>
          </p:cNvCxnSpPr>
          <p:nvPr/>
        </p:nvCxnSpPr>
        <p:spPr>
          <a:xfrm>
            <a:off x="5477150" y="2419350"/>
            <a:ext cx="7152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05" name="Google Shape;205;p26"/>
          <p:cNvCxnSpPr>
            <a:stCxn id="200" idx="3"/>
          </p:cNvCxnSpPr>
          <p:nvPr/>
        </p:nvCxnSpPr>
        <p:spPr>
          <a:xfrm>
            <a:off x="2951800" y="3389850"/>
            <a:ext cx="7122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7"/>
          <p:cNvSpPr/>
          <p:nvPr/>
        </p:nvSpPr>
        <p:spPr>
          <a:xfrm>
            <a:off x="4422000" y="3576075"/>
            <a:ext cx="300000" cy="3000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4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1" name="Google Shape;211;p27"/>
          <p:cNvSpPr/>
          <p:nvPr/>
        </p:nvSpPr>
        <p:spPr>
          <a:xfrm>
            <a:off x="1857000" y="3576075"/>
            <a:ext cx="300000" cy="3000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2" name="Google Shape;212;p27"/>
          <p:cNvSpPr/>
          <p:nvPr/>
        </p:nvSpPr>
        <p:spPr>
          <a:xfrm>
            <a:off x="6987000" y="3576075"/>
            <a:ext cx="300000" cy="3000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9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3" name="Google Shape;213;p27"/>
          <p:cNvSpPr/>
          <p:nvPr/>
        </p:nvSpPr>
        <p:spPr>
          <a:xfrm>
            <a:off x="4422000" y="3576075"/>
            <a:ext cx="300000" cy="3000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36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4" name="Google Shape;214;p27"/>
          <p:cNvSpPr/>
          <p:nvPr/>
        </p:nvSpPr>
        <p:spPr>
          <a:xfrm>
            <a:off x="1857000" y="3576075"/>
            <a:ext cx="300000" cy="3000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6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5" name="Google Shape;215;p27"/>
          <p:cNvSpPr/>
          <p:nvPr/>
        </p:nvSpPr>
        <p:spPr>
          <a:xfrm>
            <a:off x="6987000" y="3576075"/>
            <a:ext cx="300000" cy="3000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41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6" name="Google Shape;216;p27"/>
          <p:cNvSpPr/>
          <p:nvPr/>
        </p:nvSpPr>
        <p:spPr>
          <a:xfrm>
            <a:off x="4422000" y="3576075"/>
            <a:ext cx="300000" cy="3000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7" name="Google Shape;217;p27"/>
          <p:cNvSpPr/>
          <p:nvPr/>
        </p:nvSpPr>
        <p:spPr>
          <a:xfrm>
            <a:off x="1857000" y="3576075"/>
            <a:ext cx="300000" cy="3000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8" name="Google Shape;218;p27"/>
          <p:cNvSpPr/>
          <p:nvPr/>
        </p:nvSpPr>
        <p:spPr>
          <a:xfrm>
            <a:off x="6987000" y="3576075"/>
            <a:ext cx="300000" cy="3000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6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9" name="Google Shape;219;p27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Distributed Training</a:t>
            </a:r>
            <a:endParaRPr/>
          </a:p>
        </p:txBody>
      </p:sp>
      <p:sp>
        <p:nvSpPr>
          <p:cNvPr id="220" name="Google Shape;220;p27"/>
          <p:cNvSpPr txBox="1"/>
          <p:nvPr>
            <p:ph idx="1" type="body"/>
          </p:nvPr>
        </p:nvSpPr>
        <p:spPr>
          <a:xfrm>
            <a:off x="107050" y="402200"/>
            <a:ext cx="8909700" cy="268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Modern AI training jobs are far too large to be run on a single machine.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job must be </a:t>
            </a:r>
            <a:r>
              <a:rPr b="1" lang="en"/>
              <a:t>distributed</a:t>
            </a:r>
            <a:r>
              <a:rPr lang="en"/>
              <a:t> across multiple machines.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Many options for how to distribute the work. Examples: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Each node works on a subset of the training data.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Each node works on a subset of the model.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Each node works on a subset of the task (pipelining).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For this class, we don't care which option is used.</a:t>
            </a:r>
            <a:endParaRPr/>
          </a:p>
        </p:txBody>
      </p:sp>
      <p:sp>
        <p:nvSpPr>
          <p:cNvPr id="221" name="Google Shape;221;p27"/>
          <p:cNvSpPr/>
          <p:nvPr/>
        </p:nvSpPr>
        <p:spPr>
          <a:xfrm>
            <a:off x="2871600" y="3321225"/>
            <a:ext cx="835800" cy="8097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Node 1: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Roboto"/>
                <a:ea typeface="Roboto"/>
                <a:cs typeface="Roboto"/>
                <a:sym typeface="Roboto"/>
              </a:rPr>
              <a:t>Square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22" name="Google Shape;222;p27"/>
          <p:cNvCxnSpPr>
            <a:stCxn id="223" idx="3"/>
            <a:endCxn id="221" idx="1"/>
          </p:cNvCxnSpPr>
          <p:nvPr/>
        </p:nvCxnSpPr>
        <p:spPr>
          <a:xfrm>
            <a:off x="2157000" y="3726075"/>
            <a:ext cx="7146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24" name="Google Shape;224;p27"/>
          <p:cNvSpPr/>
          <p:nvPr/>
        </p:nvSpPr>
        <p:spPr>
          <a:xfrm>
            <a:off x="5436600" y="3321225"/>
            <a:ext cx="835800" cy="8097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Node 2: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Roboto"/>
                <a:ea typeface="Roboto"/>
                <a:cs typeface="Roboto"/>
                <a:sym typeface="Roboto"/>
              </a:rPr>
              <a:t>+5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25" name="Google Shape;225;p27"/>
          <p:cNvCxnSpPr>
            <a:stCxn id="221" idx="3"/>
            <a:endCxn id="226" idx="1"/>
          </p:cNvCxnSpPr>
          <p:nvPr/>
        </p:nvCxnSpPr>
        <p:spPr>
          <a:xfrm>
            <a:off x="3707400" y="3726075"/>
            <a:ext cx="7146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27" name="Google Shape;227;p27"/>
          <p:cNvCxnSpPr>
            <a:stCxn id="226" idx="3"/>
            <a:endCxn id="224" idx="1"/>
          </p:cNvCxnSpPr>
          <p:nvPr/>
        </p:nvCxnSpPr>
        <p:spPr>
          <a:xfrm>
            <a:off x="4722000" y="3726075"/>
            <a:ext cx="7146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26" name="Google Shape;226;p27"/>
          <p:cNvSpPr/>
          <p:nvPr/>
        </p:nvSpPr>
        <p:spPr>
          <a:xfrm>
            <a:off x="4422000" y="3576075"/>
            <a:ext cx="300000" cy="300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9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3" name="Google Shape;223;p27"/>
          <p:cNvSpPr/>
          <p:nvPr/>
        </p:nvSpPr>
        <p:spPr>
          <a:xfrm>
            <a:off x="1857000" y="3576075"/>
            <a:ext cx="300000" cy="300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8" name="Google Shape;228;p27"/>
          <p:cNvSpPr/>
          <p:nvPr/>
        </p:nvSpPr>
        <p:spPr>
          <a:xfrm>
            <a:off x="6987000" y="3576075"/>
            <a:ext cx="300000" cy="300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14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29" name="Google Shape;229;p27"/>
          <p:cNvCxnSpPr>
            <a:stCxn id="224" idx="3"/>
            <a:endCxn id="228" idx="1"/>
          </p:cNvCxnSpPr>
          <p:nvPr/>
        </p:nvCxnSpPr>
        <p:spPr>
          <a:xfrm>
            <a:off x="6272400" y="3726075"/>
            <a:ext cx="7146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30" name="Google Shape;230;p27"/>
          <p:cNvSpPr txBox="1"/>
          <p:nvPr/>
        </p:nvSpPr>
        <p:spPr>
          <a:xfrm>
            <a:off x="2165700" y="4210395"/>
            <a:ext cx="4812600" cy="4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Example of pipelining. The task is to compute f(</a:t>
            </a:r>
            <a:r>
              <a:rPr i="1"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x</a:t>
            </a: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 = </a:t>
            </a:r>
            <a:r>
              <a:rPr i="1"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x</a:t>
            </a:r>
            <a:r>
              <a:rPr baseline="30000"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2</a:t>
            </a: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+ 5. We split the task into two stages.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28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Nodes Exchanging State</a:t>
            </a:r>
            <a:endParaRPr/>
          </a:p>
        </p:txBody>
      </p:sp>
      <p:sp>
        <p:nvSpPr>
          <p:cNvPr id="236" name="Google Shape;236;p28"/>
          <p:cNvSpPr txBox="1"/>
          <p:nvPr>
            <p:ph idx="1" type="body"/>
          </p:nvPr>
        </p:nvSpPr>
        <p:spPr>
          <a:xfrm>
            <a:off x="107050" y="402200"/>
            <a:ext cx="8909700" cy="158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Regardless of how you distribute the work, nodes must periodically exchange state.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Example: Each node has a piece of the solution, and they must exchange state to reconstruct the full solution.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Example</a:t>
            </a:r>
            <a:r>
              <a:rPr lang="en"/>
              <a:t>: Node 2 needs data from Node 1 to continue its computation.</a:t>
            </a:r>
            <a:endParaRPr/>
          </a:p>
        </p:txBody>
      </p:sp>
      <p:sp>
        <p:nvSpPr>
          <p:cNvPr id="237" name="Google Shape;237;p28"/>
          <p:cNvSpPr/>
          <p:nvPr/>
        </p:nvSpPr>
        <p:spPr>
          <a:xfrm>
            <a:off x="1650900" y="2571750"/>
            <a:ext cx="843000" cy="3216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Node 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8" name="Google Shape;238;p28"/>
          <p:cNvSpPr/>
          <p:nvPr/>
        </p:nvSpPr>
        <p:spPr>
          <a:xfrm>
            <a:off x="3860700" y="2571750"/>
            <a:ext cx="843000" cy="3216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Node 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9" name="Google Shape;239;p28"/>
          <p:cNvSpPr/>
          <p:nvPr/>
        </p:nvSpPr>
        <p:spPr>
          <a:xfrm>
            <a:off x="1650900" y="3638550"/>
            <a:ext cx="843000" cy="3216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Node 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0" name="Google Shape;240;p28"/>
          <p:cNvSpPr/>
          <p:nvPr/>
        </p:nvSpPr>
        <p:spPr>
          <a:xfrm>
            <a:off x="3860700" y="3638550"/>
            <a:ext cx="843000" cy="3216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Node 4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1" name="Google Shape;241;p28"/>
          <p:cNvSpPr/>
          <p:nvPr/>
        </p:nvSpPr>
        <p:spPr>
          <a:xfrm>
            <a:off x="288650" y="2133725"/>
            <a:ext cx="1622700" cy="321600"/>
          </a:xfrm>
          <a:prstGeom prst="wedgeRoundRectCallout">
            <a:avLst>
              <a:gd fmla="val 64516" name="adj1"/>
              <a:gd fmla="val 58901" name="adj2"/>
              <a:gd fmla="val 0" name="adj3"/>
            </a:avLst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Doing computation.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2" name="Google Shape;242;p28"/>
          <p:cNvSpPr/>
          <p:nvPr/>
        </p:nvSpPr>
        <p:spPr>
          <a:xfrm>
            <a:off x="2422250" y="2133725"/>
            <a:ext cx="1622700" cy="321600"/>
          </a:xfrm>
          <a:prstGeom prst="wedgeRoundRectCallout">
            <a:avLst>
              <a:gd fmla="val 64516" name="adj1"/>
              <a:gd fmla="val 58901" name="adj2"/>
              <a:gd fmla="val 0" name="adj3"/>
            </a:avLst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Doing computation.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3" name="Google Shape;243;p28"/>
          <p:cNvSpPr/>
          <p:nvPr/>
        </p:nvSpPr>
        <p:spPr>
          <a:xfrm>
            <a:off x="288650" y="4074668"/>
            <a:ext cx="1622700" cy="321600"/>
          </a:xfrm>
          <a:prstGeom prst="wedgeRoundRectCallout">
            <a:avLst>
              <a:gd fmla="val 65038" name="adj1"/>
              <a:gd fmla="val -63581" name="adj2"/>
              <a:gd fmla="val 0" name="adj3"/>
            </a:avLst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Doing computation.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4" name="Google Shape;244;p28"/>
          <p:cNvSpPr/>
          <p:nvPr/>
        </p:nvSpPr>
        <p:spPr>
          <a:xfrm>
            <a:off x="2422250" y="4074668"/>
            <a:ext cx="1622700" cy="321600"/>
          </a:xfrm>
          <a:prstGeom prst="wedgeRoundRectCallout">
            <a:avLst>
              <a:gd fmla="val 65038" name="adj1"/>
              <a:gd fmla="val -63581" name="adj2"/>
              <a:gd fmla="val 0" name="adj3"/>
            </a:avLst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Doing computation.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5" name="Google Shape;245;p28"/>
          <p:cNvSpPr txBox="1"/>
          <p:nvPr/>
        </p:nvSpPr>
        <p:spPr>
          <a:xfrm>
            <a:off x="5215375" y="2297025"/>
            <a:ext cx="3584400" cy="20010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-215900" lvl="0" marL="342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Roboto"/>
              <a:buAutoNum type="arabicPeriod"/>
            </a:pPr>
            <a:r>
              <a:rPr b="1" lang="en" sz="160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Split job into sub-tasks.</a:t>
            </a:r>
            <a:br>
              <a:rPr b="1" lang="en" sz="160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1" lang="en" sz="160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Each node runs a sub-task.</a:t>
            </a:r>
            <a:endParaRPr b="1" sz="1600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15900" lvl="0" marL="342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600"/>
              <a:buFont typeface="Roboto"/>
              <a:buAutoNum type="arabicPeriod"/>
            </a:pPr>
            <a:r>
              <a:rPr lang="en" sz="16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After every node finishes their sub-task, the nodes </a:t>
            </a:r>
            <a:r>
              <a:rPr lang="en" sz="16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ex</a:t>
            </a:r>
            <a:r>
              <a:rPr lang="en" sz="16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change a large amount of state.</a:t>
            </a:r>
            <a:endParaRPr sz="160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15900" lvl="0" marL="342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600"/>
              <a:buFont typeface="Roboto"/>
              <a:buAutoNum type="arabicPeriod"/>
            </a:pPr>
            <a:r>
              <a:rPr lang="en" sz="16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Proceed to the next task, and repeat Steps 1–2 for the next task.</a:t>
            </a:r>
            <a:endParaRPr sz="160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9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Nodes Exchanging State</a:t>
            </a:r>
            <a:endParaRPr/>
          </a:p>
        </p:txBody>
      </p:sp>
      <p:sp>
        <p:nvSpPr>
          <p:cNvPr id="251" name="Google Shape;251;p29"/>
          <p:cNvSpPr txBox="1"/>
          <p:nvPr>
            <p:ph idx="1" type="body"/>
          </p:nvPr>
        </p:nvSpPr>
        <p:spPr>
          <a:xfrm>
            <a:off x="107050" y="402200"/>
            <a:ext cx="8909700" cy="158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Regardless of how you distribute the work, nodes must periodically exchange state.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Example: Each node has a piece of the solution, and they must exchange state to reconstruct the full solution.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Example: Node 2 needs data from Node 1 to continue its computation.</a:t>
            </a:r>
            <a:endParaRPr/>
          </a:p>
        </p:txBody>
      </p:sp>
      <p:sp>
        <p:nvSpPr>
          <p:cNvPr id="252" name="Google Shape;252;p29"/>
          <p:cNvSpPr txBox="1"/>
          <p:nvPr/>
        </p:nvSpPr>
        <p:spPr>
          <a:xfrm>
            <a:off x="5215375" y="2297025"/>
            <a:ext cx="3584400" cy="20010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-215900" lvl="0" marL="342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600"/>
              <a:buFont typeface="Roboto"/>
              <a:buAutoNum type="arabicPeriod"/>
            </a:pPr>
            <a:r>
              <a:rPr lang="en" sz="16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Split job into sub-tasks.</a:t>
            </a:r>
            <a:br>
              <a:rPr lang="en" sz="16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" sz="16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Each node runs a sub-task.</a:t>
            </a:r>
            <a:endParaRPr sz="160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15900" lvl="0" marL="342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Roboto"/>
              <a:buAutoNum type="arabicPeriod"/>
            </a:pPr>
            <a:r>
              <a:rPr b="1" lang="en" sz="160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After every node finishes their sub-task, the nodes exchange a large amount of state.</a:t>
            </a:r>
            <a:endParaRPr b="1" sz="1600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15900" lvl="0" marL="342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600"/>
              <a:buFont typeface="Roboto"/>
              <a:buAutoNum type="arabicPeriod"/>
            </a:pPr>
            <a:r>
              <a:rPr lang="en" sz="16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Proceed to the next task, and repeat Steps 1–2 for the next task.</a:t>
            </a:r>
            <a:endParaRPr sz="160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53" name="Google Shape;253;p29"/>
          <p:cNvCxnSpPr>
            <a:stCxn id="254" idx="2"/>
            <a:endCxn id="255" idx="0"/>
          </p:cNvCxnSpPr>
          <p:nvPr/>
        </p:nvCxnSpPr>
        <p:spPr>
          <a:xfrm>
            <a:off x="2072400" y="2893350"/>
            <a:ext cx="2209800" cy="745200"/>
          </a:xfrm>
          <a:prstGeom prst="straightConnector1">
            <a:avLst/>
          </a:prstGeom>
          <a:noFill/>
          <a:ln cap="flat" cmpd="sng" w="28575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6" name="Google Shape;256;p29"/>
          <p:cNvCxnSpPr>
            <a:stCxn id="257" idx="2"/>
            <a:endCxn id="258" idx="0"/>
          </p:cNvCxnSpPr>
          <p:nvPr/>
        </p:nvCxnSpPr>
        <p:spPr>
          <a:xfrm flipH="1">
            <a:off x="2072400" y="2893350"/>
            <a:ext cx="2209800" cy="745200"/>
          </a:xfrm>
          <a:prstGeom prst="straightConnector1">
            <a:avLst/>
          </a:prstGeom>
          <a:noFill/>
          <a:ln cap="flat" cmpd="sng" w="28575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9" name="Google Shape;259;p29"/>
          <p:cNvCxnSpPr>
            <a:stCxn id="257" idx="2"/>
            <a:endCxn id="255" idx="0"/>
          </p:cNvCxnSpPr>
          <p:nvPr/>
        </p:nvCxnSpPr>
        <p:spPr>
          <a:xfrm>
            <a:off x="4282200" y="2893350"/>
            <a:ext cx="0" cy="745200"/>
          </a:xfrm>
          <a:prstGeom prst="straightConnector1">
            <a:avLst/>
          </a:prstGeom>
          <a:noFill/>
          <a:ln cap="flat" cmpd="sng" w="28575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0" name="Google Shape;260;p29"/>
          <p:cNvCxnSpPr>
            <a:stCxn id="258" idx="3"/>
            <a:endCxn id="255" idx="1"/>
          </p:cNvCxnSpPr>
          <p:nvPr/>
        </p:nvCxnSpPr>
        <p:spPr>
          <a:xfrm>
            <a:off x="2493900" y="3799350"/>
            <a:ext cx="1366800" cy="0"/>
          </a:xfrm>
          <a:prstGeom prst="straightConnector1">
            <a:avLst/>
          </a:prstGeom>
          <a:noFill/>
          <a:ln cap="flat" cmpd="sng" w="28575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1" name="Google Shape;261;p29"/>
          <p:cNvCxnSpPr>
            <a:stCxn id="254" idx="3"/>
            <a:endCxn id="257" idx="1"/>
          </p:cNvCxnSpPr>
          <p:nvPr/>
        </p:nvCxnSpPr>
        <p:spPr>
          <a:xfrm>
            <a:off x="2493900" y="2732550"/>
            <a:ext cx="1366800" cy="0"/>
          </a:xfrm>
          <a:prstGeom prst="straightConnector1">
            <a:avLst/>
          </a:prstGeom>
          <a:noFill/>
          <a:ln cap="flat" cmpd="sng" w="28575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2" name="Google Shape;262;p29"/>
          <p:cNvCxnSpPr>
            <a:stCxn id="254" idx="2"/>
            <a:endCxn id="258" idx="0"/>
          </p:cNvCxnSpPr>
          <p:nvPr/>
        </p:nvCxnSpPr>
        <p:spPr>
          <a:xfrm>
            <a:off x="2072400" y="2893350"/>
            <a:ext cx="0" cy="745200"/>
          </a:xfrm>
          <a:prstGeom prst="straightConnector1">
            <a:avLst/>
          </a:prstGeom>
          <a:noFill/>
          <a:ln cap="flat" cmpd="sng" w="28575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4" name="Google Shape;254;p29"/>
          <p:cNvSpPr/>
          <p:nvPr/>
        </p:nvSpPr>
        <p:spPr>
          <a:xfrm>
            <a:off x="1650900" y="2571750"/>
            <a:ext cx="843000" cy="3216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Node 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7" name="Google Shape;257;p29"/>
          <p:cNvSpPr/>
          <p:nvPr/>
        </p:nvSpPr>
        <p:spPr>
          <a:xfrm>
            <a:off x="3860700" y="2571750"/>
            <a:ext cx="843000" cy="3216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Node 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8" name="Google Shape;258;p29"/>
          <p:cNvSpPr/>
          <p:nvPr/>
        </p:nvSpPr>
        <p:spPr>
          <a:xfrm>
            <a:off x="1650900" y="3638550"/>
            <a:ext cx="843000" cy="3216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Node 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5" name="Google Shape;255;p29"/>
          <p:cNvSpPr/>
          <p:nvPr/>
        </p:nvSpPr>
        <p:spPr>
          <a:xfrm>
            <a:off x="3860700" y="3638550"/>
            <a:ext cx="843000" cy="3216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Node 4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30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Nodes Exchanging State</a:t>
            </a:r>
            <a:endParaRPr/>
          </a:p>
        </p:txBody>
      </p:sp>
      <p:sp>
        <p:nvSpPr>
          <p:cNvPr id="268" name="Google Shape;268;p30"/>
          <p:cNvSpPr txBox="1"/>
          <p:nvPr>
            <p:ph idx="1" type="body"/>
          </p:nvPr>
        </p:nvSpPr>
        <p:spPr>
          <a:xfrm>
            <a:off x="107050" y="402200"/>
            <a:ext cx="8909700" cy="158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Regardless of how you distribute the work, nodes must periodically exchange state.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Example: Each node has a piece of the solution, and they must exchange state to reconstruct the full solution.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Example: Node 2 needs data from Node 1 to continue its computation.</a:t>
            </a:r>
            <a:endParaRPr/>
          </a:p>
        </p:txBody>
      </p:sp>
      <p:sp>
        <p:nvSpPr>
          <p:cNvPr id="269" name="Google Shape;269;p30"/>
          <p:cNvSpPr txBox="1"/>
          <p:nvPr/>
        </p:nvSpPr>
        <p:spPr>
          <a:xfrm>
            <a:off x="5215375" y="2297025"/>
            <a:ext cx="3584400" cy="20010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-215900" lvl="0" marL="342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Roboto"/>
              <a:buAutoNum type="arabicPeriod"/>
            </a:pPr>
            <a:r>
              <a:rPr lang="en" sz="1600">
                <a:latin typeface="Roboto"/>
                <a:ea typeface="Roboto"/>
                <a:cs typeface="Roboto"/>
                <a:sym typeface="Roboto"/>
              </a:rPr>
              <a:t>Split job into sub-tasks.</a:t>
            </a:r>
            <a:br>
              <a:rPr lang="en" sz="1600">
                <a:latin typeface="Roboto"/>
                <a:ea typeface="Roboto"/>
                <a:cs typeface="Roboto"/>
                <a:sym typeface="Roboto"/>
              </a:rPr>
            </a:br>
            <a:r>
              <a:rPr lang="en" sz="1600">
                <a:latin typeface="Roboto"/>
                <a:ea typeface="Roboto"/>
                <a:cs typeface="Roboto"/>
                <a:sym typeface="Roboto"/>
              </a:rPr>
              <a:t>Each node runs a sub-task.</a:t>
            </a:r>
            <a:endParaRPr sz="1600">
              <a:latin typeface="Roboto"/>
              <a:ea typeface="Roboto"/>
              <a:cs typeface="Roboto"/>
              <a:sym typeface="Roboto"/>
            </a:endParaRPr>
          </a:p>
          <a:p>
            <a:pPr indent="-215900" lvl="0" marL="342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Roboto"/>
              <a:buAutoNum type="arabicPeriod"/>
            </a:pPr>
            <a:r>
              <a:rPr lang="en" sz="1600">
                <a:latin typeface="Roboto"/>
                <a:ea typeface="Roboto"/>
                <a:cs typeface="Roboto"/>
                <a:sym typeface="Roboto"/>
              </a:rPr>
              <a:t>After every node finishes their sub-task, the nodes exchange a large amount of state.</a:t>
            </a:r>
            <a:endParaRPr sz="1600">
              <a:latin typeface="Roboto"/>
              <a:ea typeface="Roboto"/>
              <a:cs typeface="Roboto"/>
              <a:sym typeface="Roboto"/>
            </a:endParaRPr>
          </a:p>
          <a:p>
            <a:pPr indent="-215900" lvl="0" marL="342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Roboto"/>
              <a:buAutoNum type="arabicPeriod"/>
            </a:pPr>
            <a:r>
              <a:rPr lang="en" sz="1600">
                <a:latin typeface="Roboto"/>
                <a:ea typeface="Roboto"/>
                <a:cs typeface="Roboto"/>
                <a:sym typeface="Roboto"/>
              </a:rPr>
              <a:t>Proceed to the next task, and repeat Steps 1–2 for the next task.</a:t>
            </a:r>
            <a:endParaRPr sz="1600"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270" name="Google Shape;270;p30"/>
          <p:cNvGrpSpPr/>
          <p:nvPr/>
        </p:nvGrpSpPr>
        <p:grpSpPr>
          <a:xfrm>
            <a:off x="2072400" y="2732550"/>
            <a:ext cx="2209800" cy="1066800"/>
            <a:chOff x="2072400" y="2732550"/>
            <a:chExt cx="2209800" cy="1066800"/>
          </a:xfrm>
        </p:grpSpPr>
        <p:cxnSp>
          <p:nvCxnSpPr>
            <p:cNvPr id="271" name="Google Shape;271;p30"/>
            <p:cNvCxnSpPr>
              <a:stCxn id="272" idx="2"/>
              <a:endCxn id="273" idx="0"/>
            </p:cNvCxnSpPr>
            <p:nvPr/>
          </p:nvCxnSpPr>
          <p:spPr>
            <a:xfrm>
              <a:off x="2072400" y="2893350"/>
              <a:ext cx="2209800" cy="745200"/>
            </a:xfrm>
            <a:prstGeom prst="straightConnector1">
              <a:avLst/>
            </a:prstGeom>
            <a:noFill/>
            <a:ln cap="flat" cmpd="sng" w="28575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74" name="Google Shape;274;p30"/>
            <p:cNvCxnSpPr>
              <a:stCxn id="275" idx="2"/>
              <a:endCxn id="276" idx="0"/>
            </p:cNvCxnSpPr>
            <p:nvPr/>
          </p:nvCxnSpPr>
          <p:spPr>
            <a:xfrm flipH="1">
              <a:off x="2072400" y="2893350"/>
              <a:ext cx="2209800" cy="745200"/>
            </a:xfrm>
            <a:prstGeom prst="straightConnector1">
              <a:avLst/>
            </a:prstGeom>
            <a:noFill/>
            <a:ln cap="flat" cmpd="sng" w="28575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77" name="Google Shape;277;p30"/>
            <p:cNvCxnSpPr>
              <a:stCxn id="275" idx="2"/>
              <a:endCxn id="273" idx="0"/>
            </p:cNvCxnSpPr>
            <p:nvPr/>
          </p:nvCxnSpPr>
          <p:spPr>
            <a:xfrm>
              <a:off x="4282200" y="2893350"/>
              <a:ext cx="0" cy="745200"/>
            </a:xfrm>
            <a:prstGeom prst="straightConnector1">
              <a:avLst/>
            </a:prstGeom>
            <a:noFill/>
            <a:ln cap="flat" cmpd="sng" w="28575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78" name="Google Shape;278;p30"/>
            <p:cNvCxnSpPr>
              <a:stCxn id="276" idx="3"/>
              <a:endCxn id="273" idx="1"/>
            </p:cNvCxnSpPr>
            <p:nvPr/>
          </p:nvCxnSpPr>
          <p:spPr>
            <a:xfrm>
              <a:off x="2493900" y="3799350"/>
              <a:ext cx="1366800" cy="0"/>
            </a:xfrm>
            <a:prstGeom prst="straightConnector1">
              <a:avLst/>
            </a:prstGeom>
            <a:noFill/>
            <a:ln cap="flat" cmpd="sng" w="28575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79" name="Google Shape;279;p30"/>
            <p:cNvCxnSpPr>
              <a:stCxn id="272" idx="3"/>
              <a:endCxn id="275" idx="1"/>
            </p:cNvCxnSpPr>
            <p:nvPr/>
          </p:nvCxnSpPr>
          <p:spPr>
            <a:xfrm>
              <a:off x="2493900" y="2732550"/>
              <a:ext cx="1366800" cy="0"/>
            </a:xfrm>
            <a:prstGeom prst="straightConnector1">
              <a:avLst/>
            </a:prstGeom>
            <a:noFill/>
            <a:ln cap="flat" cmpd="sng" w="28575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80" name="Google Shape;280;p30"/>
            <p:cNvCxnSpPr>
              <a:stCxn id="272" idx="2"/>
              <a:endCxn id="276" idx="0"/>
            </p:cNvCxnSpPr>
            <p:nvPr/>
          </p:nvCxnSpPr>
          <p:spPr>
            <a:xfrm>
              <a:off x="2072400" y="2893350"/>
              <a:ext cx="0" cy="745200"/>
            </a:xfrm>
            <a:prstGeom prst="straightConnector1">
              <a:avLst/>
            </a:prstGeom>
            <a:noFill/>
            <a:ln cap="flat" cmpd="sng" w="28575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281" name="Google Shape;281;p30"/>
          <p:cNvSpPr/>
          <p:nvPr/>
        </p:nvSpPr>
        <p:spPr>
          <a:xfrm>
            <a:off x="288650" y="2133725"/>
            <a:ext cx="1622700" cy="321600"/>
          </a:xfrm>
          <a:prstGeom prst="wedgeRoundRectCallout">
            <a:avLst>
              <a:gd fmla="val 64516" name="adj1"/>
              <a:gd fmla="val 58901" name="adj2"/>
              <a:gd fmla="val 0" name="adj3"/>
            </a:avLst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Doing computation.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2" name="Google Shape;282;p30"/>
          <p:cNvSpPr/>
          <p:nvPr/>
        </p:nvSpPr>
        <p:spPr>
          <a:xfrm>
            <a:off x="2422250" y="2133725"/>
            <a:ext cx="1622700" cy="321600"/>
          </a:xfrm>
          <a:prstGeom prst="wedgeRoundRectCallout">
            <a:avLst>
              <a:gd fmla="val 64516" name="adj1"/>
              <a:gd fmla="val 58901" name="adj2"/>
              <a:gd fmla="val 0" name="adj3"/>
            </a:avLst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Doing computation.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3" name="Google Shape;283;p30"/>
          <p:cNvSpPr/>
          <p:nvPr/>
        </p:nvSpPr>
        <p:spPr>
          <a:xfrm>
            <a:off x="288650" y="4074668"/>
            <a:ext cx="1622700" cy="321600"/>
          </a:xfrm>
          <a:prstGeom prst="wedgeRoundRectCallout">
            <a:avLst>
              <a:gd fmla="val 65038" name="adj1"/>
              <a:gd fmla="val -63581" name="adj2"/>
              <a:gd fmla="val 0" name="adj3"/>
            </a:avLst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Doing computation.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4" name="Google Shape;284;p30"/>
          <p:cNvSpPr/>
          <p:nvPr/>
        </p:nvSpPr>
        <p:spPr>
          <a:xfrm>
            <a:off x="2422250" y="4074668"/>
            <a:ext cx="1622700" cy="321600"/>
          </a:xfrm>
          <a:prstGeom prst="wedgeRoundRectCallout">
            <a:avLst>
              <a:gd fmla="val 65038" name="adj1"/>
              <a:gd fmla="val -63581" name="adj2"/>
              <a:gd fmla="val 0" name="adj3"/>
            </a:avLst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Doing computation.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2" name="Google Shape;272;p30"/>
          <p:cNvSpPr/>
          <p:nvPr/>
        </p:nvSpPr>
        <p:spPr>
          <a:xfrm>
            <a:off x="1650900" y="2571750"/>
            <a:ext cx="843000" cy="3216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Node 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5" name="Google Shape;275;p30"/>
          <p:cNvSpPr/>
          <p:nvPr/>
        </p:nvSpPr>
        <p:spPr>
          <a:xfrm>
            <a:off x="3860700" y="2571750"/>
            <a:ext cx="843000" cy="3216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Node 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6" name="Google Shape;276;p30"/>
          <p:cNvSpPr/>
          <p:nvPr/>
        </p:nvSpPr>
        <p:spPr>
          <a:xfrm>
            <a:off x="1650900" y="3638550"/>
            <a:ext cx="843000" cy="3216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Node 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3" name="Google Shape;273;p30"/>
          <p:cNvSpPr/>
          <p:nvPr/>
        </p:nvSpPr>
        <p:spPr>
          <a:xfrm>
            <a:off x="3860700" y="3638550"/>
            <a:ext cx="843000" cy="3216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Node 4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31"/>
          <p:cNvSpPr txBox="1"/>
          <p:nvPr>
            <p:ph idx="1" type="body"/>
          </p:nvPr>
        </p:nvSpPr>
        <p:spPr>
          <a:xfrm>
            <a:off x="4812375" y="402200"/>
            <a:ext cx="4038000" cy="426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Distributed AI Training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Motivation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Roboto"/>
              <a:buChar char="•"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Infrastructure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B7B7B7"/>
                </a:solidFill>
              </a:rPr>
              <a:t>Defining Collectives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Definition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Redistribution Operations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Consolidation Operations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Duals and Compositions</a:t>
            </a:r>
            <a:endParaRPr>
              <a:solidFill>
                <a:srgbClr val="B7B7B7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B7B7B7"/>
                </a:solidFill>
              </a:rPr>
              <a:t>Implementing Collectives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Mesh Topology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Single Root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Tree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Ring (Naive)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Ring (Optimized)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Overlay/Underlay Topologies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0" name="Google Shape;290;p31"/>
          <p:cNvSpPr txBox="1"/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Distributed Training Infrastructure</a:t>
            </a:r>
            <a:endParaRPr/>
          </a:p>
        </p:txBody>
      </p:sp>
      <p:sp>
        <p:nvSpPr>
          <p:cNvPr id="291" name="Google Shape;291;p31"/>
          <p:cNvSpPr txBox="1"/>
          <p:nvPr>
            <p:ph idx="2" type="subTitle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Lecture 23</a:t>
            </a:r>
            <a:r>
              <a:rPr lang="en"/>
              <a:t>, CS 168, </a:t>
            </a:r>
            <a:r>
              <a:rPr lang="en"/>
              <a:t>Spring 2026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32"/>
          <p:cNvSpPr txBox="1"/>
          <p:nvPr>
            <p:ph idx="1" type="body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What exactly is each "node"?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GPUs (Graphics Processing Units): Chips that are good at AI operations.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TPUs (Tensor Processing Units): AI-optimized chips designed by Google.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The nodes are inter-connected in a datacenter-like network.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Recall the properties of a datacenter network: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Nodes are physically close (e.g. same building).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Nodes are organized in a structured topology (e.g. Clos network).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Nodes are homogeneous (e.g. all the same model of GPU).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Links have very high bandwidth.</a:t>
            </a:r>
            <a:endParaRPr/>
          </a:p>
        </p:txBody>
      </p:sp>
      <p:sp>
        <p:nvSpPr>
          <p:cNvPr id="297" name="Google Shape;297;p32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Distributed Training Infrastructure: GPUs, TPUs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33"/>
          <p:cNvSpPr/>
          <p:nvPr/>
        </p:nvSpPr>
        <p:spPr>
          <a:xfrm>
            <a:off x="860250" y="2216375"/>
            <a:ext cx="3232500" cy="2555400"/>
          </a:xfrm>
          <a:prstGeom prst="roundRect">
            <a:avLst>
              <a:gd fmla="val 4673" name="adj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45700" lIns="45700" spcFirstLastPara="1" rIns="45700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Server 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3" name="Google Shape;303;p33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Distributed Training Infrastructure: Servers</a:t>
            </a:r>
            <a:endParaRPr/>
          </a:p>
        </p:txBody>
      </p:sp>
      <p:sp>
        <p:nvSpPr>
          <p:cNvPr id="304" name="Google Shape;304;p33"/>
          <p:cNvSpPr txBox="1"/>
          <p:nvPr>
            <p:ph idx="1" type="body"/>
          </p:nvPr>
        </p:nvSpPr>
        <p:spPr>
          <a:xfrm>
            <a:off x="107050" y="402200"/>
            <a:ext cx="8909700" cy="158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Each server in the datacenter has: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One or more GPUs/TPUs. Used to do the AI training.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relatively weak CPU. Used for miscellaneous operations, not AI training.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NIC, shared by all the chips on this server.</a:t>
            </a:r>
            <a:endParaRPr/>
          </a:p>
        </p:txBody>
      </p:sp>
      <p:sp>
        <p:nvSpPr>
          <p:cNvPr id="305" name="Google Shape;305;p33"/>
          <p:cNvSpPr/>
          <p:nvPr/>
        </p:nvSpPr>
        <p:spPr>
          <a:xfrm>
            <a:off x="1000925" y="3115300"/>
            <a:ext cx="762000" cy="393600"/>
          </a:xfrm>
          <a:prstGeom prst="roundRect">
            <a:avLst>
              <a:gd fmla="val 9581" name="adj"/>
            </a:avLst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CPU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6" name="Google Shape;306;p33"/>
          <p:cNvSpPr/>
          <p:nvPr/>
        </p:nvSpPr>
        <p:spPr>
          <a:xfrm>
            <a:off x="2067725" y="3115300"/>
            <a:ext cx="762000" cy="393600"/>
          </a:xfrm>
          <a:prstGeom prst="roundRect">
            <a:avLst>
              <a:gd fmla="val 9581" name="adj"/>
            </a:avLst>
          </a:prstGeom>
          <a:solidFill>
            <a:srgbClr val="D9EAD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GPU 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7" name="Google Shape;307;p33"/>
          <p:cNvSpPr/>
          <p:nvPr/>
        </p:nvSpPr>
        <p:spPr>
          <a:xfrm>
            <a:off x="3134525" y="3115300"/>
            <a:ext cx="762000" cy="393600"/>
          </a:xfrm>
          <a:prstGeom prst="roundRect">
            <a:avLst>
              <a:gd fmla="val 9581" name="adj"/>
            </a:avLst>
          </a:prstGeom>
          <a:solidFill>
            <a:srgbClr val="D9EAD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GPU 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8" name="Google Shape;308;p33"/>
          <p:cNvSpPr/>
          <p:nvPr/>
        </p:nvSpPr>
        <p:spPr>
          <a:xfrm>
            <a:off x="2067725" y="2353300"/>
            <a:ext cx="762000" cy="393600"/>
          </a:xfrm>
          <a:prstGeom prst="roundRect">
            <a:avLst>
              <a:gd fmla="val 9581" name="adj"/>
            </a:avLst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Memory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9" name="Google Shape;309;p33"/>
          <p:cNvSpPr/>
          <p:nvPr/>
        </p:nvSpPr>
        <p:spPr>
          <a:xfrm>
            <a:off x="3134525" y="2353300"/>
            <a:ext cx="762000" cy="393600"/>
          </a:xfrm>
          <a:prstGeom prst="roundRect">
            <a:avLst>
              <a:gd fmla="val 9581" name="adj"/>
            </a:avLst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Memory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10" name="Google Shape;310;p33"/>
          <p:cNvCxnSpPr>
            <a:stCxn id="308" idx="2"/>
            <a:endCxn id="306" idx="0"/>
          </p:cNvCxnSpPr>
          <p:nvPr/>
        </p:nvCxnSpPr>
        <p:spPr>
          <a:xfrm>
            <a:off x="2448725" y="2746900"/>
            <a:ext cx="0" cy="3684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11" name="Google Shape;311;p33"/>
          <p:cNvCxnSpPr>
            <a:stCxn id="309" idx="2"/>
            <a:endCxn id="307" idx="0"/>
          </p:cNvCxnSpPr>
          <p:nvPr/>
        </p:nvCxnSpPr>
        <p:spPr>
          <a:xfrm>
            <a:off x="3515525" y="2746900"/>
            <a:ext cx="0" cy="3684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12" name="Google Shape;312;p33"/>
          <p:cNvCxnSpPr>
            <a:stCxn id="305" idx="2"/>
          </p:cNvCxnSpPr>
          <p:nvPr/>
        </p:nvCxnSpPr>
        <p:spPr>
          <a:xfrm>
            <a:off x="1381925" y="3508900"/>
            <a:ext cx="0" cy="3684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3" name="Google Shape;313;p33"/>
          <p:cNvCxnSpPr>
            <a:stCxn id="306" idx="2"/>
          </p:cNvCxnSpPr>
          <p:nvPr/>
        </p:nvCxnSpPr>
        <p:spPr>
          <a:xfrm>
            <a:off x="2448725" y="3508900"/>
            <a:ext cx="0" cy="3684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4" name="Google Shape;314;p33"/>
          <p:cNvCxnSpPr>
            <a:stCxn id="307" idx="2"/>
          </p:cNvCxnSpPr>
          <p:nvPr/>
        </p:nvCxnSpPr>
        <p:spPr>
          <a:xfrm>
            <a:off x="3515525" y="3508900"/>
            <a:ext cx="0" cy="3684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5" name="Google Shape;315;p33"/>
          <p:cNvCxnSpPr/>
          <p:nvPr/>
        </p:nvCxnSpPr>
        <p:spPr>
          <a:xfrm rot="10800000">
            <a:off x="1377300" y="3877300"/>
            <a:ext cx="214290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6" name="Google Shape;316;p33"/>
          <p:cNvCxnSpPr>
            <a:endCxn id="317" idx="0"/>
          </p:cNvCxnSpPr>
          <p:nvPr/>
        </p:nvCxnSpPr>
        <p:spPr>
          <a:xfrm>
            <a:off x="3134525" y="3873906"/>
            <a:ext cx="0" cy="3696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17" name="Google Shape;317;p33"/>
          <p:cNvSpPr/>
          <p:nvPr/>
        </p:nvSpPr>
        <p:spPr>
          <a:xfrm>
            <a:off x="2753525" y="4243506"/>
            <a:ext cx="762000" cy="393600"/>
          </a:xfrm>
          <a:prstGeom prst="roundRect">
            <a:avLst>
              <a:gd fmla="val 9581" name="adj"/>
            </a:avLst>
          </a:prstGeom>
          <a:solidFill>
            <a:srgbClr val="FCE5C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NIC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8" name="Google Shape;318;p33"/>
          <p:cNvSpPr/>
          <p:nvPr/>
        </p:nvSpPr>
        <p:spPr>
          <a:xfrm>
            <a:off x="5051250" y="2216375"/>
            <a:ext cx="3232500" cy="2555400"/>
          </a:xfrm>
          <a:prstGeom prst="roundRect">
            <a:avLst>
              <a:gd fmla="val 4673" name="adj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45700" lIns="45700" spcFirstLastPara="1" rIns="45700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Server 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9" name="Google Shape;319;p33"/>
          <p:cNvSpPr/>
          <p:nvPr/>
        </p:nvSpPr>
        <p:spPr>
          <a:xfrm>
            <a:off x="5191925" y="3115300"/>
            <a:ext cx="762000" cy="393600"/>
          </a:xfrm>
          <a:prstGeom prst="roundRect">
            <a:avLst>
              <a:gd fmla="val 9581" name="adj"/>
            </a:avLst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CPU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0" name="Google Shape;320;p33"/>
          <p:cNvSpPr/>
          <p:nvPr/>
        </p:nvSpPr>
        <p:spPr>
          <a:xfrm>
            <a:off x="6258725" y="3115300"/>
            <a:ext cx="762000" cy="393600"/>
          </a:xfrm>
          <a:prstGeom prst="roundRect">
            <a:avLst>
              <a:gd fmla="val 9581" name="adj"/>
            </a:avLst>
          </a:prstGeom>
          <a:solidFill>
            <a:srgbClr val="D9EAD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GPU 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1" name="Google Shape;321;p33"/>
          <p:cNvSpPr/>
          <p:nvPr/>
        </p:nvSpPr>
        <p:spPr>
          <a:xfrm>
            <a:off x="7325525" y="3115300"/>
            <a:ext cx="762000" cy="393600"/>
          </a:xfrm>
          <a:prstGeom prst="roundRect">
            <a:avLst>
              <a:gd fmla="val 9581" name="adj"/>
            </a:avLst>
          </a:prstGeom>
          <a:solidFill>
            <a:srgbClr val="D9EAD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GPU 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2" name="Google Shape;322;p33"/>
          <p:cNvSpPr/>
          <p:nvPr/>
        </p:nvSpPr>
        <p:spPr>
          <a:xfrm>
            <a:off x="6258725" y="2353300"/>
            <a:ext cx="762000" cy="393600"/>
          </a:xfrm>
          <a:prstGeom prst="roundRect">
            <a:avLst>
              <a:gd fmla="val 9581" name="adj"/>
            </a:avLst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Memory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3" name="Google Shape;323;p33"/>
          <p:cNvSpPr/>
          <p:nvPr/>
        </p:nvSpPr>
        <p:spPr>
          <a:xfrm>
            <a:off x="7325525" y="2353300"/>
            <a:ext cx="762000" cy="393600"/>
          </a:xfrm>
          <a:prstGeom prst="roundRect">
            <a:avLst>
              <a:gd fmla="val 9581" name="adj"/>
            </a:avLst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Memory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24" name="Google Shape;324;p33"/>
          <p:cNvCxnSpPr>
            <a:stCxn id="322" idx="2"/>
            <a:endCxn id="320" idx="0"/>
          </p:cNvCxnSpPr>
          <p:nvPr/>
        </p:nvCxnSpPr>
        <p:spPr>
          <a:xfrm>
            <a:off x="6639725" y="2746900"/>
            <a:ext cx="0" cy="3684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25" name="Google Shape;325;p33"/>
          <p:cNvCxnSpPr>
            <a:stCxn id="323" idx="2"/>
            <a:endCxn id="321" idx="0"/>
          </p:cNvCxnSpPr>
          <p:nvPr/>
        </p:nvCxnSpPr>
        <p:spPr>
          <a:xfrm>
            <a:off x="7706525" y="2746900"/>
            <a:ext cx="0" cy="3684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26" name="Google Shape;326;p33"/>
          <p:cNvCxnSpPr>
            <a:stCxn id="319" idx="2"/>
          </p:cNvCxnSpPr>
          <p:nvPr/>
        </p:nvCxnSpPr>
        <p:spPr>
          <a:xfrm>
            <a:off x="5572925" y="3508900"/>
            <a:ext cx="0" cy="3684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7" name="Google Shape;327;p33"/>
          <p:cNvCxnSpPr>
            <a:stCxn id="320" idx="2"/>
          </p:cNvCxnSpPr>
          <p:nvPr/>
        </p:nvCxnSpPr>
        <p:spPr>
          <a:xfrm>
            <a:off x="6639725" y="3508900"/>
            <a:ext cx="0" cy="3684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8" name="Google Shape;328;p33"/>
          <p:cNvCxnSpPr>
            <a:stCxn id="321" idx="2"/>
          </p:cNvCxnSpPr>
          <p:nvPr/>
        </p:nvCxnSpPr>
        <p:spPr>
          <a:xfrm>
            <a:off x="7706525" y="3508900"/>
            <a:ext cx="0" cy="3684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9" name="Google Shape;329;p33"/>
          <p:cNvCxnSpPr/>
          <p:nvPr/>
        </p:nvCxnSpPr>
        <p:spPr>
          <a:xfrm rot="10800000">
            <a:off x="5568300" y="3877300"/>
            <a:ext cx="214290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0" name="Google Shape;330;p33"/>
          <p:cNvCxnSpPr>
            <a:endCxn id="331" idx="0"/>
          </p:cNvCxnSpPr>
          <p:nvPr/>
        </p:nvCxnSpPr>
        <p:spPr>
          <a:xfrm>
            <a:off x="5953925" y="3873906"/>
            <a:ext cx="0" cy="3696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31" name="Google Shape;331;p33"/>
          <p:cNvSpPr/>
          <p:nvPr/>
        </p:nvSpPr>
        <p:spPr>
          <a:xfrm>
            <a:off x="5572925" y="4243506"/>
            <a:ext cx="762000" cy="393600"/>
          </a:xfrm>
          <a:prstGeom prst="roundRect">
            <a:avLst>
              <a:gd fmla="val 9581" name="adj"/>
            </a:avLst>
          </a:prstGeom>
          <a:solidFill>
            <a:srgbClr val="FCE5C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NIC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32" name="Google Shape;332;p33"/>
          <p:cNvCxnSpPr>
            <a:stCxn id="331" idx="1"/>
            <a:endCxn id="317" idx="3"/>
          </p:cNvCxnSpPr>
          <p:nvPr/>
        </p:nvCxnSpPr>
        <p:spPr>
          <a:xfrm rot="10800000">
            <a:off x="3515525" y="4440306"/>
            <a:ext cx="205740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34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Distributed Training Infrastructure: Network Topology</a:t>
            </a:r>
            <a:endParaRPr/>
          </a:p>
        </p:txBody>
      </p:sp>
      <p:sp>
        <p:nvSpPr>
          <p:cNvPr id="338" name="Google Shape;338;p34"/>
          <p:cNvSpPr txBox="1"/>
          <p:nvPr>
            <p:ph idx="1" type="body"/>
          </p:nvPr>
        </p:nvSpPr>
        <p:spPr>
          <a:xfrm>
            <a:off x="107050" y="402200"/>
            <a:ext cx="8909700" cy="158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The servers are connected in a structured topology.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Many different possible topologies. Example: Fat-tree Clos topology.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Remember: Each server (               ) could have one or more GPUs/TPUs.</a:t>
            </a:r>
            <a:endParaRPr/>
          </a:p>
        </p:txBody>
      </p:sp>
      <p:sp>
        <p:nvSpPr>
          <p:cNvPr id="339" name="Google Shape;339;p34"/>
          <p:cNvSpPr/>
          <p:nvPr/>
        </p:nvSpPr>
        <p:spPr>
          <a:xfrm>
            <a:off x="5405200" y="3713950"/>
            <a:ext cx="1419900" cy="988200"/>
          </a:xfrm>
          <a:prstGeom prst="roundRect">
            <a:avLst>
              <a:gd fmla="val 7369" name="adj"/>
            </a:avLst>
          </a:prstGeom>
          <a:noFill/>
          <a:ln cap="flat" cmpd="sng" w="19050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0" name="Google Shape;340;p34"/>
          <p:cNvSpPr/>
          <p:nvPr/>
        </p:nvSpPr>
        <p:spPr>
          <a:xfrm>
            <a:off x="3805000" y="3713950"/>
            <a:ext cx="1419900" cy="988200"/>
          </a:xfrm>
          <a:prstGeom prst="roundRect">
            <a:avLst>
              <a:gd fmla="val 7369" name="adj"/>
            </a:avLst>
          </a:prstGeom>
          <a:noFill/>
          <a:ln cap="flat" cmpd="sng" w="19050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1" name="Google Shape;341;p34"/>
          <p:cNvSpPr/>
          <p:nvPr/>
        </p:nvSpPr>
        <p:spPr>
          <a:xfrm>
            <a:off x="2204800" y="3713950"/>
            <a:ext cx="1419900" cy="988200"/>
          </a:xfrm>
          <a:prstGeom prst="roundRect">
            <a:avLst>
              <a:gd fmla="val 7369" name="adj"/>
            </a:avLst>
          </a:prstGeom>
          <a:noFill/>
          <a:ln cap="flat" cmpd="sng" w="19050">
            <a:solidFill>
              <a:srgbClr val="E691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2" name="Google Shape;342;p34"/>
          <p:cNvSpPr/>
          <p:nvPr/>
        </p:nvSpPr>
        <p:spPr>
          <a:xfrm>
            <a:off x="604600" y="3713950"/>
            <a:ext cx="1419900" cy="988200"/>
          </a:xfrm>
          <a:prstGeom prst="roundRect">
            <a:avLst>
              <a:gd fmla="val 7369" name="adj"/>
            </a:avLst>
          </a:prstGeom>
          <a:noFill/>
          <a:ln cap="flat" cmpd="sng" w="19050">
            <a:solidFill>
              <a:srgbClr val="0B53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43" name="Google Shape;343;p34"/>
          <p:cNvCxnSpPr>
            <a:stCxn id="344" idx="2"/>
            <a:endCxn id="345" idx="0"/>
          </p:cNvCxnSpPr>
          <p:nvPr/>
        </p:nvCxnSpPr>
        <p:spPr>
          <a:xfrm flipH="1">
            <a:off x="971657" y="3137500"/>
            <a:ext cx="1028700" cy="6933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6" name="Google Shape;346;p34"/>
          <p:cNvCxnSpPr>
            <a:stCxn id="344" idx="2"/>
            <a:endCxn id="347" idx="0"/>
          </p:cNvCxnSpPr>
          <p:nvPr/>
        </p:nvCxnSpPr>
        <p:spPr>
          <a:xfrm>
            <a:off x="2000357" y="3137500"/>
            <a:ext cx="571500" cy="6933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8" name="Google Shape;348;p34"/>
          <p:cNvCxnSpPr>
            <a:stCxn id="344" idx="2"/>
            <a:endCxn id="349" idx="0"/>
          </p:cNvCxnSpPr>
          <p:nvPr/>
        </p:nvCxnSpPr>
        <p:spPr>
          <a:xfrm>
            <a:off x="2000357" y="3137500"/>
            <a:ext cx="2171700" cy="6933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0" name="Google Shape;350;p34"/>
          <p:cNvCxnSpPr>
            <a:stCxn id="344" idx="2"/>
            <a:endCxn id="351" idx="0"/>
          </p:cNvCxnSpPr>
          <p:nvPr/>
        </p:nvCxnSpPr>
        <p:spPr>
          <a:xfrm>
            <a:off x="2000357" y="3137500"/>
            <a:ext cx="3771900" cy="6933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2" name="Google Shape;352;p34"/>
          <p:cNvCxnSpPr>
            <a:stCxn id="353" idx="2"/>
            <a:endCxn id="345" idx="0"/>
          </p:cNvCxnSpPr>
          <p:nvPr/>
        </p:nvCxnSpPr>
        <p:spPr>
          <a:xfrm flipH="1">
            <a:off x="971657" y="3137500"/>
            <a:ext cx="2171700" cy="6933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4" name="Google Shape;354;p34"/>
          <p:cNvCxnSpPr>
            <a:stCxn id="353" idx="2"/>
            <a:endCxn id="347" idx="0"/>
          </p:cNvCxnSpPr>
          <p:nvPr/>
        </p:nvCxnSpPr>
        <p:spPr>
          <a:xfrm flipH="1">
            <a:off x="2571857" y="3137500"/>
            <a:ext cx="571500" cy="6933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5" name="Google Shape;355;p34"/>
          <p:cNvCxnSpPr>
            <a:stCxn id="353" idx="2"/>
            <a:endCxn id="349" idx="0"/>
          </p:cNvCxnSpPr>
          <p:nvPr/>
        </p:nvCxnSpPr>
        <p:spPr>
          <a:xfrm>
            <a:off x="3143357" y="3137500"/>
            <a:ext cx="1028700" cy="6933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6" name="Google Shape;356;p34"/>
          <p:cNvCxnSpPr>
            <a:stCxn id="353" idx="2"/>
            <a:endCxn id="351" idx="0"/>
          </p:cNvCxnSpPr>
          <p:nvPr/>
        </p:nvCxnSpPr>
        <p:spPr>
          <a:xfrm>
            <a:off x="3143357" y="3137500"/>
            <a:ext cx="2628900" cy="6933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7" name="Google Shape;357;p34"/>
          <p:cNvCxnSpPr>
            <a:stCxn id="358" idx="2"/>
            <a:endCxn id="359" idx="0"/>
          </p:cNvCxnSpPr>
          <p:nvPr/>
        </p:nvCxnSpPr>
        <p:spPr>
          <a:xfrm flipH="1">
            <a:off x="1657457" y="3137500"/>
            <a:ext cx="2628900" cy="6933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0" name="Google Shape;360;p34"/>
          <p:cNvCxnSpPr>
            <a:stCxn id="358" idx="2"/>
            <a:endCxn id="361" idx="0"/>
          </p:cNvCxnSpPr>
          <p:nvPr/>
        </p:nvCxnSpPr>
        <p:spPr>
          <a:xfrm flipH="1">
            <a:off x="3257657" y="3137500"/>
            <a:ext cx="1028700" cy="6933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2" name="Google Shape;362;p34"/>
          <p:cNvCxnSpPr>
            <a:stCxn id="358" idx="2"/>
            <a:endCxn id="363" idx="0"/>
          </p:cNvCxnSpPr>
          <p:nvPr/>
        </p:nvCxnSpPr>
        <p:spPr>
          <a:xfrm>
            <a:off x="4286357" y="3137500"/>
            <a:ext cx="571500" cy="6933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4" name="Google Shape;364;p34"/>
          <p:cNvCxnSpPr>
            <a:stCxn id="358" idx="2"/>
            <a:endCxn id="365" idx="0"/>
          </p:cNvCxnSpPr>
          <p:nvPr/>
        </p:nvCxnSpPr>
        <p:spPr>
          <a:xfrm>
            <a:off x="4286357" y="3137500"/>
            <a:ext cx="2171700" cy="6933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6" name="Google Shape;366;p34"/>
          <p:cNvCxnSpPr>
            <a:stCxn id="367" idx="2"/>
            <a:endCxn id="359" idx="0"/>
          </p:cNvCxnSpPr>
          <p:nvPr/>
        </p:nvCxnSpPr>
        <p:spPr>
          <a:xfrm flipH="1">
            <a:off x="1657457" y="3137500"/>
            <a:ext cx="3771900" cy="6933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8" name="Google Shape;368;p34"/>
          <p:cNvCxnSpPr>
            <a:stCxn id="367" idx="2"/>
            <a:endCxn id="361" idx="0"/>
          </p:cNvCxnSpPr>
          <p:nvPr/>
        </p:nvCxnSpPr>
        <p:spPr>
          <a:xfrm flipH="1">
            <a:off x="3257657" y="3137500"/>
            <a:ext cx="2171700" cy="6933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9" name="Google Shape;369;p34"/>
          <p:cNvCxnSpPr>
            <a:stCxn id="367" idx="2"/>
            <a:endCxn id="363" idx="0"/>
          </p:cNvCxnSpPr>
          <p:nvPr/>
        </p:nvCxnSpPr>
        <p:spPr>
          <a:xfrm flipH="1">
            <a:off x="4857857" y="3137500"/>
            <a:ext cx="571500" cy="6933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0" name="Google Shape;370;p34"/>
          <p:cNvCxnSpPr>
            <a:stCxn id="367" idx="2"/>
            <a:endCxn id="365" idx="0"/>
          </p:cNvCxnSpPr>
          <p:nvPr/>
        </p:nvCxnSpPr>
        <p:spPr>
          <a:xfrm>
            <a:off x="5429357" y="3137500"/>
            <a:ext cx="1028700" cy="6933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1" name="Google Shape;371;p34"/>
          <p:cNvCxnSpPr>
            <a:stCxn id="372" idx="0"/>
            <a:endCxn id="359" idx="2"/>
          </p:cNvCxnSpPr>
          <p:nvPr/>
        </p:nvCxnSpPr>
        <p:spPr>
          <a:xfrm flipH="1" rot="10800000">
            <a:off x="971643" y="3975700"/>
            <a:ext cx="685800" cy="1599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3" name="Google Shape;373;p34"/>
          <p:cNvCxnSpPr>
            <a:stCxn id="345" idx="2"/>
            <a:endCxn id="374" idx="0"/>
          </p:cNvCxnSpPr>
          <p:nvPr/>
        </p:nvCxnSpPr>
        <p:spPr>
          <a:xfrm>
            <a:off x="971643" y="3975700"/>
            <a:ext cx="685800" cy="1599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5" name="Google Shape;375;p34"/>
          <p:cNvCxnSpPr>
            <a:stCxn id="345" idx="2"/>
            <a:endCxn id="372" idx="0"/>
          </p:cNvCxnSpPr>
          <p:nvPr/>
        </p:nvCxnSpPr>
        <p:spPr>
          <a:xfrm>
            <a:off x="971643" y="3975700"/>
            <a:ext cx="0" cy="1599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6" name="Google Shape;376;p34"/>
          <p:cNvCxnSpPr>
            <a:stCxn id="359" idx="2"/>
            <a:endCxn id="374" idx="0"/>
          </p:cNvCxnSpPr>
          <p:nvPr/>
        </p:nvCxnSpPr>
        <p:spPr>
          <a:xfrm>
            <a:off x="1657443" y="3975700"/>
            <a:ext cx="0" cy="1599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7" name="Google Shape;377;p34"/>
          <p:cNvCxnSpPr>
            <a:stCxn id="347" idx="2"/>
            <a:endCxn id="378" idx="0"/>
          </p:cNvCxnSpPr>
          <p:nvPr/>
        </p:nvCxnSpPr>
        <p:spPr>
          <a:xfrm>
            <a:off x="2571843" y="3975700"/>
            <a:ext cx="685800" cy="1599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9" name="Google Shape;379;p34"/>
          <p:cNvCxnSpPr>
            <a:stCxn id="380" idx="0"/>
            <a:endCxn id="361" idx="2"/>
          </p:cNvCxnSpPr>
          <p:nvPr/>
        </p:nvCxnSpPr>
        <p:spPr>
          <a:xfrm flipH="1" rot="10800000">
            <a:off x="2571843" y="3975700"/>
            <a:ext cx="685800" cy="1599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1" name="Google Shape;381;p34"/>
          <p:cNvCxnSpPr>
            <a:endCxn id="380" idx="0"/>
          </p:cNvCxnSpPr>
          <p:nvPr/>
        </p:nvCxnSpPr>
        <p:spPr>
          <a:xfrm>
            <a:off x="2571843" y="3823300"/>
            <a:ext cx="0" cy="3123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2" name="Google Shape;382;p34"/>
          <p:cNvCxnSpPr>
            <a:stCxn id="361" idx="2"/>
            <a:endCxn id="378" idx="0"/>
          </p:cNvCxnSpPr>
          <p:nvPr/>
        </p:nvCxnSpPr>
        <p:spPr>
          <a:xfrm>
            <a:off x="3257643" y="3975700"/>
            <a:ext cx="0" cy="1599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3" name="Google Shape;383;p34"/>
          <p:cNvCxnSpPr>
            <a:stCxn id="349" idx="2"/>
            <a:endCxn id="384" idx="0"/>
          </p:cNvCxnSpPr>
          <p:nvPr/>
        </p:nvCxnSpPr>
        <p:spPr>
          <a:xfrm>
            <a:off x="4172043" y="3975700"/>
            <a:ext cx="685800" cy="1599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5" name="Google Shape;385;p34"/>
          <p:cNvCxnSpPr>
            <a:stCxn id="349" idx="2"/>
            <a:endCxn id="386" idx="0"/>
          </p:cNvCxnSpPr>
          <p:nvPr/>
        </p:nvCxnSpPr>
        <p:spPr>
          <a:xfrm>
            <a:off x="4172043" y="3975700"/>
            <a:ext cx="0" cy="1599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7" name="Google Shape;387;p34"/>
          <p:cNvCxnSpPr>
            <a:stCxn id="386" idx="0"/>
            <a:endCxn id="363" idx="2"/>
          </p:cNvCxnSpPr>
          <p:nvPr/>
        </p:nvCxnSpPr>
        <p:spPr>
          <a:xfrm flipH="1" rot="10800000">
            <a:off x="4172043" y="3975700"/>
            <a:ext cx="685800" cy="1599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8" name="Google Shape;388;p34"/>
          <p:cNvCxnSpPr>
            <a:stCxn id="363" idx="2"/>
            <a:endCxn id="384" idx="0"/>
          </p:cNvCxnSpPr>
          <p:nvPr/>
        </p:nvCxnSpPr>
        <p:spPr>
          <a:xfrm>
            <a:off x="4857843" y="3975700"/>
            <a:ext cx="0" cy="1599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9" name="Google Shape;389;p34"/>
          <p:cNvCxnSpPr>
            <a:stCxn id="351" idx="2"/>
            <a:endCxn id="390" idx="0"/>
          </p:cNvCxnSpPr>
          <p:nvPr/>
        </p:nvCxnSpPr>
        <p:spPr>
          <a:xfrm>
            <a:off x="5772243" y="3975700"/>
            <a:ext cx="685800" cy="1599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1" name="Google Shape;391;p34"/>
          <p:cNvCxnSpPr>
            <a:stCxn id="392" idx="0"/>
            <a:endCxn id="365" idx="2"/>
          </p:cNvCxnSpPr>
          <p:nvPr/>
        </p:nvCxnSpPr>
        <p:spPr>
          <a:xfrm flipH="1" rot="10800000">
            <a:off x="5772243" y="3975700"/>
            <a:ext cx="685800" cy="1599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3" name="Google Shape;393;p34"/>
          <p:cNvCxnSpPr>
            <a:stCxn id="351" idx="2"/>
            <a:endCxn id="392" idx="0"/>
          </p:cNvCxnSpPr>
          <p:nvPr/>
        </p:nvCxnSpPr>
        <p:spPr>
          <a:xfrm>
            <a:off x="5772243" y="3975700"/>
            <a:ext cx="0" cy="1599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4" name="Google Shape;394;p34"/>
          <p:cNvCxnSpPr>
            <a:stCxn id="365" idx="2"/>
            <a:endCxn id="390" idx="0"/>
          </p:cNvCxnSpPr>
          <p:nvPr/>
        </p:nvCxnSpPr>
        <p:spPr>
          <a:xfrm>
            <a:off x="6458043" y="3975700"/>
            <a:ext cx="0" cy="1599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5" name="Google Shape;395;p34"/>
          <p:cNvCxnSpPr>
            <a:stCxn id="372" idx="2"/>
            <a:endCxn id="396" idx="0"/>
          </p:cNvCxnSpPr>
          <p:nvPr/>
        </p:nvCxnSpPr>
        <p:spPr>
          <a:xfrm flipH="1">
            <a:off x="819243" y="4280500"/>
            <a:ext cx="152400" cy="1599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7" name="Google Shape;397;p34"/>
          <p:cNvCxnSpPr>
            <a:stCxn id="372" idx="2"/>
            <a:endCxn id="398" idx="0"/>
          </p:cNvCxnSpPr>
          <p:nvPr/>
        </p:nvCxnSpPr>
        <p:spPr>
          <a:xfrm>
            <a:off x="971643" y="4280500"/>
            <a:ext cx="152400" cy="1599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9" name="Google Shape;399;p34"/>
          <p:cNvCxnSpPr>
            <a:stCxn id="374" idx="2"/>
            <a:endCxn id="400" idx="0"/>
          </p:cNvCxnSpPr>
          <p:nvPr/>
        </p:nvCxnSpPr>
        <p:spPr>
          <a:xfrm flipH="1">
            <a:off x="1505043" y="4280500"/>
            <a:ext cx="152400" cy="1599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1" name="Google Shape;401;p34"/>
          <p:cNvCxnSpPr>
            <a:stCxn id="374" idx="2"/>
            <a:endCxn id="402" idx="0"/>
          </p:cNvCxnSpPr>
          <p:nvPr/>
        </p:nvCxnSpPr>
        <p:spPr>
          <a:xfrm>
            <a:off x="1657443" y="4280500"/>
            <a:ext cx="152400" cy="1599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3" name="Google Shape;403;p34"/>
          <p:cNvCxnSpPr>
            <a:stCxn id="380" idx="2"/>
            <a:endCxn id="404" idx="0"/>
          </p:cNvCxnSpPr>
          <p:nvPr/>
        </p:nvCxnSpPr>
        <p:spPr>
          <a:xfrm flipH="1">
            <a:off x="2419443" y="4280500"/>
            <a:ext cx="152400" cy="1599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5" name="Google Shape;405;p34"/>
          <p:cNvCxnSpPr>
            <a:stCxn id="380" idx="2"/>
            <a:endCxn id="406" idx="0"/>
          </p:cNvCxnSpPr>
          <p:nvPr/>
        </p:nvCxnSpPr>
        <p:spPr>
          <a:xfrm>
            <a:off x="2571843" y="4280500"/>
            <a:ext cx="152400" cy="1599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7" name="Google Shape;407;p34"/>
          <p:cNvCxnSpPr>
            <a:stCxn id="378" idx="2"/>
            <a:endCxn id="408" idx="0"/>
          </p:cNvCxnSpPr>
          <p:nvPr/>
        </p:nvCxnSpPr>
        <p:spPr>
          <a:xfrm flipH="1">
            <a:off x="3105243" y="4280500"/>
            <a:ext cx="152400" cy="1599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9" name="Google Shape;409;p34"/>
          <p:cNvCxnSpPr>
            <a:stCxn id="378" idx="2"/>
            <a:endCxn id="410" idx="0"/>
          </p:cNvCxnSpPr>
          <p:nvPr/>
        </p:nvCxnSpPr>
        <p:spPr>
          <a:xfrm>
            <a:off x="3257643" y="4280500"/>
            <a:ext cx="152400" cy="1599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1" name="Google Shape;411;p34"/>
          <p:cNvCxnSpPr>
            <a:stCxn id="386" idx="2"/>
            <a:endCxn id="412" idx="0"/>
          </p:cNvCxnSpPr>
          <p:nvPr/>
        </p:nvCxnSpPr>
        <p:spPr>
          <a:xfrm flipH="1">
            <a:off x="4019643" y="4280500"/>
            <a:ext cx="152400" cy="1599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3" name="Google Shape;413;p34"/>
          <p:cNvCxnSpPr>
            <a:stCxn id="386" idx="2"/>
            <a:endCxn id="414" idx="0"/>
          </p:cNvCxnSpPr>
          <p:nvPr/>
        </p:nvCxnSpPr>
        <p:spPr>
          <a:xfrm>
            <a:off x="4172043" y="4280500"/>
            <a:ext cx="152400" cy="1599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5" name="Google Shape;415;p34"/>
          <p:cNvCxnSpPr>
            <a:stCxn id="384" idx="2"/>
            <a:endCxn id="416" idx="0"/>
          </p:cNvCxnSpPr>
          <p:nvPr/>
        </p:nvCxnSpPr>
        <p:spPr>
          <a:xfrm flipH="1">
            <a:off x="4705443" y="4280500"/>
            <a:ext cx="152400" cy="1599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7" name="Google Shape;417;p34"/>
          <p:cNvCxnSpPr>
            <a:stCxn id="384" idx="2"/>
            <a:endCxn id="418" idx="0"/>
          </p:cNvCxnSpPr>
          <p:nvPr/>
        </p:nvCxnSpPr>
        <p:spPr>
          <a:xfrm>
            <a:off x="4857843" y="4280500"/>
            <a:ext cx="152400" cy="1599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9" name="Google Shape;419;p34"/>
          <p:cNvCxnSpPr>
            <a:stCxn id="392" idx="2"/>
            <a:endCxn id="420" idx="0"/>
          </p:cNvCxnSpPr>
          <p:nvPr/>
        </p:nvCxnSpPr>
        <p:spPr>
          <a:xfrm flipH="1">
            <a:off x="5619843" y="4280500"/>
            <a:ext cx="152400" cy="1599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1" name="Google Shape;421;p34"/>
          <p:cNvCxnSpPr>
            <a:stCxn id="392" idx="2"/>
            <a:endCxn id="422" idx="0"/>
          </p:cNvCxnSpPr>
          <p:nvPr/>
        </p:nvCxnSpPr>
        <p:spPr>
          <a:xfrm>
            <a:off x="5772243" y="4280500"/>
            <a:ext cx="152400" cy="1599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3" name="Google Shape;423;p34"/>
          <p:cNvCxnSpPr>
            <a:stCxn id="390" idx="2"/>
            <a:endCxn id="424" idx="0"/>
          </p:cNvCxnSpPr>
          <p:nvPr/>
        </p:nvCxnSpPr>
        <p:spPr>
          <a:xfrm flipH="1">
            <a:off x="6305643" y="4280500"/>
            <a:ext cx="152400" cy="1599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5" name="Google Shape;425;p34"/>
          <p:cNvCxnSpPr>
            <a:stCxn id="390" idx="2"/>
            <a:endCxn id="426" idx="0"/>
          </p:cNvCxnSpPr>
          <p:nvPr/>
        </p:nvCxnSpPr>
        <p:spPr>
          <a:xfrm>
            <a:off x="6458043" y="4280500"/>
            <a:ext cx="152400" cy="1599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96" name="Google Shape;396;p34"/>
          <p:cNvSpPr/>
          <p:nvPr/>
        </p:nvSpPr>
        <p:spPr>
          <a:xfrm>
            <a:off x="746794" y="4440400"/>
            <a:ext cx="144900" cy="144900"/>
          </a:xfrm>
          <a:prstGeom prst="ellipse">
            <a:avLst/>
          </a:prstGeom>
          <a:solidFill>
            <a:srgbClr val="C9DAF8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8" name="Google Shape;398;p34"/>
          <p:cNvSpPr/>
          <p:nvPr/>
        </p:nvSpPr>
        <p:spPr>
          <a:xfrm>
            <a:off x="1051594" y="4440400"/>
            <a:ext cx="144900" cy="144900"/>
          </a:xfrm>
          <a:prstGeom prst="ellipse">
            <a:avLst/>
          </a:prstGeom>
          <a:solidFill>
            <a:srgbClr val="C9DAF8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0" name="Google Shape;400;p34"/>
          <p:cNvSpPr/>
          <p:nvPr/>
        </p:nvSpPr>
        <p:spPr>
          <a:xfrm>
            <a:off x="1432594" y="4440400"/>
            <a:ext cx="144900" cy="144900"/>
          </a:xfrm>
          <a:prstGeom prst="ellipse">
            <a:avLst/>
          </a:prstGeom>
          <a:solidFill>
            <a:srgbClr val="C9DAF8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2" name="Google Shape;402;p34"/>
          <p:cNvSpPr/>
          <p:nvPr/>
        </p:nvSpPr>
        <p:spPr>
          <a:xfrm>
            <a:off x="1737394" y="4440400"/>
            <a:ext cx="144900" cy="144900"/>
          </a:xfrm>
          <a:prstGeom prst="ellipse">
            <a:avLst/>
          </a:prstGeom>
          <a:solidFill>
            <a:srgbClr val="C9DAF8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4" name="Google Shape;404;p34"/>
          <p:cNvSpPr/>
          <p:nvPr/>
        </p:nvSpPr>
        <p:spPr>
          <a:xfrm>
            <a:off x="2346994" y="4440400"/>
            <a:ext cx="144900" cy="144900"/>
          </a:xfrm>
          <a:prstGeom prst="ellipse">
            <a:avLst/>
          </a:prstGeom>
          <a:solidFill>
            <a:srgbClr val="FCE5CD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6" name="Google Shape;406;p34"/>
          <p:cNvSpPr/>
          <p:nvPr/>
        </p:nvSpPr>
        <p:spPr>
          <a:xfrm>
            <a:off x="2651794" y="4440400"/>
            <a:ext cx="144900" cy="144900"/>
          </a:xfrm>
          <a:prstGeom prst="ellipse">
            <a:avLst/>
          </a:prstGeom>
          <a:solidFill>
            <a:srgbClr val="FCE5CD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8" name="Google Shape;408;p34"/>
          <p:cNvSpPr/>
          <p:nvPr/>
        </p:nvSpPr>
        <p:spPr>
          <a:xfrm>
            <a:off x="3032794" y="4440400"/>
            <a:ext cx="144900" cy="144900"/>
          </a:xfrm>
          <a:prstGeom prst="ellipse">
            <a:avLst/>
          </a:prstGeom>
          <a:solidFill>
            <a:srgbClr val="FCE5CD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0" name="Google Shape;410;p34"/>
          <p:cNvSpPr/>
          <p:nvPr/>
        </p:nvSpPr>
        <p:spPr>
          <a:xfrm>
            <a:off x="3337594" y="4440400"/>
            <a:ext cx="144900" cy="144900"/>
          </a:xfrm>
          <a:prstGeom prst="ellipse">
            <a:avLst/>
          </a:prstGeom>
          <a:solidFill>
            <a:srgbClr val="FCE5CD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2" name="Google Shape;412;p34"/>
          <p:cNvSpPr/>
          <p:nvPr/>
        </p:nvSpPr>
        <p:spPr>
          <a:xfrm>
            <a:off x="3947194" y="4440400"/>
            <a:ext cx="144900" cy="144900"/>
          </a:xfrm>
          <a:prstGeom prst="ellipse">
            <a:avLst/>
          </a:prstGeom>
          <a:solidFill>
            <a:srgbClr val="D9EAD3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4" name="Google Shape;414;p34"/>
          <p:cNvSpPr/>
          <p:nvPr/>
        </p:nvSpPr>
        <p:spPr>
          <a:xfrm>
            <a:off x="4251994" y="4440400"/>
            <a:ext cx="144900" cy="144900"/>
          </a:xfrm>
          <a:prstGeom prst="ellipse">
            <a:avLst/>
          </a:prstGeom>
          <a:solidFill>
            <a:srgbClr val="D9EAD3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6" name="Google Shape;416;p34"/>
          <p:cNvSpPr/>
          <p:nvPr/>
        </p:nvSpPr>
        <p:spPr>
          <a:xfrm>
            <a:off x="4632994" y="4440400"/>
            <a:ext cx="144900" cy="144900"/>
          </a:xfrm>
          <a:prstGeom prst="ellipse">
            <a:avLst/>
          </a:prstGeom>
          <a:solidFill>
            <a:srgbClr val="D9EAD3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8" name="Google Shape;418;p34"/>
          <p:cNvSpPr/>
          <p:nvPr/>
        </p:nvSpPr>
        <p:spPr>
          <a:xfrm>
            <a:off x="4937794" y="4440400"/>
            <a:ext cx="144900" cy="144900"/>
          </a:xfrm>
          <a:prstGeom prst="ellipse">
            <a:avLst/>
          </a:prstGeom>
          <a:solidFill>
            <a:srgbClr val="D9EAD3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0" name="Google Shape;420;p34"/>
          <p:cNvSpPr/>
          <p:nvPr/>
        </p:nvSpPr>
        <p:spPr>
          <a:xfrm>
            <a:off x="5547394" y="4440400"/>
            <a:ext cx="144900" cy="144900"/>
          </a:xfrm>
          <a:prstGeom prst="ellipse">
            <a:avLst/>
          </a:prstGeom>
          <a:solidFill>
            <a:srgbClr val="D9D2E9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2" name="Google Shape;422;p34"/>
          <p:cNvSpPr/>
          <p:nvPr/>
        </p:nvSpPr>
        <p:spPr>
          <a:xfrm>
            <a:off x="5852194" y="4440400"/>
            <a:ext cx="144900" cy="144900"/>
          </a:xfrm>
          <a:prstGeom prst="ellipse">
            <a:avLst/>
          </a:prstGeom>
          <a:solidFill>
            <a:srgbClr val="D9D2E9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4" name="Google Shape;424;p34"/>
          <p:cNvSpPr/>
          <p:nvPr/>
        </p:nvSpPr>
        <p:spPr>
          <a:xfrm>
            <a:off x="6233194" y="4440400"/>
            <a:ext cx="144900" cy="144900"/>
          </a:xfrm>
          <a:prstGeom prst="ellipse">
            <a:avLst/>
          </a:prstGeom>
          <a:solidFill>
            <a:srgbClr val="D9D2E9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6" name="Google Shape;426;p34"/>
          <p:cNvSpPr/>
          <p:nvPr/>
        </p:nvSpPr>
        <p:spPr>
          <a:xfrm>
            <a:off x="6537994" y="4440400"/>
            <a:ext cx="144900" cy="144900"/>
          </a:xfrm>
          <a:prstGeom prst="ellipse">
            <a:avLst/>
          </a:prstGeom>
          <a:solidFill>
            <a:srgbClr val="D9D2E9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2" name="Google Shape;372;p34"/>
          <p:cNvSpPr/>
          <p:nvPr/>
        </p:nvSpPr>
        <p:spPr>
          <a:xfrm>
            <a:off x="899193" y="4135600"/>
            <a:ext cx="144900" cy="144900"/>
          </a:xfrm>
          <a:prstGeom prst="rect">
            <a:avLst/>
          </a:prstGeom>
          <a:solidFill>
            <a:srgbClr val="C9DAF8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4" name="Google Shape;374;p34"/>
          <p:cNvSpPr/>
          <p:nvPr/>
        </p:nvSpPr>
        <p:spPr>
          <a:xfrm>
            <a:off x="1584993" y="4135600"/>
            <a:ext cx="144900" cy="144900"/>
          </a:xfrm>
          <a:prstGeom prst="rect">
            <a:avLst/>
          </a:prstGeom>
          <a:solidFill>
            <a:srgbClr val="C9DAF8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0" name="Google Shape;380;p34"/>
          <p:cNvSpPr/>
          <p:nvPr/>
        </p:nvSpPr>
        <p:spPr>
          <a:xfrm>
            <a:off x="2499393" y="4135600"/>
            <a:ext cx="144900" cy="144900"/>
          </a:xfrm>
          <a:prstGeom prst="rect">
            <a:avLst/>
          </a:prstGeom>
          <a:solidFill>
            <a:srgbClr val="FCE5CD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8" name="Google Shape;378;p34"/>
          <p:cNvSpPr/>
          <p:nvPr/>
        </p:nvSpPr>
        <p:spPr>
          <a:xfrm>
            <a:off x="3185193" y="4135600"/>
            <a:ext cx="144900" cy="144900"/>
          </a:xfrm>
          <a:prstGeom prst="rect">
            <a:avLst/>
          </a:prstGeom>
          <a:solidFill>
            <a:srgbClr val="FCE5CD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6" name="Google Shape;386;p34"/>
          <p:cNvSpPr/>
          <p:nvPr/>
        </p:nvSpPr>
        <p:spPr>
          <a:xfrm>
            <a:off x="4099593" y="4135600"/>
            <a:ext cx="144900" cy="144900"/>
          </a:xfrm>
          <a:prstGeom prst="rect">
            <a:avLst/>
          </a:prstGeom>
          <a:solidFill>
            <a:srgbClr val="D9EAD3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4" name="Google Shape;384;p34"/>
          <p:cNvSpPr/>
          <p:nvPr/>
        </p:nvSpPr>
        <p:spPr>
          <a:xfrm>
            <a:off x="4785393" y="4135600"/>
            <a:ext cx="144900" cy="144900"/>
          </a:xfrm>
          <a:prstGeom prst="rect">
            <a:avLst/>
          </a:prstGeom>
          <a:solidFill>
            <a:srgbClr val="D9EAD3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2" name="Google Shape;392;p34"/>
          <p:cNvSpPr/>
          <p:nvPr/>
        </p:nvSpPr>
        <p:spPr>
          <a:xfrm>
            <a:off x="5699793" y="4135600"/>
            <a:ext cx="144900" cy="144900"/>
          </a:xfrm>
          <a:prstGeom prst="rect">
            <a:avLst/>
          </a:prstGeom>
          <a:solidFill>
            <a:srgbClr val="D9D2E9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0" name="Google Shape;390;p34"/>
          <p:cNvSpPr/>
          <p:nvPr/>
        </p:nvSpPr>
        <p:spPr>
          <a:xfrm>
            <a:off x="6385593" y="4135600"/>
            <a:ext cx="144900" cy="144900"/>
          </a:xfrm>
          <a:prstGeom prst="rect">
            <a:avLst/>
          </a:prstGeom>
          <a:solidFill>
            <a:srgbClr val="D9D2E9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5" name="Google Shape;345;p34"/>
          <p:cNvSpPr/>
          <p:nvPr/>
        </p:nvSpPr>
        <p:spPr>
          <a:xfrm>
            <a:off x="899193" y="3830800"/>
            <a:ext cx="144900" cy="144900"/>
          </a:xfrm>
          <a:prstGeom prst="rect">
            <a:avLst/>
          </a:prstGeom>
          <a:solidFill>
            <a:srgbClr val="C9DAF8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9" name="Google Shape;359;p34"/>
          <p:cNvSpPr/>
          <p:nvPr/>
        </p:nvSpPr>
        <p:spPr>
          <a:xfrm>
            <a:off x="1584993" y="3830800"/>
            <a:ext cx="144900" cy="144900"/>
          </a:xfrm>
          <a:prstGeom prst="rect">
            <a:avLst/>
          </a:prstGeom>
          <a:solidFill>
            <a:srgbClr val="C9DAF8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7" name="Google Shape;347;p34"/>
          <p:cNvSpPr/>
          <p:nvPr/>
        </p:nvSpPr>
        <p:spPr>
          <a:xfrm>
            <a:off x="2499393" y="3830800"/>
            <a:ext cx="144900" cy="144900"/>
          </a:xfrm>
          <a:prstGeom prst="rect">
            <a:avLst/>
          </a:prstGeom>
          <a:solidFill>
            <a:srgbClr val="FCE5CD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1" name="Google Shape;361;p34"/>
          <p:cNvSpPr/>
          <p:nvPr/>
        </p:nvSpPr>
        <p:spPr>
          <a:xfrm>
            <a:off x="3185193" y="3830800"/>
            <a:ext cx="144900" cy="144900"/>
          </a:xfrm>
          <a:prstGeom prst="rect">
            <a:avLst/>
          </a:prstGeom>
          <a:solidFill>
            <a:srgbClr val="FCE5CD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9" name="Google Shape;349;p34"/>
          <p:cNvSpPr/>
          <p:nvPr/>
        </p:nvSpPr>
        <p:spPr>
          <a:xfrm>
            <a:off x="4099593" y="3830800"/>
            <a:ext cx="144900" cy="144900"/>
          </a:xfrm>
          <a:prstGeom prst="rect">
            <a:avLst/>
          </a:prstGeom>
          <a:solidFill>
            <a:srgbClr val="D9EAD3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3" name="Google Shape;363;p34"/>
          <p:cNvSpPr/>
          <p:nvPr/>
        </p:nvSpPr>
        <p:spPr>
          <a:xfrm>
            <a:off x="4785393" y="3830800"/>
            <a:ext cx="144900" cy="144900"/>
          </a:xfrm>
          <a:prstGeom prst="rect">
            <a:avLst/>
          </a:prstGeom>
          <a:solidFill>
            <a:srgbClr val="D9EAD3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1" name="Google Shape;351;p34"/>
          <p:cNvSpPr/>
          <p:nvPr/>
        </p:nvSpPr>
        <p:spPr>
          <a:xfrm>
            <a:off x="5699793" y="3830800"/>
            <a:ext cx="144900" cy="144900"/>
          </a:xfrm>
          <a:prstGeom prst="rect">
            <a:avLst/>
          </a:prstGeom>
          <a:solidFill>
            <a:srgbClr val="D9D2E9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5" name="Google Shape;365;p34"/>
          <p:cNvSpPr/>
          <p:nvPr/>
        </p:nvSpPr>
        <p:spPr>
          <a:xfrm>
            <a:off x="6385593" y="3830800"/>
            <a:ext cx="144900" cy="144900"/>
          </a:xfrm>
          <a:prstGeom prst="rect">
            <a:avLst/>
          </a:prstGeom>
          <a:solidFill>
            <a:srgbClr val="D9D2E9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4" name="Google Shape;344;p34"/>
          <p:cNvSpPr/>
          <p:nvPr/>
        </p:nvSpPr>
        <p:spPr>
          <a:xfrm>
            <a:off x="1855457" y="2992600"/>
            <a:ext cx="289800" cy="1449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3" name="Google Shape;353;p34"/>
          <p:cNvSpPr/>
          <p:nvPr/>
        </p:nvSpPr>
        <p:spPr>
          <a:xfrm>
            <a:off x="2998457" y="2992600"/>
            <a:ext cx="289800" cy="1449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8" name="Google Shape;358;p34"/>
          <p:cNvSpPr/>
          <p:nvPr/>
        </p:nvSpPr>
        <p:spPr>
          <a:xfrm>
            <a:off x="4141457" y="2992600"/>
            <a:ext cx="289800" cy="1449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7" name="Google Shape;367;p34"/>
          <p:cNvSpPr/>
          <p:nvPr/>
        </p:nvSpPr>
        <p:spPr>
          <a:xfrm>
            <a:off x="5284457" y="2992600"/>
            <a:ext cx="289800" cy="1449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7" name="Google Shape;427;p34"/>
          <p:cNvSpPr txBox="1"/>
          <p:nvPr/>
        </p:nvSpPr>
        <p:spPr>
          <a:xfrm>
            <a:off x="1054000" y="4772050"/>
            <a:ext cx="5211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B5394"/>
                </a:solidFill>
                <a:latin typeface="Roboto"/>
                <a:ea typeface="Roboto"/>
                <a:cs typeface="Roboto"/>
                <a:sym typeface="Roboto"/>
              </a:rPr>
              <a:t>Pod 1</a:t>
            </a:r>
            <a:endParaRPr>
              <a:solidFill>
                <a:srgbClr val="0B5394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8" name="Google Shape;428;p34"/>
          <p:cNvSpPr txBox="1"/>
          <p:nvPr/>
        </p:nvSpPr>
        <p:spPr>
          <a:xfrm>
            <a:off x="2654200" y="4772050"/>
            <a:ext cx="5211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E69138"/>
                </a:solidFill>
                <a:latin typeface="Roboto"/>
                <a:ea typeface="Roboto"/>
                <a:cs typeface="Roboto"/>
                <a:sym typeface="Roboto"/>
              </a:rPr>
              <a:t>Pod 2</a:t>
            </a:r>
            <a:endParaRPr>
              <a:solidFill>
                <a:srgbClr val="E69138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9" name="Google Shape;429;p34"/>
          <p:cNvSpPr txBox="1"/>
          <p:nvPr/>
        </p:nvSpPr>
        <p:spPr>
          <a:xfrm>
            <a:off x="4254400" y="4772050"/>
            <a:ext cx="5211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AA84F"/>
                </a:solidFill>
                <a:latin typeface="Roboto"/>
                <a:ea typeface="Roboto"/>
                <a:cs typeface="Roboto"/>
                <a:sym typeface="Roboto"/>
              </a:rPr>
              <a:t>Pod 3</a:t>
            </a:r>
            <a:endParaRPr>
              <a:solidFill>
                <a:srgbClr val="6AA84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30" name="Google Shape;430;p34"/>
          <p:cNvSpPr txBox="1"/>
          <p:nvPr/>
        </p:nvSpPr>
        <p:spPr>
          <a:xfrm>
            <a:off x="5854600" y="4772050"/>
            <a:ext cx="5211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9900FF"/>
                </a:solidFill>
                <a:latin typeface="Roboto"/>
                <a:ea typeface="Roboto"/>
                <a:cs typeface="Roboto"/>
                <a:sym typeface="Roboto"/>
              </a:rPr>
              <a:t>Pod 4</a:t>
            </a:r>
            <a:endParaRPr>
              <a:solidFill>
                <a:srgbClr val="99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31" name="Google Shape;431;p34"/>
          <p:cNvSpPr txBox="1"/>
          <p:nvPr/>
        </p:nvSpPr>
        <p:spPr>
          <a:xfrm>
            <a:off x="7005400" y="4072600"/>
            <a:ext cx="9129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Edge layer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32" name="Google Shape;432;p34"/>
          <p:cNvSpPr txBox="1"/>
          <p:nvPr/>
        </p:nvSpPr>
        <p:spPr>
          <a:xfrm>
            <a:off x="7005400" y="3767800"/>
            <a:ext cx="15138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Aggregation layer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33" name="Google Shape;433;p34"/>
          <p:cNvSpPr txBox="1"/>
          <p:nvPr/>
        </p:nvSpPr>
        <p:spPr>
          <a:xfrm>
            <a:off x="7005400" y="2929600"/>
            <a:ext cx="9129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Core layer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34" name="Google Shape;434;p34"/>
          <p:cNvSpPr/>
          <p:nvPr/>
        </p:nvSpPr>
        <p:spPr>
          <a:xfrm>
            <a:off x="3207366" y="1352217"/>
            <a:ext cx="144900" cy="144900"/>
          </a:xfrm>
          <a:prstGeom prst="ellipse">
            <a:avLst/>
          </a:prstGeom>
          <a:solidFill>
            <a:srgbClr val="C9DAF8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35" name="Google Shape;435;p34"/>
          <p:cNvSpPr/>
          <p:nvPr/>
        </p:nvSpPr>
        <p:spPr>
          <a:xfrm>
            <a:off x="3435966" y="1352217"/>
            <a:ext cx="144900" cy="144900"/>
          </a:xfrm>
          <a:prstGeom prst="ellipse">
            <a:avLst/>
          </a:prstGeom>
          <a:solidFill>
            <a:srgbClr val="FCE5CD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36" name="Google Shape;436;p34"/>
          <p:cNvSpPr/>
          <p:nvPr/>
        </p:nvSpPr>
        <p:spPr>
          <a:xfrm>
            <a:off x="3664566" y="1352217"/>
            <a:ext cx="144900" cy="144900"/>
          </a:xfrm>
          <a:prstGeom prst="ellipse">
            <a:avLst/>
          </a:prstGeom>
          <a:solidFill>
            <a:srgbClr val="D9EAD3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37" name="Google Shape;437;p34"/>
          <p:cNvSpPr/>
          <p:nvPr/>
        </p:nvSpPr>
        <p:spPr>
          <a:xfrm>
            <a:off x="3893166" y="1352217"/>
            <a:ext cx="144900" cy="144900"/>
          </a:xfrm>
          <a:prstGeom prst="ellipse">
            <a:avLst/>
          </a:prstGeom>
          <a:solidFill>
            <a:srgbClr val="D9D2E9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35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Distributed Training Infrastructure: Network Topology</a:t>
            </a:r>
            <a:endParaRPr/>
          </a:p>
        </p:txBody>
      </p:sp>
      <p:sp>
        <p:nvSpPr>
          <p:cNvPr id="443" name="Google Shape;443;p35"/>
          <p:cNvSpPr txBox="1"/>
          <p:nvPr>
            <p:ph idx="1" type="body"/>
          </p:nvPr>
        </p:nvSpPr>
        <p:spPr>
          <a:xfrm>
            <a:off x="107050" y="402200"/>
            <a:ext cx="8909700" cy="216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Notice: Some pairs of nodes are more closely-connected than others.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Two nodes on the same server: Great performance.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Don't need to use the network at all.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Nodes can communicate with effectively infinite bandwidth and zero latency.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Two nodes in the same pod: Good performance.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Two nodes in different pods: Worse performance.</a:t>
            </a:r>
            <a:endParaRPr/>
          </a:p>
        </p:txBody>
      </p:sp>
      <p:sp>
        <p:nvSpPr>
          <p:cNvPr id="444" name="Google Shape;444;p35"/>
          <p:cNvSpPr/>
          <p:nvPr/>
        </p:nvSpPr>
        <p:spPr>
          <a:xfrm>
            <a:off x="5405200" y="3713950"/>
            <a:ext cx="1419900" cy="988200"/>
          </a:xfrm>
          <a:prstGeom prst="roundRect">
            <a:avLst>
              <a:gd fmla="val 7369" name="adj"/>
            </a:avLst>
          </a:prstGeom>
          <a:noFill/>
          <a:ln cap="flat" cmpd="sng" w="19050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5" name="Google Shape;445;p35"/>
          <p:cNvSpPr/>
          <p:nvPr/>
        </p:nvSpPr>
        <p:spPr>
          <a:xfrm>
            <a:off x="3805000" y="3713950"/>
            <a:ext cx="1419900" cy="988200"/>
          </a:xfrm>
          <a:prstGeom prst="roundRect">
            <a:avLst>
              <a:gd fmla="val 7369" name="adj"/>
            </a:avLst>
          </a:prstGeom>
          <a:noFill/>
          <a:ln cap="flat" cmpd="sng" w="19050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6" name="Google Shape;446;p35"/>
          <p:cNvSpPr/>
          <p:nvPr/>
        </p:nvSpPr>
        <p:spPr>
          <a:xfrm>
            <a:off x="2204800" y="3713950"/>
            <a:ext cx="1419900" cy="988200"/>
          </a:xfrm>
          <a:prstGeom prst="roundRect">
            <a:avLst>
              <a:gd fmla="val 7369" name="adj"/>
            </a:avLst>
          </a:prstGeom>
          <a:noFill/>
          <a:ln cap="flat" cmpd="sng" w="19050">
            <a:solidFill>
              <a:srgbClr val="E691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7" name="Google Shape;447;p35"/>
          <p:cNvSpPr/>
          <p:nvPr/>
        </p:nvSpPr>
        <p:spPr>
          <a:xfrm>
            <a:off x="604600" y="3713950"/>
            <a:ext cx="1419900" cy="988200"/>
          </a:xfrm>
          <a:prstGeom prst="roundRect">
            <a:avLst>
              <a:gd fmla="val 7369" name="adj"/>
            </a:avLst>
          </a:prstGeom>
          <a:noFill/>
          <a:ln cap="flat" cmpd="sng" w="19050">
            <a:solidFill>
              <a:srgbClr val="0B53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48" name="Google Shape;448;p35"/>
          <p:cNvCxnSpPr>
            <a:stCxn id="449" idx="2"/>
            <a:endCxn id="450" idx="0"/>
          </p:cNvCxnSpPr>
          <p:nvPr/>
        </p:nvCxnSpPr>
        <p:spPr>
          <a:xfrm flipH="1">
            <a:off x="971657" y="3137500"/>
            <a:ext cx="1028700" cy="6933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51" name="Google Shape;451;p35"/>
          <p:cNvCxnSpPr>
            <a:stCxn id="449" idx="2"/>
            <a:endCxn id="452" idx="0"/>
          </p:cNvCxnSpPr>
          <p:nvPr/>
        </p:nvCxnSpPr>
        <p:spPr>
          <a:xfrm>
            <a:off x="2000357" y="3137500"/>
            <a:ext cx="571500" cy="6933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53" name="Google Shape;453;p35"/>
          <p:cNvCxnSpPr>
            <a:stCxn id="449" idx="2"/>
            <a:endCxn id="454" idx="0"/>
          </p:cNvCxnSpPr>
          <p:nvPr/>
        </p:nvCxnSpPr>
        <p:spPr>
          <a:xfrm>
            <a:off x="2000357" y="3137500"/>
            <a:ext cx="2171700" cy="6933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55" name="Google Shape;455;p35"/>
          <p:cNvCxnSpPr>
            <a:stCxn id="449" idx="2"/>
            <a:endCxn id="456" idx="0"/>
          </p:cNvCxnSpPr>
          <p:nvPr/>
        </p:nvCxnSpPr>
        <p:spPr>
          <a:xfrm>
            <a:off x="2000357" y="3137500"/>
            <a:ext cx="3771900" cy="6933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57" name="Google Shape;457;p35"/>
          <p:cNvCxnSpPr>
            <a:stCxn id="458" idx="2"/>
            <a:endCxn id="450" idx="0"/>
          </p:cNvCxnSpPr>
          <p:nvPr/>
        </p:nvCxnSpPr>
        <p:spPr>
          <a:xfrm flipH="1">
            <a:off x="971657" y="3137500"/>
            <a:ext cx="2171700" cy="6933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59" name="Google Shape;459;p35"/>
          <p:cNvCxnSpPr>
            <a:stCxn id="458" idx="2"/>
            <a:endCxn id="452" idx="0"/>
          </p:cNvCxnSpPr>
          <p:nvPr/>
        </p:nvCxnSpPr>
        <p:spPr>
          <a:xfrm flipH="1">
            <a:off x="2571857" y="3137500"/>
            <a:ext cx="571500" cy="6933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60" name="Google Shape;460;p35"/>
          <p:cNvCxnSpPr>
            <a:stCxn id="458" idx="2"/>
            <a:endCxn id="454" idx="0"/>
          </p:cNvCxnSpPr>
          <p:nvPr/>
        </p:nvCxnSpPr>
        <p:spPr>
          <a:xfrm>
            <a:off x="3143357" y="3137500"/>
            <a:ext cx="1028700" cy="6933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61" name="Google Shape;461;p35"/>
          <p:cNvCxnSpPr>
            <a:stCxn id="458" idx="2"/>
            <a:endCxn id="456" idx="0"/>
          </p:cNvCxnSpPr>
          <p:nvPr/>
        </p:nvCxnSpPr>
        <p:spPr>
          <a:xfrm>
            <a:off x="3143357" y="3137500"/>
            <a:ext cx="2628900" cy="6933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62" name="Google Shape;462;p35"/>
          <p:cNvCxnSpPr>
            <a:stCxn id="463" idx="2"/>
            <a:endCxn id="464" idx="0"/>
          </p:cNvCxnSpPr>
          <p:nvPr/>
        </p:nvCxnSpPr>
        <p:spPr>
          <a:xfrm flipH="1">
            <a:off x="1657457" y="3137500"/>
            <a:ext cx="2628900" cy="6933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65" name="Google Shape;465;p35"/>
          <p:cNvCxnSpPr>
            <a:stCxn id="463" idx="2"/>
            <a:endCxn id="466" idx="0"/>
          </p:cNvCxnSpPr>
          <p:nvPr/>
        </p:nvCxnSpPr>
        <p:spPr>
          <a:xfrm>
            <a:off x="4286357" y="3137500"/>
            <a:ext cx="571500" cy="6933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67" name="Google Shape;467;p35"/>
          <p:cNvCxnSpPr>
            <a:stCxn id="468" idx="2"/>
            <a:endCxn id="464" idx="0"/>
          </p:cNvCxnSpPr>
          <p:nvPr/>
        </p:nvCxnSpPr>
        <p:spPr>
          <a:xfrm flipH="1">
            <a:off x="1657457" y="3137500"/>
            <a:ext cx="3771900" cy="6933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69" name="Google Shape;469;p35"/>
          <p:cNvCxnSpPr>
            <a:stCxn id="468" idx="2"/>
            <a:endCxn id="470" idx="0"/>
          </p:cNvCxnSpPr>
          <p:nvPr/>
        </p:nvCxnSpPr>
        <p:spPr>
          <a:xfrm flipH="1">
            <a:off x="3257657" y="3137500"/>
            <a:ext cx="2171700" cy="6933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71" name="Google Shape;471;p35"/>
          <p:cNvCxnSpPr>
            <a:stCxn id="468" idx="2"/>
            <a:endCxn id="466" idx="0"/>
          </p:cNvCxnSpPr>
          <p:nvPr/>
        </p:nvCxnSpPr>
        <p:spPr>
          <a:xfrm flipH="1">
            <a:off x="4857857" y="3137500"/>
            <a:ext cx="571500" cy="6933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72" name="Google Shape;472;p35"/>
          <p:cNvCxnSpPr>
            <a:stCxn id="468" idx="2"/>
            <a:endCxn id="473" idx="0"/>
          </p:cNvCxnSpPr>
          <p:nvPr/>
        </p:nvCxnSpPr>
        <p:spPr>
          <a:xfrm>
            <a:off x="5429357" y="3137500"/>
            <a:ext cx="1028700" cy="6933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74" name="Google Shape;474;p35"/>
          <p:cNvCxnSpPr>
            <a:stCxn id="475" idx="0"/>
            <a:endCxn id="464" idx="2"/>
          </p:cNvCxnSpPr>
          <p:nvPr/>
        </p:nvCxnSpPr>
        <p:spPr>
          <a:xfrm flipH="1" rot="10800000">
            <a:off x="971643" y="3975700"/>
            <a:ext cx="685800" cy="1599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76" name="Google Shape;476;p35"/>
          <p:cNvCxnSpPr>
            <a:stCxn id="450" idx="2"/>
            <a:endCxn id="477" idx="0"/>
          </p:cNvCxnSpPr>
          <p:nvPr/>
        </p:nvCxnSpPr>
        <p:spPr>
          <a:xfrm>
            <a:off x="971643" y="3975700"/>
            <a:ext cx="685800" cy="15990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78" name="Google Shape;478;p35"/>
          <p:cNvCxnSpPr>
            <a:stCxn id="450" idx="2"/>
            <a:endCxn id="475" idx="0"/>
          </p:cNvCxnSpPr>
          <p:nvPr/>
        </p:nvCxnSpPr>
        <p:spPr>
          <a:xfrm>
            <a:off x="971643" y="3975700"/>
            <a:ext cx="0" cy="15990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79" name="Google Shape;479;p35"/>
          <p:cNvCxnSpPr>
            <a:stCxn id="464" idx="2"/>
            <a:endCxn id="477" idx="0"/>
          </p:cNvCxnSpPr>
          <p:nvPr/>
        </p:nvCxnSpPr>
        <p:spPr>
          <a:xfrm>
            <a:off x="1657443" y="3975700"/>
            <a:ext cx="0" cy="1599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0" name="Google Shape;480;p35"/>
          <p:cNvCxnSpPr>
            <a:stCxn id="452" idx="2"/>
            <a:endCxn id="481" idx="0"/>
          </p:cNvCxnSpPr>
          <p:nvPr/>
        </p:nvCxnSpPr>
        <p:spPr>
          <a:xfrm>
            <a:off x="2571843" y="3975700"/>
            <a:ext cx="685800" cy="1599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2" name="Google Shape;482;p35"/>
          <p:cNvCxnSpPr>
            <a:stCxn id="483" idx="0"/>
            <a:endCxn id="470" idx="2"/>
          </p:cNvCxnSpPr>
          <p:nvPr/>
        </p:nvCxnSpPr>
        <p:spPr>
          <a:xfrm flipH="1" rot="10800000">
            <a:off x="2571843" y="3975700"/>
            <a:ext cx="685800" cy="1599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4" name="Google Shape;484;p35"/>
          <p:cNvCxnSpPr>
            <a:endCxn id="483" idx="0"/>
          </p:cNvCxnSpPr>
          <p:nvPr/>
        </p:nvCxnSpPr>
        <p:spPr>
          <a:xfrm>
            <a:off x="2571843" y="3823300"/>
            <a:ext cx="0" cy="3123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5" name="Google Shape;485;p35"/>
          <p:cNvCxnSpPr>
            <a:stCxn id="470" idx="2"/>
            <a:endCxn id="481" idx="0"/>
          </p:cNvCxnSpPr>
          <p:nvPr/>
        </p:nvCxnSpPr>
        <p:spPr>
          <a:xfrm>
            <a:off x="3257643" y="3975700"/>
            <a:ext cx="0" cy="15990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6" name="Google Shape;486;p35"/>
          <p:cNvCxnSpPr>
            <a:stCxn id="454" idx="2"/>
            <a:endCxn id="487" idx="0"/>
          </p:cNvCxnSpPr>
          <p:nvPr/>
        </p:nvCxnSpPr>
        <p:spPr>
          <a:xfrm>
            <a:off x="4172043" y="3975700"/>
            <a:ext cx="685800" cy="1599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8" name="Google Shape;488;p35"/>
          <p:cNvCxnSpPr>
            <a:stCxn id="454" idx="2"/>
            <a:endCxn id="489" idx="0"/>
          </p:cNvCxnSpPr>
          <p:nvPr/>
        </p:nvCxnSpPr>
        <p:spPr>
          <a:xfrm>
            <a:off x="4172043" y="3975700"/>
            <a:ext cx="0" cy="1599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90" name="Google Shape;490;p35"/>
          <p:cNvCxnSpPr>
            <a:stCxn id="489" idx="0"/>
            <a:endCxn id="466" idx="2"/>
          </p:cNvCxnSpPr>
          <p:nvPr/>
        </p:nvCxnSpPr>
        <p:spPr>
          <a:xfrm flipH="1" rot="10800000">
            <a:off x="4172043" y="3975700"/>
            <a:ext cx="685800" cy="1599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91" name="Google Shape;491;p35"/>
          <p:cNvCxnSpPr>
            <a:stCxn id="466" idx="2"/>
            <a:endCxn id="487" idx="0"/>
          </p:cNvCxnSpPr>
          <p:nvPr/>
        </p:nvCxnSpPr>
        <p:spPr>
          <a:xfrm>
            <a:off x="4857843" y="3975700"/>
            <a:ext cx="0" cy="1599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92" name="Google Shape;492;p35"/>
          <p:cNvCxnSpPr>
            <a:stCxn id="456" idx="2"/>
            <a:endCxn id="493" idx="0"/>
          </p:cNvCxnSpPr>
          <p:nvPr/>
        </p:nvCxnSpPr>
        <p:spPr>
          <a:xfrm>
            <a:off x="5772243" y="3975700"/>
            <a:ext cx="685800" cy="1599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94" name="Google Shape;494;p35"/>
          <p:cNvCxnSpPr>
            <a:stCxn id="495" idx="0"/>
            <a:endCxn id="473" idx="2"/>
          </p:cNvCxnSpPr>
          <p:nvPr/>
        </p:nvCxnSpPr>
        <p:spPr>
          <a:xfrm flipH="1" rot="10800000">
            <a:off x="5772243" y="3975700"/>
            <a:ext cx="685800" cy="1599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96" name="Google Shape;496;p35"/>
          <p:cNvCxnSpPr>
            <a:stCxn id="456" idx="2"/>
            <a:endCxn id="495" idx="0"/>
          </p:cNvCxnSpPr>
          <p:nvPr/>
        </p:nvCxnSpPr>
        <p:spPr>
          <a:xfrm>
            <a:off x="5772243" y="3975700"/>
            <a:ext cx="0" cy="1599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97" name="Google Shape;497;p35"/>
          <p:cNvCxnSpPr>
            <a:stCxn id="473" idx="2"/>
            <a:endCxn id="493" idx="0"/>
          </p:cNvCxnSpPr>
          <p:nvPr/>
        </p:nvCxnSpPr>
        <p:spPr>
          <a:xfrm>
            <a:off x="6458043" y="3975700"/>
            <a:ext cx="0" cy="15990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98" name="Google Shape;498;p35"/>
          <p:cNvCxnSpPr>
            <a:stCxn id="475" idx="2"/>
            <a:endCxn id="499" idx="0"/>
          </p:cNvCxnSpPr>
          <p:nvPr/>
        </p:nvCxnSpPr>
        <p:spPr>
          <a:xfrm flipH="1">
            <a:off x="819243" y="4280500"/>
            <a:ext cx="152400" cy="15990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00" name="Google Shape;500;p35"/>
          <p:cNvCxnSpPr>
            <a:stCxn id="475" idx="2"/>
            <a:endCxn id="501" idx="0"/>
          </p:cNvCxnSpPr>
          <p:nvPr/>
        </p:nvCxnSpPr>
        <p:spPr>
          <a:xfrm>
            <a:off x="971643" y="4280500"/>
            <a:ext cx="152400" cy="1599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02" name="Google Shape;502;p35"/>
          <p:cNvCxnSpPr>
            <a:stCxn id="477" idx="2"/>
            <a:endCxn id="503" idx="0"/>
          </p:cNvCxnSpPr>
          <p:nvPr/>
        </p:nvCxnSpPr>
        <p:spPr>
          <a:xfrm flipH="1">
            <a:off x="1505043" y="4280500"/>
            <a:ext cx="152400" cy="1599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04" name="Google Shape;504;p35"/>
          <p:cNvCxnSpPr>
            <a:stCxn id="477" idx="2"/>
            <a:endCxn id="505" idx="0"/>
          </p:cNvCxnSpPr>
          <p:nvPr/>
        </p:nvCxnSpPr>
        <p:spPr>
          <a:xfrm>
            <a:off x="1657443" y="4280500"/>
            <a:ext cx="152400" cy="15990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06" name="Google Shape;506;p35"/>
          <p:cNvCxnSpPr>
            <a:stCxn id="483" idx="2"/>
            <a:endCxn id="507" idx="0"/>
          </p:cNvCxnSpPr>
          <p:nvPr/>
        </p:nvCxnSpPr>
        <p:spPr>
          <a:xfrm flipH="1">
            <a:off x="2419443" y="4280500"/>
            <a:ext cx="152400" cy="1599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08" name="Google Shape;508;p35"/>
          <p:cNvCxnSpPr>
            <a:stCxn id="483" idx="2"/>
            <a:endCxn id="509" idx="0"/>
          </p:cNvCxnSpPr>
          <p:nvPr/>
        </p:nvCxnSpPr>
        <p:spPr>
          <a:xfrm>
            <a:off x="2571843" y="4280500"/>
            <a:ext cx="152400" cy="1599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0" name="Google Shape;510;p35"/>
          <p:cNvCxnSpPr>
            <a:stCxn id="481" idx="2"/>
            <a:endCxn id="511" idx="0"/>
          </p:cNvCxnSpPr>
          <p:nvPr/>
        </p:nvCxnSpPr>
        <p:spPr>
          <a:xfrm flipH="1">
            <a:off x="3105243" y="4280500"/>
            <a:ext cx="152400" cy="15990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2" name="Google Shape;512;p35"/>
          <p:cNvCxnSpPr>
            <a:stCxn id="481" idx="2"/>
            <a:endCxn id="513" idx="0"/>
          </p:cNvCxnSpPr>
          <p:nvPr/>
        </p:nvCxnSpPr>
        <p:spPr>
          <a:xfrm>
            <a:off x="3257643" y="4280500"/>
            <a:ext cx="152400" cy="1599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4" name="Google Shape;514;p35"/>
          <p:cNvCxnSpPr>
            <a:stCxn id="489" idx="2"/>
            <a:endCxn id="515" idx="0"/>
          </p:cNvCxnSpPr>
          <p:nvPr/>
        </p:nvCxnSpPr>
        <p:spPr>
          <a:xfrm flipH="1">
            <a:off x="4019643" y="4280500"/>
            <a:ext cx="152400" cy="1599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6" name="Google Shape;516;p35"/>
          <p:cNvCxnSpPr>
            <a:stCxn id="489" idx="2"/>
            <a:endCxn id="517" idx="0"/>
          </p:cNvCxnSpPr>
          <p:nvPr/>
        </p:nvCxnSpPr>
        <p:spPr>
          <a:xfrm>
            <a:off x="4172043" y="4280500"/>
            <a:ext cx="152400" cy="1599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8" name="Google Shape;518;p35"/>
          <p:cNvCxnSpPr>
            <a:stCxn id="487" idx="2"/>
            <a:endCxn id="519" idx="0"/>
          </p:cNvCxnSpPr>
          <p:nvPr/>
        </p:nvCxnSpPr>
        <p:spPr>
          <a:xfrm flipH="1">
            <a:off x="4705443" y="4280500"/>
            <a:ext cx="152400" cy="1599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20" name="Google Shape;520;p35"/>
          <p:cNvCxnSpPr>
            <a:stCxn id="487" idx="2"/>
            <a:endCxn id="521" idx="0"/>
          </p:cNvCxnSpPr>
          <p:nvPr/>
        </p:nvCxnSpPr>
        <p:spPr>
          <a:xfrm>
            <a:off x="4857843" y="4280500"/>
            <a:ext cx="152400" cy="1599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22" name="Google Shape;522;p35"/>
          <p:cNvCxnSpPr>
            <a:stCxn id="495" idx="2"/>
            <a:endCxn id="523" idx="0"/>
          </p:cNvCxnSpPr>
          <p:nvPr/>
        </p:nvCxnSpPr>
        <p:spPr>
          <a:xfrm flipH="1">
            <a:off x="5619843" y="4280500"/>
            <a:ext cx="152400" cy="1599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24" name="Google Shape;524;p35"/>
          <p:cNvCxnSpPr>
            <a:stCxn id="495" idx="2"/>
            <a:endCxn id="525" idx="0"/>
          </p:cNvCxnSpPr>
          <p:nvPr/>
        </p:nvCxnSpPr>
        <p:spPr>
          <a:xfrm>
            <a:off x="5772243" y="4280500"/>
            <a:ext cx="152400" cy="1599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26" name="Google Shape;526;p35"/>
          <p:cNvCxnSpPr>
            <a:stCxn id="493" idx="2"/>
            <a:endCxn id="527" idx="0"/>
          </p:cNvCxnSpPr>
          <p:nvPr/>
        </p:nvCxnSpPr>
        <p:spPr>
          <a:xfrm flipH="1">
            <a:off x="6305643" y="4280500"/>
            <a:ext cx="152400" cy="1599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28" name="Google Shape;528;p35"/>
          <p:cNvCxnSpPr>
            <a:stCxn id="493" idx="2"/>
            <a:endCxn id="529" idx="0"/>
          </p:cNvCxnSpPr>
          <p:nvPr/>
        </p:nvCxnSpPr>
        <p:spPr>
          <a:xfrm>
            <a:off x="6458043" y="4280500"/>
            <a:ext cx="152400" cy="15990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99" name="Google Shape;499;p35"/>
          <p:cNvSpPr/>
          <p:nvPr/>
        </p:nvSpPr>
        <p:spPr>
          <a:xfrm>
            <a:off x="746794" y="4440400"/>
            <a:ext cx="144900" cy="144900"/>
          </a:xfrm>
          <a:prstGeom prst="ellipse">
            <a:avLst/>
          </a:prstGeom>
          <a:solidFill>
            <a:srgbClr val="C9DAF8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01" name="Google Shape;501;p35"/>
          <p:cNvSpPr/>
          <p:nvPr/>
        </p:nvSpPr>
        <p:spPr>
          <a:xfrm>
            <a:off x="1051594" y="4440400"/>
            <a:ext cx="144900" cy="144900"/>
          </a:xfrm>
          <a:prstGeom prst="ellipse">
            <a:avLst/>
          </a:prstGeom>
          <a:solidFill>
            <a:srgbClr val="C9DAF8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03" name="Google Shape;503;p35"/>
          <p:cNvSpPr/>
          <p:nvPr/>
        </p:nvSpPr>
        <p:spPr>
          <a:xfrm>
            <a:off x="1432594" y="4440400"/>
            <a:ext cx="144900" cy="144900"/>
          </a:xfrm>
          <a:prstGeom prst="ellipse">
            <a:avLst/>
          </a:prstGeom>
          <a:solidFill>
            <a:srgbClr val="C9DAF8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05" name="Google Shape;505;p35"/>
          <p:cNvSpPr/>
          <p:nvPr/>
        </p:nvSpPr>
        <p:spPr>
          <a:xfrm>
            <a:off x="1737394" y="4440400"/>
            <a:ext cx="144900" cy="144900"/>
          </a:xfrm>
          <a:prstGeom prst="ellipse">
            <a:avLst/>
          </a:prstGeom>
          <a:solidFill>
            <a:srgbClr val="C9DAF8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07" name="Google Shape;507;p35"/>
          <p:cNvSpPr/>
          <p:nvPr/>
        </p:nvSpPr>
        <p:spPr>
          <a:xfrm>
            <a:off x="2346994" y="4440400"/>
            <a:ext cx="144900" cy="144900"/>
          </a:xfrm>
          <a:prstGeom prst="ellipse">
            <a:avLst/>
          </a:prstGeom>
          <a:solidFill>
            <a:srgbClr val="FCE5CD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09" name="Google Shape;509;p35"/>
          <p:cNvSpPr/>
          <p:nvPr/>
        </p:nvSpPr>
        <p:spPr>
          <a:xfrm>
            <a:off x="2651794" y="4440400"/>
            <a:ext cx="144900" cy="144900"/>
          </a:xfrm>
          <a:prstGeom prst="ellipse">
            <a:avLst/>
          </a:prstGeom>
          <a:solidFill>
            <a:srgbClr val="FCE5CD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1" name="Google Shape;511;p35"/>
          <p:cNvSpPr/>
          <p:nvPr/>
        </p:nvSpPr>
        <p:spPr>
          <a:xfrm>
            <a:off x="3032794" y="4440400"/>
            <a:ext cx="144900" cy="144900"/>
          </a:xfrm>
          <a:prstGeom prst="ellipse">
            <a:avLst/>
          </a:prstGeom>
          <a:solidFill>
            <a:srgbClr val="FCE5CD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3" name="Google Shape;513;p35"/>
          <p:cNvSpPr/>
          <p:nvPr/>
        </p:nvSpPr>
        <p:spPr>
          <a:xfrm>
            <a:off x="3337594" y="4440400"/>
            <a:ext cx="144900" cy="144900"/>
          </a:xfrm>
          <a:prstGeom prst="ellipse">
            <a:avLst/>
          </a:prstGeom>
          <a:solidFill>
            <a:srgbClr val="FCE5CD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5" name="Google Shape;515;p35"/>
          <p:cNvSpPr/>
          <p:nvPr/>
        </p:nvSpPr>
        <p:spPr>
          <a:xfrm>
            <a:off x="3947194" y="4440400"/>
            <a:ext cx="144900" cy="144900"/>
          </a:xfrm>
          <a:prstGeom prst="ellipse">
            <a:avLst/>
          </a:prstGeom>
          <a:solidFill>
            <a:srgbClr val="D9EAD3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7" name="Google Shape;517;p35"/>
          <p:cNvSpPr/>
          <p:nvPr/>
        </p:nvSpPr>
        <p:spPr>
          <a:xfrm>
            <a:off x="4251994" y="4440400"/>
            <a:ext cx="144900" cy="144900"/>
          </a:xfrm>
          <a:prstGeom prst="ellipse">
            <a:avLst/>
          </a:prstGeom>
          <a:solidFill>
            <a:srgbClr val="D9EAD3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9" name="Google Shape;519;p35"/>
          <p:cNvSpPr/>
          <p:nvPr/>
        </p:nvSpPr>
        <p:spPr>
          <a:xfrm>
            <a:off x="4632994" y="4440400"/>
            <a:ext cx="144900" cy="144900"/>
          </a:xfrm>
          <a:prstGeom prst="ellipse">
            <a:avLst/>
          </a:prstGeom>
          <a:solidFill>
            <a:srgbClr val="D9EAD3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21" name="Google Shape;521;p35"/>
          <p:cNvSpPr/>
          <p:nvPr/>
        </p:nvSpPr>
        <p:spPr>
          <a:xfrm>
            <a:off x="4937794" y="4440400"/>
            <a:ext cx="144900" cy="144900"/>
          </a:xfrm>
          <a:prstGeom prst="ellipse">
            <a:avLst/>
          </a:prstGeom>
          <a:solidFill>
            <a:srgbClr val="D9EAD3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23" name="Google Shape;523;p35"/>
          <p:cNvSpPr/>
          <p:nvPr/>
        </p:nvSpPr>
        <p:spPr>
          <a:xfrm>
            <a:off x="5547394" y="4440400"/>
            <a:ext cx="144900" cy="144900"/>
          </a:xfrm>
          <a:prstGeom prst="ellipse">
            <a:avLst/>
          </a:prstGeom>
          <a:solidFill>
            <a:srgbClr val="D9D2E9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25" name="Google Shape;525;p35"/>
          <p:cNvSpPr/>
          <p:nvPr/>
        </p:nvSpPr>
        <p:spPr>
          <a:xfrm>
            <a:off x="5852194" y="4440400"/>
            <a:ext cx="144900" cy="144900"/>
          </a:xfrm>
          <a:prstGeom prst="ellipse">
            <a:avLst/>
          </a:prstGeom>
          <a:solidFill>
            <a:srgbClr val="D9D2E9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27" name="Google Shape;527;p35"/>
          <p:cNvSpPr/>
          <p:nvPr/>
        </p:nvSpPr>
        <p:spPr>
          <a:xfrm>
            <a:off x="6233194" y="4440400"/>
            <a:ext cx="144900" cy="144900"/>
          </a:xfrm>
          <a:prstGeom prst="ellipse">
            <a:avLst/>
          </a:prstGeom>
          <a:solidFill>
            <a:srgbClr val="D9D2E9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29" name="Google Shape;529;p35"/>
          <p:cNvSpPr/>
          <p:nvPr/>
        </p:nvSpPr>
        <p:spPr>
          <a:xfrm>
            <a:off x="6537994" y="4440400"/>
            <a:ext cx="144900" cy="144900"/>
          </a:xfrm>
          <a:prstGeom prst="ellipse">
            <a:avLst/>
          </a:prstGeom>
          <a:solidFill>
            <a:srgbClr val="D9D2E9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75" name="Google Shape;475;p35"/>
          <p:cNvSpPr/>
          <p:nvPr/>
        </p:nvSpPr>
        <p:spPr>
          <a:xfrm>
            <a:off x="899193" y="4135600"/>
            <a:ext cx="144900" cy="144900"/>
          </a:xfrm>
          <a:prstGeom prst="rect">
            <a:avLst/>
          </a:prstGeom>
          <a:solidFill>
            <a:srgbClr val="C9DAF8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77" name="Google Shape;477;p35"/>
          <p:cNvSpPr/>
          <p:nvPr/>
        </p:nvSpPr>
        <p:spPr>
          <a:xfrm>
            <a:off x="1584993" y="4135600"/>
            <a:ext cx="144900" cy="144900"/>
          </a:xfrm>
          <a:prstGeom prst="rect">
            <a:avLst/>
          </a:prstGeom>
          <a:solidFill>
            <a:srgbClr val="C9DAF8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83" name="Google Shape;483;p35"/>
          <p:cNvSpPr/>
          <p:nvPr/>
        </p:nvSpPr>
        <p:spPr>
          <a:xfrm>
            <a:off x="2499393" y="4135600"/>
            <a:ext cx="144900" cy="144900"/>
          </a:xfrm>
          <a:prstGeom prst="rect">
            <a:avLst/>
          </a:prstGeom>
          <a:solidFill>
            <a:srgbClr val="FCE5CD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81" name="Google Shape;481;p35"/>
          <p:cNvSpPr/>
          <p:nvPr/>
        </p:nvSpPr>
        <p:spPr>
          <a:xfrm>
            <a:off x="3185193" y="4135600"/>
            <a:ext cx="144900" cy="144900"/>
          </a:xfrm>
          <a:prstGeom prst="rect">
            <a:avLst/>
          </a:prstGeom>
          <a:solidFill>
            <a:srgbClr val="FCE5CD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89" name="Google Shape;489;p35"/>
          <p:cNvSpPr/>
          <p:nvPr/>
        </p:nvSpPr>
        <p:spPr>
          <a:xfrm>
            <a:off x="4099593" y="4135600"/>
            <a:ext cx="144900" cy="144900"/>
          </a:xfrm>
          <a:prstGeom prst="rect">
            <a:avLst/>
          </a:prstGeom>
          <a:solidFill>
            <a:srgbClr val="D9EAD3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87" name="Google Shape;487;p35"/>
          <p:cNvSpPr/>
          <p:nvPr/>
        </p:nvSpPr>
        <p:spPr>
          <a:xfrm>
            <a:off x="4785393" y="4135600"/>
            <a:ext cx="144900" cy="144900"/>
          </a:xfrm>
          <a:prstGeom prst="rect">
            <a:avLst/>
          </a:prstGeom>
          <a:solidFill>
            <a:srgbClr val="D9EAD3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95" name="Google Shape;495;p35"/>
          <p:cNvSpPr/>
          <p:nvPr/>
        </p:nvSpPr>
        <p:spPr>
          <a:xfrm>
            <a:off x="5699793" y="4135600"/>
            <a:ext cx="144900" cy="144900"/>
          </a:xfrm>
          <a:prstGeom prst="rect">
            <a:avLst/>
          </a:prstGeom>
          <a:solidFill>
            <a:srgbClr val="D9D2E9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93" name="Google Shape;493;p35"/>
          <p:cNvSpPr/>
          <p:nvPr/>
        </p:nvSpPr>
        <p:spPr>
          <a:xfrm>
            <a:off x="6385593" y="4135600"/>
            <a:ext cx="144900" cy="144900"/>
          </a:xfrm>
          <a:prstGeom prst="rect">
            <a:avLst/>
          </a:prstGeom>
          <a:solidFill>
            <a:srgbClr val="D9D2E9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50" name="Google Shape;450;p35"/>
          <p:cNvSpPr/>
          <p:nvPr/>
        </p:nvSpPr>
        <p:spPr>
          <a:xfrm>
            <a:off x="899193" y="3830800"/>
            <a:ext cx="144900" cy="144900"/>
          </a:xfrm>
          <a:prstGeom prst="rect">
            <a:avLst/>
          </a:prstGeom>
          <a:solidFill>
            <a:srgbClr val="C9DAF8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64" name="Google Shape;464;p35"/>
          <p:cNvSpPr/>
          <p:nvPr/>
        </p:nvSpPr>
        <p:spPr>
          <a:xfrm>
            <a:off x="1584993" y="3830800"/>
            <a:ext cx="144900" cy="144900"/>
          </a:xfrm>
          <a:prstGeom prst="rect">
            <a:avLst/>
          </a:prstGeom>
          <a:solidFill>
            <a:srgbClr val="C9DAF8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52" name="Google Shape;452;p35"/>
          <p:cNvSpPr/>
          <p:nvPr/>
        </p:nvSpPr>
        <p:spPr>
          <a:xfrm>
            <a:off x="2499393" y="3830800"/>
            <a:ext cx="144900" cy="144900"/>
          </a:xfrm>
          <a:prstGeom prst="rect">
            <a:avLst/>
          </a:prstGeom>
          <a:solidFill>
            <a:srgbClr val="FCE5CD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54" name="Google Shape;454;p35"/>
          <p:cNvSpPr/>
          <p:nvPr/>
        </p:nvSpPr>
        <p:spPr>
          <a:xfrm>
            <a:off x="4099593" y="3830800"/>
            <a:ext cx="144900" cy="144900"/>
          </a:xfrm>
          <a:prstGeom prst="rect">
            <a:avLst/>
          </a:prstGeom>
          <a:solidFill>
            <a:srgbClr val="D9EAD3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66" name="Google Shape;466;p35"/>
          <p:cNvSpPr/>
          <p:nvPr/>
        </p:nvSpPr>
        <p:spPr>
          <a:xfrm>
            <a:off x="4785393" y="3830800"/>
            <a:ext cx="144900" cy="144900"/>
          </a:xfrm>
          <a:prstGeom prst="rect">
            <a:avLst/>
          </a:prstGeom>
          <a:solidFill>
            <a:srgbClr val="D9EAD3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56" name="Google Shape;456;p35"/>
          <p:cNvSpPr/>
          <p:nvPr/>
        </p:nvSpPr>
        <p:spPr>
          <a:xfrm>
            <a:off x="5699793" y="3830800"/>
            <a:ext cx="144900" cy="144900"/>
          </a:xfrm>
          <a:prstGeom prst="rect">
            <a:avLst/>
          </a:prstGeom>
          <a:solidFill>
            <a:srgbClr val="D9D2E9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9" name="Google Shape;449;p35"/>
          <p:cNvSpPr/>
          <p:nvPr/>
        </p:nvSpPr>
        <p:spPr>
          <a:xfrm>
            <a:off x="1855457" y="2992600"/>
            <a:ext cx="289800" cy="1449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58" name="Google Shape;458;p35"/>
          <p:cNvSpPr/>
          <p:nvPr/>
        </p:nvSpPr>
        <p:spPr>
          <a:xfrm>
            <a:off x="2998457" y="2992600"/>
            <a:ext cx="289800" cy="1449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68" name="Google Shape;468;p35"/>
          <p:cNvSpPr/>
          <p:nvPr/>
        </p:nvSpPr>
        <p:spPr>
          <a:xfrm>
            <a:off x="5284457" y="2992600"/>
            <a:ext cx="289800" cy="1449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30" name="Google Shape;530;p35"/>
          <p:cNvSpPr txBox="1"/>
          <p:nvPr/>
        </p:nvSpPr>
        <p:spPr>
          <a:xfrm>
            <a:off x="1054000" y="4772050"/>
            <a:ext cx="5211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B5394"/>
                </a:solidFill>
                <a:latin typeface="Roboto"/>
                <a:ea typeface="Roboto"/>
                <a:cs typeface="Roboto"/>
                <a:sym typeface="Roboto"/>
              </a:rPr>
              <a:t>Pod 1</a:t>
            </a:r>
            <a:endParaRPr>
              <a:solidFill>
                <a:srgbClr val="0B5394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31" name="Google Shape;531;p35"/>
          <p:cNvSpPr txBox="1"/>
          <p:nvPr/>
        </p:nvSpPr>
        <p:spPr>
          <a:xfrm>
            <a:off x="2654200" y="4772050"/>
            <a:ext cx="5211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E69138"/>
                </a:solidFill>
                <a:latin typeface="Roboto"/>
                <a:ea typeface="Roboto"/>
                <a:cs typeface="Roboto"/>
                <a:sym typeface="Roboto"/>
              </a:rPr>
              <a:t>Pod 2</a:t>
            </a:r>
            <a:endParaRPr>
              <a:solidFill>
                <a:srgbClr val="E69138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32" name="Google Shape;532;p35"/>
          <p:cNvSpPr txBox="1"/>
          <p:nvPr/>
        </p:nvSpPr>
        <p:spPr>
          <a:xfrm>
            <a:off x="4254400" y="4772050"/>
            <a:ext cx="5211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AA84F"/>
                </a:solidFill>
                <a:latin typeface="Roboto"/>
                <a:ea typeface="Roboto"/>
                <a:cs typeface="Roboto"/>
                <a:sym typeface="Roboto"/>
              </a:rPr>
              <a:t>Pod 3</a:t>
            </a:r>
            <a:endParaRPr>
              <a:solidFill>
                <a:srgbClr val="6AA84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33" name="Google Shape;533;p35"/>
          <p:cNvSpPr txBox="1"/>
          <p:nvPr/>
        </p:nvSpPr>
        <p:spPr>
          <a:xfrm>
            <a:off x="5854600" y="4772050"/>
            <a:ext cx="5211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9900FF"/>
                </a:solidFill>
                <a:latin typeface="Roboto"/>
                <a:ea typeface="Roboto"/>
                <a:cs typeface="Roboto"/>
                <a:sym typeface="Roboto"/>
              </a:rPr>
              <a:t>Pod 4</a:t>
            </a:r>
            <a:endParaRPr>
              <a:solidFill>
                <a:srgbClr val="99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34" name="Google Shape;534;p35"/>
          <p:cNvSpPr txBox="1"/>
          <p:nvPr/>
        </p:nvSpPr>
        <p:spPr>
          <a:xfrm>
            <a:off x="7005400" y="4072600"/>
            <a:ext cx="9129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Edge layer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35" name="Google Shape;535;p35"/>
          <p:cNvSpPr txBox="1"/>
          <p:nvPr/>
        </p:nvSpPr>
        <p:spPr>
          <a:xfrm>
            <a:off x="7005400" y="3767800"/>
            <a:ext cx="15138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Aggregation layer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36" name="Google Shape;536;p35"/>
          <p:cNvSpPr txBox="1"/>
          <p:nvPr/>
        </p:nvSpPr>
        <p:spPr>
          <a:xfrm>
            <a:off x="7005400" y="2929600"/>
            <a:ext cx="9129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Core layer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37" name="Google Shape;537;p35"/>
          <p:cNvSpPr/>
          <p:nvPr/>
        </p:nvSpPr>
        <p:spPr>
          <a:xfrm>
            <a:off x="688095" y="3193050"/>
            <a:ext cx="258125" cy="416700"/>
          </a:xfrm>
          <a:custGeom>
            <a:rect b="b" l="l" r="r" t="t"/>
            <a:pathLst>
              <a:path extrusionOk="0" h="16668" w="10325">
                <a:moveTo>
                  <a:pt x="6" y="0"/>
                </a:moveTo>
                <a:cubicBezTo>
                  <a:pt x="199" y="1251"/>
                  <a:pt x="-559" y="4726"/>
                  <a:pt x="1161" y="7504"/>
                </a:cubicBezTo>
                <a:cubicBezTo>
                  <a:pt x="2881" y="10282"/>
                  <a:pt x="8798" y="15141"/>
                  <a:pt x="10325" y="16668"/>
                </a:cubicBezTo>
              </a:path>
            </a:pathLst>
          </a:cu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sp>
      <p:sp>
        <p:nvSpPr>
          <p:cNvPr id="538" name="Google Shape;538;p35"/>
          <p:cNvSpPr txBox="1"/>
          <p:nvPr/>
        </p:nvSpPr>
        <p:spPr>
          <a:xfrm>
            <a:off x="141550" y="2714200"/>
            <a:ext cx="1173000" cy="4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Good performance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39" name="Google Shape;539;p35"/>
          <p:cNvSpPr/>
          <p:nvPr/>
        </p:nvSpPr>
        <p:spPr>
          <a:xfrm>
            <a:off x="6317350" y="2908175"/>
            <a:ext cx="288750" cy="608025"/>
          </a:xfrm>
          <a:custGeom>
            <a:rect b="b" l="l" r="r" t="t"/>
            <a:pathLst>
              <a:path extrusionOk="0" h="24321" w="11550">
                <a:moveTo>
                  <a:pt x="11442" y="0"/>
                </a:moveTo>
                <a:cubicBezTo>
                  <a:pt x="11262" y="1347"/>
                  <a:pt x="12270" y="4026"/>
                  <a:pt x="10363" y="8079"/>
                </a:cubicBezTo>
                <a:cubicBezTo>
                  <a:pt x="8456" y="12133"/>
                  <a:pt x="1727" y="21614"/>
                  <a:pt x="0" y="24321"/>
                </a:cubicBezTo>
              </a:path>
            </a:pathLst>
          </a:cu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sp>
      <p:sp>
        <p:nvSpPr>
          <p:cNvPr id="540" name="Google Shape;540;p35"/>
          <p:cNvSpPr txBox="1"/>
          <p:nvPr/>
        </p:nvSpPr>
        <p:spPr>
          <a:xfrm>
            <a:off x="6000850" y="2443700"/>
            <a:ext cx="1173000" cy="4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Worse </a:t>
            </a: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performance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41" name="Google Shape;541;p35"/>
          <p:cNvCxnSpPr>
            <a:stCxn id="463" idx="2"/>
            <a:endCxn id="470" idx="0"/>
          </p:cNvCxnSpPr>
          <p:nvPr/>
        </p:nvCxnSpPr>
        <p:spPr>
          <a:xfrm flipH="1">
            <a:off x="3257657" y="3137500"/>
            <a:ext cx="1028700" cy="69330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70" name="Google Shape;470;p35"/>
          <p:cNvSpPr/>
          <p:nvPr/>
        </p:nvSpPr>
        <p:spPr>
          <a:xfrm>
            <a:off x="3185193" y="3830800"/>
            <a:ext cx="144900" cy="144900"/>
          </a:xfrm>
          <a:prstGeom prst="rect">
            <a:avLst/>
          </a:prstGeom>
          <a:solidFill>
            <a:srgbClr val="FCE5CD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42" name="Google Shape;542;p35"/>
          <p:cNvCxnSpPr>
            <a:stCxn id="463" idx="2"/>
            <a:endCxn id="473" idx="0"/>
          </p:cNvCxnSpPr>
          <p:nvPr/>
        </p:nvCxnSpPr>
        <p:spPr>
          <a:xfrm>
            <a:off x="4286357" y="3137500"/>
            <a:ext cx="2171700" cy="69330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73" name="Google Shape;473;p35"/>
          <p:cNvSpPr/>
          <p:nvPr/>
        </p:nvSpPr>
        <p:spPr>
          <a:xfrm>
            <a:off x="6385593" y="3830800"/>
            <a:ext cx="144900" cy="144900"/>
          </a:xfrm>
          <a:prstGeom prst="rect">
            <a:avLst/>
          </a:prstGeom>
          <a:solidFill>
            <a:srgbClr val="D9D2E9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63" name="Google Shape;463;p35"/>
          <p:cNvSpPr/>
          <p:nvPr/>
        </p:nvSpPr>
        <p:spPr>
          <a:xfrm>
            <a:off x="4141457" y="2992600"/>
            <a:ext cx="289800" cy="1449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6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p36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Distributed Training Infrastructure: Network Topology</a:t>
            </a:r>
            <a:endParaRPr/>
          </a:p>
        </p:txBody>
      </p:sp>
      <p:sp>
        <p:nvSpPr>
          <p:cNvPr id="548" name="Google Shape;548;p36"/>
          <p:cNvSpPr txBox="1"/>
          <p:nvPr>
            <p:ph idx="1" type="body"/>
          </p:nvPr>
        </p:nvSpPr>
        <p:spPr>
          <a:xfrm>
            <a:off x="107050" y="402200"/>
            <a:ext cx="8909700" cy="224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Alternate topology: </a:t>
            </a:r>
            <a:r>
              <a:rPr b="1" lang="en"/>
              <a:t>2D torus</a:t>
            </a:r>
            <a:r>
              <a:rPr lang="en"/>
              <a:t>: </a:t>
            </a:r>
            <a:r>
              <a:rPr lang="en"/>
              <a:t>A square, where the edges wrap around.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TPUs can be directly connected to each other with ICI (Inter-Core Interconnect), with no routers needed.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As before, s</a:t>
            </a:r>
            <a:r>
              <a:rPr lang="en"/>
              <a:t>ome pairs of nodes are more closely-connected than others.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"Wrap around" means: If you're at a bottom node and traverse a link down, you'll end up at the top node. (And similar for the other directions.)</a:t>
            </a:r>
            <a:endParaRPr/>
          </a:p>
        </p:txBody>
      </p:sp>
      <p:sp>
        <p:nvSpPr>
          <p:cNvPr id="549" name="Google Shape;549;p36"/>
          <p:cNvSpPr/>
          <p:nvPr/>
        </p:nvSpPr>
        <p:spPr>
          <a:xfrm>
            <a:off x="3505200" y="2942775"/>
            <a:ext cx="304800" cy="3048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50" name="Google Shape;550;p36"/>
          <p:cNvSpPr/>
          <p:nvPr/>
        </p:nvSpPr>
        <p:spPr>
          <a:xfrm>
            <a:off x="4419600" y="2942775"/>
            <a:ext cx="304800" cy="3048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51" name="Google Shape;551;p36"/>
          <p:cNvSpPr/>
          <p:nvPr/>
        </p:nvSpPr>
        <p:spPr>
          <a:xfrm>
            <a:off x="5334000" y="2942775"/>
            <a:ext cx="304800" cy="3048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52" name="Google Shape;552;p36"/>
          <p:cNvSpPr/>
          <p:nvPr/>
        </p:nvSpPr>
        <p:spPr>
          <a:xfrm>
            <a:off x="3505200" y="3704775"/>
            <a:ext cx="304800" cy="3048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53" name="Google Shape;553;p36"/>
          <p:cNvSpPr/>
          <p:nvPr/>
        </p:nvSpPr>
        <p:spPr>
          <a:xfrm>
            <a:off x="4419600" y="3704775"/>
            <a:ext cx="304800" cy="3048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54" name="Google Shape;554;p36"/>
          <p:cNvSpPr/>
          <p:nvPr/>
        </p:nvSpPr>
        <p:spPr>
          <a:xfrm>
            <a:off x="5334000" y="3704775"/>
            <a:ext cx="304800" cy="3048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55" name="Google Shape;555;p36"/>
          <p:cNvSpPr/>
          <p:nvPr/>
        </p:nvSpPr>
        <p:spPr>
          <a:xfrm>
            <a:off x="3505200" y="4542975"/>
            <a:ext cx="304800" cy="3048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56" name="Google Shape;556;p36"/>
          <p:cNvSpPr/>
          <p:nvPr/>
        </p:nvSpPr>
        <p:spPr>
          <a:xfrm>
            <a:off x="4419600" y="4542975"/>
            <a:ext cx="304800" cy="3048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57" name="Google Shape;557;p36"/>
          <p:cNvSpPr/>
          <p:nvPr/>
        </p:nvSpPr>
        <p:spPr>
          <a:xfrm>
            <a:off x="5334000" y="4542975"/>
            <a:ext cx="304800" cy="3048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58" name="Google Shape;558;p36"/>
          <p:cNvCxnSpPr>
            <a:stCxn id="549" idx="4"/>
            <a:endCxn id="552" idx="0"/>
          </p:cNvCxnSpPr>
          <p:nvPr/>
        </p:nvCxnSpPr>
        <p:spPr>
          <a:xfrm>
            <a:off x="3657600" y="3247575"/>
            <a:ext cx="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59" name="Google Shape;559;p36"/>
          <p:cNvCxnSpPr>
            <a:stCxn id="552" idx="4"/>
            <a:endCxn id="555" idx="0"/>
          </p:cNvCxnSpPr>
          <p:nvPr/>
        </p:nvCxnSpPr>
        <p:spPr>
          <a:xfrm>
            <a:off x="3657600" y="4009575"/>
            <a:ext cx="0" cy="5334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60" name="Google Shape;560;p36"/>
          <p:cNvCxnSpPr>
            <a:stCxn id="553" idx="4"/>
            <a:endCxn id="556" idx="0"/>
          </p:cNvCxnSpPr>
          <p:nvPr/>
        </p:nvCxnSpPr>
        <p:spPr>
          <a:xfrm>
            <a:off x="4572000" y="4009575"/>
            <a:ext cx="0" cy="5334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61" name="Google Shape;561;p36"/>
          <p:cNvCxnSpPr>
            <a:stCxn id="554" idx="4"/>
            <a:endCxn id="557" idx="0"/>
          </p:cNvCxnSpPr>
          <p:nvPr/>
        </p:nvCxnSpPr>
        <p:spPr>
          <a:xfrm>
            <a:off x="5486400" y="4009575"/>
            <a:ext cx="0" cy="5334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62" name="Google Shape;562;p36"/>
          <p:cNvCxnSpPr>
            <a:stCxn id="550" idx="4"/>
            <a:endCxn id="553" idx="0"/>
          </p:cNvCxnSpPr>
          <p:nvPr/>
        </p:nvCxnSpPr>
        <p:spPr>
          <a:xfrm>
            <a:off x="4572000" y="3247575"/>
            <a:ext cx="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63" name="Google Shape;563;p36"/>
          <p:cNvCxnSpPr>
            <a:stCxn id="551" idx="4"/>
            <a:endCxn id="554" idx="0"/>
          </p:cNvCxnSpPr>
          <p:nvPr/>
        </p:nvCxnSpPr>
        <p:spPr>
          <a:xfrm>
            <a:off x="5486400" y="3247575"/>
            <a:ext cx="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64" name="Google Shape;564;p36"/>
          <p:cNvCxnSpPr>
            <a:stCxn id="549" idx="6"/>
            <a:endCxn id="550" idx="2"/>
          </p:cNvCxnSpPr>
          <p:nvPr/>
        </p:nvCxnSpPr>
        <p:spPr>
          <a:xfrm>
            <a:off x="3810000" y="3095175"/>
            <a:ext cx="6096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65" name="Google Shape;565;p36"/>
          <p:cNvCxnSpPr>
            <a:stCxn id="550" idx="6"/>
            <a:endCxn id="551" idx="2"/>
          </p:cNvCxnSpPr>
          <p:nvPr/>
        </p:nvCxnSpPr>
        <p:spPr>
          <a:xfrm>
            <a:off x="4724400" y="3095175"/>
            <a:ext cx="6096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66" name="Google Shape;566;p36"/>
          <p:cNvCxnSpPr>
            <a:stCxn id="552" idx="6"/>
            <a:endCxn id="553" idx="2"/>
          </p:cNvCxnSpPr>
          <p:nvPr/>
        </p:nvCxnSpPr>
        <p:spPr>
          <a:xfrm>
            <a:off x="3810000" y="3857175"/>
            <a:ext cx="6096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67" name="Google Shape;567;p36"/>
          <p:cNvCxnSpPr>
            <a:stCxn id="553" idx="6"/>
            <a:endCxn id="554" idx="2"/>
          </p:cNvCxnSpPr>
          <p:nvPr/>
        </p:nvCxnSpPr>
        <p:spPr>
          <a:xfrm>
            <a:off x="4724400" y="3857175"/>
            <a:ext cx="6096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68" name="Google Shape;568;p36"/>
          <p:cNvCxnSpPr>
            <a:stCxn id="556" idx="6"/>
            <a:endCxn id="557" idx="2"/>
          </p:cNvCxnSpPr>
          <p:nvPr/>
        </p:nvCxnSpPr>
        <p:spPr>
          <a:xfrm>
            <a:off x="4724400" y="4695375"/>
            <a:ext cx="6096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69" name="Google Shape;569;p36"/>
          <p:cNvCxnSpPr>
            <a:stCxn id="555" idx="6"/>
            <a:endCxn id="556" idx="2"/>
          </p:cNvCxnSpPr>
          <p:nvPr/>
        </p:nvCxnSpPr>
        <p:spPr>
          <a:xfrm>
            <a:off x="3810000" y="4695375"/>
            <a:ext cx="6096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570" name="Google Shape;570;p36"/>
          <p:cNvGrpSpPr/>
          <p:nvPr/>
        </p:nvGrpSpPr>
        <p:grpSpPr>
          <a:xfrm>
            <a:off x="3657600" y="2790675"/>
            <a:ext cx="303900" cy="2209200"/>
            <a:chOff x="3657600" y="2790675"/>
            <a:chExt cx="303900" cy="2209200"/>
          </a:xfrm>
        </p:grpSpPr>
        <p:sp>
          <p:nvSpPr>
            <p:cNvPr id="571" name="Google Shape;571;p36"/>
            <p:cNvSpPr/>
            <p:nvPr/>
          </p:nvSpPr>
          <p:spPr>
            <a:xfrm rot="-5400000">
              <a:off x="3657450" y="2790825"/>
              <a:ext cx="304200" cy="303900"/>
            </a:xfrm>
            <a:prstGeom prst="arc">
              <a:avLst>
                <a:gd fmla="val 16200000" name="adj1"/>
                <a:gd fmla="val 5399413" name="adj2"/>
              </a:avLst>
            </a:prstGeom>
            <a:noFill/>
            <a:ln cap="flat" cmpd="sng" w="19050">
              <a:solidFill>
                <a:srgbClr val="0000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572" name="Google Shape;572;p36"/>
            <p:cNvSpPr/>
            <p:nvPr/>
          </p:nvSpPr>
          <p:spPr>
            <a:xfrm flipH="1" rot="-5400000">
              <a:off x="3657450" y="4695825"/>
              <a:ext cx="304200" cy="303900"/>
            </a:xfrm>
            <a:prstGeom prst="arc">
              <a:avLst>
                <a:gd fmla="val 16200000" name="adj1"/>
                <a:gd fmla="val 5399413" name="adj2"/>
              </a:avLst>
            </a:prstGeom>
            <a:noFill/>
            <a:ln cap="flat" cmpd="sng" w="19050">
              <a:solidFill>
                <a:srgbClr val="0000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573" name="Google Shape;573;p36"/>
            <p:cNvCxnSpPr>
              <a:stCxn id="571" idx="2"/>
              <a:endCxn id="572" idx="2"/>
            </p:cNvCxnSpPr>
            <p:nvPr/>
          </p:nvCxnSpPr>
          <p:spPr>
            <a:xfrm>
              <a:off x="3961500" y="2942749"/>
              <a:ext cx="0" cy="1905000"/>
            </a:xfrm>
            <a:prstGeom prst="straightConnector1">
              <a:avLst/>
            </a:prstGeom>
            <a:noFill/>
            <a:ln cap="flat" cmpd="sng" w="19050">
              <a:solidFill>
                <a:srgbClr val="0000FF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574" name="Google Shape;574;p36"/>
          <p:cNvGrpSpPr/>
          <p:nvPr/>
        </p:nvGrpSpPr>
        <p:grpSpPr>
          <a:xfrm>
            <a:off x="4572000" y="2790675"/>
            <a:ext cx="303900" cy="2209200"/>
            <a:chOff x="3657600" y="2790675"/>
            <a:chExt cx="303900" cy="2209200"/>
          </a:xfrm>
        </p:grpSpPr>
        <p:sp>
          <p:nvSpPr>
            <p:cNvPr id="575" name="Google Shape;575;p36"/>
            <p:cNvSpPr/>
            <p:nvPr/>
          </p:nvSpPr>
          <p:spPr>
            <a:xfrm rot="-5400000">
              <a:off x="3657450" y="2790825"/>
              <a:ext cx="304200" cy="303900"/>
            </a:xfrm>
            <a:prstGeom prst="arc">
              <a:avLst>
                <a:gd fmla="val 16200000" name="adj1"/>
                <a:gd fmla="val 5399413" name="adj2"/>
              </a:avLst>
            </a:prstGeom>
            <a:noFill/>
            <a:ln cap="flat" cmpd="sng" w="19050">
              <a:solidFill>
                <a:srgbClr val="0000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576" name="Google Shape;576;p36"/>
            <p:cNvSpPr/>
            <p:nvPr/>
          </p:nvSpPr>
          <p:spPr>
            <a:xfrm flipH="1" rot="-5400000">
              <a:off x="3657450" y="4695825"/>
              <a:ext cx="304200" cy="303900"/>
            </a:xfrm>
            <a:prstGeom prst="arc">
              <a:avLst>
                <a:gd fmla="val 16200000" name="adj1"/>
                <a:gd fmla="val 5399413" name="adj2"/>
              </a:avLst>
            </a:prstGeom>
            <a:noFill/>
            <a:ln cap="flat" cmpd="sng" w="19050">
              <a:solidFill>
                <a:srgbClr val="0000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577" name="Google Shape;577;p36"/>
            <p:cNvCxnSpPr>
              <a:stCxn id="575" idx="2"/>
              <a:endCxn id="576" idx="2"/>
            </p:cNvCxnSpPr>
            <p:nvPr/>
          </p:nvCxnSpPr>
          <p:spPr>
            <a:xfrm>
              <a:off x="3961500" y="2942749"/>
              <a:ext cx="0" cy="1905000"/>
            </a:xfrm>
            <a:prstGeom prst="straightConnector1">
              <a:avLst/>
            </a:prstGeom>
            <a:noFill/>
            <a:ln cap="flat" cmpd="sng" w="19050">
              <a:solidFill>
                <a:srgbClr val="0000FF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578" name="Google Shape;578;p36"/>
          <p:cNvGrpSpPr/>
          <p:nvPr/>
        </p:nvGrpSpPr>
        <p:grpSpPr>
          <a:xfrm flipH="1">
            <a:off x="5181600" y="2790675"/>
            <a:ext cx="303900" cy="2209200"/>
            <a:chOff x="3657600" y="2790675"/>
            <a:chExt cx="303900" cy="2209200"/>
          </a:xfrm>
        </p:grpSpPr>
        <p:sp>
          <p:nvSpPr>
            <p:cNvPr id="579" name="Google Shape;579;p36"/>
            <p:cNvSpPr/>
            <p:nvPr/>
          </p:nvSpPr>
          <p:spPr>
            <a:xfrm rot="-5400000">
              <a:off x="3657450" y="2790825"/>
              <a:ext cx="304200" cy="303900"/>
            </a:xfrm>
            <a:prstGeom prst="arc">
              <a:avLst>
                <a:gd fmla="val 16200000" name="adj1"/>
                <a:gd fmla="val 5399413" name="adj2"/>
              </a:avLst>
            </a:prstGeom>
            <a:noFill/>
            <a:ln cap="flat" cmpd="sng" w="19050">
              <a:solidFill>
                <a:srgbClr val="0000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580" name="Google Shape;580;p36"/>
            <p:cNvSpPr/>
            <p:nvPr/>
          </p:nvSpPr>
          <p:spPr>
            <a:xfrm flipH="1" rot="-5400000">
              <a:off x="3657450" y="4695825"/>
              <a:ext cx="304200" cy="303900"/>
            </a:xfrm>
            <a:prstGeom prst="arc">
              <a:avLst>
                <a:gd fmla="val 16200000" name="adj1"/>
                <a:gd fmla="val 5399413" name="adj2"/>
              </a:avLst>
            </a:prstGeom>
            <a:noFill/>
            <a:ln cap="flat" cmpd="sng" w="19050">
              <a:solidFill>
                <a:srgbClr val="0000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581" name="Google Shape;581;p36"/>
            <p:cNvCxnSpPr>
              <a:stCxn id="579" idx="2"/>
              <a:endCxn id="580" idx="2"/>
            </p:cNvCxnSpPr>
            <p:nvPr/>
          </p:nvCxnSpPr>
          <p:spPr>
            <a:xfrm>
              <a:off x="3961500" y="2942749"/>
              <a:ext cx="0" cy="1905000"/>
            </a:xfrm>
            <a:prstGeom prst="straightConnector1">
              <a:avLst/>
            </a:prstGeom>
            <a:noFill/>
            <a:ln cap="flat" cmpd="sng" w="19050">
              <a:solidFill>
                <a:srgbClr val="0000FF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582" name="Google Shape;582;p36"/>
          <p:cNvGrpSpPr/>
          <p:nvPr/>
        </p:nvGrpSpPr>
        <p:grpSpPr>
          <a:xfrm>
            <a:off x="3314800" y="2714725"/>
            <a:ext cx="2516700" cy="382800"/>
            <a:chOff x="3314800" y="2714725"/>
            <a:chExt cx="2516700" cy="382800"/>
          </a:xfrm>
        </p:grpSpPr>
        <p:sp>
          <p:nvSpPr>
            <p:cNvPr id="583" name="Google Shape;583;p36"/>
            <p:cNvSpPr/>
            <p:nvPr/>
          </p:nvSpPr>
          <p:spPr>
            <a:xfrm rot="10800000">
              <a:off x="3314800" y="2714725"/>
              <a:ext cx="383100" cy="382800"/>
            </a:xfrm>
            <a:prstGeom prst="arc">
              <a:avLst>
                <a:gd fmla="val 16200000" name="adj1"/>
                <a:gd fmla="val 5399413" name="adj2"/>
              </a:avLst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584" name="Google Shape;584;p36"/>
            <p:cNvCxnSpPr>
              <a:stCxn id="583" idx="2"/>
              <a:endCxn id="585" idx="2"/>
            </p:cNvCxnSpPr>
            <p:nvPr/>
          </p:nvCxnSpPr>
          <p:spPr>
            <a:xfrm>
              <a:off x="3506317" y="2714725"/>
              <a:ext cx="21336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585" name="Google Shape;585;p36"/>
            <p:cNvSpPr/>
            <p:nvPr/>
          </p:nvSpPr>
          <p:spPr>
            <a:xfrm flipH="1" rot="10800000">
              <a:off x="5448400" y="2714725"/>
              <a:ext cx="383100" cy="382800"/>
            </a:xfrm>
            <a:prstGeom prst="arc">
              <a:avLst>
                <a:gd fmla="val 16200000" name="adj1"/>
                <a:gd fmla="val 5399413" name="adj2"/>
              </a:avLst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586" name="Google Shape;586;p36"/>
          <p:cNvGrpSpPr/>
          <p:nvPr/>
        </p:nvGrpSpPr>
        <p:grpSpPr>
          <a:xfrm>
            <a:off x="3314800" y="3476725"/>
            <a:ext cx="2516700" cy="382800"/>
            <a:chOff x="3314800" y="2714725"/>
            <a:chExt cx="2516700" cy="382800"/>
          </a:xfrm>
        </p:grpSpPr>
        <p:sp>
          <p:nvSpPr>
            <p:cNvPr id="587" name="Google Shape;587;p36"/>
            <p:cNvSpPr/>
            <p:nvPr/>
          </p:nvSpPr>
          <p:spPr>
            <a:xfrm rot="10800000">
              <a:off x="3314800" y="2714725"/>
              <a:ext cx="383100" cy="382800"/>
            </a:xfrm>
            <a:prstGeom prst="arc">
              <a:avLst>
                <a:gd fmla="val 16200000" name="adj1"/>
                <a:gd fmla="val 5399413" name="adj2"/>
              </a:avLst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588" name="Google Shape;588;p36"/>
            <p:cNvCxnSpPr>
              <a:stCxn id="587" idx="2"/>
              <a:endCxn id="589" idx="2"/>
            </p:cNvCxnSpPr>
            <p:nvPr/>
          </p:nvCxnSpPr>
          <p:spPr>
            <a:xfrm>
              <a:off x="3506317" y="2714725"/>
              <a:ext cx="21336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589" name="Google Shape;589;p36"/>
            <p:cNvSpPr/>
            <p:nvPr/>
          </p:nvSpPr>
          <p:spPr>
            <a:xfrm flipH="1" rot="10800000">
              <a:off x="5448400" y="2714725"/>
              <a:ext cx="383100" cy="382800"/>
            </a:xfrm>
            <a:prstGeom prst="arc">
              <a:avLst>
                <a:gd fmla="val 16200000" name="adj1"/>
                <a:gd fmla="val 5399413" name="adj2"/>
              </a:avLst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590" name="Google Shape;590;p36"/>
          <p:cNvGrpSpPr/>
          <p:nvPr/>
        </p:nvGrpSpPr>
        <p:grpSpPr>
          <a:xfrm>
            <a:off x="3314800" y="4314925"/>
            <a:ext cx="2516700" cy="382800"/>
            <a:chOff x="3314800" y="2714725"/>
            <a:chExt cx="2516700" cy="382800"/>
          </a:xfrm>
        </p:grpSpPr>
        <p:sp>
          <p:nvSpPr>
            <p:cNvPr id="591" name="Google Shape;591;p36"/>
            <p:cNvSpPr/>
            <p:nvPr/>
          </p:nvSpPr>
          <p:spPr>
            <a:xfrm rot="10800000">
              <a:off x="3314800" y="2714725"/>
              <a:ext cx="383100" cy="382800"/>
            </a:xfrm>
            <a:prstGeom prst="arc">
              <a:avLst>
                <a:gd fmla="val 16200000" name="adj1"/>
                <a:gd fmla="val 5399413" name="adj2"/>
              </a:avLst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592" name="Google Shape;592;p36"/>
            <p:cNvCxnSpPr>
              <a:stCxn id="591" idx="2"/>
              <a:endCxn id="593" idx="2"/>
            </p:cNvCxnSpPr>
            <p:nvPr/>
          </p:nvCxnSpPr>
          <p:spPr>
            <a:xfrm>
              <a:off x="3506317" y="2714725"/>
              <a:ext cx="21336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593" name="Google Shape;593;p36"/>
            <p:cNvSpPr/>
            <p:nvPr/>
          </p:nvSpPr>
          <p:spPr>
            <a:xfrm flipH="1" rot="10800000">
              <a:off x="5448400" y="2714725"/>
              <a:ext cx="383100" cy="382800"/>
            </a:xfrm>
            <a:prstGeom prst="arc">
              <a:avLst>
                <a:gd fmla="val 16200000" name="adj1"/>
                <a:gd fmla="val 5399413" name="adj2"/>
              </a:avLst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7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Google Shape;598;p37"/>
          <p:cNvSpPr/>
          <p:nvPr/>
        </p:nvSpPr>
        <p:spPr>
          <a:xfrm>
            <a:off x="4790500" y="2190750"/>
            <a:ext cx="304800" cy="3048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99" name="Google Shape;599;p37"/>
          <p:cNvSpPr/>
          <p:nvPr/>
        </p:nvSpPr>
        <p:spPr>
          <a:xfrm>
            <a:off x="4790500" y="3790950"/>
            <a:ext cx="304800" cy="3048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00" name="Google Shape;600;p37"/>
          <p:cNvSpPr/>
          <p:nvPr/>
        </p:nvSpPr>
        <p:spPr>
          <a:xfrm>
            <a:off x="4028500" y="4400550"/>
            <a:ext cx="304800" cy="3048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01" name="Google Shape;601;p37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Distributed Training Infrastructure: Network Topology</a:t>
            </a:r>
            <a:endParaRPr/>
          </a:p>
        </p:txBody>
      </p:sp>
      <p:sp>
        <p:nvSpPr>
          <p:cNvPr id="602" name="Google Shape;602;p37"/>
          <p:cNvSpPr txBox="1"/>
          <p:nvPr>
            <p:ph idx="1" type="body"/>
          </p:nvPr>
        </p:nvSpPr>
        <p:spPr>
          <a:xfrm>
            <a:off x="107050" y="402200"/>
            <a:ext cx="8909700" cy="157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Alternate topology: </a:t>
            </a:r>
            <a:r>
              <a:rPr b="1" lang="en"/>
              <a:t>3</a:t>
            </a:r>
            <a:r>
              <a:rPr b="1" lang="en"/>
              <a:t>D torus</a:t>
            </a:r>
            <a:r>
              <a:rPr lang="en"/>
              <a:t>: A cube, where the edges wrap around.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TPUs can be directly connected to each other with ICI (Inter-Core Interconnect), with no routers needed.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As before, some pairs of nodes are more closely-connected than others.</a:t>
            </a:r>
            <a:endParaRPr/>
          </a:p>
        </p:txBody>
      </p:sp>
      <p:sp>
        <p:nvSpPr>
          <p:cNvPr id="603" name="Google Shape;603;p37"/>
          <p:cNvSpPr/>
          <p:nvPr/>
        </p:nvSpPr>
        <p:spPr>
          <a:xfrm>
            <a:off x="3647500" y="2190750"/>
            <a:ext cx="304800" cy="3048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04" name="Google Shape;604;p37"/>
          <p:cNvSpPr/>
          <p:nvPr/>
        </p:nvSpPr>
        <p:spPr>
          <a:xfrm>
            <a:off x="5171500" y="2800350"/>
            <a:ext cx="304800" cy="3048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05" name="Google Shape;605;p37"/>
          <p:cNvSpPr/>
          <p:nvPr/>
        </p:nvSpPr>
        <p:spPr>
          <a:xfrm>
            <a:off x="5933500" y="2190750"/>
            <a:ext cx="304800" cy="3048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06" name="Google Shape;606;p37"/>
          <p:cNvCxnSpPr>
            <a:stCxn id="603" idx="3"/>
            <a:endCxn id="607" idx="7"/>
          </p:cNvCxnSpPr>
          <p:nvPr/>
        </p:nvCxnSpPr>
        <p:spPr>
          <a:xfrm flipH="1">
            <a:off x="3145537" y="2450913"/>
            <a:ext cx="546600" cy="394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08" name="Google Shape;608;p37"/>
          <p:cNvCxnSpPr>
            <a:stCxn id="609" idx="2"/>
            <a:endCxn id="607" idx="6"/>
          </p:cNvCxnSpPr>
          <p:nvPr/>
        </p:nvCxnSpPr>
        <p:spPr>
          <a:xfrm rot="10800000">
            <a:off x="3190300" y="2952750"/>
            <a:ext cx="8382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10" name="Google Shape;610;p37"/>
          <p:cNvCxnSpPr>
            <a:stCxn id="598" idx="2"/>
            <a:endCxn id="603" idx="6"/>
          </p:cNvCxnSpPr>
          <p:nvPr/>
        </p:nvCxnSpPr>
        <p:spPr>
          <a:xfrm rot="10800000">
            <a:off x="3952300" y="2343150"/>
            <a:ext cx="8382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11" name="Google Shape;611;p37"/>
          <p:cNvCxnSpPr>
            <a:stCxn id="605" idx="3"/>
            <a:endCxn id="604" idx="7"/>
          </p:cNvCxnSpPr>
          <p:nvPr/>
        </p:nvCxnSpPr>
        <p:spPr>
          <a:xfrm flipH="1">
            <a:off x="5431537" y="2450913"/>
            <a:ext cx="546600" cy="394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12" name="Google Shape;612;p37"/>
          <p:cNvSpPr/>
          <p:nvPr/>
        </p:nvSpPr>
        <p:spPr>
          <a:xfrm>
            <a:off x="3647500" y="3790950"/>
            <a:ext cx="304800" cy="3048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13" name="Google Shape;613;p37"/>
          <p:cNvSpPr/>
          <p:nvPr/>
        </p:nvSpPr>
        <p:spPr>
          <a:xfrm>
            <a:off x="5933500" y="3790950"/>
            <a:ext cx="304800" cy="3048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14" name="Google Shape;614;p37"/>
          <p:cNvCxnSpPr>
            <a:stCxn id="612" idx="3"/>
            <a:endCxn id="615" idx="7"/>
          </p:cNvCxnSpPr>
          <p:nvPr/>
        </p:nvCxnSpPr>
        <p:spPr>
          <a:xfrm flipH="1">
            <a:off x="3145537" y="4051113"/>
            <a:ext cx="546600" cy="394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16" name="Google Shape;616;p37"/>
          <p:cNvCxnSpPr>
            <a:stCxn id="600" idx="2"/>
            <a:endCxn id="615" idx="6"/>
          </p:cNvCxnSpPr>
          <p:nvPr/>
        </p:nvCxnSpPr>
        <p:spPr>
          <a:xfrm rot="10800000">
            <a:off x="3190300" y="4552950"/>
            <a:ext cx="8382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17" name="Google Shape;617;p37"/>
          <p:cNvCxnSpPr>
            <a:stCxn id="599" idx="2"/>
            <a:endCxn id="612" idx="6"/>
          </p:cNvCxnSpPr>
          <p:nvPr/>
        </p:nvCxnSpPr>
        <p:spPr>
          <a:xfrm rot="10800000">
            <a:off x="3952300" y="3943350"/>
            <a:ext cx="8382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18" name="Google Shape;618;p37"/>
          <p:cNvCxnSpPr>
            <a:stCxn id="613" idx="3"/>
            <a:endCxn id="619" idx="7"/>
          </p:cNvCxnSpPr>
          <p:nvPr/>
        </p:nvCxnSpPr>
        <p:spPr>
          <a:xfrm flipH="1">
            <a:off x="5431537" y="4051113"/>
            <a:ext cx="546600" cy="394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20" name="Google Shape;620;p37"/>
          <p:cNvCxnSpPr>
            <a:stCxn id="612" idx="0"/>
            <a:endCxn id="603" idx="4"/>
          </p:cNvCxnSpPr>
          <p:nvPr/>
        </p:nvCxnSpPr>
        <p:spPr>
          <a:xfrm rot="10800000">
            <a:off x="3799900" y="2495550"/>
            <a:ext cx="0" cy="12954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21" name="Google Shape;621;p37"/>
          <p:cNvCxnSpPr>
            <a:stCxn id="613" idx="0"/>
            <a:endCxn id="605" idx="4"/>
          </p:cNvCxnSpPr>
          <p:nvPr/>
        </p:nvCxnSpPr>
        <p:spPr>
          <a:xfrm rot="10800000">
            <a:off x="6085900" y="2495550"/>
            <a:ext cx="0" cy="12954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22" name="Google Shape;622;p37"/>
          <p:cNvCxnSpPr>
            <a:stCxn id="615" idx="0"/>
            <a:endCxn id="607" idx="4"/>
          </p:cNvCxnSpPr>
          <p:nvPr/>
        </p:nvCxnSpPr>
        <p:spPr>
          <a:xfrm rot="10800000">
            <a:off x="3037900" y="3105150"/>
            <a:ext cx="0" cy="12954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23" name="Google Shape;623;p37"/>
          <p:cNvCxnSpPr>
            <a:stCxn id="619" idx="0"/>
            <a:endCxn id="604" idx="4"/>
          </p:cNvCxnSpPr>
          <p:nvPr/>
        </p:nvCxnSpPr>
        <p:spPr>
          <a:xfrm rot="10800000">
            <a:off x="5323900" y="3105150"/>
            <a:ext cx="0" cy="12954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07" name="Google Shape;607;p37"/>
          <p:cNvSpPr/>
          <p:nvPr/>
        </p:nvSpPr>
        <p:spPr>
          <a:xfrm>
            <a:off x="2885500" y="2800350"/>
            <a:ext cx="304800" cy="3048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624" name="Google Shape;624;p37"/>
          <p:cNvGrpSpPr/>
          <p:nvPr/>
        </p:nvGrpSpPr>
        <p:grpSpPr>
          <a:xfrm flipH="1">
            <a:off x="2656900" y="2613050"/>
            <a:ext cx="382800" cy="2282400"/>
            <a:chOff x="3037900" y="1698650"/>
            <a:chExt cx="382800" cy="2282400"/>
          </a:xfrm>
        </p:grpSpPr>
        <p:sp>
          <p:nvSpPr>
            <p:cNvPr id="625" name="Google Shape;625;p37"/>
            <p:cNvSpPr/>
            <p:nvPr/>
          </p:nvSpPr>
          <p:spPr>
            <a:xfrm rot="-5400000">
              <a:off x="3037750" y="1698800"/>
              <a:ext cx="383100" cy="382800"/>
            </a:xfrm>
            <a:prstGeom prst="arc">
              <a:avLst>
                <a:gd fmla="val 16200000" name="adj1"/>
                <a:gd fmla="val 5399413" name="adj2"/>
              </a:avLst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626" name="Google Shape;626;p37"/>
            <p:cNvCxnSpPr>
              <a:stCxn id="625" idx="2"/>
              <a:endCxn id="627" idx="2"/>
            </p:cNvCxnSpPr>
            <p:nvPr/>
          </p:nvCxnSpPr>
          <p:spPr>
            <a:xfrm>
              <a:off x="3420700" y="1890167"/>
              <a:ext cx="0" cy="189930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627" name="Google Shape;627;p37"/>
            <p:cNvSpPr/>
            <p:nvPr/>
          </p:nvSpPr>
          <p:spPr>
            <a:xfrm flipH="1" rot="-5400000">
              <a:off x="3037750" y="3598100"/>
              <a:ext cx="383100" cy="382800"/>
            </a:xfrm>
            <a:prstGeom prst="arc">
              <a:avLst>
                <a:gd fmla="val 16200000" name="adj1"/>
                <a:gd fmla="val 5399413" name="adj2"/>
              </a:avLst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628" name="Google Shape;628;p37"/>
          <p:cNvGrpSpPr/>
          <p:nvPr/>
        </p:nvGrpSpPr>
        <p:grpSpPr>
          <a:xfrm>
            <a:off x="5323900" y="2613050"/>
            <a:ext cx="382800" cy="2282400"/>
            <a:chOff x="3037900" y="1698650"/>
            <a:chExt cx="382800" cy="2282400"/>
          </a:xfrm>
        </p:grpSpPr>
        <p:sp>
          <p:nvSpPr>
            <p:cNvPr id="629" name="Google Shape;629;p37"/>
            <p:cNvSpPr/>
            <p:nvPr/>
          </p:nvSpPr>
          <p:spPr>
            <a:xfrm rot="-5400000">
              <a:off x="3037750" y="1698800"/>
              <a:ext cx="383100" cy="382800"/>
            </a:xfrm>
            <a:prstGeom prst="arc">
              <a:avLst>
                <a:gd fmla="val 16200000" name="adj1"/>
                <a:gd fmla="val 5399413" name="adj2"/>
              </a:avLst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630" name="Google Shape;630;p37"/>
            <p:cNvCxnSpPr>
              <a:stCxn id="629" idx="2"/>
              <a:endCxn id="631" idx="2"/>
            </p:cNvCxnSpPr>
            <p:nvPr/>
          </p:nvCxnSpPr>
          <p:spPr>
            <a:xfrm>
              <a:off x="3420700" y="1890167"/>
              <a:ext cx="0" cy="189930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631" name="Google Shape;631;p37"/>
            <p:cNvSpPr/>
            <p:nvPr/>
          </p:nvSpPr>
          <p:spPr>
            <a:xfrm flipH="1" rot="-5400000">
              <a:off x="3037750" y="3598100"/>
              <a:ext cx="383100" cy="382800"/>
            </a:xfrm>
            <a:prstGeom prst="arc">
              <a:avLst>
                <a:gd fmla="val 16200000" name="adj1"/>
                <a:gd fmla="val 5399413" name="adj2"/>
              </a:avLst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632" name="Google Shape;632;p37"/>
          <p:cNvGrpSpPr/>
          <p:nvPr/>
        </p:nvGrpSpPr>
        <p:grpSpPr>
          <a:xfrm flipH="1">
            <a:off x="3418900" y="2003450"/>
            <a:ext cx="382800" cy="2282400"/>
            <a:chOff x="3037900" y="1698650"/>
            <a:chExt cx="382800" cy="2282400"/>
          </a:xfrm>
        </p:grpSpPr>
        <p:sp>
          <p:nvSpPr>
            <p:cNvPr id="633" name="Google Shape;633;p37"/>
            <p:cNvSpPr/>
            <p:nvPr/>
          </p:nvSpPr>
          <p:spPr>
            <a:xfrm rot="-5400000">
              <a:off x="3037750" y="1698800"/>
              <a:ext cx="383100" cy="382800"/>
            </a:xfrm>
            <a:prstGeom prst="arc">
              <a:avLst>
                <a:gd fmla="val 16200000" name="adj1"/>
                <a:gd fmla="val 5399413" name="adj2"/>
              </a:avLst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634" name="Google Shape;634;p37"/>
            <p:cNvCxnSpPr>
              <a:stCxn id="633" idx="2"/>
              <a:endCxn id="635" idx="2"/>
            </p:cNvCxnSpPr>
            <p:nvPr/>
          </p:nvCxnSpPr>
          <p:spPr>
            <a:xfrm>
              <a:off x="3420700" y="1890167"/>
              <a:ext cx="0" cy="189930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635" name="Google Shape;635;p37"/>
            <p:cNvSpPr/>
            <p:nvPr/>
          </p:nvSpPr>
          <p:spPr>
            <a:xfrm flipH="1" rot="-5400000">
              <a:off x="3037750" y="3598100"/>
              <a:ext cx="383100" cy="382800"/>
            </a:xfrm>
            <a:prstGeom prst="arc">
              <a:avLst>
                <a:gd fmla="val 16200000" name="adj1"/>
                <a:gd fmla="val 5399413" name="adj2"/>
              </a:avLst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636" name="Google Shape;636;p37"/>
          <p:cNvGrpSpPr/>
          <p:nvPr/>
        </p:nvGrpSpPr>
        <p:grpSpPr>
          <a:xfrm>
            <a:off x="6085900" y="2003450"/>
            <a:ext cx="382800" cy="2282400"/>
            <a:chOff x="3037900" y="1698650"/>
            <a:chExt cx="382800" cy="2282400"/>
          </a:xfrm>
        </p:grpSpPr>
        <p:sp>
          <p:nvSpPr>
            <p:cNvPr id="637" name="Google Shape;637;p37"/>
            <p:cNvSpPr/>
            <p:nvPr/>
          </p:nvSpPr>
          <p:spPr>
            <a:xfrm rot="-5400000">
              <a:off x="3037750" y="1698800"/>
              <a:ext cx="383100" cy="382800"/>
            </a:xfrm>
            <a:prstGeom prst="arc">
              <a:avLst>
                <a:gd fmla="val 16200000" name="adj1"/>
                <a:gd fmla="val 5399413" name="adj2"/>
              </a:avLst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638" name="Google Shape;638;p37"/>
            <p:cNvCxnSpPr>
              <a:stCxn id="637" idx="2"/>
              <a:endCxn id="639" idx="2"/>
            </p:cNvCxnSpPr>
            <p:nvPr/>
          </p:nvCxnSpPr>
          <p:spPr>
            <a:xfrm>
              <a:off x="3420700" y="1890167"/>
              <a:ext cx="0" cy="189930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639" name="Google Shape;639;p37"/>
            <p:cNvSpPr/>
            <p:nvPr/>
          </p:nvSpPr>
          <p:spPr>
            <a:xfrm flipH="1" rot="-5400000">
              <a:off x="3037750" y="3598100"/>
              <a:ext cx="383100" cy="382800"/>
            </a:xfrm>
            <a:prstGeom prst="arc">
              <a:avLst>
                <a:gd fmla="val 16200000" name="adj1"/>
                <a:gd fmla="val 5399413" name="adj2"/>
              </a:avLst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640" name="Google Shape;640;p37"/>
          <p:cNvGrpSpPr/>
          <p:nvPr/>
        </p:nvGrpSpPr>
        <p:grpSpPr>
          <a:xfrm>
            <a:off x="2779439" y="4340650"/>
            <a:ext cx="2805300" cy="214200"/>
            <a:chOff x="2779439" y="3426250"/>
            <a:chExt cx="2805300" cy="214200"/>
          </a:xfrm>
        </p:grpSpPr>
        <p:sp>
          <p:nvSpPr>
            <p:cNvPr id="641" name="Google Shape;641;p37"/>
            <p:cNvSpPr/>
            <p:nvPr/>
          </p:nvSpPr>
          <p:spPr>
            <a:xfrm rot="10800000">
              <a:off x="2779439" y="3426250"/>
              <a:ext cx="214500" cy="214200"/>
            </a:xfrm>
            <a:prstGeom prst="arc">
              <a:avLst>
                <a:gd fmla="val 16200000" name="adj1"/>
                <a:gd fmla="val 5399413" name="adj2"/>
              </a:avLst>
            </a:prstGeom>
            <a:noFill/>
            <a:ln cap="flat" cmpd="sng" w="19050">
              <a:solidFill>
                <a:srgbClr val="0000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642" name="Google Shape;642;p37"/>
            <p:cNvCxnSpPr>
              <a:stCxn id="641" idx="2"/>
              <a:endCxn id="643" idx="2"/>
            </p:cNvCxnSpPr>
            <p:nvPr/>
          </p:nvCxnSpPr>
          <p:spPr>
            <a:xfrm>
              <a:off x="2886671" y="3426250"/>
              <a:ext cx="2590800" cy="0"/>
            </a:xfrm>
            <a:prstGeom prst="straightConnector1">
              <a:avLst/>
            </a:prstGeom>
            <a:noFill/>
            <a:ln cap="flat" cmpd="sng" w="19050">
              <a:solidFill>
                <a:srgbClr val="0000FF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643" name="Google Shape;643;p37"/>
            <p:cNvSpPr/>
            <p:nvPr/>
          </p:nvSpPr>
          <p:spPr>
            <a:xfrm flipH="1" rot="10800000">
              <a:off x="5370239" y="3426250"/>
              <a:ext cx="214500" cy="214200"/>
            </a:xfrm>
            <a:prstGeom prst="arc">
              <a:avLst>
                <a:gd fmla="val 16200000" name="adj1"/>
                <a:gd fmla="val 5399413" name="adj2"/>
              </a:avLst>
            </a:prstGeom>
            <a:noFill/>
            <a:ln cap="flat" cmpd="sng" w="19050">
              <a:solidFill>
                <a:srgbClr val="0000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619" name="Google Shape;619;p37"/>
          <p:cNvSpPr/>
          <p:nvPr/>
        </p:nvSpPr>
        <p:spPr>
          <a:xfrm>
            <a:off x="5171500" y="4400550"/>
            <a:ext cx="304800" cy="3048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15" name="Google Shape;615;p37"/>
          <p:cNvSpPr/>
          <p:nvPr/>
        </p:nvSpPr>
        <p:spPr>
          <a:xfrm>
            <a:off x="2885500" y="4400550"/>
            <a:ext cx="304800" cy="3048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644" name="Google Shape;644;p37"/>
          <p:cNvGrpSpPr/>
          <p:nvPr/>
        </p:nvGrpSpPr>
        <p:grpSpPr>
          <a:xfrm>
            <a:off x="3541439" y="3731050"/>
            <a:ext cx="2805300" cy="214200"/>
            <a:chOff x="2779439" y="3426250"/>
            <a:chExt cx="2805300" cy="214200"/>
          </a:xfrm>
        </p:grpSpPr>
        <p:sp>
          <p:nvSpPr>
            <p:cNvPr id="645" name="Google Shape;645;p37"/>
            <p:cNvSpPr/>
            <p:nvPr/>
          </p:nvSpPr>
          <p:spPr>
            <a:xfrm rot="10800000">
              <a:off x="2779439" y="3426250"/>
              <a:ext cx="214500" cy="214200"/>
            </a:xfrm>
            <a:prstGeom prst="arc">
              <a:avLst>
                <a:gd fmla="val 16200000" name="adj1"/>
                <a:gd fmla="val 5399413" name="adj2"/>
              </a:avLst>
            </a:prstGeom>
            <a:noFill/>
            <a:ln cap="flat" cmpd="sng" w="19050">
              <a:solidFill>
                <a:srgbClr val="0000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646" name="Google Shape;646;p37"/>
            <p:cNvCxnSpPr>
              <a:stCxn id="645" idx="2"/>
              <a:endCxn id="647" idx="2"/>
            </p:cNvCxnSpPr>
            <p:nvPr/>
          </p:nvCxnSpPr>
          <p:spPr>
            <a:xfrm>
              <a:off x="2886671" y="3426250"/>
              <a:ext cx="2590800" cy="0"/>
            </a:xfrm>
            <a:prstGeom prst="straightConnector1">
              <a:avLst/>
            </a:prstGeom>
            <a:noFill/>
            <a:ln cap="flat" cmpd="sng" w="19050">
              <a:solidFill>
                <a:srgbClr val="0000FF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647" name="Google Shape;647;p37"/>
            <p:cNvSpPr/>
            <p:nvPr/>
          </p:nvSpPr>
          <p:spPr>
            <a:xfrm flipH="1" rot="10800000">
              <a:off x="5370239" y="3426250"/>
              <a:ext cx="214500" cy="214200"/>
            </a:xfrm>
            <a:prstGeom prst="arc">
              <a:avLst>
                <a:gd fmla="val 16200000" name="adj1"/>
                <a:gd fmla="val 5399413" name="adj2"/>
              </a:avLst>
            </a:prstGeom>
            <a:noFill/>
            <a:ln cap="flat" cmpd="sng" w="19050">
              <a:solidFill>
                <a:srgbClr val="0000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648" name="Google Shape;648;p37"/>
          <p:cNvGrpSpPr/>
          <p:nvPr/>
        </p:nvGrpSpPr>
        <p:grpSpPr>
          <a:xfrm>
            <a:off x="2779439" y="2740450"/>
            <a:ext cx="2805300" cy="214200"/>
            <a:chOff x="2779439" y="3426250"/>
            <a:chExt cx="2805300" cy="214200"/>
          </a:xfrm>
        </p:grpSpPr>
        <p:sp>
          <p:nvSpPr>
            <p:cNvPr id="649" name="Google Shape;649;p37"/>
            <p:cNvSpPr/>
            <p:nvPr/>
          </p:nvSpPr>
          <p:spPr>
            <a:xfrm rot="10800000">
              <a:off x="2779439" y="3426250"/>
              <a:ext cx="214500" cy="214200"/>
            </a:xfrm>
            <a:prstGeom prst="arc">
              <a:avLst>
                <a:gd fmla="val 16200000" name="adj1"/>
                <a:gd fmla="val 5399413" name="adj2"/>
              </a:avLst>
            </a:prstGeom>
            <a:noFill/>
            <a:ln cap="flat" cmpd="sng" w="19050">
              <a:solidFill>
                <a:srgbClr val="0000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650" name="Google Shape;650;p37"/>
            <p:cNvCxnSpPr>
              <a:stCxn id="649" idx="2"/>
              <a:endCxn id="651" idx="2"/>
            </p:cNvCxnSpPr>
            <p:nvPr/>
          </p:nvCxnSpPr>
          <p:spPr>
            <a:xfrm>
              <a:off x="2886671" y="3426250"/>
              <a:ext cx="2590800" cy="0"/>
            </a:xfrm>
            <a:prstGeom prst="straightConnector1">
              <a:avLst/>
            </a:prstGeom>
            <a:noFill/>
            <a:ln cap="flat" cmpd="sng" w="19050">
              <a:solidFill>
                <a:srgbClr val="0000FF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651" name="Google Shape;651;p37"/>
            <p:cNvSpPr/>
            <p:nvPr/>
          </p:nvSpPr>
          <p:spPr>
            <a:xfrm flipH="1" rot="10800000">
              <a:off x="5370239" y="3426250"/>
              <a:ext cx="214500" cy="214200"/>
            </a:xfrm>
            <a:prstGeom prst="arc">
              <a:avLst>
                <a:gd fmla="val 16200000" name="adj1"/>
                <a:gd fmla="val 5399413" name="adj2"/>
              </a:avLst>
            </a:prstGeom>
            <a:noFill/>
            <a:ln cap="flat" cmpd="sng" w="19050">
              <a:solidFill>
                <a:srgbClr val="0000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652" name="Google Shape;652;p37"/>
          <p:cNvGrpSpPr/>
          <p:nvPr/>
        </p:nvGrpSpPr>
        <p:grpSpPr>
          <a:xfrm>
            <a:off x="3541439" y="2130850"/>
            <a:ext cx="2805300" cy="214200"/>
            <a:chOff x="2779439" y="3426250"/>
            <a:chExt cx="2805300" cy="214200"/>
          </a:xfrm>
        </p:grpSpPr>
        <p:sp>
          <p:nvSpPr>
            <p:cNvPr id="653" name="Google Shape;653;p37"/>
            <p:cNvSpPr/>
            <p:nvPr/>
          </p:nvSpPr>
          <p:spPr>
            <a:xfrm rot="10800000">
              <a:off x="2779439" y="3426250"/>
              <a:ext cx="214500" cy="214200"/>
            </a:xfrm>
            <a:prstGeom prst="arc">
              <a:avLst>
                <a:gd fmla="val 16200000" name="adj1"/>
                <a:gd fmla="val 5399413" name="adj2"/>
              </a:avLst>
            </a:prstGeom>
            <a:noFill/>
            <a:ln cap="flat" cmpd="sng" w="19050">
              <a:solidFill>
                <a:srgbClr val="0000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654" name="Google Shape;654;p37"/>
            <p:cNvCxnSpPr>
              <a:stCxn id="653" idx="2"/>
              <a:endCxn id="655" idx="2"/>
            </p:cNvCxnSpPr>
            <p:nvPr/>
          </p:nvCxnSpPr>
          <p:spPr>
            <a:xfrm>
              <a:off x="2886671" y="3426250"/>
              <a:ext cx="2590800" cy="0"/>
            </a:xfrm>
            <a:prstGeom prst="straightConnector1">
              <a:avLst/>
            </a:prstGeom>
            <a:noFill/>
            <a:ln cap="flat" cmpd="sng" w="19050">
              <a:solidFill>
                <a:srgbClr val="0000FF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655" name="Google Shape;655;p37"/>
            <p:cNvSpPr/>
            <p:nvPr/>
          </p:nvSpPr>
          <p:spPr>
            <a:xfrm flipH="1" rot="10800000">
              <a:off x="5370239" y="3426250"/>
              <a:ext cx="214500" cy="214200"/>
            </a:xfrm>
            <a:prstGeom prst="arc">
              <a:avLst>
                <a:gd fmla="val 16200000" name="adj1"/>
                <a:gd fmla="val 5399413" name="adj2"/>
              </a:avLst>
            </a:prstGeom>
            <a:noFill/>
            <a:ln cap="flat" cmpd="sng" w="19050">
              <a:solidFill>
                <a:srgbClr val="0000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cxnSp>
        <p:nvCxnSpPr>
          <p:cNvPr id="656" name="Google Shape;656;p37"/>
          <p:cNvCxnSpPr>
            <a:stCxn id="605" idx="2"/>
            <a:endCxn id="598" idx="6"/>
          </p:cNvCxnSpPr>
          <p:nvPr/>
        </p:nvCxnSpPr>
        <p:spPr>
          <a:xfrm rot="10800000">
            <a:off x="5095300" y="2343150"/>
            <a:ext cx="8382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57" name="Google Shape;657;p37"/>
          <p:cNvCxnSpPr>
            <a:stCxn id="604" idx="2"/>
            <a:endCxn id="609" idx="6"/>
          </p:cNvCxnSpPr>
          <p:nvPr/>
        </p:nvCxnSpPr>
        <p:spPr>
          <a:xfrm rot="10800000">
            <a:off x="4333300" y="2952750"/>
            <a:ext cx="8382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58" name="Google Shape;658;p37"/>
          <p:cNvCxnSpPr>
            <a:stCxn id="613" idx="2"/>
            <a:endCxn id="599" idx="6"/>
          </p:cNvCxnSpPr>
          <p:nvPr/>
        </p:nvCxnSpPr>
        <p:spPr>
          <a:xfrm rot="10800000">
            <a:off x="5095300" y="3943350"/>
            <a:ext cx="8382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59" name="Google Shape;659;p37"/>
          <p:cNvCxnSpPr>
            <a:stCxn id="619" idx="2"/>
            <a:endCxn id="600" idx="6"/>
          </p:cNvCxnSpPr>
          <p:nvPr/>
        </p:nvCxnSpPr>
        <p:spPr>
          <a:xfrm rot="10800000">
            <a:off x="4333300" y="4552950"/>
            <a:ext cx="8382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09" name="Google Shape;609;p37"/>
          <p:cNvSpPr/>
          <p:nvPr/>
        </p:nvSpPr>
        <p:spPr>
          <a:xfrm>
            <a:off x="4028500" y="2800350"/>
            <a:ext cx="304800" cy="3048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3" name="Shape 6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4" name="Google Shape;664;p38"/>
          <p:cNvSpPr txBox="1"/>
          <p:nvPr>
            <p:ph idx="1" type="body"/>
          </p:nvPr>
        </p:nvSpPr>
        <p:spPr>
          <a:xfrm>
            <a:off x="4812375" y="402200"/>
            <a:ext cx="4038000" cy="426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</a:rPr>
              <a:t>Distributed AI Training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Motivation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Infrastructure</a:t>
            </a:r>
            <a:endParaRPr>
              <a:solidFill>
                <a:srgbClr val="B7B7B7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Defining Collectives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Roboto"/>
              <a:buChar char="•"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Definition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Redistribution Operations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Consolidation Operations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Duals and Compositions</a:t>
            </a:r>
            <a:endParaRPr>
              <a:solidFill>
                <a:srgbClr val="B7B7B7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</a:rPr>
              <a:t>Implementing Collectives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Mesh Topology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Single Root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Tree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Ring (Naive)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Ring (Optimized)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Overlay/Underlay Topologies</a:t>
            </a:r>
            <a:endParaRPr>
              <a:solidFill>
                <a:srgbClr val="B7B7B7"/>
              </a:solidFill>
            </a:endParaRPr>
          </a:p>
        </p:txBody>
      </p:sp>
      <p:sp>
        <p:nvSpPr>
          <p:cNvPr id="665" name="Google Shape;665;p38"/>
          <p:cNvSpPr txBox="1"/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Collective Communication: Definition</a:t>
            </a:r>
            <a:endParaRPr/>
          </a:p>
        </p:txBody>
      </p:sp>
      <p:sp>
        <p:nvSpPr>
          <p:cNvPr id="666" name="Google Shape;666;p38"/>
          <p:cNvSpPr txBox="1"/>
          <p:nvPr>
            <p:ph idx="2" type="subTitle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Lecture 23</a:t>
            </a:r>
            <a:r>
              <a:rPr lang="en"/>
              <a:t>, CS 168, </a:t>
            </a:r>
            <a:r>
              <a:rPr lang="en"/>
              <a:t>Spring 2026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0" name="Shape 6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1" name="Google Shape;671;p39"/>
          <p:cNvSpPr txBox="1"/>
          <p:nvPr>
            <p:ph idx="1" type="body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/>
              <a:t>Collective communication</a:t>
            </a:r>
            <a:r>
              <a:rPr lang="en"/>
              <a:t>: A group of nodes that exchange data in a coordinated manner as part of a group computation.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nodes work together to achieve a common goal.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nodes have to exchange data during that process.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Brief history: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Originally developed for supercomputers.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Now an active area of research again in the context of AI training.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Modern implementations: NCCL (Nvidia), MSCCL (Microsoft), etc.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u="sng">
                <a:solidFill>
                  <a:schemeClr val="hlink"/>
                </a:solidFill>
                <a:hlinkClick r:id="rId3"/>
              </a:rPr>
              <a:t>NCCL code is available online if you're curious.</a:t>
            </a:r>
            <a:endParaRPr/>
          </a:p>
        </p:txBody>
      </p:sp>
      <p:sp>
        <p:nvSpPr>
          <p:cNvPr id="672" name="Google Shape;672;p39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Collective Communication: Definition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6" name="Shape 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" name="Google Shape;677;p40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is Collective Communication Different?</a:t>
            </a:r>
            <a:endParaRPr/>
          </a:p>
        </p:txBody>
      </p:sp>
      <p:sp>
        <p:nvSpPr>
          <p:cNvPr id="678" name="Google Shape;678;p40"/>
          <p:cNvSpPr txBox="1"/>
          <p:nvPr>
            <p:ph idx="1" type="body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/>
              <a:t>Highly structured communication</a:t>
            </a:r>
            <a:r>
              <a:rPr lang="en"/>
              <a:t>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General Internet: Hosts communicate whenever they want.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Collectives: We know about a tightly-scripted set of exchanges that must occur.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/>
              <a:t>Dedicated network infrastructure</a:t>
            </a:r>
            <a:r>
              <a:rPr lang="en"/>
              <a:t>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General Internet: Many applications/tenants/users running at the same time.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Collectives: The AI training job is the only job running.</a:t>
            </a:r>
            <a:br>
              <a:rPr lang="en"/>
            </a:br>
            <a:r>
              <a:rPr lang="en"/>
              <a:t>This lets us plan out how much bandwidth will be used ahead of time.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/>
              <a:t>Data is transformed as it's exchanged</a:t>
            </a:r>
            <a:r>
              <a:rPr lang="en"/>
              <a:t>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General Internet: The data sent is identical to the data received.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Collectives: Nodes perform computation as the data is forwarded across nodes.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2" name="Shape 6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3" name="Google Shape;683;p41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Collective Communication: Operations</a:t>
            </a:r>
            <a:endParaRPr/>
          </a:p>
        </p:txBody>
      </p:sp>
      <p:sp>
        <p:nvSpPr>
          <p:cNvPr id="684" name="Google Shape;684;p41"/>
          <p:cNvSpPr txBox="1"/>
          <p:nvPr>
            <p:ph idx="1" type="body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/>
              <a:t>Collective operations</a:t>
            </a:r>
            <a:r>
              <a:rPr lang="en"/>
              <a:t>: A set of basic communication patterns.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Users invoke these basic operations to implement their desired communication.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Think of these as the "API" for distributed communication.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Our focus: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What</a:t>
            </a:r>
            <a:r>
              <a:rPr lang="en"/>
              <a:t>: The definitions of these collectives, e.g. inputs and outputs.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How</a:t>
            </a:r>
            <a:r>
              <a:rPr lang="en"/>
              <a:t>: How these collectives are implemented in the network.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Why</a:t>
            </a:r>
            <a:r>
              <a:rPr lang="en"/>
              <a:t>: We won't discuss why AI training can be </a:t>
            </a:r>
            <a:r>
              <a:rPr lang="en"/>
              <a:t>broken</a:t>
            </a:r>
            <a:r>
              <a:rPr lang="en"/>
              <a:t> down into </a:t>
            </a:r>
            <a:r>
              <a:rPr lang="en"/>
              <a:t>these</a:t>
            </a:r>
            <a:r>
              <a:rPr lang="en"/>
              <a:t> operations.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8" name="Shape 6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9" name="Google Shape;689;p42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Collective Communication: Setup</a:t>
            </a:r>
            <a:endParaRPr/>
          </a:p>
        </p:txBody>
      </p:sp>
      <p:sp>
        <p:nvSpPr>
          <p:cNvPr id="690" name="Google Shape;690;p42"/>
          <p:cNvSpPr txBox="1"/>
          <p:nvPr>
            <p:ph idx="1" type="body"/>
          </p:nvPr>
        </p:nvSpPr>
        <p:spPr>
          <a:xfrm>
            <a:off x="107050" y="402200"/>
            <a:ext cx="8909700" cy="190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There are </a:t>
            </a:r>
            <a:r>
              <a:rPr i="1" lang="en"/>
              <a:t>p</a:t>
            </a:r>
            <a:r>
              <a:rPr lang="en"/>
              <a:t> nodes. </a:t>
            </a:r>
            <a:r>
              <a:rPr lang="en"/>
              <a:t>Each node specifies a </a:t>
            </a:r>
            <a:r>
              <a:rPr i="1" lang="en"/>
              <a:t>p</a:t>
            </a:r>
            <a:r>
              <a:rPr lang="en"/>
              <a:t>-element vector of input data, and receives a </a:t>
            </a:r>
            <a:r>
              <a:rPr i="1" lang="en"/>
              <a:t>p</a:t>
            </a:r>
            <a:r>
              <a:rPr lang="en"/>
              <a:t>-element vector of output data.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Each vector element could be an integer, a chunk of training data, etc.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Each </a:t>
            </a:r>
            <a:r>
              <a:rPr lang="en"/>
              <a:t>operation</a:t>
            </a:r>
            <a:r>
              <a:rPr lang="en"/>
              <a:t> </a:t>
            </a:r>
            <a:r>
              <a:rPr lang="en"/>
              <a:t>specifies</a:t>
            </a:r>
            <a:r>
              <a:rPr lang="en"/>
              <a:t> what output values should be sent to each node.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data could be transformed in the output, e.g. summing vector elements.</a:t>
            </a:r>
            <a:endParaRPr/>
          </a:p>
        </p:txBody>
      </p:sp>
      <p:sp>
        <p:nvSpPr>
          <p:cNvPr id="691" name="Google Shape;691;p42"/>
          <p:cNvSpPr/>
          <p:nvPr/>
        </p:nvSpPr>
        <p:spPr>
          <a:xfrm>
            <a:off x="3266431" y="3348911"/>
            <a:ext cx="926700" cy="2511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92" name="Google Shape;692;p42"/>
          <p:cNvSpPr/>
          <p:nvPr/>
        </p:nvSpPr>
        <p:spPr>
          <a:xfrm>
            <a:off x="3266425" y="3097712"/>
            <a:ext cx="926700" cy="2511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93" name="Google Shape;693;p42"/>
          <p:cNvSpPr/>
          <p:nvPr/>
        </p:nvSpPr>
        <p:spPr>
          <a:xfrm>
            <a:off x="3266435" y="2846513"/>
            <a:ext cx="926700" cy="2511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94" name="Google Shape;694;p42"/>
          <p:cNvSpPr/>
          <p:nvPr/>
        </p:nvSpPr>
        <p:spPr>
          <a:xfrm>
            <a:off x="3266429" y="2595314"/>
            <a:ext cx="926700" cy="2511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7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95" name="Google Shape;695;p42"/>
          <p:cNvSpPr/>
          <p:nvPr/>
        </p:nvSpPr>
        <p:spPr>
          <a:xfrm>
            <a:off x="4316956" y="3348899"/>
            <a:ext cx="926700" cy="2511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96" name="Google Shape;696;p42"/>
          <p:cNvSpPr/>
          <p:nvPr/>
        </p:nvSpPr>
        <p:spPr>
          <a:xfrm>
            <a:off x="4316950" y="3097700"/>
            <a:ext cx="926700" cy="2511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97" name="Google Shape;697;p42"/>
          <p:cNvSpPr/>
          <p:nvPr/>
        </p:nvSpPr>
        <p:spPr>
          <a:xfrm>
            <a:off x="4316960" y="2846500"/>
            <a:ext cx="926700" cy="2511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i="1" sz="1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98" name="Google Shape;698;p42"/>
          <p:cNvSpPr/>
          <p:nvPr/>
        </p:nvSpPr>
        <p:spPr>
          <a:xfrm>
            <a:off x="4316954" y="2595301"/>
            <a:ext cx="926700" cy="2511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99" name="Google Shape;699;p42"/>
          <p:cNvSpPr/>
          <p:nvPr/>
        </p:nvSpPr>
        <p:spPr>
          <a:xfrm>
            <a:off x="5367475" y="3348899"/>
            <a:ext cx="926700" cy="2511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00" name="Google Shape;700;p42"/>
          <p:cNvSpPr/>
          <p:nvPr/>
        </p:nvSpPr>
        <p:spPr>
          <a:xfrm>
            <a:off x="5367469" y="3097700"/>
            <a:ext cx="926700" cy="2511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01" name="Google Shape;701;p42"/>
          <p:cNvSpPr/>
          <p:nvPr/>
        </p:nvSpPr>
        <p:spPr>
          <a:xfrm>
            <a:off x="5367479" y="2846500"/>
            <a:ext cx="926700" cy="2511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02" name="Google Shape;702;p42"/>
          <p:cNvSpPr/>
          <p:nvPr/>
        </p:nvSpPr>
        <p:spPr>
          <a:xfrm>
            <a:off x="5367473" y="2595301"/>
            <a:ext cx="926700" cy="2511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03" name="Google Shape;703;p42"/>
          <p:cNvSpPr/>
          <p:nvPr/>
        </p:nvSpPr>
        <p:spPr>
          <a:xfrm>
            <a:off x="6417994" y="3348899"/>
            <a:ext cx="926700" cy="2511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04" name="Google Shape;704;p42"/>
          <p:cNvSpPr/>
          <p:nvPr/>
        </p:nvSpPr>
        <p:spPr>
          <a:xfrm>
            <a:off x="6417988" y="3097700"/>
            <a:ext cx="926700" cy="2511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05" name="Google Shape;705;p42"/>
          <p:cNvSpPr/>
          <p:nvPr/>
        </p:nvSpPr>
        <p:spPr>
          <a:xfrm>
            <a:off x="6417998" y="2846500"/>
            <a:ext cx="926700" cy="2511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06" name="Google Shape;706;p42"/>
          <p:cNvSpPr/>
          <p:nvPr/>
        </p:nvSpPr>
        <p:spPr>
          <a:xfrm>
            <a:off x="6417992" y="2595301"/>
            <a:ext cx="926700" cy="2511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07" name="Google Shape;707;p42"/>
          <p:cNvSpPr txBox="1"/>
          <p:nvPr/>
        </p:nvSpPr>
        <p:spPr>
          <a:xfrm>
            <a:off x="3412509" y="3747433"/>
            <a:ext cx="6366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Node 1:</a:t>
            </a:r>
            <a:endParaRPr sz="1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08" name="Google Shape;708;p42"/>
          <p:cNvSpPr txBox="1"/>
          <p:nvPr/>
        </p:nvSpPr>
        <p:spPr>
          <a:xfrm>
            <a:off x="4463053" y="3747420"/>
            <a:ext cx="6366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Node 2:</a:t>
            </a:r>
            <a:endParaRPr sz="1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09" name="Google Shape;709;p42"/>
          <p:cNvSpPr txBox="1"/>
          <p:nvPr/>
        </p:nvSpPr>
        <p:spPr>
          <a:xfrm>
            <a:off x="5513560" y="3747420"/>
            <a:ext cx="6366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Node 3:</a:t>
            </a:r>
            <a:endParaRPr sz="1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10" name="Google Shape;710;p42"/>
          <p:cNvSpPr txBox="1"/>
          <p:nvPr/>
        </p:nvSpPr>
        <p:spPr>
          <a:xfrm>
            <a:off x="6564066" y="3747420"/>
            <a:ext cx="6366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Node 4:</a:t>
            </a:r>
            <a:endParaRPr sz="1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11" name="Google Shape;711;p42"/>
          <p:cNvSpPr/>
          <p:nvPr/>
        </p:nvSpPr>
        <p:spPr>
          <a:xfrm>
            <a:off x="3266431" y="4685427"/>
            <a:ext cx="9267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12" name="Google Shape;712;p42"/>
          <p:cNvSpPr/>
          <p:nvPr/>
        </p:nvSpPr>
        <p:spPr>
          <a:xfrm>
            <a:off x="3266425" y="4434252"/>
            <a:ext cx="9267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13" name="Google Shape;713;p42"/>
          <p:cNvSpPr/>
          <p:nvPr/>
        </p:nvSpPr>
        <p:spPr>
          <a:xfrm>
            <a:off x="3266435" y="4183076"/>
            <a:ext cx="9267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14" name="Google Shape;714;p42"/>
          <p:cNvSpPr/>
          <p:nvPr/>
        </p:nvSpPr>
        <p:spPr>
          <a:xfrm>
            <a:off x="3266429" y="3931900"/>
            <a:ext cx="9267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700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700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700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7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15" name="Google Shape;715;p42"/>
          <p:cNvSpPr/>
          <p:nvPr/>
        </p:nvSpPr>
        <p:spPr>
          <a:xfrm>
            <a:off x="4314973" y="4685427"/>
            <a:ext cx="9267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16" name="Google Shape;716;p42"/>
          <p:cNvSpPr/>
          <p:nvPr/>
        </p:nvSpPr>
        <p:spPr>
          <a:xfrm>
            <a:off x="4314967" y="4434252"/>
            <a:ext cx="9267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17" name="Google Shape;717;p42"/>
          <p:cNvSpPr/>
          <p:nvPr/>
        </p:nvSpPr>
        <p:spPr>
          <a:xfrm>
            <a:off x="4314977" y="4183076"/>
            <a:ext cx="9267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18" name="Google Shape;718;p42"/>
          <p:cNvSpPr/>
          <p:nvPr/>
        </p:nvSpPr>
        <p:spPr>
          <a:xfrm>
            <a:off x="4314972" y="3931900"/>
            <a:ext cx="9267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19" name="Google Shape;719;p42"/>
          <p:cNvSpPr/>
          <p:nvPr/>
        </p:nvSpPr>
        <p:spPr>
          <a:xfrm>
            <a:off x="5363540" y="4685427"/>
            <a:ext cx="9267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20" name="Google Shape;720;p42"/>
          <p:cNvSpPr/>
          <p:nvPr/>
        </p:nvSpPr>
        <p:spPr>
          <a:xfrm>
            <a:off x="5363535" y="4434252"/>
            <a:ext cx="9267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21" name="Google Shape;721;p42"/>
          <p:cNvSpPr/>
          <p:nvPr/>
        </p:nvSpPr>
        <p:spPr>
          <a:xfrm>
            <a:off x="5363545" y="4183076"/>
            <a:ext cx="9267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22" name="Google Shape;722;p42"/>
          <p:cNvSpPr/>
          <p:nvPr/>
        </p:nvSpPr>
        <p:spPr>
          <a:xfrm>
            <a:off x="5363539" y="3931900"/>
            <a:ext cx="9267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23" name="Google Shape;723;p42"/>
          <p:cNvSpPr/>
          <p:nvPr/>
        </p:nvSpPr>
        <p:spPr>
          <a:xfrm>
            <a:off x="6417995" y="4685427"/>
            <a:ext cx="9267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24" name="Google Shape;724;p42"/>
          <p:cNvSpPr/>
          <p:nvPr/>
        </p:nvSpPr>
        <p:spPr>
          <a:xfrm>
            <a:off x="6417989" y="4434252"/>
            <a:ext cx="9267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25" name="Google Shape;725;p42"/>
          <p:cNvSpPr/>
          <p:nvPr/>
        </p:nvSpPr>
        <p:spPr>
          <a:xfrm>
            <a:off x="6418000" y="4183076"/>
            <a:ext cx="9267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26" name="Google Shape;726;p42"/>
          <p:cNvSpPr/>
          <p:nvPr/>
        </p:nvSpPr>
        <p:spPr>
          <a:xfrm>
            <a:off x="6417994" y="3931900"/>
            <a:ext cx="9267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727" name="Google Shape;727;p42"/>
          <p:cNvCxnSpPr/>
          <p:nvPr/>
        </p:nvCxnSpPr>
        <p:spPr>
          <a:xfrm flipH="1">
            <a:off x="7499037" y="3260329"/>
            <a:ext cx="600" cy="1434900"/>
          </a:xfrm>
          <a:prstGeom prst="curvedConnector3">
            <a:avLst>
              <a:gd fmla="val -141332928" name="adj1"/>
            </a:avLst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28" name="Google Shape;728;p42"/>
          <p:cNvSpPr txBox="1"/>
          <p:nvPr/>
        </p:nvSpPr>
        <p:spPr>
          <a:xfrm>
            <a:off x="7775480" y="3854625"/>
            <a:ext cx="1115700" cy="2463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AllReduce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29" name="Google Shape;729;p42"/>
          <p:cNvSpPr txBox="1"/>
          <p:nvPr/>
        </p:nvSpPr>
        <p:spPr>
          <a:xfrm>
            <a:off x="234608" y="3905575"/>
            <a:ext cx="2910000" cy="10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Output</a:t>
            </a: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: Each node receives a </a:t>
            </a:r>
            <a:r>
              <a:rPr i="1"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</a:t>
            </a: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-element vector of output data.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(e.g. Specify a memory address, and receive output at that write buffer.)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30" name="Google Shape;730;p42"/>
          <p:cNvSpPr txBox="1"/>
          <p:nvPr/>
        </p:nvSpPr>
        <p:spPr>
          <a:xfrm>
            <a:off x="232613" y="2419338"/>
            <a:ext cx="2910000" cy="10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Input: Each node specifies a </a:t>
            </a:r>
            <a:r>
              <a:rPr i="1"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</a:t>
            </a: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-element vector of input data.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(e.g. Specify the memory</a:t>
            </a: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address of a read buffer.)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31" name="Google Shape;731;p42"/>
          <p:cNvSpPr txBox="1"/>
          <p:nvPr/>
        </p:nvSpPr>
        <p:spPr>
          <a:xfrm>
            <a:off x="3412509" y="2410624"/>
            <a:ext cx="6366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Node 1:</a:t>
            </a:r>
            <a:endParaRPr sz="1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32" name="Google Shape;732;p42"/>
          <p:cNvSpPr txBox="1"/>
          <p:nvPr/>
        </p:nvSpPr>
        <p:spPr>
          <a:xfrm>
            <a:off x="4463053" y="2410612"/>
            <a:ext cx="6366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Node 2:</a:t>
            </a:r>
            <a:endParaRPr sz="1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33" name="Google Shape;733;p42"/>
          <p:cNvSpPr txBox="1"/>
          <p:nvPr/>
        </p:nvSpPr>
        <p:spPr>
          <a:xfrm>
            <a:off x="5513560" y="2410612"/>
            <a:ext cx="6366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Node 3:</a:t>
            </a:r>
            <a:endParaRPr sz="1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34" name="Google Shape;734;p42"/>
          <p:cNvSpPr txBox="1"/>
          <p:nvPr/>
        </p:nvSpPr>
        <p:spPr>
          <a:xfrm>
            <a:off x="6564066" y="2410612"/>
            <a:ext cx="6366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Node 4:</a:t>
            </a:r>
            <a:endParaRPr sz="1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35" name="Google Shape;735;p42"/>
          <p:cNvSpPr txBox="1"/>
          <p:nvPr/>
        </p:nvSpPr>
        <p:spPr>
          <a:xfrm>
            <a:off x="7775475" y="2698950"/>
            <a:ext cx="1115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</a:t>
            </a: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= 4 in this example.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9" name="Shape 7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0" name="Google Shape;740;p43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Collective Communication: Setup</a:t>
            </a:r>
            <a:endParaRPr/>
          </a:p>
        </p:txBody>
      </p:sp>
      <p:sp>
        <p:nvSpPr>
          <p:cNvPr id="741" name="Google Shape;741;p43"/>
          <p:cNvSpPr txBox="1"/>
          <p:nvPr>
            <p:ph idx="1" type="body"/>
          </p:nvPr>
        </p:nvSpPr>
        <p:spPr>
          <a:xfrm>
            <a:off x="107050" y="402200"/>
            <a:ext cx="8909700" cy="190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Before the operation, a centralized controller does some setup.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Tell each node its number ("you are Node 1").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Tell each node the value of</a:t>
            </a:r>
            <a:r>
              <a:rPr i="1" lang="en"/>
              <a:t> p</a:t>
            </a:r>
            <a:r>
              <a:rPr lang="en"/>
              <a:t> ("there are 4 nodes in total").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Specify the memory addresses of the read buffer and write buffer.</a:t>
            </a:r>
            <a:endParaRPr/>
          </a:p>
        </p:txBody>
      </p:sp>
      <p:sp>
        <p:nvSpPr>
          <p:cNvPr id="742" name="Google Shape;742;p43"/>
          <p:cNvSpPr/>
          <p:nvPr/>
        </p:nvSpPr>
        <p:spPr>
          <a:xfrm>
            <a:off x="3266431" y="3348911"/>
            <a:ext cx="926700" cy="2511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43" name="Google Shape;743;p43"/>
          <p:cNvSpPr/>
          <p:nvPr/>
        </p:nvSpPr>
        <p:spPr>
          <a:xfrm>
            <a:off x="3266425" y="3097712"/>
            <a:ext cx="926700" cy="2511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44" name="Google Shape;744;p43"/>
          <p:cNvSpPr/>
          <p:nvPr/>
        </p:nvSpPr>
        <p:spPr>
          <a:xfrm>
            <a:off x="3266435" y="2846513"/>
            <a:ext cx="926700" cy="2511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45" name="Google Shape;745;p43"/>
          <p:cNvSpPr/>
          <p:nvPr/>
        </p:nvSpPr>
        <p:spPr>
          <a:xfrm>
            <a:off x="3266429" y="2595314"/>
            <a:ext cx="926700" cy="2511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7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46" name="Google Shape;746;p43"/>
          <p:cNvSpPr/>
          <p:nvPr/>
        </p:nvSpPr>
        <p:spPr>
          <a:xfrm>
            <a:off x="4316956" y="3348899"/>
            <a:ext cx="926700" cy="2511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47" name="Google Shape;747;p43"/>
          <p:cNvSpPr/>
          <p:nvPr/>
        </p:nvSpPr>
        <p:spPr>
          <a:xfrm>
            <a:off x="4316950" y="3097700"/>
            <a:ext cx="926700" cy="2511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48" name="Google Shape;748;p43"/>
          <p:cNvSpPr/>
          <p:nvPr/>
        </p:nvSpPr>
        <p:spPr>
          <a:xfrm>
            <a:off x="4316960" y="2846500"/>
            <a:ext cx="926700" cy="2511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i="1" sz="1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49" name="Google Shape;749;p43"/>
          <p:cNvSpPr/>
          <p:nvPr/>
        </p:nvSpPr>
        <p:spPr>
          <a:xfrm>
            <a:off x="4316954" y="2595301"/>
            <a:ext cx="926700" cy="2511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50" name="Google Shape;750;p43"/>
          <p:cNvSpPr/>
          <p:nvPr/>
        </p:nvSpPr>
        <p:spPr>
          <a:xfrm>
            <a:off x="5367475" y="3348899"/>
            <a:ext cx="926700" cy="2511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51" name="Google Shape;751;p43"/>
          <p:cNvSpPr/>
          <p:nvPr/>
        </p:nvSpPr>
        <p:spPr>
          <a:xfrm>
            <a:off x="5367469" y="3097700"/>
            <a:ext cx="926700" cy="2511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52" name="Google Shape;752;p43"/>
          <p:cNvSpPr/>
          <p:nvPr/>
        </p:nvSpPr>
        <p:spPr>
          <a:xfrm>
            <a:off x="5367479" y="2846500"/>
            <a:ext cx="926700" cy="2511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53" name="Google Shape;753;p43"/>
          <p:cNvSpPr/>
          <p:nvPr/>
        </p:nvSpPr>
        <p:spPr>
          <a:xfrm>
            <a:off x="5367473" y="2595301"/>
            <a:ext cx="926700" cy="2511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54" name="Google Shape;754;p43"/>
          <p:cNvSpPr/>
          <p:nvPr/>
        </p:nvSpPr>
        <p:spPr>
          <a:xfrm>
            <a:off x="6417994" y="3348899"/>
            <a:ext cx="926700" cy="2511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55" name="Google Shape;755;p43"/>
          <p:cNvSpPr/>
          <p:nvPr/>
        </p:nvSpPr>
        <p:spPr>
          <a:xfrm>
            <a:off x="6417988" y="3097700"/>
            <a:ext cx="926700" cy="2511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56" name="Google Shape;756;p43"/>
          <p:cNvSpPr/>
          <p:nvPr/>
        </p:nvSpPr>
        <p:spPr>
          <a:xfrm>
            <a:off x="6417998" y="2846500"/>
            <a:ext cx="926700" cy="2511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57" name="Google Shape;757;p43"/>
          <p:cNvSpPr/>
          <p:nvPr/>
        </p:nvSpPr>
        <p:spPr>
          <a:xfrm>
            <a:off x="6417992" y="2595301"/>
            <a:ext cx="926700" cy="2511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58" name="Google Shape;758;p43"/>
          <p:cNvSpPr txBox="1"/>
          <p:nvPr/>
        </p:nvSpPr>
        <p:spPr>
          <a:xfrm>
            <a:off x="3412509" y="3747433"/>
            <a:ext cx="6366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Node 1:</a:t>
            </a:r>
            <a:endParaRPr sz="1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59" name="Google Shape;759;p43"/>
          <p:cNvSpPr txBox="1"/>
          <p:nvPr/>
        </p:nvSpPr>
        <p:spPr>
          <a:xfrm>
            <a:off x="4463053" y="3747420"/>
            <a:ext cx="6366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Node 2:</a:t>
            </a:r>
            <a:endParaRPr sz="1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60" name="Google Shape;760;p43"/>
          <p:cNvSpPr txBox="1"/>
          <p:nvPr/>
        </p:nvSpPr>
        <p:spPr>
          <a:xfrm>
            <a:off x="5513560" y="3747420"/>
            <a:ext cx="6366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Node 3:</a:t>
            </a:r>
            <a:endParaRPr sz="1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61" name="Google Shape;761;p43"/>
          <p:cNvSpPr txBox="1"/>
          <p:nvPr/>
        </p:nvSpPr>
        <p:spPr>
          <a:xfrm>
            <a:off x="6564066" y="3747420"/>
            <a:ext cx="6366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Node 4:</a:t>
            </a:r>
            <a:endParaRPr sz="1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62" name="Google Shape;762;p43"/>
          <p:cNvSpPr/>
          <p:nvPr/>
        </p:nvSpPr>
        <p:spPr>
          <a:xfrm>
            <a:off x="3266431" y="4685427"/>
            <a:ext cx="9267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63" name="Google Shape;763;p43"/>
          <p:cNvSpPr/>
          <p:nvPr/>
        </p:nvSpPr>
        <p:spPr>
          <a:xfrm>
            <a:off x="3266425" y="4434252"/>
            <a:ext cx="9267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64" name="Google Shape;764;p43"/>
          <p:cNvSpPr/>
          <p:nvPr/>
        </p:nvSpPr>
        <p:spPr>
          <a:xfrm>
            <a:off x="3266435" y="4183076"/>
            <a:ext cx="9267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65" name="Google Shape;765;p43"/>
          <p:cNvSpPr/>
          <p:nvPr/>
        </p:nvSpPr>
        <p:spPr>
          <a:xfrm>
            <a:off x="3266429" y="3931900"/>
            <a:ext cx="9267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700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700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700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7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66" name="Google Shape;766;p43"/>
          <p:cNvSpPr/>
          <p:nvPr/>
        </p:nvSpPr>
        <p:spPr>
          <a:xfrm>
            <a:off x="4314973" y="4685427"/>
            <a:ext cx="9267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67" name="Google Shape;767;p43"/>
          <p:cNvSpPr/>
          <p:nvPr/>
        </p:nvSpPr>
        <p:spPr>
          <a:xfrm>
            <a:off x="4314967" y="4434252"/>
            <a:ext cx="9267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68" name="Google Shape;768;p43"/>
          <p:cNvSpPr/>
          <p:nvPr/>
        </p:nvSpPr>
        <p:spPr>
          <a:xfrm>
            <a:off x="4314977" y="4183076"/>
            <a:ext cx="9267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69" name="Google Shape;769;p43"/>
          <p:cNvSpPr/>
          <p:nvPr/>
        </p:nvSpPr>
        <p:spPr>
          <a:xfrm>
            <a:off x="4314972" y="3931900"/>
            <a:ext cx="9267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70" name="Google Shape;770;p43"/>
          <p:cNvSpPr/>
          <p:nvPr/>
        </p:nvSpPr>
        <p:spPr>
          <a:xfrm>
            <a:off x="5363540" y="4685427"/>
            <a:ext cx="9267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71" name="Google Shape;771;p43"/>
          <p:cNvSpPr/>
          <p:nvPr/>
        </p:nvSpPr>
        <p:spPr>
          <a:xfrm>
            <a:off x="5363535" y="4434252"/>
            <a:ext cx="9267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72" name="Google Shape;772;p43"/>
          <p:cNvSpPr/>
          <p:nvPr/>
        </p:nvSpPr>
        <p:spPr>
          <a:xfrm>
            <a:off x="5363545" y="4183076"/>
            <a:ext cx="9267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73" name="Google Shape;773;p43"/>
          <p:cNvSpPr/>
          <p:nvPr/>
        </p:nvSpPr>
        <p:spPr>
          <a:xfrm>
            <a:off x="5363539" y="3931900"/>
            <a:ext cx="9267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74" name="Google Shape;774;p43"/>
          <p:cNvSpPr/>
          <p:nvPr/>
        </p:nvSpPr>
        <p:spPr>
          <a:xfrm>
            <a:off x="6417995" y="4685427"/>
            <a:ext cx="9267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75" name="Google Shape;775;p43"/>
          <p:cNvSpPr/>
          <p:nvPr/>
        </p:nvSpPr>
        <p:spPr>
          <a:xfrm>
            <a:off x="6417989" y="4434252"/>
            <a:ext cx="9267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76" name="Google Shape;776;p43"/>
          <p:cNvSpPr/>
          <p:nvPr/>
        </p:nvSpPr>
        <p:spPr>
          <a:xfrm>
            <a:off x="6418000" y="4183076"/>
            <a:ext cx="9267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77" name="Google Shape;777;p43"/>
          <p:cNvSpPr/>
          <p:nvPr/>
        </p:nvSpPr>
        <p:spPr>
          <a:xfrm>
            <a:off x="6417994" y="3931900"/>
            <a:ext cx="9267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778" name="Google Shape;778;p43"/>
          <p:cNvCxnSpPr/>
          <p:nvPr/>
        </p:nvCxnSpPr>
        <p:spPr>
          <a:xfrm flipH="1">
            <a:off x="7499037" y="3260329"/>
            <a:ext cx="600" cy="1434900"/>
          </a:xfrm>
          <a:prstGeom prst="curvedConnector3">
            <a:avLst>
              <a:gd fmla="val -141332928" name="adj1"/>
            </a:avLst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79" name="Google Shape;779;p43"/>
          <p:cNvSpPr txBox="1"/>
          <p:nvPr/>
        </p:nvSpPr>
        <p:spPr>
          <a:xfrm>
            <a:off x="7775480" y="3854625"/>
            <a:ext cx="1115700" cy="2463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AllReduce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80" name="Google Shape;780;p43"/>
          <p:cNvSpPr txBox="1"/>
          <p:nvPr/>
        </p:nvSpPr>
        <p:spPr>
          <a:xfrm>
            <a:off x="234608" y="3905575"/>
            <a:ext cx="2910000" cy="10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Output: Each node receives a </a:t>
            </a:r>
            <a:r>
              <a:rPr i="1"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</a:t>
            </a: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-element vector of output data.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(e.g. Specify a memory address, and receive output at that write buffer.)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81" name="Google Shape;781;p43"/>
          <p:cNvSpPr txBox="1"/>
          <p:nvPr/>
        </p:nvSpPr>
        <p:spPr>
          <a:xfrm>
            <a:off x="232613" y="2419338"/>
            <a:ext cx="2910000" cy="10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Input: Each node specifies a </a:t>
            </a:r>
            <a:r>
              <a:rPr i="1"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</a:t>
            </a: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-element vector of input data.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(e.g. Specify the memory address of a read buffer.)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82" name="Google Shape;782;p43"/>
          <p:cNvSpPr txBox="1"/>
          <p:nvPr/>
        </p:nvSpPr>
        <p:spPr>
          <a:xfrm>
            <a:off x="3412509" y="2410624"/>
            <a:ext cx="6366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Node 1:</a:t>
            </a:r>
            <a:endParaRPr sz="1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83" name="Google Shape;783;p43"/>
          <p:cNvSpPr txBox="1"/>
          <p:nvPr/>
        </p:nvSpPr>
        <p:spPr>
          <a:xfrm>
            <a:off x="4463053" y="2410612"/>
            <a:ext cx="6366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Node 2:</a:t>
            </a:r>
            <a:endParaRPr sz="1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84" name="Google Shape;784;p43"/>
          <p:cNvSpPr txBox="1"/>
          <p:nvPr/>
        </p:nvSpPr>
        <p:spPr>
          <a:xfrm>
            <a:off x="5513560" y="2410612"/>
            <a:ext cx="6366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Node 3:</a:t>
            </a:r>
            <a:endParaRPr sz="1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85" name="Google Shape;785;p43"/>
          <p:cNvSpPr txBox="1"/>
          <p:nvPr/>
        </p:nvSpPr>
        <p:spPr>
          <a:xfrm>
            <a:off x="6564066" y="2410612"/>
            <a:ext cx="6366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Node 4:</a:t>
            </a:r>
            <a:endParaRPr sz="1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86" name="Google Shape;786;p43"/>
          <p:cNvSpPr txBox="1"/>
          <p:nvPr/>
        </p:nvSpPr>
        <p:spPr>
          <a:xfrm>
            <a:off x="7775475" y="2698950"/>
            <a:ext cx="1115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</a:t>
            </a: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= 4 in this example.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0" name="Shape 7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1" name="Google Shape;791;p44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Collective Communication: Setup</a:t>
            </a:r>
            <a:endParaRPr/>
          </a:p>
        </p:txBody>
      </p:sp>
      <p:sp>
        <p:nvSpPr>
          <p:cNvPr id="792" name="Google Shape;792;p44"/>
          <p:cNvSpPr txBox="1"/>
          <p:nvPr>
            <p:ph idx="1" type="body"/>
          </p:nvPr>
        </p:nvSpPr>
        <p:spPr>
          <a:xfrm>
            <a:off x="107050" y="402200"/>
            <a:ext cx="8909700" cy="190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During the operation, nodes exchange data to produce the desired output.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</a:t>
            </a:r>
            <a:r>
              <a:rPr lang="en"/>
              <a:t>ach node calls the operation, in parallel, at the same time.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operation is blocking: Must wait for all nodes to finish before we can proceed to the next task.</a:t>
            </a:r>
            <a:endParaRPr/>
          </a:p>
        </p:txBody>
      </p:sp>
      <p:sp>
        <p:nvSpPr>
          <p:cNvPr id="793" name="Google Shape;793;p44"/>
          <p:cNvSpPr/>
          <p:nvPr/>
        </p:nvSpPr>
        <p:spPr>
          <a:xfrm>
            <a:off x="3266431" y="3348911"/>
            <a:ext cx="926700" cy="2511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94" name="Google Shape;794;p44"/>
          <p:cNvSpPr/>
          <p:nvPr/>
        </p:nvSpPr>
        <p:spPr>
          <a:xfrm>
            <a:off x="3266425" y="3097712"/>
            <a:ext cx="926700" cy="2511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95" name="Google Shape;795;p44"/>
          <p:cNvSpPr/>
          <p:nvPr/>
        </p:nvSpPr>
        <p:spPr>
          <a:xfrm>
            <a:off x="3266435" y="2846513"/>
            <a:ext cx="926700" cy="2511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96" name="Google Shape;796;p44"/>
          <p:cNvSpPr/>
          <p:nvPr/>
        </p:nvSpPr>
        <p:spPr>
          <a:xfrm>
            <a:off x="3266429" y="2595314"/>
            <a:ext cx="926700" cy="2511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7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97" name="Google Shape;797;p44"/>
          <p:cNvSpPr/>
          <p:nvPr/>
        </p:nvSpPr>
        <p:spPr>
          <a:xfrm>
            <a:off x="4316956" y="3348899"/>
            <a:ext cx="926700" cy="2511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98" name="Google Shape;798;p44"/>
          <p:cNvSpPr/>
          <p:nvPr/>
        </p:nvSpPr>
        <p:spPr>
          <a:xfrm>
            <a:off x="4316950" y="3097700"/>
            <a:ext cx="926700" cy="2511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99" name="Google Shape;799;p44"/>
          <p:cNvSpPr/>
          <p:nvPr/>
        </p:nvSpPr>
        <p:spPr>
          <a:xfrm>
            <a:off x="4316960" y="2846500"/>
            <a:ext cx="926700" cy="2511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i="1" sz="1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00" name="Google Shape;800;p44"/>
          <p:cNvSpPr/>
          <p:nvPr/>
        </p:nvSpPr>
        <p:spPr>
          <a:xfrm>
            <a:off x="4316954" y="2595301"/>
            <a:ext cx="926700" cy="2511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01" name="Google Shape;801;p44"/>
          <p:cNvSpPr/>
          <p:nvPr/>
        </p:nvSpPr>
        <p:spPr>
          <a:xfrm>
            <a:off x="5367475" y="3348899"/>
            <a:ext cx="926700" cy="2511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02" name="Google Shape;802;p44"/>
          <p:cNvSpPr/>
          <p:nvPr/>
        </p:nvSpPr>
        <p:spPr>
          <a:xfrm>
            <a:off x="5367469" y="3097700"/>
            <a:ext cx="926700" cy="2511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03" name="Google Shape;803;p44"/>
          <p:cNvSpPr/>
          <p:nvPr/>
        </p:nvSpPr>
        <p:spPr>
          <a:xfrm>
            <a:off x="5367479" y="2846500"/>
            <a:ext cx="926700" cy="2511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04" name="Google Shape;804;p44"/>
          <p:cNvSpPr/>
          <p:nvPr/>
        </p:nvSpPr>
        <p:spPr>
          <a:xfrm>
            <a:off x="5367473" y="2595301"/>
            <a:ext cx="926700" cy="2511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05" name="Google Shape;805;p44"/>
          <p:cNvSpPr/>
          <p:nvPr/>
        </p:nvSpPr>
        <p:spPr>
          <a:xfrm>
            <a:off x="6417994" y="3348899"/>
            <a:ext cx="926700" cy="2511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06" name="Google Shape;806;p44"/>
          <p:cNvSpPr/>
          <p:nvPr/>
        </p:nvSpPr>
        <p:spPr>
          <a:xfrm>
            <a:off x="6417988" y="3097700"/>
            <a:ext cx="926700" cy="2511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07" name="Google Shape;807;p44"/>
          <p:cNvSpPr/>
          <p:nvPr/>
        </p:nvSpPr>
        <p:spPr>
          <a:xfrm>
            <a:off x="6417998" y="2846500"/>
            <a:ext cx="926700" cy="2511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08" name="Google Shape;808;p44"/>
          <p:cNvSpPr/>
          <p:nvPr/>
        </p:nvSpPr>
        <p:spPr>
          <a:xfrm>
            <a:off x="6417992" y="2595301"/>
            <a:ext cx="926700" cy="2511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09" name="Google Shape;809;p44"/>
          <p:cNvSpPr txBox="1"/>
          <p:nvPr/>
        </p:nvSpPr>
        <p:spPr>
          <a:xfrm>
            <a:off x="3412509" y="3747433"/>
            <a:ext cx="6366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Node 1:</a:t>
            </a:r>
            <a:endParaRPr sz="1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10" name="Google Shape;810;p44"/>
          <p:cNvSpPr txBox="1"/>
          <p:nvPr/>
        </p:nvSpPr>
        <p:spPr>
          <a:xfrm>
            <a:off x="4463053" y="3747420"/>
            <a:ext cx="6366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Node 2:</a:t>
            </a:r>
            <a:endParaRPr sz="1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11" name="Google Shape;811;p44"/>
          <p:cNvSpPr txBox="1"/>
          <p:nvPr/>
        </p:nvSpPr>
        <p:spPr>
          <a:xfrm>
            <a:off x="5513560" y="3747420"/>
            <a:ext cx="6366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Node 3:</a:t>
            </a:r>
            <a:endParaRPr sz="1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12" name="Google Shape;812;p44"/>
          <p:cNvSpPr txBox="1"/>
          <p:nvPr/>
        </p:nvSpPr>
        <p:spPr>
          <a:xfrm>
            <a:off x="6564066" y="3747420"/>
            <a:ext cx="6366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Node 4:</a:t>
            </a:r>
            <a:endParaRPr sz="1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13" name="Google Shape;813;p44"/>
          <p:cNvSpPr/>
          <p:nvPr/>
        </p:nvSpPr>
        <p:spPr>
          <a:xfrm>
            <a:off x="3266431" y="4685427"/>
            <a:ext cx="9267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14" name="Google Shape;814;p44"/>
          <p:cNvSpPr/>
          <p:nvPr/>
        </p:nvSpPr>
        <p:spPr>
          <a:xfrm>
            <a:off x="3266425" y="4434252"/>
            <a:ext cx="9267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15" name="Google Shape;815;p44"/>
          <p:cNvSpPr/>
          <p:nvPr/>
        </p:nvSpPr>
        <p:spPr>
          <a:xfrm>
            <a:off x="3266435" y="4183076"/>
            <a:ext cx="9267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16" name="Google Shape;816;p44"/>
          <p:cNvSpPr/>
          <p:nvPr/>
        </p:nvSpPr>
        <p:spPr>
          <a:xfrm>
            <a:off x="3266429" y="3931900"/>
            <a:ext cx="9267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700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700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700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7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17" name="Google Shape;817;p44"/>
          <p:cNvSpPr/>
          <p:nvPr/>
        </p:nvSpPr>
        <p:spPr>
          <a:xfrm>
            <a:off x="4314973" y="4685427"/>
            <a:ext cx="9267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18" name="Google Shape;818;p44"/>
          <p:cNvSpPr/>
          <p:nvPr/>
        </p:nvSpPr>
        <p:spPr>
          <a:xfrm>
            <a:off x="4314967" y="4434252"/>
            <a:ext cx="9267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19" name="Google Shape;819;p44"/>
          <p:cNvSpPr/>
          <p:nvPr/>
        </p:nvSpPr>
        <p:spPr>
          <a:xfrm>
            <a:off x="4314977" y="4183076"/>
            <a:ext cx="9267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20" name="Google Shape;820;p44"/>
          <p:cNvSpPr/>
          <p:nvPr/>
        </p:nvSpPr>
        <p:spPr>
          <a:xfrm>
            <a:off x="4314972" y="3931900"/>
            <a:ext cx="9267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21" name="Google Shape;821;p44"/>
          <p:cNvSpPr/>
          <p:nvPr/>
        </p:nvSpPr>
        <p:spPr>
          <a:xfrm>
            <a:off x="5363540" y="4685427"/>
            <a:ext cx="9267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22" name="Google Shape;822;p44"/>
          <p:cNvSpPr/>
          <p:nvPr/>
        </p:nvSpPr>
        <p:spPr>
          <a:xfrm>
            <a:off x="5363535" y="4434252"/>
            <a:ext cx="9267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23" name="Google Shape;823;p44"/>
          <p:cNvSpPr/>
          <p:nvPr/>
        </p:nvSpPr>
        <p:spPr>
          <a:xfrm>
            <a:off x="5363545" y="4183076"/>
            <a:ext cx="9267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24" name="Google Shape;824;p44"/>
          <p:cNvSpPr/>
          <p:nvPr/>
        </p:nvSpPr>
        <p:spPr>
          <a:xfrm>
            <a:off x="5363539" y="3931900"/>
            <a:ext cx="9267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25" name="Google Shape;825;p44"/>
          <p:cNvSpPr/>
          <p:nvPr/>
        </p:nvSpPr>
        <p:spPr>
          <a:xfrm>
            <a:off x="6417995" y="4685427"/>
            <a:ext cx="9267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26" name="Google Shape;826;p44"/>
          <p:cNvSpPr/>
          <p:nvPr/>
        </p:nvSpPr>
        <p:spPr>
          <a:xfrm>
            <a:off x="6417989" y="4434252"/>
            <a:ext cx="9267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27" name="Google Shape;827;p44"/>
          <p:cNvSpPr/>
          <p:nvPr/>
        </p:nvSpPr>
        <p:spPr>
          <a:xfrm>
            <a:off x="6418000" y="4183076"/>
            <a:ext cx="9267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28" name="Google Shape;828;p44"/>
          <p:cNvSpPr/>
          <p:nvPr/>
        </p:nvSpPr>
        <p:spPr>
          <a:xfrm>
            <a:off x="6417994" y="3931900"/>
            <a:ext cx="9267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829" name="Google Shape;829;p44"/>
          <p:cNvCxnSpPr/>
          <p:nvPr/>
        </p:nvCxnSpPr>
        <p:spPr>
          <a:xfrm flipH="1">
            <a:off x="7499037" y="3260329"/>
            <a:ext cx="600" cy="1434900"/>
          </a:xfrm>
          <a:prstGeom prst="curvedConnector3">
            <a:avLst>
              <a:gd fmla="val -141332928" name="adj1"/>
            </a:avLst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30" name="Google Shape;830;p44"/>
          <p:cNvSpPr txBox="1"/>
          <p:nvPr/>
        </p:nvSpPr>
        <p:spPr>
          <a:xfrm>
            <a:off x="7775480" y="3854625"/>
            <a:ext cx="1115700" cy="2463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AllReduce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31" name="Google Shape;831;p44"/>
          <p:cNvSpPr txBox="1"/>
          <p:nvPr/>
        </p:nvSpPr>
        <p:spPr>
          <a:xfrm>
            <a:off x="234608" y="3905575"/>
            <a:ext cx="2910000" cy="10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Output: Each node receives a </a:t>
            </a:r>
            <a:r>
              <a:rPr i="1"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</a:t>
            </a: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-element vector of output data.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(e.g. Specify a memory address, and receive output at that write buffer.)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32" name="Google Shape;832;p44"/>
          <p:cNvSpPr txBox="1"/>
          <p:nvPr/>
        </p:nvSpPr>
        <p:spPr>
          <a:xfrm>
            <a:off x="232613" y="2419338"/>
            <a:ext cx="2910000" cy="10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Input: Each node specifies a </a:t>
            </a:r>
            <a:r>
              <a:rPr i="1"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</a:t>
            </a: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-element vector of input data.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(e.g. Specify the memory address of a read buffer.)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33" name="Google Shape;833;p44"/>
          <p:cNvSpPr txBox="1"/>
          <p:nvPr/>
        </p:nvSpPr>
        <p:spPr>
          <a:xfrm>
            <a:off x="3412509" y="2410624"/>
            <a:ext cx="6366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Node 1:</a:t>
            </a:r>
            <a:endParaRPr sz="1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34" name="Google Shape;834;p44"/>
          <p:cNvSpPr txBox="1"/>
          <p:nvPr/>
        </p:nvSpPr>
        <p:spPr>
          <a:xfrm>
            <a:off x="4463053" y="2410612"/>
            <a:ext cx="6366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Node 2:</a:t>
            </a:r>
            <a:endParaRPr sz="1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35" name="Google Shape;835;p44"/>
          <p:cNvSpPr txBox="1"/>
          <p:nvPr/>
        </p:nvSpPr>
        <p:spPr>
          <a:xfrm>
            <a:off x="5513560" y="2410612"/>
            <a:ext cx="6366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Node 3:</a:t>
            </a:r>
            <a:endParaRPr sz="1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36" name="Google Shape;836;p44"/>
          <p:cNvSpPr txBox="1"/>
          <p:nvPr/>
        </p:nvSpPr>
        <p:spPr>
          <a:xfrm>
            <a:off x="6564066" y="2410612"/>
            <a:ext cx="6366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Node 4:</a:t>
            </a:r>
            <a:endParaRPr sz="1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37" name="Google Shape;837;p44"/>
          <p:cNvSpPr txBox="1"/>
          <p:nvPr/>
        </p:nvSpPr>
        <p:spPr>
          <a:xfrm>
            <a:off x="7775475" y="2698950"/>
            <a:ext cx="1115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</a:t>
            </a: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= 4 in this example.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1" name="Shape 8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2" name="Google Shape;842;p45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Collective Communication Definition: Recap</a:t>
            </a:r>
            <a:endParaRPr/>
          </a:p>
        </p:txBody>
      </p:sp>
      <p:sp>
        <p:nvSpPr>
          <p:cNvPr id="843" name="Google Shape;843;p45"/>
          <p:cNvSpPr txBox="1"/>
          <p:nvPr>
            <p:ph idx="1" type="body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To recap, collective operations are: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Orchestrated</a:t>
            </a:r>
            <a:r>
              <a:rPr lang="en"/>
              <a:t>: A centralized controller plans out the job ahead of time.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Synchronized</a:t>
            </a:r>
            <a:r>
              <a:rPr lang="en"/>
              <a:t>: Every node starts the operation at the same time.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Blocking</a:t>
            </a:r>
            <a:r>
              <a:rPr lang="en"/>
              <a:t>: Must wait for all nodes to finish before proceeding.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We'll now define the 7 collective operations.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First, we'll define the inputs and outputs (the </a:t>
            </a:r>
            <a:r>
              <a:rPr i="1" lang="en"/>
              <a:t>what</a:t>
            </a:r>
            <a:r>
              <a:rPr lang="en"/>
              <a:t>).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Then, we'll look at how the </a:t>
            </a:r>
            <a:r>
              <a:rPr lang="en"/>
              <a:t>operation</a:t>
            </a:r>
            <a:r>
              <a:rPr lang="en"/>
              <a:t> is implemented in the network (the </a:t>
            </a:r>
            <a:r>
              <a:rPr i="1" lang="en"/>
              <a:t>how</a:t>
            </a:r>
            <a:r>
              <a:rPr lang="en"/>
              <a:t>).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The operations can roughly split into two categories: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Redistribution</a:t>
            </a:r>
            <a:r>
              <a:rPr lang="en"/>
              <a:t> operations move data around without transforming it.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Consolidation</a:t>
            </a:r>
            <a:r>
              <a:rPr lang="en"/>
              <a:t> operations aggregate many pieces of data into a single output.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7" name="Shape 8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8" name="Google Shape;848;p46"/>
          <p:cNvSpPr txBox="1"/>
          <p:nvPr>
            <p:ph idx="1" type="body"/>
          </p:nvPr>
        </p:nvSpPr>
        <p:spPr>
          <a:xfrm>
            <a:off x="4812375" y="402200"/>
            <a:ext cx="4038000" cy="426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</a:rPr>
              <a:t>Distributed AI Training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Motivation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Infrastructure</a:t>
            </a:r>
            <a:endParaRPr>
              <a:solidFill>
                <a:srgbClr val="B7B7B7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Defining Collectives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Definition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Roboto"/>
              <a:buChar char="•"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Redistribution Operations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Consolidation Operations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Duals and Compositions</a:t>
            </a:r>
            <a:endParaRPr>
              <a:solidFill>
                <a:srgbClr val="B7B7B7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</a:rPr>
              <a:t>Implementing Collectives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Mesh Topology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Single Root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Tree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Ring (Naive)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Ring (Optimized)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Overlay/Underlay Topologies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49" name="Google Shape;849;p46"/>
          <p:cNvSpPr txBox="1"/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Redistribution Operations</a:t>
            </a:r>
            <a:endParaRPr/>
          </a:p>
        </p:txBody>
      </p:sp>
      <p:sp>
        <p:nvSpPr>
          <p:cNvPr id="850" name="Google Shape;850;p46"/>
          <p:cNvSpPr txBox="1"/>
          <p:nvPr>
            <p:ph idx="2" type="subTitle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Lecture 23</a:t>
            </a:r>
            <a:r>
              <a:rPr lang="en"/>
              <a:t>, CS 168, </a:t>
            </a:r>
            <a:r>
              <a:rPr lang="en"/>
              <a:t>Spring 2026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4" name="Shape 8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5" name="Google Shape;855;p47"/>
          <p:cNvSpPr txBox="1"/>
          <p:nvPr>
            <p:ph idx="1" type="body"/>
          </p:nvPr>
        </p:nvSpPr>
        <p:spPr>
          <a:xfrm>
            <a:off x="107050" y="402200"/>
            <a:ext cx="8909700" cy="64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The target node sends its vector to everybody.</a:t>
            </a:r>
            <a:endParaRPr/>
          </a:p>
        </p:txBody>
      </p:sp>
      <p:sp>
        <p:nvSpPr>
          <p:cNvPr id="856" name="Google Shape;856;p47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Broadcast</a:t>
            </a:r>
            <a:endParaRPr/>
          </a:p>
        </p:txBody>
      </p:sp>
      <p:sp>
        <p:nvSpPr>
          <p:cNvPr id="857" name="Google Shape;857;p47"/>
          <p:cNvSpPr txBox="1"/>
          <p:nvPr/>
        </p:nvSpPr>
        <p:spPr>
          <a:xfrm>
            <a:off x="2386375" y="1735382"/>
            <a:ext cx="10011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Node 1: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58" name="Google Shape;858;p47"/>
          <p:cNvSpPr txBox="1"/>
          <p:nvPr/>
        </p:nvSpPr>
        <p:spPr>
          <a:xfrm>
            <a:off x="4148300" y="1735382"/>
            <a:ext cx="10011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Node 2: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59" name="Google Shape;859;p47"/>
          <p:cNvSpPr txBox="1"/>
          <p:nvPr/>
        </p:nvSpPr>
        <p:spPr>
          <a:xfrm>
            <a:off x="5910175" y="1735382"/>
            <a:ext cx="10011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Node 3: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60" name="Google Shape;860;p47"/>
          <p:cNvSpPr txBox="1"/>
          <p:nvPr/>
        </p:nvSpPr>
        <p:spPr>
          <a:xfrm>
            <a:off x="7672050" y="1735382"/>
            <a:ext cx="10011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Node 4: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61" name="Google Shape;861;p47"/>
          <p:cNvSpPr txBox="1"/>
          <p:nvPr/>
        </p:nvSpPr>
        <p:spPr>
          <a:xfrm>
            <a:off x="2386375" y="3442682"/>
            <a:ext cx="10011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Node 1: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62" name="Google Shape;862;p47"/>
          <p:cNvSpPr txBox="1"/>
          <p:nvPr/>
        </p:nvSpPr>
        <p:spPr>
          <a:xfrm>
            <a:off x="4148300" y="3442682"/>
            <a:ext cx="10011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Node 2: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63" name="Google Shape;863;p47"/>
          <p:cNvSpPr txBox="1"/>
          <p:nvPr/>
        </p:nvSpPr>
        <p:spPr>
          <a:xfrm>
            <a:off x="5910175" y="3442682"/>
            <a:ext cx="10011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Node 3: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64" name="Google Shape;864;p47"/>
          <p:cNvSpPr txBox="1"/>
          <p:nvPr/>
        </p:nvSpPr>
        <p:spPr>
          <a:xfrm>
            <a:off x="7672050" y="3442682"/>
            <a:ext cx="10011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Node 4: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65" name="Google Shape;865;p47"/>
          <p:cNvSpPr txBox="1"/>
          <p:nvPr/>
        </p:nvSpPr>
        <p:spPr>
          <a:xfrm>
            <a:off x="1387326" y="2476550"/>
            <a:ext cx="6948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Before: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66" name="Google Shape;866;p47"/>
          <p:cNvSpPr txBox="1"/>
          <p:nvPr/>
        </p:nvSpPr>
        <p:spPr>
          <a:xfrm>
            <a:off x="1547925" y="4183850"/>
            <a:ext cx="5343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After: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867" name="Google Shape;867;p47"/>
          <p:cNvCxnSpPr/>
          <p:nvPr/>
        </p:nvCxnSpPr>
        <p:spPr>
          <a:xfrm>
            <a:off x="1387326" y="2599700"/>
            <a:ext cx="160500" cy="1707300"/>
          </a:xfrm>
          <a:prstGeom prst="curvedConnector3">
            <a:avLst>
              <a:gd fmla="val -258770" name="adj1"/>
            </a:avLst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68" name="Google Shape;868;p47"/>
          <p:cNvSpPr/>
          <p:nvPr/>
        </p:nvSpPr>
        <p:spPr>
          <a:xfrm>
            <a:off x="2158378" y="2891900"/>
            <a:ext cx="1457100" cy="292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1000"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69" name="Google Shape;869;p47"/>
          <p:cNvSpPr/>
          <p:nvPr/>
        </p:nvSpPr>
        <p:spPr>
          <a:xfrm>
            <a:off x="2158368" y="2599700"/>
            <a:ext cx="1457100" cy="292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1000"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70" name="Google Shape;870;p47"/>
          <p:cNvSpPr/>
          <p:nvPr/>
        </p:nvSpPr>
        <p:spPr>
          <a:xfrm>
            <a:off x="2158384" y="2307500"/>
            <a:ext cx="1457100" cy="292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10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71" name="Google Shape;871;p47"/>
          <p:cNvSpPr/>
          <p:nvPr/>
        </p:nvSpPr>
        <p:spPr>
          <a:xfrm>
            <a:off x="2158375" y="2015300"/>
            <a:ext cx="1457100" cy="2922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1000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72" name="Google Shape;872;p47"/>
          <p:cNvSpPr/>
          <p:nvPr/>
        </p:nvSpPr>
        <p:spPr>
          <a:xfrm>
            <a:off x="3920278" y="2891900"/>
            <a:ext cx="1457100" cy="292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solidFill>
                  <a:srgbClr val="B7B7B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1000">
                <a:solidFill>
                  <a:srgbClr val="B7B7B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1000">
              <a:solidFill>
                <a:srgbClr val="B7B7B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73" name="Google Shape;873;p47"/>
          <p:cNvSpPr/>
          <p:nvPr/>
        </p:nvSpPr>
        <p:spPr>
          <a:xfrm>
            <a:off x="3920268" y="2599700"/>
            <a:ext cx="1457100" cy="292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solidFill>
                  <a:srgbClr val="B7B7B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1000">
                <a:solidFill>
                  <a:srgbClr val="B7B7B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1000">
              <a:solidFill>
                <a:srgbClr val="B7B7B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74" name="Google Shape;874;p47"/>
          <p:cNvSpPr/>
          <p:nvPr/>
        </p:nvSpPr>
        <p:spPr>
          <a:xfrm>
            <a:off x="3920284" y="2307500"/>
            <a:ext cx="1457100" cy="292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solidFill>
                  <a:srgbClr val="B7B7B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1000">
                <a:solidFill>
                  <a:srgbClr val="B7B7B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1000">
              <a:solidFill>
                <a:srgbClr val="B7B7B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75" name="Google Shape;875;p47"/>
          <p:cNvSpPr/>
          <p:nvPr/>
        </p:nvSpPr>
        <p:spPr>
          <a:xfrm>
            <a:off x="3920275" y="2015300"/>
            <a:ext cx="1457100" cy="292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solidFill>
                  <a:srgbClr val="B7B7B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1000">
                <a:solidFill>
                  <a:srgbClr val="B7B7B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1000">
              <a:solidFill>
                <a:srgbClr val="B7B7B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76" name="Google Shape;876;p47"/>
          <p:cNvSpPr/>
          <p:nvPr/>
        </p:nvSpPr>
        <p:spPr>
          <a:xfrm>
            <a:off x="5682178" y="2891900"/>
            <a:ext cx="1457100" cy="292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solidFill>
                  <a:srgbClr val="B7B7B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1000">
                <a:solidFill>
                  <a:srgbClr val="B7B7B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1000">
              <a:solidFill>
                <a:srgbClr val="B7B7B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77" name="Google Shape;877;p47"/>
          <p:cNvSpPr/>
          <p:nvPr/>
        </p:nvSpPr>
        <p:spPr>
          <a:xfrm>
            <a:off x="5682168" y="2599700"/>
            <a:ext cx="1457100" cy="292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solidFill>
                  <a:srgbClr val="B7B7B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1000">
                <a:solidFill>
                  <a:srgbClr val="B7B7B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1000">
              <a:solidFill>
                <a:srgbClr val="B7B7B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78" name="Google Shape;878;p47"/>
          <p:cNvSpPr/>
          <p:nvPr/>
        </p:nvSpPr>
        <p:spPr>
          <a:xfrm>
            <a:off x="5682184" y="2307500"/>
            <a:ext cx="1457100" cy="292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solidFill>
                  <a:srgbClr val="B7B7B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1000">
                <a:solidFill>
                  <a:srgbClr val="B7B7B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1000">
              <a:solidFill>
                <a:srgbClr val="B7B7B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79" name="Google Shape;879;p47"/>
          <p:cNvSpPr/>
          <p:nvPr/>
        </p:nvSpPr>
        <p:spPr>
          <a:xfrm>
            <a:off x="5682175" y="2015300"/>
            <a:ext cx="1457100" cy="292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solidFill>
                  <a:srgbClr val="B7B7B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1000">
                <a:solidFill>
                  <a:srgbClr val="B7B7B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1000">
              <a:solidFill>
                <a:srgbClr val="B7B7B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80" name="Google Shape;880;p47"/>
          <p:cNvSpPr/>
          <p:nvPr/>
        </p:nvSpPr>
        <p:spPr>
          <a:xfrm>
            <a:off x="7444077" y="2891900"/>
            <a:ext cx="1457100" cy="292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solidFill>
                  <a:srgbClr val="B7B7B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1000">
                <a:solidFill>
                  <a:srgbClr val="B7B7B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1000">
              <a:solidFill>
                <a:srgbClr val="B7B7B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81" name="Google Shape;881;p47"/>
          <p:cNvSpPr/>
          <p:nvPr/>
        </p:nvSpPr>
        <p:spPr>
          <a:xfrm>
            <a:off x="7444068" y="2599700"/>
            <a:ext cx="1457100" cy="292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solidFill>
                  <a:srgbClr val="B7B7B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1000">
                <a:solidFill>
                  <a:srgbClr val="B7B7B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1000">
              <a:solidFill>
                <a:srgbClr val="B7B7B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82" name="Google Shape;882;p47"/>
          <p:cNvSpPr/>
          <p:nvPr/>
        </p:nvSpPr>
        <p:spPr>
          <a:xfrm>
            <a:off x="7444084" y="2307500"/>
            <a:ext cx="1457100" cy="292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solidFill>
                  <a:srgbClr val="B7B7B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1000">
                <a:solidFill>
                  <a:srgbClr val="B7B7B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1000">
              <a:solidFill>
                <a:srgbClr val="B7B7B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83" name="Google Shape;883;p47"/>
          <p:cNvSpPr/>
          <p:nvPr/>
        </p:nvSpPr>
        <p:spPr>
          <a:xfrm>
            <a:off x="7444075" y="2015300"/>
            <a:ext cx="1457100" cy="292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solidFill>
                  <a:srgbClr val="B7B7B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1000">
                <a:solidFill>
                  <a:srgbClr val="B7B7B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1000">
              <a:solidFill>
                <a:srgbClr val="B7B7B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84" name="Google Shape;884;p47"/>
          <p:cNvSpPr/>
          <p:nvPr/>
        </p:nvSpPr>
        <p:spPr>
          <a:xfrm>
            <a:off x="2158390" y="4599200"/>
            <a:ext cx="1457100" cy="292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1000"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85" name="Google Shape;885;p47"/>
          <p:cNvSpPr/>
          <p:nvPr/>
        </p:nvSpPr>
        <p:spPr>
          <a:xfrm>
            <a:off x="2158381" y="4307000"/>
            <a:ext cx="1457100" cy="292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1000"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86" name="Google Shape;886;p47"/>
          <p:cNvSpPr/>
          <p:nvPr/>
        </p:nvSpPr>
        <p:spPr>
          <a:xfrm>
            <a:off x="2158397" y="4014800"/>
            <a:ext cx="1457100" cy="292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10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87" name="Google Shape;887;p47"/>
          <p:cNvSpPr/>
          <p:nvPr/>
        </p:nvSpPr>
        <p:spPr>
          <a:xfrm>
            <a:off x="2158388" y="3722600"/>
            <a:ext cx="1457100" cy="292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1000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88" name="Google Shape;888;p47"/>
          <p:cNvSpPr/>
          <p:nvPr/>
        </p:nvSpPr>
        <p:spPr>
          <a:xfrm>
            <a:off x="3910990" y="4599200"/>
            <a:ext cx="1457100" cy="292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1000"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89" name="Google Shape;889;p47"/>
          <p:cNvSpPr/>
          <p:nvPr/>
        </p:nvSpPr>
        <p:spPr>
          <a:xfrm>
            <a:off x="3910981" y="4307000"/>
            <a:ext cx="1457100" cy="292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1000"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90" name="Google Shape;890;p47"/>
          <p:cNvSpPr/>
          <p:nvPr/>
        </p:nvSpPr>
        <p:spPr>
          <a:xfrm>
            <a:off x="3910997" y="4014800"/>
            <a:ext cx="1457100" cy="292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10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91" name="Google Shape;891;p47"/>
          <p:cNvSpPr/>
          <p:nvPr/>
        </p:nvSpPr>
        <p:spPr>
          <a:xfrm>
            <a:off x="3910988" y="3722600"/>
            <a:ext cx="1457100" cy="292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1000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92" name="Google Shape;892;p47"/>
          <p:cNvSpPr/>
          <p:nvPr/>
        </p:nvSpPr>
        <p:spPr>
          <a:xfrm>
            <a:off x="5682240" y="4599200"/>
            <a:ext cx="1457100" cy="292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1000"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93" name="Google Shape;893;p47"/>
          <p:cNvSpPr/>
          <p:nvPr/>
        </p:nvSpPr>
        <p:spPr>
          <a:xfrm>
            <a:off x="5682231" y="4307000"/>
            <a:ext cx="1457100" cy="292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1000"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94" name="Google Shape;894;p47"/>
          <p:cNvSpPr/>
          <p:nvPr/>
        </p:nvSpPr>
        <p:spPr>
          <a:xfrm>
            <a:off x="5682247" y="4014800"/>
            <a:ext cx="1457100" cy="292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10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95" name="Google Shape;895;p47"/>
          <p:cNvSpPr/>
          <p:nvPr/>
        </p:nvSpPr>
        <p:spPr>
          <a:xfrm>
            <a:off x="5682238" y="3722600"/>
            <a:ext cx="1457100" cy="292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1000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96" name="Google Shape;896;p47"/>
          <p:cNvSpPr/>
          <p:nvPr/>
        </p:nvSpPr>
        <p:spPr>
          <a:xfrm>
            <a:off x="7434840" y="4599200"/>
            <a:ext cx="1457100" cy="292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1000"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97" name="Google Shape;897;p47"/>
          <p:cNvSpPr/>
          <p:nvPr/>
        </p:nvSpPr>
        <p:spPr>
          <a:xfrm>
            <a:off x="7434831" y="4307000"/>
            <a:ext cx="1457100" cy="292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1000"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98" name="Google Shape;898;p47"/>
          <p:cNvSpPr/>
          <p:nvPr/>
        </p:nvSpPr>
        <p:spPr>
          <a:xfrm>
            <a:off x="7434847" y="4014800"/>
            <a:ext cx="1457100" cy="292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10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99" name="Google Shape;899;p47"/>
          <p:cNvSpPr/>
          <p:nvPr/>
        </p:nvSpPr>
        <p:spPr>
          <a:xfrm>
            <a:off x="7434838" y="3722600"/>
            <a:ext cx="1457100" cy="292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1000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00" name="Google Shape;900;p47"/>
          <p:cNvSpPr txBox="1"/>
          <p:nvPr/>
        </p:nvSpPr>
        <p:spPr>
          <a:xfrm>
            <a:off x="111958" y="3330200"/>
            <a:ext cx="1713300" cy="2463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Broadcast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4" name="Shape 9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5" name="Google Shape;905;p48"/>
          <p:cNvSpPr txBox="1"/>
          <p:nvPr>
            <p:ph idx="1" type="body"/>
          </p:nvPr>
        </p:nvSpPr>
        <p:spPr>
          <a:xfrm>
            <a:off x="107050" y="402200"/>
            <a:ext cx="8909700" cy="64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The target node sends its </a:t>
            </a:r>
            <a:r>
              <a:rPr i="1" lang="en"/>
              <a:t>i</a:t>
            </a:r>
            <a:r>
              <a:rPr lang="en"/>
              <a:t>th element to the </a:t>
            </a:r>
            <a:r>
              <a:rPr i="1" lang="en"/>
              <a:t>i</a:t>
            </a:r>
            <a:r>
              <a:rPr lang="en"/>
              <a:t>th node.</a:t>
            </a:r>
            <a:endParaRPr/>
          </a:p>
        </p:txBody>
      </p:sp>
      <p:sp>
        <p:nvSpPr>
          <p:cNvPr id="906" name="Google Shape;906;p48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Scatter</a:t>
            </a:r>
            <a:endParaRPr/>
          </a:p>
        </p:txBody>
      </p:sp>
      <p:sp>
        <p:nvSpPr>
          <p:cNvPr id="907" name="Google Shape;907;p48"/>
          <p:cNvSpPr txBox="1"/>
          <p:nvPr/>
        </p:nvSpPr>
        <p:spPr>
          <a:xfrm>
            <a:off x="2386375" y="1735382"/>
            <a:ext cx="10011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Node 1: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08" name="Google Shape;908;p48"/>
          <p:cNvSpPr txBox="1"/>
          <p:nvPr/>
        </p:nvSpPr>
        <p:spPr>
          <a:xfrm>
            <a:off x="4148300" y="1735382"/>
            <a:ext cx="10011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Node 2: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09" name="Google Shape;909;p48"/>
          <p:cNvSpPr txBox="1"/>
          <p:nvPr/>
        </p:nvSpPr>
        <p:spPr>
          <a:xfrm>
            <a:off x="5910175" y="1735382"/>
            <a:ext cx="10011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Node 3: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10" name="Google Shape;910;p48"/>
          <p:cNvSpPr txBox="1"/>
          <p:nvPr/>
        </p:nvSpPr>
        <p:spPr>
          <a:xfrm>
            <a:off x="7672050" y="1735382"/>
            <a:ext cx="10011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Node 4: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11" name="Google Shape;911;p48"/>
          <p:cNvSpPr txBox="1"/>
          <p:nvPr/>
        </p:nvSpPr>
        <p:spPr>
          <a:xfrm>
            <a:off x="2386375" y="3442682"/>
            <a:ext cx="10011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Node 1: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12" name="Google Shape;912;p48"/>
          <p:cNvSpPr txBox="1"/>
          <p:nvPr/>
        </p:nvSpPr>
        <p:spPr>
          <a:xfrm>
            <a:off x="4148300" y="3442682"/>
            <a:ext cx="10011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Node 2: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13" name="Google Shape;913;p48"/>
          <p:cNvSpPr txBox="1"/>
          <p:nvPr/>
        </p:nvSpPr>
        <p:spPr>
          <a:xfrm>
            <a:off x="5910175" y="3442682"/>
            <a:ext cx="10011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Node 3: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14" name="Google Shape;914;p48"/>
          <p:cNvSpPr txBox="1"/>
          <p:nvPr/>
        </p:nvSpPr>
        <p:spPr>
          <a:xfrm>
            <a:off x="7672050" y="3442682"/>
            <a:ext cx="10011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Node 4: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15" name="Google Shape;915;p48"/>
          <p:cNvSpPr txBox="1"/>
          <p:nvPr/>
        </p:nvSpPr>
        <p:spPr>
          <a:xfrm>
            <a:off x="1387326" y="2476550"/>
            <a:ext cx="6948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Before: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16" name="Google Shape;916;p48"/>
          <p:cNvSpPr txBox="1"/>
          <p:nvPr/>
        </p:nvSpPr>
        <p:spPr>
          <a:xfrm>
            <a:off x="1547925" y="4183850"/>
            <a:ext cx="5343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After: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917" name="Google Shape;917;p48"/>
          <p:cNvCxnSpPr/>
          <p:nvPr/>
        </p:nvCxnSpPr>
        <p:spPr>
          <a:xfrm>
            <a:off x="1387326" y="2599700"/>
            <a:ext cx="160500" cy="1707300"/>
          </a:xfrm>
          <a:prstGeom prst="curvedConnector3">
            <a:avLst>
              <a:gd fmla="val -258770" name="adj1"/>
            </a:avLst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18" name="Google Shape;918;p48"/>
          <p:cNvSpPr/>
          <p:nvPr/>
        </p:nvSpPr>
        <p:spPr>
          <a:xfrm>
            <a:off x="2158378" y="2891900"/>
            <a:ext cx="1457100" cy="292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1000"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19" name="Google Shape;919;p48"/>
          <p:cNvSpPr/>
          <p:nvPr/>
        </p:nvSpPr>
        <p:spPr>
          <a:xfrm>
            <a:off x="2158368" y="2599700"/>
            <a:ext cx="1457100" cy="292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1000"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20" name="Google Shape;920;p48"/>
          <p:cNvSpPr/>
          <p:nvPr/>
        </p:nvSpPr>
        <p:spPr>
          <a:xfrm>
            <a:off x="2158384" y="2307500"/>
            <a:ext cx="1457100" cy="292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10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21" name="Google Shape;921;p48"/>
          <p:cNvSpPr/>
          <p:nvPr/>
        </p:nvSpPr>
        <p:spPr>
          <a:xfrm>
            <a:off x="2158375" y="2015300"/>
            <a:ext cx="1457100" cy="2922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1000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22" name="Google Shape;922;p48"/>
          <p:cNvSpPr/>
          <p:nvPr/>
        </p:nvSpPr>
        <p:spPr>
          <a:xfrm>
            <a:off x="3920278" y="2891900"/>
            <a:ext cx="1457100" cy="292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solidFill>
                  <a:srgbClr val="B7B7B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1000">
                <a:solidFill>
                  <a:srgbClr val="B7B7B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1000">
              <a:solidFill>
                <a:srgbClr val="B7B7B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23" name="Google Shape;923;p48"/>
          <p:cNvSpPr/>
          <p:nvPr/>
        </p:nvSpPr>
        <p:spPr>
          <a:xfrm>
            <a:off x="3920268" y="2599700"/>
            <a:ext cx="1457100" cy="292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solidFill>
                  <a:srgbClr val="B7B7B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1000">
                <a:solidFill>
                  <a:srgbClr val="B7B7B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1000">
              <a:solidFill>
                <a:srgbClr val="B7B7B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24" name="Google Shape;924;p48"/>
          <p:cNvSpPr/>
          <p:nvPr/>
        </p:nvSpPr>
        <p:spPr>
          <a:xfrm>
            <a:off x="3920284" y="2307500"/>
            <a:ext cx="1457100" cy="292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solidFill>
                  <a:srgbClr val="B7B7B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1000">
                <a:solidFill>
                  <a:srgbClr val="B7B7B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1000">
              <a:solidFill>
                <a:srgbClr val="B7B7B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25" name="Google Shape;925;p48"/>
          <p:cNvSpPr/>
          <p:nvPr/>
        </p:nvSpPr>
        <p:spPr>
          <a:xfrm>
            <a:off x="3920275" y="2015300"/>
            <a:ext cx="1457100" cy="292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solidFill>
                  <a:srgbClr val="B7B7B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1000">
                <a:solidFill>
                  <a:srgbClr val="B7B7B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1000">
              <a:solidFill>
                <a:srgbClr val="B7B7B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26" name="Google Shape;926;p48"/>
          <p:cNvSpPr/>
          <p:nvPr/>
        </p:nvSpPr>
        <p:spPr>
          <a:xfrm>
            <a:off x="5682178" y="2891900"/>
            <a:ext cx="1457100" cy="292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solidFill>
                  <a:srgbClr val="B7B7B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1000">
                <a:solidFill>
                  <a:srgbClr val="B7B7B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1000">
              <a:solidFill>
                <a:srgbClr val="B7B7B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27" name="Google Shape;927;p48"/>
          <p:cNvSpPr/>
          <p:nvPr/>
        </p:nvSpPr>
        <p:spPr>
          <a:xfrm>
            <a:off x="5682168" y="2599700"/>
            <a:ext cx="1457100" cy="292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solidFill>
                  <a:srgbClr val="B7B7B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1000">
                <a:solidFill>
                  <a:srgbClr val="B7B7B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1000">
              <a:solidFill>
                <a:srgbClr val="B7B7B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28" name="Google Shape;928;p48"/>
          <p:cNvSpPr/>
          <p:nvPr/>
        </p:nvSpPr>
        <p:spPr>
          <a:xfrm>
            <a:off x="5682184" y="2307500"/>
            <a:ext cx="1457100" cy="292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solidFill>
                  <a:srgbClr val="B7B7B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1000">
                <a:solidFill>
                  <a:srgbClr val="B7B7B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1000">
              <a:solidFill>
                <a:srgbClr val="B7B7B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29" name="Google Shape;929;p48"/>
          <p:cNvSpPr/>
          <p:nvPr/>
        </p:nvSpPr>
        <p:spPr>
          <a:xfrm>
            <a:off x="5682175" y="2015300"/>
            <a:ext cx="1457100" cy="292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solidFill>
                  <a:srgbClr val="B7B7B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1000">
                <a:solidFill>
                  <a:srgbClr val="B7B7B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1000">
              <a:solidFill>
                <a:srgbClr val="B7B7B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30" name="Google Shape;930;p48"/>
          <p:cNvSpPr/>
          <p:nvPr/>
        </p:nvSpPr>
        <p:spPr>
          <a:xfrm>
            <a:off x="7444077" y="2891900"/>
            <a:ext cx="1457100" cy="292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solidFill>
                  <a:srgbClr val="B7B7B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1000">
                <a:solidFill>
                  <a:srgbClr val="B7B7B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1000">
              <a:solidFill>
                <a:srgbClr val="B7B7B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31" name="Google Shape;931;p48"/>
          <p:cNvSpPr/>
          <p:nvPr/>
        </p:nvSpPr>
        <p:spPr>
          <a:xfrm>
            <a:off x="7444068" y="2599700"/>
            <a:ext cx="1457100" cy="292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solidFill>
                  <a:srgbClr val="B7B7B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1000">
                <a:solidFill>
                  <a:srgbClr val="B7B7B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1000">
              <a:solidFill>
                <a:srgbClr val="B7B7B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32" name="Google Shape;932;p48"/>
          <p:cNvSpPr/>
          <p:nvPr/>
        </p:nvSpPr>
        <p:spPr>
          <a:xfrm>
            <a:off x="7444084" y="2307500"/>
            <a:ext cx="1457100" cy="292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solidFill>
                  <a:srgbClr val="B7B7B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1000">
                <a:solidFill>
                  <a:srgbClr val="B7B7B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1000">
              <a:solidFill>
                <a:srgbClr val="B7B7B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33" name="Google Shape;933;p48"/>
          <p:cNvSpPr/>
          <p:nvPr/>
        </p:nvSpPr>
        <p:spPr>
          <a:xfrm>
            <a:off x="7444075" y="2015300"/>
            <a:ext cx="1457100" cy="292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solidFill>
                  <a:srgbClr val="B7B7B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1000">
                <a:solidFill>
                  <a:srgbClr val="B7B7B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1000">
              <a:solidFill>
                <a:srgbClr val="B7B7B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34" name="Google Shape;934;p48"/>
          <p:cNvSpPr/>
          <p:nvPr/>
        </p:nvSpPr>
        <p:spPr>
          <a:xfrm>
            <a:off x="2158390" y="4599200"/>
            <a:ext cx="1457100" cy="292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35" name="Google Shape;935;p48"/>
          <p:cNvSpPr/>
          <p:nvPr/>
        </p:nvSpPr>
        <p:spPr>
          <a:xfrm>
            <a:off x="2158381" y="4307000"/>
            <a:ext cx="1457100" cy="292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36" name="Google Shape;936;p48"/>
          <p:cNvSpPr/>
          <p:nvPr/>
        </p:nvSpPr>
        <p:spPr>
          <a:xfrm>
            <a:off x="2158397" y="4014800"/>
            <a:ext cx="1457100" cy="292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37" name="Google Shape;937;p48"/>
          <p:cNvSpPr/>
          <p:nvPr/>
        </p:nvSpPr>
        <p:spPr>
          <a:xfrm>
            <a:off x="2158388" y="3722600"/>
            <a:ext cx="1457100" cy="292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1000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38" name="Google Shape;938;p48"/>
          <p:cNvSpPr/>
          <p:nvPr/>
        </p:nvSpPr>
        <p:spPr>
          <a:xfrm>
            <a:off x="3910990" y="4599200"/>
            <a:ext cx="1457100" cy="292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39" name="Google Shape;939;p48"/>
          <p:cNvSpPr/>
          <p:nvPr/>
        </p:nvSpPr>
        <p:spPr>
          <a:xfrm>
            <a:off x="3910981" y="4307000"/>
            <a:ext cx="1457100" cy="292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40" name="Google Shape;940;p48"/>
          <p:cNvSpPr/>
          <p:nvPr/>
        </p:nvSpPr>
        <p:spPr>
          <a:xfrm>
            <a:off x="3910997" y="4014800"/>
            <a:ext cx="1457100" cy="292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41" name="Google Shape;941;p48"/>
          <p:cNvSpPr/>
          <p:nvPr/>
        </p:nvSpPr>
        <p:spPr>
          <a:xfrm>
            <a:off x="3910988" y="3722600"/>
            <a:ext cx="1457100" cy="292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42" name="Google Shape;942;p48"/>
          <p:cNvSpPr/>
          <p:nvPr/>
        </p:nvSpPr>
        <p:spPr>
          <a:xfrm>
            <a:off x="5682215" y="4599200"/>
            <a:ext cx="1457100" cy="292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43" name="Google Shape;943;p48"/>
          <p:cNvSpPr/>
          <p:nvPr/>
        </p:nvSpPr>
        <p:spPr>
          <a:xfrm>
            <a:off x="5682206" y="4307000"/>
            <a:ext cx="1457100" cy="292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44" name="Google Shape;944;p48"/>
          <p:cNvSpPr/>
          <p:nvPr/>
        </p:nvSpPr>
        <p:spPr>
          <a:xfrm>
            <a:off x="5682222" y="4014800"/>
            <a:ext cx="1457100" cy="292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45" name="Google Shape;945;p48"/>
          <p:cNvSpPr/>
          <p:nvPr/>
        </p:nvSpPr>
        <p:spPr>
          <a:xfrm>
            <a:off x="5682213" y="3722600"/>
            <a:ext cx="1457100" cy="292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46" name="Google Shape;946;p48"/>
          <p:cNvSpPr/>
          <p:nvPr/>
        </p:nvSpPr>
        <p:spPr>
          <a:xfrm>
            <a:off x="7434815" y="4599200"/>
            <a:ext cx="1457100" cy="292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47" name="Google Shape;947;p48"/>
          <p:cNvSpPr/>
          <p:nvPr/>
        </p:nvSpPr>
        <p:spPr>
          <a:xfrm>
            <a:off x="7434806" y="4307000"/>
            <a:ext cx="1457100" cy="292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48" name="Google Shape;948;p48"/>
          <p:cNvSpPr/>
          <p:nvPr/>
        </p:nvSpPr>
        <p:spPr>
          <a:xfrm>
            <a:off x="7434822" y="4014800"/>
            <a:ext cx="1457100" cy="292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49" name="Google Shape;949;p48"/>
          <p:cNvSpPr/>
          <p:nvPr/>
        </p:nvSpPr>
        <p:spPr>
          <a:xfrm>
            <a:off x="7434813" y="3722600"/>
            <a:ext cx="1457100" cy="292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50" name="Google Shape;950;p48"/>
          <p:cNvSpPr txBox="1"/>
          <p:nvPr/>
        </p:nvSpPr>
        <p:spPr>
          <a:xfrm>
            <a:off x="111958" y="3330200"/>
            <a:ext cx="1713300" cy="2463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Scatter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4" name="Shape 9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5" name="Google Shape;955;p49"/>
          <p:cNvSpPr txBox="1"/>
          <p:nvPr>
            <p:ph idx="1" type="body"/>
          </p:nvPr>
        </p:nvSpPr>
        <p:spPr>
          <a:xfrm>
            <a:off x="107050" y="402200"/>
            <a:ext cx="8909700" cy="64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Node </a:t>
            </a:r>
            <a:r>
              <a:rPr i="1" lang="en"/>
              <a:t>i</a:t>
            </a:r>
            <a:r>
              <a:rPr lang="en"/>
              <a:t> sends its </a:t>
            </a:r>
            <a:r>
              <a:rPr i="1" lang="en"/>
              <a:t>i</a:t>
            </a:r>
            <a:r>
              <a:rPr lang="en"/>
              <a:t>th element to the target node.</a:t>
            </a:r>
            <a:endParaRPr/>
          </a:p>
        </p:txBody>
      </p:sp>
      <p:sp>
        <p:nvSpPr>
          <p:cNvPr id="956" name="Google Shape;956;p49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Gather</a:t>
            </a:r>
            <a:endParaRPr/>
          </a:p>
        </p:txBody>
      </p:sp>
      <p:sp>
        <p:nvSpPr>
          <p:cNvPr id="957" name="Google Shape;957;p49"/>
          <p:cNvSpPr txBox="1"/>
          <p:nvPr/>
        </p:nvSpPr>
        <p:spPr>
          <a:xfrm>
            <a:off x="2386375" y="1735382"/>
            <a:ext cx="10011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Node 1: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58" name="Google Shape;958;p49"/>
          <p:cNvSpPr txBox="1"/>
          <p:nvPr/>
        </p:nvSpPr>
        <p:spPr>
          <a:xfrm>
            <a:off x="4148300" y="1735382"/>
            <a:ext cx="10011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Node 2: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59" name="Google Shape;959;p49"/>
          <p:cNvSpPr txBox="1"/>
          <p:nvPr/>
        </p:nvSpPr>
        <p:spPr>
          <a:xfrm>
            <a:off x="5910175" y="1735382"/>
            <a:ext cx="10011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Node 3: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60" name="Google Shape;960;p49"/>
          <p:cNvSpPr txBox="1"/>
          <p:nvPr/>
        </p:nvSpPr>
        <p:spPr>
          <a:xfrm>
            <a:off x="7672050" y="1735382"/>
            <a:ext cx="10011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Node 4: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61" name="Google Shape;961;p49"/>
          <p:cNvSpPr txBox="1"/>
          <p:nvPr/>
        </p:nvSpPr>
        <p:spPr>
          <a:xfrm>
            <a:off x="2386375" y="3442682"/>
            <a:ext cx="10011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Node 1: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62" name="Google Shape;962;p49"/>
          <p:cNvSpPr txBox="1"/>
          <p:nvPr/>
        </p:nvSpPr>
        <p:spPr>
          <a:xfrm>
            <a:off x="4148300" y="3442682"/>
            <a:ext cx="10011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Node 2: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63" name="Google Shape;963;p49"/>
          <p:cNvSpPr txBox="1"/>
          <p:nvPr/>
        </p:nvSpPr>
        <p:spPr>
          <a:xfrm>
            <a:off x="5910175" y="3442682"/>
            <a:ext cx="10011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Node 3: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64" name="Google Shape;964;p49"/>
          <p:cNvSpPr txBox="1"/>
          <p:nvPr/>
        </p:nvSpPr>
        <p:spPr>
          <a:xfrm>
            <a:off x="7672050" y="3442682"/>
            <a:ext cx="10011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Node 4: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65" name="Google Shape;965;p49"/>
          <p:cNvSpPr txBox="1"/>
          <p:nvPr/>
        </p:nvSpPr>
        <p:spPr>
          <a:xfrm>
            <a:off x="1387326" y="2476550"/>
            <a:ext cx="6948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Before: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66" name="Google Shape;966;p49"/>
          <p:cNvSpPr txBox="1"/>
          <p:nvPr/>
        </p:nvSpPr>
        <p:spPr>
          <a:xfrm>
            <a:off x="1547925" y="4183850"/>
            <a:ext cx="5343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After: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967" name="Google Shape;967;p49"/>
          <p:cNvCxnSpPr/>
          <p:nvPr/>
        </p:nvCxnSpPr>
        <p:spPr>
          <a:xfrm>
            <a:off x="1387326" y="2599700"/>
            <a:ext cx="160500" cy="1707300"/>
          </a:xfrm>
          <a:prstGeom prst="curvedConnector3">
            <a:avLst>
              <a:gd fmla="val -258770" name="adj1"/>
            </a:avLst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68" name="Google Shape;968;p49"/>
          <p:cNvSpPr/>
          <p:nvPr/>
        </p:nvSpPr>
        <p:spPr>
          <a:xfrm>
            <a:off x="2158378" y="2891900"/>
            <a:ext cx="1457100" cy="292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solidFill>
                  <a:srgbClr val="B7B7B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1000">
                <a:solidFill>
                  <a:srgbClr val="B7B7B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1000">
              <a:solidFill>
                <a:srgbClr val="B7B7B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69" name="Google Shape;969;p49"/>
          <p:cNvSpPr/>
          <p:nvPr/>
        </p:nvSpPr>
        <p:spPr>
          <a:xfrm>
            <a:off x="2158368" y="2599700"/>
            <a:ext cx="1457100" cy="292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solidFill>
                  <a:srgbClr val="B7B7B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1000">
                <a:solidFill>
                  <a:srgbClr val="B7B7B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1000">
              <a:solidFill>
                <a:srgbClr val="B7B7B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70" name="Google Shape;970;p49"/>
          <p:cNvSpPr/>
          <p:nvPr/>
        </p:nvSpPr>
        <p:spPr>
          <a:xfrm>
            <a:off x="2158384" y="2307500"/>
            <a:ext cx="1457100" cy="292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solidFill>
                  <a:srgbClr val="B7B7B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1000">
                <a:solidFill>
                  <a:srgbClr val="B7B7B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1000">
              <a:solidFill>
                <a:srgbClr val="B7B7B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71" name="Google Shape;971;p49"/>
          <p:cNvSpPr/>
          <p:nvPr/>
        </p:nvSpPr>
        <p:spPr>
          <a:xfrm>
            <a:off x="2158375" y="2015300"/>
            <a:ext cx="1457100" cy="2922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1000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72" name="Google Shape;972;p49"/>
          <p:cNvSpPr/>
          <p:nvPr/>
        </p:nvSpPr>
        <p:spPr>
          <a:xfrm>
            <a:off x="3920278" y="2891900"/>
            <a:ext cx="1457100" cy="292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solidFill>
                  <a:srgbClr val="B7B7B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1000">
                <a:solidFill>
                  <a:srgbClr val="B7B7B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1000">
              <a:solidFill>
                <a:srgbClr val="B7B7B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73" name="Google Shape;973;p49"/>
          <p:cNvSpPr/>
          <p:nvPr/>
        </p:nvSpPr>
        <p:spPr>
          <a:xfrm>
            <a:off x="3920268" y="2599700"/>
            <a:ext cx="1457100" cy="292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solidFill>
                  <a:srgbClr val="B7B7B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1000">
                <a:solidFill>
                  <a:srgbClr val="B7B7B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1000">
              <a:solidFill>
                <a:srgbClr val="B7B7B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74" name="Google Shape;974;p49"/>
          <p:cNvSpPr/>
          <p:nvPr/>
        </p:nvSpPr>
        <p:spPr>
          <a:xfrm>
            <a:off x="3920284" y="2307500"/>
            <a:ext cx="1457100" cy="2922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10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75" name="Google Shape;975;p49"/>
          <p:cNvSpPr/>
          <p:nvPr/>
        </p:nvSpPr>
        <p:spPr>
          <a:xfrm>
            <a:off x="3920275" y="2015300"/>
            <a:ext cx="1457100" cy="292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solidFill>
                  <a:srgbClr val="B7B7B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1000">
                <a:solidFill>
                  <a:srgbClr val="B7B7B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1000">
              <a:solidFill>
                <a:srgbClr val="B7B7B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76" name="Google Shape;976;p49"/>
          <p:cNvSpPr/>
          <p:nvPr/>
        </p:nvSpPr>
        <p:spPr>
          <a:xfrm>
            <a:off x="5682178" y="2891900"/>
            <a:ext cx="1457100" cy="292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solidFill>
                  <a:srgbClr val="B7B7B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1000">
                <a:solidFill>
                  <a:srgbClr val="B7B7B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1000">
              <a:solidFill>
                <a:srgbClr val="B7B7B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77" name="Google Shape;977;p49"/>
          <p:cNvSpPr/>
          <p:nvPr/>
        </p:nvSpPr>
        <p:spPr>
          <a:xfrm>
            <a:off x="5682168" y="2599700"/>
            <a:ext cx="1457100" cy="2922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1000"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78" name="Google Shape;978;p49"/>
          <p:cNvSpPr/>
          <p:nvPr/>
        </p:nvSpPr>
        <p:spPr>
          <a:xfrm>
            <a:off x="5682184" y="2307500"/>
            <a:ext cx="1457100" cy="292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solidFill>
                  <a:srgbClr val="B7B7B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1000">
                <a:solidFill>
                  <a:srgbClr val="B7B7B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1000">
              <a:solidFill>
                <a:srgbClr val="B7B7B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79" name="Google Shape;979;p49"/>
          <p:cNvSpPr/>
          <p:nvPr/>
        </p:nvSpPr>
        <p:spPr>
          <a:xfrm>
            <a:off x="5682175" y="2015300"/>
            <a:ext cx="1457100" cy="292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solidFill>
                  <a:srgbClr val="B7B7B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1000">
                <a:solidFill>
                  <a:srgbClr val="B7B7B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1000">
              <a:solidFill>
                <a:srgbClr val="B7B7B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80" name="Google Shape;980;p49"/>
          <p:cNvSpPr/>
          <p:nvPr/>
        </p:nvSpPr>
        <p:spPr>
          <a:xfrm>
            <a:off x="7444077" y="2891900"/>
            <a:ext cx="1457100" cy="2922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1000"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81" name="Google Shape;981;p49"/>
          <p:cNvSpPr/>
          <p:nvPr/>
        </p:nvSpPr>
        <p:spPr>
          <a:xfrm>
            <a:off x="7444068" y="2599700"/>
            <a:ext cx="1457100" cy="292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solidFill>
                  <a:srgbClr val="B7B7B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1000">
                <a:solidFill>
                  <a:srgbClr val="B7B7B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1000">
              <a:solidFill>
                <a:srgbClr val="B7B7B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82" name="Google Shape;982;p49"/>
          <p:cNvSpPr/>
          <p:nvPr/>
        </p:nvSpPr>
        <p:spPr>
          <a:xfrm>
            <a:off x="7444084" y="2307500"/>
            <a:ext cx="1457100" cy="292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solidFill>
                  <a:srgbClr val="B7B7B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1000">
                <a:solidFill>
                  <a:srgbClr val="B7B7B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1000">
              <a:solidFill>
                <a:srgbClr val="B7B7B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83" name="Google Shape;983;p49"/>
          <p:cNvSpPr/>
          <p:nvPr/>
        </p:nvSpPr>
        <p:spPr>
          <a:xfrm>
            <a:off x="7444075" y="2015300"/>
            <a:ext cx="1457100" cy="292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solidFill>
                  <a:srgbClr val="B7B7B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1000">
                <a:solidFill>
                  <a:srgbClr val="B7B7B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1000">
              <a:solidFill>
                <a:srgbClr val="B7B7B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84" name="Google Shape;984;p49"/>
          <p:cNvSpPr/>
          <p:nvPr/>
        </p:nvSpPr>
        <p:spPr>
          <a:xfrm>
            <a:off x="2158390" y="4599200"/>
            <a:ext cx="1457100" cy="2922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1000"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85" name="Google Shape;985;p49"/>
          <p:cNvSpPr/>
          <p:nvPr/>
        </p:nvSpPr>
        <p:spPr>
          <a:xfrm>
            <a:off x="2158381" y="4307000"/>
            <a:ext cx="1457100" cy="2922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1000"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86" name="Google Shape;986;p49"/>
          <p:cNvSpPr/>
          <p:nvPr/>
        </p:nvSpPr>
        <p:spPr>
          <a:xfrm>
            <a:off x="2158397" y="4014800"/>
            <a:ext cx="1457100" cy="2922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10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87" name="Google Shape;987;p49"/>
          <p:cNvSpPr/>
          <p:nvPr/>
        </p:nvSpPr>
        <p:spPr>
          <a:xfrm>
            <a:off x="2158388" y="3722600"/>
            <a:ext cx="1457100" cy="292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1000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88" name="Google Shape;988;p49"/>
          <p:cNvSpPr/>
          <p:nvPr/>
        </p:nvSpPr>
        <p:spPr>
          <a:xfrm>
            <a:off x="3910990" y="4599200"/>
            <a:ext cx="1457100" cy="292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89" name="Google Shape;989;p49"/>
          <p:cNvSpPr/>
          <p:nvPr/>
        </p:nvSpPr>
        <p:spPr>
          <a:xfrm>
            <a:off x="3910981" y="4307000"/>
            <a:ext cx="1457100" cy="292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90" name="Google Shape;990;p49"/>
          <p:cNvSpPr/>
          <p:nvPr/>
        </p:nvSpPr>
        <p:spPr>
          <a:xfrm>
            <a:off x="3910997" y="4014800"/>
            <a:ext cx="1457100" cy="292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91" name="Google Shape;991;p49"/>
          <p:cNvSpPr/>
          <p:nvPr/>
        </p:nvSpPr>
        <p:spPr>
          <a:xfrm>
            <a:off x="3910988" y="3722600"/>
            <a:ext cx="1457100" cy="292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92" name="Google Shape;992;p49"/>
          <p:cNvSpPr/>
          <p:nvPr/>
        </p:nvSpPr>
        <p:spPr>
          <a:xfrm>
            <a:off x="5682215" y="4599200"/>
            <a:ext cx="1457100" cy="292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93" name="Google Shape;993;p49"/>
          <p:cNvSpPr/>
          <p:nvPr/>
        </p:nvSpPr>
        <p:spPr>
          <a:xfrm>
            <a:off x="5682206" y="4307000"/>
            <a:ext cx="1457100" cy="292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94" name="Google Shape;994;p49"/>
          <p:cNvSpPr/>
          <p:nvPr/>
        </p:nvSpPr>
        <p:spPr>
          <a:xfrm>
            <a:off x="5682222" y="4014800"/>
            <a:ext cx="1457100" cy="292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95" name="Google Shape;995;p49"/>
          <p:cNvSpPr/>
          <p:nvPr/>
        </p:nvSpPr>
        <p:spPr>
          <a:xfrm>
            <a:off x="5682213" y="3722600"/>
            <a:ext cx="1457100" cy="292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96" name="Google Shape;996;p49"/>
          <p:cNvSpPr/>
          <p:nvPr/>
        </p:nvSpPr>
        <p:spPr>
          <a:xfrm>
            <a:off x="7434815" y="4599200"/>
            <a:ext cx="1457100" cy="292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97" name="Google Shape;997;p49"/>
          <p:cNvSpPr/>
          <p:nvPr/>
        </p:nvSpPr>
        <p:spPr>
          <a:xfrm>
            <a:off x="7434806" y="4307000"/>
            <a:ext cx="1457100" cy="292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98" name="Google Shape;998;p49"/>
          <p:cNvSpPr/>
          <p:nvPr/>
        </p:nvSpPr>
        <p:spPr>
          <a:xfrm>
            <a:off x="7434822" y="4014800"/>
            <a:ext cx="1457100" cy="292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99" name="Google Shape;999;p49"/>
          <p:cNvSpPr/>
          <p:nvPr/>
        </p:nvSpPr>
        <p:spPr>
          <a:xfrm>
            <a:off x="7434813" y="3722600"/>
            <a:ext cx="1457100" cy="292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00" name="Google Shape;1000;p49"/>
          <p:cNvSpPr txBox="1"/>
          <p:nvPr/>
        </p:nvSpPr>
        <p:spPr>
          <a:xfrm>
            <a:off x="111958" y="3330200"/>
            <a:ext cx="1713300" cy="2463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Gather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4" name="Shape 10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5" name="Google Shape;1005;p50"/>
          <p:cNvSpPr txBox="1"/>
          <p:nvPr>
            <p:ph idx="1" type="body"/>
          </p:nvPr>
        </p:nvSpPr>
        <p:spPr>
          <a:xfrm>
            <a:off x="107050" y="402200"/>
            <a:ext cx="8909700" cy="64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Node </a:t>
            </a:r>
            <a:r>
              <a:rPr i="1" lang="en"/>
              <a:t>i</a:t>
            </a:r>
            <a:r>
              <a:rPr lang="en"/>
              <a:t> sends its </a:t>
            </a:r>
            <a:r>
              <a:rPr i="1" lang="en"/>
              <a:t>i</a:t>
            </a:r>
            <a:r>
              <a:rPr lang="en"/>
              <a:t>th element to everybody.</a:t>
            </a:r>
            <a:endParaRPr/>
          </a:p>
        </p:txBody>
      </p:sp>
      <p:sp>
        <p:nvSpPr>
          <p:cNvPr id="1006" name="Google Shape;1006;p50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AllGather</a:t>
            </a:r>
            <a:endParaRPr/>
          </a:p>
        </p:txBody>
      </p:sp>
      <p:sp>
        <p:nvSpPr>
          <p:cNvPr id="1007" name="Google Shape;1007;p50"/>
          <p:cNvSpPr txBox="1"/>
          <p:nvPr/>
        </p:nvSpPr>
        <p:spPr>
          <a:xfrm>
            <a:off x="2386375" y="1735382"/>
            <a:ext cx="10011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Node 1: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08" name="Google Shape;1008;p50"/>
          <p:cNvSpPr txBox="1"/>
          <p:nvPr/>
        </p:nvSpPr>
        <p:spPr>
          <a:xfrm>
            <a:off x="4148300" y="1735382"/>
            <a:ext cx="10011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Node 2: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09" name="Google Shape;1009;p50"/>
          <p:cNvSpPr txBox="1"/>
          <p:nvPr/>
        </p:nvSpPr>
        <p:spPr>
          <a:xfrm>
            <a:off x="5910175" y="1735382"/>
            <a:ext cx="10011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Node 3: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10" name="Google Shape;1010;p50"/>
          <p:cNvSpPr txBox="1"/>
          <p:nvPr/>
        </p:nvSpPr>
        <p:spPr>
          <a:xfrm>
            <a:off x="7672050" y="1735382"/>
            <a:ext cx="10011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Node 4: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11" name="Google Shape;1011;p50"/>
          <p:cNvSpPr txBox="1"/>
          <p:nvPr/>
        </p:nvSpPr>
        <p:spPr>
          <a:xfrm>
            <a:off x="2386375" y="3442682"/>
            <a:ext cx="10011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Node 1: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12" name="Google Shape;1012;p50"/>
          <p:cNvSpPr txBox="1"/>
          <p:nvPr/>
        </p:nvSpPr>
        <p:spPr>
          <a:xfrm>
            <a:off x="4148300" y="3442682"/>
            <a:ext cx="10011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Node 2: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13" name="Google Shape;1013;p50"/>
          <p:cNvSpPr txBox="1"/>
          <p:nvPr/>
        </p:nvSpPr>
        <p:spPr>
          <a:xfrm>
            <a:off x="5910175" y="3442682"/>
            <a:ext cx="10011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Node 3: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14" name="Google Shape;1014;p50"/>
          <p:cNvSpPr txBox="1"/>
          <p:nvPr/>
        </p:nvSpPr>
        <p:spPr>
          <a:xfrm>
            <a:off x="7672050" y="3442682"/>
            <a:ext cx="10011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Node 4: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15" name="Google Shape;1015;p50"/>
          <p:cNvSpPr txBox="1"/>
          <p:nvPr/>
        </p:nvSpPr>
        <p:spPr>
          <a:xfrm>
            <a:off x="1387326" y="2476550"/>
            <a:ext cx="6948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Before: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16" name="Google Shape;1016;p50"/>
          <p:cNvSpPr txBox="1"/>
          <p:nvPr/>
        </p:nvSpPr>
        <p:spPr>
          <a:xfrm>
            <a:off x="1547925" y="4183850"/>
            <a:ext cx="5343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After: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017" name="Google Shape;1017;p50"/>
          <p:cNvCxnSpPr/>
          <p:nvPr/>
        </p:nvCxnSpPr>
        <p:spPr>
          <a:xfrm>
            <a:off x="1387326" y="2599700"/>
            <a:ext cx="160500" cy="1707300"/>
          </a:xfrm>
          <a:prstGeom prst="curvedConnector3">
            <a:avLst>
              <a:gd fmla="val -258770" name="adj1"/>
            </a:avLst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18" name="Google Shape;1018;p50"/>
          <p:cNvSpPr/>
          <p:nvPr/>
        </p:nvSpPr>
        <p:spPr>
          <a:xfrm>
            <a:off x="2158378" y="2891900"/>
            <a:ext cx="1457100" cy="292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solidFill>
                  <a:srgbClr val="B7B7B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1000">
                <a:solidFill>
                  <a:srgbClr val="B7B7B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1000">
              <a:solidFill>
                <a:srgbClr val="B7B7B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19" name="Google Shape;1019;p50"/>
          <p:cNvSpPr/>
          <p:nvPr/>
        </p:nvSpPr>
        <p:spPr>
          <a:xfrm>
            <a:off x="2158368" y="2599700"/>
            <a:ext cx="1457100" cy="292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solidFill>
                  <a:srgbClr val="B7B7B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1000">
                <a:solidFill>
                  <a:srgbClr val="B7B7B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1000">
              <a:solidFill>
                <a:srgbClr val="B7B7B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20" name="Google Shape;1020;p50"/>
          <p:cNvSpPr/>
          <p:nvPr/>
        </p:nvSpPr>
        <p:spPr>
          <a:xfrm>
            <a:off x="2158384" y="2307500"/>
            <a:ext cx="1457100" cy="292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solidFill>
                  <a:srgbClr val="B7B7B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1000">
                <a:solidFill>
                  <a:srgbClr val="B7B7B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1000">
              <a:solidFill>
                <a:srgbClr val="B7B7B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21" name="Google Shape;1021;p50"/>
          <p:cNvSpPr/>
          <p:nvPr/>
        </p:nvSpPr>
        <p:spPr>
          <a:xfrm>
            <a:off x="2158375" y="2015300"/>
            <a:ext cx="1457100" cy="2922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1000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22" name="Google Shape;1022;p50"/>
          <p:cNvSpPr/>
          <p:nvPr/>
        </p:nvSpPr>
        <p:spPr>
          <a:xfrm>
            <a:off x="3920278" y="2891900"/>
            <a:ext cx="1457100" cy="292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solidFill>
                  <a:srgbClr val="B7B7B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1000">
                <a:solidFill>
                  <a:srgbClr val="B7B7B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1000">
              <a:solidFill>
                <a:srgbClr val="B7B7B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23" name="Google Shape;1023;p50"/>
          <p:cNvSpPr/>
          <p:nvPr/>
        </p:nvSpPr>
        <p:spPr>
          <a:xfrm>
            <a:off x="3920268" y="2599700"/>
            <a:ext cx="1457100" cy="292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solidFill>
                  <a:srgbClr val="B7B7B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1000">
                <a:solidFill>
                  <a:srgbClr val="B7B7B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1000">
              <a:solidFill>
                <a:srgbClr val="B7B7B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24" name="Google Shape;1024;p50"/>
          <p:cNvSpPr/>
          <p:nvPr/>
        </p:nvSpPr>
        <p:spPr>
          <a:xfrm>
            <a:off x="3920284" y="2307500"/>
            <a:ext cx="1457100" cy="2922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10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25" name="Google Shape;1025;p50"/>
          <p:cNvSpPr/>
          <p:nvPr/>
        </p:nvSpPr>
        <p:spPr>
          <a:xfrm>
            <a:off x="3920275" y="2015300"/>
            <a:ext cx="1457100" cy="292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solidFill>
                  <a:srgbClr val="B7B7B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1000">
                <a:solidFill>
                  <a:srgbClr val="B7B7B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1000">
              <a:solidFill>
                <a:srgbClr val="B7B7B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26" name="Google Shape;1026;p50"/>
          <p:cNvSpPr/>
          <p:nvPr/>
        </p:nvSpPr>
        <p:spPr>
          <a:xfrm>
            <a:off x="5682178" y="2891900"/>
            <a:ext cx="1457100" cy="292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solidFill>
                  <a:srgbClr val="B7B7B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1000">
                <a:solidFill>
                  <a:srgbClr val="B7B7B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1000">
              <a:solidFill>
                <a:srgbClr val="B7B7B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27" name="Google Shape;1027;p50"/>
          <p:cNvSpPr/>
          <p:nvPr/>
        </p:nvSpPr>
        <p:spPr>
          <a:xfrm>
            <a:off x="5682168" y="2599700"/>
            <a:ext cx="1457100" cy="2922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1000"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28" name="Google Shape;1028;p50"/>
          <p:cNvSpPr/>
          <p:nvPr/>
        </p:nvSpPr>
        <p:spPr>
          <a:xfrm>
            <a:off x="5682184" y="2307500"/>
            <a:ext cx="1457100" cy="292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solidFill>
                  <a:srgbClr val="B7B7B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1000">
                <a:solidFill>
                  <a:srgbClr val="B7B7B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1000">
              <a:solidFill>
                <a:srgbClr val="B7B7B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29" name="Google Shape;1029;p50"/>
          <p:cNvSpPr/>
          <p:nvPr/>
        </p:nvSpPr>
        <p:spPr>
          <a:xfrm>
            <a:off x="5682175" y="2015300"/>
            <a:ext cx="1457100" cy="292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solidFill>
                  <a:srgbClr val="B7B7B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1000">
                <a:solidFill>
                  <a:srgbClr val="B7B7B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1000">
              <a:solidFill>
                <a:srgbClr val="B7B7B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30" name="Google Shape;1030;p50"/>
          <p:cNvSpPr/>
          <p:nvPr/>
        </p:nvSpPr>
        <p:spPr>
          <a:xfrm>
            <a:off x="7444077" y="2891900"/>
            <a:ext cx="1457100" cy="2922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1000"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31" name="Google Shape;1031;p50"/>
          <p:cNvSpPr/>
          <p:nvPr/>
        </p:nvSpPr>
        <p:spPr>
          <a:xfrm>
            <a:off x="7444068" y="2599700"/>
            <a:ext cx="1457100" cy="292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solidFill>
                  <a:srgbClr val="B7B7B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1000">
                <a:solidFill>
                  <a:srgbClr val="B7B7B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1000">
              <a:solidFill>
                <a:srgbClr val="B7B7B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32" name="Google Shape;1032;p50"/>
          <p:cNvSpPr/>
          <p:nvPr/>
        </p:nvSpPr>
        <p:spPr>
          <a:xfrm>
            <a:off x="7444084" y="2307500"/>
            <a:ext cx="1457100" cy="292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solidFill>
                  <a:srgbClr val="B7B7B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1000">
                <a:solidFill>
                  <a:srgbClr val="B7B7B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1000">
              <a:solidFill>
                <a:srgbClr val="B7B7B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33" name="Google Shape;1033;p50"/>
          <p:cNvSpPr/>
          <p:nvPr/>
        </p:nvSpPr>
        <p:spPr>
          <a:xfrm>
            <a:off x="7444075" y="2015300"/>
            <a:ext cx="1457100" cy="292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solidFill>
                  <a:srgbClr val="B7B7B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1000">
                <a:solidFill>
                  <a:srgbClr val="B7B7B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1000">
              <a:solidFill>
                <a:srgbClr val="B7B7B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34" name="Google Shape;1034;p50"/>
          <p:cNvSpPr/>
          <p:nvPr/>
        </p:nvSpPr>
        <p:spPr>
          <a:xfrm>
            <a:off x="2158390" y="4599200"/>
            <a:ext cx="1457100" cy="2922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1000"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35" name="Google Shape;1035;p50"/>
          <p:cNvSpPr/>
          <p:nvPr/>
        </p:nvSpPr>
        <p:spPr>
          <a:xfrm>
            <a:off x="2158381" y="4307000"/>
            <a:ext cx="1457100" cy="2922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1000"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36" name="Google Shape;1036;p50"/>
          <p:cNvSpPr/>
          <p:nvPr/>
        </p:nvSpPr>
        <p:spPr>
          <a:xfrm>
            <a:off x="2158397" y="4014800"/>
            <a:ext cx="1457100" cy="2922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10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37" name="Google Shape;1037;p50"/>
          <p:cNvSpPr/>
          <p:nvPr/>
        </p:nvSpPr>
        <p:spPr>
          <a:xfrm>
            <a:off x="2158388" y="3722600"/>
            <a:ext cx="1457100" cy="292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1000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38" name="Google Shape;1038;p50"/>
          <p:cNvSpPr/>
          <p:nvPr/>
        </p:nvSpPr>
        <p:spPr>
          <a:xfrm>
            <a:off x="3910990" y="4599200"/>
            <a:ext cx="1457100" cy="2922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1000"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39" name="Google Shape;1039;p50"/>
          <p:cNvSpPr/>
          <p:nvPr/>
        </p:nvSpPr>
        <p:spPr>
          <a:xfrm>
            <a:off x="3910981" y="4307000"/>
            <a:ext cx="1457100" cy="2922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1000"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40" name="Google Shape;1040;p50"/>
          <p:cNvSpPr/>
          <p:nvPr/>
        </p:nvSpPr>
        <p:spPr>
          <a:xfrm>
            <a:off x="3910997" y="4014800"/>
            <a:ext cx="1457100" cy="2922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10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41" name="Google Shape;1041;p50"/>
          <p:cNvSpPr/>
          <p:nvPr/>
        </p:nvSpPr>
        <p:spPr>
          <a:xfrm>
            <a:off x="3910988" y="3722600"/>
            <a:ext cx="1457100" cy="292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1000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42" name="Google Shape;1042;p50"/>
          <p:cNvSpPr/>
          <p:nvPr/>
        </p:nvSpPr>
        <p:spPr>
          <a:xfrm>
            <a:off x="5682215" y="4599200"/>
            <a:ext cx="1457100" cy="2922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1000"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43" name="Google Shape;1043;p50"/>
          <p:cNvSpPr/>
          <p:nvPr/>
        </p:nvSpPr>
        <p:spPr>
          <a:xfrm>
            <a:off x="5682206" y="4307000"/>
            <a:ext cx="1457100" cy="2922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1000"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44" name="Google Shape;1044;p50"/>
          <p:cNvSpPr/>
          <p:nvPr/>
        </p:nvSpPr>
        <p:spPr>
          <a:xfrm>
            <a:off x="5682222" y="4014800"/>
            <a:ext cx="1457100" cy="2922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10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45" name="Google Shape;1045;p50"/>
          <p:cNvSpPr/>
          <p:nvPr/>
        </p:nvSpPr>
        <p:spPr>
          <a:xfrm>
            <a:off x="5682213" y="3722600"/>
            <a:ext cx="1457100" cy="292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1000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46" name="Google Shape;1046;p50"/>
          <p:cNvSpPr/>
          <p:nvPr/>
        </p:nvSpPr>
        <p:spPr>
          <a:xfrm>
            <a:off x="7434815" y="4599200"/>
            <a:ext cx="1457100" cy="2922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1000"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47" name="Google Shape;1047;p50"/>
          <p:cNvSpPr/>
          <p:nvPr/>
        </p:nvSpPr>
        <p:spPr>
          <a:xfrm>
            <a:off x="7434806" y="4307000"/>
            <a:ext cx="1457100" cy="2922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1000"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48" name="Google Shape;1048;p50"/>
          <p:cNvSpPr/>
          <p:nvPr/>
        </p:nvSpPr>
        <p:spPr>
          <a:xfrm>
            <a:off x="7434822" y="4014800"/>
            <a:ext cx="1457100" cy="2922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10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49" name="Google Shape;1049;p50"/>
          <p:cNvSpPr/>
          <p:nvPr/>
        </p:nvSpPr>
        <p:spPr>
          <a:xfrm>
            <a:off x="7434813" y="3722600"/>
            <a:ext cx="1457100" cy="292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1000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50" name="Google Shape;1050;p50"/>
          <p:cNvSpPr txBox="1"/>
          <p:nvPr/>
        </p:nvSpPr>
        <p:spPr>
          <a:xfrm>
            <a:off x="111958" y="3330200"/>
            <a:ext cx="1713300" cy="2463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All</a:t>
            </a: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Gather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4" name="Shape 10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5" name="Google Shape;1055;p51"/>
          <p:cNvSpPr txBox="1"/>
          <p:nvPr>
            <p:ph idx="1" type="body"/>
          </p:nvPr>
        </p:nvSpPr>
        <p:spPr>
          <a:xfrm>
            <a:off x="4812375" y="402200"/>
            <a:ext cx="4038000" cy="426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</a:rPr>
              <a:t>Distributed AI Training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Motivation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Infrastructure</a:t>
            </a:r>
            <a:endParaRPr>
              <a:solidFill>
                <a:srgbClr val="B7B7B7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Defining Collectives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Definition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Redistribution Operations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Roboto"/>
              <a:buChar char="•"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Consolidation Operations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Duals and Compositions</a:t>
            </a:r>
            <a:endParaRPr>
              <a:solidFill>
                <a:srgbClr val="B7B7B7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</a:rPr>
              <a:t>Implementing Collectives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Mesh Topology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Single Root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Tree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Ring (Naive)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Ring (Optimized)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Overlay/Underlay Topologies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56" name="Google Shape;1056;p51"/>
          <p:cNvSpPr txBox="1"/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Consolidation</a:t>
            </a:r>
            <a:r>
              <a:rPr lang="en"/>
              <a:t> Operations</a:t>
            </a:r>
            <a:endParaRPr/>
          </a:p>
        </p:txBody>
      </p:sp>
      <p:sp>
        <p:nvSpPr>
          <p:cNvPr id="1057" name="Google Shape;1057;p51"/>
          <p:cNvSpPr txBox="1"/>
          <p:nvPr>
            <p:ph idx="2" type="subTitle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Lecture 23</a:t>
            </a:r>
            <a:r>
              <a:rPr lang="en"/>
              <a:t>, CS 168, </a:t>
            </a:r>
            <a:r>
              <a:rPr lang="en"/>
              <a:t>Spring 2026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1" name="Shape 10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2" name="Google Shape;1062;p52"/>
          <p:cNvSpPr txBox="1"/>
          <p:nvPr>
            <p:ph idx="1" type="body"/>
          </p:nvPr>
        </p:nvSpPr>
        <p:spPr>
          <a:xfrm>
            <a:off x="107050" y="402200"/>
            <a:ext cx="8909700" cy="64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Sum up the vectors, then send the resulting sum vector to a target node.</a:t>
            </a:r>
            <a:endParaRPr/>
          </a:p>
        </p:txBody>
      </p:sp>
      <p:sp>
        <p:nvSpPr>
          <p:cNvPr id="1063" name="Google Shape;1063;p52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Reduce</a:t>
            </a:r>
            <a:endParaRPr/>
          </a:p>
        </p:txBody>
      </p:sp>
      <p:sp>
        <p:nvSpPr>
          <p:cNvPr id="1064" name="Google Shape;1064;p52"/>
          <p:cNvSpPr/>
          <p:nvPr/>
        </p:nvSpPr>
        <p:spPr>
          <a:xfrm>
            <a:off x="3920290" y="4599200"/>
            <a:ext cx="1457100" cy="292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65" name="Google Shape;1065;p52"/>
          <p:cNvSpPr/>
          <p:nvPr/>
        </p:nvSpPr>
        <p:spPr>
          <a:xfrm>
            <a:off x="3920281" y="4307000"/>
            <a:ext cx="1457100" cy="292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66" name="Google Shape;1066;p52"/>
          <p:cNvSpPr/>
          <p:nvPr/>
        </p:nvSpPr>
        <p:spPr>
          <a:xfrm>
            <a:off x="3920297" y="4014800"/>
            <a:ext cx="1457100" cy="292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67" name="Google Shape;1067;p52"/>
          <p:cNvSpPr/>
          <p:nvPr/>
        </p:nvSpPr>
        <p:spPr>
          <a:xfrm>
            <a:off x="3920288" y="3722600"/>
            <a:ext cx="1457100" cy="292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68" name="Google Shape;1068;p52"/>
          <p:cNvSpPr/>
          <p:nvPr/>
        </p:nvSpPr>
        <p:spPr>
          <a:xfrm>
            <a:off x="5682190" y="4599200"/>
            <a:ext cx="1457100" cy="292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69" name="Google Shape;1069;p52"/>
          <p:cNvSpPr/>
          <p:nvPr/>
        </p:nvSpPr>
        <p:spPr>
          <a:xfrm>
            <a:off x="5682181" y="4307000"/>
            <a:ext cx="1457100" cy="292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70" name="Google Shape;1070;p52"/>
          <p:cNvSpPr/>
          <p:nvPr/>
        </p:nvSpPr>
        <p:spPr>
          <a:xfrm>
            <a:off x="5682197" y="4014800"/>
            <a:ext cx="1457100" cy="292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71" name="Google Shape;1071;p52"/>
          <p:cNvSpPr/>
          <p:nvPr/>
        </p:nvSpPr>
        <p:spPr>
          <a:xfrm>
            <a:off x="5682188" y="3722600"/>
            <a:ext cx="1457100" cy="292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72" name="Google Shape;1072;p52"/>
          <p:cNvSpPr/>
          <p:nvPr/>
        </p:nvSpPr>
        <p:spPr>
          <a:xfrm>
            <a:off x="7444090" y="4599200"/>
            <a:ext cx="1457100" cy="292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73" name="Google Shape;1073;p52"/>
          <p:cNvSpPr/>
          <p:nvPr/>
        </p:nvSpPr>
        <p:spPr>
          <a:xfrm>
            <a:off x="7444081" y="4307000"/>
            <a:ext cx="1457100" cy="292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74" name="Google Shape;1074;p52"/>
          <p:cNvSpPr/>
          <p:nvPr/>
        </p:nvSpPr>
        <p:spPr>
          <a:xfrm>
            <a:off x="7444097" y="4014800"/>
            <a:ext cx="1457100" cy="292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75" name="Google Shape;1075;p52"/>
          <p:cNvSpPr/>
          <p:nvPr/>
        </p:nvSpPr>
        <p:spPr>
          <a:xfrm>
            <a:off x="7444088" y="3722600"/>
            <a:ext cx="1457100" cy="292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76" name="Google Shape;1076;p52"/>
          <p:cNvSpPr/>
          <p:nvPr/>
        </p:nvSpPr>
        <p:spPr>
          <a:xfrm>
            <a:off x="2158378" y="2891900"/>
            <a:ext cx="1457100" cy="2922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1000"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77" name="Google Shape;1077;p52"/>
          <p:cNvSpPr/>
          <p:nvPr/>
        </p:nvSpPr>
        <p:spPr>
          <a:xfrm>
            <a:off x="2158368" y="2599700"/>
            <a:ext cx="1457100" cy="2922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1000"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78" name="Google Shape;1078;p52"/>
          <p:cNvSpPr/>
          <p:nvPr/>
        </p:nvSpPr>
        <p:spPr>
          <a:xfrm>
            <a:off x="2158384" y="2307500"/>
            <a:ext cx="1457100" cy="2922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10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79" name="Google Shape;1079;p52"/>
          <p:cNvSpPr/>
          <p:nvPr/>
        </p:nvSpPr>
        <p:spPr>
          <a:xfrm>
            <a:off x="2158375" y="2015300"/>
            <a:ext cx="1457100" cy="2922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1000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80" name="Google Shape;1080;p52"/>
          <p:cNvSpPr/>
          <p:nvPr/>
        </p:nvSpPr>
        <p:spPr>
          <a:xfrm>
            <a:off x="3920278" y="2891900"/>
            <a:ext cx="1457100" cy="2922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1000"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81" name="Google Shape;1081;p52"/>
          <p:cNvSpPr/>
          <p:nvPr/>
        </p:nvSpPr>
        <p:spPr>
          <a:xfrm>
            <a:off x="3920268" y="2599700"/>
            <a:ext cx="1457100" cy="2922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1000"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82" name="Google Shape;1082;p52"/>
          <p:cNvSpPr/>
          <p:nvPr/>
        </p:nvSpPr>
        <p:spPr>
          <a:xfrm>
            <a:off x="3920284" y="2307500"/>
            <a:ext cx="1457100" cy="2922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10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83" name="Google Shape;1083;p52"/>
          <p:cNvSpPr/>
          <p:nvPr/>
        </p:nvSpPr>
        <p:spPr>
          <a:xfrm>
            <a:off x="3920275" y="2015300"/>
            <a:ext cx="1457100" cy="2922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1000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84" name="Google Shape;1084;p52"/>
          <p:cNvSpPr/>
          <p:nvPr/>
        </p:nvSpPr>
        <p:spPr>
          <a:xfrm>
            <a:off x="5682178" y="2891900"/>
            <a:ext cx="1457100" cy="2922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1000"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85" name="Google Shape;1085;p52"/>
          <p:cNvSpPr/>
          <p:nvPr/>
        </p:nvSpPr>
        <p:spPr>
          <a:xfrm>
            <a:off x="5682168" y="2599700"/>
            <a:ext cx="1457100" cy="2922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1000"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86" name="Google Shape;1086;p52"/>
          <p:cNvSpPr/>
          <p:nvPr/>
        </p:nvSpPr>
        <p:spPr>
          <a:xfrm>
            <a:off x="5682184" y="2307500"/>
            <a:ext cx="1457100" cy="2922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10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87" name="Google Shape;1087;p52"/>
          <p:cNvSpPr/>
          <p:nvPr/>
        </p:nvSpPr>
        <p:spPr>
          <a:xfrm>
            <a:off x="5682175" y="2015300"/>
            <a:ext cx="1457100" cy="2922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1000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88" name="Google Shape;1088;p52"/>
          <p:cNvSpPr/>
          <p:nvPr/>
        </p:nvSpPr>
        <p:spPr>
          <a:xfrm>
            <a:off x="7444077" y="2891900"/>
            <a:ext cx="1457100" cy="2922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1000"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89" name="Google Shape;1089;p52"/>
          <p:cNvSpPr/>
          <p:nvPr/>
        </p:nvSpPr>
        <p:spPr>
          <a:xfrm>
            <a:off x="7444068" y="2599700"/>
            <a:ext cx="1457100" cy="2922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1000"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90" name="Google Shape;1090;p52"/>
          <p:cNvSpPr/>
          <p:nvPr/>
        </p:nvSpPr>
        <p:spPr>
          <a:xfrm>
            <a:off x="7444084" y="2307500"/>
            <a:ext cx="1457100" cy="2922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10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91" name="Google Shape;1091;p52"/>
          <p:cNvSpPr/>
          <p:nvPr/>
        </p:nvSpPr>
        <p:spPr>
          <a:xfrm>
            <a:off x="7444075" y="2015300"/>
            <a:ext cx="1457100" cy="2922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1000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92" name="Google Shape;1092;p52"/>
          <p:cNvSpPr/>
          <p:nvPr/>
        </p:nvSpPr>
        <p:spPr>
          <a:xfrm>
            <a:off x="2158390" y="4599200"/>
            <a:ext cx="1457100" cy="2922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1000"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8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1000"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r>
              <a:rPr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8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1000"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r>
              <a:rPr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800"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1000"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93" name="Google Shape;1093;p52"/>
          <p:cNvSpPr/>
          <p:nvPr/>
        </p:nvSpPr>
        <p:spPr>
          <a:xfrm>
            <a:off x="2158381" y="4307000"/>
            <a:ext cx="1457100" cy="2922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1000"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8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1000"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8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1000"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800"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1000"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94" name="Google Shape;1094;p52"/>
          <p:cNvSpPr/>
          <p:nvPr/>
        </p:nvSpPr>
        <p:spPr>
          <a:xfrm>
            <a:off x="2158397" y="4014800"/>
            <a:ext cx="1457100" cy="2922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1000"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8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10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8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10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800"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10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95" name="Google Shape;1095;p52"/>
          <p:cNvSpPr/>
          <p:nvPr/>
        </p:nvSpPr>
        <p:spPr>
          <a:xfrm>
            <a:off x="2158388" y="3722600"/>
            <a:ext cx="1457100" cy="2922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1000"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8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1000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8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1000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800"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1000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96" name="Google Shape;1096;p52"/>
          <p:cNvSpPr txBox="1"/>
          <p:nvPr/>
        </p:nvSpPr>
        <p:spPr>
          <a:xfrm>
            <a:off x="2386375" y="1735382"/>
            <a:ext cx="10011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Node 1: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97" name="Google Shape;1097;p52"/>
          <p:cNvSpPr txBox="1"/>
          <p:nvPr/>
        </p:nvSpPr>
        <p:spPr>
          <a:xfrm>
            <a:off x="4148300" y="1735382"/>
            <a:ext cx="10011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Node 2: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98" name="Google Shape;1098;p52"/>
          <p:cNvSpPr txBox="1"/>
          <p:nvPr/>
        </p:nvSpPr>
        <p:spPr>
          <a:xfrm>
            <a:off x="5910175" y="1735382"/>
            <a:ext cx="10011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Node 3: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99" name="Google Shape;1099;p52"/>
          <p:cNvSpPr txBox="1"/>
          <p:nvPr/>
        </p:nvSpPr>
        <p:spPr>
          <a:xfrm>
            <a:off x="7672050" y="1735382"/>
            <a:ext cx="10011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Node 4: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00" name="Google Shape;1100;p52"/>
          <p:cNvSpPr txBox="1"/>
          <p:nvPr/>
        </p:nvSpPr>
        <p:spPr>
          <a:xfrm>
            <a:off x="2386375" y="3442682"/>
            <a:ext cx="10011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Node 1: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01" name="Google Shape;1101;p52"/>
          <p:cNvSpPr txBox="1"/>
          <p:nvPr/>
        </p:nvSpPr>
        <p:spPr>
          <a:xfrm>
            <a:off x="4148300" y="3442682"/>
            <a:ext cx="10011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Node 2: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02" name="Google Shape;1102;p52"/>
          <p:cNvSpPr txBox="1"/>
          <p:nvPr/>
        </p:nvSpPr>
        <p:spPr>
          <a:xfrm>
            <a:off x="5910175" y="3442682"/>
            <a:ext cx="10011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Node 3: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03" name="Google Shape;1103;p52"/>
          <p:cNvSpPr txBox="1"/>
          <p:nvPr/>
        </p:nvSpPr>
        <p:spPr>
          <a:xfrm>
            <a:off x="7672050" y="3442682"/>
            <a:ext cx="10011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Node 4: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04" name="Google Shape;1104;p52"/>
          <p:cNvSpPr txBox="1"/>
          <p:nvPr/>
        </p:nvSpPr>
        <p:spPr>
          <a:xfrm>
            <a:off x="1387326" y="2476550"/>
            <a:ext cx="6948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Before: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05" name="Google Shape;1105;p52"/>
          <p:cNvSpPr txBox="1"/>
          <p:nvPr/>
        </p:nvSpPr>
        <p:spPr>
          <a:xfrm>
            <a:off x="1547925" y="4183850"/>
            <a:ext cx="5343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After: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106" name="Google Shape;1106;p52"/>
          <p:cNvCxnSpPr/>
          <p:nvPr/>
        </p:nvCxnSpPr>
        <p:spPr>
          <a:xfrm>
            <a:off x="1387326" y="2599700"/>
            <a:ext cx="160500" cy="1707300"/>
          </a:xfrm>
          <a:prstGeom prst="curvedConnector3">
            <a:avLst>
              <a:gd fmla="val -258770" name="adj1"/>
            </a:avLst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07" name="Google Shape;1107;p52"/>
          <p:cNvSpPr txBox="1"/>
          <p:nvPr/>
        </p:nvSpPr>
        <p:spPr>
          <a:xfrm>
            <a:off x="111958" y="3330200"/>
            <a:ext cx="1713300" cy="2463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Reduce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1" name="Shape 1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2" name="Google Shape;1112;p53"/>
          <p:cNvSpPr txBox="1"/>
          <p:nvPr>
            <p:ph idx="1" type="body"/>
          </p:nvPr>
        </p:nvSpPr>
        <p:spPr>
          <a:xfrm>
            <a:off x="107050" y="402200"/>
            <a:ext cx="8909700" cy="64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Sum up the vectors, then send the </a:t>
            </a:r>
            <a:r>
              <a:rPr lang="en"/>
              <a:t>resulting</a:t>
            </a:r>
            <a:r>
              <a:rPr lang="en"/>
              <a:t> sum vector to all nodes.</a:t>
            </a:r>
            <a:endParaRPr/>
          </a:p>
        </p:txBody>
      </p:sp>
      <p:sp>
        <p:nvSpPr>
          <p:cNvPr id="1113" name="Google Shape;1113;p53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AllReduce</a:t>
            </a:r>
            <a:endParaRPr/>
          </a:p>
        </p:txBody>
      </p:sp>
      <p:sp>
        <p:nvSpPr>
          <p:cNvPr id="1114" name="Google Shape;1114;p53"/>
          <p:cNvSpPr/>
          <p:nvPr/>
        </p:nvSpPr>
        <p:spPr>
          <a:xfrm>
            <a:off x="2158390" y="4599200"/>
            <a:ext cx="1457100" cy="2922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1000"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8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1000"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r>
              <a:rPr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8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1000"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r>
              <a:rPr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800"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1000"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15" name="Google Shape;1115;p53"/>
          <p:cNvSpPr/>
          <p:nvPr/>
        </p:nvSpPr>
        <p:spPr>
          <a:xfrm>
            <a:off x="2158381" y="4307000"/>
            <a:ext cx="1457100" cy="2922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1000"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8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1000"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8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1000"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800"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1000"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16" name="Google Shape;1116;p53"/>
          <p:cNvSpPr/>
          <p:nvPr/>
        </p:nvSpPr>
        <p:spPr>
          <a:xfrm>
            <a:off x="2158397" y="4014800"/>
            <a:ext cx="1457100" cy="2922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1000"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8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10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8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10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800"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10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17" name="Google Shape;1117;p53"/>
          <p:cNvSpPr/>
          <p:nvPr/>
        </p:nvSpPr>
        <p:spPr>
          <a:xfrm>
            <a:off x="2158388" y="3722600"/>
            <a:ext cx="1457100" cy="2922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1000"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8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1000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8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1000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800"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1000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18" name="Google Shape;1118;p53"/>
          <p:cNvSpPr/>
          <p:nvPr/>
        </p:nvSpPr>
        <p:spPr>
          <a:xfrm>
            <a:off x="3920290" y="4599200"/>
            <a:ext cx="1457100" cy="2922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1000"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8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1000"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r>
              <a:rPr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8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1000"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r>
              <a:rPr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800"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1000"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19" name="Google Shape;1119;p53"/>
          <p:cNvSpPr/>
          <p:nvPr/>
        </p:nvSpPr>
        <p:spPr>
          <a:xfrm>
            <a:off x="3920281" y="4307000"/>
            <a:ext cx="1457100" cy="2922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1000"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8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1000"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8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1000"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800"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1000"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20" name="Google Shape;1120;p53"/>
          <p:cNvSpPr/>
          <p:nvPr/>
        </p:nvSpPr>
        <p:spPr>
          <a:xfrm>
            <a:off x="3920297" y="4014800"/>
            <a:ext cx="1457100" cy="2922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1000"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8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10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8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10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800"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10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21" name="Google Shape;1121;p53"/>
          <p:cNvSpPr/>
          <p:nvPr/>
        </p:nvSpPr>
        <p:spPr>
          <a:xfrm>
            <a:off x="3920288" y="3722600"/>
            <a:ext cx="1457100" cy="2922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1000"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8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1000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8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1000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800"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1000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22" name="Google Shape;1122;p53"/>
          <p:cNvSpPr/>
          <p:nvPr/>
        </p:nvSpPr>
        <p:spPr>
          <a:xfrm>
            <a:off x="5682190" y="4599200"/>
            <a:ext cx="1457100" cy="2922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1000"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8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1000"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r>
              <a:rPr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8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1000"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r>
              <a:rPr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800"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1000"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23" name="Google Shape;1123;p53"/>
          <p:cNvSpPr/>
          <p:nvPr/>
        </p:nvSpPr>
        <p:spPr>
          <a:xfrm>
            <a:off x="5682181" y="4307000"/>
            <a:ext cx="1457100" cy="2922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1000"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8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1000"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8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1000"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800"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1000"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24" name="Google Shape;1124;p53"/>
          <p:cNvSpPr/>
          <p:nvPr/>
        </p:nvSpPr>
        <p:spPr>
          <a:xfrm>
            <a:off x="5682197" y="4014800"/>
            <a:ext cx="1457100" cy="2922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1000"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8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10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8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10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800"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10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25" name="Google Shape;1125;p53"/>
          <p:cNvSpPr/>
          <p:nvPr/>
        </p:nvSpPr>
        <p:spPr>
          <a:xfrm>
            <a:off x="5682188" y="3722600"/>
            <a:ext cx="1457100" cy="2922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1000"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8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1000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8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1000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800"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1000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26" name="Google Shape;1126;p53"/>
          <p:cNvSpPr/>
          <p:nvPr/>
        </p:nvSpPr>
        <p:spPr>
          <a:xfrm>
            <a:off x="7444090" y="4599200"/>
            <a:ext cx="1457100" cy="2922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1000"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8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1000"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r>
              <a:rPr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8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1000"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r>
              <a:rPr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800"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1000"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27" name="Google Shape;1127;p53"/>
          <p:cNvSpPr/>
          <p:nvPr/>
        </p:nvSpPr>
        <p:spPr>
          <a:xfrm>
            <a:off x="7444081" y="4307000"/>
            <a:ext cx="1457100" cy="2922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1000"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8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1000"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8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1000"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800"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1000"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28" name="Google Shape;1128;p53"/>
          <p:cNvSpPr/>
          <p:nvPr/>
        </p:nvSpPr>
        <p:spPr>
          <a:xfrm>
            <a:off x="7444097" y="4014800"/>
            <a:ext cx="1457100" cy="2922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1000"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8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10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8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10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800"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10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29" name="Google Shape;1129;p53"/>
          <p:cNvSpPr/>
          <p:nvPr/>
        </p:nvSpPr>
        <p:spPr>
          <a:xfrm>
            <a:off x="7444088" y="3722600"/>
            <a:ext cx="1457100" cy="2922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1000"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8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1000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8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1000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800"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1000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30" name="Google Shape;1130;p53"/>
          <p:cNvSpPr/>
          <p:nvPr/>
        </p:nvSpPr>
        <p:spPr>
          <a:xfrm>
            <a:off x="2158378" y="2891900"/>
            <a:ext cx="1457100" cy="2922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1000"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31" name="Google Shape;1131;p53"/>
          <p:cNvSpPr/>
          <p:nvPr/>
        </p:nvSpPr>
        <p:spPr>
          <a:xfrm>
            <a:off x="2158368" y="2599700"/>
            <a:ext cx="1457100" cy="2922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1000"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32" name="Google Shape;1132;p53"/>
          <p:cNvSpPr/>
          <p:nvPr/>
        </p:nvSpPr>
        <p:spPr>
          <a:xfrm>
            <a:off x="2158384" y="2307500"/>
            <a:ext cx="1457100" cy="2922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10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33" name="Google Shape;1133;p53"/>
          <p:cNvSpPr/>
          <p:nvPr/>
        </p:nvSpPr>
        <p:spPr>
          <a:xfrm>
            <a:off x="2158375" y="2015300"/>
            <a:ext cx="1457100" cy="2922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1000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34" name="Google Shape;1134;p53"/>
          <p:cNvSpPr/>
          <p:nvPr/>
        </p:nvSpPr>
        <p:spPr>
          <a:xfrm>
            <a:off x="3920278" y="2891900"/>
            <a:ext cx="1457100" cy="2922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1000"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35" name="Google Shape;1135;p53"/>
          <p:cNvSpPr/>
          <p:nvPr/>
        </p:nvSpPr>
        <p:spPr>
          <a:xfrm>
            <a:off x="3920268" y="2599700"/>
            <a:ext cx="1457100" cy="2922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1000"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36" name="Google Shape;1136;p53"/>
          <p:cNvSpPr/>
          <p:nvPr/>
        </p:nvSpPr>
        <p:spPr>
          <a:xfrm>
            <a:off x="3920284" y="2307500"/>
            <a:ext cx="1457100" cy="2922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10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37" name="Google Shape;1137;p53"/>
          <p:cNvSpPr/>
          <p:nvPr/>
        </p:nvSpPr>
        <p:spPr>
          <a:xfrm>
            <a:off x="3920275" y="2015300"/>
            <a:ext cx="1457100" cy="2922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1000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38" name="Google Shape;1138;p53"/>
          <p:cNvSpPr/>
          <p:nvPr/>
        </p:nvSpPr>
        <p:spPr>
          <a:xfrm>
            <a:off x="5682178" y="2891900"/>
            <a:ext cx="1457100" cy="2922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1000"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39" name="Google Shape;1139;p53"/>
          <p:cNvSpPr/>
          <p:nvPr/>
        </p:nvSpPr>
        <p:spPr>
          <a:xfrm>
            <a:off x="5682168" y="2599700"/>
            <a:ext cx="1457100" cy="2922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1000"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40" name="Google Shape;1140;p53"/>
          <p:cNvSpPr/>
          <p:nvPr/>
        </p:nvSpPr>
        <p:spPr>
          <a:xfrm>
            <a:off x="5682184" y="2307500"/>
            <a:ext cx="1457100" cy="2922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10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41" name="Google Shape;1141;p53"/>
          <p:cNvSpPr/>
          <p:nvPr/>
        </p:nvSpPr>
        <p:spPr>
          <a:xfrm>
            <a:off x="5682175" y="2015300"/>
            <a:ext cx="1457100" cy="2922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1000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42" name="Google Shape;1142;p53"/>
          <p:cNvSpPr/>
          <p:nvPr/>
        </p:nvSpPr>
        <p:spPr>
          <a:xfrm>
            <a:off x="7444077" y="2891900"/>
            <a:ext cx="1457100" cy="2922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1000"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43" name="Google Shape;1143;p53"/>
          <p:cNvSpPr/>
          <p:nvPr/>
        </p:nvSpPr>
        <p:spPr>
          <a:xfrm>
            <a:off x="7444068" y="2599700"/>
            <a:ext cx="1457100" cy="2922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1000"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44" name="Google Shape;1144;p53"/>
          <p:cNvSpPr/>
          <p:nvPr/>
        </p:nvSpPr>
        <p:spPr>
          <a:xfrm>
            <a:off x="7444084" y="2307500"/>
            <a:ext cx="1457100" cy="2922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10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45" name="Google Shape;1145;p53"/>
          <p:cNvSpPr/>
          <p:nvPr/>
        </p:nvSpPr>
        <p:spPr>
          <a:xfrm>
            <a:off x="7444075" y="2015300"/>
            <a:ext cx="1457100" cy="2922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1000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46" name="Google Shape;1146;p53"/>
          <p:cNvSpPr txBox="1"/>
          <p:nvPr/>
        </p:nvSpPr>
        <p:spPr>
          <a:xfrm>
            <a:off x="2386375" y="1735382"/>
            <a:ext cx="10011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Node 1: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47" name="Google Shape;1147;p53"/>
          <p:cNvSpPr txBox="1"/>
          <p:nvPr/>
        </p:nvSpPr>
        <p:spPr>
          <a:xfrm>
            <a:off x="4148300" y="1735382"/>
            <a:ext cx="10011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Node 2: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48" name="Google Shape;1148;p53"/>
          <p:cNvSpPr txBox="1"/>
          <p:nvPr/>
        </p:nvSpPr>
        <p:spPr>
          <a:xfrm>
            <a:off x="5910175" y="1735382"/>
            <a:ext cx="10011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Node 3: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49" name="Google Shape;1149;p53"/>
          <p:cNvSpPr txBox="1"/>
          <p:nvPr/>
        </p:nvSpPr>
        <p:spPr>
          <a:xfrm>
            <a:off x="7672050" y="1735382"/>
            <a:ext cx="10011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Node 4: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50" name="Google Shape;1150;p53"/>
          <p:cNvSpPr txBox="1"/>
          <p:nvPr/>
        </p:nvSpPr>
        <p:spPr>
          <a:xfrm>
            <a:off x="2386375" y="3442682"/>
            <a:ext cx="10011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Node 1: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51" name="Google Shape;1151;p53"/>
          <p:cNvSpPr txBox="1"/>
          <p:nvPr/>
        </p:nvSpPr>
        <p:spPr>
          <a:xfrm>
            <a:off x="4148300" y="3442682"/>
            <a:ext cx="10011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Node 2: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52" name="Google Shape;1152;p53"/>
          <p:cNvSpPr txBox="1"/>
          <p:nvPr/>
        </p:nvSpPr>
        <p:spPr>
          <a:xfrm>
            <a:off x="5910175" y="3442682"/>
            <a:ext cx="10011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Node 3: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53" name="Google Shape;1153;p53"/>
          <p:cNvSpPr txBox="1"/>
          <p:nvPr/>
        </p:nvSpPr>
        <p:spPr>
          <a:xfrm>
            <a:off x="7672050" y="3442682"/>
            <a:ext cx="10011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Node 4: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54" name="Google Shape;1154;p53"/>
          <p:cNvSpPr txBox="1"/>
          <p:nvPr/>
        </p:nvSpPr>
        <p:spPr>
          <a:xfrm>
            <a:off x="1387326" y="2476550"/>
            <a:ext cx="6948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Before: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55" name="Google Shape;1155;p53"/>
          <p:cNvSpPr txBox="1"/>
          <p:nvPr/>
        </p:nvSpPr>
        <p:spPr>
          <a:xfrm>
            <a:off x="1547925" y="4183850"/>
            <a:ext cx="5343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After: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156" name="Google Shape;1156;p53"/>
          <p:cNvCxnSpPr/>
          <p:nvPr/>
        </p:nvCxnSpPr>
        <p:spPr>
          <a:xfrm>
            <a:off x="1387326" y="2599700"/>
            <a:ext cx="160500" cy="1707300"/>
          </a:xfrm>
          <a:prstGeom prst="curvedConnector3">
            <a:avLst>
              <a:gd fmla="val -258770" name="adj1"/>
            </a:avLst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57" name="Google Shape;1157;p53"/>
          <p:cNvSpPr txBox="1"/>
          <p:nvPr/>
        </p:nvSpPr>
        <p:spPr>
          <a:xfrm>
            <a:off x="111958" y="3330200"/>
            <a:ext cx="1713300" cy="2463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AllReduce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1" name="Shape 1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2" name="Google Shape;1162;p54"/>
          <p:cNvSpPr txBox="1"/>
          <p:nvPr>
            <p:ph idx="1" type="body"/>
          </p:nvPr>
        </p:nvSpPr>
        <p:spPr>
          <a:xfrm>
            <a:off x="107050" y="402200"/>
            <a:ext cx="8909700" cy="64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The </a:t>
            </a:r>
            <a:r>
              <a:rPr i="1" lang="en"/>
              <a:t>i</a:t>
            </a:r>
            <a:r>
              <a:rPr lang="en"/>
              <a:t>th node has the sum of the </a:t>
            </a:r>
            <a:r>
              <a:rPr i="1" lang="en"/>
              <a:t>i</a:t>
            </a:r>
            <a:r>
              <a:rPr lang="en"/>
              <a:t>th elements of each vector.</a:t>
            </a:r>
            <a:endParaRPr/>
          </a:p>
        </p:txBody>
      </p:sp>
      <p:sp>
        <p:nvSpPr>
          <p:cNvPr id="1163" name="Google Shape;1163;p54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ReduceScatter</a:t>
            </a:r>
            <a:endParaRPr/>
          </a:p>
        </p:txBody>
      </p:sp>
      <p:sp>
        <p:nvSpPr>
          <p:cNvPr id="1164" name="Google Shape;1164;p54"/>
          <p:cNvSpPr/>
          <p:nvPr/>
        </p:nvSpPr>
        <p:spPr>
          <a:xfrm>
            <a:off x="2158390" y="4599200"/>
            <a:ext cx="1457100" cy="292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65" name="Google Shape;1165;p54"/>
          <p:cNvSpPr/>
          <p:nvPr/>
        </p:nvSpPr>
        <p:spPr>
          <a:xfrm>
            <a:off x="2158381" y="4307000"/>
            <a:ext cx="1457100" cy="292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66" name="Google Shape;1166;p54"/>
          <p:cNvSpPr/>
          <p:nvPr/>
        </p:nvSpPr>
        <p:spPr>
          <a:xfrm>
            <a:off x="2158397" y="4014800"/>
            <a:ext cx="1457100" cy="292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67" name="Google Shape;1167;p54"/>
          <p:cNvSpPr/>
          <p:nvPr/>
        </p:nvSpPr>
        <p:spPr>
          <a:xfrm>
            <a:off x="2158388" y="3722600"/>
            <a:ext cx="1457100" cy="2922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1000"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8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1000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8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1000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800"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1000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68" name="Google Shape;1168;p54"/>
          <p:cNvSpPr/>
          <p:nvPr/>
        </p:nvSpPr>
        <p:spPr>
          <a:xfrm>
            <a:off x="3920290" y="4599200"/>
            <a:ext cx="1457100" cy="292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69" name="Google Shape;1169;p54"/>
          <p:cNvSpPr/>
          <p:nvPr/>
        </p:nvSpPr>
        <p:spPr>
          <a:xfrm>
            <a:off x="3920281" y="4307000"/>
            <a:ext cx="1457100" cy="292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70" name="Google Shape;1170;p54"/>
          <p:cNvSpPr/>
          <p:nvPr/>
        </p:nvSpPr>
        <p:spPr>
          <a:xfrm>
            <a:off x="3920297" y="4014800"/>
            <a:ext cx="1457100" cy="2922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1000"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8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10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8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10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800"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10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71" name="Google Shape;1171;p54"/>
          <p:cNvSpPr/>
          <p:nvPr/>
        </p:nvSpPr>
        <p:spPr>
          <a:xfrm>
            <a:off x="3920288" y="3722600"/>
            <a:ext cx="1457100" cy="292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72" name="Google Shape;1172;p54"/>
          <p:cNvSpPr/>
          <p:nvPr/>
        </p:nvSpPr>
        <p:spPr>
          <a:xfrm>
            <a:off x="5682190" y="4599200"/>
            <a:ext cx="1457100" cy="292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73" name="Google Shape;1173;p54"/>
          <p:cNvSpPr/>
          <p:nvPr/>
        </p:nvSpPr>
        <p:spPr>
          <a:xfrm>
            <a:off x="5682181" y="4307000"/>
            <a:ext cx="1457100" cy="2922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1000"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8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1000"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8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1000"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800"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1000"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74" name="Google Shape;1174;p54"/>
          <p:cNvSpPr/>
          <p:nvPr/>
        </p:nvSpPr>
        <p:spPr>
          <a:xfrm>
            <a:off x="5682197" y="4014800"/>
            <a:ext cx="1457100" cy="292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75" name="Google Shape;1175;p54"/>
          <p:cNvSpPr/>
          <p:nvPr/>
        </p:nvSpPr>
        <p:spPr>
          <a:xfrm>
            <a:off x="5682188" y="3722600"/>
            <a:ext cx="1457100" cy="292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76" name="Google Shape;1176;p54"/>
          <p:cNvSpPr/>
          <p:nvPr/>
        </p:nvSpPr>
        <p:spPr>
          <a:xfrm>
            <a:off x="7444090" y="4599200"/>
            <a:ext cx="1457100" cy="2922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1000"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8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1000"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r>
              <a:rPr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8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1000"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r>
              <a:rPr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800"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1000"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77" name="Google Shape;1177;p54"/>
          <p:cNvSpPr/>
          <p:nvPr/>
        </p:nvSpPr>
        <p:spPr>
          <a:xfrm>
            <a:off x="7444081" y="4307000"/>
            <a:ext cx="1457100" cy="292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78" name="Google Shape;1178;p54"/>
          <p:cNvSpPr/>
          <p:nvPr/>
        </p:nvSpPr>
        <p:spPr>
          <a:xfrm>
            <a:off x="7444097" y="4014800"/>
            <a:ext cx="1457100" cy="292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79" name="Google Shape;1179;p54"/>
          <p:cNvSpPr/>
          <p:nvPr/>
        </p:nvSpPr>
        <p:spPr>
          <a:xfrm>
            <a:off x="7444088" y="3722600"/>
            <a:ext cx="1457100" cy="292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80" name="Google Shape;1180;p54"/>
          <p:cNvSpPr/>
          <p:nvPr/>
        </p:nvSpPr>
        <p:spPr>
          <a:xfrm>
            <a:off x="2158378" y="2891900"/>
            <a:ext cx="1457100" cy="2922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1000"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81" name="Google Shape;1181;p54"/>
          <p:cNvSpPr/>
          <p:nvPr/>
        </p:nvSpPr>
        <p:spPr>
          <a:xfrm>
            <a:off x="2158368" y="2599700"/>
            <a:ext cx="1457100" cy="2922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1000"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82" name="Google Shape;1182;p54"/>
          <p:cNvSpPr/>
          <p:nvPr/>
        </p:nvSpPr>
        <p:spPr>
          <a:xfrm>
            <a:off x="2158384" y="2307500"/>
            <a:ext cx="1457100" cy="2922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10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83" name="Google Shape;1183;p54"/>
          <p:cNvSpPr/>
          <p:nvPr/>
        </p:nvSpPr>
        <p:spPr>
          <a:xfrm>
            <a:off x="2158375" y="2015300"/>
            <a:ext cx="1457100" cy="2922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1000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84" name="Google Shape;1184;p54"/>
          <p:cNvSpPr/>
          <p:nvPr/>
        </p:nvSpPr>
        <p:spPr>
          <a:xfrm>
            <a:off x="3920278" y="2891900"/>
            <a:ext cx="1457100" cy="2922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1000"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85" name="Google Shape;1185;p54"/>
          <p:cNvSpPr/>
          <p:nvPr/>
        </p:nvSpPr>
        <p:spPr>
          <a:xfrm>
            <a:off x="3920268" y="2599700"/>
            <a:ext cx="1457100" cy="2922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1000"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86" name="Google Shape;1186;p54"/>
          <p:cNvSpPr/>
          <p:nvPr/>
        </p:nvSpPr>
        <p:spPr>
          <a:xfrm>
            <a:off x="3920284" y="2307500"/>
            <a:ext cx="1457100" cy="2922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10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87" name="Google Shape;1187;p54"/>
          <p:cNvSpPr/>
          <p:nvPr/>
        </p:nvSpPr>
        <p:spPr>
          <a:xfrm>
            <a:off x="3920275" y="2015300"/>
            <a:ext cx="1457100" cy="2922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1000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88" name="Google Shape;1188;p54"/>
          <p:cNvSpPr/>
          <p:nvPr/>
        </p:nvSpPr>
        <p:spPr>
          <a:xfrm>
            <a:off x="5682178" y="2891900"/>
            <a:ext cx="1457100" cy="2922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1000"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89" name="Google Shape;1189;p54"/>
          <p:cNvSpPr/>
          <p:nvPr/>
        </p:nvSpPr>
        <p:spPr>
          <a:xfrm>
            <a:off x="5682168" y="2599700"/>
            <a:ext cx="1457100" cy="2922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1000"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90" name="Google Shape;1190;p54"/>
          <p:cNvSpPr/>
          <p:nvPr/>
        </p:nvSpPr>
        <p:spPr>
          <a:xfrm>
            <a:off x="5682184" y="2307500"/>
            <a:ext cx="1457100" cy="2922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10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91" name="Google Shape;1191;p54"/>
          <p:cNvSpPr/>
          <p:nvPr/>
        </p:nvSpPr>
        <p:spPr>
          <a:xfrm>
            <a:off x="5682175" y="2015300"/>
            <a:ext cx="1457100" cy="2922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1000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92" name="Google Shape;1192;p54"/>
          <p:cNvSpPr/>
          <p:nvPr/>
        </p:nvSpPr>
        <p:spPr>
          <a:xfrm>
            <a:off x="7444077" y="2891900"/>
            <a:ext cx="1457100" cy="2922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1000"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93" name="Google Shape;1193;p54"/>
          <p:cNvSpPr/>
          <p:nvPr/>
        </p:nvSpPr>
        <p:spPr>
          <a:xfrm>
            <a:off x="7444068" y="2599700"/>
            <a:ext cx="1457100" cy="2922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1000"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94" name="Google Shape;1194;p54"/>
          <p:cNvSpPr/>
          <p:nvPr/>
        </p:nvSpPr>
        <p:spPr>
          <a:xfrm>
            <a:off x="7444084" y="2307500"/>
            <a:ext cx="1457100" cy="2922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10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95" name="Google Shape;1195;p54"/>
          <p:cNvSpPr/>
          <p:nvPr/>
        </p:nvSpPr>
        <p:spPr>
          <a:xfrm>
            <a:off x="7444075" y="2015300"/>
            <a:ext cx="1457100" cy="2922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1000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96" name="Google Shape;1196;p54"/>
          <p:cNvSpPr txBox="1"/>
          <p:nvPr/>
        </p:nvSpPr>
        <p:spPr>
          <a:xfrm>
            <a:off x="1387326" y="2476550"/>
            <a:ext cx="6948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Before: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97" name="Google Shape;1197;p54"/>
          <p:cNvSpPr txBox="1"/>
          <p:nvPr/>
        </p:nvSpPr>
        <p:spPr>
          <a:xfrm>
            <a:off x="1547925" y="4183850"/>
            <a:ext cx="5343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After: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98" name="Google Shape;1198;p54"/>
          <p:cNvSpPr txBox="1"/>
          <p:nvPr/>
        </p:nvSpPr>
        <p:spPr>
          <a:xfrm>
            <a:off x="2386375" y="1735382"/>
            <a:ext cx="10011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Node 1: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99" name="Google Shape;1199;p54"/>
          <p:cNvSpPr txBox="1"/>
          <p:nvPr/>
        </p:nvSpPr>
        <p:spPr>
          <a:xfrm>
            <a:off x="4148300" y="1735382"/>
            <a:ext cx="10011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Node 2: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00" name="Google Shape;1200;p54"/>
          <p:cNvSpPr txBox="1"/>
          <p:nvPr/>
        </p:nvSpPr>
        <p:spPr>
          <a:xfrm>
            <a:off x="5910175" y="1735382"/>
            <a:ext cx="10011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Node 3: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01" name="Google Shape;1201;p54"/>
          <p:cNvSpPr txBox="1"/>
          <p:nvPr/>
        </p:nvSpPr>
        <p:spPr>
          <a:xfrm>
            <a:off x="7672050" y="1735382"/>
            <a:ext cx="10011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Node 4: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02" name="Google Shape;1202;p54"/>
          <p:cNvSpPr txBox="1"/>
          <p:nvPr/>
        </p:nvSpPr>
        <p:spPr>
          <a:xfrm>
            <a:off x="2386375" y="3442682"/>
            <a:ext cx="10011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Node 1: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03" name="Google Shape;1203;p54"/>
          <p:cNvSpPr txBox="1"/>
          <p:nvPr/>
        </p:nvSpPr>
        <p:spPr>
          <a:xfrm>
            <a:off x="4148300" y="3442682"/>
            <a:ext cx="10011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Node 2: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04" name="Google Shape;1204;p54"/>
          <p:cNvSpPr txBox="1"/>
          <p:nvPr/>
        </p:nvSpPr>
        <p:spPr>
          <a:xfrm>
            <a:off x="5910175" y="3442682"/>
            <a:ext cx="10011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Node 3: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05" name="Google Shape;1205;p54"/>
          <p:cNvSpPr txBox="1"/>
          <p:nvPr/>
        </p:nvSpPr>
        <p:spPr>
          <a:xfrm>
            <a:off x="7672050" y="3442682"/>
            <a:ext cx="10011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Node 4: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206" name="Google Shape;1206;p54"/>
          <p:cNvCxnSpPr/>
          <p:nvPr/>
        </p:nvCxnSpPr>
        <p:spPr>
          <a:xfrm>
            <a:off x="1387326" y="2599700"/>
            <a:ext cx="160500" cy="1707300"/>
          </a:xfrm>
          <a:prstGeom prst="curvedConnector3">
            <a:avLst>
              <a:gd fmla="val -258770" name="adj1"/>
            </a:avLst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07" name="Google Shape;1207;p54"/>
          <p:cNvSpPr txBox="1"/>
          <p:nvPr/>
        </p:nvSpPr>
        <p:spPr>
          <a:xfrm>
            <a:off x="111958" y="3330200"/>
            <a:ext cx="1713300" cy="2463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ReduceScatter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1" name="Shape 1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2" name="Google Shape;1212;p55"/>
          <p:cNvSpPr txBox="1"/>
          <p:nvPr>
            <p:ph idx="1" type="body"/>
          </p:nvPr>
        </p:nvSpPr>
        <p:spPr>
          <a:xfrm>
            <a:off x="4812375" y="402200"/>
            <a:ext cx="4038000" cy="426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</a:rPr>
              <a:t>Distributed AI Training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Motivation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Infrastructure</a:t>
            </a:r>
            <a:endParaRPr>
              <a:solidFill>
                <a:srgbClr val="B7B7B7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Defining Collectives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Definition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Redistribution Operations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Consolidation Operations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Roboto"/>
              <a:buChar char="•"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Duals and Compositions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</a:rPr>
              <a:t>Implementing Collectives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Mesh Topology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Single Root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Tree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Ring (Naive)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Ring (Optimized)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Overlay/Underlay Topologies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13" name="Google Shape;1213;p55"/>
          <p:cNvSpPr txBox="1"/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Duals and Compositions</a:t>
            </a:r>
            <a:endParaRPr/>
          </a:p>
        </p:txBody>
      </p:sp>
      <p:sp>
        <p:nvSpPr>
          <p:cNvPr id="1214" name="Google Shape;1214;p55"/>
          <p:cNvSpPr txBox="1"/>
          <p:nvPr>
            <p:ph idx="2" type="subTitle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Lecture 23</a:t>
            </a:r>
            <a:r>
              <a:rPr lang="en"/>
              <a:t>, CS 168, </a:t>
            </a:r>
            <a:r>
              <a:rPr lang="en"/>
              <a:t>Spring 2026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8" name="Shape 1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9" name="Google Shape;1219;p56"/>
          <p:cNvSpPr txBox="1"/>
          <p:nvPr>
            <p:ph idx="1" type="body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Some operations are </a:t>
            </a:r>
            <a:r>
              <a:rPr b="1" lang="en"/>
              <a:t>duals</a:t>
            </a:r>
            <a:r>
              <a:rPr lang="en"/>
              <a:t> of each other: One operation is the reverse of the other.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Analogy: In math,  </a:t>
            </a:r>
            <a:r>
              <a:rPr i="1" lang="en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baseline="30000" lang="en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"/>
              <a:t>  and          are duals. 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When checking if operations are duals, ignore any reduction operations.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Just look at which boxes we read from, and which boxes we write to.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Duals are useful when we think about implementing these collectives.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All else equal, two dual operations use the same bandwidth.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Total amount of data sent/received is the same in both operations,</a:t>
            </a:r>
            <a:br>
              <a:rPr lang="en"/>
            </a:br>
            <a:r>
              <a:rPr lang="en"/>
              <a:t>because we write/read from the same boxes.</a:t>
            </a:r>
            <a:endParaRPr/>
          </a:p>
        </p:txBody>
      </p:sp>
      <p:pic>
        <p:nvPicPr>
          <p:cNvPr id="1220" name="Google Shape;1220;p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36275" y="898575"/>
            <a:ext cx="489225" cy="414200"/>
          </a:xfrm>
          <a:prstGeom prst="rect">
            <a:avLst/>
          </a:prstGeom>
          <a:noFill/>
          <a:ln>
            <a:noFill/>
          </a:ln>
        </p:spPr>
      </p:pic>
      <p:sp>
        <p:nvSpPr>
          <p:cNvPr id="1221" name="Google Shape;1221;p56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Duals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5" name="Shape 1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6" name="Google Shape;1226;p57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Duals</a:t>
            </a:r>
            <a:endParaRPr/>
          </a:p>
        </p:txBody>
      </p:sp>
      <p:sp>
        <p:nvSpPr>
          <p:cNvPr id="1227" name="Google Shape;1227;p57"/>
          <p:cNvSpPr txBox="1"/>
          <p:nvPr>
            <p:ph idx="1" type="body"/>
          </p:nvPr>
        </p:nvSpPr>
        <p:spPr>
          <a:xfrm>
            <a:off x="107050" y="402200"/>
            <a:ext cx="8909700" cy="126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Broadcast and Reduce are duals.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Broadcast:	Read from 4 boxes in root node. 	Write to all 16 boxes.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Reduce: 		Read from 16 boxes. 				Write to 4 boxes in root node.</a:t>
            </a:r>
            <a:endParaRPr/>
          </a:p>
        </p:txBody>
      </p:sp>
      <p:sp>
        <p:nvSpPr>
          <p:cNvPr id="1228" name="Google Shape;1228;p57"/>
          <p:cNvSpPr/>
          <p:nvPr/>
        </p:nvSpPr>
        <p:spPr>
          <a:xfrm>
            <a:off x="181568" y="4695950"/>
            <a:ext cx="926700" cy="251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29" name="Google Shape;1229;p57"/>
          <p:cNvSpPr/>
          <p:nvPr/>
        </p:nvSpPr>
        <p:spPr>
          <a:xfrm>
            <a:off x="181563" y="4444774"/>
            <a:ext cx="926700" cy="251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30" name="Google Shape;1230;p57"/>
          <p:cNvSpPr/>
          <p:nvPr/>
        </p:nvSpPr>
        <p:spPr>
          <a:xfrm>
            <a:off x="181573" y="4193599"/>
            <a:ext cx="926700" cy="251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31" name="Google Shape;1231;p57"/>
          <p:cNvSpPr/>
          <p:nvPr/>
        </p:nvSpPr>
        <p:spPr>
          <a:xfrm>
            <a:off x="181567" y="3942423"/>
            <a:ext cx="926700" cy="251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7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32" name="Google Shape;1232;p57"/>
          <p:cNvSpPr/>
          <p:nvPr/>
        </p:nvSpPr>
        <p:spPr>
          <a:xfrm>
            <a:off x="1230111" y="4695950"/>
            <a:ext cx="926700" cy="251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33" name="Google Shape;1233;p57"/>
          <p:cNvSpPr/>
          <p:nvPr/>
        </p:nvSpPr>
        <p:spPr>
          <a:xfrm>
            <a:off x="1230105" y="4444774"/>
            <a:ext cx="926700" cy="251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i="1"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34" name="Google Shape;1234;p57"/>
          <p:cNvSpPr/>
          <p:nvPr/>
        </p:nvSpPr>
        <p:spPr>
          <a:xfrm>
            <a:off x="1230115" y="4193599"/>
            <a:ext cx="926700" cy="251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i="1"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35" name="Google Shape;1235;p57"/>
          <p:cNvSpPr/>
          <p:nvPr/>
        </p:nvSpPr>
        <p:spPr>
          <a:xfrm>
            <a:off x="1230109" y="3942423"/>
            <a:ext cx="926700" cy="251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36" name="Google Shape;1236;p57"/>
          <p:cNvSpPr/>
          <p:nvPr/>
        </p:nvSpPr>
        <p:spPr>
          <a:xfrm>
            <a:off x="2278678" y="4695950"/>
            <a:ext cx="926700" cy="251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37" name="Google Shape;1237;p57"/>
          <p:cNvSpPr/>
          <p:nvPr/>
        </p:nvSpPr>
        <p:spPr>
          <a:xfrm>
            <a:off x="2278672" y="4444774"/>
            <a:ext cx="926700" cy="251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i="1"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38" name="Google Shape;1238;p57"/>
          <p:cNvSpPr/>
          <p:nvPr/>
        </p:nvSpPr>
        <p:spPr>
          <a:xfrm>
            <a:off x="2278682" y="4193599"/>
            <a:ext cx="926700" cy="251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39" name="Google Shape;1239;p57"/>
          <p:cNvSpPr/>
          <p:nvPr/>
        </p:nvSpPr>
        <p:spPr>
          <a:xfrm>
            <a:off x="2278676" y="3942423"/>
            <a:ext cx="926700" cy="251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40" name="Google Shape;1240;p57"/>
          <p:cNvSpPr/>
          <p:nvPr/>
        </p:nvSpPr>
        <p:spPr>
          <a:xfrm>
            <a:off x="3333133" y="4695950"/>
            <a:ext cx="926700" cy="251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41" name="Google Shape;1241;p57"/>
          <p:cNvSpPr/>
          <p:nvPr/>
        </p:nvSpPr>
        <p:spPr>
          <a:xfrm>
            <a:off x="3333127" y="4444774"/>
            <a:ext cx="926700" cy="251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42" name="Google Shape;1242;p57"/>
          <p:cNvSpPr/>
          <p:nvPr/>
        </p:nvSpPr>
        <p:spPr>
          <a:xfrm>
            <a:off x="3333137" y="4193599"/>
            <a:ext cx="926700" cy="251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43" name="Google Shape;1243;p57"/>
          <p:cNvSpPr/>
          <p:nvPr/>
        </p:nvSpPr>
        <p:spPr>
          <a:xfrm>
            <a:off x="3333131" y="3942423"/>
            <a:ext cx="926700" cy="251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44" name="Google Shape;1244;p57"/>
          <p:cNvSpPr/>
          <p:nvPr/>
        </p:nvSpPr>
        <p:spPr>
          <a:xfrm>
            <a:off x="181568" y="2760116"/>
            <a:ext cx="926700" cy="251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45" name="Google Shape;1245;p57"/>
          <p:cNvSpPr/>
          <p:nvPr/>
        </p:nvSpPr>
        <p:spPr>
          <a:xfrm>
            <a:off x="181563" y="2508917"/>
            <a:ext cx="926700" cy="251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46" name="Google Shape;1246;p57"/>
          <p:cNvSpPr/>
          <p:nvPr/>
        </p:nvSpPr>
        <p:spPr>
          <a:xfrm>
            <a:off x="181573" y="2257718"/>
            <a:ext cx="926700" cy="251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47" name="Google Shape;1247;p57"/>
          <p:cNvSpPr/>
          <p:nvPr/>
        </p:nvSpPr>
        <p:spPr>
          <a:xfrm>
            <a:off x="181567" y="2006518"/>
            <a:ext cx="926700" cy="2511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7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48" name="Google Shape;1248;p57"/>
          <p:cNvSpPr/>
          <p:nvPr/>
        </p:nvSpPr>
        <p:spPr>
          <a:xfrm>
            <a:off x="1232093" y="2760104"/>
            <a:ext cx="926700" cy="2511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rgbClr val="B7B7B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700">
                <a:solidFill>
                  <a:srgbClr val="B7B7B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400">
              <a:solidFill>
                <a:srgbClr val="B7B7B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49" name="Google Shape;1249;p57"/>
          <p:cNvSpPr/>
          <p:nvPr/>
        </p:nvSpPr>
        <p:spPr>
          <a:xfrm>
            <a:off x="1232087" y="2508904"/>
            <a:ext cx="926700" cy="2511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rgbClr val="B7B7B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700">
                <a:solidFill>
                  <a:srgbClr val="B7B7B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400">
              <a:solidFill>
                <a:srgbClr val="B7B7B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50" name="Google Shape;1250;p57"/>
          <p:cNvSpPr/>
          <p:nvPr/>
        </p:nvSpPr>
        <p:spPr>
          <a:xfrm>
            <a:off x="1232098" y="2257705"/>
            <a:ext cx="926700" cy="2511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rgbClr val="B7B7B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700">
                <a:solidFill>
                  <a:srgbClr val="B7B7B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i="1" sz="1200">
              <a:solidFill>
                <a:srgbClr val="B7B7B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51" name="Google Shape;1251;p57"/>
          <p:cNvSpPr/>
          <p:nvPr/>
        </p:nvSpPr>
        <p:spPr>
          <a:xfrm>
            <a:off x="1232092" y="2006506"/>
            <a:ext cx="926700" cy="2511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rgbClr val="B7B7B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700">
                <a:solidFill>
                  <a:srgbClr val="B7B7B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400">
              <a:solidFill>
                <a:srgbClr val="B7B7B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52" name="Google Shape;1252;p57"/>
          <p:cNvSpPr/>
          <p:nvPr/>
        </p:nvSpPr>
        <p:spPr>
          <a:xfrm>
            <a:off x="2282612" y="2760104"/>
            <a:ext cx="926700" cy="2511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rgbClr val="B7B7B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700">
                <a:solidFill>
                  <a:srgbClr val="B7B7B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400">
              <a:solidFill>
                <a:srgbClr val="B7B7B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53" name="Google Shape;1253;p57"/>
          <p:cNvSpPr/>
          <p:nvPr/>
        </p:nvSpPr>
        <p:spPr>
          <a:xfrm>
            <a:off x="2282606" y="2508904"/>
            <a:ext cx="926700" cy="2511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rgbClr val="B7B7B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700">
                <a:solidFill>
                  <a:srgbClr val="B7B7B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400">
              <a:solidFill>
                <a:srgbClr val="B7B7B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54" name="Google Shape;1254;p57"/>
          <p:cNvSpPr/>
          <p:nvPr/>
        </p:nvSpPr>
        <p:spPr>
          <a:xfrm>
            <a:off x="2282616" y="2257705"/>
            <a:ext cx="926700" cy="2511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rgbClr val="B7B7B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700">
                <a:solidFill>
                  <a:srgbClr val="B7B7B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400">
              <a:solidFill>
                <a:srgbClr val="B7B7B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55" name="Google Shape;1255;p57"/>
          <p:cNvSpPr/>
          <p:nvPr/>
        </p:nvSpPr>
        <p:spPr>
          <a:xfrm>
            <a:off x="2282611" y="2006506"/>
            <a:ext cx="926700" cy="2511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rgbClr val="B7B7B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700">
                <a:solidFill>
                  <a:srgbClr val="B7B7B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400">
              <a:solidFill>
                <a:srgbClr val="B7B7B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56" name="Google Shape;1256;p57"/>
          <p:cNvSpPr/>
          <p:nvPr/>
        </p:nvSpPr>
        <p:spPr>
          <a:xfrm>
            <a:off x="3333131" y="2760104"/>
            <a:ext cx="926700" cy="2511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rgbClr val="B7B7B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700">
                <a:solidFill>
                  <a:srgbClr val="B7B7B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400">
              <a:solidFill>
                <a:srgbClr val="B7B7B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57" name="Google Shape;1257;p57"/>
          <p:cNvSpPr/>
          <p:nvPr/>
        </p:nvSpPr>
        <p:spPr>
          <a:xfrm>
            <a:off x="3333125" y="2508904"/>
            <a:ext cx="926700" cy="2511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rgbClr val="B7B7B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700">
                <a:solidFill>
                  <a:srgbClr val="B7B7B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400">
              <a:solidFill>
                <a:srgbClr val="B7B7B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58" name="Google Shape;1258;p57"/>
          <p:cNvSpPr/>
          <p:nvPr/>
        </p:nvSpPr>
        <p:spPr>
          <a:xfrm>
            <a:off x="3333135" y="2257705"/>
            <a:ext cx="926700" cy="2511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rgbClr val="B7B7B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700">
                <a:solidFill>
                  <a:srgbClr val="B7B7B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400">
              <a:solidFill>
                <a:srgbClr val="B7B7B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59" name="Google Shape;1259;p57"/>
          <p:cNvSpPr/>
          <p:nvPr/>
        </p:nvSpPr>
        <p:spPr>
          <a:xfrm>
            <a:off x="3333130" y="2006506"/>
            <a:ext cx="926700" cy="2511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rgbClr val="B7B7B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700">
                <a:solidFill>
                  <a:srgbClr val="B7B7B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400">
              <a:solidFill>
                <a:srgbClr val="B7B7B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60" name="Google Shape;1260;p57"/>
          <p:cNvSpPr txBox="1"/>
          <p:nvPr/>
        </p:nvSpPr>
        <p:spPr>
          <a:xfrm>
            <a:off x="326609" y="1804885"/>
            <a:ext cx="6366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Node 1:</a:t>
            </a:r>
            <a:endParaRPr sz="1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61" name="Google Shape;1261;p57"/>
          <p:cNvSpPr txBox="1"/>
          <p:nvPr/>
        </p:nvSpPr>
        <p:spPr>
          <a:xfrm>
            <a:off x="1377153" y="1804872"/>
            <a:ext cx="6366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Node 2:</a:t>
            </a:r>
            <a:endParaRPr sz="1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62" name="Google Shape;1262;p57"/>
          <p:cNvSpPr txBox="1"/>
          <p:nvPr/>
        </p:nvSpPr>
        <p:spPr>
          <a:xfrm>
            <a:off x="2427660" y="1804872"/>
            <a:ext cx="6366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Node 3:</a:t>
            </a:r>
            <a:endParaRPr sz="1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63" name="Google Shape;1263;p57"/>
          <p:cNvSpPr txBox="1"/>
          <p:nvPr/>
        </p:nvSpPr>
        <p:spPr>
          <a:xfrm>
            <a:off x="3478166" y="1804872"/>
            <a:ext cx="6366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Node 4:</a:t>
            </a:r>
            <a:endParaRPr sz="1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64" name="Google Shape;1264;p57"/>
          <p:cNvSpPr txBox="1"/>
          <p:nvPr/>
        </p:nvSpPr>
        <p:spPr>
          <a:xfrm>
            <a:off x="326609" y="3738460"/>
            <a:ext cx="6366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Node 1:</a:t>
            </a:r>
            <a:endParaRPr sz="1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65" name="Google Shape;1265;p57"/>
          <p:cNvSpPr txBox="1"/>
          <p:nvPr/>
        </p:nvSpPr>
        <p:spPr>
          <a:xfrm>
            <a:off x="1377153" y="3738447"/>
            <a:ext cx="6366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Node 2:</a:t>
            </a:r>
            <a:endParaRPr sz="1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66" name="Google Shape;1266;p57"/>
          <p:cNvSpPr txBox="1"/>
          <p:nvPr/>
        </p:nvSpPr>
        <p:spPr>
          <a:xfrm>
            <a:off x="2427660" y="3738447"/>
            <a:ext cx="6366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Node 3:</a:t>
            </a:r>
            <a:endParaRPr sz="1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67" name="Google Shape;1267;p57"/>
          <p:cNvSpPr txBox="1"/>
          <p:nvPr/>
        </p:nvSpPr>
        <p:spPr>
          <a:xfrm>
            <a:off x="3478166" y="3738447"/>
            <a:ext cx="6366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Node 4:</a:t>
            </a:r>
            <a:endParaRPr sz="1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68" name="Google Shape;1268;p57"/>
          <p:cNvSpPr txBox="1"/>
          <p:nvPr/>
        </p:nvSpPr>
        <p:spPr>
          <a:xfrm>
            <a:off x="5030259" y="1804885"/>
            <a:ext cx="6366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Node 1:</a:t>
            </a:r>
            <a:endParaRPr sz="1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69" name="Google Shape;1269;p57"/>
          <p:cNvSpPr txBox="1"/>
          <p:nvPr/>
        </p:nvSpPr>
        <p:spPr>
          <a:xfrm>
            <a:off x="6080803" y="1804872"/>
            <a:ext cx="6366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Node 2:</a:t>
            </a:r>
            <a:endParaRPr sz="1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70" name="Google Shape;1270;p57"/>
          <p:cNvSpPr txBox="1"/>
          <p:nvPr/>
        </p:nvSpPr>
        <p:spPr>
          <a:xfrm>
            <a:off x="7131310" y="1804872"/>
            <a:ext cx="6366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Node 3:</a:t>
            </a:r>
            <a:endParaRPr sz="1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71" name="Google Shape;1271;p57"/>
          <p:cNvSpPr txBox="1"/>
          <p:nvPr/>
        </p:nvSpPr>
        <p:spPr>
          <a:xfrm>
            <a:off x="8181816" y="1804872"/>
            <a:ext cx="6366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Node 4:</a:t>
            </a:r>
            <a:endParaRPr sz="1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72" name="Google Shape;1272;p57"/>
          <p:cNvSpPr txBox="1"/>
          <p:nvPr/>
        </p:nvSpPr>
        <p:spPr>
          <a:xfrm>
            <a:off x="5030259" y="3738460"/>
            <a:ext cx="6366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Node 1:</a:t>
            </a:r>
            <a:endParaRPr sz="1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73" name="Google Shape;1273;p57"/>
          <p:cNvSpPr txBox="1"/>
          <p:nvPr/>
        </p:nvSpPr>
        <p:spPr>
          <a:xfrm>
            <a:off x="6080803" y="3738447"/>
            <a:ext cx="6366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Node 2:</a:t>
            </a:r>
            <a:endParaRPr sz="1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74" name="Google Shape;1274;p57"/>
          <p:cNvSpPr txBox="1"/>
          <p:nvPr/>
        </p:nvSpPr>
        <p:spPr>
          <a:xfrm>
            <a:off x="7131310" y="3738447"/>
            <a:ext cx="6366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Node 3:</a:t>
            </a:r>
            <a:endParaRPr sz="1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75" name="Google Shape;1275;p57"/>
          <p:cNvSpPr txBox="1"/>
          <p:nvPr/>
        </p:nvSpPr>
        <p:spPr>
          <a:xfrm>
            <a:off x="8181816" y="3738447"/>
            <a:ext cx="6366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Node 4:</a:t>
            </a:r>
            <a:endParaRPr sz="1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276" name="Google Shape;1276;p57"/>
          <p:cNvCxnSpPr/>
          <p:nvPr/>
        </p:nvCxnSpPr>
        <p:spPr>
          <a:xfrm>
            <a:off x="1192038" y="3155075"/>
            <a:ext cx="0" cy="4395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77" name="Google Shape;1277;p57"/>
          <p:cNvSpPr txBox="1"/>
          <p:nvPr/>
        </p:nvSpPr>
        <p:spPr>
          <a:xfrm>
            <a:off x="1192038" y="3225050"/>
            <a:ext cx="2057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Broadcast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278" name="Google Shape;1278;p57"/>
          <p:cNvCxnSpPr/>
          <p:nvPr/>
        </p:nvCxnSpPr>
        <p:spPr>
          <a:xfrm>
            <a:off x="3249438" y="3155075"/>
            <a:ext cx="0" cy="4395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79" name="Google Shape;1279;p57"/>
          <p:cNvCxnSpPr/>
          <p:nvPr/>
        </p:nvCxnSpPr>
        <p:spPr>
          <a:xfrm>
            <a:off x="5894613" y="3155075"/>
            <a:ext cx="0" cy="4395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1280" name="Google Shape;1280;p57"/>
          <p:cNvSpPr txBox="1"/>
          <p:nvPr/>
        </p:nvSpPr>
        <p:spPr>
          <a:xfrm>
            <a:off x="5894613" y="3225050"/>
            <a:ext cx="2057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Reduce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281" name="Google Shape;1281;p57"/>
          <p:cNvCxnSpPr/>
          <p:nvPr/>
        </p:nvCxnSpPr>
        <p:spPr>
          <a:xfrm>
            <a:off x="7952013" y="3155075"/>
            <a:ext cx="0" cy="4395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1282" name="Google Shape;1282;p57"/>
          <p:cNvSpPr/>
          <p:nvPr/>
        </p:nvSpPr>
        <p:spPr>
          <a:xfrm>
            <a:off x="4884181" y="4696041"/>
            <a:ext cx="926700" cy="251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83" name="Google Shape;1283;p57"/>
          <p:cNvSpPr/>
          <p:nvPr/>
        </p:nvSpPr>
        <p:spPr>
          <a:xfrm>
            <a:off x="4884175" y="4444842"/>
            <a:ext cx="926700" cy="251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84" name="Google Shape;1284;p57"/>
          <p:cNvSpPr/>
          <p:nvPr/>
        </p:nvSpPr>
        <p:spPr>
          <a:xfrm>
            <a:off x="4884185" y="4193643"/>
            <a:ext cx="926700" cy="251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85" name="Google Shape;1285;p57"/>
          <p:cNvSpPr/>
          <p:nvPr/>
        </p:nvSpPr>
        <p:spPr>
          <a:xfrm>
            <a:off x="4884179" y="3942443"/>
            <a:ext cx="926700" cy="251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7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86" name="Google Shape;1286;p57"/>
          <p:cNvSpPr/>
          <p:nvPr/>
        </p:nvSpPr>
        <p:spPr>
          <a:xfrm>
            <a:off x="5934706" y="4696029"/>
            <a:ext cx="926700" cy="2511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700"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87" name="Google Shape;1287;p57"/>
          <p:cNvSpPr/>
          <p:nvPr/>
        </p:nvSpPr>
        <p:spPr>
          <a:xfrm>
            <a:off x="5934700" y="4444829"/>
            <a:ext cx="926700" cy="2511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700"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88" name="Google Shape;1288;p57"/>
          <p:cNvSpPr/>
          <p:nvPr/>
        </p:nvSpPr>
        <p:spPr>
          <a:xfrm>
            <a:off x="5934710" y="4193630"/>
            <a:ext cx="926700" cy="2511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7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i="1" sz="1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89" name="Google Shape;1289;p57"/>
          <p:cNvSpPr/>
          <p:nvPr/>
        </p:nvSpPr>
        <p:spPr>
          <a:xfrm>
            <a:off x="5934704" y="3942431"/>
            <a:ext cx="926700" cy="2511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700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90" name="Google Shape;1290;p57"/>
          <p:cNvSpPr/>
          <p:nvPr/>
        </p:nvSpPr>
        <p:spPr>
          <a:xfrm>
            <a:off x="6985225" y="4696029"/>
            <a:ext cx="926700" cy="2511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700"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91" name="Google Shape;1291;p57"/>
          <p:cNvSpPr/>
          <p:nvPr/>
        </p:nvSpPr>
        <p:spPr>
          <a:xfrm>
            <a:off x="6985219" y="4444829"/>
            <a:ext cx="926700" cy="2511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700"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92" name="Google Shape;1292;p57"/>
          <p:cNvSpPr/>
          <p:nvPr/>
        </p:nvSpPr>
        <p:spPr>
          <a:xfrm>
            <a:off x="6985229" y="4193630"/>
            <a:ext cx="926700" cy="2511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7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93" name="Google Shape;1293;p57"/>
          <p:cNvSpPr/>
          <p:nvPr/>
        </p:nvSpPr>
        <p:spPr>
          <a:xfrm>
            <a:off x="6985223" y="3942431"/>
            <a:ext cx="926700" cy="2511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700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94" name="Google Shape;1294;p57"/>
          <p:cNvSpPr/>
          <p:nvPr/>
        </p:nvSpPr>
        <p:spPr>
          <a:xfrm>
            <a:off x="8035744" y="4696029"/>
            <a:ext cx="926700" cy="2511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700"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95" name="Google Shape;1295;p57"/>
          <p:cNvSpPr/>
          <p:nvPr/>
        </p:nvSpPr>
        <p:spPr>
          <a:xfrm>
            <a:off x="8035738" y="4444829"/>
            <a:ext cx="926700" cy="2511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700"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96" name="Google Shape;1296;p57"/>
          <p:cNvSpPr/>
          <p:nvPr/>
        </p:nvSpPr>
        <p:spPr>
          <a:xfrm>
            <a:off x="8035748" y="4193630"/>
            <a:ext cx="926700" cy="2511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7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97" name="Google Shape;1297;p57"/>
          <p:cNvSpPr/>
          <p:nvPr/>
        </p:nvSpPr>
        <p:spPr>
          <a:xfrm>
            <a:off x="8035742" y="3942431"/>
            <a:ext cx="926700" cy="2511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700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98" name="Google Shape;1298;p57"/>
          <p:cNvSpPr/>
          <p:nvPr/>
        </p:nvSpPr>
        <p:spPr>
          <a:xfrm>
            <a:off x="4884181" y="2760050"/>
            <a:ext cx="9267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99" name="Google Shape;1299;p57"/>
          <p:cNvSpPr/>
          <p:nvPr/>
        </p:nvSpPr>
        <p:spPr>
          <a:xfrm>
            <a:off x="4884175" y="2508874"/>
            <a:ext cx="9267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00" name="Google Shape;1300;p57"/>
          <p:cNvSpPr/>
          <p:nvPr/>
        </p:nvSpPr>
        <p:spPr>
          <a:xfrm>
            <a:off x="4884185" y="2257699"/>
            <a:ext cx="9267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01" name="Google Shape;1301;p57"/>
          <p:cNvSpPr/>
          <p:nvPr/>
        </p:nvSpPr>
        <p:spPr>
          <a:xfrm>
            <a:off x="4884179" y="2006523"/>
            <a:ext cx="9267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7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02" name="Google Shape;1302;p57"/>
          <p:cNvSpPr/>
          <p:nvPr/>
        </p:nvSpPr>
        <p:spPr>
          <a:xfrm>
            <a:off x="5932723" y="2760050"/>
            <a:ext cx="926700" cy="2511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03" name="Google Shape;1303;p57"/>
          <p:cNvSpPr/>
          <p:nvPr/>
        </p:nvSpPr>
        <p:spPr>
          <a:xfrm>
            <a:off x="5932717" y="2508874"/>
            <a:ext cx="926700" cy="2511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04" name="Google Shape;1304;p57"/>
          <p:cNvSpPr/>
          <p:nvPr/>
        </p:nvSpPr>
        <p:spPr>
          <a:xfrm>
            <a:off x="5932727" y="2257699"/>
            <a:ext cx="926700" cy="2511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05" name="Google Shape;1305;p57"/>
          <p:cNvSpPr/>
          <p:nvPr/>
        </p:nvSpPr>
        <p:spPr>
          <a:xfrm>
            <a:off x="5932722" y="2006523"/>
            <a:ext cx="926700" cy="2511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06" name="Google Shape;1306;p57"/>
          <p:cNvSpPr/>
          <p:nvPr/>
        </p:nvSpPr>
        <p:spPr>
          <a:xfrm>
            <a:off x="6981290" y="2760050"/>
            <a:ext cx="926700" cy="2511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07" name="Google Shape;1307;p57"/>
          <p:cNvSpPr/>
          <p:nvPr/>
        </p:nvSpPr>
        <p:spPr>
          <a:xfrm>
            <a:off x="6981285" y="2508874"/>
            <a:ext cx="926700" cy="2511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08" name="Google Shape;1308;p57"/>
          <p:cNvSpPr/>
          <p:nvPr/>
        </p:nvSpPr>
        <p:spPr>
          <a:xfrm>
            <a:off x="6981295" y="2257699"/>
            <a:ext cx="926700" cy="2511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09" name="Google Shape;1309;p57"/>
          <p:cNvSpPr/>
          <p:nvPr/>
        </p:nvSpPr>
        <p:spPr>
          <a:xfrm>
            <a:off x="6981289" y="2006523"/>
            <a:ext cx="926700" cy="2511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10" name="Google Shape;1310;p57"/>
          <p:cNvSpPr/>
          <p:nvPr/>
        </p:nvSpPr>
        <p:spPr>
          <a:xfrm>
            <a:off x="8035745" y="2760050"/>
            <a:ext cx="926700" cy="2511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11" name="Google Shape;1311;p57"/>
          <p:cNvSpPr/>
          <p:nvPr/>
        </p:nvSpPr>
        <p:spPr>
          <a:xfrm>
            <a:off x="8035739" y="2508874"/>
            <a:ext cx="926700" cy="2511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12" name="Google Shape;1312;p57"/>
          <p:cNvSpPr/>
          <p:nvPr/>
        </p:nvSpPr>
        <p:spPr>
          <a:xfrm>
            <a:off x="8035750" y="2257699"/>
            <a:ext cx="926700" cy="2511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13" name="Google Shape;1313;p57"/>
          <p:cNvSpPr/>
          <p:nvPr/>
        </p:nvSpPr>
        <p:spPr>
          <a:xfrm>
            <a:off x="8035744" y="2006523"/>
            <a:ext cx="926700" cy="2511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7" name="Shape 1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8" name="Google Shape;1318;p58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Duals</a:t>
            </a:r>
            <a:endParaRPr/>
          </a:p>
        </p:txBody>
      </p:sp>
      <p:sp>
        <p:nvSpPr>
          <p:cNvPr id="1319" name="Google Shape;1319;p58"/>
          <p:cNvSpPr txBox="1"/>
          <p:nvPr>
            <p:ph idx="1" type="body"/>
          </p:nvPr>
        </p:nvSpPr>
        <p:spPr>
          <a:xfrm>
            <a:off x="107050" y="402200"/>
            <a:ext cx="8909700" cy="126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Scatter and Gather are duals.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Scatter</a:t>
            </a:r>
            <a:r>
              <a:rPr lang="en"/>
              <a:t>:	Read from 4 boxes in root node.	Write to the </a:t>
            </a:r>
            <a:r>
              <a:rPr i="1" lang="en"/>
              <a:t>i</a:t>
            </a:r>
            <a:r>
              <a:rPr lang="en"/>
              <a:t>th box in </a:t>
            </a:r>
            <a:r>
              <a:rPr i="1" lang="en"/>
              <a:t>i</a:t>
            </a:r>
            <a:r>
              <a:rPr lang="en"/>
              <a:t>th node.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Gather:	Read from the </a:t>
            </a:r>
            <a:r>
              <a:rPr i="1" lang="en"/>
              <a:t>i</a:t>
            </a:r>
            <a:r>
              <a:rPr lang="en"/>
              <a:t>th box in </a:t>
            </a:r>
            <a:r>
              <a:rPr i="1" lang="en"/>
              <a:t>i</a:t>
            </a:r>
            <a:r>
              <a:rPr lang="en"/>
              <a:t>th node.	Write to 4 boxes in root node.</a:t>
            </a:r>
            <a:endParaRPr/>
          </a:p>
        </p:txBody>
      </p:sp>
      <p:sp>
        <p:nvSpPr>
          <p:cNvPr id="1320" name="Google Shape;1320;p58"/>
          <p:cNvSpPr/>
          <p:nvPr/>
        </p:nvSpPr>
        <p:spPr>
          <a:xfrm>
            <a:off x="181568" y="4695950"/>
            <a:ext cx="926700" cy="2511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21" name="Google Shape;1321;p58"/>
          <p:cNvSpPr/>
          <p:nvPr/>
        </p:nvSpPr>
        <p:spPr>
          <a:xfrm>
            <a:off x="181563" y="4444774"/>
            <a:ext cx="926700" cy="2511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22" name="Google Shape;1322;p58"/>
          <p:cNvSpPr/>
          <p:nvPr/>
        </p:nvSpPr>
        <p:spPr>
          <a:xfrm>
            <a:off x="181573" y="4193599"/>
            <a:ext cx="926700" cy="2511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23" name="Google Shape;1323;p58"/>
          <p:cNvSpPr/>
          <p:nvPr/>
        </p:nvSpPr>
        <p:spPr>
          <a:xfrm>
            <a:off x="181567" y="3942423"/>
            <a:ext cx="926700" cy="251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7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24" name="Google Shape;1324;p58"/>
          <p:cNvSpPr/>
          <p:nvPr/>
        </p:nvSpPr>
        <p:spPr>
          <a:xfrm>
            <a:off x="1230111" y="4695950"/>
            <a:ext cx="926700" cy="2511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25" name="Google Shape;1325;p58"/>
          <p:cNvSpPr/>
          <p:nvPr/>
        </p:nvSpPr>
        <p:spPr>
          <a:xfrm>
            <a:off x="1230105" y="4444774"/>
            <a:ext cx="926700" cy="2511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26" name="Google Shape;1326;p58"/>
          <p:cNvSpPr/>
          <p:nvPr/>
        </p:nvSpPr>
        <p:spPr>
          <a:xfrm>
            <a:off x="1230115" y="4193599"/>
            <a:ext cx="926700" cy="251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i="1"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27" name="Google Shape;1327;p58"/>
          <p:cNvSpPr/>
          <p:nvPr/>
        </p:nvSpPr>
        <p:spPr>
          <a:xfrm>
            <a:off x="1230109" y="3942423"/>
            <a:ext cx="926700" cy="2511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28" name="Google Shape;1328;p58"/>
          <p:cNvSpPr/>
          <p:nvPr/>
        </p:nvSpPr>
        <p:spPr>
          <a:xfrm>
            <a:off x="2278678" y="4695950"/>
            <a:ext cx="926700" cy="2511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29" name="Google Shape;1329;p58"/>
          <p:cNvSpPr/>
          <p:nvPr/>
        </p:nvSpPr>
        <p:spPr>
          <a:xfrm>
            <a:off x="2278672" y="4444774"/>
            <a:ext cx="926700" cy="251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i="1"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30" name="Google Shape;1330;p58"/>
          <p:cNvSpPr/>
          <p:nvPr/>
        </p:nvSpPr>
        <p:spPr>
          <a:xfrm>
            <a:off x="2278682" y="4193599"/>
            <a:ext cx="926700" cy="2511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31" name="Google Shape;1331;p58"/>
          <p:cNvSpPr/>
          <p:nvPr/>
        </p:nvSpPr>
        <p:spPr>
          <a:xfrm>
            <a:off x="2278676" y="3942423"/>
            <a:ext cx="926700" cy="2511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32" name="Google Shape;1332;p58"/>
          <p:cNvSpPr/>
          <p:nvPr/>
        </p:nvSpPr>
        <p:spPr>
          <a:xfrm>
            <a:off x="3333133" y="4695950"/>
            <a:ext cx="926700" cy="251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33" name="Google Shape;1333;p58"/>
          <p:cNvSpPr/>
          <p:nvPr/>
        </p:nvSpPr>
        <p:spPr>
          <a:xfrm>
            <a:off x="3333127" y="4444774"/>
            <a:ext cx="926700" cy="2511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34" name="Google Shape;1334;p58"/>
          <p:cNvSpPr/>
          <p:nvPr/>
        </p:nvSpPr>
        <p:spPr>
          <a:xfrm>
            <a:off x="3333137" y="4193599"/>
            <a:ext cx="926700" cy="2511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35" name="Google Shape;1335;p58"/>
          <p:cNvSpPr/>
          <p:nvPr/>
        </p:nvSpPr>
        <p:spPr>
          <a:xfrm>
            <a:off x="3333131" y="3942423"/>
            <a:ext cx="926700" cy="2511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36" name="Google Shape;1336;p58"/>
          <p:cNvSpPr/>
          <p:nvPr/>
        </p:nvSpPr>
        <p:spPr>
          <a:xfrm>
            <a:off x="181568" y="2760116"/>
            <a:ext cx="926700" cy="251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37" name="Google Shape;1337;p58"/>
          <p:cNvSpPr/>
          <p:nvPr/>
        </p:nvSpPr>
        <p:spPr>
          <a:xfrm>
            <a:off x="181563" y="2508917"/>
            <a:ext cx="926700" cy="251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38" name="Google Shape;1338;p58"/>
          <p:cNvSpPr/>
          <p:nvPr/>
        </p:nvSpPr>
        <p:spPr>
          <a:xfrm>
            <a:off x="181573" y="2257718"/>
            <a:ext cx="926700" cy="251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39" name="Google Shape;1339;p58"/>
          <p:cNvSpPr/>
          <p:nvPr/>
        </p:nvSpPr>
        <p:spPr>
          <a:xfrm>
            <a:off x="181567" y="2006518"/>
            <a:ext cx="926700" cy="2511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7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40" name="Google Shape;1340;p58"/>
          <p:cNvSpPr/>
          <p:nvPr/>
        </p:nvSpPr>
        <p:spPr>
          <a:xfrm>
            <a:off x="1232093" y="2760104"/>
            <a:ext cx="926700" cy="2511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rgbClr val="B7B7B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700">
                <a:solidFill>
                  <a:srgbClr val="B7B7B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400">
              <a:solidFill>
                <a:srgbClr val="B7B7B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41" name="Google Shape;1341;p58"/>
          <p:cNvSpPr/>
          <p:nvPr/>
        </p:nvSpPr>
        <p:spPr>
          <a:xfrm>
            <a:off x="1232087" y="2508904"/>
            <a:ext cx="926700" cy="2511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rgbClr val="B7B7B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700">
                <a:solidFill>
                  <a:srgbClr val="B7B7B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400">
              <a:solidFill>
                <a:srgbClr val="B7B7B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42" name="Google Shape;1342;p58"/>
          <p:cNvSpPr/>
          <p:nvPr/>
        </p:nvSpPr>
        <p:spPr>
          <a:xfrm>
            <a:off x="1232098" y="2257705"/>
            <a:ext cx="926700" cy="2511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rgbClr val="B7B7B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700">
                <a:solidFill>
                  <a:srgbClr val="B7B7B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i="1" sz="1200">
              <a:solidFill>
                <a:srgbClr val="B7B7B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43" name="Google Shape;1343;p58"/>
          <p:cNvSpPr/>
          <p:nvPr/>
        </p:nvSpPr>
        <p:spPr>
          <a:xfrm>
            <a:off x="1232092" y="2006506"/>
            <a:ext cx="926700" cy="2511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rgbClr val="B7B7B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700">
                <a:solidFill>
                  <a:srgbClr val="B7B7B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400">
              <a:solidFill>
                <a:srgbClr val="B7B7B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44" name="Google Shape;1344;p58"/>
          <p:cNvSpPr/>
          <p:nvPr/>
        </p:nvSpPr>
        <p:spPr>
          <a:xfrm>
            <a:off x="2282612" y="2760104"/>
            <a:ext cx="926700" cy="2511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rgbClr val="B7B7B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700">
                <a:solidFill>
                  <a:srgbClr val="B7B7B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400">
              <a:solidFill>
                <a:srgbClr val="B7B7B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45" name="Google Shape;1345;p58"/>
          <p:cNvSpPr/>
          <p:nvPr/>
        </p:nvSpPr>
        <p:spPr>
          <a:xfrm>
            <a:off x="2282606" y="2508904"/>
            <a:ext cx="926700" cy="2511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rgbClr val="B7B7B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700">
                <a:solidFill>
                  <a:srgbClr val="B7B7B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400">
              <a:solidFill>
                <a:srgbClr val="B7B7B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46" name="Google Shape;1346;p58"/>
          <p:cNvSpPr/>
          <p:nvPr/>
        </p:nvSpPr>
        <p:spPr>
          <a:xfrm>
            <a:off x="2282616" y="2257705"/>
            <a:ext cx="926700" cy="2511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rgbClr val="B7B7B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700">
                <a:solidFill>
                  <a:srgbClr val="B7B7B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400">
              <a:solidFill>
                <a:srgbClr val="B7B7B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47" name="Google Shape;1347;p58"/>
          <p:cNvSpPr/>
          <p:nvPr/>
        </p:nvSpPr>
        <p:spPr>
          <a:xfrm>
            <a:off x="2282611" y="2006506"/>
            <a:ext cx="926700" cy="2511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rgbClr val="B7B7B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700">
                <a:solidFill>
                  <a:srgbClr val="B7B7B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400">
              <a:solidFill>
                <a:srgbClr val="B7B7B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48" name="Google Shape;1348;p58"/>
          <p:cNvSpPr/>
          <p:nvPr/>
        </p:nvSpPr>
        <p:spPr>
          <a:xfrm>
            <a:off x="3333131" y="2760104"/>
            <a:ext cx="926700" cy="2511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rgbClr val="B7B7B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700">
                <a:solidFill>
                  <a:srgbClr val="B7B7B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400">
              <a:solidFill>
                <a:srgbClr val="B7B7B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49" name="Google Shape;1349;p58"/>
          <p:cNvSpPr/>
          <p:nvPr/>
        </p:nvSpPr>
        <p:spPr>
          <a:xfrm>
            <a:off x="3333125" y="2508904"/>
            <a:ext cx="926700" cy="2511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rgbClr val="B7B7B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700">
                <a:solidFill>
                  <a:srgbClr val="B7B7B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400">
              <a:solidFill>
                <a:srgbClr val="B7B7B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50" name="Google Shape;1350;p58"/>
          <p:cNvSpPr/>
          <p:nvPr/>
        </p:nvSpPr>
        <p:spPr>
          <a:xfrm>
            <a:off x="3333135" y="2257705"/>
            <a:ext cx="926700" cy="2511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rgbClr val="B7B7B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700">
                <a:solidFill>
                  <a:srgbClr val="B7B7B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400">
              <a:solidFill>
                <a:srgbClr val="B7B7B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51" name="Google Shape;1351;p58"/>
          <p:cNvSpPr/>
          <p:nvPr/>
        </p:nvSpPr>
        <p:spPr>
          <a:xfrm>
            <a:off x="3333130" y="2006506"/>
            <a:ext cx="926700" cy="2511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rgbClr val="B7B7B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700">
                <a:solidFill>
                  <a:srgbClr val="B7B7B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400">
              <a:solidFill>
                <a:srgbClr val="B7B7B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52" name="Google Shape;1352;p58"/>
          <p:cNvSpPr txBox="1"/>
          <p:nvPr/>
        </p:nvSpPr>
        <p:spPr>
          <a:xfrm>
            <a:off x="326609" y="1804885"/>
            <a:ext cx="6366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Node 1:</a:t>
            </a:r>
            <a:endParaRPr sz="1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53" name="Google Shape;1353;p58"/>
          <p:cNvSpPr txBox="1"/>
          <p:nvPr/>
        </p:nvSpPr>
        <p:spPr>
          <a:xfrm>
            <a:off x="1377153" y="1804872"/>
            <a:ext cx="6366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Node 2:</a:t>
            </a:r>
            <a:endParaRPr sz="1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54" name="Google Shape;1354;p58"/>
          <p:cNvSpPr txBox="1"/>
          <p:nvPr/>
        </p:nvSpPr>
        <p:spPr>
          <a:xfrm>
            <a:off x="2427660" y="1804872"/>
            <a:ext cx="6366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Node 3:</a:t>
            </a:r>
            <a:endParaRPr sz="1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55" name="Google Shape;1355;p58"/>
          <p:cNvSpPr txBox="1"/>
          <p:nvPr/>
        </p:nvSpPr>
        <p:spPr>
          <a:xfrm>
            <a:off x="3478166" y="1804872"/>
            <a:ext cx="6366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Node 4:</a:t>
            </a:r>
            <a:endParaRPr sz="1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56" name="Google Shape;1356;p58"/>
          <p:cNvSpPr txBox="1"/>
          <p:nvPr/>
        </p:nvSpPr>
        <p:spPr>
          <a:xfrm>
            <a:off x="326609" y="3738460"/>
            <a:ext cx="6366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Node 1:</a:t>
            </a:r>
            <a:endParaRPr sz="1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57" name="Google Shape;1357;p58"/>
          <p:cNvSpPr txBox="1"/>
          <p:nvPr/>
        </p:nvSpPr>
        <p:spPr>
          <a:xfrm>
            <a:off x="1377153" y="3738447"/>
            <a:ext cx="6366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Node 2:</a:t>
            </a:r>
            <a:endParaRPr sz="1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58" name="Google Shape;1358;p58"/>
          <p:cNvSpPr txBox="1"/>
          <p:nvPr/>
        </p:nvSpPr>
        <p:spPr>
          <a:xfrm>
            <a:off x="2427660" y="3738447"/>
            <a:ext cx="6366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Node 3:</a:t>
            </a:r>
            <a:endParaRPr sz="1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59" name="Google Shape;1359;p58"/>
          <p:cNvSpPr txBox="1"/>
          <p:nvPr/>
        </p:nvSpPr>
        <p:spPr>
          <a:xfrm>
            <a:off x="3478166" y="3738447"/>
            <a:ext cx="6366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Node 4:</a:t>
            </a:r>
            <a:endParaRPr sz="1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60" name="Google Shape;1360;p58"/>
          <p:cNvSpPr txBox="1"/>
          <p:nvPr/>
        </p:nvSpPr>
        <p:spPr>
          <a:xfrm>
            <a:off x="5030259" y="1804885"/>
            <a:ext cx="6366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Node 1:</a:t>
            </a:r>
            <a:endParaRPr sz="1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61" name="Google Shape;1361;p58"/>
          <p:cNvSpPr txBox="1"/>
          <p:nvPr/>
        </p:nvSpPr>
        <p:spPr>
          <a:xfrm>
            <a:off x="6080803" y="1804872"/>
            <a:ext cx="6366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Node 2:</a:t>
            </a:r>
            <a:endParaRPr sz="1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62" name="Google Shape;1362;p58"/>
          <p:cNvSpPr txBox="1"/>
          <p:nvPr/>
        </p:nvSpPr>
        <p:spPr>
          <a:xfrm>
            <a:off x="7131310" y="1804872"/>
            <a:ext cx="6366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Node 3:</a:t>
            </a:r>
            <a:endParaRPr sz="1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63" name="Google Shape;1363;p58"/>
          <p:cNvSpPr txBox="1"/>
          <p:nvPr/>
        </p:nvSpPr>
        <p:spPr>
          <a:xfrm>
            <a:off x="8181816" y="1804872"/>
            <a:ext cx="6366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Node 4:</a:t>
            </a:r>
            <a:endParaRPr sz="1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64" name="Google Shape;1364;p58"/>
          <p:cNvSpPr txBox="1"/>
          <p:nvPr/>
        </p:nvSpPr>
        <p:spPr>
          <a:xfrm>
            <a:off x="5030259" y="3738460"/>
            <a:ext cx="6366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Node 1:</a:t>
            </a:r>
            <a:endParaRPr sz="1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65" name="Google Shape;1365;p58"/>
          <p:cNvSpPr txBox="1"/>
          <p:nvPr/>
        </p:nvSpPr>
        <p:spPr>
          <a:xfrm>
            <a:off x="6080803" y="3738447"/>
            <a:ext cx="6366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Node 2:</a:t>
            </a:r>
            <a:endParaRPr sz="1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66" name="Google Shape;1366;p58"/>
          <p:cNvSpPr txBox="1"/>
          <p:nvPr/>
        </p:nvSpPr>
        <p:spPr>
          <a:xfrm>
            <a:off x="7131310" y="3738447"/>
            <a:ext cx="6366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Node 3:</a:t>
            </a:r>
            <a:endParaRPr sz="1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67" name="Google Shape;1367;p58"/>
          <p:cNvSpPr txBox="1"/>
          <p:nvPr/>
        </p:nvSpPr>
        <p:spPr>
          <a:xfrm>
            <a:off x="8181816" y="3738447"/>
            <a:ext cx="6366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Node 4:</a:t>
            </a:r>
            <a:endParaRPr sz="1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368" name="Google Shape;1368;p58"/>
          <p:cNvCxnSpPr/>
          <p:nvPr/>
        </p:nvCxnSpPr>
        <p:spPr>
          <a:xfrm>
            <a:off x="1192038" y="3155075"/>
            <a:ext cx="0" cy="4395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369" name="Google Shape;1369;p58"/>
          <p:cNvSpPr txBox="1"/>
          <p:nvPr/>
        </p:nvSpPr>
        <p:spPr>
          <a:xfrm>
            <a:off x="1192038" y="3225050"/>
            <a:ext cx="2057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Scatter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370" name="Google Shape;1370;p58"/>
          <p:cNvCxnSpPr/>
          <p:nvPr/>
        </p:nvCxnSpPr>
        <p:spPr>
          <a:xfrm>
            <a:off x="3249438" y="3155075"/>
            <a:ext cx="0" cy="4395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71" name="Google Shape;1371;p58"/>
          <p:cNvCxnSpPr/>
          <p:nvPr/>
        </p:nvCxnSpPr>
        <p:spPr>
          <a:xfrm>
            <a:off x="5894613" y="3155075"/>
            <a:ext cx="0" cy="4395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1372" name="Google Shape;1372;p58"/>
          <p:cNvSpPr txBox="1"/>
          <p:nvPr/>
        </p:nvSpPr>
        <p:spPr>
          <a:xfrm>
            <a:off x="5894613" y="3225050"/>
            <a:ext cx="2057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Gather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373" name="Google Shape;1373;p58"/>
          <p:cNvCxnSpPr/>
          <p:nvPr/>
        </p:nvCxnSpPr>
        <p:spPr>
          <a:xfrm>
            <a:off x="7952013" y="3155075"/>
            <a:ext cx="0" cy="4395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1374" name="Google Shape;1374;p58"/>
          <p:cNvSpPr/>
          <p:nvPr/>
        </p:nvSpPr>
        <p:spPr>
          <a:xfrm>
            <a:off x="4884181" y="4696041"/>
            <a:ext cx="926700" cy="2511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rgbClr val="B7B7B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solidFill>
                  <a:srgbClr val="B7B7B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400">
              <a:solidFill>
                <a:srgbClr val="B7B7B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75" name="Google Shape;1375;p58"/>
          <p:cNvSpPr/>
          <p:nvPr/>
        </p:nvSpPr>
        <p:spPr>
          <a:xfrm>
            <a:off x="4884175" y="4444842"/>
            <a:ext cx="926700" cy="2511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rgbClr val="B7B7B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solidFill>
                  <a:srgbClr val="B7B7B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400">
              <a:solidFill>
                <a:srgbClr val="B7B7B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76" name="Google Shape;1376;p58"/>
          <p:cNvSpPr/>
          <p:nvPr/>
        </p:nvSpPr>
        <p:spPr>
          <a:xfrm>
            <a:off x="4884185" y="4193643"/>
            <a:ext cx="926700" cy="2511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rgbClr val="B7B7B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solidFill>
                  <a:srgbClr val="B7B7B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400">
              <a:solidFill>
                <a:srgbClr val="B7B7B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77" name="Google Shape;1377;p58"/>
          <p:cNvSpPr/>
          <p:nvPr/>
        </p:nvSpPr>
        <p:spPr>
          <a:xfrm>
            <a:off x="4884179" y="3942443"/>
            <a:ext cx="926700" cy="2511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7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78" name="Google Shape;1378;p58"/>
          <p:cNvSpPr/>
          <p:nvPr/>
        </p:nvSpPr>
        <p:spPr>
          <a:xfrm>
            <a:off x="5934706" y="4696029"/>
            <a:ext cx="926700" cy="2511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rgbClr val="B7B7B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700">
                <a:solidFill>
                  <a:srgbClr val="B7B7B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400">
              <a:solidFill>
                <a:srgbClr val="B7B7B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79" name="Google Shape;1379;p58"/>
          <p:cNvSpPr/>
          <p:nvPr/>
        </p:nvSpPr>
        <p:spPr>
          <a:xfrm>
            <a:off x="5934700" y="4444829"/>
            <a:ext cx="926700" cy="2511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rgbClr val="B7B7B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700">
                <a:solidFill>
                  <a:srgbClr val="B7B7B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400">
              <a:solidFill>
                <a:srgbClr val="B7B7B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80" name="Google Shape;1380;p58"/>
          <p:cNvSpPr/>
          <p:nvPr/>
        </p:nvSpPr>
        <p:spPr>
          <a:xfrm>
            <a:off x="5934710" y="4193630"/>
            <a:ext cx="926700" cy="2511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i="1" sz="1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81" name="Google Shape;1381;p58"/>
          <p:cNvSpPr/>
          <p:nvPr/>
        </p:nvSpPr>
        <p:spPr>
          <a:xfrm>
            <a:off x="5934704" y="3942431"/>
            <a:ext cx="926700" cy="2511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rgbClr val="B7B7B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700">
                <a:solidFill>
                  <a:srgbClr val="B7B7B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400">
              <a:solidFill>
                <a:srgbClr val="B7B7B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82" name="Google Shape;1382;p58"/>
          <p:cNvSpPr/>
          <p:nvPr/>
        </p:nvSpPr>
        <p:spPr>
          <a:xfrm>
            <a:off x="6985225" y="4696029"/>
            <a:ext cx="926700" cy="2511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rgbClr val="B7B7B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700">
                <a:solidFill>
                  <a:srgbClr val="B7B7B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400">
              <a:solidFill>
                <a:srgbClr val="B7B7B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83" name="Google Shape;1383;p58"/>
          <p:cNvSpPr/>
          <p:nvPr/>
        </p:nvSpPr>
        <p:spPr>
          <a:xfrm>
            <a:off x="6985219" y="4444829"/>
            <a:ext cx="926700" cy="2511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84" name="Google Shape;1384;p58"/>
          <p:cNvSpPr/>
          <p:nvPr/>
        </p:nvSpPr>
        <p:spPr>
          <a:xfrm>
            <a:off x="6985229" y="4193630"/>
            <a:ext cx="926700" cy="2511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rgbClr val="B7B7B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700">
                <a:solidFill>
                  <a:srgbClr val="B7B7B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400">
              <a:solidFill>
                <a:srgbClr val="B7B7B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85" name="Google Shape;1385;p58"/>
          <p:cNvSpPr/>
          <p:nvPr/>
        </p:nvSpPr>
        <p:spPr>
          <a:xfrm>
            <a:off x="6985223" y="3942431"/>
            <a:ext cx="926700" cy="2511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rgbClr val="B7B7B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700">
                <a:solidFill>
                  <a:srgbClr val="B7B7B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400">
              <a:solidFill>
                <a:srgbClr val="B7B7B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86" name="Google Shape;1386;p58"/>
          <p:cNvSpPr/>
          <p:nvPr/>
        </p:nvSpPr>
        <p:spPr>
          <a:xfrm>
            <a:off x="8035744" y="4696029"/>
            <a:ext cx="926700" cy="2511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87" name="Google Shape;1387;p58"/>
          <p:cNvSpPr/>
          <p:nvPr/>
        </p:nvSpPr>
        <p:spPr>
          <a:xfrm>
            <a:off x="8035738" y="4444829"/>
            <a:ext cx="926700" cy="2511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rgbClr val="B7B7B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700">
                <a:solidFill>
                  <a:srgbClr val="B7B7B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400">
              <a:solidFill>
                <a:srgbClr val="B7B7B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88" name="Google Shape;1388;p58"/>
          <p:cNvSpPr/>
          <p:nvPr/>
        </p:nvSpPr>
        <p:spPr>
          <a:xfrm>
            <a:off x="8035748" y="4193630"/>
            <a:ext cx="926700" cy="2511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rgbClr val="B7B7B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700">
                <a:solidFill>
                  <a:srgbClr val="B7B7B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400">
              <a:solidFill>
                <a:srgbClr val="B7B7B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89" name="Google Shape;1389;p58"/>
          <p:cNvSpPr/>
          <p:nvPr/>
        </p:nvSpPr>
        <p:spPr>
          <a:xfrm>
            <a:off x="8035742" y="3942431"/>
            <a:ext cx="926700" cy="2511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rgbClr val="B7B7B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700">
                <a:solidFill>
                  <a:srgbClr val="B7B7B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400">
              <a:solidFill>
                <a:srgbClr val="B7B7B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90" name="Google Shape;1390;p58"/>
          <p:cNvSpPr/>
          <p:nvPr/>
        </p:nvSpPr>
        <p:spPr>
          <a:xfrm>
            <a:off x="4884181" y="2760050"/>
            <a:ext cx="926700" cy="2511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91" name="Google Shape;1391;p58"/>
          <p:cNvSpPr/>
          <p:nvPr/>
        </p:nvSpPr>
        <p:spPr>
          <a:xfrm>
            <a:off x="4884175" y="2508874"/>
            <a:ext cx="926700" cy="2511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92" name="Google Shape;1392;p58"/>
          <p:cNvSpPr/>
          <p:nvPr/>
        </p:nvSpPr>
        <p:spPr>
          <a:xfrm>
            <a:off x="4884185" y="2257699"/>
            <a:ext cx="926700" cy="2511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93" name="Google Shape;1393;p58"/>
          <p:cNvSpPr/>
          <p:nvPr/>
        </p:nvSpPr>
        <p:spPr>
          <a:xfrm>
            <a:off x="4884179" y="2006523"/>
            <a:ext cx="926700" cy="251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7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94" name="Google Shape;1394;p58"/>
          <p:cNvSpPr/>
          <p:nvPr/>
        </p:nvSpPr>
        <p:spPr>
          <a:xfrm>
            <a:off x="5932723" y="2760050"/>
            <a:ext cx="926700" cy="2511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95" name="Google Shape;1395;p58"/>
          <p:cNvSpPr/>
          <p:nvPr/>
        </p:nvSpPr>
        <p:spPr>
          <a:xfrm>
            <a:off x="5932717" y="2508874"/>
            <a:ext cx="926700" cy="2511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96" name="Google Shape;1396;p58"/>
          <p:cNvSpPr/>
          <p:nvPr/>
        </p:nvSpPr>
        <p:spPr>
          <a:xfrm>
            <a:off x="5932727" y="2257699"/>
            <a:ext cx="926700" cy="2511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97" name="Google Shape;1397;p58"/>
          <p:cNvSpPr/>
          <p:nvPr/>
        </p:nvSpPr>
        <p:spPr>
          <a:xfrm>
            <a:off x="5932722" y="2006523"/>
            <a:ext cx="926700" cy="2511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98" name="Google Shape;1398;p58"/>
          <p:cNvSpPr/>
          <p:nvPr/>
        </p:nvSpPr>
        <p:spPr>
          <a:xfrm>
            <a:off x="6981290" y="2760050"/>
            <a:ext cx="926700" cy="2511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99" name="Google Shape;1399;p58"/>
          <p:cNvSpPr/>
          <p:nvPr/>
        </p:nvSpPr>
        <p:spPr>
          <a:xfrm>
            <a:off x="6981285" y="2508874"/>
            <a:ext cx="926700" cy="2511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00" name="Google Shape;1400;p58"/>
          <p:cNvSpPr/>
          <p:nvPr/>
        </p:nvSpPr>
        <p:spPr>
          <a:xfrm>
            <a:off x="6981295" y="2257699"/>
            <a:ext cx="926700" cy="2511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01" name="Google Shape;1401;p58"/>
          <p:cNvSpPr/>
          <p:nvPr/>
        </p:nvSpPr>
        <p:spPr>
          <a:xfrm>
            <a:off x="6981289" y="2006523"/>
            <a:ext cx="926700" cy="2511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02" name="Google Shape;1402;p58"/>
          <p:cNvSpPr/>
          <p:nvPr/>
        </p:nvSpPr>
        <p:spPr>
          <a:xfrm>
            <a:off x="8035745" y="2760050"/>
            <a:ext cx="926700" cy="2511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03" name="Google Shape;1403;p58"/>
          <p:cNvSpPr/>
          <p:nvPr/>
        </p:nvSpPr>
        <p:spPr>
          <a:xfrm>
            <a:off x="8035739" y="2508874"/>
            <a:ext cx="926700" cy="2511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04" name="Google Shape;1404;p58"/>
          <p:cNvSpPr/>
          <p:nvPr/>
        </p:nvSpPr>
        <p:spPr>
          <a:xfrm>
            <a:off x="8035750" y="2257699"/>
            <a:ext cx="926700" cy="2511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05" name="Google Shape;1405;p58"/>
          <p:cNvSpPr/>
          <p:nvPr/>
        </p:nvSpPr>
        <p:spPr>
          <a:xfrm>
            <a:off x="8035744" y="2006523"/>
            <a:ext cx="926700" cy="2511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9" name="Shape 1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0" name="Google Shape;1410;p59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Duals</a:t>
            </a:r>
            <a:endParaRPr/>
          </a:p>
        </p:txBody>
      </p:sp>
      <p:sp>
        <p:nvSpPr>
          <p:cNvPr id="1411" name="Google Shape;1411;p59"/>
          <p:cNvSpPr txBox="1"/>
          <p:nvPr>
            <p:ph idx="1" type="body"/>
          </p:nvPr>
        </p:nvSpPr>
        <p:spPr>
          <a:xfrm>
            <a:off x="107050" y="402200"/>
            <a:ext cx="8909700" cy="126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AllGather and ReduceScatter are duals.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AllGather</a:t>
            </a:r>
            <a:r>
              <a:rPr lang="en"/>
              <a:t>:	Read from the </a:t>
            </a:r>
            <a:r>
              <a:rPr i="1" lang="en"/>
              <a:t>i</a:t>
            </a:r>
            <a:r>
              <a:rPr lang="en"/>
              <a:t>th box in </a:t>
            </a:r>
            <a:r>
              <a:rPr i="1" lang="en"/>
              <a:t>i</a:t>
            </a:r>
            <a:r>
              <a:rPr lang="en"/>
              <a:t>th node.	Write to all 16 boxes.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Reduce:		Read from all 16 boxes. 			Write to the </a:t>
            </a:r>
            <a:r>
              <a:rPr i="1" lang="en"/>
              <a:t>i</a:t>
            </a:r>
            <a:r>
              <a:rPr lang="en"/>
              <a:t>th box in </a:t>
            </a:r>
            <a:r>
              <a:rPr i="1" lang="en"/>
              <a:t>i</a:t>
            </a:r>
            <a:r>
              <a:rPr lang="en"/>
              <a:t>th node.</a:t>
            </a:r>
            <a:endParaRPr/>
          </a:p>
        </p:txBody>
      </p:sp>
      <p:sp>
        <p:nvSpPr>
          <p:cNvPr id="1412" name="Google Shape;1412;p59"/>
          <p:cNvSpPr/>
          <p:nvPr/>
        </p:nvSpPr>
        <p:spPr>
          <a:xfrm>
            <a:off x="181568" y="4695950"/>
            <a:ext cx="926700" cy="2511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13" name="Google Shape;1413;p59"/>
          <p:cNvSpPr/>
          <p:nvPr/>
        </p:nvSpPr>
        <p:spPr>
          <a:xfrm>
            <a:off x="181563" y="4444774"/>
            <a:ext cx="926700" cy="2511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14" name="Google Shape;1414;p59"/>
          <p:cNvSpPr/>
          <p:nvPr/>
        </p:nvSpPr>
        <p:spPr>
          <a:xfrm>
            <a:off x="181573" y="4193599"/>
            <a:ext cx="926700" cy="2511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15" name="Google Shape;1415;p59"/>
          <p:cNvSpPr/>
          <p:nvPr/>
        </p:nvSpPr>
        <p:spPr>
          <a:xfrm>
            <a:off x="181567" y="3942423"/>
            <a:ext cx="926700" cy="251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7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16" name="Google Shape;1416;p59"/>
          <p:cNvSpPr/>
          <p:nvPr/>
        </p:nvSpPr>
        <p:spPr>
          <a:xfrm>
            <a:off x="1230111" y="4695950"/>
            <a:ext cx="926700" cy="2511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17" name="Google Shape;1417;p59"/>
          <p:cNvSpPr/>
          <p:nvPr/>
        </p:nvSpPr>
        <p:spPr>
          <a:xfrm>
            <a:off x="1230105" y="4444774"/>
            <a:ext cx="926700" cy="2511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i="1"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18" name="Google Shape;1418;p59"/>
          <p:cNvSpPr/>
          <p:nvPr/>
        </p:nvSpPr>
        <p:spPr>
          <a:xfrm>
            <a:off x="1230115" y="4193599"/>
            <a:ext cx="926700" cy="2511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i="1"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19" name="Google Shape;1419;p59"/>
          <p:cNvSpPr/>
          <p:nvPr/>
        </p:nvSpPr>
        <p:spPr>
          <a:xfrm>
            <a:off x="1230109" y="3942423"/>
            <a:ext cx="926700" cy="251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20" name="Google Shape;1420;p59"/>
          <p:cNvSpPr/>
          <p:nvPr/>
        </p:nvSpPr>
        <p:spPr>
          <a:xfrm>
            <a:off x="2278678" y="4695950"/>
            <a:ext cx="926700" cy="2511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21" name="Google Shape;1421;p59"/>
          <p:cNvSpPr/>
          <p:nvPr/>
        </p:nvSpPr>
        <p:spPr>
          <a:xfrm>
            <a:off x="2278672" y="4444774"/>
            <a:ext cx="926700" cy="2511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i="1"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22" name="Google Shape;1422;p59"/>
          <p:cNvSpPr/>
          <p:nvPr/>
        </p:nvSpPr>
        <p:spPr>
          <a:xfrm>
            <a:off x="2278682" y="4193599"/>
            <a:ext cx="926700" cy="2511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23" name="Google Shape;1423;p59"/>
          <p:cNvSpPr/>
          <p:nvPr/>
        </p:nvSpPr>
        <p:spPr>
          <a:xfrm>
            <a:off x="2278676" y="3942423"/>
            <a:ext cx="926700" cy="251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24" name="Google Shape;1424;p59"/>
          <p:cNvSpPr/>
          <p:nvPr/>
        </p:nvSpPr>
        <p:spPr>
          <a:xfrm>
            <a:off x="3333133" y="4695950"/>
            <a:ext cx="926700" cy="2511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25" name="Google Shape;1425;p59"/>
          <p:cNvSpPr/>
          <p:nvPr/>
        </p:nvSpPr>
        <p:spPr>
          <a:xfrm>
            <a:off x="3333127" y="4444774"/>
            <a:ext cx="926700" cy="2511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26" name="Google Shape;1426;p59"/>
          <p:cNvSpPr/>
          <p:nvPr/>
        </p:nvSpPr>
        <p:spPr>
          <a:xfrm>
            <a:off x="3333137" y="4193599"/>
            <a:ext cx="926700" cy="2511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27" name="Google Shape;1427;p59"/>
          <p:cNvSpPr/>
          <p:nvPr/>
        </p:nvSpPr>
        <p:spPr>
          <a:xfrm>
            <a:off x="3333131" y="3942423"/>
            <a:ext cx="926700" cy="251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28" name="Google Shape;1428;p59"/>
          <p:cNvSpPr/>
          <p:nvPr/>
        </p:nvSpPr>
        <p:spPr>
          <a:xfrm>
            <a:off x="181568" y="2760116"/>
            <a:ext cx="926700" cy="2511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rgbClr val="B7B7B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solidFill>
                  <a:srgbClr val="B7B7B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400">
              <a:solidFill>
                <a:srgbClr val="B7B7B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29" name="Google Shape;1429;p59"/>
          <p:cNvSpPr/>
          <p:nvPr/>
        </p:nvSpPr>
        <p:spPr>
          <a:xfrm>
            <a:off x="181563" y="2508917"/>
            <a:ext cx="926700" cy="2511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rgbClr val="B7B7B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solidFill>
                  <a:srgbClr val="B7B7B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400">
              <a:solidFill>
                <a:srgbClr val="B7B7B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30" name="Google Shape;1430;p59"/>
          <p:cNvSpPr/>
          <p:nvPr/>
        </p:nvSpPr>
        <p:spPr>
          <a:xfrm>
            <a:off x="181573" y="2257718"/>
            <a:ext cx="926700" cy="2511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rgbClr val="B7B7B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solidFill>
                  <a:srgbClr val="B7B7B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400">
              <a:solidFill>
                <a:srgbClr val="B7B7B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31" name="Google Shape;1431;p59"/>
          <p:cNvSpPr/>
          <p:nvPr/>
        </p:nvSpPr>
        <p:spPr>
          <a:xfrm>
            <a:off x="181567" y="2006518"/>
            <a:ext cx="926700" cy="2511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7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32" name="Google Shape;1432;p59"/>
          <p:cNvSpPr/>
          <p:nvPr/>
        </p:nvSpPr>
        <p:spPr>
          <a:xfrm>
            <a:off x="1232093" y="2760104"/>
            <a:ext cx="926700" cy="2511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rgbClr val="B7B7B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700">
                <a:solidFill>
                  <a:srgbClr val="B7B7B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400">
              <a:solidFill>
                <a:srgbClr val="B7B7B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33" name="Google Shape;1433;p59"/>
          <p:cNvSpPr/>
          <p:nvPr/>
        </p:nvSpPr>
        <p:spPr>
          <a:xfrm>
            <a:off x="1232087" y="2508904"/>
            <a:ext cx="926700" cy="2511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rgbClr val="B7B7B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700">
                <a:solidFill>
                  <a:srgbClr val="B7B7B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400">
              <a:solidFill>
                <a:srgbClr val="B7B7B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34" name="Google Shape;1434;p59"/>
          <p:cNvSpPr/>
          <p:nvPr/>
        </p:nvSpPr>
        <p:spPr>
          <a:xfrm>
            <a:off x="1232098" y="2257705"/>
            <a:ext cx="926700" cy="2511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i="1" sz="1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35" name="Google Shape;1435;p59"/>
          <p:cNvSpPr/>
          <p:nvPr/>
        </p:nvSpPr>
        <p:spPr>
          <a:xfrm>
            <a:off x="1232092" y="2006506"/>
            <a:ext cx="926700" cy="2511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rgbClr val="B7B7B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700">
                <a:solidFill>
                  <a:srgbClr val="B7B7B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400">
              <a:solidFill>
                <a:srgbClr val="B7B7B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36" name="Google Shape;1436;p59"/>
          <p:cNvSpPr/>
          <p:nvPr/>
        </p:nvSpPr>
        <p:spPr>
          <a:xfrm>
            <a:off x="2282612" y="2760104"/>
            <a:ext cx="926700" cy="2511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rgbClr val="B7B7B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700">
                <a:solidFill>
                  <a:srgbClr val="B7B7B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400">
              <a:solidFill>
                <a:srgbClr val="B7B7B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37" name="Google Shape;1437;p59"/>
          <p:cNvSpPr/>
          <p:nvPr/>
        </p:nvSpPr>
        <p:spPr>
          <a:xfrm>
            <a:off x="2282606" y="2508904"/>
            <a:ext cx="926700" cy="2511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38" name="Google Shape;1438;p59"/>
          <p:cNvSpPr/>
          <p:nvPr/>
        </p:nvSpPr>
        <p:spPr>
          <a:xfrm>
            <a:off x="2282616" y="2257705"/>
            <a:ext cx="926700" cy="2511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rgbClr val="B7B7B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700">
                <a:solidFill>
                  <a:srgbClr val="B7B7B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400">
              <a:solidFill>
                <a:srgbClr val="B7B7B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39" name="Google Shape;1439;p59"/>
          <p:cNvSpPr/>
          <p:nvPr/>
        </p:nvSpPr>
        <p:spPr>
          <a:xfrm>
            <a:off x="2282611" y="2006506"/>
            <a:ext cx="926700" cy="2511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rgbClr val="B7B7B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700">
                <a:solidFill>
                  <a:srgbClr val="B7B7B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400">
              <a:solidFill>
                <a:srgbClr val="B7B7B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40" name="Google Shape;1440;p59"/>
          <p:cNvSpPr/>
          <p:nvPr/>
        </p:nvSpPr>
        <p:spPr>
          <a:xfrm>
            <a:off x="3333131" y="2760104"/>
            <a:ext cx="926700" cy="2511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41" name="Google Shape;1441;p59"/>
          <p:cNvSpPr/>
          <p:nvPr/>
        </p:nvSpPr>
        <p:spPr>
          <a:xfrm>
            <a:off x="3333125" y="2508904"/>
            <a:ext cx="926700" cy="2511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rgbClr val="B7B7B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700">
                <a:solidFill>
                  <a:srgbClr val="B7B7B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400">
              <a:solidFill>
                <a:srgbClr val="B7B7B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42" name="Google Shape;1442;p59"/>
          <p:cNvSpPr/>
          <p:nvPr/>
        </p:nvSpPr>
        <p:spPr>
          <a:xfrm>
            <a:off x="3333135" y="2257705"/>
            <a:ext cx="926700" cy="2511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rgbClr val="B7B7B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700">
                <a:solidFill>
                  <a:srgbClr val="B7B7B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400">
              <a:solidFill>
                <a:srgbClr val="B7B7B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43" name="Google Shape;1443;p59"/>
          <p:cNvSpPr/>
          <p:nvPr/>
        </p:nvSpPr>
        <p:spPr>
          <a:xfrm>
            <a:off x="3333130" y="2006506"/>
            <a:ext cx="926700" cy="2511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rgbClr val="B7B7B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700">
                <a:solidFill>
                  <a:srgbClr val="B7B7B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400">
              <a:solidFill>
                <a:srgbClr val="B7B7B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44" name="Google Shape;1444;p59"/>
          <p:cNvSpPr txBox="1"/>
          <p:nvPr/>
        </p:nvSpPr>
        <p:spPr>
          <a:xfrm>
            <a:off x="326609" y="1804885"/>
            <a:ext cx="6366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Node 1:</a:t>
            </a:r>
            <a:endParaRPr sz="1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45" name="Google Shape;1445;p59"/>
          <p:cNvSpPr txBox="1"/>
          <p:nvPr/>
        </p:nvSpPr>
        <p:spPr>
          <a:xfrm>
            <a:off x="1377153" y="1804872"/>
            <a:ext cx="6366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Node 2:</a:t>
            </a:r>
            <a:endParaRPr sz="1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46" name="Google Shape;1446;p59"/>
          <p:cNvSpPr txBox="1"/>
          <p:nvPr/>
        </p:nvSpPr>
        <p:spPr>
          <a:xfrm>
            <a:off x="2427660" y="1804872"/>
            <a:ext cx="6366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Node 3:</a:t>
            </a:r>
            <a:endParaRPr sz="1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47" name="Google Shape;1447;p59"/>
          <p:cNvSpPr txBox="1"/>
          <p:nvPr/>
        </p:nvSpPr>
        <p:spPr>
          <a:xfrm>
            <a:off x="3478166" y="1804872"/>
            <a:ext cx="6366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Node 4:</a:t>
            </a:r>
            <a:endParaRPr sz="1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48" name="Google Shape;1448;p59"/>
          <p:cNvSpPr txBox="1"/>
          <p:nvPr/>
        </p:nvSpPr>
        <p:spPr>
          <a:xfrm>
            <a:off x="326609" y="3738460"/>
            <a:ext cx="6366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Node 1:</a:t>
            </a:r>
            <a:endParaRPr sz="1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49" name="Google Shape;1449;p59"/>
          <p:cNvSpPr txBox="1"/>
          <p:nvPr/>
        </p:nvSpPr>
        <p:spPr>
          <a:xfrm>
            <a:off x="1377153" y="3738447"/>
            <a:ext cx="6366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Node 2:</a:t>
            </a:r>
            <a:endParaRPr sz="1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50" name="Google Shape;1450;p59"/>
          <p:cNvSpPr txBox="1"/>
          <p:nvPr/>
        </p:nvSpPr>
        <p:spPr>
          <a:xfrm>
            <a:off x="2427660" y="3738447"/>
            <a:ext cx="6366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Node 3:</a:t>
            </a:r>
            <a:endParaRPr sz="1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51" name="Google Shape;1451;p59"/>
          <p:cNvSpPr txBox="1"/>
          <p:nvPr/>
        </p:nvSpPr>
        <p:spPr>
          <a:xfrm>
            <a:off x="3478166" y="3738447"/>
            <a:ext cx="6366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Node 4:</a:t>
            </a:r>
            <a:endParaRPr sz="1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52" name="Google Shape;1452;p59"/>
          <p:cNvSpPr txBox="1"/>
          <p:nvPr/>
        </p:nvSpPr>
        <p:spPr>
          <a:xfrm>
            <a:off x="5030259" y="1804885"/>
            <a:ext cx="6366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Node 1:</a:t>
            </a:r>
            <a:endParaRPr sz="1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53" name="Google Shape;1453;p59"/>
          <p:cNvSpPr txBox="1"/>
          <p:nvPr/>
        </p:nvSpPr>
        <p:spPr>
          <a:xfrm>
            <a:off x="6080803" y="1804872"/>
            <a:ext cx="6366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Node 2:</a:t>
            </a:r>
            <a:endParaRPr sz="1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54" name="Google Shape;1454;p59"/>
          <p:cNvSpPr txBox="1"/>
          <p:nvPr/>
        </p:nvSpPr>
        <p:spPr>
          <a:xfrm>
            <a:off x="7131310" y="1804872"/>
            <a:ext cx="6366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Node 3:</a:t>
            </a:r>
            <a:endParaRPr sz="1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55" name="Google Shape;1455;p59"/>
          <p:cNvSpPr txBox="1"/>
          <p:nvPr/>
        </p:nvSpPr>
        <p:spPr>
          <a:xfrm>
            <a:off x="8181816" y="1804872"/>
            <a:ext cx="6366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Node 4:</a:t>
            </a:r>
            <a:endParaRPr sz="1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56" name="Google Shape;1456;p59"/>
          <p:cNvSpPr txBox="1"/>
          <p:nvPr/>
        </p:nvSpPr>
        <p:spPr>
          <a:xfrm>
            <a:off x="5030259" y="3738460"/>
            <a:ext cx="6366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Node 1:</a:t>
            </a:r>
            <a:endParaRPr sz="1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57" name="Google Shape;1457;p59"/>
          <p:cNvSpPr txBox="1"/>
          <p:nvPr/>
        </p:nvSpPr>
        <p:spPr>
          <a:xfrm>
            <a:off x="6080803" y="3738447"/>
            <a:ext cx="6366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Node 2:</a:t>
            </a:r>
            <a:endParaRPr sz="1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58" name="Google Shape;1458;p59"/>
          <p:cNvSpPr txBox="1"/>
          <p:nvPr/>
        </p:nvSpPr>
        <p:spPr>
          <a:xfrm>
            <a:off x="7131310" y="3738447"/>
            <a:ext cx="6366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Node 3:</a:t>
            </a:r>
            <a:endParaRPr sz="1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59" name="Google Shape;1459;p59"/>
          <p:cNvSpPr txBox="1"/>
          <p:nvPr/>
        </p:nvSpPr>
        <p:spPr>
          <a:xfrm>
            <a:off x="8181816" y="3738447"/>
            <a:ext cx="6366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Node 4:</a:t>
            </a:r>
            <a:endParaRPr sz="1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460" name="Google Shape;1460;p59"/>
          <p:cNvCxnSpPr/>
          <p:nvPr/>
        </p:nvCxnSpPr>
        <p:spPr>
          <a:xfrm>
            <a:off x="1192038" y="3155075"/>
            <a:ext cx="0" cy="4395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61" name="Google Shape;1461;p59"/>
          <p:cNvSpPr txBox="1"/>
          <p:nvPr/>
        </p:nvSpPr>
        <p:spPr>
          <a:xfrm>
            <a:off x="1192038" y="3225050"/>
            <a:ext cx="2057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AllGather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462" name="Google Shape;1462;p59"/>
          <p:cNvCxnSpPr/>
          <p:nvPr/>
        </p:nvCxnSpPr>
        <p:spPr>
          <a:xfrm>
            <a:off x="3249438" y="3155075"/>
            <a:ext cx="0" cy="4395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63" name="Google Shape;1463;p59"/>
          <p:cNvCxnSpPr/>
          <p:nvPr/>
        </p:nvCxnSpPr>
        <p:spPr>
          <a:xfrm>
            <a:off x="5894613" y="3155075"/>
            <a:ext cx="0" cy="4395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1464" name="Google Shape;1464;p59"/>
          <p:cNvSpPr txBox="1"/>
          <p:nvPr/>
        </p:nvSpPr>
        <p:spPr>
          <a:xfrm>
            <a:off x="5894613" y="3225050"/>
            <a:ext cx="2057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ReduceScatter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465" name="Google Shape;1465;p59"/>
          <p:cNvCxnSpPr/>
          <p:nvPr/>
        </p:nvCxnSpPr>
        <p:spPr>
          <a:xfrm>
            <a:off x="7952013" y="3155075"/>
            <a:ext cx="0" cy="4395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1466" name="Google Shape;1466;p59"/>
          <p:cNvSpPr/>
          <p:nvPr/>
        </p:nvSpPr>
        <p:spPr>
          <a:xfrm>
            <a:off x="4884181" y="4696041"/>
            <a:ext cx="926700" cy="2511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67" name="Google Shape;1467;p59"/>
          <p:cNvSpPr/>
          <p:nvPr/>
        </p:nvSpPr>
        <p:spPr>
          <a:xfrm>
            <a:off x="4884175" y="4444842"/>
            <a:ext cx="926700" cy="2511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68" name="Google Shape;1468;p59"/>
          <p:cNvSpPr/>
          <p:nvPr/>
        </p:nvSpPr>
        <p:spPr>
          <a:xfrm>
            <a:off x="4884185" y="4193643"/>
            <a:ext cx="926700" cy="2511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69" name="Google Shape;1469;p59"/>
          <p:cNvSpPr/>
          <p:nvPr/>
        </p:nvSpPr>
        <p:spPr>
          <a:xfrm>
            <a:off x="4884179" y="3942443"/>
            <a:ext cx="926700" cy="2511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7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70" name="Google Shape;1470;p59"/>
          <p:cNvSpPr/>
          <p:nvPr/>
        </p:nvSpPr>
        <p:spPr>
          <a:xfrm>
            <a:off x="5934706" y="4696029"/>
            <a:ext cx="926700" cy="2511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71" name="Google Shape;1471;p59"/>
          <p:cNvSpPr/>
          <p:nvPr/>
        </p:nvSpPr>
        <p:spPr>
          <a:xfrm>
            <a:off x="5934700" y="4444829"/>
            <a:ext cx="926700" cy="2511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72" name="Google Shape;1472;p59"/>
          <p:cNvSpPr/>
          <p:nvPr/>
        </p:nvSpPr>
        <p:spPr>
          <a:xfrm>
            <a:off x="5934710" y="4193630"/>
            <a:ext cx="926700" cy="2511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i="1" sz="1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73" name="Google Shape;1473;p59"/>
          <p:cNvSpPr/>
          <p:nvPr/>
        </p:nvSpPr>
        <p:spPr>
          <a:xfrm>
            <a:off x="5934704" y="3942431"/>
            <a:ext cx="926700" cy="2511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74" name="Google Shape;1474;p59"/>
          <p:cNvSpPr/>
          <p:nvPr/>
        </p:nvSpPr>
        <p:spPr>
          <a:xfrm>
            <a:off x="6985225" y="4696029"/>
            <a:ext cx="926700" cy="2511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75" name="Google Shape;1475;p59"/>
          <p:cNvSpPr/>
          <p:nvPr/>
        </p:nvSpPr>
        <p:spPr>
          <a:xfrm>
            <a:off x="6985219" y="4444829"/>
            <a:ext cx="926700" cy="2511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76" name="Google Shape;1476;p59"/>
          <p:cNvSpPr/>
          <p:nvPr/>
        </p:nvSpPr>
        <p:spPr>
          <a:xfrm>
            <a:off x="6985229" y="4193630"/>
            <a:ext cx="926700" cy="2511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77" name="Google Shape;1477;p59"/>
          <p:cNvSpPr/>
          <p:nvPr/>
        </p:nvSpPr>
        <p:spPr>
          <a:xfrm>
            <a:off x="6985223" y="3942431"/>
            <a:ext cx="926700" cy="2511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78" name="Google Shape;1478;p59"/>
          <p:cNvSpPr/>
          <p:nvPr/>
        </p:nvSpPr>
        <p:spPr>
          <a:xfrm>
            <a:off x="8035744" y="4696029"/>
            <a:ext cx="926700" cy="2511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79" name="Google Shape;1479;p59"/>
          <p:cNvSpPr/>
          <p:nvPr/>
        </p:nvSpPr>
        <p:spPr>
          <a:xfrm>
            <a:off x="8035738" y="4444829"/>
            <a:ext cx="926700" cy="2511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80" name="Google Shape;1480;p59"/>
          <p:cNvSpPr/>
          <p:nvPr/>
        </p:nvSpPr>
        <p:spPr>
          <a:xfrm>
            <a:off x="8035748" y="4193630"/>
            <a:ext cx="926700" cy="2511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81" name="Google Shape;1481;p59"/>
          <p:cNvSpPr/>
          <p:nvPr/>
        </p:nvSpPr>
        <p:spPr>
          <a:xfrm>
            <a:off x="8035742" y="3942431"/>
            <a:ext cx="926700" cy="2511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82" name="Google Shape;1482;p59"/>
          <p:cNvSpPr/>
          <p:nvPr/>
        </p:nvSpPr>
        <p:spPr>
          <a:xfrm>
            <a:off x="4884181" y="2760050"/>
            <a:ext cx="926700" cy="2511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83" name="Google Shape;1483;p59"/>
          <p:cNvSpPr/>
          <p:nvPr/>
        </p:nvSpPr>
        <p:spPr>
          <a:xfrm>
            <a:off x="4884175" y="2508874"/>
            <a:ext cx="926700" cy="2511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84" name="Google Shape;1484;p59"/>
          <p:cNvSpPr/>
          <p:nvPr/>
        </p:nvSpPr>
        <p:spPr>
          <a:xfrm>
            <a:off x="4884185" y="2257699"/>
            <a:ext cx="926700" cy="2511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85" name="Google Shape;1485;p59"/>
          <p:cNvSpPr/>
          <p:nvPr/>
        </p:nvSpPr>
        <p:spPr>
          <a:xfrm>
            <a:off x="4884179" y="2006523"/>
            <a:ext cx="9267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700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700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700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7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86" name="Google Shape;1486;p59"/>
          <p:cNvSpPr/>
          <p:nvPr/>
        </p:nvSpPr>
        <p:spPr>
          <a:xfrm>
            <a:off x="5932723" y="2760050"/>
            <a:ext cx="926700" cy="2511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87" name="Google Shape;1487;p59"/>
          <p:cNvSpPr/>
          <p:nvPr/>
        </p:nvSpPr>
        <p:spPr>
          <a:xfrm>
            <a:off x="5932717" y="2508874"/>
            <a:ext cx="926700" cy="2511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88" name="Google Shape;1488;p59"/>
          <p:cNvSpPr/>
          <p:nvPr/>
        </p:nvSpPr>
        <p:spPr>
          <a:xfrm>
            <a:off x="5932727" y="2257699"/>
            <a:ext cx="9267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89" name="Google Shape;1489;p59"/>
          <p:cNvSpPr/>
          <p:nvPr/>
        </p:nvSpPr>
        <p:spPr>
          <a:xfrm>
            <a:off x="5932722" y="2006523"/>
            <a:ext cx="926700" cy="2511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90" name="Google Shape;1490;p59"/>
          <p:cNvSpPr/>
          <p:nvPr/>
        </p:nvSpPr>
        <p:spPr>
          <a:xfrm>
            <a:off x="6981290" y="2760050"/>
            <a:ext cx="926700" cy="2511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91" name="Google Shape;1491;p59"/>
          <p:cNvSpPr/>
          <p:nvPr/>
        </p:nvSpPr>
        <p:spPr>
          <a:xfrm>
            <a:off x="6981285" y="2508874"/>
            <a:ext cx="9267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92" name="Google Shape;1492;p59"/>
          <p:cNvSpPr/>
          <p:nvPr/>
        </p:nvSpPr>
        <p:spPr>
          <a:xfrm>
            <a:off x="6981295" y="2257699"/>
            <a:ext cx="926700" cy="2511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93" name="Google Shape;1493;p59"/>
          <p:cNvSpPr/>
          <p:nvPr/>
        </p:nvSpPr>
        <p:spPr>
          <a:xfrm>
            <a:off x="6981289" y="2006523"/>
            <a:ext cx="926700" cy="2511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94" name="Google Shape;1494;p59"/>
          <p:cNvSpPr/>
          <p:nvPr/>
        </p:nvSpPr>
        <p:spPr>
          <a:xfrm>
            <a:off x="8035745" y="2760050"/>
            <a:ext cx="9267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95" name="Google Shape;1495;p59"/>
          <p:cNvSpPr/>
          <p:nvPr/>
        </p:nvSpPr>
        <p:spPr>
          <a:xfrm>
            <a:off x="8035739" y="2508874"/>
            <a:ext cx="926700" cy="2511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96" name="Google Shape;1496;p59"/>
          <p:cNvSpPr/>
          <p:nvPr/>
        </p:nvSpPr>
        <p:spPr>
          <a:xfrm>
            <a:off x="8035750" y="2257699"/>
            <a:ext cx="926700" cy="2511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97" name="Google Shape;1497;p59"/>
          <p:cNvSpPr/>
          <p:nvPr/>
        </p:nvSpPr>
        <p:spPr>
          <a:xfrm>
            <a:off x="8035744" y="2006523"/>
            <a:ext cx="926700" cy="2511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1" name="Shape 1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2" name="Google Shape;1502;p60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Compositing Operations</a:t>
            </a:r>
            <a:endParaRPr/>
          </a:p>
        </p:txBody>
      </p:sp>
      <p:sp>
        <p:nvSpPr>
          <p:cNvPr id="1503" name="Google Shape;1503;p60"/>
          <p:cNvSpPr txBox="1"/>
          <p:nvPr/>
        </p:nvSpPr>
        <p:spPr>
          <a:xfrm>
            <a:off x="2678946" y="2479850"/>
            <a:ext cx="6366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Node 1:</a:t>
            </a:r>
            <a:endParaRPr sz="1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04" name="Google Shape;1504;p60"/>
          <p:cNvSpPr txBox="1"/>
          <p:nvPr/>
        </p:nvSpPr>
        <p:spPr>
          <a:xfrm>
            <a:off x="3729491" y="2479838"/>
            <a:ext cx="6366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Node 2:</a:t>
            </a:r>
            <a:endParaRPr sz="1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05" name="Google Shape;1505;p60"/>
          <p:cNvSpPr txBox="1"/>
          <p:nvPr/>
        </p:nvSpPr>
        <p:spPr>
          <a:xfrm>
            <a:off x="4779997" y="2479838"/>
            <a:ext cx="6366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Node 3:</a:t>
            </a:r>
            <a:endParaRPr sz="1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06" name="Google Shape;1506;p60"/>
          <p:cNvSpPr txBox="1"/>
          <p:nvPr/>
        </p:nvSpPr>
        <p:spPr>
          <a:xfrm>
            <a:off x="5830503" y="2479838"/>
            <a:ext cx="6366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Node 4:</a:t>
            </a:r>
            <a:endParaRPr sz="1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07" name="Google Shape;1507;p60"/>
          <p:cNvSpPr txBox="1"/>
          <p:nvPr/>
        </p:nvSpPr>
        <p:spPr>
          <a:xfrm>
            <a:off x="2678946" y="1161459"/>
            <a:ext cx="6366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Node 1:</a:t>
            </a:r>
            <a:endParaRPr sz="1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08" name="Google Shape;1508;p60"/>
          <p:cNvSpPr txBox="1"/>
          <p:nvPr/>
        </p:nvSpPr>
        <p:spPr>
          <a:xfrm>
            <a:off x="3729491" y="1161447"/>
            <a:ext cx="6366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Node 2:</a:t>
            </a:r>
            <a:endParaRPr sz="1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09" name="Google Shape;1509;p60"/>
          <p:cNvSpPr txBox="1"/>
          <p:nvPr/>
        </p:nvSpPr>
        <p:spPr>
          <a:xfrm>
            <a:off x="4779997" y="1161447"/>
            <a:ext cx="6366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Node 3:</a:t>
            </a:r>
            <a:endParaRPr sz="1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10" name="Google Shape;1510;p60"/>
          <p:cNvSpPr txBox="1"/>
          <p:nvPr/>
        </p:nvSpPr>
        <p:spPr>
          <a:xfrm>
            <a:off x="5830503" y="1161447"/>
            <a:ext cx="6366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Node 4:</a:t>
            </a:r>
            <a:endParaRPr sz="1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11" name="Google Shape;1511;p60"/>
          <p:cNvSpPr/>
          <p:nvPr/>
        </p:nvSpPr>
        <p:spPr>
          <a:xfrm>
            <a:off x="2532868" y="2097636"/>
            <a:ext cx="926700" cy="2511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12" name="Google Shape;1512;p60"/>
          <p:cNvSpPr/>
          <p:nvPr/>
        </p:nvSpPr>
        <p:spPr>
          <a:xfrm>
            <a:off x="2532863" y="1846437"/>
            <a:ext cx="926700" cy="2511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13" name="Google Shape;1513;p60"/>
          <p:cNvSpPr/>
          <p:nvPr/>
        </p:nvSpPr>
        <p:spPr>
          <a:xfrm>
            <a:off x="2532873" y="1595238"/>
            <a:ext cx="926700" cy="2511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14" name="Google Shape;1514;p60"/>
          <p:cNvSpPr/>
          <p:nvPr/>
        </p:nvSpPr>
        <p:spPr>
          <a:xfrm>
            <a:off x="2532867" y="1344039"/>
            <a:ext cx="926700" cy="2511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7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15" name="Google Shape;1515;p60"/>
          <p:cNvSpPr/>
          <p:nvPr/>
        </p:nvSpPr>
        <p:spPr>
          <a:xfrm>
            <a:off x="3583393" y="2097624"/>
            <a:ext cx="926700" cy="2511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16" name="Google Shape;1516;p60"/>
          <p:cNvSpPr/>
          <p:nvPr/>
        </p:nvSpPr>
        <p:spPr>
          <a:xfrm>
            <a:off x="3583387" y="1846425"/>
            <a:ext cx="926700" cy="2511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17" name="Google Shape;1517;p60"/>
          <p:cNvSpPr/>
          <p:nvPr/>
        </p:nvSpPr>
        <p:spPr>
          <a:xfrm>
            <a:off x="3583398" y="1595225"/>
            <a:ext cx="926700" cy="2511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i="1" sz="1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18" name="Google Shape;1518;p60"/>
          <p:cNvSpPr/>
          <p:nvPr/>
        </p:nvSpPr>
        <p:spPr>
          <a:xfrm>
            <a:off x="3583392" y="1344026"/>
            <a:ext cx="926700" cy="2511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19" name="Google Shape;1519;p60"/>
          <p:cNvSpPr/>
          <p:nvPr/>
        </p:nvSpPr>
        <p:spPr>
          <a:xfrm>
            <a:off x="4633912" y="2097624"/>
            <a:ext cx="926700" cy="2511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20" name="Google Shape;1520;p60"/>
          <p:cNvSpPr/>
          <p:nvPr/>
        </p:nvSpPr>
        <p:spPr>
          <a:xfrm>
            <a:off x="4633906" y="1846425"/>
            <a:ext cx="926700" cy="2511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21" name="Google Shape;1521;p60"/>
          <p:cNvSpPr/>
          <p:nvPr/>
        </p:nvSpPr>
        <p:spPr>
          <a:xfrm>
            <a:off x="4633916" y="1595225"/>
            <a:ext cx="926700" cy="2511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22" name="Google Shape;1522;p60"/>
          <p:cNvSpPr/>
          <p:nvPr/>
        </p:nvSpPr>
        <p:spPr>
          <a:xfrm>
            <a:off x="4633911" y="1344026"/>
            <a:ext cx="926700" cy="2511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23" name="Google Shape;1523;p60"/>
          <p:cNvSpPr/>
          <p:nvPr/>
        </p:nvSpPr>
        <p:spPr>
          <a:xfrm>
            <a:off x="5684431" y="2097624"/>
            <a:ext cx="926700" cy="2511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24" name="Google Shape;1524;p60"/>
          <p:cNvSpPr/>
          <p:nvPr/>
        </p:nvSpPr>
        <p:spPr>
          <a:xfrm>
            <a:off x="5684425" y="1846425"/>
            <a:ext cx="926700" cy="2511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25" name="Google Shape;1525;p60"/>
          <p:cNvSpPr/>
          <p:nvPr/>
        </p:nvSpPr>
        <p:spPr>
          <a:xfrm>
            <a:off x="5684435" y="1595225"/>
            <a:ext cx="926700" cy="2511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26" name="Google Shape;1526;p60"/>
          <p:cNvSpPr/>
          <p:nvPr/>
        </p:nvSpPr>
        <p:spPr>
          <a:xfrm>
            <a:off x="5684430" y="1344026"/>
            <a:ext cx="926700" cy="2511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27" name="Google Shape;1527;p60"/>
          <p:cNvSpPr/>
          <p:nvPr/>
        </p:nvSpPr>
        <p:spPr>
          <a:xfrm>
            <a:off x="2532868" y="3413611"/>
            <a:ext cx="926700" cy="2511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28" name="Google Shape;1528;p60"/>
          <p:cNvSpPr/>
          <p:nvPr/>
        </p:nvSpPr>
        <p:spPr>
          <a:xfrm>
            <a:off x="2532863" y="3162436"/>
            <a:ext cx="926700" cy="2511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29" name="Google Shape;1529;p60"/>
          <p:cNvSpPr/>
          <p:nvPr/>
        </p:nvSpPr>
        <p:spPr>
          <a:xfrm>
            <a:off x="2532873" y="2911260"/>
            <a:ext cx="926700" cy="2511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30" name="Google Shape;1530;p60"/>
          <p:cNvSpPr/>
          <p:nvPr/>
        </p:nvSpPr>
        <p:spPr>
          <a:xfrm>
            <a:off x="2532867" y="2660084"/>
            <a:ext cx="9267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700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700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700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7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31" name="Google Shape;1531;p60"/>
          <p:cNvSpPr/>
          <p:nvPr/>
        </p:nvSpPr>
        <p:spPr>
          <a:xfrm>
            <a:off x="3581411" y="3413611"/>
            <a:ext cx="926700" cy="2511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32" name="Google Shape;1532;p60"/>
          <p:cNvSpPr/>
          <p:nvPr/>
        </p:nvSpPr>
        <p:spPr>
          <a:xfrm>
            <a:off x="3581405" y="3162436"/>
            <a:ext cx="926700" cy="2511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33" name="Google Shape;1533;p60"/>
          <p:cNvSpPr/>
          <p:nvPr/>
        </p:nvSpPr>
        <p:spPr>
          <a:xfrm>
            <a:off x="3581415" y="2911260"/>
            <a:ext cx="9267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34" name="Google Shape;1534;p60"/>
          <p:cNvSpPr/>
          <p:nvPr/>
        </p:nvSpPr>
        <p:spPr>
          <a:xfrm>
            <a:off x="3581409" y="2660084"/>
            <a:ext cx="926700" cy="2511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35" name="Google Shape;1535;p60"/>
          <p:cNvSpPr/>
          <p:nvPr/>
        </p:nvSpPr>
        <p:spPr>
          <a:xfrm>
            <a:off x="4629978" y="3413611"/>
            <a:ext cx="926700" cy="2511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36" name="Google Shape;1536;p60"/>
          <p:cNvSpPr/>
          <p:nvPr/>
        </p:nvSpPr>
        <p:spPr>
          <a:xfrm>
            <a:off x="4629972" y="3162436"/>
            <a:ext cx="9267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37" name="Google Shape;1537;p60"/>
          <p:cNvSpPr/>
          <p:nvPr/>
        </p:nvSpPr>
        <p:spPr>
          <a:xfrm>
            <a:off x="4629982" y="2911260"/>
            <a:ext cx="926700" cy="2511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38" name="Google Shape;1538;p60"/>
          <p:cNvSpPr/>
          <p:nvPr/>
        </p:nvSpPr>
        <p:spPr>
          <a:xfrm>
            <a:off x="4629976" y="2660084"/>
            <a:ext cx="926700" cy="2511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39" name="Google Shape;1539;p60"/>
          <p:cNvSpPr/>
          <p:nvPr/>
        </p:nvSpPr>
        <p:spPr>
          <a:xfrm>
            <a:off x="5684433" y="3413611"/>
            <a:ext cx="9267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40" name="Google Shape;1540;p60"/>
          <p:cNvSpPr/>
          <p:nvPr/>
        </p:nvSpPr>
        <p:spPr>
          <a:xfrm>
            <a:off x="5684427" y="3162436"/>
            <a:ext cx="926700" cy="2511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41" name="Google Shape;1541;p60"/>
          <p:cNvSpPr/>
          <p:nvPr/>
        </p:nvSpPr>
        <p:spPr>
          <a:xfrm>
            <a:off x="5684437" y="2911260"/>
            <a:ext cx="926700" cy="2511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42" name="Google Shape;1542;p60"/>
          <p:cNvSpPr/>
          <p:nvPr/>
        </p:nvSpPr>
        <p:spPr>
          <a:xfrm>
            <a:off x="5684431" y="2660084"/>
            <a:ext cx="926700" cy="2511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43" name="Google Shape;1543;p60"/>
          <p:cNvSpPr txBox="1"/>
          <p:nvPr/>
        </p:nvSpPr>
        <p:spPr>
          <a:xfrm>
            <a:off x="2678946" y="3795791"/>
            <a:ext cx="6366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Node 1:</a:t>
            </a:r>
            <a:endParaRPr sz="1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44" name="Google Shape;1544;p60"/>
          <p:cNvSpPr txBox="1"/>
          <p:nvPr/>
        </p:nvSpPr>
        <p:spPr>
          <a:xfrm>
            <a:off x="3729491" y="3795779"/>
            <a:ext cx="6366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Node 2:</a:t>
            </a:r>
            <a:endParaRPr sz="1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45" name="Google Shape;1545;p60"/>
          <p:cNvSpPr txBox="1"/>
          <p:nvPr/>
        </p:nvSpPr>
        <p:spPr>
          <a:xfrm>
            <a:off x="4779997" y="3795779"/>
            <a:ext cx="6366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Node 3:</a:t>
            </a:r>
            <a:endParaRPr sz="1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46" name="Google Shape;1546;p60"/>
          <p:cNvSpPr txBox="1"/>
          <p:nvPr/>
        </p:nvSpPr>
        <p:spPr>
          <a:xfrm>
            <a:off x="5830503" y="3795779"/>
            <a:ext cx="6366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Node 4:</a:t>
            </a:r>
            <a:endParaRPr sz="1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47" name="Google Shape;1547;p60"/>
          <p:cNvSpPr/>
          <p:nvPr/>
        </p:nvSpPr>
        <p:spPr>
          <a:xfrm>
            <a:off x="2532868" y="4729552"/>
            <a:ext cx="9267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48" name="Google Shape;1548;p60"/>
          <p:cNvSpPr/>
          <p:nvPr/>
        </p:nvSpPr>
        <p:spPr>
          <a:xfrm>
            <a:off x="2532863" y="4478377"/>
            <a:ext cx="9267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49" name="Google Shape;1549;p60"/>
          <p:cNvSpPr/>
          <p:nvPr/>
        </p:nvSpPr>
        <p:spPr>
          <a:xfrm>
            <a:off x="2532873" y="4227201"/>
            <a:ext cx="9267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50" name="Google Shape;1550;p60"/>
          <p:cNvSpPr/>
          <p:nvPr/>
        </p:nvSpPr>
        <p:spPr>
          <a:xfrm>
            <a:off x="2532867" y="3976025"/>
            <a:ext cx="9267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700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700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700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7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51" name="Google Shape;1551;p60"/>
          <p:cNvSpPr/>
          <p:nvPr/>
        </p:nvSpPr>
        <p:spPr>
          <a:xfrm>
            <a:off x="3581411" y="4729552"/>
            <a:ext cx="9267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52" name="Google Shape;1552;p60"/>
          <p:cNvSpPr/>
          <p:nvPr/>
        </p:nvSpPr>
        <p:spPr>
          <a:xfrm>
            <a:off x="3581405" y="4478377"/>
            <a:ext cx="9267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53" name="Google Shape;1553;p60"/>
          <p:cNvSpPr/>
          <p:nvPr/>
        </p:nvSpPr>
        <p:spPr>
          <a:xfrm>
            <a:off x="3581415" y="4227201"/>
            <a:ext cx="9267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54" name="Google Shape;1554;p60"/>
          <p:cNvSpPr/>
          <p:nvPr/>
        </p:nvSpPr>
        <p:spPr>
          <a:xfrm>
            <a:off x="3581409" y="3976025"/>
            <a:ext cx="9267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55" name="Google Shape;1555;p60"/>
          <p:cNvSpPr/>
          <p:nvPr/>
        </p:nvSpPr>
        <p:spPr>
          <a:xfrm>
            <a:off x="4629978" y="4729552"/>
            <a:ext cx="9267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56" name="Google Shape;1556;p60"/>
          <p:cNvSpPr/>
          <p:nvPr/>
        </p:nvSpPr>
        <p:spPr>
          <a:xfrm>
            <a:off x="4629972" y="4478377"/>
            <a:ext cx="9267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57" name="Google Shape;1557;p60"/>
          <p:cNvSpPr/>
          <p:nvPr/>
        </p:nvSpPr>
        <p:spPr>
          <a:xfrm>
            <a:off x="4629982" y="4227201"/>
            <a:ext cx="9267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58" name="Google Shape;1558;p60"/>
          <p:cNvSpPr/>
          <p:nvPr/>
        </p:nvSpPr>
        <p:spPr>
          <a:xfrm>
            <a:off x="4629976" y="3976025"/>
            <a:ext cx="9267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59" name="Google Shape;1559;p60"/>
          <p:cNvSpPr/>
          <p:nvPr/>
        </p:nvSpPr>
        <p:spPr>
          <a:xfrm>
            <a:off x="5684433" y="4729552"/>
            <a:ext cx="9267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60" name="Google Shape;1560;p60"/>
          <p:cNvSpPr/>
          <p:nvPr/>
        </p:nvSpPr>
        <p:spPr>
          <a:xfrm>
            <a:off x="5684427" y="4478377"/>
            <a:ext cx="9267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61" name="Google Shape;1561;p60"/>
          <p:cNvSpPr/>
          <p:nvPr/>
        </p:nvSpPr>
        <p:spPr>
          <a:xfrm>
            <a:off x="5684437" y="4227201"/>
            <a:ext cx="9267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62" name="Google Shape;1562;p60"/>
          <p:cNvSpPr/>
          <p:nvPr/>
        </p:nvSpPr>
        <p:spPr>
          <a:xfrm>
            <a:off x="5684431" y="3976025"/>
            <a:ext cx="9267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563" name="Google Shape;1563;p60"/>
          <p:cNvCxnSpPr/>
          <p:nvPr/>
        </p:nvCxnSpPr>
        <p:spPr>
          <a:xfrm>
            <a:off x="2380473" y="1601779"/>
            <a:ext cx="600" cy="1434900"/>
          </a:xfrm>
          <a:prstGeom prst="curvedConnector3">
            <a:avLst>
              <a:gd fmla="val -141332928" name="adj1"/>
            </a:avLst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564" name="Google Shape;1564;p60"/>
          <p:cNvSpPr txBox="1"/>
          <p:nvPr/>
        </p:nvSpPr>
        <p:spPr>
          <a:xfrm>
            <a:off x="692566" y="2196086"/>
            <a:ext cx="1713300" cy="2463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ReduceScatter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565" name="Google Shape;1565;p60"/>
          <p:cNvCxnSpPr/>
          <p:nvPr/>
        </p:nvCxnSpPr>
        <p:spPr>
          <a:xfrm>
            <a:off x="2355673" y="3304454"/>
            <a:ext cx="600" cy="1434900"/>
          </a:xfrm>
          <a:prstGeom prst="curvedConnector3">
            <a:avLst>
              <a:gd fmla="val -141332928" name="adj1"/>
            </a:avLst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566" name="Google Shape;1566;p60"/>
          <p:cNvSpPr txBox="1"/>
          <p:nvPr/>
        </p:nvSpPr>
        <p:spPr>
          <a:xfrm>
            <a:off x="667766" y="3898761"/>
            <a:ext cx="1713300" cy="2463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AllGather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567" name="Google Shape;1567;p60"/>
          <p:cNvCxnSpPr/>
          <p:nvPr/>
        </p:nvCxnSpPr>
        <p:spPr>
          <a:xfrm>
            <a:off x="6992125" y="1852966"/>
            <a:ext cx="600" cy="2618700"/>
          </a:xfrm>
          <a:prstGeom prst="curvedConnector3">
            <a:avLst>
              <a:gd fmla="val 153354106" name="adj1"/>
            </a:avLst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568" name="Google Shape;1568;p60"/>
          <p:cNvSpPr txBox="1"/>
          <p:nvPr/>
        </p:nvSpPr>
        <p:spPr>
          <a:xfrm>
            <a:off x="7057586" y="3039161"/>
            <a:ext cx="1713300" cy="2463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AllReduce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69" name="Google Shape;1569;p60"/>
          <p:cNvSpPr txBox="1"/>
          <p:nvPr>
            <p:ph idx="1" type="body"/>
          </p:nvPr>
        </p:nvSpPr>
        <p:spPr>
          <a:xfrm>
            <a:off x="107050" y="402200"/>
            <a:ext cx="8909700" cy="56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AllReduce = ReduceScatter + AllGather.</a:t>
            </a: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3" name="Shape 1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4" name="Google Shape;1574;p61"/>
          <p:cNvSpPr txBox="1"/>
          <p:nvPr>
            <p:ph idx="1" type="body"/>
          </p:nvPr>
        </p:nvSpPr>
        <p:spPr>
          <a:xfrm>
            <a:off x="4812375" y="402200"/>
            <a:ext cx="4038000" cy="426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</a:rPr>
              <a:t>Distributed AI Training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Motivation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Infrastructure</a:t>
            </a:r>
            <a:endParaRPr>
              <a:solidFill>
                <a:srgbClr val="B7B7B7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</a:rPr>
              <a:t>Defining Collectives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Definition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Redistribution Operations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Consolidation Operations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Duals and Compositions</a:t>
            </a:r>
            <a:endParaRPr>
              <a:solidFill>
                <a:srgbClr val="B7B7B7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Implementing Collectives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Roboto"/>
              <a:buChar char="•"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Mesh Topology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Single Root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Tree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Ring (Naive)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Ring (Optimized)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Overlay/Underlay Topologies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75" name="Google Shape;1575;p61"/>
          <p:cNvSpPr txBox="1"/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AllReduce with Mesh Topology</a:t>
            </a:r>
            <a:endParaRPr/>
          </a:p>
        </p:txBody>
      </p:sp>
      <p:sp>
        <p:nvSpPr>
          <p:cNvPr id="1576" name="Google Shape;1576;p61"/>
          <p:cNvSpPr txBox="1"/>
          <p:nvPr>
            <p:ph idx="2" type="subTitle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Lecture 23</a:t>
            </a:r>
            <a:r>
              <a:rPr lang="en"/>
              <a:t>, CS 168, </a:t>
            </a:r>
            <a:r>
              <a:rPr lang="en"/>
              <a:t>Spring 2026</a:t>
            </a: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0" name="Shape 1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1" name="Google Shape;1581;p62"/>
          <p:cNvSpPr txBox="1"/>
          <p:nvPr>
            <p:ph idx="1" type="body"/>
          </p:nvPr>
        </p:nvSpPr>
        <p:spPr>
          <a:xfrm>
            <a:off x="107050" y="402200"/>
            <a:ext cx="8909700" cy="355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So far: We've defined the input and desired output of each operation.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Up next: How do we implement these operations?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What topology do we use to connect the nodes?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What data does each node have to send to the other nodes?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Our choices will affect the performance of the operation.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Total amount of bandwidth used?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Number of steps for operation to complete?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Bandwidth each node sends per step?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We'll use AllReduce as our running example.</a:t>
            </a:r>
            <a:endParaRPr/>
          </a:p>
        </p:txBody>
      </p:sp>
      <p:sp>
        <p:nvSpPr>
          <p:cNvPr id="1582" name="Google Shape;1582;p62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Implementing</a:t>
            </a:r>
            <a:r>
              <a:rPr lang="en"/>
              <a:t> Collective Operations</a:t>
            </a:r>
            <a:endParaRPr/>
          </a:p>
        </p:txBody>
      </p:sp>
      <p:sp>
        <p:nvSpPr>
          <p:cNvPr id="1583" name="Google Shape;1583;p62"/>
          <p:cNvSpPr txBox="1"/>
          <p:nvPr/>
        </p:nvSpPr>
        <p:spPr>
          <a:xfrm>
            <a:off x="7621688" y="2619724"/>
            <a:ext cx="824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Node 1: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84" name="Google Shape;1584;p62"/>
          <p:cNvSpPr/>
          <p:nvPr/>
        </p:nvSpPr>
        <p:spPr>
          <a:xfrm>
            <a:off x="7433795" y="3585014"/>
            <a:ext cx="1200300" cy="2511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85" name="Google Shape;1585;p62"/>
          <p:cNvSpPr/>
          <p:nvPr/>
        </p:nvSpPr>
        <p:spPr>
          <a:xfrm>
            <a:off x="7433787" y="3333813"/>
            <a:ext cx="1200300" cy="2511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86" name="Google Shape;1586;p62"/>
          <p:cNvSpPr/>
          <p:nvPr/>
        </p:nvSpPr>
        <p:spPr>
          <a:xfrm>
            <a:off x="7433801" y="3082611"/>
            <a:ext cx="1200300" cy="2511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87" name="Google Shape;1587;p62"/>
          <p:cNvSpPr/>
          <p:nvPr/>
        </p:nvSpPr>
        <p:spPr>
          <a:xfrm>
            <a:off x="7433793" y="2831410"/>
            <a:ext cx="1200300" cy="2511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7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88" name="Google Shape;1588;p62"/>
          <p:cNvSpPr/>
          <p:nvPr/>
        </p:nvSpPr>
        <p:spPr>
          <a:xfrm>
            <a:off x="7433795" y="3836214"/>
            <a:ext cx="1200300" cy="2511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89" name="Google Shape;1589;p62"/>
          <p:cNvSpPr/>
          <p:nvPr/>
        </p:nvSpPr>
        <p:spPr>
          <a:xfrm rot="5400000">
            <a:off x="7939925" y="3661475"/>
            <a:ext cx="186900" cy="1202100"/>
          </a:xfrm>
          <a:prstGeom prst="rightBrace">
            <a:avLst>
              <a:gd fmla="val 50000" name="adj1"/>
              <a:gd fmla="val 50000" name="adj2"/>
            </a:avLst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90" name="Google Shape;1590;p62"/>
          <p:cNvSpPr txBox="1"/>
          <p:nvPr/>
        </p:nvSpPr>
        <p:spPr>
          <a:xfrm>
            <a:off x="7501104" y="4355900"/>
            <a:ext cx="1065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Each vector is </a:t>
            </a:r>
            <a:r>
              <a:rPr i="1"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D</a:t>
            </a: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 bytes.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591" name="Google Shape;1591;p62"/>
          <p:cNvCxnSpPr/>
          <p:nvPr/>
        </p:nvCxnSpPr>
        <p:spPr>
          <a:xfrm>
            <a:off x="6938500" y="3961775"/>
            <a:ext cx="419100" cy="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592" name="Google Shape;1592;p62"/>
          <p:cNvSpPr txBox="1"/>
          <p:nvPr/>
        </p:nvSpPr>
        <p:spPr>
          <a:xfrm>
            <a:off x="6004300" y="3836225"/>
            <a:ext cx="9342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Each box is </a:t>
            </a:r>
            <a:r>
              <a:rPr i="1"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D</a:t>
            </a: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/</a:t>
            </a:r>
            <a:r>
              <a:rPr i="1"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p</a:t>
            </a: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 bytes.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93" name="Google Shape;1593;p62"/>
          <p:cNvSpPr txBox="1"/>
          <p:nvPr/>
        </p:nvSpPr>
        <p:spPr>
          <a:xfrm>
            <a:off x="5953300" y="2611000"/>
            <a:ext cx="1404300" cy="77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p</a:t>
            </a: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 nodes in total.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Each node has a </a:t>
            </a:r>
            <a:r>
              <a:rPr i="1"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p</a:t>
            </a: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-element vector.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7" name="Shape 1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8" name="Google Shape;1598;p63"/>
          <p:cNvSpPr txBox="1"/>
          <p:nvPr>
            <p:ph idx="1" type="body"/>
          </p:nvPr>
        </p:nvSpPr>
        <p:spPr>
          <a:xfrm>
            <a:off x="107050" y="402200"/>
            <a:ext cx="8909700" cy="110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Sum up the vectors, then send the resulting sum vector to all nodes.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For this demo, we'll use </a:t>
            </a:r>
            <a:r>
              <a:rPr i="1" lang="en"/>
              <a:t>p</a:t>
            </a:r>
            <a:r>
              <a:rPr lang="en"/>
              <a:t> = 5 nodes instead of </a:t>
            </a:r>
            <a:r>
              <a:rPr i="1" lang="en"/>
              <a:t>p</a:t>
            </a:r>
            <a:r>
              <a:rPr lang="en"/>
              <a:t> = 4 nodes.</a:t>
            </a:r>
            <a:endParaRPr/>
          </a:p>
        </p:txBody>
      </p:sp>
      <p:sp>
        <p:nvSpPr>
          <p:cNvPr id="1599" name="Google Shape;1599;p63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Reminder: AllReduce Operation</a:t>
            </a:r>
            <a:endParaRPr/>
          </a:p>
        </p:txBody>
      </p:sp>
      <p:sp>
        <p:nvSpPr>
          <p:cNvPr id="1600" name="Google Shape;1600;p63"/>
          <p:cNvSpPr txBox="1"/>
          <p:nvPr/>
        </p:nvSpPr>
        <p:spPr>
          <a:xfrm>
            <a:off x="3512223" y="1504538"/>
            <a:ext cx="8247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Node 2:</a:t>
            </a:r>
            <a:endParaRPr sz="1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01" name="Google Shape;1601;p63"/>
          <p:cNvSpPr txBox="1"/>
          <p:nvPr/>
        </p:nvSpPr>
        <p:spPr>
          <a:xfrm>
            <a:off x="4872913" y="1504525"/>
            <a:ext cx="8247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Node 3:</a:t>
            </a:r>
            <a:endParaRPr sz="1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02" name="Google Shape;1602;p63"/>
          <p:cNvSpPr txBox="1"/>
          <p:nvPr/>
        </p:nvSpPr>
        <p:spPr>
          <a:xfrm>
            <a:off x="6233554" y="1504525"/>
            <a:ext cx="8247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Node 4:</a:t>
            </a:r>
            <a:endParaRPr sz="1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03" name="Google Shape;1603;p63"/>
          <p:cNvSpPr txBox="1"/>
          <p:nvPr/>
        </p:nvSpPr>
        <p:spPr>
          <a:xfrm>
            <a:off x="7594194" y="1504525"/>
            <a:ext cx="8247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Node 5:</a:t>
            </a:r>
            <a:endParaRPr sz="1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04" name="Google Shape;1604;p63"/>
          <p:cNvSpPr txBox="1"/>
          <p:nvPr/>
        </p:nvSpPr>
        <p:spPr>
          <a:xfrm>
            <a:off x="3512223" y="3438127"/>
            <a:ext cx="8247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Node 2:</a:t>
            </a:r>
            <a:endParaRPr sz="1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05" name="Google Shape;1605;p63"/>
          <p:cNvSpPr txBox="1"/>
          <p:nvPr/>
        </p:nvSpPr>
        <p:spPr>
          <a:xfrm>
            <a:off x="4872913" y="3438115"/>
            <a:ext cx="8247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Node 3:</a:t>
            </a:r>
            <a:endParaRPr sz="1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06" name="Google Shape;1606;p63"/>
          <p:cNvSpPr txBox="1"/>
          <p:nvPr/>
        </p:nvSpPr>
        <p:spPr>
          <a:xfrm>
            <a:off x="6233554" y="3438115"/>
            <a:ext cx="8247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Node 4:</a:t>
            </a:r>
            <a:endParaRPr sz="1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07" name="Google Shape;1607;p63"/>
          <p:cNvSpPr txBox="1"/>
          <p:nvPr/>
        </p:nvSpPr>
        <p:spPr>
          <a:xfrm>
            <a:off x="7594194" y="3438115"/>
            <a:ext cx="8247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Node 5:</a:t>
            </a:r>
            <a:endParaRPr sz="1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08" name="Google Shape;1608;p63"/>
          <p:cNvSpPr/>
          <p:nvPr/>
        </p:nvSpPr>
        <p:spPr>
          <a:xfrm>
            <a:off x="3323035" y="4395625"/>
            <a:ext cx="12003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09" name="Google Shape;1609;p63"/>
          <p:cNvSpPr/>
          <p:nvPr/>
        </p:nvSpPr>
        <p:spPr>
          <a:xfrm>
            <a:off x="3323027" y="4144447"/>
            <a:ext cx="12003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10" name="Google Shape;1610;p63"/>
          <p:cNvSpPr/>
          <p:nvPr/>
        </p:nvSpPr>
        <p:spPr>
          <a:xfrm>
            <a:off x="3323041" y="3893270"/>
            <a:ext cx="12003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11" name="Google Shape;1611;p63"/>
          <p:cNvSpPr/>
          <p:nvPr/>
        </p:nvSpPr>
        <p:spPr>
          <a:xfrm>
            <a:off x="3323033" y="3642092"/>
            <a:ext cx="12003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7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12" name="Google Shape;1612;p63"/>
          <p:cNvSpPr/>
          <p:nvPr/>
        </p:nvSpPr>
        <p:spPr>
          <a:xfrm>
            <a:off x="4681132" y="4395625"/>
            <a:ext cx="12003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13" name="Google Shape;1613;p63"/>
          <p:cNvSpPr/>
          <p:nvPr/>
        </p:nvSpPr>
        <p:spPr>
          <a:xfrm>
            <a:off x="4681124" y="4144447"/>
            <a:ext cx="12003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14" name="Google Shape;1614;p63"/>
          <p:cNvSpPr/>
          <p:nvPr/>
        </p:nvSpPr>
        <p:spPr>
          <a:xfrm>
            <a:off x="4681138" y="3893270"/>
            <a:ext cx="12003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15" name="Google Shape;1615;p63"/>
          <p:cNvSpPr/>
          <p:nvPr/>
        </p:nvSpPr>
        <p:spPr>
          <a:xfrm>
            <a:off x="4681130" y="3642092"/>
            <a:ext cx="12003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16" name="Google Shape;1616;p63"/>
          <p:cNvSpPr/>
          <p:nvPr/>
        </p:nvSpPr>
        <p:spPr>
          <a:xfrm>
            <a:off x="6039261" y="4395625"/>
            <a:ext cx="12003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17" name="Google Shape;1617;p63"/>
          <p:cNvSpPr/>
          <p:nvPr/>
        </p:nvSpPr>
        <p:spPr>
          <a:xfrm>
            <a:off x="6039254" y="4144447"/>
            <a:ext cx="12003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18" name="Google Shape;1618;p63"/>
          <p:cNvSpPr/>
          <p:nvPr/>
        </p:nvSpPr>
        <p:spPr>
          <a:xfrm>
            <a:off x="6039267" y="3893270"/>
            <a:ext cx="12003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19" name="Google Shape;1619;p63"/>
          <p:cNvSpPr/>
          <p:nvPr/>
        </p:nvSpPr>
        <p:spPr>
          <a:xfrm>
            <a:off x="6039259" y="3642092"/>
            <a:ext cx="12003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20" name="Google Shape;1620;p63"/>
          <p:cNvSpPr/>
          <p:nvPr/>
        </p:nvSpPr>
        <p:spPr>
          <a:xfrm>
            <a:off x="7405016" y="4395625"/>
            <a:ext cx="12003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21" name="Google Shape;1621;p63"/>
          <p:cNvSpPr/>
          <p:nvPr/>
        </p:nvSpPr>
        <p:spPr>
          <a:xfrm>
            <a:off x="7405009" y="4144447"/>
            <a:ext cx="12003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22" name="Google Shape;1622;p63"/>
          <p:cNvSpPr/>
          <p:nvPr/>
        </p:nvSpPr>
        <p:spPr>
          <a:xfrm>
            <a:off x="7405022" y="3893270"/>
            <a:ext cx="12003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23" name="Google Shape;1623;p63"/>
          <p:cNvSpPr/>
          <p:nvPr/>
        </p:nvSpPr>
        <p:spPr>
          <a:xfrm>
            <a:off x="7405014" y="3642092"/>
            <a:ext cx="12003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24" name="Google Shape;1624;p63"/>
          <p:cNvSpPr/>
          <p:nvPr/>
        </p:nvSpPr>
        <p:spPr>
          <a:xfrm>
            <a:off x="3323035" y="2459801"/>
            <a:ext cx="1200300" cy="2511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25" name="Google Shape;1625;p63"/>
          <p:cNvSpPr/>
          <p:nvPr/>
        </p:nvSpPr>
        <p:spPr>
          <a:xfrm>
            <a:off x="3323027" y="2208600"/>
            <a:ext cx="1200300" cy="2511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26" name="Google Shape;1626;p63"/>
          <p:cNvSpPr/>
          <p:nvPr/>
        </p:nvSpPr>
        <p:spPr>
          <a:xfrm>
            <a:off x="3323041" y="1957399"/>
            <a:ext cx="1200300" cy="2511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27" name="Google Shape;1627;p63"/>
          <p:cNvSpPr/>
          <p:nvPr/>
        </p:nvSpPr>
        <p:spPr>
          <a:xfrm>
            <a:off x="3323033" y="1706198"/>
            <a:ext cx="1200300" cy="2511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7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28" name="Google Shape;1628;p63"/>
          <p:cNvSpPr/>
          <p:nvPr/>
        </p:nvSpPr>
        <p:spPr>
          <a:xfrm>
            <a:off x="4683700" y="2459789"/>
            <a:ext cx="1200300" cy="2511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29" name="Google Shape;1629;p63"/>
          <p:cNvSpPr/>
          <p:nvPr/>
        </p:nvSpPr>
        <p:spPr>
          <a:xfrm>
            <a:off x="4683692" y="2208588"/>
            <a:ext cx="1200300" cy="2511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30" name="Google Shape;1630;p63"/>
          <p:cNvSpPr/>
          <p:nvPr/>
        </p:nvSpPr>
        <p:spPr>
          <a:xfrm>
            <a:off x="4683705" y="1957386"/>
            <a:ext cx="1200300" cy="2511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i="1" sz="1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31" name="Google Shape;1631;p63"/>
          <p:cNvSpPr/>
          <p:nvPr/>
        </p:nvSpPr>
        <p:spPr>
          <a:xfrm>
            <a:off x="4683698" y="1706185"/>
            <a:ext cx="1200300" cy="2511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32" name="Google Shape;1632;p63"/>
          <p:cNvSpPr/>
          <p:nvPr/>
        </p:nvSpPr>
        <p:spPr>
          <a:xfrm>
            <a:off x="6044357" y="2459789"/>
            <a:ext cx="1200300" cy="2511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33" name="Google Shape;1633;p63"/>
          <p:cNvSpPr/>
          <p:nvPr/>
        </p:nvSpPr>
        <p:spPr>
          <a:xfrm>
            <a:off x="6044350" y="2208588"/>
            <a:ext cx="1200300" cy="2511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34" name="Google Shape;1634;p63"/>
          <p:cNvSpPr/>
          <p:nvPr/>
        </p:nvSpPr>
        <p:spPr>
          <a:xfrm>
            <a:off x="6044363" y="1957386"/>
            <a:ext cx="1200300" cy="2511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35" name="Google Shape;1635;p63"/>
          <p:cNvSpPr/>
          <p:nvPr/>
        </p:nvSpPr>
        <p:spPr>
          <a:xfrm>
            <a:off x="6044355" y="1706185"/>
            <a:ext cx="1200300" cy="2511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36" name="Google Shape;1636;p63"/>
          <p:cNvSpPr/>
          <p:nvPr/>
        </p:nvSpPr>
        <p:spPr>
          <a:xfrm>
            <a:off x="7405014" y="2459789"/>
            <a:ext cx="1200300" cy="2511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37" name="Google Shape;1637;p63"/>
          <p:cNvSpPr/>
          <p:nvPr/>
        </p:nvSpPr>
        <p:spPr>
          <a:xfrm>
            <a:off x="7405007" y="2208588"/>
            <a:ext cx="1200300" cy="2511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38" name="Google Shape;1638;p63"/>
          <p:cNvSpPr/>
          <p:nvPr/>
        </p:nvSpPr>
        <p:spPr>
          <a:xfrm>
            <a:off x="7405020" y="1957386"/>
            <a:ext cx="1200300" cy="2511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39" name="Google Shape;1639;p63"/>
          <p:cNvSpPr/>
          <p:nvPr/>
        </p:nvSpPr>
        <p:spPr>
          <a:xfrm>
            <a:off x="7405012" y="1706185"/>
            <a:ext cx="1200300" cy="2511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40" name="Google Shape;1640;p63"/>
          <p:cNvSpPr txBox="1"/>
          <p:nvPr/>
        </p:nvSpPr>
        <p:spPr>
          <a:xfrm>
            <a:off x="2150263" y="1504525"/>
            <a:ext cx="8247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Node 1:</a:t>
            </a:r>
            <a:endParaRPr sz="1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41" name="Google Shape;1641;p63"/>
          <p:cNvSpPr/>
          <p:nvPr/>
        </p:nvSpPr>
        <p:spPr>
          <a:xfrm>
            <a:off x="1964935" y="4395625"/>
            <a:ext cx="12003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42" name="Google Shape;1642;p63"/>
          <p:cNvSpPr/>
          <p:nvPr/>
        </p:nvSpPr>
        <p:spPr>
          <a:xfrm>
            <a:off x="1964953" y="4144435"/>
            <a:ext cx="12003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43" name="Google Shape;1643;p63"/>
          <p:cNvSpPr/>
          <p:nvPr/>
        </p:nvSpPr>
        <p:spPr>
          <a:xfrm>
            <a:off x="1964966" y="3893257"/>
            <a:ext cx="12003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44" name="Google Shape;1644;p63"/>
          <p:cNvSpPr/>
          <p:nvPr/>
        </p:nvSpPr>
        <p:spPr>
          <a:xfrm>
            <a:off x="1964958" y="3642080"/>
            <a:ext cx="12003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700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700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700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7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45" name="Google Shape;1645;p63"/>
          <p:cNvSpPr/>
          <p:nvPr/>
        </p:nvSpPr>
        <p:spPr>
          <a:xfrm>
            <a:off x="1962370" y="2459789"/>
            <a:ext cx="1200300" cy="2511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46" name="Google Shape;1646;p63"/>
          <p:cNvSpPr/>
          <p:nvPr/>
        </p:nvSpPr>
        <p:spPr>
          <a:xfrm>
            <a:off x="1962362" y="2208588"/>
            <a:ext cx="1200300" cy="2511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47" name="Google Shape;1647;p63"/>
          <p:cNvSpPr/>
          <p:nvPr/>
        </p:nvSpPr>
        <p:spPr>
          <a:xfrm>
            <a:off x="1962376" y="1957386"/>
            <a:ext cx="1200300" cy="2511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48" name="Google Shape;1648;p63"/>
          <p:cNvSpPr/>
          <p:nvPr/>
        </p:nvSpPr>
        <p:spPr>
          <a:xfrm>
            <a:off x="1962368" y="1706185"/>
            <a:ext cx="1200300" cy="2511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7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49" name="Google Shape;1649;p63"/>
          <p:cNvSpPr txBox="1"/>
          <p:nvPr/>
        </p:nvSpPr>
        <p:spPr>
          <a:xfrm>
            <a:off x="2150263" y="3438102"/>
            <a:ext cx="8247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Node 1:</a:t>
            </a:r>
            <a:endParaRPr sz="1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650" name="Google Shape;1650;p63"/>
          <p:cNvCxnSpPr>
            <a:stCxn id="1647" idx="1"/>
            <a:endCxn id="1642" idx="1"/>
          </p:cNvCxnSpPr>
          <p:nvPr/>
        </p:nvCxnSpPr>
        <p:spPr>
          <a:xfrm>
            <a:off x="1962376" y="2082936"/>
            <a:ext cx="2700" cy="2187000"/>
          </a:xfrm>
          <a:prstGeom prst="curvedConnector3">
            <a:avLst>
              <a:gd fmla="val -33396779" name="adj1"/>
            </a:avLst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651" name="Google Shape;1651;p63"/>
          <p:cNvSpPr txBox="1"/>
          <p:nvPr/>
        </p:nvSpPr>
        <p:spPr>
          <a:xfrm>
            <a:off x="213679" y="2927749"/>
            <a:ext cx="1713300" cy="2463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AllReduce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52" name="Google Shape;1652;p63"/>
          <p:cNvSpPr/>
          <p:nvPr/>
        </p:nvSpPr>
        <p:spPr>
          <a:xfrm>
            <a:off x="3323035" y="2711001"/>
            <a:ext cx="1200300" cy="2511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53" name="Google Shape;1653;p63"/>
          <p:cNvSpPr/>
          <p:nvPr/>
        </p:nvSpPr>
        <p:spPr>
          <a:xfrm>
            <a:off x="4683700" y="2710989"/>
            <a:ext cx="1200300" cy="2511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54" name="Google Shape;1654;p63"/>
          <p:cNvSpPr/>
          <p:nvPr/>
        </p:nvSpPr>
        <p:spPr>
          <a:xfrm>
            <a:off x="6044357" y="2710989"/>
            <a:ext cx="1200300" cy="2511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55" name="Google Shape;1655;p63"/>
          <p:cNvSpPr/>
          <p:nvPr/>
        </p:nvSpPr>
        <p:spPr>
          <a:xfrm>
            <a:off x="7405014" y="2710989"/>
            <a:ext cx="1200300" cy="2511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56" name="Google Shape;1656;p63"/>
          <p:cNvSpPr/>
          <p:nvPr/>
        </p:nvSpPr>
        <p:spPr>
          <a:xfrm>
            <a:off x="1962370" y="2710989"/>
            <a:ext cx="1200300" cy="2511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57" name="Google Shape;1657;p63"/>
          <p:cNvSpPr/>
          <p:nvPr/>
        </p:nvSpPr>
        <p:spPr>
          <a:xfrm>
            <a:off x="3323173" y="4646825"/>
            <a:ext cx="12003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58" name="Google Shape;1658;p63"/>
          <p:cNvSpPr/>
          <p:nvPr/>
        </p:nvSpPr>
        <p:spPr>
          <a:xfrm>
            <a:off x="4681270" y="4646825"/>
            <a:ext cx="12003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59" name="Google Shape;1659;p63"/>
          <p:cNvSpPr/>
          <p:nvPr/>
        </p:nvSpPr>
        <p:spPr>
          <a:xfrm>
            <a:off x="6039399" y="4646825"/>
            <a:ext cx="12003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60" name="Google Shape;1660;p63"/>
          <p:cNvSpPr/>
          <p:nvPr/>
        </p:nvSpPr>
        <p:spPr>
          <a:xfrm>
            <a:off x="7405154" y="4646825"/>
            <a:ext cx="12003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61" name="Google Shape;1661;p63"/>
          <p:cNvSpPr/>
          <p:nvPr/>
        </p:nvSpPr>
        <p:spPr>
          <a:xfrm>
            <a:off x="1965098" y="4646812"/>
            <a:ext cx="12003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5" name="Shape 1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6" name="Google Shape;1666;p64"/>
          <p:cNvSpPr/>
          <p:nvPr/>
        </p:nvSpPr>
        <p:spPr>
          <a:xfrm>
            <a:off x="2698796" y="2451180"/>
            <a:ext cx="393600" cy="393600"/>
          </a:xfrm>
          <a:prstGeom prst="ellipse">
            <a:avLst/>
          </a:prstGeom>
          <a:solidFill>
            <a:srgbClr val="D9D2E9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5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67" name="Google Shape;1667;p64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Mesh Topology</a:t>
            </a:r>
            <a:endParaRPr/>
          </a:p>
        </p:txBody>
      </p:sp>
      <p:sp>
        <p:nvSpPr>
          <p:cNvPr id="1668" name="Google Shape;1668;p64"/>
          <p:cNvSpPr txBox="1"/>
          <p:nvPr>
            <p:ph idx="1" type="body"/>
          </p:nvPr>
        </p:nvSpPr>
        <p:spPr>
          <a:xfrm>
            <a:off x="107050" y="402200"/>
            <a:ext cx="8909700" cy="65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1. Send your vector to everyone else.</a:t>
            </a:r>
            <a:endParaRPr/>
          </a:p>
        </p:txBody>
      </p:sp>
      <p:sp>
        <p:nvSpPr>
          <p:cNvPr id="1669" name="Google Shape;1669;p64"/>
          <p:cNvSpPr/>
          <p:nvPr/>
        </p:nvSpPr>
        <p:spPr>
          <a:xfrm>
            <a:off x="3384605" y="4508585"/>
            <a:ext cx="393600" cy="393600"/>
          </a:xfrm>
          <a:prstGeom prst="ellipse">
            <a:avLst/>
          </a:prstGeom>
          <a:solidFill>
            <a:srgbClr val="D9EAD3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4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70" name="Google Shape;1670;p64"/>
          <p:cNvSpPr/>
          <p:nvPr/>
        </p:nvSpPr>
        <p:spPr>
          <a:xfrm>
            <a:off x="5365805" y="4508575"/>
            <a:ext cx="393600" cy="393600"/>
          </a:xfrm>
          <a:prstGeom prst="ellipse">
            <a:avLst/>
          </a:prstGeom>
          <a:solidFill>
            <a:srgbClr val="F4CCCC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3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71" name="Google Shape;1671;p64"/>
          <p:cNvSpPr/>
          <p:nvPr/>
        </p:nvSpPr>
        <p:spPr>
          <a:xfrm>
            <a:off x="4375205" y="1308175"/>
            <a:ext cx="393600" cy="393600"/>
          </a:xfrm>
          <a:prstGeom prst="ellipse">
            <a:avLst/>
          </a:prstGeom>
          <a:solidFill>
            <a:srgbClr val="FCE5CD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1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72" name="Google Shape;1672;p64"/>
          <p:cNvSpPr/>
          <p:nvPr/>
        </p:nvSpPr>
        <p:spPr>
          <a:xfrm>
            <a:off x="6051605" y="2451175"/>
            <a:ext cx="393600" cy="3936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2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673" name="Google Shape;1673;p64"/>
          <p:cNvCxnSpPr>
            <a:stCxn id="1666" idx="7"/>
            <a:endCxn id="1671" idx="3"/>
          </p:cNvCxnSpPr>
          <p:nvPr/>
        </p:nvCxnSpPr>
        <p:spPr>
          <a:xfrm flipH="1" rot="10800000">
            <a:off x="3034755" y="1644221"/>
            <a:ext cx="1398000" cy="864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74" name="Google Shape;1674;p64"/>
          <p:cNvCxnSpPr>
            <a:stCxn id="1672" idx="1"/>
            <a:endCxn id="1671" idx="5"/>
          </p:cNvCxnSpPr>
          <p:nvPr/>
        </p:nvCxnSpPr>
        <p:spPr>
          <a:xfrm rot="10800000">
            <a:off x="4711247" y="1644216"/>
            <a:ext cx="1398000" cy="864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75" name="Google Shape;1675;p64"/>
          <p:cNvCxnSpPr>
            <a:stCxn id="1670" idx="0"/>
            <a:endCxn id="1672" idx="4"/>
          </p:cNvCxnSpPr>
          <p:nvPr/>
        </p:nvCxnSpPr>
        <p:spPr>
          <a:xfrm flipH="1" rot="10800000">
            <a:off x="5562605" y="2844775"/>
            <a:ext cx="685800" cy="1663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76" name="Google Shape;1676;p64"/>
          <p:cNvCxnSpPr>
            <a:stCxn id="1669" idx="6"/>
            <a:endCxn id="1670" idx="2"/>
          </p:cNvCxnSpPr>
          <p:nvPr/>
        </p:nvCxnSpPr>
        <p:spPr>
          <a:xfrm>
            <a:off x="3778205" y="4705385"/>
            <a:ext cx="15876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77" name="Google Shape;1677;p64"/>
          <p:cNvCxnSpPr>
            <a:stCxn id="1666" idx="4"/>
            <a:endCxn id="1669" idx="0"/>
          </p:cNvCxnSpPr>
          <p:nvPr/>
        </p:nvCxnSpPr>
        <p:spPr>
          <a:xfrm>
            <a:off x="2895596" y="2844780"/>
            <a:ext cx="685800" cy="1663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78" name="Google Shape;1678;p64"/>
          <p:cNvCxnSpPr>
            <a:stCxn id="1666" idx="6"/>
            <a:endCxn id="1670" idx="0"/>
          </p:cNvCxnSpPr>
          <p:nvPr/>
        </p:nvCxnSpPr>
        <p:spPr>
          <a:xfrm>
            <a:off x="3092396" y="2647980"/>
            <a:ext cx="2470200" cy="1860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79" name="Google Shape;1679;p64"/>
          <p:cNvCxnSpPr>
            <a:stCxn id="1672" idx="2"/>
            <a:endCxn id="1669" idx="0"/>
          </p:cNvCxnSpPr>
          <p:nvPr/>
        </p:nvCxnSpPr>
        <p:spPr>
          <a:xfrm flipH="1">
            <a:off x="3581405" y="2647975"/>
            <a:ext cx="2470200" cy="1860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80" name="Google Shape;1680;p64"/>
          <p:cNvCxnSpPr>
            <a:stCxn id="1671" idx="4"/>
            <a:endCxn id="1669" idx="0"/>
          </p:cNvCxnSpPr>
          <p:nvPr/>
        </p:nvCxnSpPr>
        <p:spPr>
          <a:xfrm flipH="1">
            <a:off x="3581405" y="1701775"/>
            <a:ext cx="990600" cy="2806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81" name="Google Shape;1681;p64"/>
          <p:cNvCxnSpPr>
            <a:stCxn id="1671" idx="4"/>
            <a:endCxn id="1670" idx="0"/>
          </p:cNvCxnSpPr>
          <p:nvPr/>
        </p:nvCxnSpPr>
        <p:spPr>
          <a:xfrm>
            <a:off x="4572005" y="1701775"/>
            <a:ext cx="990600" cy="2806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82" name="Google Shape;1682;p64"/>
          <p:cNvCxnSpPr>
            <a:stCxn id="1672" idx="2"/>
            <a:endCxn id="1666" idx="6"/>
          </p:cNvCxnSpPr>
          <p:nvPr/>
        </p:nvCxnSpPr>
        <p:spPr>
          <a:xfrm rot="10800000">
            <a:off x="3092405" y="2647975"/>
            <a:ext cx="29592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83" name="Google Shape;1683;p64"/>
          <p:cNvSpPr/>
          <p:nvPr/>
        </p:nvSpPr>
        <p:spPr>
          <a:xfrm>
            <a:off x="6978595" y="2745860"/>
            <a:ext cx="1200300" cy="1953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84" name="Google Shape;1684;p64"/>
          <p:cNvSpPr/>
          <p:nvPr/>
        </p:nvSpPr>
        <p:spPr>
          <a:xfrm>
            <a:off x="6978588" y="2550327"/>
            <a:ext cx="1200300" cy="1953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85" name="Google Shape;1685;p64"/>
          <p:cNvSpPr/>
          <p:nvPr/>
        </p:nvSpPr>
        <p:spPr>
          <a:xfrm>
            <a:off x="6978601" y="2354795"/>
            <a:ext cx="1200300" cy="1953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86" name="Google Shape;1686;p64"/>
          <p:cNvSpPr/>
          <p:nvPr/>
        </p:nvSpPr>
        <p:spPr>
          <a:xfrm>
            <a:off x="6978593" y="2159263"/>
            <a:ext cx="1200300" cy="1953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87" name="Google Shape;1687;p64"/>
          <p:cNvSpPr/>
          <p:nvPr/>
        </p:nvSpPr>
        <p:spPr>
          <a:xfrm>
            <a:off x="6978595" y="2941391"/>
            <a:ext cx="1200300" cy="1953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88" name="Google Shape;1688;p64"/>
          <p:cNvSpPr/>
          <p:nvPr/>
        </p:nvSpPr>
        <p:spPr>
          <a:xfrm>
            <a:off x="965095" y="2593447"/>
            <a:ext cx="1200300" cy="1953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89" name="Google Shape;1689;p64"/>
          <p:cNvSpPr/>
          <p:nvPr/>
        </p:nvSpPr>
        <p:spPr>
          <a:xfrm>
            <a:off x="965088" y="2397915"/>
            <a:ext cx="1200300" cy="1953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90" name="Google Shape;1690;p64"/>
          <p:cNvSpPr/>
          <p:nvPr/>
        </p:nvSpPr>
        <p:spPr>
          <a:xfrm>
            <a:off x="965101" y="2202382"/>
            <a:ext cx="1200300" cy="1953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91" name="Google Shape;1691;p64"/>
          <p:cNvSpPr/>
          <p:nvPr/>
        </p:nvSpPr>
        <p:spPr>
          <a:xfrm>
            <a:off x="965093" y="2006850"/>
            <a:ext cx="1200300" cy="1953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92" name="Google Shape;1692;p64"/>
          <p:cNvSpPr/>
          <p:nvPr/>
        </p:nvSpPr>
        <p:spPr>
          <a:xfrm>
            <a:off x="965095" y="2788979"/>
            <a:ext cx="1200300" cy="1953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93" name="Google Shape;1693;p64"/>
          <p:cNvSpPr/>
          <p:nvPr/>
        </p:nvSpPr>
        <p:spPr>
          <a:xfrm>
            <a:off x="965095" y="4358947"/>
            <a:ext cx="1200300" cy="1953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94" name="Google Shape;1694;p64"/>
          <p:cNvSpPr/>
          <p:nvPr/>
        </p:nvSpPr>
        <p:spPr>
          <a:xfrm>
            <a:off x="965088" y="4163415"/>
            <a:ext cx="1200300" cy="1953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95" name="Google Shape;1695;p64"/>
          <p:cNvSpPr/>
          <p:nvPr/>
        </p:nvSpPr>
        <p:spPr>
          <a:xfrm>
            <a:off x="965101" y="3967882"/>
            <a:ext cx="1200300" cy="1953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96" name="Google Shape;1696;p64"/>
          <p:cNvSpPr/>
          <p:nvPr/>
        </p:nvSpPr>
        <p:spPr>
          <a:xfrm>
            <a:off x="965093" y="3772350"/>
            <a:ext cx="1200300" cy="1953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97" name="Google Shape;1697;p64"/>
          <p:cNvSpPr/>
          <p:nvPr/>
        </p:nvSpPr>
        <p:spPr>
          <a:xfrm>
            <a:off x="965095" y="4554479"/>
            <a:ext cx="1200300" cy="1953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98" name="Google Shape;1698;p64"/>
          <p:cNvSpPr/>
          <p:nvPr/>
        </p:nvSpPr>
        <p:spPr>
          <a:xfrm>
            <a:off x="6978595" y="4358947"/>
            <a:ext cx="1200300" cy="1953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99" name="Google Shape;1699;p64"/>
          <p:cNvSpPr/>
          <p:nvPr/>
        </p:nvSpPr>
        <p:spPr>
          <a:xfrm>
            <a:off x="6978588" y="4163415"/>
            <a:ext cx="1200300" cy="1953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00" name="Google Shape;1700;p64"/>
          <p:cNvSpPr/>
          <p:nvPr/>
        </p:nvSpPr>
        <p:spPr>
          <a:xfrm>
            <a:off x="6978601" y="3967882"/>
            <a:ext cx="1200300" cy="1953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01" name="Google Shape;1701;p64"/>
          <p:cNvSpPr/>
          <p:nvPr/>
        </p:nvSpPr>
        <p:spPr>
          <a:xfrm>
            <a:off x="6978593" y="3772350"/>
            <a:ext cx="1200300" cy="1953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02" name="Google Shape;1702;p64"/>
          <p:cNvSpPr/>
          <p:nvPr/>
        </p:nvSpPr>
        <p:spPr>
          <a:xfrm>
            <a:off x="6978595" y="4554479"/>
            <a:ext cx="1200300" cy="1953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03" name="Google Shape;1703;p64"/>
          <p:cNvSpPr/>
          <p:nvPr/>
        </p:nvSpPr>
        <p:spPr>
          <a:xfrm>
            <a:off x="5725220" y="1290455"/>
            <a:ext cx="1200300" cy="1953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04" name="Google Shape;1704;p64"/>
          <p:cNvSpPr/>
          <p:nvPr/>
        </p:nvSpPr>
        <p:spPr>
          <a:xfrm>
            <a:off x="5725213" y="1094923"/>
            <a:ext cx="1200300" cy="1953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05" name="Google Shape;1705;p64"/>
          <p:cNvSpPr/>
          <p:nvPr/>
        </p:nvSpPr>
        <p:spPr>
          <a:xfrm>
            <a:off x="5725226" y="899390"/>
            <a:ext cx="1200300" cy="1953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06" name="Google Shape;1706;p64"/>
          <p:cNvSpPr/>
          <p:nvPr/>
        </p:nvSpPr>
        <p:spPr>
          <a:xfrm>
            <a:off x="5725218" y="703858"/>
            <a:ext cx="1200300" cy="1953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07" name="Google Shape;1707;p64"/>
          <p:cNvSpPr/>
          <p:nvPr/>
        </p:nvSpPr>
        <p:spPr>
          <a:xfrm>
            <a:off x="5725220" y="1485987"/>
            <a:ext cx="1200300" cy="1953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1" name="Shape 17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2" name="Google Shape;1712;p65"/>
          <p:cNvSpPr/>
          <p:nvPr/>
        </p:nvSpPr>
        <p:spPr>
          <a:xfrm>
            <a:off x="2698796" y="2451180"/>
            <a:ext cx="393600" cy="393600"/>
          </a:xfrm>
          <a:prstGeom prst="ellipse">
            <a:avLst/>
          </a:prstGeom>
          <a:solidFill>
            <a:srgbClr val="D9D2E9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5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13" name="Google Shape;1713;p65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Mesh Topology</a:t>
            </a:r>
            <a:endParaRPr/>
          </a:p>
        </p:txBody>
      </p:sp>
      <p:sp>
        <p:nvSpPr>
          <p:cNvPr id="1714" name="Google Shape;1714;p65"/>
          <p:cNvSpPr txBox="1"/>
          <p:nvPr>
            <p:ph idx="1" type="body"/>
          </p:nvPr>
        </p:nvSpPr>
        <p:spPr>
          <a:xfrm>
            <a:off x="107050" y="402200"/>
            <a:ext cx="8909700" cy="65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1. Send your vector to everyone else.</a:t>
            </a:r>
            <a:endParaRPr/>
          </a:p>
        </p:txBody>
      </p:sp>
      <p:sp>
        <p:nvSpPr>
          <p:cNvPr id="1715" name="Google Shape;1715;p65"/>
          <p:cNvSpPr/>
          <p:nvPr/>
        </p:nvSpPr>
        <p:spPr>
          <a:xfrm>
            <a:off x="3384605" y="4508585"/>
            <a:ext cx="393600" cy="393600"/>
          </a:xfrm>
          <a:prstGeom prst="ellipse">
            <a:avLst/>
          </a:prstGeom>
          <a:solidFill>
            <a:srgbClr val="D9EAD3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4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16" name="Google Shape;1716;p65"/>
          <p:cNvSpPr/>
          <p:nvPr/>
        </p:nvSpPr>
        <p:spPr>
          <a:xfrm>
            <a:off x="5365805" y="4508575"/>
            <a:ext cx="393600" cy="393600"/>
          </a:xfrm>
          <a:prstGeom prst="ellipse">
            <a:avLst/>
          </a:prstGeom>
          <a:solidFill>
            <a:srgbClr val="F4CCCC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3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17" name="Google Shape;1717;p65"/>
          <p:cNvSpPr/>
          <p:nvPr/>
        </p:nvSpPr>
        <p:spPr>
          <a:xfrm>
            <a:off x="4375205" y="1308175"/>
            <a:ext cx="393600" cy="393600"/>
          </a:xfrm>
          <a:prstGeom prst="ellipse">
            <a:avLst/>
          </a:prstGeom>
          <a:solidFill>
            <a:srgbClr val="FCE5CD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1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18" name="Google Shape;1718;p65"/>
          <p:cNvSpPr/>
          <p:nvPr/>
        </p:nvSpPr>
        <p:spPr>
          <a:xfrm>
            <a:off x="6051605" y="2451175"/>
            <a:ext cx="393600" cy="3936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2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719" name="Google Shape;1719;p65"/>
          <p:cNvCxnSpPr>
            <a:stCxn id="1712" idx="7"/>
            <a:endCxn id="1717" idx="3"/>
          </p:cNvCxnSpPr>
          <p:nvPr/>
        </p:nvCxnSpPr>
        <p:spPr>
          <a:xfrm flipH="1" rot="10800000">
            <a:off x="3034755" y="1644221"/>
            <a:ext cx="1398000" cy="864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20" name="Google Shape;1720;p65"/>
          <p:cNvCxnSpPr>
            <a:stCxn id="1718" idx="1"/>
            <a:endCxn id="1717" idx="5"/>
          </p:cNvCxnSpPr>
          <p:nvPr/>
        </p:nvCxnSpPr>
        <p:spPr>
          <a:xfrm rot="10800000">
            <a:off x="4711247" y="1644216"/>
            <a:ext cx="1398000" cy="864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21" name="Google Shape;1721;p65"/>
          <p:cNvCxnSpPr>
            <a:stCxn id="1716" idx="0"/>
            <a:endCxn id="1718" idx="4"/>
          </p:cNvCxnSpPr>
          <p:nvPr/>
        </p:nvCxnSpPr>
        <p:spPr>
          <a:xfrm flipH="1" rot="10800000">
            <a:off x="5562605" y="2844775"/>
            <a:ext cx="685800" cy="1663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22" name="Google Shape;1722;p65"/>
          <p:cNvCxnSpPr>
            <a:stCxn id="1715" idx="6"/>
            <a:endCxn id="1716" idx="2"/>
          </p:cNvCxnSpPr>
          <p:nvPr/>
        </p:nvCxnSpPr>
        <p:spPr>
          <a:xfrm>
            <a:off x="3778205" y="4705385"/>
            <a:ext cx="15876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23" name="Google Shape;1723;p65"/>
          <p:cNvCxnSpPr>
            <a:stCxn id="1712" idx="4"/>
            <a:endCxn id="1715" idx="0"/>
          </p:cNvCxnSpPr>
          <p:nvPr/>
        </p:nvCxnSpPr>
        <p:spPr>
          <a:xfrm>
            <a:off x="2895596" y="2844780"/>
            <a:ext cx="685800" cy="1663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24" name="Google Shape;1724;p65"/>
          <p:cNvCxnSpPr>
            <a:stCxn id="1712" idx="6"/>
            <a:endCxn id="1716" idx="0"/>
          </p:cNvCxnSpPr>
          <p:nvPr/>
        </p:nvCxnSpPr>
        <p:spPr>
          <a:xfrm>
            <a:off x="3092396" y="2647980"/>
            <a:ext cx="2470200" cy="1860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25" name="Google Shape;1725;p65"/>
          <p:cNvCxnSpPr>
            <a:stCxn id="1718" idx="2"/>
            <a:endCxn id="1715" idx="0"/>
          </p:cNvCxnSpPr>
          <p:nvPr/>
        </p:nvCxnSpPr>
        <p:spPr>
          <a:xfrm flipH="1">
            <a:off x="3581405" y="2647975"/>
            <a:ext cx="2470200" cy="1860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26" name="Google Shape;1726;p65"/>
          <p:cNvCxnSpPr>
            <a:stCxn id="1717" idx="4"/>
            <a:endCxn id="1715" idx="0"/>
          </p:cNvCxnSpPr>
          <p:nvPr/>
        </p:nvCxnSpPr>
        <p:spPr>
          <a:xfrm flipH="1">
            <a:off x="3581405" y="1701775"/>
            <a:ext cx="990600" cy="2806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27" name="Google Shape;1727;p65"/>
          <p:cNvCxnSpPr>
            <a:stCxn id="1717" idx="4"/>
            <a:endCxn id="1716" idx="0"/>
          </p:cNvCxnSpPr>
          <p:nvPr/>
        </p:nvCxnSpPr>
        <p:spPr>
          <a:xfrm>
            <a:off x="4572005" y="1701775"/>
            <a:ext cx="990600" cy="2806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28" name="Google Shape;1728;p65"/>
          <p:cNvCxnSpPr>
            <a:stCxn id="1718" idx="2"/>
            <a:endCxn id="1712" idx="6"/>
          </p:cNvCxnSpPr>
          <p:nvPr/>
        </p:nvCxnSpPr>
        <p:spPr>
          <a:xfrm rot="10800000">
            <a:off x="3092405" y="2647975"/>
            <a:ext cx="29592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29" name="Google Shape;1729;p65"/>
          <p:cNvSpPr/>
          <p:nvPr/>
        </p:nvSpPr>
        <p:spPr>
          <a:xfrm>
            <a:off x="6978595" y="2745860"/>
            <a:ext cx="1200300" cy="1953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30" name="Google Shape;1730;p65"/>
          <p:cNvSpPr/>
          <p:nvPr/>
        </p:nvSpPr>
        <p:spPr>
          <a:xfrm>
            <a:off x="6978588" y="2550327"/>
            <a:ext cx="1200300" cy="1953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31" name="Google Shape;1731;p65"/>
          <p:cNvSpPr/>
          <p:nvPr/>
        </p:nvSpPr>
        <p:spPr>
          <a:xfrm>
            <a:off x="6978601" y="2354795"/>
            <a:ext cx="1200300" cy="1953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32" name="Google Shape;1732;p65"/>
          <p:cNvSpPr/>
          <p:nvPr/>
        </p:nvSpPr>
        <p:spPr>
          <a:xfrm>
            <a:off x="6978593" y="2159263"/>
            <a:ext cx="1200300" cy="1953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33" name="Google Shape;1733;p65"/>
          <p:cNvSpPr/>
          <p:nvPr/>
        </p:nvSpPr>
        <p:spPr>
          <a:xfrm>
            <a:off x="6978595" y="2941391"/>
            <a:ext cx="1200300" cy="1953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34" name="Google Shape;1734;p65"/>
          <p:cNvSpPr/>
          <p:nvPr/>
        </p:nvSpPr>
        <p:spPr>
          <a:xfrm>
            <a:off x="965095" y="2593447"/>
            <a:ext cx="1200300" cy="1953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35" name="Google Shape;1735;p65"/>
          <p:cNvSpPr/>
          <p:nvPr/>
        </p:nvSpPr>
        <p:spPr>
          <a:xfrm>
            <a:off x="965088" y="2397915"/>
            <a:ext cx="1200300" cy="1953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36" name="Google Shape;1736;p65"/>
          <p:cNvSpPr/>
          <p:nvPr/>
        </p:nvSpPr>
        <p:spPr>
          <a:xfrm>
            <a:off x="965101" y="2202382"/>
            <a:ext cx="1200300" cy="1953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37" name="Google Shape;1737;p65"/>
          <p:cNvSpPr/>
          <p:nvPr/>
        </p:nvSpPr>
        <p:spPr>
          <a:xfrm>
            <a:off x="965093" y="2006850"/>
            <a:ext cx="1200300" cy="1953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38" name="Google Shape;1738;p65"/>
          <p:cNvSpPr/>
          <p:nvPr/>
        </p:nvSpPr>
        <p:spPr>
          <a:xfrm>
            <a:off x="965095" y="2788979"/>
            <a:ext cx="1200300" cy="1953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39" name="Google Shape;1739;p65"/>
          <p:cNvSpPr/>
          <p:nvPr/>
        </p:nvSpPr>
        <p:spPr>
          <a:xfrm>
            <a:off x="965095" y="4358947"/>
            <a:ext cx="1200300" cy="1953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40" name="Google Shape;1740;p65"/>
          <p:cNvSpPr/>
          <p:nvPr/>
        </p:nvSpPr>
        <p:spPr>
          <a:xfrm>
            <a:off x="965088" y="4163415"/>
            <a:ext cx="1200300" cy="1953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41" name="Google Shape;1741;p65"/>
          <p:cNvSpPr/>
          <p:nvPr/>
        </p:nvSpPr>
        <p:spPr>
          <a:xfrm>
            <a:off x="965101" y="3967882"/>
            <a:ext cx="1200300" cy="1953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42" name="Google Shape;1742;p65"/>
          <p:cNvSpPr/>
          <p:nvPr/>
        </p:nvSpPr>
        <p:spPr>
          <a:xfrm>
            <a:off x="965093" y="3772350"/>
            <a:ext cx="1200300" cy="1953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43" name="Google Shape;1743;p65"/>
          <p:cNvSpPr/>
          <p:nvPr/>
        </p:nvSpPr>
        <p:spPr>
          <a:xfrm>
            <a:off x="965095" y="4554479"/>
            <a:ext cx="1200300" cy="1953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44" name="Google Shape;1744;p65"/>
          <p:cNvSpPr/>
          <p:nvPr/>
        </p:nvSpPr>
        <p:spPr>
          <a:xfrm>
            <a:off x="6978595" y="4358947"/>
            <a:ext cx="1200300" cy="1953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45" name="Google Shape;1745;p65"/>
          <p:cNvSpPr/>
          <p:nvPr/>
        </p:nvSpPr>
        <p:spPr>
          <a:xfrm>
            <a:off x="6978588" y="4163415"/>
            <a:ext cx="1200300" cy="1953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46" name="Google Shape;1746;p65"/>
          <p:cNvSpPr/>
          <p:nvPr/>
        </p:nvSpPr>
        <p:spPr>
          <a:xfrm>
            <a:off x="6978601" y="3967882"/>
            <a:ext cx="1200300" cy="1953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47" name="Google Shape;1747;p65"/>
          <p:cNvSpPr/>
          <p:nvPr/>
        </p:nvSpPr>
        <p:spPr>
          <a:xfrm>
            <a:off x="6978593" y="3772350"/>
            <a:ext cx="1200300" cy="1953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48" name="Google Shape;1748;p65"/>
          <p:cNvSpPr/>
          <p:nvPr/>
        </p:nvSpPr>
        <p:spPr>
          <a:xfrm>
            <a:off x="6978595" y="4554479"/>
            <a:ext cx="1200300" cy="1953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49" name="Google Shape;1749;p65"/>
          <p:cNvSpPr/>
          <p:nvPr/>
        </p:nvSpPr>
        <p:spPr>
          <a:xfrm>
            <a:off x="5725220" y="1290455"/>
            <a:ext cx="1200300" cy="1953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50" name="Google Shape;1750;p65"/>
          <p:cNvSpPr/>
          <p:nvPr/>
        </p:nvSpPr>
        <p:spPr>
          <a:xfrm>
            <a:off x="5725213" y="1094923"/>
            <a:ext cx="1200300" cy="1953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51" name="Google Shape;1751;p65"/>
          <p:cNvSpPr/>
          <p:nvPr/>
        </p:nvSpPr>
        <p:spPr>
          <a:xfrm>
            <a:off x="5725226" y="899390"/>
            <a:ext cx="1200300" cy="1953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52" name="Google Shape;1752;p65"/>
          <p:cNvSpPr/>
          <p:nvPr/>
        </p:nvSpPr>
        <p:spPr>
          <a:xfrm>
            <a:off x="5725218" y="703858"/>
            <a:ext cx="1200300" cy="1953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53" name="Google Shape;1753;p65"/>
          <p:cNvSpPr/>
          <p:nvPr/>
        </p:nvSpPr>
        <p:spPr>
          <a:xfrm>
            <a:off x="5725220" y="1485987"/>
            <a:ext cx="1200300" cy="1953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54" name="Google Shape;1754;p65"/>
          <p:cNvSpPr/>
          <p:nvPr/>
        </p:nvSpPr>
        <p:spPr>
          <a:xfrm>
            <a:off x="888895" y="2669655"/>
            <a:ext cx="1200300" cy="1953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55" name="Google Shape;1755;p65"/>
          <p:cNvSpPr/>
          <p:nvPr/>
        </p:nvSpPr>
        <p:spPr>
          <a:xfrm>
            <a:off x="888888" y="2474123"/>
            <a:ext cx="1200300" cy="1953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56" name="Google Shape;1756;p65"/>
          <p:cNvSpPr/>
          <p:nvPr/>
        </p:nvSpPr>
        <p:spPr>
          <a:xfrm>
            <a:off x="888901" y="2278590"/>
            <a:ext cx="1200300" cy="1953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57" name="Google Shape;1757;p65"/>
          <p:cNvSpPr/>
          <p:nvPr/>
        </p:nvSpPr>
        <p:spPr>
          <a:xfrm>
            <a:off x="888893" y="2083058"/>
            <a:ext cx="1200300" cy="1953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58" name="Google Shape;1758;p65"/>
          <p:cNvSpPr/>
          <p:nvPr/>
        </p:nvSpPr>
        <p:spPr>
          <a:xfrm>
            <a:off x="888895" y="2865187"/>
            <a:ext cx="1200300" cy="1953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59" name="Google Shape;1759;p65"/>
          <p:cNvSpPr/>
          <p:nvPr/>
        </p:nvSpPr>
        <p:spPr>
          <a:xfrm>
            <a:off x="888895" y="4435168"/>
            <a:ext cx="1200300" cy="1953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60" name="Google Shape;1760;p65"/>
          <p:cNvSpPr/>
          <p:nvPr/>
        </p:nvSpPr>
        <p:spPr>
          <a:xfrm>
            <a:off x="888888" y="4239635"/>
            <a:ext cx="1200300" cy="1953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61" name="Google Shape;1761;p65"/>
          <p:cNvSpPr/>
          <p:nvPr/>
        </p:nvSpPr>
        <p:spPr>
          <a:xfrm>
            <a:off x="888901" y="4044103"/>
            <a:ext cx="1200300" cy="1953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62" name="Google Shape;1762;p65"/>
          <p:cNvSpPr/>
          <p:nvPr/>
        </p:nvSpPr>
        <p:spPr>
          <a:xfrm>
            <a:off x="888893" y="3848571"/>
            <a:ext cx="1200300" cy="1953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63" name="Google Shape;1763;p65"/>
          <p:cNvSpPr/>
          <p:nvPr/>
        </p:nvSpPr>
        <p:spPr>
          <a:xfrm>
            <a:off x="888895" y="4630700"/>
            <a:ext cx="1200300" cy="1953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64" name="Google Shape;1764;p65"/>
          <p:cNvSpPr/>
          <p:nvPr/>
        </p:nvSpPr>
        <p:spPr>
          <a:xfrm>
            <a:off x="6902395" y="2822068"/>
            <a:ext cx="1200300" cy="1953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65" name="Google Shape;1765;p65"/>
          <p:cNvSpPr/>
          <p:nvPr/>
        </p:nvSpPr>
        <p:spPr>
          <a:xfrm>
            <a:off x="6902388" y="2626535"/>
            <a:ext cx="1200300" cy="1953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66" name="Google Shape;1766;p65"/>
          <p:cNvSpPr/>
          <p:nvPr/>
        </p:nvSpPr>
        <p:spPr>
          <a:xfrm>
            <a:off x="6902401" y="2431003"/>
            <a:ext cx="1200300" cy="1953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67" name="Google Shape;1767;p65"/>
          <p:cNvSpPr/>
          <p:nvPr/>
        </p:nvSpPr>
        <p:spPr>
          <a:xfrm>
            <a:off x="6902393" y="2235471"/>
            <a:ext cx="1200300" cy="1953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68" name="Google Shape;1768;p65"/>
          <p:cNvSpPr/>
          <p:nvPr/>
        </p:nvSpPr>
        <p:spPr>
          <a:xfrm>
            <a:off x="6902395" y="3017600"/>
            <a:ext cx="1200300" cy="1953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69" name="Google Shape;1769;p65"/>
          <p:cNvSpPr/>
          <p:nvPr/>
        </p:nvSpPr>
        <p:spPr>
          <a:xfrm>
            <a:off x="6902395" y="4435168"/>
            <a:ext cx="1200300" cy="1953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70" name="Google Shape;1770;p65"/>
          <p:cNvSpPr/>
          <p:nvPr/>
        </p:nvSpPr>
        <p:spPr>
          <a:xfrm>
            <a:off x="6902388" y="4239635"/>
            <a:ext cx="1200300" cy="1953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71" name="Google Shape;1771;p65"/>
          <p:cNvSpPr/>
          <p:nvPr/>
        </p:nvSpPr>
        <p:spPr>
          <a:xfrm>
            <a:off x="6902401" y="4044103"/>
            <a:ext cx="1200300" cy="1953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72" name="Google Shape;1772;p65"/>
          <p:cNvSpPr/>
          <p:nvPr/>
        </p:nvSpPr>
        <p:spPr>
          <a:xfrm>
            <a:off x="6902393" y="3848571"/>
            <a:ext cx="1200300" cy="1953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73" name="Google Shape;1773;p65"/>
          <p:cNvSpPr/>
          <p:nvPr/>
        </p:nvSpPr>
        <p:spPr>
          <a:xfrm>
            <a:off x="6902395" y="4630700"/>
            <a:ext cx="1200300" cy="1953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774" name="Google Shape;1774;p65"/>
          <p:cNvCxnSpPr/>
          <p:nvPr/>
        </p:nvCxnSpPr>
        <p:spPr>
          <a:xfrm flipH="1">
            <a:off x="3726247" y="1568034"/>
            <a:ext cx="630300" cy="3897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75" name="Google Shape;1775;p65"/>
          <p:cNvCxnSpPr/>
          <p:nvPr/>
        </p:nvCxnSpPr>
        <p:spPr>
          <a:xfrm>
            <a:off x="4787447" y="1568034"/>
            <a:ext cx="630300" cy="3897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76" name="Google Shape;1776;p65"/>
          <p:cNvCxnSpPr/>
          <p:nvPr/>
        </p:nvCxnSpPr>
        <p:spPr>
          <a:xfrm>
            <a:off x="4727838" y="1718536"/>
            <a:ext cx="177300" cy="5049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77" name="Google Shape;1777;p65"/>
          <p:cNvCxnSpPr/>
          <p:nvPr/>
        </p:nvCxnSpPr>
        <p:spPr>
          <a:xfrm flipH="1">
            <a:off x="4238838" y="1718536"/>
            <a:ext cx="177300" cy="5049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1" name="Shape 17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2" name="Google Shape;1782;p66"/>
          <p:cNvSpPr/>
          <p:nvPr/>
        </p:nvSpPr>
        <p:spPr>
          <a:xfrm>
            <a:off x="2698796" y="2451180"/>
            <a:ext cx="393600" cy="393600"/>
          </a:xfrm>
          <a:prstGeom prst="ellipse">
            <a:avLst/>
          </a:prstGeom>
          <a:solidFill>
            <a:srgbClr val="D9D2E9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5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83" name="Google Shape;1783;p66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Mesh Topology</a:t>
            </a:r>
            <a:endParaRPr/>
          </a:p>
        </p:txBody>
      </p:sp>
      <p:sp>
        <p:nvSpPr>
          <p:cNvPr id="1784" name="Google Shape;1784;p66"/>
          <p:cNvSpPr txBox="1"/>
          <p:nvPr>
            <p:ph idx="1" type="body"/>
          </p:nvPr>
        </p:nvSpPr>
        <p:spPr>
          <a:xfrm>
            <a:off x="107050" y="402200"/>
            <a:ext cx="8909700" cy="65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1. Send your vector to everyone else.</a:t>
            </a:r>
            <a:endParaRPr/>
          </a:p>
        </p:txBody>
      </p:sp>
      <p:sp>
        <p:nvSpPr>
          <p:cNvPr id="1785" name="Google Shape;1785;p66"/>
          <p:cNvSpPr/>
          <p:nvPr/>
        </p:nvSpPr>
        <p:spPr>
          <a:xfrm>
            <a:off x="3384605" y="4508585"/>
            <a:ext cx="393600" cy="393600"/>
          </a:xfrm>
          <a:prstGeom prst="ellipse">
            <a:avLst/>
          </a:prstGeom>
          <a:solidFill>
            <a:srgbClr val="D9EAD3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4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86" name="Google Shape;1786;p66"/>
          <p:cNvSpPr/>
          <p:nvPr/>
        </p:nvSpPr>
        <p:spPr>
          <a:xfrm>
            <a:off x="5365805" y="4508575"/>
            <a:ext cx="393600" cy="393600"/>
          </a:xfrm>
          <a:prstGeom prst="ellipse">
            <a:avLst/>
          </a:prstGeom>
          <a:solidFill>
            <a:srgbClr val="F4CCCC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3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87" name="Google Shape;1787;p66"/>
          <p:cNvSpPr/>
          <p:nvPr/>
        </p:nvSpPr>
        <p:spPr>
          <a:xfrm>
            <a:off x="4375205" y="1308175"/>
            <a:ext cx="393600" cy="393600"/>
          </a:xfrm>
          <a:prstGeom prst="ellipse">
            <a:avLst/>
          </a:prstGeom>
          <a:solidFill>
            <a:srgbClr val="FCE5CD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1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88" name="Google Shape;1788;p66"/>
          <p:cNvSpPr/>
          <p:nvPr/>
        </p:nvSpPr>
        <p:spPr>
          <a:xfrm>
            <a:off x="6051605" y="2451175"/>
            <a:ext cx="393600" cy="3936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2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789" name="Google Shape;1789;p66"/>
          <p:cNvCxnSpPr>
            <a:stCxn id="1782" idx="7"/>
            <a:endCxn id="1787" idx="3"/>
          </p:cNvCxnSpPr>
          <p:nvPr/>
        </p:nvCxnSpPr>
        <p:spPr>
          <a:xfrm flipH="1" rot="10800000">
            <a:off x="3034755" y="1644221"/>
            <a:ext cx="1398000" cy="864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90" name="Google Shape;1790;p66"/>
          <p:cNvCxnSpPr>
            <a:stCxn id="1788" idx="1"/>
            <a:endCxn id="1787" idx="5"/>
          </p:cNvCxnSpPr>
          <p:nvPr/>
        </p:nvCxnSpPr>
        <p:spPr>
          <a:xfrm rot="10800000">
            <a:off x="4711247" y="1644216"/>
            <a:ext cx="1398000" cy="864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91" name="Google Shape;1791;p66"/>
          <p:cNvCxnSpPr>
            <a:stCxn id="1786" idx="0"/>
            <a:endCxn id="1788" idx="4"/>
          </p:cNvCxnSpPr>
          <p:nvPr/>
        </p:nvCxnSpPr>
        <p:spPr>
          <a:xfrm flipH="1" rot="10800000">
            <a:off x="5562605" y="2844775"/>
            <a:ext cx="685800" cy="1663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92" name="Google Shape;1792;p66"/>
          <p:cNvCxnSpPr>
            <a:stCxn id="1785" idx="6"/>
            <a:endCxn id="1786" idx="2"/>
          </p:cNvCxnSpPr>
          <p:nvPr/>
        </p:nvCxnSpPr>
        <p:spPr>
          <a:xfrm>
            <a:off x="3778205" y="4705385"/>
            <a:ext cx="15876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93" name="Google Shape;1793;p66"/>
          <p:cNvCxnSpPr>
            <a:stCxn id="1782" idx="4"/>
            <a:endCxn id="1785" idx="0"/>
          </p:cNvCxnSpPr>
          <p:nvPr/>
        </p:nvCxnSpPr>
        <p:spPr>
          <a:xfrm>
            <a:off x="2895596" y="2844780"/>
            <a:ext cx="685800" cy="1663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94" name="Google Shape;1794;p66"/>
          <p:cNvCxnSpPr>
            <a:stCxn id="1782" idx="6"/>
            <a:endCxn id="1786" idx="0"/>
          </p:cNvCxnSpPr>
          <p:nvPr/>
        </p:nvCxnSpPr>
        <p:spPr>
          <a:xfrm>
            <a:off x="3092396" y="2647980"/>
            <a:ext cx="2470200" cy="1860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95" name="Google Shape;1795;p66"/>
          <p:cNvCxnSpPr>
            <a:stCxn id="1788" idx="2"/>
            <a:endCxn id="1785" idx="0"/>
          </p:cNvCxnSpPr>
          <p:nvPr/>
        </p:nvCxnSpPr>
        <p:spPr>
          <a:xfrm flipH="1">
            <a:off x="3581405" y="2647975"/>
            <a:ext cx="2470200" cy="1860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96" name="Google Shape;1796;p66"/>
          <p:cNvCxnSpPr>
            <a:stCxn id="1787" idx="4"/>
            <a:endCxn id="1785" idx="0"/>
          </p:cNvCxnSpPr>
          <p:nvPr/>
        </p:nvCxnSpPr>
        <p:spPr>
          <a:xfrm flipH="1">
            <a:off x="3581405" y="1701775"/>
            <a:ext cx="990600" cy="2806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97" name="Google Shape;1797;p66"/>
          <p:cNvCxnSpPr>
            <a:stCxn id="1787" idx="4"/>
            <a:endCxn id="1786" idx="0"/>
          </p:cNvCxnSpPr>
          <p:nvPr/>
        </p:nvCxnSpPr>
        <p:spPr>
          <a:xfrm>
            <a:off x="4572005" y="1701775"/>
            <a:ext cx="990600" cy="2806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98" name="Google Shape;1798;p66"/>
          <p:cNvCxnSpPr>
            <a:stCxn id="1788" idx="2"/>
            <a:endCxn id="1782" idx="6"/>
          </p:cNvCxnSpPr>
          <p:nvPr/>
        </p:nvCxnSpPr>
        <p:spPr>
          <a:xfrm rot="10800000">
            <a:off x="3092405" y="2647975"/>
            <a:ext cx="29592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99" name="Google Shape;1799;p66"/>
          <p:cNvSpPr/>
          <p:nvPr/>
        </p:nvSpPr>
        <p:spPr>
          <a:xfrm>
            <a:off x="6978595" y="2745860"/>
            <a:ext cx="1200300" cy="1953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00" name="Google Shape;1800;p66"/>
          <p:cNvSpPr/>
          <p:nvPr/>
        </p:nvSpPr>
        <p:spPr>
          <a:xfrm>
            <a:off x="6978588" y="2550327"/>
            <a:ext cx="1200300" cy="1953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01" name="Google Shape;1801;p66"/>
          <p:cNvSpPr/>
          <p:nvPr/>
        </p:nvSpPr>
        <p:spPr>
          <a:xfrm>
            <a:off x="6978601" y="2354795"/>
            <a:ext cx="1200300" cy="1953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02" name="Google Shape;1802;p66"/>
          <p:cNvSpPr/>
          <p:nvPr/>
        </p:nvSpPr>
        <p:spPr>
          <a:xfrm>
            <a:off x="6978593" y="2159263"/>
            <a:ext cx="1200300" cy="1953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03" name="Google Shape;1803;p66"/>
          <p:cNvSpPr/>
          <p:nvPr/>
        </p:nvSpPr>
        <p:spPr>
          <a:xfrm>
            <a:off x="6978595" y="2941391"/>
            <a:ext cx="1200300" cy="1953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04" name="Google Shape;1804;p66"/>
          <p:cNvSpPr/>
          <p:nvPr/>
        </p:nvSpPr>
        <p:spPr>
          <a:xfrm>
            <a:off x="965095" y="2593447"/>
            <a:ext cx="1200300" cy="1953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05" name="Google Shape;1805;p66"/>
          <p:cNvSpPr/>
          <p:nvPr/>
        </p:nvSpPr>
        <p:spPr>
          <a:xfrm>
            <a:off x="965088" y="2397915"/>
            <a:ext cx="1200300" cy="1953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06" name="Google Shape;1806;p66"/>
          <p:cNvSpPr/>
          <p:nvPr/>
        </p:nvSpPr>
        <p:spPr>
          <a:xfrm>
            <a:off x="965101" y="2202382"/>
            <a:ext cx="1200300" cy="1953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07" name="Google Shape;1807;p66"/>
          <p:cNvSpPr/>
          <p:nvPr/>
        </p:nvSpPr>
        <p:spPr>
          <a:xfrm>
            <a:off x="965093" y="2006850"/>
            <a:ext cx="1200300" cy="1953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08" name="Google Shape;1808;p66"/>
          <p:cNvSpPr/>
          <p:nvPr/>
        </p:nvSpPr>
        <p:spPr>
          <a:xfrm>
            <a:off x="965095" y="2788979"/>
            <a:ext cx="1200300" cy="1953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09" name="Google Shape;1809;p66"/>
          <p:cNvSpPr/>
          <p:nvPr/>
        </p:nvSpPr>
        <p:spPr>
          <a:xfrm>
            <a:off x="965095" y="4358947"/>
            <a:ext cx="1200300" cy="1953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10" name="Google Shape;1810;p66"/>
          <p:cNvSpPr/>
          <p:nvPr/>
        </p:nvSpPr>
        <p:spPr>
          <a:xfrm>
            <a:off x="965088" y="4163415"/>
            <a:ext cx="1200300" cy="1953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11" name="Google Shape;1811;p66"/>
          <p:cNvSpPr/>
          <p:nvPr/>
        </p:nvSpPr>
        <p:spPr>
          <a:xfrm>
            <a:off x="965101" y="3967882"/>
            <a:ext cx="1200300" cy="1953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12" name="Google Shape;1812;p66"/>
          <p:cNvSpPr/>
          <p:nvPr/>
        </p:nvSpPr>
        <p:spPr>
          <a:xfrm>
            <a:off x="965093" y="3772350"/>
            <a:ext cx="1200300" cy="1953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13" name="Google Shape;1813;p66"/>
          <p:cNvSpPr/>
          <p:nvPr/>
        </p:nvSpPr>
        <p:spPr>
          <a:xfrm>
            <a:off x="965095" y="4554479"/>
            <a:ext cx="1200300" cy="1953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14" name="Google Shape;1814;p66"/>
          <p:cNvSpPr/>
          <p:nvPr/>
        </p:nvSpPr>
        <p:spPr>
          <a:xfrm>
            <a:off x="6978595" y="4358947"/>
            <a:ext cx="1200300" cy="1953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15" name="Google Shape;1815;p66"/>
          <p:cNvSpPr/>
          <p:nvPr/>
        </p:nvSpPr>
        <p:spPr>
          <a:xfrm>
            <a:off x="6978588" y="4163415"/>
            <a:ext cx="1200300" cy="1953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16" name="Google Shape;1816;p66"/>
          <p:cNvSpPr/>
          <p:nvPr/>
        </p:nvSpPr>
        <p:spPr>
          <a:xfrm>
            <a:off x="6978601" y="3967882"/>
            <a:ext cx="1200300" cy="1953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17" name="Google Shape;1817;p66"/>
          <p:cNvSpPr/>
          <p:nvPr/>
        </p:nvSpPr>
        <p:spPr>
          <a:xfrm>
            <a:off x="6978593" y="3772350"/>
            <a:ext cx="1200300" cy="1953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18" name="Google Shape;1818;p66"/>
          <p:cNvSpPr/>
          <p:nvPr/>
        </p:nvSpPr>
        <p:spPr>
          <a:xfrm>
            <a:off x="6978595" y="4554479"/>
            <a:ext cx="1200300" cy="1953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19" name="Google Shape;1819;p66"/>
          <p:cNvSpPr/>
          <p:nvPr/>
        </p:nvSpPr>
        <p:spPr>
          <a:xfrm>
            <a:off x="5725220" y="1290455"/>
            <a:ext cx="1200300" cy="1953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20" name="Google Shape;1820;p66"/>
          <p:cNvSpPr/>
          <p:nvPr/>
        </p:nvSpPr>
        <p:spPr>
          <a:xfrm>
            <a:off x="5725213" y="1094923"/>
            <a:ext cx="1200300" cy="1953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21" name="Google Shape;1821;p66"/>
          <p:cNvSpPr/>
          <p:nvPr/>
        </p:nvSpPr>
        <p:spPr>
          <a:xfrm>
            <a:off x="5725226" y="899390"/>
            <a:ext cx="1200300" cy="1953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22" name="Google Shape;1822;p66"/>
          <p:cNvSpPr/>
          <p:nvPr/>
        </p:nvSpPr>
        <p:spPr>
          <a:xfrm>
            <a:off x="5725218" y="703858"/>
            <a:ext cx="1200300" cy="1953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23" name="Google Shape;1823;p66"/>
          <p:cNvSpPr/>
          <p:nvPr/>
        </p:nvSpPr>
        <p:spPr>
          <a:xfrm>
            <a:off x="5725220" y="1485987"/>
            <a:ext cx="1200300" cy="1953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24" name="Google Shape;1824;p66"/>
          <p:cNvSpPr/>
          <p:nvPr/>
        </p:nvSpPr>
        <p:spPr>
          <a:xfrm>
            <a:off x="888895" y="2669655"/>
            <a:ext cx="1200300" cy="1953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25" name="Google Shape;1825;p66"/>
          <p:cNvSpPr/>
          <p:nvPr/>
        </p:nvSpPr>
        <p:spPr>
          <a:xfrm>
            <a:off x="888888" y="2474123"/>
            <a:ext cx="1200300" cy="1953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26" name="Google Shape;1826;p66"/>
          <p:cNvSpPr/>
          <p:nvPr/>
        </p:nvSpPr>
        <p:spPr>
          <a:xfrm>
            <a:off x="888901" y="2278590"/>
            <a:ext cx="1200300" cy="1953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27" name="Google Shape;1827;p66"/>
          <p:cNvSpPr/>
          <p:nvPr/>
        </p:nvSpPr>
        <p:spPr>
          <a:xfrm>
            <a:off x="888893" y="2083058"/>
            <a:ext cx="1200300" cy="1953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28" name="Google Shape;1828;p66"/>
          <p:cNvSpPr/>
          <p:nvPr/>
        </p:nvSpPr>
        <p:spPr>
          <a:xfrm>
            <a:off x="888895" y="2865187"/>
            <a:ext cx="1200300" cy="1953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29" name="Google Shape;1829;p66"/>
          <p:cNvSpPr/>
          <p:nvPr/>
        </p:nvSpPr>
        <p:spPr>
          <a:xfrm>
            <a:off x="888895" y="4435168"/>
            <a:ext cx="1200300" cy="1953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30" name="Google Shape;1830;p66"/>
          <p:cNvSpPr/>
          <p:nvPr/>
        </p:nvSpPr>
        <p:spPr>
          <a:xfrm>
            <a:off x="888888" y="4239635"/>
            <a:ext cx="1200300" cy="1953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31" name="Google Shape;1831;p66"/>
          <p:cNvSpPr/>
          <p:nvPr/>
        </p:nvSpPr>
        <p:spPr>
          <a:xfrm>
            <a:off x="888901" y="4044103"/>
            <a:ext cx="1200300" cy="1953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32" name="Google Shape;1832;p66"/>
          <p:cNvSpPr/>
          <p:nvPr/>
        </p:nvSpPr>
        <p:spPr>
          <a:xfrm>
            <a:off x="888893" y="3848571"/>
            <a:ext cx="1200300" cy="1953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33" name="Google Shape;1833;p66"/>
          <p:cNvSpPr/>
          <p:nvPr/>
        </p:nvSpPr>
        <p:spPr>
          <a:xfrm>
            <a:off x="888895" y="4630700"/>
            <a:ext cx="1200300" cy="1953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34" name="Google Shape;1834;p66"/>
          <p:cNvSpPr/>
          <p:nvPr/>
        </p:nvSpPr>
        <p:spPr>
          <a:xfrm>
            <a:off x="6902395" y="2822068"/>
            <a:ext cx="1200300" cy="1953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35" name="Google Shape;1835;p66"/>
          <p:cNvSpPr/>
          <p:nvPr/>
        </p:nvSpPr>
        <p:spPr>
          <a:xfrm>
            <a:off x="6902388" y="2626535"/>
            <a:ext cx="1200300" cy="1953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36" name="Google Shape;1836;p66"/>
          <p:cNvSpPr/>
          <p:nvPr/>
        </p:nvSpPr>
        <p:spPr>
          <a:xfrm>
            <a:off x="6902401" y="2431003"/>
            <a:ext cx="1200300" cy="1953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37" name="Google Shape;1837;p66"/>
          <p:cNvSpPr/>
          <p:nvPr/>
        </p:nvSpPr>
        <p:spPr>
          <a:xfrm>
            <a:off x="6902393" y="2235471"/>
            <a:ext cx="1200300" cy="1953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38" name="Google Shape;1838;p66"/>
          <p:cNvSpPr/>
          <p:nvPr/>
        </p:nvSpPr>
        <p:spPr>
          <a:xfrm>
            <a:off x="6902395" y="3017600"/>
            <a:ext cx="1200300" cy="1953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39" name="Google Shape;1839;p66"/>
          <p:cNvSpPr/>
          <p:nvPr/>
        </p:nvSpPr>
        <p:spPr>
          <a:xfrm>
            <a:off x="6902395" y="4435168"/>
            <a:ext cx="1200300" cy="1953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40" name="Google Shape;1840;p66"/>
          <p:cNvSpPr/>
          <p:nvPr/>
        </p:nvSpPr>
        <p:spPr>
          <a:xfrm>
            <a:off x="6902388" y="4239635"/>
            <a:ext cx="1200300" cy="1953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41" name="Google Shape;1841;p66"/>
          <p:cNvSpPr/>
          <p:nvPr/>
        </p:nvSpPr>
        <p:spPr>
          <a:xfrm>
            <a:off x="6902401" y="4044103"/>
            <a:ext cx="1200300" cy="1953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42" name="Google Shape;1842;p66"/>
          <p:cNvSpPr/>
          <p:nvPr/>
        </p:nvSpPr>
        <p:spPr>
          <a:xfrm>
            <a:off x="6902393" y="3848571"/>
            <a:ext cx="1200300" cy="1953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43" name="Google Shape;1843;p66"/>
          <p:cNvSpPr/>
          <p:nvPr/>
        </p:nvSpPr>
        <p:spPr>
          <a:xfrm>
            <a:off x="6902395" y="4630700"/>
            <a:ext cx="1200300" cy="1953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44" name="Google Shape;1844;p66"/>
          <p:cNvSpPr/>
          <p:nvPr/>
        </p:nvSpPr>
        <p:spPr>
          <a:xfrm>
            <a:off x="5649020" y="1366660"/>
            <a:ext cx="1200300" cy="1953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45" name="Google Shape;1845;p66"/>
          <p:cNvSpPr/>
          <p:nvPr/>
        </p:nvSpPr>
        <p:spPr>
          <a:xfrm>
            <a:off x="5649013" y="1171127"/>
            <a:ext cx="1200300" cy="1953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46" name="Google Shape;1846;p66"/>
          <p:cNvSpPr/>
          <p:nvPr/>
        </p:nvSpPr>
        <p:spPr>
          <a:xfrm>
            <a:off x="5649026" y="975595"/>
            <a:ext cx="1200300" cy="1953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47" name="Google Shape;1847;p66"/>
          <p:cNvSpPr/>
          <p:nvPr/>
        </p:nvSpPr>
        <p:spPr>
          <a:xfrm>
            <a:off x="5649018" y="780063"/>
            <a:ext cx="1200300" cy="1953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48" name="Google Shape;1848;p66"/>
          <p:cNvSpPr/>
          <p:nvPr/>
        </p:nvSpPr>
        <p:spPr>
          <a:xfrm>
            <a:off x="5649020" y="1562191"/>
            <a:ext cx="1200300" cy="1953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49" name="Google Shape;1849;p66"/>
          <p:cNvSpPr/>
          <p:nvPr/>
        </p:nvSpPr>
        <p:spPr>
          <a:xfrm>
            <a:off x="6826195" y="4506085"/>
            <a:ext cx="1200300" cy="1953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50" name="Google Shape;1850;p66"/>
          <p:cNvSpPr/>
          <p:nvPr/>
        </p:nvSpPr>
        <p:spPr>
          <a:xfrm>
            <a:off x="6826188" y="4310552"/>
            <a:ext cx="1200300" cy="1953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51" name="Google Shape;1851;p66"/>
          <p:cNvSpPr/>
          <p:nvPr/>
        </p:nvSpPr>
        <p:spPr>
          <a:xfrm>
            <a:off x="6826201" y="4115020"/>
            <a:ext cx="1200300" cy="1953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52" name="Google Shape;1852;p66"/>
          <p:cNvSpPr/>
          <p:nvPr/>
        </p:nvSpPr>
        <p:spPr>
          <a:xfrm>
            <a:off x="6826193" y="3919488"/>
            <a:ext cx="1200300" cy="1953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53" name="Google Shape;1853;p66"/>
          <p:cNvSpPr/>
          <p:nvPr/>
        </p:nvSpPr>
        <p:spPr>
          <a:xfrm>
            <a:off x="6826195" y="4701616"/>
            <a:ext cx="1200300" cy="1953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54" name="Google Shape;1854;p66"/>
          <p:cNvSpPr/>
          <p:nvPr/>
        </p:nvSpPr>
        <p:spPr>
          <a:xfrm>
            <a:off x="812695" y="4511347"/>
            <a:ext cx="1200300" cy="1953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55" name="Google Shape;1855;p66"/>
          <p:cNvSpPr/>
          <p:nvPr/>
        </p:nvSpPr>
        <p:spPr>
          <a:xfrm>
            <a:off x="812688" y="4315815"/>
            <a:ext cx="1200300" cy="1953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56" name="Google Shape;1856;p66"/>
          <p:cNvSpPr/>
          <p:nvPr/>
        </p:nvSpPr>
        <p:spPr>
          <a:xfrm>
            <a:off x="812701" y="4120282"/>
            <a:ext cx="1200300" cy="1953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57" name="Google Shape;1857;p66"/>
          <p:cNvSpPr/>
          <p:nvPr/>
        </p:nvSpPr>
        <p:spPr>
          <a:xfrm>
            <a:off x="812693" y="3924750"/>
            <a:ext cx="1200300" cy="1953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58" name="Google Shape;1858;p66"/>
          <p:cNvSpPr/>
          <p:nvPr/>
        </p:nvSpPr>
        <p:spPr>
          <a:xfrm>
            <a:off x="812695" y="4706879"/>
            <a:ext cx="1200300" cy="1953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59" name="Google Shape;1859;p66"/>
          <p:cNvSpPr/>
          <p:nvPr/>
        </p:nvSpPr>
        <p:spPr>
          <a:xfrm>
            <a:off x="812695" y="2745860"/>
            <a:ext cx="1200300" cy="1953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60" name="Google Shape;1860;p66"/>
          <p:cNvSpPr/>
          <p:nvPr/>
        </p:nvSpPr>
        <p:spPr>
          <a:xfrm>
            <a:off x="812688" y="2550327"/>
            <a:ext cx="1200300" cy="1953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61" name="Google Shape;1861;p66"/>
          <p:cNvSpPr/>
          <p:nvPr/>
        </p:nvSpPr>
        <p:spPr>
          <a:xfrm>
            <a:off x="812701" y="2354795"/>
            <a:ext cx="1200300" cy="1953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62" name="Google Shape;1862;p66"/>
          <p:cNvSpPr/>
          <p:nvPr/>
        </p:nvSpPr>
        <p:spPr>
          <a:xfrm>
            <a:off x="812693" y="2159263"/>
            <a:ext cx="1200300" cy="1953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63" name="Google Shape;1863;p66"/>
          <p:cNvSpPr/>
          <p:nvPr/>
        </p:nvSpPr>
        <p:spPr>
          <a:xfrm>
            <a:off x="812695" y="2941391"/>
            <a:ext cx="1200300" cy="1953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864" name="Google Shape;1864;p66"/>
          <p:cNvCxnSpPr/>
          <p:nvPr/>
        </p:nvCxnSpPr>
        <p:spPr>
          <a:xfrm rot="10800000">
            <a:off x="5524347" y="2022579"/>
            <a:ext cx="654300" cy="4047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65" name="Google Shape;1865;p66"/>
          <p:cNvCxnSpPr/>
          <p:nvPr/>
        </p:nvCxnSpPr>
        <p:spPr>
          <a:xfrm flipH="1">
            <a:off x="5432997" y="2800366"/>
            <a:ext cx="618600" cy="4659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66" name="Google Shape;1866;p66"/>
          <p:cNvCxnSpPr/>
          <p:nvPr/>
        </p:nvCxnSpPr>
        <p:spPr>
          <a:xfrm flipH="1">
            <a:off x="6057897" y="2920966"/>
            <a:ext cx="266700" cy="6486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67" name="Google Shape;1867;p66"/>
          <p:cNvCxnSpPr/>
          <p:nvPr/>
        </p:nvCxnSpPr>
        <p:spPr>
          <a:xfrm rot="10800000">
            <a:off x="5333825" y="2551200"/>
            <a:ext cx="711600" cy="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1" name="Shape 18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2" name="Google Shape;1872;p67"/>
          <p:cNvSpPr/>
          <p:nvPr/>
        </p:nvSpPr>
        <p:spPr>
          <a:xfrm>
            <a:off x="2698796" y="2451180"/>
            <a:ext cx="393600" cy="393600"/>
          </a:xfrm>
          <a:prstGeom prst="ellipse">
            <a:avLst/>
          </a:prstGeom>
          <a:solidFill>
            <a:srgbClr val="D9D2E9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5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73" name="Google Shape;1873;p67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Mesh Topology</a:t>
            </a:r>
            <a:endParaRPr/>
          </a:p>
        </p:txBody>
      </p:sp>
      <p:sp>
        <p:nvSpPr>
          <p:cNvPr id="1874" name="Google Shape;1874;p67"/>
          <p:cNvSpPr txBox="1"/>
          <p:nvPr>
            <p:ph idx="1" type="body"/>
          </p:nvPr>
        </p:nvSpPr>
        <p:spPr>
          <a:xfrm>
            <a:off x="107050" y="402200"/>
            <a:ext cx="8909700" cy="65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1. Send your vector to everyone else.</a:t>
            </a:r>
            <a:endParaRPr/>
          </a:p>
        </p:txBody>
      </p:sp>
      <p:sp>
        <p:nvSpPr>
          <p:cNvPr id="1875" name="Google Shape;1875;p67"/>
          <p:cNvSpPr/>
          <p:nvPr/>
        </p:nvSpPr>
        <p:spPr>
          <a:xfrm>
            <a:off x="3384605" y="4508585"/>
            <a:ext cx="393600" cy="393600"/>
          </a:xfrm>
          <a:prstGeom prst="ellipse">
            <a:avLst/>
          </a:prstGeom>
          <a:solidFill>
            <a:srgbClr val="D9EAD3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4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76" name="Google Shape;1876;p67"/>
          <p:cNvSpPr/>
          <p:nvPr/>
        </p:nvSpPr>
        <p:spPr>
          <a:xfrm>
            <a:off x="5365805" y="4508575"/>
            <a:ext cx="393600" cy="393600"/>
          </a:xfrm>
          <a:prstGeom prst="ellipse">
            <a:avLst/>
          </a:prstGeom>
          <a:solidFill>
            <a:srgbClr val="F4CCCC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3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77" name="Google Shape;1877;p67"/>
          <p:cNvSpPr/>
          <p:nvPr/>
        </p:nvSpPr>
        <p:spPr>
          <a:xfrm>
            <a:off x="4375205" y="1308175"/>
            <a:ext cx="393600" cy="393600"/>
          </a:xfrm>
          <a:prstGeom prst="ellipse">
            <a:avLst/>
          </a:prstGeom>
          <a:solidFill>
            <a:srgbClr val="FCE5CD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1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78" name="Google Shape;1878;p67"/>
          <p:cNvSpPr/>
          <p:nvPr/>
        </p:nvSpPr>
        <p:spPr>
          <a:xfrm>
            <a:off x="6051605" y="2451175"/>
            <a:ext cx="393600" cy="3936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2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879" name="Google Shape;1879;p67"/>
          <p:cNvCxnSpPr>
            <a:stCxn id="1872" idx="7"/>
            <a:endCxn id="1877" idx="3"/>
          </p:cNvCxnSpPr>
          <p:nvPr/>
        </p:nvCxnSpPr>
        <p:spPr>
          <a:xfrm flipH="1" rot="10800000">
            <a:off x="3034755" y="1644221"/>
            <a:ext cx="1398000" cy="864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80" name="Google Shape;1880;p67"/>
          <p:cNvCxnSpPr>
            <a:stCxn id="1878" idx="1"/>
            <a:endCxn id="1877" idx="5"/>
          </p:cNvCxnSpPr>
          <p:nvPr/>
        </p:nvCxnSpPr>
        <p:spPr>
          <a:xfrm rot="10800000">
            <a:off x="4711247" y="1644216"/>
            <a:ext cx="1398000" cy="864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81" name="Google Shape;1881;p67"/>
          <p:cNvCxnSpPr>
            <a:stCxn id="1876" idx="0"/>
            <a:endCxn id="1878" idx="4"/>
          </p:cNvCxnSpPr>
          <p:nvPr/>
        </p:nvCxnSpPr>
        <p:spPr>
          <a:xfrm flipH="1" rot="10800000">
            <a:off x="5562605" y="2844775"/>
            <a:ext cx="685800" cy="1663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82" name="Google Shape;1882;p67"/>
          <p:cNvCxnSpPr>
            <a:stCxn id="1875" idx="6"/>
            <a:endCxn id="1876" idx="2"/>
          </p:cNvCxnSpPr>
          <p:nvPr/>
        </p:nvCxnSpPr>
        <p:spPr>
          <a:xfrm>
            <a:off x="3778205" y="4705385"/>
            <a:ext cx="15876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83" name="Google Shape;1883;p67"/>
          <p:cNvCxnSpPr>
            <a:stCxn id="1872" idx="4"/>
            <a:endCxn id="1875" idx="0"/>
          </p:cNvCxnSpPr>
          <p:nvPr/>
        </p:nvCxnSpPr>
        <p:spPr>
          <a:xfrm>
            <a:off x="2895596" y="2844780"/>
            <a:ext cx="685800" cy="1663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84" name="Google Shape;1884;p67"/>
          <p:cNvCxnSpPr>
            <a:stCxn id="1872" idx="6"/>
            <a:endCxn id="1876" idx="0"/>
          </p:cNvCxnSpPr>
          <p:nvPr/>
        </p:nvCxnSpPr>
        <p:spPr>
          <a:xfrm>
            <a:off x="3092396" y="2647980"/>
            <a:ext cx="2470200" cy="1860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85" name="Google Shape;1885;p67"/>
          <p:cNvCxnSpPr>
            <a:stCxn id="1878" idx="2"/>
            <a:endCxn id="1875" idx="0"/>
          </p:cNvCxnSpPr>
          <p:nvPr/>
        </p:nvCxnSpPr>
        <p:spPr>
          <a:xfrm flipH="1">
            <a:off x="3581405" y="2647975"/>
            <a:ext cx="2470200" cy="1860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86" name="Google Shape;1886;p67"/>
          <p:cNvCxnSpPr>
            <a:stCxn id="1877" idx="4"/>
            <a:endCxn id="1875" idx="0"/>
          </p:cNvCxnSpPr>
          <p:nvPr/>
        </p:nvCxnSpPr>
        <p:spPr>
          <a:xfrm flipH="1">
            <a:off x="3581405" y="1701775"/>
            <a:ext cx="990600" cy="2806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87" name="Google Shape;1887;p67"/>
          <p:cNvCxnSpPr>
            <a:stCxn id="1877" idx="4"/>
            <a:endCxn id="1876" idx="0"/>
          </p:cNvCxnSpPr>
          <p:nvPr/>
        </p:nvCxnSpPr>
        <p:spPr>
          <a:xfrm>
            <a:off x="4572005" y="1701775"/>
            <a:ext cx="990600" cy="2806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88" name="Google Shape;1888;p67"/>
          <p:cNvCxnSpPr>
            <a:stCxn id="1878" idx="2"/>
            <a:endCxn id="1872" idx="6"/>
          </p:cNvCxnSpPr>
          <p:nvPr/>
        </p:nvCxnSpPr>
        <p:spPr>
          <a:xfrm rot="10800000">
            <a:off x="3092405" y="2647975"/>
            <a:ext cx="29592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89" name="Google Shape;1889;p67"/>
          <p:cNvSpPr/>
          <p:nvPr/>
        </p:nvSpPr>
        <p:spPr>
          <a:xfrm>
            <a:off x="6978595" y="2745860"/>
            <a:ext cx="1200300" cy="1953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90" name="Google Shape;1890;p67"/>
          <p:cNvSpPr/>
          <p:nvPr/>
        </p:nvSpPr>
        <p:spPr>
          <a:xfrm>
            <a:off x="6978588" y="2550327"/>
            <a:ext cx="1200300" cy="1953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91" name="Google Shape;1891;p67"/>
          <p:cNvSpPr/>
          <p:nvPr/>
        </p:nvSpPr>
        <p:spPr>
          <a:xfrm>
            <a:off x="6978601" y="2354795"/>
            <a:ext cx="1200300" cy="1953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92" name="Google Shape;1892;p67"/>
          <p:cNvSpPr/>
          <p:nvPr/>
        </p:nvSpPr>
        <p:spPr>
          <a:xfrm>
            <a:off x="6978593" y="2159263"/>
            <a:ext cx="1200300" cy="1953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93" name="Google Shape;1893;p67"/>
          <p:cNvSpPr/>
          <p:nvPr/>
        </p:nvSpPr>
        <p:spPr>
          <a:xfrm>
            <a:off x="6978595" y="2941391"/>
            <a:ext cx="1200300" cy="1953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94" name="Google Shape;1894;p67"/>
          <p:cNvSpPr/>
          <p:nvPr/>
        </p:nvSpPr>
        <p:spPr>
          <a:xfrm>
            <a:off x="965095" y="2593447"/>
            <a:ext cx="1200300" cy="1953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95" name="Google Shape;1895;p67"/>
          <p:cNvSpPr/>
          <p:nvPr/>
        </p:nvSpPr>
        <p:spPr>
          <a:xfrm>
            <a:off x="965088" y="2397915"/>
            <a:ext cx="1200300" cy="1953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96" name="Google Shape;1896;p67"/>
          <p:cNvSpPr/>
          <p:nvPr/>
        </p:nvSpPr>
        <p:spPr>
          <a:xfrm>
            <a:off x="965101" y="2202382"/>
            <a:ext cx="1200300" cy="1953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97" name="Google Shape;1897;p67"/>
          <p:cNvSpPr/>
          <p:nvPr/>
        </p:nvSpPr>
        <p:spPr>
          <a:xfrm>
            <a:off x="965093" y="2006850"/>
            <a:ext cx="1200300" cy="1953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98" name="Google Shape;1898;p67"/>
          <p:cNvSpPr/>
          <p:nvPr/>
        </p:nvSpPr>
        <p:spPr>
          <a:xfrm>
            <a:off x="965095" y="2788979"/>
            <a:ext cx="1200300" cy="1953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99" name="Google Shape;1899;p67"/>
          <p:cNvSpPr/>
          <p:nvPr/>
        </p:nvSpPr>
        <p:spPr>
          <a:xfrm>
            <a:off x="965095" y="4358947"/>
            <a:ext cx="1200300" cy="1953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00" name="Google Shape;1900;p67"/>
          <p:cNvSpPr/>
          <p:nvPr/>
        </p:nvSpPr>
        <p:spPr>
          <a:xfrm>
            <a:off x="965088" y="4163415"/>
            <a:ext cx="1200300" cy="1953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01" name="Google Shape;1901;p67"/>
          <p:cNvSpPr/>
          <p:nvPr/>
        </p:nvSpPr>
        <p:spPr>
          <a:xfrm>
            <a:off x="965101" y="3967882"/>
            <a:ext cx="1200300" cy="1953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02" name="Google Shape;1902;p67"/>
          <p:cNvSpPr/>
          <p:nvPr/>
        </p:nvSpPr>
        <p:spPr>
          <a:xfrm>
            <a:off x="965093" y="3772350"/>
            <a:ext cx="1200300" cy="1953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03" name="Google Shape;1903;p67"/>
          <p:cNvSpPr/>
          <p:nvPr/>
        </p:nvSpPr>
        <p:spPr>
          <a:xfrm>
            <a:off x="965095" y="4554479"/>
            <a:ext cx="1200300" cy="1953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04" name="Google Shape;1904;p67"/>
          <p:cNvSpPr/>
          <p:nvPr/>
        </p:nvSpPr>
        <p:spPr>
          <a:xfrm>
            <a:off x="6978595" y="4358947"/>
            <a:ext cx="1200300" cy="1953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05" name="Google Shape;1905;p67"/>
          <p:cNvSpPr/>
          <p:nvPr/>
        </p:nvSpPr>
        <p:spPr>
          <a:xfrm>
            <a:off x="6978588" y="4163415"/>
            <a:ext cx="1200300" cy="1953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06" name="Google Shape;1906;p67"/>
          <p:cNvSpPr/>
          <p:nvPr/>
        </p:nvSpPr>
        <p:spPr>
          <a:xfrm>
            <a:off x="6978601" y="3967882"/>
            <a:ext cx="1200300" cy="1953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07" name="Google Shape;1907;p67"/>
          <p:cNvSpPr/>
          <p:nvPr/>
        </p:nvSpPr>
        <p:spPr>
          <a:xfrm>
            <a:off x="6978593" y="3772350"/>
            <a:ext cx="1200300" cy="1953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08" name="Google Shape;1908;p67"/>
          <p:cNvSpPr/>
          <p:nvPr/>
        </p:nvSpPr>
        <p:spPr>
          <a:xfrm>
            <a:off x="6978595" y="4554479"/>
            <a:ext cx="1200300" cy="1953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09" name="Google Shape;1909;p67"/>
          <p:cNvSpPr/>
          <p:nvPr/>
        </p:nvSpPr>
        <p:spPr>
          <a:xfrm>
            <a:off x="5725220" y="1290455"/>
            <a:ext cx="1200300" cy="1953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10" name="Google Shape;1910;p67"/>
          <p:cNvSpPr/>
          <p:nvPr/>
        </p:nvSpPr>
        <p:spPr>
          <a:xfrm>
            <a:off x="5725213" y="1094923"/>
            <a:ext cx="1200300" cy="1953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11" name="Google Shape;1911;p67"/>
          <p:cNvSpPr/>
          <p:nvPr/>
        </p:nvSpPr>
        <p:spPr>
          <a:xfrm>
            <a:off x="5725226" y="899390"/>
            <a:ext cx="1200300" cy="1953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12" name="Google Shape;1912;p67"/>
          <p:cNvSpPr/>
          <p:nvPr/>
        </p:nvSpPr>
        <p:spPr>
          <a:xfrm>
            <a:off x="5725218" y="703858"/>
            <a:ext cx="1200300" cy="1953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13" name="Google Shape;1913;p67"/>
          <p:cNvSpPr/>
          <p:nvPr/>
        </p:nvSpPr>
        <p:spPr>
          <a:xfrm>
            <a:off x="5725220" y="1485987"/>
            <a:ext cx="1200300" cy="1953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14" name="Google Shape;1914;p67"/>
          <p:cNvSpPr/>
          <p:nvPr/>
        </p:nvSpPr>
        <p:spPr>
          <a:xfrm>
            <a:off x="888895" y="2669655"/>
            <a:ext cx="1200300" cy="1953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15" name="Google Shape;1915;p67"/>
          <p:cNvSpPr/>
          <p:nvPr/>
        </p:nvSpPr>
        <p:spPr>
          <a:xfrm>
            <a:off x="888888" y="2474123"/>
            <a:ext cx="1200300" cy="1953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16" name="Google Shape;1916;p67"/>
          <p:cNvSpPr/>
          <p:nvPr/>
        </p:nvSpPr>
        <p:spPr>
          <a:xfrm>
            <a:off x="888901" y="2278590"/>
            <a:ext cx="1200300" cy="1953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17" name="Google Shape;1917;p67"/>
          <p:cNvSpPr/>
          <p:nvPr/>
        </p:nvSpPr>
        <p:spPr>
          <a:xfrm>
            <a:off x="888893" y="2083058"/>
            <a:ext cx="1200300" cy="1953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18" name="Google Shape;1918;p67"/>
          <p:cNvSpPr/>
          <p:nvPr/>
        </p:nvSpPr>
        <p:spPr>
          <a:xfrm>
            <a:off x="888895" y="2865187"/>
            <a:ext cx="1200300" cy="1953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19" name="Google Shape;1919;p67"/>
          <p:cNvSpPr/>
          <p:nvPr/>
        </p:nvSpPr>
        <p:spPr>
          <a:xfrm>
            <a:off x="888895" y="4435168"/>
            <a:ext cx="1200300" cy="1953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20" name="Google Shape;1920;p67"/>
          <p:cNvSpPr/>
          <p:nvPr/>
        </p:nvSpPr>
        <p:spPr>
          <a:xfrm>
            <a:off x="888888" y="4239635"/>
            <a:ext cx="1200300" cy="1953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21" name="Google Shape;1921;p67"/>
          <p:cNvSpPr/>
          <p:nvPr/>
        </p:nvSpPr>
        <p:spPr>
          <a:xfrm>
            <a:off x="888901" y="4044103"/>
            <a:ext cx="1200300" cy="1953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22" name="Google Shape;1922;p67"/>
          <p:cNvSpPr/>
          <p:nvPr/>
        </p:nvSpPr>
        <p:spPr>
          <a:xfrm>
            <a:off x="888893" y="3848571"/>
            <a:ext cx="1200300" cy="1953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23" name="Google Shape;1923;p67"/>
          <p:cNvSpPr/>
          <p:nvPr/>
        </p:nvSpPr>
        <p:spPr>
          <a:xfrm>
            <a:off x="888895" y="4630700"/>
            <a:ext cx="1200300" cy="1953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24" name="Google Shape;1924;p67"/>
          <p:cNvSpPr/>
          <p:nvPr/>
        </p:nvSpPr>
        <p:spPr>
          <a:xfrm>
            <a:off x="6902395" y="2822068"/>
            <a:ext cx="1200300" cy="1953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25" name="Google Shape;1925;p67"/>
          <p:cNvSpPr/>
          <p:nvPr/>
        </p:nvSpPr>
        <p:spPr>
          <a:xfrm>
            <a:off x="6902388" y="2626535"/>
            <a:ext cx="1200300" cy="1953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26" name="Google Shape;1926;p67"/>
          <p:cNvSpPr/>
          <p:nvPr/>
        </p:nvSpPr>
        <p:spPr>
          <a:xfrm>
            <a:off x="6902401" y="2431003"/>
            <a:ext cx="1200300" cy="1953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27" name="Google Shape;1927;p67"/>
          <p:cNvSpPr/>
          <p:nvPr/>
        </p:nvSpPr>
        <p:spPr>
          <a:xfrm>
            <a:off x="6902393" y="2235471"/>
            <a:ext cx="1200300" cy="1953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28" name="Google Shape;1928;p67"/>
          <p:cNvSpPr/>
          <p:nvPr/>
        </p:nvSpPr>
        <p:spPr>
          <a:xfrm>
            <a:off x="6902395" y="3017600"/>
            <a:ext cx="1200300" cy="1953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29" name="Google Shape;1929;p67"/>
          <p:cNvSpPr/>
          <p:nvPr/>
        </p:nvSpPr>
        <p:spPr>
          <a:xfrm>
            <a:off x="6902395" y="4435168"/>
            <a:ext cx="1200300" cy="1953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30" name="Google Shape;1930;p67"/>
          <p:cNvSpPr/>
          <p:nvPr/>
        </p:nvSpPr>
        <p:spPr>
          <a:xfrm>
            <a:off x="6902388" y="4239635"/>
            <a:ext cx="1200300" cy="1953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31" name="Google Shape;1931;p67"/>
          <p:cNvSpPr/>
          <p:nvPr/>
        </p:nvSpPr>
        <p:spPr>
          <a:xfrm>
            <a:off x="6902401" y="4044103"/>
            <a:ext cx="1200300" cy="1953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32" name="Google Shape;1932;p67"/>
          <p:cNvSpPr/>
          <p:nvPr/>
        </p:nvSpPr>
        <p:spPr>
          <a:xfrm>
            <a:off x="6902393" y="3848571"/>
            <a:ext cx="1200300" cy="1953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33" name="Google Shape;1933;p67"/>
          <p:cNvSpPr/>
          <p:nvPr/>
        </p:nvSpPr>
        <p:spPr>
          <a:xfrm>
            <a:off x="6902395" y="4630700"/>
            <a:ext cx="1200300" cy="1953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34" name="Google Shape;1934;p67"/>
          <p:cNvSpPr/>
          <p:nvPr/>
        </p:nvSpPr>
        <p:spPr>
          <a:xfrm>
            <a:off x="5649020" y="1366660"/>
            <a:ext cx="1200300" cy="1953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35" name="Google Shape;1935;p67"/>
          <p:cNvSpPr/>
          <p:nvPr/>
        </p:nvSpPr>
        <p:spPr>
          <a:xfrm>
            <a:off x="5649013" y="1171127"/>
            <a:ext cx="1200300" cy="1953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36" name="Google Shape;1936;p67"/>
          <p:cNvSpPr/>
          <p:nvPr/>
        </p:nvSpPr>
        <p:spPr>
          <a:xfrm>
            <a:off x="5649026" y="975595"/>
            <a:ext cx="1200300" cy="1953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37" name="Google Shape;1937;p67"/>
          <p:cNvSpPr/>
          <p:nvPr/>
        </p:nvSpPr>
        <p:spPr>
          <a:xfrm>
            <a:off x="5649018" y="780063"/>
            <a:ext cx="1200300" cy="1953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38" name="Google Shape;1938;p67"/>
          <p:cNvSpPr/>
          <p:nvPr/>
        </p:nvSpPr>
        <p:spPr>
          <a:xfrm>
            <a:off x="5649020" y="1562191"/>
            <a:ext cx="1200300" cy="1953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39" name="Google Shape;1939;p67"/>
          <p:cNvSpPr/>
          <p:nvPr/>
        </p:nvSpPr>
        <p:spPr>
          <a:xfrm>
            <a:off x="6826195" y="4506085"/>
            <a:ext cx="1200300" cy="1953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40" name="Google Shape;1940;p67"/>
          <p:cNvSpPr/>
          <p:nvPr/>
        </p:nvSpPr>
        <p:spPr>
          <a:xfrm>
            <a:off x="6826188" y="4310552"/>
            <a:ext cx="1200300" cy="1953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41" name="Google Shape;1941;p67"/>
          <p:cNvSpPr/>
          <p:nvPr/>
        </p:nvSpPr>
        <p:spPr>
          <a:xfrm>
            <a:off x="6826201" y="4115020"/>
            <a:ext cx="1200300" cy="1953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42" name="Google Shape;1942;p67"/>
          <p:cNvSpPr/>
          <p:nvPr/>
        </p:nvSpPr>
        <p:spPr>
          <a:xfrm>
            <a:off x="6826193" y="3919488"/>
            <a:ext cx="1200300" cy="1953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43" name="Google Shape;1943;p67"/>
          <p:cNvSpPr/>
          <p:nvPr/>
        </p:nvSpPr>
        <p:spPr>
          <a:xfrm>
            <a:off x="6826195" y="4701616"/>
            <a:ext cx="1200300" cy="1953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44" name="Google Shape;1944;p67"/>
          <p:cNvSpPr/>
          <p:nvPr/>
        </p:nvSpPr>
        <p:spPr>
          <a:xfrm>
            <a:off x="812695" y="4511347"/>
            <a:ext cx="1200300" cy="1953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45" name="Google Shape;1945;p67"/>
          <p:cNvSpPr/>
          <p:nvPr/>
        </p:nvSpPr>
        <p:spPr>
          <a:xfrm>
            <a:off x="812688" y="4315815"/>
            <a:ext cx="1200300" cy="1953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46" name="Google Shape;1946;p67"/>
          <p:cNvSpPr/>
          <p:nvPr/>
        </p:nvSpPr>
        <p:spPr>
          <a:xfrm>
            <a:off x="812701" y="4120282"/>
            <a:ext cx="1200300" cy="1953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47" name="Google Shape;1947;p67"/>
          <p:cNvSpPr/>
          <p:nvPr/>
        </p:nvSpPr>
        <p:spPr>
          <a:xfrm>
            <a:off x="812693" y="3924750"/>
            <a:ext cx="1200300" cy="1953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48" name="Google Shape;1948;p67"/>
          <p:cNvSpPr/>
          <p:nvPr/>
        </p:nvSpPr>
        <p:spPr>
          <a:xfrm>
            <a:off x="812695" y="4706879"/>
            <a:ext cx="1200300" cy="1953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49" name="Google Shape;1949;p67"/>
          <p:cNvSpPr/>
          <p:nvPr/>
        </p:nvSpPr>
        <p:spPr>
          <a:xfrm>
            <a:off x="812695" y="2745860"/>
            <a:ext cx="1200300" cy="1953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50" name="Google Shape;1950;p67"/>
          <p:cNvSpPr/>
          <p:nvPr/>
        </p:nvSpPr>
        <p:spPr>
          <a:xfrm>
            <a:off x="812688" y="2550327"/>
            <a:ext cx="1200300" cy="1953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51" name="Google Shape;1951;p67"/>
          <p:cNvSpPr/>
          <p:nvPr/>
        </p:nvSpPr>
        <p:spPr>
          <a:xfrm>
            <a:off x="812701" y="2354795"/>
            <a:ext cx="1200300" cy="1953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52" name="Google Shape;1952;p67"/>
          <p:cNvSpPr/>
          <p:nvPr/>
        </p:nvSpPr>
        <p:spPr>
          <a:xfrm>
            <a:off x="812693" y="2159263"/>
            <a:ext cx="1200300" cy="1953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53" name="Google Shape;1953;p67"/>
          <p:cNvSpPr/>
          <p:nvPr/>
        </p:nvSpPr>
        <p:spPr>
          <a:xfrm>
            <a:off x="812695" y="2941391"/>
            <a:ext cx="1200300" cy="1953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54" name="Google Shape;1954;p67"/>
          <p:cNvSpPr/>
          <p:nvPr/>
        </p:nvSpPr>
        <p:spPr>
          <a:xfrm>
            <a:off x="5572045" y="1442847"/>
            <a:ext cx="1200300" cy="1953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55" name="Google Shape;1955;p67"/>
          <p:cNvSpPr/>
          <p:nvPr/>
        </p:nvSpPr>
        <p:spPr>
          <a:xfrm>
            <a:off x="5572038" y="1247315"/>
            <a:ext cx="1200300" cy="1953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56" name="Google Shape;1956;p67"/>
          <p:cNvSpPr/>
          <p:nvPr/>
        </p:nvSpPr>
        <p:spPr>
          <a:xfrm>
            <a:off x="5572051" y="1051782"/>
            <a:ext cx="1200300" cy="1953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57" name="Google Shape;1957;p67"/>
          <p:cNvSpPr/>
          <p:nvPr/>
        </p:nvSpPr>
        <p:spPr>
          <a:xfrm>
            <a:off x="5572043" y="856250"/>
            <a:ext cx="1200300" cy="1953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58" name="Google Shape;1958;p67"/>
          <p:cNvSpPr/>
          <p:nvPr/>
        </p:nvSpPr>
        <p:spPr>
          <a:xfrm>
            <a:off x="5572045" y="1638379"/>
            <a:ext cx="1200300" cy="1953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59" name="Google Shape;1959;p67"/>
          <p:cNvSpPr/>
          <p:nvPr/>
        </p:nvSpPr>
        <p:spPr>
          <a:xfrm>
            <a:off x="6826195" y="2900897"/>
            <a:ext cx="1200300" cy="1953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60" name="Google Shape;1960;p67"/>
          <p:cNvSpPr/>
          <p:nvPr/>
        </p:nvSpPr>
        <p:spPr>
          <a:xfrm>
            <a:off x="6826188" y="2705365"/>
            <a:ext cx="1200300" cy="1953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61" name="Google Shape;1961;p67"/>
          <p:cNvSpPr/>
          <p:nvPr/>
        </p:nvSpPr>
        <p:spPr>
          <a:xfrm>
            <a:off x="6826201" y="2509832"/>
            <a:ext cx="1200300" cy="1953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62" name="Google Shape;1962;p67"/>
          <p:cNvSpPr/>
          <p:nvPr/>
        </p:nvSpPr>
        <p:spPr>
          <a:xfrm>
            <a:off x="6826193" y="2314300"/>
            <a:ext cx="1200300" cy="1953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63" name="Google Shape;1963;p67"/>
          <p:cNvSpPr/>
          <p:nvPr/>
        </p:nvSpPr>
        <p:spPr>
          <a:xfrm>
            <a:off x="6826195" y="3096429"/>
            <a:ext cx="1200300" cy="1953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64" name="Google Shape;1964;p67"/>
          <p:cNvSpPr/>
          <p:nvPr/>
        </p:nvSpPr>
        <p:spPr>
          <a:xfrm>
            <a:off x="736495" y="4592335"/>
            <a:ext cx="1200300" cy="1953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65" name="Google Shape;1965;p67"/>
          <p:cNvSpPr/>
          <p:nvPr/>
        </p:nvSpPr>
        <p:spPr>
          <a:xfrm>
            <a:off x="736488" y="4396802"/>
            <a:ext cx="1200300" cy="1953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66" name="Google Shape;1966;p67"/>
          <p:cNvSpPr/>
          <p:nvPr/>
        </p:nvSpPr>
        <p:spPr>
          <a:xfrm>
            <a:off x="736501" y="4201270"/>
            <a:ext cx="1200300" cy="1953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67" name="Google Shape;1967;p67"/>
          <p:cNvSpPr/>
          <p:nvPr/>
        </p:nvSpPr>
        <p:spPr>
          <a:xfrm>
            <a:off x="736493" y="4005738"/>
            <a:ext cx="1200300" cy="1953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68" name="Google Shape;1968;p67"/>
          <p:cNvSpPr/>
          <p:nvPr/>
        </p:nvSpPr>
        <p:spPr>
          <a:xfrm>
            <a:off x="736495" y="4787866"/>
            <a:ext cx="1200300" cy="1953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69" name="Google Shape;1969;p67"/>
          <p:cNvSpPr/>
          <p:nvPr/>
        </p:nvSpPr>
        <p:spPr>
          <a:xfrm>
            <a:off x="736495" y="2824697"/>
            <a:ext cx="1200300" cy="1953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70" name="Google Shape;1970;p67"/>
          <p:cNvSpPr/>
          <p:nvPr/>
        </p:nvSpPr>
        <p:spPr>
          <a:xfrm>
            <a:off x="736488" y="2629165"/>
            <a:ext cx="1200300" cy="1953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71" name="Google Shape;1971;p67"/>
          <p:cNvSpPr/>
          <p:nvPr/>
        </p:nvSpPr>
        <p:spPr>
          <a:xfrm>
            <a:off x="736501" y="2433632"/>
            <a:ext cx="1200300" cy="1953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72" name="Google Shape;1972;p67"/>
          <p:cNvSpPr/>
          <p:nvPr/>
        </p:nvSpPr>
        <p:spPr>
          <a:xfrm>
            <a:off x="736493" y="2238100"/>
            <a:ext cx="1200300" cy="1953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73" name="Google Shape;1973;p67"/>
          <p:cNvSpPr/>
          <p:nvPr/>
        </p:nvSpPr>
        <p:spPr>
          <a:xfrm>
            <a:off x="736495" y="3020229"/>
            <a:ext cx="1200300" cy="1953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974" name="Google Shape;1974;p67"/>
          <p:cNvCxnSpPr/>
          <p:nvPr/>
        </p:nvCxnSpPr>
        <p:spPr>
          <a:xfrm rot="10800000">
            <a:off x="4799972" y="4062701"/>
            <a:ext cx="597300" cy="4503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75" name="Google Shape;1975;p67"/>
          <p:cNvCxnSpPr/>
          <p:nvPr/>
        </p:nvCxnSpPr>
        <p:spPr>
          <a:xfrm rot="10800000">
            <a:off x="4607529" y="4602760"/>
            <a:ext cx="711600" cy="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76" name="Google Shape;1976;p67"/>
          <p:cNvCxnSpPr/>
          <p:nvPr/>
        </p:nvCxnSpPr>
        <p:spPr>
          <a:xfrm rot="10800000">
            <a:off x="5384813" y="3682572"/>
            <a:ext cx="204600" cy="6000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77" name="Google Shape;1977;p67"/>
          <p:cNvCxnSpPr/>
          <p:nvPr/>
        </p:nvCxnSpPr>
        <p:spPr>
          <a:xfrm flipH="1" rot="10800000">
            <a:off x="5759663" y="3769272"/>
            <a:ext cx="248700" cy="5790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1" name="Shape 19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2" name="Google Shape;1982;p68"/>
          <p:cNvSpPr/>
          <p:nvPr/>
        </p:nvSpPr>
        <p:spPr>
          <a:xfrm>
            <a:off x="2698796" y="2451180"/>
            <a:ext cx="393600" cy="393600"/>
          </a:xfrm>
          <a:prstGeom prst="ellipse">
            <a:avLst/>
          </a:prstGeom>
          <a:solidFill>
            <a:srgbClr val="D9D2E9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5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83" name="Google Shape;1983;p68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Mesh Topology</a:t>
            </a:r>
            <a:endParaRPr/>
          </a:p>
        </p:txBody>
      </p:sp>
      <p:sp>
        <p:nvSpPr>
          <p:cNvPr id="1984" name="Google Shape;1984;p68"/>
          <p:cNvSpPr txBox="1"/>
          <p:nvPr>
            <p:ph idx="1" type="body"/>
          </p:nvPr>
        </p:nvSpPr>
        <p:spPr>
          <a:xfrm>
            <a:off x="107050" y="402200"/>
            <a:ext cx="8909700" cy="65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1. Send your vector to everyone else.</a:t>
            </a:r>
            <a:endParaRPr/>
          </a:p>
        </p:txBody>
      </p:sp>
      <p:sp>
        <p:nvSpPr>
          <p:cNvPr id="1985" name="Google Shape;1985;p68"/>
          <p:cNvSpPr/>
          <p:nvPr/>
        </p:nvSpPr>
        <p:spPr>
          <a:xfrm>
            <a:off x="3384605" y="4508585"/>
            <a:ext cx="393600" cy="393600"/>
          </a:xfrm>
          <a:prstGeom prst="ellipse">
            <a:avLst/>
          </a:prstGeom>
          <a:solidFill>
            <a:srgbClr val="D9EAD3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4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86" name="Google Shape;1986;p68"/>
          <p:cNvSpPr/>
          <p:nvPr/>
        </p:nvSpPr>
        <p:spPr>
          <a:xfrm>
            <a:off x="5365805" y="4508575"/>
            <a:ext cx="393600" cy="393600"/>
          </a:xfrm>
          <a:prstGeom prst="ellipse">
            <a:avLst/>
          </a:prstGeom>
          <a:solidFill>
            <a:srgbClr val="F4CCCC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3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87" name="Google Shape;1987;p68"/>
          <p:cNvSpPr/>
          <p:nvPr/>
        </p:nvSpPr>
        <p:spPr>
          <a:xfrm>
            <a:off x="4375205" y="1308175"/>
            <a:ext cx="393600" cy="393600"/>
          </a:xfrm>
          <a:prstGeom prst="ellipse">
            <a:avLst/>
          </a:prstGeom>
          <a:solidFill>
            <a:srgbClr val="FCE5CD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1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88" name="Google Shape;1988;p68"/>
          <p:cNvSpPr/>
          <p:nvPr/>
        </p:nvSpPr>
        <p:spPr>
          <a:xfrm>
            <a:off x="6051605" y="2451175"/>
            <a:ext cx="393600" cy="3936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2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989" name="Google Shape;1989;p68"/>
          <p:cNvCxnSpPr>
            <a:stCxn id="1982" idx="7"/>
            <a:endCxn id="1987" idx="3"/>
          </p:cNvCxnSpPr>
          <p:nvPr/>
        </p:nvCxnSpPr>
        <p:spPr>
          <a:xfrm flipH="1" rot="10800000">
            <a:off x="3034755" y="1644221"/>
            <a:ext cx="1398000" cy="864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90" name="Google Shape;1990;p68"/>
          <p:cNvCxnSpPr>
            <a:stCxn id="1988" idx="1"/>
            <a:endCxn id="1987" idx="5"/>
          </p:cNvCxnSpPr>
          <p:nvPr/>
        </p:nvCxnSpPr>
        <p:spPr>
          <a:xfrm rot="10800000">
            <a:off x="4711247" y="1644216"/>
            <a:ext cx="1398000" cy="864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91" name="Google Shape;1991;p68"/>
          <p:cNvCxnSpPr>
            <a:stCxn id="1986" idx="0"/>
            <a:endCxn id="1988" idx="4"/>
          </p:cNvCxnSpPr>
          <p:nvPr/>
        </p:nvCxnSpPr>
        <p:spPr>
          <a:xfrm flipH="1" rot="10800000">
            <a:off x="5562605" y="2844775"/>
            <a:ext cx="685800" cy="1663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92" name="Google Shape;1992;p68"/>
          <p:cNvCxnSpPr>
            <a:stCxn id="1985" idx="6"/>
            <a:endCxn id="1986" idx="2"/>
          </p:cNvCxnSpPr>
          <p:nvPr/>
        </p:nvCxnSpPr>
        <p:spPr>
          <a:xfrm>
            <a:off x="3778205" y="4705385"/>
            <a:ext cx="15876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93" name="Google Shape;1993;p68"/>
          <p:cNvCxnSpPr>
            <a:stCxn id="1982" idx="4"/>
            <a:endCxn id="1985" idx="0"/>
          </p:cNvCxnSpPr>
          <p:nvPr/>
        </p:nvCxnSpPr>
        <p:spPr>
          <a:xfrm>
            <a:off x="2895596" y="2844780"/>
            <a:ext cx="685800" cy="1663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94" name="Google Shape;1994;p68"/>
          <p:cNvCxnSpPr>
            <a:stCxn id="1982" idx="6"/>
            <a:endCxn id="1986" idx="0"/>
          </p:cNvCxnSpPr>
          <p:nvPr/>
        </p:nvCxnSpPr>
        <p:spPr>
          <a:xfrm>
            <a:off x="3092396" y="2647980"/>
            <a:ext cx="2470200" cy="1860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95" name="Google Shape;1995;p68"/>
          <p:cNvCxnSpPr>
            <a:stCxn id="1988" idx="2"/>
            <a:endCxn id="1985" idx="0"/>
          </p:cNvCxnSpPr>
          <p:nvPr/>
        </p:nvCxnSpPr>
        <p:spPr>
          <a:xfrm flipH="1">
            <a:off x="3581405" y="2647975"/>
            <a:ext cx="2470200" cy="1860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96" name="Google Shape;1996;p68"/>
          <p:cNvCxnSpPr>
            <a:stCxn id="1987" idx="4"/>
            <a:endCxn id="1985" idx="0"/>
          </p:cNvCxnSpPr>
          <p:nvPr/>
        </p:nvCxnSpPr>
        <p:spPr>
          <a:xfrm flipH="1">
            <a:off x="3581405" y="1701775"/>
            <a:ext cx="990600" cy="2806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97" name="Google Shape;1997;p68"/>
          <p:cNvCxnSpPr>
            <a:stCxn id="1987" idx="4"/>
            <a:endCxn id="1986" idx="0"/>
          </p:cNvCxnSpPr>
          <p:nvPr/>
        </p:nvCxnSpPr>
        <p:spPr>
          <a:xfrm>
            <a:off x="4572005" y="1701775"/>
            <a:ext cx="990600" cy="2806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98" name="Google Shape;1998;p68"/>
          <p:cNvCxnSpPr>
            <a:stCxn id="1988" idx="2"/>
            <a:endCxn id="1982" idx="6"/>
          </p:cNvCxnSpPr>
          <p:nvPr/>
        </p:nvCxnSpPr>
        <p:spPr>
          <a:xfrm rot="10800000">
            <a:off x="3092405" y="2647975"/>
            <a:ext cx="29592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99" name="Google Shape;1999;p68"/>
          <p:cNvSpPr/>
          <p:nvPr/>
        </p:nvSpPr>
        <p:spPr>
          <a:xfrm>
            <a:off x="6978595" y="2745860"/>
            <a:ext cx="1200300" cy="1953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00" name="Google Shape;2000;p68"/>
          <p:cNvSpPr/>
          <p:nvPr/>
        </p:nvSpPr>
        <p:spPr>
          <a:xfrm>
            <a:off x="6978588" y="2550327"/>
            <a:ext cx="1200300" cy="1953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01" name="Google Shape;2001;p68"/>
          <p:cNvSpPr/>
          <p:nvPr/>
        </p:nvSpPr>
        <p:spPr>
          <a:xfrm>
            <a:off x="6978601" y="2354795"/>
            <a:ext cx="1200300" cy="1953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02" name="Google Shape;2002;p68"/>
          <p:cNvSpPr/>
          <p:nvPr/>
        </p:nvSpPr>
        <p:spPr>
          <a:xfrm>
            <a:off x="6978593" y="2159263"/>
            <a:ext cx="1200300" cy="1953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03" name="Google Shape;2003;p68"/>
          <p:cNvSpPr/>
          <p:nvPr/>
        </p:nvSpPr>
        <p:spPr>
          <a:xfrm>
            <a:off x="6978595" y="2941391"/>
            <a:ext cx="1200300" cy="1953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04" name="Google Shape;2004;p68"/>
          <p:cNvSpPr/>
          <p:nvPr/>
        </p:nvSpPr>
        <p:spPr>
          <a:xfrm>
            <a:off x="965095" y="2593447"/>
            <a:ext cx="1200300" cy="1953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05" name="Google Shape;2005;p68"/>
          <p:cNvSpPr/>
          <p:nvPr/>
        </p:nvSpPr>
        <p:spPr>
          <a:xfrm>
            <a:off x="965088" y="2397915"/>
            <a:ext cx="1200300" cy="1953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06" name="Google Shape;2006;p68"/>
          <p:cNvSpPr/>
          <p:nvPr/>
        </p:nvSpPr>
        <p:spPr>
          <a:xfrm>
            <a:off x="965101" y="2202382"/>
            <a:ext cx="1200300" cy="1953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07" name="Google Shape;2007;p68"/>
          <p:cNvSpPr/>
          <p:nvPr/>
        </p:nvSpPr>
        <p:spPr>
          <a:xfrm>
            <a:off x="965093" y="2006850"/>
            <a:ext cx="1200300" cy="1953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08" name="Google Shape;2008;p68"/>
          <p:cNvSpPr/>
          <p:nvPr/>
        </p:nvSpPr>
        <p:spPr>
          <a:xfrm>
            <a:off x="965095" y="2788979"/>
            <a:ext cx="1200300" cy="1953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09" name="Google Shape;2009;p68"/>
          <p:cNvSpPr/>
          <p:nvPr/>
        </p:nvSpPr>
        <p:spPr>
          <a:xfrm>
            <a:off x="965095" y="4358947"/>
            <a:ext cx="1200300" cy="1953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10" name="Google Shape;2010;p68"/>
          <p:cNvSpPr/>
          <p:nvPr/>
        </p:nvSpPr>
        <p:spPr>
          <a:xfrm>
            <a:off x="965088" y="4163415"/>
            <a:ext cx="1200300" cy="1953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11" name="Google Shape;2011;p68"/>
          <p:cNvSpPr/>
          <p:nvPr/>
        </p:nvSpPr>
        <p:spPr>
          <a:xfrm>
            <a:off x="965101" y="3967882"/>
            <a:ext cx="1200300" cy="1953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12" name="Google Shape;2012;p68"/>
          <p:cNvSpPr/>
          <p:nvPr/>
        </p:nvSpPr>
        <p:spPr>
          <a:xfrm>
            <a:off x="965093" y="3772350"/>
            <a:ext cx="1200300" cy="1953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13" name="Google Shape;2013;p68"/>
          <p:cNvSpPr/>
          <p:nvPr/>
        </p:nvSpPr>
        <p:spPr>
          <a:xfrm>
            <a:off x="965095" y="4554479"/>
            <a:ext cx="1200300" cy="1953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14" name="Google Shape;2014;p68"/>
          <p:cNvSpPr/>
          <p:nvPr/>
        </p:nvSpPr>
        <p:spPr>
          <a:xfrm>
            <a:off x="6978595" y="4358947"/>
            <a:ext cx="1200300" cy="1953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15" name="Google Shape;2015;p68"/>
          <p:cNvSpPr/>
          <p:nvPr/>
        </p:nvSpPr>
        <p:spPr>
          <a:xfrm>
            <a:off x="6978588" y="4163415"/>
            <a:ext cx="1200300" cy="1953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16" name="Google Shape;2016;p68"/>
          <p:cNvSpPr/>
          <p:nvPr/>
        </p:nvSpPr>
        <p:spPr>
          <a:xfrm>
            <a:off x="6978601" y="3967882"/>
            <a:ext cx="1200300" cy="1953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17" name="Google Shape;2017;p68"/>
          <p:cNvSpPr/>
          <p:nvPr/>
        </p:nvSpPr>
        <p:spPr>
          <a:xfrm>
            <a:off x="6978593" y="3772350"/>
            <a:ext cx="1200300" cy="1953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18" name="Google Shape;2018;p68"/>
          <p:cNvSpPr/>
          <p:nvPr/>
        </p:nvSpPr>
        <p:spPr>
          <a:xfrm>
            <a:off x="6978595" y="4554479"/>
            <a:ext cx="1200300" cy="1953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19" name="Google Shape;2019;p68"/>
          <p:cNvSpPr/>
          <p:nvPr/>
        </p:nvSpPr>
        <p:spPr>
          <a:xfrm>
            <a:off x="5725220" y="1290455"/>
            <a:ext cx="1200300" cy="1953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20" name="Google Shape;2020;p68"/>
          <p:cNvSpPr/>
          <p:nvPr/>
        </p:nvSpPr>
        <p:spPr>
          <a:xfrm>
            <a:off x="5725213" y="1094923"/>
            <a:ext cx="1200300" cy="1953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21" name="Google Shape;2021;p68"/>
          <p:cNvSpPr/>
          <p:nvPr/>
        </p:nvSpPr>
        <p:spPr>
          <a:xfrm>
            <a:off x="5725226" y="899390"/>
            <a:ext cx="1200300" cy="1953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22" name="Google Shape;2022;p68"/>
          <p:cNvSpPr/>
          <p:nvPr/>
        </p:nvSpPr>
        <p:spPr>
          <a:xfrm>
            <a:off x="5725218" y="703858"/>
            <a:ext cx="1200300" cy="1953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23" name="Google Shape;2023;p68"/>
          <p:cNvSpPr/>
          <p:nvPr/>
        </p:nvSpPr>
        <p:spPr>
          <a:xfrm>
            <a:off x="5725220" y="1485987"/>
            <a:ext cx="1200300" cy="1953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24" name="Google Shape;2024;p68"/>
          <p:cNvSpPr/>
          <p:nvPr/>
        </p:nvSpPr>
        <p:spPr>
          <a:xfrm>
            <a:off x="888895" y="2669655"/>
            <a:ext cx="1200300" cy="1953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25" name="Google Shape;2025;p68"/>
          <p:cNvSpPr/>
          <p:nvPr/>
        </p:nvSpPr>
        <p:spPr>
          <a:xfrm>
            <a:off x="888888" y="2474123"/>
            <a:ext cx="1200300" cy="1953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26" name="Google Shape;2026;p68"/>
          <p:cNvSpPr/>
          <p:nvPr/>
        </p:nvSpPr>
        <p:spPr>
          <a:xfrm>
            <a:off x="888901" y="2278590"/>
            <a:ext cx="1200300" cy="1953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27" name="Google Shape;2027;p68"/>
          <p:cNvSpPr/>
          <p:nvPr/>
        </p:nvSpPr>
        <p:spPr>
          <a:xfrm>
            <a:off x="888893" y="2083058"/>
            <a:ext cx="1200300" cy="1953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28" name="Google Shape;2028;p68"/>
          <p:cNvSpPr/>
          <p:nvPr/>
        </p:nvSpPr>
        <p:spPr>
          <a:xfrm>
            <a:off x="888895" y="2865187"/>
            <a:ext cx="1200300" cy="1953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29" name="Google Shape;2029;p68"/>
          <p:cNvSpPr/>
          <p:nvPr/>
        </p:nvSpPr>
        <p:spPr>
          <a:xfrm>
            <a:off x="888895" y="4435168"/>
            <a:ext cx="1200300" cy="1953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30" name="Google Shape;2030;p68"/>
          <p:cNvSpPr/>
          <p:nvPr/>
        </p:nvSpPr>
        <p:spPr>
          <a:xfrm>
            <a:off x="888888" y="4239635"/>
            <a:ext cx="1200300" cy="1953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31" name="Google Shape;2031;p68"/>
          <p:cNvSpPr/>
          <p:nvPr/>
        </p:nvSpPr>
        <p:spPr>
          <a:xfrm>
            <a:off x="888901" y="4044103"/>
            <a:ext cx="1200300" cy="1953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32" name="Google Shape;2032;p68"/>
          <p:cNvSpPr/>
          <p:nvPr/>
        </p:nvSpPr>
        <p:spPr>
          <a:xfrm>
            <a:off x="888893" y="3848571"/>
            <a:ext cx="1200300" cy="1953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33" name="Google Shape;2033;p68"/>
          <p:cNvSpPr/>
          <p:nvPr/>
        </p:nvSpPr>
        <p:spPr>
          <a:xfrm>
            <a:off x="888895" y="4630700"/>
            <a:ext cx="1200300" cy="1953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34" name="Google Shape;2034;p68"/>
          <p:cNvSpPr/>
          <p:nvPr/>
        </p:nvSpPr>
        <p:spPr>
          <a:xfrm>
            <a:off x="6902395" y="2822068"/>
            <a:ext cx="1200300" cy="1953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35" name="Google Shape;2035;p68"/>
          <p:cNvSpPr/>
          <p:nvPr/>
        </p:nvSpPr>
        <p:spPr>
          <a:xfrm>
            <a:off x="6902388" y="2626535"/>
            <a:ext cx="1200300" cy="1953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36" name="Google Shape;2036;p68"/>
          <p:cNvSpPr/>
          <p:nvPr/>
        </p:nvSpPr>
        <p:spPr>
          <a:xfrm>
            <a:off x="6902401" y="2431003"/>
            <a:ext cx="1200300" cy="1953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37" name="Google Shape;2037;p68"/>
          <p:cNvSpPr/>
          <p:nvPr/>
        </p:nvSpPr>
        <p:spPr>
          <a:xfrm>
            <a:off x="6902393" y="2235471"/>
            <a:ext cx="1200300" cy="1953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38" name="Google Shape;2038;p68"/>
          <p:cNvSpPr/>
          <p:nvPr/>
        </p:nvSpPr>
        <p:spPr>
          <a:xfrm>
            <a:off x="6902395" y="3017600"/>
            <a:ext cx="1200300" cy="1953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39" name="Google Shape;2039;p68"/>
          <p:cNvSpPr/>
          <p:nvPr/>
        </p:nvSpPr>
        <p:spPr>
          <a:xfrm>
            <a:off x="6902395" y="4435168"/>
            <a:ext cx="1200300" cy="1953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40" name="Google Shape;2040;p68"/>
          <p:cNvSpPr/>
          <p:nvPr/>
        </p:nvSpPr>
        <p:spPr>
          <a:xfrm>
            <a:off x="6902388" y="4239635"/>
            <a:ext cx="1200300" cy="1953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41" name="Google Shape;2041;p68"/>
          <p:cNvSpPr/>
          <p:nvPr/>
        </p:nvSpPr>
        <p:spPr>
          <a:xfrm>
            <a:off x="6902401" y="4044103"/>
            <a:ext cx="1200300" cy="1953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42" name="Google Shape;2042;p68"/>
          <p:cNvSpPr/>
          <p:nvPr/>
        </p:nvSpPr>
        <p:spPr>
          <a:xfrm>
            <a:off x="6902393" y="3848571"/>
            <a:ext cx="1200300" cy="1953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43" name="Google Shape;2043;p68"/>
          <p:cNvSpPr/>
          <p:nvPr/>
        </p:nvSpPr>
        <p:spPr>
          <a:xfrm>
            <a:off x="6902395" y="4630700"/>
            <a:ext cx="1200300" cy="1953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44" name="Google Shape;2044;p68"/>
          <p:cNvSpPr/>
          <p:nvPr/>
        </p:nvSpPr>
        <p:spPr>
          <a:xfrm>
            <a:off x="5649020" y="1366660"/>
            <a:ext cx="1200300" cy="1953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45" name="Google Shape;2045;p68"/>
          <p:cNvSpPr/>
          <p:nvPr/>
        </p:nvSpPr>
        <p:spPr>
          <a:xfrm>
            <a:off x="5649013" y="1171127"/>
            <a:ext cx="1200300" cy="1953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46" name="Google Shape;2046;p68"/>
          <p:cNvSpPr/>
          <p:nvPr/>
        </p:nvSpPr>
        <p:spPr>
          <a:xfrm>
            <a:off x="5649026" y="975595"/>
            <a:ext cx="1200300" cy="1953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47" name="Google Shape;2047;p68"/>
          <p:cNvSpPr/>
          <p:nvPr/>
        </p:nvSpPr>
        <p:spPr>
          <a:xfrm>
            <a:off x="5649018" y="780063"/>
            <a:ext cx="1200300" cy="1953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48" name="Google Shape;2048;p68"/>
          <p:cNvSpPr/>
          <p:nvPr/>
        </p:nvSpPr>
        <p:spPr>
          <a:xfrm>
            <a:off x="5649020" y="1562191"/>
            <a:ext cx="1200300" cy="1953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49" name="Google Shape;2049;p68"/>
          <p:cNvSpPr/>
          <p:nvPr/>
        </p:nvSpPr>
        <p:spPr>
          <a:xfrm>
            <a:off x="6826195" y="4506085"/>
            <a:ext cx="1200300" cy="1953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50" name="Google Shape;2050;p68"/>
          <p:cNvSpPr/>
          <p:nvPr/>
        </p:nvSpPr>
        <p:spPr>
          <a:xfrm>
            <a:off x="6826188" y="4310552"/>
            <a:ext cx="1200300" cy="1953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51" name="Google Shape;2051;p68"/>
          <p:cNvSpPr/>
          <p:nvPr/>
        </p:nvSpPr>
        <p:spPr>
          <a:xfrm>
            <a:off x="6826201" y="4115020"/>
            <a:ext cx="1200300" cy="1953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52" name="Google Shape;2052;p68"/>
          <p:cNvSpPr/>
          <p:nvPr/>
        </p:nvSpPr>
        <p:spPr>
          <a:xfrm>
            <a:off x="6826193" y="3919488"/>
            <a:ext cx="1200300" cy="1953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53" name="Google Shape;2053;p68"/>
          <p:cNvSpPr/>
          <p:nvPr/>
        </p:nvSpPr>
        <p:spPr>
          <a:xfrm>
            <a:off x="6826195" y="4701616"/>
            <a:ext cx="1200300" cy="1953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54" name="Google Shape;2054;p68"/>
          <p:cNvSpPr/>
          <p:nvPr/>
        </p:nvSpPr>
        <p:spPr>
          <a:xfrm>
            <a:off x="812695" y="4511347"/>
            <a:ext cx="1200300" cy="1953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55" name="Google Shape;2055;p68"/>
          <p:cNvSpPr/>
          <p:nvPr/>
        </p:nvSpPr>
        <p:spPr>
          <a:xfrm>
            <a:off x="812688" y="4315815"/>
            <a:ext cx="1200300" cy="1953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56" name="Google Shape;2056;p68"/>
          <p:cNvSpPr/>
          <p:nvPr/>
        </p:nvSpPr>
        <p:spPr>
          <a:xfrm>
            <a:off x="812701" y="4120282"/>
            <a:ext cx="1200300" cy="1953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57" name="Google Shape;2057;p68"/>
          <p:cNvSpPr/>
          <p:nvPr/>
        </p:nvSpPr>
        <p:spPr>
          <a:xfrm>
            <a:off x="812693" y="3924750"/>
            <a:ext cx="1200300" cy="1953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58" name="Google Shape;2058;p68"/>
          <p:cNvSpPr/>
          <p:nvPr/>
        </p:nvSpPr>
        <p:spPr>
          <a:xfrm>
            <a:off x="812695" y="4706879"/>
            <a:ext cx="1200300" cy="1953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59" name="Google Shape;2059;p68"/>
          <p:cNvSpPr/>
          <p:nvPr/>
        </p:nvSpPr>
        <p:spPr>
          <a:xfrm>
            <a:off x="812695" y="2745860"/>
            <a:ext cx="1200300" cy="1953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60" name="Google Shape;2060;p68"/>
          <p:cNvSpPr/>
          <p:nvPr/>
        </p:nvSpPr>
        <p:spPr>
          <a:xfrm>
            <a:off x="812688" y="2550327"/>
            <a:ext cx="1200300" cy="1953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61" name="Google Shape;2061;p68"/>
          <p:cNvSpPr/>
          <p:nvPr/>
        </p:nvSpPr>
        <p:spPr>
          <a:xfrm>
            <a:off x="812701" y="2354795"/>
            <a:ext cx="1200300" cy="1953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62" name="Google Shape;2062;p68"/>
          <p:cNvSpPr/>
          <p:nvPr/>
        </p:nvSpPr>
        <p:spPr>
          <a:xfrm>
            <a:off x="812693" y="2159263"/>
            <a:ext cx="1200300" cy="1953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63" name="Google Shape;2063;p68"/>
          <p:cNvSpPr/>
          <p:nvPr/>
        </p:nvSpPr>
        <p:spPr>
          <a:xfrm>
            <a:off x="812695" y="2941391"/>
            <a:ext cx="1200300" cy="1953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64" name="Google Shape;2064;p68"/>
          <p:cNvSpPr/>
          <p:nvPr/>
        </p:nvSpPr>
        <p:spPr>
          <a:xfrm>
            <a:off x="5572045" y="1442847"/>
            <a:ext cx="1200300" cy="1953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65" name="Google Shape;2065;p68"/>
          <p:cNvSpPr/>
          <p:nvPr/>
        </p:nvSpPr>
        <p:spPr>
          <a:xfrm>
            <a:off x="5572038" y="1247315"/>
            <a:ext cx="1200300" cy="1953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66" name="Google Shape;2066;p68"/>
          <p:cNvSpPr/>
          <p:nvPr/>
        </p:nvSpPr>
        <p:spPr>
          <a:xfrm>
            <a:off x="5572051" y="1051782"/>
            <a:ext cx="1200300" cy="1953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67" name="Google Shape;2067;p68"/>
          <p:cNvSpPr/>
          <p:nvPr/>
        </p:nvSpPr>
        <p:spPr>
          <a:xfrm>
            <a:off x="5572043" y="856250"/>
            <a:ext cx="1200300" cy="1953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68" name="Google Shape;2068;p68"/>
          <p:cNvSpPr/>
          <p:nvPr/>
        </p:nvSpPr>
        <p:spPr>
          <a:xfrm>
            <a:off x="5572045" y="1638379"/>
            <a:ext cx="1200300" cy="1953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69" name="Google Shape;2069;p68"/>
          <p:cNvSpPr/>
          <p:nvPr/>
        </p:nvSpPr>
        <p:spPr>
          <a:xfrm>
            <a:off x="6826195" y="2900897"/>
            <a:ext cx="1200300" cy="1953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70" name="Google Shape;2070;p68"/>
          <p:cNvSpPr/>
          <p:nvPr/>
        </p:nvSpPr>
        <p:spPr>
          <a:xfrm>
            <a:off x="6826188" y="2705365"/>
            <a:ext cx="1200300" cy="1953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71" name="Google Shape;2071;p68"/>
          <p:cNvSpPr/>
          <p:nvPr/>
        </p:nvSpPr>
        <p:spPr>
          <a:xfrm>
            <a:off x="6826201" y="2509832"/>
            <a:ext cx="1200300" cy="1953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72" name="Google Shape;2072;p68"/>
          <p:cNvSpPr/>
          <p:nvPr/>
        </p:nvSpPr>
        <p:spPr>
          <a:xfrm>
            <a:off x="6826193" y="2314300"/>
            <a:ext cx="1200300" cy="1953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73" name="Google Shape;2073;p68"/>
          <p:cNvSpPr/>
          <p:nvPr/>
        </p:nvSpPr>
        <p:spPr>
          <a:xfrm>
            <a:off x="6826195" y="3096429"/>
            <a:ext cx="1200300" cy="1953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74" name="Google Shape;2074;p68"/>
          <p:cNvSpPr/>
          <p:nvPr/>
        </p:nvSpPr>
        <p:spPr>
          <a:xfrm>
            <a:off x="736495" y="4592335"/>
            <a:ext cx="1200300" cy="1953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75" name="Google Shape;2075;p68"/>
          <p:cNvSpPr/>
          <p:nvPr/>
        </p:nvSpPr>
        <p:spPr>
          <a:xfrm>
            <a:off x="736488" y="4396802"/>
            <a:ext cx="1200300" cy="1953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76" name="Google Shape;2076;p68"/>
          <p:cNvSpPr/>
          <p:nvPr/>
        </p:nvSpPr>
        <p:spPr>
          <a:xfrm>
            <a:off x="736501" y="4201270"/>
            <a:ext cx="1200300" cy="1953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77" name="Google Shape;2077;p68"/>
          <p:cNvSpPr/>
          <p:nvPr/>
        </p:nvSpPr>
        <p:spPr>
          <a:xfrm>
            <a:off x="736493" y="4005738"/>
            <a:ext cx="1200300" cy="1953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78" name="Google Shape;2078;p68"/>
          <p:cNvSpPr/>
          <p:nvPr/>
        </p:nvSpPr>
        <p:spPr>
          <a:xfrm>
            <a:off x="736495" y="4787866"/>
            <a:ext cx="1200300" cy="1953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79" name="Google Shape;2079;p68"/>
          <p:cNvSpPr/>
          <p:nvPr/>
        </p:nvSpPr>
        <p:spPr>
          <a:xfrm>
            <a:off x="736495" y="2824697"/>
            <a:ext cx="1200300" cy="1953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80" name="Google Shape;2080;p68"/>
          <p:cNvSpPr/>
          <p:nvPr/>
        </p:nvSpPr>
        <p:spPr>
          <a:xfrm>
            <a:off x="736488" y="2629165"/>
            <a:ext cx="1200300" cy="1953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81" name="Google Shape;2081;p68"/>
          <p:cNvSpPr/>
          <p:nvPr/>
        </p:nvSpPr>
        <p:spPr>
          <a:xfrm>
            <a:off x="736501" y="2433632"/>
            <a:ext cx="1200300" cy="1953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82" name="Google Shape;2082;p68"/>
          <p:cNvSpPr/>
          <p:nvPr/>
        </p:nvSpPr>
        <p:spPr>
          <a:xfrm>
            <a:off x="736493" y="2238100"/>
            <a:ext cx="1200300" cy="1953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83" name="Google Shape;2083;p68"/>
          <p:cNvSpPr/>
          <p:nvPr/>
        </p:nvSpPr>
        <p:spPr>
          <a:xfrm>
            <a:off x="736495" y="3020229"/>
            <a:ext cx="1200300" cy="1953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84" name="Google Shape;2084;p68"/>
          <p:cNvSpPr/>
          <p:nvPr/>
        </p:nvSpPr>
        <p:spPr>
          <a:xfrm>
            <a:off x="660295" y="2903285"/>
            <a:ext cx="1200300" cy="1953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85" name="Google Shape;2085;p68"/>
          <p:cNvSpPr/>
          <p:nvPr/>
        </p:nvSpPr>
        <p:spPr>
          <a:xfrm>
            <a:off x="660288" y="2707752"/>
            <a:ext cx="1200300" cy="1953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86" name="Google Shape;2086;p68"/>
          <p:cNvSpPr/>
          <p:nvPr/>
        </p:nvSpPr>
        <p:spPr>
          <a:xfrm>
            <a:off x="660301" y="2512220"/>
            <a:ext cx="1200300" cy="1953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87" name="Google Shape;2087;p68"/>
          <p:cNvSpPr/>
          <p:nvPr/>
        </p:nvSpPr>
        <p:spPr>
          <a:xfrm>
            <a:off x="660293" y="2316688"/>
            <a:ext cx="1200300" cy="1953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88" name="Google Shape;2088;p68"/>
          <p:cNvSpPr/>
          <p:nvPr/>
        </p:nvSpPr>
        <p:spPr>
          <a:xfrm>
            <a:off x="660295" y="3098816"/>
            <a:ext cx="1200300" cy="1953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89" name="Google Shape;2089;p68"/>
          <p:cNvSpPr/>
          <p:nvPr/>
        </p:nvSpPr>
        <p:spPr>
          <a:xfrm>
            <a:off x="6749995" y="4587560"/>
            <a:ext cx="1200300" cy="1953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90" name="Google Shape;2090;p68"/>
          <p:cNvSpPr/>
          <p:nvPr/>
        </p:nvSpPr>
        <p:spPr>
          <a:xfrm>
            <a:off x="6749988" y="4392027"/>
            <a:ext cx="1200300" cy="1953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91" name="Google Shape;2091;p68"/>
          <p:cNvSpPr/>
          <p:nvPr/>
        </p:nvSpPr>
        <p:spPr>
          <a:xfrm>
            <a:off x="6750001" y="4196495"/>
            <a:ext cx="1200300" cy="1953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92" name="Google Shape;2092;p68"/>
          <p:cNvSpPr/>
          <p:nvPr/>
        </p:nvSpPr>
        <p:spPr>
          <a:xfrm>
            <a:off x="6749993" y="4000963"/>
            <a:ext cx="1200300" cy="1953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93" name="Google Shape;2093;p68"/>
          <p:cNvSpPr/>
          <p:nvPr/>
        </p:nvSpPr>
        <p:spPr>
          <a:xfrm>
            <a:off x="6749995" y="4783091"/>
            <a:ext cx="1200300" cy="1953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94" name="Google Shape;2094;p68"/>
          <p:cNvSpPr/>
          <p:nvPr/>
        </p:nvSpPr>
        <p:spPr>
          <a:xfrm>
            <a:off x="6749995" y="2977110"/>
            <a:ext cx="1200300" cy="1953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95" name="Google Shape;2095;p68"/>
          <p:cNvSpPr/>
          <p:nvPr/>
        </p:nvSpPr>
        <p:spPr>
          <a:xfrm>
            <a:off x="6749988" y="2781577"/>
            <a:ext cx="1200300" cy="1953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96" name="Google Shape;2096;p68"/>
          <p:cNvSpPr/>
          <p:nvPr/>
        </p:nvSpPr>
        <p:spPr>
          <a:xfrm>
            <a:off x="6750001" y="2586045"/>
            <a:ext cx="1200300" cy="1953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97" name="Google Shape;2097;p68"/>
          <p:cNvSpPr/>
          <p:nvPr/>
        </p:nvSpPr>
        <p:spPr>
          <a:xfrm>
            <a:off x="6749993" y="2390513"/>
            <a:ext cx="1200300" cy="1953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98" name="Google Shape;2098;p68"/>
          <p:cNvSpPr/>
          <p:nvPr/>
        </p:nvSpPr>
        <p:spPr>
          <a:xfrm>
            <a:off x="6749995" y="3172641"/>
            <a:ext cx="1200300" cy="1953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99" name="Google Shape;2099;p68"/>
          <p:cNvSpPr/>
          <p:nvPr/>
        </p:nvSpPr>
        <p:spPr>
          <a:xfrm>
            <a:off x="5495845" y="1519047"/>
            <a:ext cx="1200300" cy="1953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00" name="Google Shape;2100;p68"/>
          <p:cNvSpPr/>
          <p:nvPr/>
        </p:nvSpPr>
        <p:spPr>
          <a:xfrm>
            <a:off x="5495838" y="1323515"/>
            <a:ext cx="1200300" cy="1953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01" name="Google Shape;2101;p68"/>
          <p:cNvSpPr/>
          <p:nvPr/>
        </p:nvSpPr>
        <p:spPr>
          <a:xfrm>
            <a:off x="5495851" y="1127982"/>
            <a:ext cx="1200300" cy="1953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02" name="Google Shape;2102;p68"/>
          <p:cNvSpPr/>
          <p:nvPr/>
        </p:nvSpPr>
        <p:spPr>
          <a:xfrm>
            <a:off x="5495843" y="932450"/>
            <a:ext cx="1200300" cy="1953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03" name="Google Shape;2103;p68"/>
          <p:cNvSpPr/>
          <p:nvPr/>
        </p:nvSpPr>
        <p:spPr>
          <a:xfrm>
            <a:off x="5495845" y="1714579"/>
            <a:ext cx="1200300" cy="1953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2104" name="Google Shape;2104;p68"/>
          <p:cNvCxnSpPr/>
          <p:nvPr/>
        </p:nvCxnSpPr>
        <p:spPr>
          <a:xfrm flipH="1" rot="10800000">
            <a:off x="3736845" y="4062701"/>
            <a:ext cx="597300" cy="4503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105" name="Google Shape;2105;p68"/>
          <p:cNvCxnSpPr/>
          <p:nvPr/>
        </p:nvCxnSpPr>
        <p:spPr>
          <a:xfrm>
            <a:off x="3814988" y="4602760"/>
            <a:ext cx="711600" cy="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106" name="Google Shape;2106;p68"/>
          <p:cNvCxnSpPr/>
          <p:nvPr/>
        </p:nvCxnSpPr>
        <p:spPr>
          <a:xfrm flipH="1" rot="10800000">
            <a:off x="3544704" y="3682572"/>
            <a:ext cx="204600" cy="6000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107" name="Google Shape;2107;p68"/>
          <p:cNvCxnSpPr/>
          <p:nvPr/>
        </p:nvCxnSpPr>
        <p:spPr>
          <a:xfrm rot="10800000">
            <a:off x="3136163" y="3769272"/>
            <a:ext cx="248700" cy="5790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1" name="Shape 2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2" name="Google Shape;2112;p69"/>
          <p:cNvSpPr/>
          <p:nvPr/>
        </p:nvSpPr>
        <p:spPr>
          <a:xfrm>
            <a:off x="2698796" y="2451180"/>
            <a:ext cx="393600" cy="393600"/>
          </a:xfrm>
          <a:prstGeom prst="ellipse">
            <a:avLst/>
          </a:prstGeom>
          <a:solidFill>
            <a:srgbClr val="D9D2E9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5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13" name="Google Shape;2113;p69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Mesh Topology</a:t>
            </a:r>
            <a:endParaRPr/>
          </a:p>
        </p:txBody>
      </p:sp>
      <p:sp>
        <p:nvSpPr>
          <p:cNvPr id="2114" name="Google Shape;2114;p69"/>
          <p:cNvSpPr txBox="1"/>
          <p:nvPr>
            <p:ph idx="1" type="body"/>
          </p:nvPr>
        </p:nvSpPr>
        <p:spPr>
          <a:xfrm>
            <a:off x="107050" y="402200"/>
            <a:ext cx="8909700" cy="65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1. Send your vector to everyone else.</a:t>
            </a:r>
            <a:endParaRPr/>
          </a:p>
        </p:txBody>
      </p:sp>
      <p:sp>
        <p:nvSpPr>
          <p:cNvPr id="2115" name="Google Shape;2115;p69"/>
          <p:cNvSpPr/>
          <p:nvPr/>
        </p:nvSpPr>
        <p:spPr>
          <a:xfrm>
            <a:off x="3384605" y="4508585"/>
            <a:ext cx="393600" cy="393600"/>
          </a:xfrm>
          <a:prstGeom prst="ellipse">
            <a:avLst/>
          </a:prstGeom>
          <a:solidFill>
            <a:srgbClr val="D9EAD3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4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16" name="Google Shape;2116;p69"/>
          <p:cNvSpPr/>
          <p:nvPr/>
        </p:nvSpPr>
        <p:spPr>
          <a:xfrm>
            <a:off x="5365805" y="4508575"/>
            <a:ext cx="393600" cy="393600"/>
          </a:xfrm>
          <a:prstGeom prst="ellipse">
            <a:avLst/>
          </a:prstGeom>
          <a:solidFill>
            <a:srgbClr val="F4CCCC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3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17" name="Google Shape;2117;p69"/>
          <p:cNvSpPr/>
          <p:nvPr/>
        </p:nvSpPr>
        <p:spPr>
          <a:xfrm>
            <a:off x="4375205" y="1308175"/>
            <a:ext cx="393600" cy="393600"/>
          </a:xfrm>
          <a:prstGeom prst="ellipse">
            <a:avLst/>
          </a:prstGeom>
          <a:solidFill>
            <a:srgbClr val="FCE5CD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1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18" name="Google Shape;2118;p69"/>
          <p:cNvSpPr/>
          <p:nvPr/>
        </p:nvSpPr>
        <p:spPr>
          <a:xfrm>
            <a:off x="6051605" y="2451175"/>
            <a:ext cx="393600" cy="3936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2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119" name="Google Shape;2119;p69"/>
          <p:cNvCxnSpPr>
            <a:stCxn id="2112" idx="7"/>
            <a:endCxn id="2117" idx="3"/>
          </p:cNvCxnSpPr>
          <p:nvPr/>
        </p:nvCxnSpPr>
        <p:spPr>
          <a:xfrm flipH="1" rot="10800000">
            <a:off x="3034755" y="1644221"/>
            <a:ext cx="1398000" cy="864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20" name="Google Shape;2120;p69"/>
          <p:cNvCxnSpPr>
            <a:stCxn id="2118" idx="1"/>
            <a:endCxn id="2117" idx="5"/>
          </p:cNvCxnSpPr>
          <p:nvPr/>
        </p:nvCxnSpPr>
        <p:spPr>
          <a:xfrm rot="10800000">
            <a:off x="4711247" y="1644216"/>
            <a:ext cx="1398000" cy="864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21" name="Google Shape;2121;p69"/>
          <p:cNvCxnSpPr>
            <a:stCxn id="2116" idx="0"/>
            <a:endCxn id="2118" idx="4"/>
          </p:cNvCxnSpPr>
          <p:nvPr/>
        </p:nvCxnSpPr>
        <p:spPr>
          <a:xfrm flipH="1" rot="10800000">
            <a:off x="5562605" y="2844775"/>
            <a:ext cx="685800" cy="1663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22" name="Google Shape;2122;p69"/>
          <p:cNvCxnSpPr>
            <a:stCxn id="2115" idx="6"/>
            <a:endCxn id="2116" idx="2"/>
          </p:cNvCxnSpPr>
          <p:nvPr/>
        </p:nvCxnSpPr>
        <p:spPr>
          <a:xfrm>
            <a:off x="3778205" y="4705385"/>
            <a:ext cx="15876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23" name="Google Shape;2123;p69"/>
          <p:cNvCxnSpPr>
            <a:stCxn id="2112" idx="4"/>
            <a:endCxn id="2115" idx="0"/>
          </p:cNvCxnSpPr>
          <p:nvPr/>
        </p:nvCxnSpPr>
        <p:spPr>
          <a:xfrm>
            <a:off x="2895596" y="2844780"/>
            <a:ext cx="685800" cy="1663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24" name="Google Shape;2124;p69"/>
          <p:cNvCxnSpPr>
            <a:stCxn id="2112" idx="6"/>
            <a:endCxn id="2116" idx="0"/>
          </p:cNvCxnSpPr>
          <p:nvPr/>
        </p:nvCxnSpPr>
        <p:spPr>
          <a:xfrm>
            <a:off x="3092396" y="2647980"/>
            <a:ext cx="2470200" cy="1860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25" name="Google Shape;2125;p69"/>
          <p:cNvCxnSpPr>
            <a:stCxn id="2118" idx="2"/>
            <a:endCxn id="2115" idx="0"/>
          </p:cNvCxnSpPr>
          <p:nvPr/>
        </p:nvCxnSpPr>
        <p:spPr>
          <a:xfrm flipH="1">
            <a:off x="3581405" y="2647975"/>
            <a:ext cx="2470200" cy="1860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26" name="Google Shape;2126;p69"/>
          <p:cNvCxnSpPr>
            <a:stCxn id="2117" idx="4"/>
            <a:endCxn id="2115" idx="0"/>
          </p:cNvCxnSpPr>
          <p:nvPr/>
        </p:nvCxnSpPr>
        <p:spPr>
          <a:xfrm flipH="1">
            <a:off x="3581405" y="1701775"/>
            <a:ext cx="990600" cy="2806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27" name="Google Shape;2127;p69"/>
          <p:cNvCxnSpPr>
            <a:stCxn id="2117" idx="4"/>
            <a:endCxn id="2116" idx="0"/>
          </p:cNvCxnSpPr>
          <p:nvPr/>
        </p:nvCxnSpPr>
        <p:spPr>
          <a:xfrm>
            <a:off x="4572005" y="1701775"/>
            <a:ext cx="990600" cy="2806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28" name="Google Shape;2128;p69"/>
          <p:cNvCxnSpPr>
            <a:stCxn id="2118" idx="2"/>
            <a:endCxn id="2112" idx="6"/>
          </p:cNvCxnSpPr>
          <p:nvPr/>
        </p:nvCxnSpPr>
        <p:spPr>
          <a:xfrm rot="10800000">
            <a:off x="3092405" y="2647975"/>
            <a:ext cx="29592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29" name="Google Shape;2129;p69"/>
          <p:cNvSpPr/>
          <p:nvPr/>
        </p:nvSpPr>
        <p:spPr>
          <a:xfrm>
            <a:off x="6978595" y="2745860"/>
            <a:ext cx="1200300" cy="1953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30" name="Google Shape;2130;p69"/>
          <p:cNvSpPr/>
          <p:nvPr/>
        </p:nvSpPr>
        <p:spPr>
          <a:xfrm>
            <a:off x="6978588" y="2550327"/>
            <a:ext cx="1200300" cy="1953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31" name="Google Shape;2131;p69"/>
          <p:cNvSpPr/>
          <p:nvPr/>
        </p:nvSpPr>
        <p:spPr>
          <a:xfrm>
            <a:off x="6978601" y="2354795"/>
            <a:ext cx="1200300" cy="1953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32" name="Google Shape;2132;p69"/>
          <p:cNvSpPr/>
          <p:nvPr/>
        </p:nvSpPr>
        <p:spPr>
          <a:xfrm>
            <a:off x="6978593" y="2159263"/>
            <a:ext cx="1200300" cy="1953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33" name="Google Shape;2133;p69"/>
          <p:cNvSpPr/>
          <p:nvPr/>
        </p:nvSpPr>
        <p:spPr>
          <a:xfrm>
            <a:off x="6978595" y="2941391"/>
            <a:ext cx="1200300" cy="1953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34" name="Google Shape;2134;p69"/>
          <p:cNvSpPr/>
          <p:nvPr/>
        </p:nvSpPr>
        <p:spPr>
          <a:xfrm>
            <a:off x="965095" y="2593447"/>
            <a:ext cx="1200300" cy="1953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35" name="Google Shape;2135;p69"/>
          <p:cNvSpPr/>
          <p:nvPr/>
        </p:nvSpPr>
        <p:spPr>
          <a:xfrm>
            <a:off x="965088" y="2397915"/>
            <a:ext cx="1200300" cy="1953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36" name="Google Shape;2136;p69"/>
          <p:cNvSpPr/>
          <p:nvPr/>
        </p:nvSpPr>
        <p:spPr>
          <a:xfrm>
            <a:off x="965101" y="2202382"/>
            <a:ext cx="1200300" cy="1953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37" name="Google Shape;2137;p69"/>
          <p:cNvSpPr/>
          <p:nvPr/>
        </p:nvSpPr>
        <p:spPr>
          <a:xfrm>
            <a:off x="965093" y="2006850"/>
            <a:ext cx="1200300" cy="1953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38" name="Google Shape;2138;p69"/>
          <p:cNvSpPr/>
          <p:nvPr/>
        </p:nvSpPr>
        <p:spPr>
          <a:xfrm>
            <a:off x="965095" y="2788979"/>
            <a:ext cx="1200300" cy="1953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39" name="Google Shape;2139;p69"/>
          <p:cNvSpPr/>
          <p:nvPr/>
        </p:nvSpPr>
        <p:spPr>
          <a:xfrm>
            <a:off x="965095" y="4358947"/>
            <a:ext cx="1200300" cy="1953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40" name="Google Shape;2140;p69"/>
          <p:cNvSpPr/>
          <p:nvPr/>
        </p:nvSpPr>
        <p:spPr>
          <a:xfrm>
            <a:off x="965088" y="4163415"/>
            <a:ext cx="1200300" cy="1953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41" name="Google Shape;2141;p69"/>
          <p:cNvSpPr/>
          <p:nvPr/>
        </p:nvSpPr>
        <p:spPr>
          <a:xfrm>
            <a:off x="965101" y="3967882"/>
            <a:ext cx="1200300" cy="1953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42" name="Google Shape;2142;p69"/>
          <p:cNvSpPr/>
          <p:nvPr/>
        </p:nvSpPr>
        <p:spPr>
          <a:xfrm>
            <a:off x="965093" y="3772350"/>
            <a:ext cx="1200300" cy="1953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43" name="Google Shape;2143;p69"/>
          <p:cNvSpPr/>
          <p:nvPr/>
        </p:nvSpPr>
        <p:spPr>
          <a:xfrm>
            <a:off x="965095" y="4554479"/>
            <a:ext cx="1200300" cy="1953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44" name="Google Shape;2144;p69"/>
          <p:cNvSpPr/>
          <p:nvPr/>
        </p:nvSpPr>
        <p:spPr>
          <a:xfrm>
            <a:off x="6978595" y="4358947"/>
            <a:ext cx="1200300" cy="1953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45" name="Google Shape;2145;p69"/>
          <p:cNvSpPr/>
          <p:nvPr/>
        </p:nvSpPr>
        <p:spPr>
          <a:xfrm>
            <a:off x="6978588" y="4163415"/>
            <a:ext cx="1200300" cy="1953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46" name="Google Shape;2146;p69"/>
          <p:cNvSpPr/>
          <p:nvPr/>
        </p:nvSpPr>
        <p:spPr>
          <a:xfrm>
            <a:off x="6978601" y="3967882"/>
            <a:ext cx="1200300" cy="1953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47" name="Google Shape;2147;p69"/>
          <p:cNvSpPr/>
          <p:nvPr/>
        </p:nvSpPr>
        <p:spPr>
          <a:xfrm>
            <a:off x="6978593" y="3772350"/>
            <a:ext cx="1200300" cy="1953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48" name="Google Shape;2148;p69"/>
          <p:cNvSpPr/>
          <p:nvPr/>
        </p:nvSpPr>
        <p:spPr>
          <a:xfrm>
            <a:off x="6978595" y="4554479"/>
            <a:ext cx="1200300" cy="1953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49" name="Google Shape;2149;p69"/>
          <p:cNvSpPr/>
          <p:nvPr/>
        </p:nvSpPr>
        <p:spPr>
          <a:xfrm>
            <a:off x="5725220" y="1290455"/>
            <a:ext cx="1200300" cy="1953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50" name="Google Shape;2150;p69"/>
          <p:cNvSpPr/>
          <p:nvPr/>
        </p:nvSpPr>
        <p:spPr>
          <a:xfrm>
            <a:off x="5725213" y="1094923"/>
            <a:ext cx="1200300" cy="1953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51" name="Google Shape;2151;p69"/>
          <p:cNvSpPr/>
          <p:nvPr/>
        </p:nvSpPr>
        <p:spPr>
          <a:xfrm>
            <a:off x="5725226" y="899390"/>
            <a:ext cx="1200300" cy="1953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52" name="Google Shape;2152;p69"/>
          <p:cNvSpPr/>
          <p:nvPr/>
        </p:nvSpPr>
        <p:spPr>
          <a:xfrm>
            <a:off x="5725218" y="703858"/>
            <a:ext cx="1200300" cy="1953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53" name="Google Shape;2153;p69"/>
          <p:cNvSpPr/>
          <p:nvPr/>
        </p:nvSpPr>
        <p:spPr>
          <a:xfrm>
            <a:off x="5725220" y="1485987"/>
            <a:ext cx="1200300" cy="1953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54" name="Google Shape;2154;p69"/>
          <p:cNvSpPr/>
          <p:nvPr/>
        </p:nvSpPr>
        <p:spPr>
          <a:xfrm>
            <a:off x="888895" y="2669655"/>
            <a:ext cx="1200300" cy="1953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55" name="Google Shape;2155;p69"/>
          <p:cNvSpPr/>
          <p:nvPr/>
        </p:nvSpPr>
        <p:spPr>
          <a:xfrm>
            <a:off x="888888" y="2474123"/>
            <a:ext cx="1200300" cy="1953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56" name="Google Shape;2156;p69"/>
          <p:cNvSpPr/>
          <p:nvPr/>
        </p:nvSpPr>
        <p:spPr>
          <a:xfrm>
            <a:off x="888901" y="2278590"/>
            <a:ext cx="1200300" cy="1953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57" name="Google Shape;2157;p69"/>
          <p:cNvSpPr/>
          <p:nvPr/>
        </p:nvSpPr>
        <p:spPr>
          <a:xfrm>
            <a:off x="888893" y="2083058"/>
            <a:ext cx="1200300" cy="1953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58" name="Google Shape;2158;p69"/>
          <p:cNvSpPr/>
          <p:nvPr/>
        </p:nvSpPr>
        <p:spPr>
          <a:xfrm>
            <a:off x="888895" y="2865187"/>
            <a:ext cx="1200300" cy="1953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59" name="Google Shape;2159;p69"/>
          <p:cNvSpPr/>
          <p:nvPr/>
        </p:nvSpPr>
        <p:spPr>
          <a:xfrm>
            <a:off x="888895" y="4435168"/>
            <a:ext cx="1200300" cy="1953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60" name="Google Shape;2160;p69"/>
          <p:cNvSpPr/>
          <p:nvPr/>
        </p:nvSpPr>
        <p:spPr>
          <a:xfrm>
            <a:off x="888888" y="4239635"/>
            <a:ext cx="1200300" cy="1953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61" name="Google Shape;2161;p69"/>
          <p:cNvSpPr/>
          <p:nvPr/>
        </p:nvSpPr>
        <p:spPr>
          <a:xfrm>
            <a:off x="888901" y="4044103"/>
            <a:ext cx="1200300" cy="1953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62" name="Google Shape;2162;p69"/>
          <p:cNvSpPr/>
          <p:nvPr/>
        </p:nvSpPr>
        <p:spPr>
          <a:xfrm>
            <a:off x="888893" y="3848571"/>
            <a:ext cx="1200300" cy="1953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63" name="Google Shape;2163;p69"/>
          <p:cNvSpPr/>
          <p:nvPr/>
        </p:nvSpPr>
        <p:spPr>
          <a:xfrm>
            <a:off x="888895" y="4630700"/>
            <a:ext cx="1200300" cy="1953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64" name="Google Shape;2164;p69"/>
          <p:cNvSpPr/>
          <p:nvPr/>
        </p:nvSpPr>
        <p:spPr>
          <a:xfrm>
            <a:off x="6902395" y="2822068"/>
            <a:ext cx="1200300" cy="1953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65" name="Google Shape;2165;p69"/>
          <p:cNvSpPr/>
          <p:nvPr/>
        </p:nvSpPr>
        <p:spPr>
          <a:xfrm>
            <a:off x="6902388" y="2626535"/>
            <a:ext cx="1200300" cy="1953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66" name="Google Shape;2166;p69"/>
          <p:cNvSpPr/>
          <p:nvPr/>
        </p:nvSpPr>
        <p:spPr>
          <a:xfrm>
            <a:off x="6902401" y="2431003"/>
            <a:ext cx="1200300" cy="1953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67" name="Google Shape;2167;p69"/>
          <p:cNvSpPr/>
          <p:nvPr/>
        </p:nvSpPr>
        <p:spPr>
          <a:xfrm>
            <a:off x="6902393" y="2235471"/>
            <a:ext cx="1200300" cy="1953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68" name="Google Shape;2168;p69"/>
          <p:cNvSpPr/>
          <p:nvPr/>
        </p:nvSpPr>
        <p:spPr>
          <a:xfrm>
            <a:off x="6902395" y="3017600"/>
            <a:ext cx="1200300" cy="1953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69" name="Google Shape;2169;p69"/>
          <p:cNvSpPr/>
          <p:nvPr/>
        </p:nvSpPr>
        <p:spPr>
          <a:xfrm>
            <a:off x="6902395" y="4435168"/>
            <a:ext cx="1200300" cy="1953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70" name="Google Shape;2170;p69"/>
          <p:cNvSpPr/>
          <p:nvPr/>
        </p:nvSpPr>
        <p:spPr>
          <a:xfrm>
            <a:off x="6902388" y="4239635"/>
            <a:ext cx="1200300" cy="1953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71" name="Google Shape;2171;p69"/>
          <p:cNvSpPr/>
          <p:nvPr/>
        </p:nvSpPr>
        <p:spPr>
          <a:xfrm>
            <a:off x="6902401" y="4044103"/>
            <a:ext cx="1200300" cy="1953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72" name="Google Shape;2172;p69"/>
          <p:cNvSpPr/>
          <p:nvPr/>
        </p:nvSpPr>
        <p:spPr>
          <a:xfrm>
            <a:off x="6902393" y="3848571"/>
            <a:ext cx="1200300" cy="1953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73" name="Google Shape;2173;p69"/>
          <p:cNvSpPr/>
          <p:nvPr/>
        </p:nvSpPr>
        <p:spPr>
          <a:xfrm>
            <a:off x="6902395" y="4630700"/>
            <a:ext cx="1200300" cy="1953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74" name="Google Shape;2174;p69"/>
          <p:cNvSpPr/>
          <p:nvPr/>
        </p:nvSpPr>
        <p:spPr>
          <a:xfrm>
            <a:off x="5649020" y="1366660"/>
            <a:ext cx="1200300" cy="1953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75" name="Google Shape;2175;p69"/>
          <p:cNvSpPr/>
          <p:nvPr/>
        </p:nvSpPr>
        <p:spPr>
          <a:xfrm>
            <a:off x="5649013" y="1171127"/>
            <a:ext cx="1200300" cy="1953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76" name="Google Shape;2176;p69"/>
          <p:cNvSpPr/>
          <p:nvPr/>
        </p:nvSpPr>
        <p:spPr>
          <a:xfrm>
            <a:off x="5649026" y="975595"/>
            <a:ext cx="1200300" cy="1953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77" name="Google Shape;2177;p69"/>
          <p:cNvSpPr/>
          <p:nvPr/>
        </p:nvSpPr>
        <p:spPr>
          <a:xfrm>
            <a:off x="5649018" y="780063"/>
            <a:ext cx="1200300" cy="1953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78" name="Google Shape;2178;p69"/>
          <p:cNvSpPr/>
          <p:nvPr/>
        </p:nvSpPr>
        <p:spPr>
          <a:xfrm>
            <a:off x="5649020" y="1562191"/>
            <a:ext cx="1200300" cy="1953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79" name="Google Shape;2179;p69"/>
          <p:cNvSpPr/>
          <p:nvPr/>
        </p:nvSpPr>
        <p:spPr>
          <a:xfrm>
            <a:off x="6826195" y="4506085"/>
            <a:ext cx="1200300" cy="1953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80" name="Google Shape;2180;p69"/>
          <p:cNvSpPr/>
          <p:nvPr/>
        </p:nvSpPr>
        <p:spPr>
          <a:xfrm>
            <a:off x="6826188" y="4310552"/>
            <a:ext cx="1200300" cy="1953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81" name="Google Shape;2181;p69"/>
          <p:cNvSpPr/>
          <p:nvPr/>
        </p:nvSpPr>
        <p:spPr>
          <a:xfrm>
            <a:off x="6826201" y="4115020"/>
            <a:ext cx="1200300" cy="1953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82" name="Google Shape;2182;p69"/>
          <p:cNvSpPr/>
          <p:nvPr/>
        </p:nvSpPr>
        <p:spPr>
          <a:xfrm>
            <a:off x="6826193" y="3919488"/>
            <a:ext cx="1200300" cy="1953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83" name="Google Shape;2183;p69"/>
          <p:cNvSpPr/>
          <p:nvPr/>
        </p:nvSpPr>
        <p:spPr>
          <a:xfrm>
            <a:off x="6826195" y="4701616"/>
            <a:ext cx="1200300" cy="1953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84" name="Google Shape;2184;p69"/>
          <p:cNvSpPr/>
          <p:nvPr/>
        </p:nvSpPr>
        <p:spPr>
          <a:xfrm>
            <a:off x="812695" y="4511347"/>
            <a:ext cx="1200300" cy="1953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85" name="Google Shape;2185;p69"/>
          <p:cNvSpPr/>
          <p:nvPr/>
        </p:nvSpPr>
        <p:spPr>
          <a:xfrm>
            <a:off x="812688" y="4315815"/>
            <a:ext cx="1200300" cy="1953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86" name="Google Shape;2186;p69"/>
          <p:cNvSpPr/>
          <p:nvPr/>
        </p:nvSpPr>
        <p:spPr>
          <a:xfrm>
            <a:off x="812701" y="4120282"/>
            <a:ext cx="1200300" cy="1953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87" name="Google Shape;2187;p69"/>
          <p:cNvSpPr/>
          <p:nvPr/>
        </p:nvSpPr>
        <p:spPr>
          <a:xfrm>
            <a:off x="812693" y="3924750"/>
            <a:ext cx="1200300" cy="1953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88" name="Google Shape;2188;p69"/>
          <p:cNvSpPr/>
          <p:nvPr/>
        </p:nvSpPr>
        <p:spPr>
          <a:xfrm>
            <a:off x="812695" y="4706879"/>
            <a:ext cx="1200300" cy="1953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89" name="Google Shape;2189;p69"/>
          <p:cNvSpPr/>
          <p:nvPr/>
        </p:nvSpPr>
        <p:spPr>
          <a:xfrm>
            <a:off x="812695" y="2745860"/>
            <a:ext cx="1200300" cy="1953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90" name="Google Shape;2190;p69"/>
          <p:cNvSpPr/>
          <p:nvPr/>
        </p:nvSpPr>
        <p:spPr>
          <a:xfrm>
            <a:off x="812688" y="2550327"/>
            <a:ext cx="1200300" cy="1953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91" name="Google Shape;2191;p69"/>
          <p:cNvSpPr/>
          <p:nvPr/>
        </p:nvSpPr>
        <p:spPr>
          <a:xfrm>
            <a:off x="812701" y="2354795"/>
            <a:ext cx="1200300" cy="1953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92" name="Google Shape;2192;p69"/>
          <p:cNvSpPr/>
          <p:nvPr/>
        </p:nvSpPr>
        <p:spPr>
          <a:xfrm>
            <a:off x="812693" y="2159263"/>
            <a:ext cx="1200300" cy="1953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93" name="Google Shape;2193;p69"/>
          <p:cNvSpPr/>
          <p:nvPr/>
        </p:nvSpPr>
        <p:spPr>
          <a:xfrm>
            <a:off x="812695" y="2941391"/>
            <a:ext cx="1200300" cy="1953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94" name="Google Shape;2194;p69"/>
          <p:cNvSpPr/>
          <p:nvPr/>
        </p:nvSpPr>
        <p:spPr>
          <a:xfrm>
            <a:off x="5572045" y="1442847"/>
            <a:ext cx="1200300" cy="1953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95" name="Google Shape;2195;p69"/>
          <p:cNvSpPr/>
          <p:nvPr/>
        </p:nvSpPr>
        <p:spPr>
          <a:xfrm>
            <a:off x="5572038" y="1247315"/>
            <a:ext cx="1200300" cy="1953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96" name="Google Shape;2196;p69"/>
          <p:cNvSpPr/>
          <p:nvPr/>
        </p:nvSpPr>
        <p:spPr>
          <a:xfrm>
            <a:off x="5572051" y="1051782"/>
            <a:ext cx="1200300" cy="1953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97" name="Google Shape;2197;p69"/>
          <p:cNvSpPr/>
          <p:nvPr/>
        </p:nvSpPr>
        <p:spPr>
          <a:xfrm>
            <a:off x="5572043" y="856250"/>
            <a:ext cx="1200300" cy="1953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98" name="Google Shape;2198;p69"/>
          <p:cNvSpPr/>
          <p:nvPr/>
        </p:nvSpPr>
        <p:spPr>
          <a:xfrm>
            <a:off x="5572045" y="1638379"/>
            <a:ext cx="1200300" cy="1953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99" name="Google Shape;2199;p69"/>
          <p:cNvSpPr/>
          <p:nvPr/>
        </p:nvSpPr>
        <p:spPr>
          <a:xfrm>
            <a:off x="6826195" y="2900897"/>
            <a:ext cx="1200300" cy="1953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00" name="Google Shape;2200;p69"/>
          <p:cNvSpPr/>
          <p:nvPr/>
        </p:nvSpPr>
        <p:spPr>
          <a:xfrm>
            <a:off x="6826188" y="2705365"/>
            <a:ext cx="1200300" cy="1953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01" name="Google Shape;2201;p69"/>
          <p:cNvSpPr/>
          <p:nvPr/>
        </p:nvSpPr>
        <p:spPr>
          <a:xfrm>
            <a:off x="6826201" y="2509832"/>
            <a:ext cx="1200300" cy="1953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02" name="Google Shape;2202;p69"/>
          <p:cNvSpPr/>
          <p:nvPr/>
        </p:nvSpPr>
        <p:spPr>
          <a:xfrm>
            <a:off x="6826193" y="2314300"/>
            <a:ext cx="1200300" cy="1953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03" name="Google Shape;2203;p69"/>
          <p:cNvSpPr/>
          <p:nvPr/>
        </p:nvSpPr>
        <p:spPr>
          <a:xfrm>
            <a:off x="6826195" y="3096429"/>
            <a:ext cx="1200300" cy="1953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04" name="Google Shape;2204;p69"/>
          <p:cNvSpPr/>
          <p:nvPr/>
        </p:nvSpPr>
        <p:spPr>
          <a:xfrm>
            <a:off x="736495" y="4592335"/>
            <a:ext cx="1200300" cy="1953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05" name="Google Shape;2205;p69"/>
          <p:cNvSpPr/>
          <p:nvPr/>
        </p:nvSpPr>
        <p:spPr>
          <a:xfrm>
            <a:off x="736488" y="4396802"/>
            <a:ext cx="1200300" cy="1953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06" name="Google Shape;2206;p69"/>
          <p:cNvSpPr/>
          <p:nvPr/>
        </p:nvSpPr>
        <p:spPr>
          <a:xfrm>
            <a:off x="736501" y="4201270"/>
            <a:ext cx="1200300" cy="1953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07" name="Google Shape;2207;p69"/>
          <p:cNvSpPr/>
          <p:nvPr/>
        </p:nvSpPr>
        <p:spPr>
          <a:xfrm>
            <a:off x="736493" y="4005738"/>
            <a:ext cx="1200300" cy="1953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08" name="Google Shape;2208;p69"/>
          <p:cNvSpPr/>
          <p:nvPr/>
        </p:nvSpPr>
        <p:spPr>
          <a:xfrm>
            <a:off x="736495" y="4787866"/>
            <a:ext cx="1200300" cy="1953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09" name="Google Shape;2209;p69"/>
          <p:cNvSpPr/>
          <p:nvPr/>
        </p:nvSpPr>
        <p:spPr>
          <a:xfrm>
            <a:off x="736495" y="2824697"/>
            <a:ext cx="1200300" cy="1953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10" name="Google Shape;2210;p69"/>
          <p:cNvSpPr/>
          <p:nvPr/>
        </p:nvSpPr>
        <p:spPr>
          <a:xfrm>
            <a:off x="736488" y="2629165"/>
            <a:ext cx="1200300" cy="1953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11" name="Google Shape;2211;p69"/>
          <p:cNvSpPr/>
          <p:nvPr/>
        </p:nvSpPr>
        <p:spPr>
          <a:xfrm>
            <a:off x="736501" y="2433632"/>
            <a:ext cx="1200300" cy="1953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12" name="Google Shape;2212;p69"/>
          <p:cNvSpPr/>
          <p:nvPr/>
        </p:nvSpPr>
        <p:spPr>
          <a:xfrm>
            <a:off x="736493" y="2238100"/>
            <a:ext cx="1200300" cy="1953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13" name="Google Shape;2213;p69"/>
          <p:cNvSpPr/>
          <p:nvPr/>
        </p:nvSpPr>
        <p:spPr>
          <a:xfrm>
            <a:off x="736495" y="3020229"/>
            <a:ext cx="1200300" cy="1953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14" name="Google Shape;2214;p69"/>
          <p:cNvSpPr/>
          <p:nvPr/>
        </p:nvSpPr>
        <p:spPr>
          <a:xfrm>
            <a:off x="660295" y="2903285"/>
            <a:ext cx="1200300" cy="1953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15" name="Google Shape;2215;p69"/>
          <p:cNvSpPr/>
          <p:nvPr/>
        </p:nvSpPr>
        <p:spPr>
          <a:xfrm>
            <a:off x="660288" y="2707752"/>
            <a:ext cx="1200300" cy="1953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16" name="Google Shape;2216;p69"/>
          <p:cNvSpPr/>
          <p:nvPr/>
        </p:nvSpPr>
        <p:spPr>
          <a:xfrm>
            <a:off x="660301" y="2512220"/>
            <a:ext cx="1200300" cy="1953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17" name="Google Shape;2217;p69"/>
          <p:cNvSpPr/>
          <p:nvPr/>
        </p:nvSpPr>
        <p:spPr>
          <a:xfrm>
            <a:off x="660293" y="2316688"/>
            <a:ext cx="1200300" cy="1953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18" name="Google Shape;2218;p69"/>
          <p:cNvSpPr/>
          <p:nvPr/>
        </p:nvSpPr>
        <p:spPr>
          <a:xfrm>
            <a:off x="660295" y="3098816"/>
            <a:ext cx="1200300" cy="1953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19" name="Google Shape;2219;p69"/>
          <p:cNvSpPr/>
          <p:nvPr/>
        </p:nvSpPr>
        <p:spPr>
          <a:xfrm>
            <a:off x="6749995" y="4587560"/>
            <a:ext cx="1200300" cy="1953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20" name="Google Shape;2220;p69"/>
          <p:cNvSpPr/>
          <p:nvPr/>
        </p:nvSpPr>
        <p:spPr>
          <a:xfrm>
            <a:off x="6749988" y="4392027"/>
            <a:ext cx="1200300" cy="1953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21" name="Google Shape;2221;p69"/>
          <p:cNvSpPr/>
          <p:nvPr/>
        </p:nvSpPr>
        <p:spPr>
          <a:xfrm>
            <a:off x="6750001" y="4196495"/>
            <a:ext cx="1200300" cy="1953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22" name="Google Shape;2222;p69"/>
          <p:cNvSpPr/>
          <p:nvPr/>
        </p:nvSpPr>
        <p:spPr>
          <a:xfrm>
            <a:off x="6749993" y="4000963"/>
            <a:ext cx="1200300" cy="1953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23" name="Google Shape;2223;p69"/>
          <p:cNvSpPr/>
          <p:nvPr/>
        </p:nvSpPr>
        <p:spPr>
          <a:xfrm>
            <a:off x="6749995" y="4783091"/>
            <a:ext cx="1200300" cy="1953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24" name="Google Shape;2224;p69"/>
          <p:cNvSpPr/>
          <p:nvPr/>
        </p:nvSpPr>
        <p:spPr>
          <a:xfrm>
            <a:off x="6749995" y="2977110"/>
            <a:ext cx="1200300" cy="1953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25" name="Google Shape;2225;p69"/>
          <p:cNvSpPr/>
          <p:nvPr/>
        </p:nvSpPr>
        <p:spPr>
          <a:xfrm>
            <a:off x="6749988" y="2781577"/>
            <a:ext cx="1200300" cy="1953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26" name="Google Shape;2226;p69"/>
          <p:cNvSpPr/>
          <p:nvPr/>
        </p:nvSpPr>
        <p:spPr>
          <a:xfrm>
            <a:off x="6750001" y="2586045"/>
            <a:ext cx="1200300" cy="1953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27" name="Google Shape;2227;p69"/>
          <p:cNvSpPr/>
          <p:nvPr/>
        </p:nvSpPr>
        <p:spPr>
          <a:xfrm>
            <a:off x="6749993" y="2390513"/>
            <a:ext cx="1200300" cy="1953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28" name="Google Shape;2228;p69"/>
          <p:cNvSpPr/>
          <p:nvPr/>
        </p:nvSpPr>
        <p:spPr>
          <a:xfrm>
            <a:off x="6749995" y="3172641"/>
            <a:ext cx="1200300" cy="1953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29" name="Google Shape;2229;p69"/>
          <p:cNvSpPr/>
          <p:nvPr/>
        </p:nvSpPr>
        <p:spPr>
          <a:xfrm>
            <a:off x="5495845" y="1519047"/>
            <a:ext cx="1200300" cy="1953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30" name="Google Shape;2230;p69"/>
          <p:cNvSpPr/>
          <p:nvPr/>
        </p:nvSpPr>
        <p:spPr>
          <a:xfrm>
            <a:off x="5495838" y="1323515"/>
            <a:ext cx="1200300" cy="1953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31" name="Google Shape;2231;p69"/>
          <p:cNvSpPr/>
          <p:nvPr/>
        </p:nvSpPr>
        <p:spPr>
          <a:xfrm>
            <a:off x="5495851" y="1127982"/>
            <a:ext cx="1200300" cy="1953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32" name="Google Shape;2232;p69"/>
          <p:cNvSpPr/>
          <p:nvPr/>
        </p:nvSpPr>
        <p:spPr>
          <a:xfrm>
            <a:off x="5495843" y="932450"/>
            <a:ext cx="1200300" cy="1953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33" name="Google Shape;2233;p69"/>
          <p:cNvSpPr/>
          <p:nvPr/>
        </p:nvSpPr>
        <p:spPr>
          <a:xfrm>
            <a:off x="5495845" y="1714579"/>
            <a:ext cx="1200300" cy="1953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34" name="Google Shape;2234;p69"/>
          <p:cNvSpPr/>
          <p:nvPr/>
        </p:nvSpPr>
        <p:spPr>
          <a:xfrm>
            <a:off x="5419645" y="1596460"/>
            <a:ext cx="1200300" cy="1953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35" name="Google Shape;2235;p69"/>
          <p:cNvSpPr/>
          <p:nvPr/>
        </p:nvSpPr>
        <p:spPr>
          <a:xfrm>
            <a:off x="5419638" y="1400927"/>
            <a:ext cx="1200300" cy="1953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36" name="Google Shape;2236;p69"/>
          <p:cNvSpPr/>
          <p:nvPr/>
        </p:nvSpPr>
        <p:spPr>
          <a:xfrm>
            <a:off x="5419651" y="1205395"/>
            <a:ext cx="1200300" cy="1953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37" name="Google Shape;2237;p69"/>
          <p:cNvSpPr/>
          <p:nvPr/>
        </p:nvSpPr>
        <p:spPr>
          <a:xfrm>
            <a:off x="5419643" y="1009863"/>
            <a:ext cx="1200300" cy="1953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38" name="Google Shape;2238;p69"/>
          <p:cNvSpPr/>
          <p:nvPr/>
        </p:nvSpPr>
        <p:spPr>
          <a:xfrm>
            <a:off x="5419645" y="1791991"/>
            <a:ext cx="1200300" cy="1953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39" name="Google Shape;2239;p69"/>
          <p:cNvSpPr/>
          <p:nvPr/>
        </p:nvSpPr>
        <p:spPr>
          <a:xfrm>
            <a:off x="6673795" y="3053310"/>
            <a:ext cx="1200300" cy="1953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40" name="Google Shape;2240;p69"/>
          <p:cNvSpPr/>
          <p:nvPr/>
        </p:nvSpPr>
        <p:spPr>
          <a:xfrm>
            <a:off x="6673788" y="2857777"/>
            <a:ext cx="1200300" cy="1953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41" name="Google Shape;2241;p69"/>
          <p:cNvSpPr/>
          <p:nvPr/>
        </p:nvSpPr>
        <p:spPr>
          <a:xfrm>
            <a:off x="6673801" y="2662245"/>
            <a:ext cx="1200300" cy="1953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42" name="Google Shape;2242;p69"/>
          <p:cNvSpPr/>
          <p:nvPr/>
        </p:nvSpPr>
        <p:spPr>
          <a:xfrm>
            <a:off x="6673793" y="2466713"/>
            <a:ext cx="1200300" cy="1953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43" name="Google Shape;2243;p69"/>
          <p:cNvSpPr/>
          <p:nvPr/>
        </p:nvSpPr>
        <p:spPr>
          <a:xfrm>
            <a:off x="6673795" y="3248841"/>
            <a:ext cx="1200300" cy="1953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44" name="Google Shape;2244;p69"/>
          <p:cNvSpPr/>
          <p:nvPr/>
        </p:nvSpPr>
        <p:spPr>
          <a:xfrm>
            <a:off x="6678170" y="4663735"/>
            <a:ext cx="1200300" cy="1953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45" name="Google Shape;2245;p69"/>
          <p:cNvSpPr/>
          <p:nvPr/>
        </p:nvSpPr>
        <p:spPr>
          <a:xfrm>
            <a:off x="6678163" y="4468202"/>
            <a:ext cx="1200300" cy="1953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46" name="Google Shape;2246;p69"/>
          <p:cNvSpPr/>
          <p:nvPr/>
        </p:nvSpPr>
        <p:spPr>
          <a:xfrm>
            <a:off x="6678176" y="4272670"/>
            <a:ext cx="1200300" cy="1953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47" name="Google Shape;2247;p69"/>
          <p:cNvSpPr/>
          <p:nvPr/>
        </p:nvSpPr>
        <p:spPr>
          <a:xfrm>
            <a:off x="6678168" y="4077138"/>
            <a:ext cx="1200300" cy="1953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48" name="Google Shape;2248;p69"/>
          <p:cNvSpPr/>
          <p:nvPr/>
        </p:nvSpPr>
        <p:spPr>
          <a:xfrm>
            <a:off x="6678170" y="4859266"/>
            <a:ext cx="1200300" cy="1953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49" name="Google Shape;2249;p69"/>
          <p:cNvSpPr/>
          <p:nvPr/>
        </p:nvSpPr>
        <p:spPr>
          <a:xfrm>
            <a:off x="660295" y="4668535"/>
            <a:ext cx="1200300" cy="1953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50" name="Google Shape;2250;p69"/>
          <p:cNvSpPr/>
          <p:nvPr/>
        </p:nvSpPr>
        <p:spPr>
          <a:xfrm>
            <a:off x="660288" y="4473002"/>
            <a:ext cx="1200300" cy="1953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51" name="Google Shape;2251;p69"/>
          <p:cNvSpPr/>
          <p:nvPr/>
        </p:nvSpPr>
        <p:spPr>
          <a:xfrm>
            <a:off x="660301" y="4277470"/>
            <a:ext cx="1200300" cy="1953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52" name="Google Shape;2252;p69"/>
          <p:cNvSpPr/>
          <p:nvPr/>
        </p:nvSpPr>
        <p:spPr>
          <a:xfrm>
            <a:off x="660293" y="4081938"/>
            <a:ext cx="1200300" cy="1953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53" name="Google Shape;2253;p69"/>
          <p:cNvSpPr/>
          <p:nvPr/>
        </p:nvSpPr>
        <p:spPr>
          <a:xfrm>
            <a:off x="660295" y="4864066"/>
            <a:ext cx="1200300" cy="1953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2254" name="Google Shape;2254;p69"/>
          <p:cNvCxnSpPr/>
          <p:nvPr/>
        </p:nvCxnSpPr>
        <p:spPr>
          <a:xfrm flipH="1" rot="10800000">
            <a:off x="2965350" y="1945279"/>
            <a:ext cx="654300" cy="4047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255" name="Google Shape;2255;p69"/>
          <p:cNvCxnSpPr/>
          <p:nvPr/>
        </p:nvCxnSpPr>
        <p:spPr>
          <a:xfrm>
            <a:off x="3105475" y="2806066"/>
            <a:ext cx="618600" cy="4659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256" name="Google Shape;2256;p69"/>
          <p:cNvCxnSpPr/>
          <p:nvPr/>
        </p:nvCxnSpPr>
        <p:spPr>
          <a:xfrm>
            <a:off x="2743200" y="2844766"/>
            <a:ext cx="266700" cy="6486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257" name="Google Shape;2257;p69"/>
          <p:cNvCxnSpPr/>
          <p:nvPr/>
        </p:nvCxnSpPr>
        <p:spPr>
          <a:xfrm>
            <a:off x="3170667" y="2544857"/>
            <a:ext cx="711600" cy="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1" name="Shape 2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2" name="Google Shape;2262;p70"/>
          <p:cNvSpPr/>
          <p:nvPr/>
        </p:nvSpPr>
        <p:spPr>
          <a:xfrm>
            <a:off x="2698796" y="2451180"/>
            <a:ext cx="393600" cy="393600"/>
          </a:xfrm>
          <a:prstGeom prst="ellipse">
            <a:avLst/>
          </a:prstGeom>
          <a:solidFill>
            <a:srgbClr val="D9D2E9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5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63" name="Google Shape;2263;p70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Mesh Topology</a:t>
            </a:r>
            <a:endParaRPr/>
          </a:p>
        </p:txBody>
      </p:sp>
      <p:sp>
        <p:nvSpPr>
          <p:cNvPr id="2264" name="Google Shape;2264;p70"/>
          <p:cNvSpPr txBox="1"/>
          <p:nvPr>
            <p:ph idx="1" type="body"/>
          </p:nvPr>
        </p:nvSpPr>
        <p:spPr>
          <a:xfrm>
            <a:off x="107050" y="402200"/>
            <a:ext cx="8909700" cy="65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2. Each node independently sums up all the vectors.</a:t>
            </a:r>
            <a:endParaRPr/>
          </a:p>
        </p:txBody>
      </p:sp>
      <p:sp>
        <p:nvSpPr>
          <p:cNvPr id="2265" name="Google Shape;2265;p70"/>
          <p:cNvSpPr/>
          <p:nvPr/>
        </p:nvSpPr>
        <p:spPr>
          <a:xfrm>
            <a:off x="3384605" y="4508585"/>
            <a:ext cx="393600" cy="393600"/>
          </a:xfrm>
          <a:prstGeom prst="ellipse">
            <a:avLst/>
          </a:prstGeom>
          <a:solidFill>
            <a:srgbClr val="D9EAD3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4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66" name="Google Shape;2266;p70"/>
          <p:cNvSpPr/>
          <p:nvPr/>
        </p:nvSpPr>
        <p:spPr>
          <a:xfrm>
            <a:off x="5365805" y="4508575"/>
            <a:ext cx="393600" cy="393600"/>
          </a:xfrm>
          <a:prstGeom prst="ellipse">
            <a:avLst/>
          </a:prstGeom>
          <a:solidFill>
            <a:srgbClr val="F4CCCC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3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67" name="Google Shape;2267;p70"/>
          <p:cNvSpPr/>
          <p:nvPr/>
        </p:nvSpPr>
        <p:spPr>
          <a:xfrm>
            <a:off x="4375205" y="1308175"/>
            <a:ext cx="393600" cy="393600"/>
          </a:xfrm>
          <a:prstGeom prst="ellipse">
            <a:avLst/>
          </a:prstGeom>
          <a:solidFill>
            <a:srgbClr val="FCE5CD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1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68" name="Google Shape;2268;p70"/>
          <p:cNvSpPr/>
          <p:nvPr/>
        </p:nvSpPr>
        <p:spPr>
          <a:xfrm>
            <a:off x="6051605" y="2451175"/>
            <a:ext cx="393600" cy="3936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2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269" name="Google Shape;2269;p70"/>
          <p:cNvCxnSpPr>
            <a:stCxn id="2262" idx="7"/>
            <a:endCxn id="2267" idx="3"/>
          </p:cNvCxnSpPr>
          <p:nvPr/>
        </p:nvCxnSpPr>
        <p:spPr>
          <a:xfrm flipH="1" rot="10800000">
            <a:off x="3034755" y="1644221"/>
            <a:ext cx="1398000" cy="864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70" name="Google Shape;2270;p70"/>
          <p:cNvCxnSpPr>
            <a:stCxn id="2268" idx="1"/>
            <a:endCxn id="2267" idx="5"/>
          </p:cNvCxnSpPr>
          <p:nvPr/>
        </p:nvCxnSpPr>
        <p:spPr>
          <a:xfrm rot="10800000">
            <a:off x="4711247" y="1644216"/>
            <a:ext cx="1398000" cy="864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71" name="Google Shape;2271;p70"/>
          <p:cNvCxnSpPr>
            <a:stCxn id="2266" idx="0"/>
            <a:endCxn id="2268" idx="4"/>
          </p:cNvCxnSpPr>
          <p:nvPr/>
        </p:nvCxnSpPr>
        <p:spPr>
          <a:xfrm flipH="1" rot="10800000">
            <a:off x="5562605" y="2844775"/>
            <a:ext cx="685800" cy="1663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72" name="Google Shape;2272;p70"/>
          <p:cNvCxnSpPr>
            <a:stCxn id="2265" idx="6"/>
            <a:endCxn id="2266" idx="2"/>
          </p:cNvCxnSpPr>
          <p:nvPr/>
        </p:nvCxnSpPr>
        <p:spPr>
          <a:xfrm>
            <a:off x="3778205" y="4705385"/>
            <a:ext cx="15876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73" name="Google Shape;2273;p70"/>
          <p:cNvCxnSpPr>
            <a:stCxn id="2262" idx="4"/>
            <a:endCxn id="2265" idx="0"/>
          </p:cNvCxnSpPr>
          <p:nvPr/>
        </p:nvCxnSpPr>
        <p:spPr>
          <a:xfrm>
            <a:off x="2895596" y="2844780"/>
            <a:ext cx="685800" cy="1663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74" name="Google Shape;2274;p70"/>
          <p:cNvCxnSpPr>
            <a:stCxn id="2262" idx="6"/>
            <a:endCxn id="2266" idx="0"/>
          </p:cNvCxnSpPr>
          <p:nvPr/>
        </p:nvCxnSpPr>
        <p:spPr>
          <a:xfrm>
            <a:off x="3092396" y="2647980"/>
            <a:ext cx="2470200" cy="1860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75" name="Google Shape;2275;p70"/>
          <p:cNvCxnSpPr>
            <a:stCxn id="2268" idx="2"/>
            <a:endCxn id="2265" idx="0"/>
          </p:cNvCxnSpPr>
          <p:nvPr/>
        </p:nvCxnSpPr>
        <p:spPr>
          <a:xfrm flipH="1">
            <a:off x="3581405" y="2647975"/>
            <a:ext cx="2470200" cy="1860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76" name="Google Shape;2276;p70"/>
          <p:cNvCxnSpPr>
            <a:stCxn id="2267" idx="4"/>
            <a:endCxn id="2265" idx="0"/>
          </p:cNvCxnSpPr>
          <p:nvPr/>
        </p:nvCxnSpPr>
        <p:spPr>
          <a:xfrm flipH="1">
            <a:off x="3581405" y="1701775"/>
            <a:ext cx="990600" cy="2806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77" name="Google Shape;2277;p70"/>
          <p:cNvCxnSpPr>
            <a:stCxn id="2267" idx="4"/>
            <a:endCxn id="2266" idx="0"/>
          </p:cNvCxnSpPr>
          <p:nvPr/>
        </p:nvCxnSpPr>
        <p:spPr>
          <a:xfrm>
            <a:off x="4572005" y="1701775"/>
            <a:ext cx="990600" cy="2806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78" name="Google Shape;2278;p70"/>
          <p:cNvCxnSpPr>
            <a:stCxn id="2268" idx="2"/>
            <a:endCxn id="2262" idx="6"/>
          </p:cNvCxnSpPr>
          <p:nvPr/>
        </p:nvCxnSpPr>
        <p:spPr>
          <a:xfrm rot="10800000">
            <a:off x="3092405" y="2647975"/>
            <a:ext cx="29592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79" name="Google Shape;2279;p70"/>
          <p:cNvSpPr/>
          <p:nvPr/>
        </p:nvSpPr>
        <p:spPr>
          <a:xfrm>
            <a:off x="965095" y="2593447"/>
            <a:ext cx="1200300" cy="1953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80" name="Google Shape;2280;p70"/>
          <p:cNvSpPr/>
          <p:nvPr/>
        </p:nvSpPr>
        <p:spPr>
          <a:xfrm>
            <a:off x="965088" y="2397915"/>
            <a:ext cx="1200300" cy="1953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81" name="Google Shape;2281;p70"/>
          <p:cNvSpPr/>
          <p:nvPr/>
        </p:nvSpPr>
        <p:spPr>
          <a:xfrm>
            <a:off x="965101" y="2202382"/>
            <a:ext cx="1200300" cy="1953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82" name="Google Shape;2282;p70"/>
          <p:cNvSpPr/>
          <p:nvPr/>
        </p:nvSpPr>
        <p:spPr>
          <a:xfrm>
            <a:off x="965093" y="2006850"/>
            <a:ext cx="1200300" cy="1953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83" name="Google Shape;2283;p70"/>
          <p:cNvSpPr/>
          <p:nvPr/>
        </p:nvSpPr>
        <p:spPr>
          <a:xfrm>
            <a:off x="965095" y="2788979"/>
            <a:ext cx="1200300" cy="1953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 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 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 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 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84" name="Google Shape;2284;p70"/>
          <p:cNvSpPr/>
          <p:nvPr/>
        </p:nvSpPr>
        <p:spPr>
          <a:xfrm>
            <a:off x="965095" y="4358960"/>
            <a:ext cx="1200300" cy="1953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85" name="Google Shape;2285;p70"/>
          <p:cNvSpPr/>
          <p:nvPr/>
        </p:nvSpPr>
        <p:spPr>
          <a:xfrm>
            <a:off x="965088" y="4163427"/>
            <a:ext cx="1200300" cy="1953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86" name="Google Shape;2286;p70"/>
          <p:cNvSpPr/>
          <p:nvPr/>
        </p:nvSpPr>
        <p:spPr>
          <a:xfrm>
            <a:off x="965101" y="3967895"/>
            <a:ext cx="1200300" cy="1953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87" name="Google Shape;2287;p70"/>
          <p:cNvSpPr/>
          <p:nvPr/>
        </p:nvSpPr>
        <p:spPr>
          <a:xfrm>
            <a:off x="965093" y="3772363"/>
            <a:ext cx="1200300" cy="1953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88" name="Google Shape;2288;p70"/>
          <p:cNvSpPr/>
          <p:nvPr/>
        </p:nvSpPr>
        <p:spPr>
          <a:xfrm>
            <a:off x="965095" y="4554491"/>
            <a:ext cx="1200300" cy="1953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 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 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 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 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89" name="Google Shape;2289;p70"/>
          <p:cNvSpPr/>
          <p:nvPr/>
        </p:nvSpPr>
        <p:spPr>
          <a:xfrm>
            <a:off x="6978595" y="4358947"/>
            <a:ext cx="1200300" cy="1953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90" name="Google Shape;2290;p70"/>
          <p:cNvSpPr/>
          <p:nvPr/>
        </p:nvSpPr>
        <p:spPr>
          <a:xfrm>
            <a:off x="6978588" y="4163415"/>
            <a:ext cx="1200300" cy="1953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91" name="Google Shape;2291;p70"/>
          <p:cNvSpPr/>
          <p:nvPr/>
        </p:nvSpPr>
        <p:spPr>
          <a:xfrm>
            <a:off x="6978601" y="3967882"/>
            <a:ext cx="1200300" cy="1953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92" name="Google Shape;2292;p70"/>
          <p:cNvSpPr/>
          <p:nvPr/>
        </p:nvSpPr>
        <p:spPr>
          <a:xfrm>
            <a:off x="6978593" y="3772350"/>
            <a:ext cx="1200300" cy="1953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93" name="Google Shape;2293;p70"/>
          <p:cNvSpPr/>
          <p:nvPr/>
        </p:nvSpPr>
        <p:spPr>
          <a:xfrm>
            <a:off x="6978595" y="4554479"/>
            <a:ext cx="1200300" cy="1953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 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 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 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 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94" name="Google Shape;2294;p70"/>
          <p:cNvSpPr/>
          <p:nvPr/>
        </p:nvSpPr>
        <p:spPr>
          <a:xfrm>
            <a:off x="6978595" y="2745860"/>
            <a:ext cx="1200300" cy="1953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95" name="Google Shape;2295;p70"/>
          <p:cNvSpPr/>
          <p:nvPr/>
        </p:nvSpPr>
        <p:spPr>
          <a:xfrm>
            <a:off x="6978588" y="2550327"/>
            <a:ext cx="1200300" cy="1953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96" name="Google Shape;2296;p70"/>
          <p:cNvSpPr/>
          <p:nvPr/>
        </p:nvSpPr>
        <p:spPr>
          <a:xfrm>
            <a:off x="6978601" y="2354795"/>
            <a:ext cx="1200300" cy="1953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97" name="Google Shape;2297;p70"/>
          <p:cNvSpPr/>
          <p:nvPr/>
        </p:nvSpPr>
        <p:spPr>
          <a:xfrm>
            <a:off x="6978593" y="2159263"/>
            <a:ext cx="1200300" cy="1953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98" name="Google Shape;2298;p70"/>
          <p:cNvSpPr/>
          <p:nvPr/>
        </p:nvSpPr>
        <p:spPr>
          <a:xfrm>
            <a:off x="6978595" y="2941391"/>
            <a:ext cx="1200300" cy="1953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 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 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 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 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99" name="Google Shape;2299;p70"/>
          <p:cNvSpPr/>
          <p:nvPr/>
        </p:nvSpPr>
        <p:spPr>
          <a:xfrm>
            <a:off x="5725220" y="1290460"/>
            <a:ext cx="1200300" cy="1953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00" name="Google Shape;2300;p70"/>
          <p:cNvSpPr/>
          <p:nvPr/>
        </p:nvSpPr>
        <p:spPr>
          <a:xfrm>
            <a:off x="5725213" y="1094927"/>
            <a:ext cx="1200300" cy="1953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01" name="Google Shape;2301;p70"/>
          <p:cNvSpPr/>
          <p:nvPr/>
        </p:nvSpPr>
        <p:spPr>
          <a:xfrm>
            <a:off x="5725226" y="899395"/>
            <a:ext cx="1200300" cy="1953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02" name="Google Shape;2302;p70"/>
          <p:cNvSpPr/>
          <p:nvPr/>
        </p:nvSpPr>
        <p:spPr>
          <a:xfrm>
            <a:off x="5725218" y="703863"/>
            <a:ext cx="1200300" cy="1953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03" name="Google Shape;2303;p70"/>
          <p:cNvSpPr/>
          <p:nvPr/>
        </p:nvSpPr>
        <p:spPr>
          <a:xfrm>
            <a:off x="5725220" y="1485991"/>
            <a:ext cx="1200300" cy="1953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 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 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 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 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7" name="Shape 2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8" name="Google Shape;2308;p71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Mesh Topology: Efficiency</a:t>
            </a:r>
            <a:endParaRPr/>
          </a:p>
        </p:txBody>
      </p:sp>
      <p:sp>
        <p:nvSpPr>
          <p:cNvPr id="2309" name="Google Shape;2309;p71"/>
          <p:cNvSpPr txBox="1"/>
          <p:nvPr>
            <p:ph idx="1" type="body"/>
          </p:nvPr>
        </p:nvSpPr>
        <p:spPr>
          <a:xfrm>
            <a:off x="107050" y="402200"/>
            <a:ext cx="8909700" cy="204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Total bandwidth:	Each node sends its whole vector (</a:t>
            </a:r>
            <a:r>
              <a:rPr i="1" lang="en"/>
              <a:t>D</a:t>
            </a:r>
            <a:r>
              <a:rPr lang="en"/>
              <a:t> bytes) to all </a:t>
            </a:r>
            <a:r>
              <a:rPr i="1" lang="en"/>
              <a:t>p</a:t>
            </a:r>
            <a:r>
              <a:rPr lang="en"/>
              <a:t>–1 other nodes.</a:t>
            </a:r>
            <a:br>
              <a:rPr lang="en"/>
            </a:br>
            <a:r>
              <a:rPr lang="en"/>
              <a:t>				There are </a:t>
            </a:r>
            <a:r>
              <a:rPr i="1" lang="en"/>
              <a:t>p</a:t>
            </a:r>
            <a:r>
              <a:rPr lang="en"/>
              <a:t> nodes in total.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Number of steps:	Everyone can simultaneously send their vector to everyone else.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Bandwidth per step: Send </a:t>
            </a:r>
            <a:r>
              <a:rPr i="1" lang="en"/>
              <a:t>D</a:t>
            </a:r>
            <a:r>
              <a:rPr lang="en"/>
              <a:t> bytes to </a:t>
            </a:r>
            <a:r>
              <a:rPr i="1" lang="en"/>
              <a:t>p</a:t>
            </a:r>
            <a:r>
              <a:rPr lang="en"/>
              <a:t>–1 other nodes.</a:t>
            </a:r>
            <a:endParaRPr/>
          </a:p>
        </p:txBody>
      </p:sp>
      <p:graphicFrame>
        <p:nvGraphicFramePr>
          <p:cNvPr id="2310" name="Google Shape;2310;p71"/>
          <p:cNvGraphicFramePr/>
          <p:nvPr/>
        </p:nvGraphicFramePr>
        <p:xfrm>
          <a:off x="952500" y="25593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{B9A57BFC-BF9F-44FD-95FC-58D745B5DC61}</a:tableStyleId>
              </a:tblPr>
              <a:tblGrid>
                <a:gridCol w="1809750"/>
                <a:gridCol w="1809750"/>
                <a:gridCol w="1809750"/>
                <a:gridCol w="18097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Total Bandwidth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Number of Steps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Bandwidth Per Step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Mesh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Dp</a:t>
                      </a:r>
                      <a:r>
                        <a:rPr baseline="30000"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2</a:t>
                      </a:r>
                      <a:endParaRPr baseline="300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1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Dp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4" name="Shape 2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5" name="Google Shape;2315;p72"/>
          <p:cNvSpPr txBox="1"/>
          <p:nvPr>
            <p:ph idx="1" type="body"/>
          </p:nvPr>
        </p:nvSpPr>
        <p:spPr>
          <a:xfrm>
            <a:off x="4812375" y="402200"/>
            <a:ext cx="4038000" cy="426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</a:rPr>
              <a:t>Distributed AI Training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Motivation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Infrastructure</a:t>
            </a:r>
            <a:endParaRPr>
              <a:solidFill>
                <a:srgbClr val="B7B7B7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</a:rPr>
              <a:t>Defining Collectives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Definition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Redistribution Operations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Consolidation Operations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Duals and Compositions</a:t>
            </a:r>
            <a:endParaRPr>
              <a:solidFill>
                <a:srgbClr val="B7B7B7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Implementing Collectives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Mesh Topology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Roboto"/>
              <a:buChar char="•"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Single Root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Tree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Ring (Naive)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Ring (Optimized)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Overlay/Underlay Topologies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16" name="Google Shape;2316;p72"/>
          <p:cNvSpPr txBox="1"/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AllReduce with Single Root</a:t>
            </a:r>
            <a:endParaRPr/>
          </a:p>
        </p:txBody>
      </p:sp>
      <p:sp>
        <p:nvSpPr>
          <p:cNvPr id="2317" name="Google Shape;2317;p72"/>
          <p:cNvSpPr txBox="1"/>
          <p:nvPr>
            <p:ph idx="2" type="subTitle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Lecture 23</a:t>
            </a:r>
            <a:r>
              <a:rPr lang="en"/>
              <a:t>, CS 168, </a:t>
            </a:r>
            <a:r>
              <a:rPr lang="en"/>
              <a:t>Spring 2026</a:t>
            </a:r>
            <a:endParaRPr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1" name="Shape 2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2" name="Google Shape;2322;p73"/>
          <p:cNvSpPr/>
          <p:nvPr/>
        </p:nvSpPr>
        <p:spPr>
          <a:xfrm>
            <a:off x="1631996" y="2832180"/>
            <a:ext cx="393600" cy="3936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2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23" name="Google Shape;2323;p73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Mesh Topology</a:t>
            </a:r>
            <a:endParaRPr/>
          </a:p>
        </p:txBody>
      </p:sp>
      <p:sp>
        <p:nvSpPr>
          <p:cNvPr id="2324" name="Google Shape;2324;p73"/>
          <p:cNvSpPr txBox="1"/>
          <p:nvPr>
            <p:ph idx="1" type="body"/>
          </p:nvPr>
        </p:nvSpPr>
        <p:spPr>
          <a:xfrm>
            <a:off x="-7681050" y="2699275"/>
            <a:ext cx="8909700" cy="65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1. Everyone sends their vector to a single root.</a:t>
            </a:r>
            <a:endParaRPr/>
          </a:p>
        </p:txBody>
      </p:sp>
      <p:sp>
        <p:nvSpPr>
          <p:cNvPr id="2325" name="Google Shape;2325;p73"/>
          <p:cNvSpPr/>
          <p:nvPr/>
        </p:nvSpPr>
        <p:spPr>
          <a:xfrm>
            <a:off x="5289605" y="2832185"/>
            <a:ext cx="393600" cy="393600"/>
          </a:xfrm>
          <a:prstGeom prst="ellipse">
            <a:avLst/>
          </a:prstGeom>
          <a:solidFill>
            <a:srgbClr val="D9EAD3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4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26" name="Google Shape;2326;p73"/>
          <p:cNvSpPr/>
          <p:nvPr/>
        </p:nvSpPr>
        <p:spPr>
          <a:xfrm>
            <a:off x="3460805" y="2832175"/>
            <a:ext cx="393600" cy="393600"/>
          </a:xfrm>
          <a:prstGeom prst="ellipse">
            <a:avLst/>
          </a:prstGeom>
          <a:solidFill>
            <a:srgbClr val="F4CCCC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3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27" name="Google Shape;2327;p73"/>
          <p:cNvSpPr/>
          <p:nvPr/>
        </p:nvSpPr>
        <p:spPr>
          <a:xfrm>
            <a:off x="4375205" y="1308175"/>
            <a:ext cx="393600" cy="393600"/>
          </a:xfrm>
          <a:prstGeom prst="ellipse">
            <a:avLst/>
          </a:prstGeom>
          <a:solidFill>
            <a:srgbClr val="FCE5CD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1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28" name="Google Shape;2328;p73"/>
          <p:cNvSpPr/>
          <p:nvPr/>
        </p:nvSpPr>
        <p:spPr>
          <a:xfrm>
            <a:off x="7118405" y="2832175"/>
            <a:ext cx="393600" cy="393600"/>
          </a:xfrm>
          <a:prstGeom prst="ellipse">
            <a:avLst/>
          </a:prstGeom>
          <a:solidFill>
            <a:srgbClr val="D9D2E9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5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329" name="Google Shape;2329;p73"/>
          <p:cNvCxnSpPr>
            <a:stCxn id="2322" idx="0"/>
            <a:endCxn id="2327" idx="4"/>
          </p:cNvCxnSpPr>
          <p:nvPr/>
        </p:nvCxnSpPr>
        <p:spPr>
          <a:xfrm flipH="1" rot="10800000">
            <a:off x="1828796" y="1701780"/>
            <a:ext cx="2743200" cy="11304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30" name="Google Shape;2330;p73"/>
          <p:cNvCxnSpPr>
            <a:stCxn id="2328" idx="0"/>
            <a:endCxn id="2327" idx="4"/>
          </p:cNvCxnSpPr>
          <p:nvPr/>
        </p:nvCxnSpPr>
        <p:spPr>
          <a:xfrm rot="10800000">
            <a:off x="4572005" y="1701775"/>
            <a:ext cx="2743200" cy="11304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31" name="Google Shape;2331;p73"/>
          <p:cNvSpPr/>
          <p:nvPr/>
        </p:nvSpPr>
        <p:spPr>
          <a:xfrm>
            <a:off x="1228645" y="4117160"/>
            <a:ext cx="1200300" cy="1953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32" name="Google Shape;2332;p73"/>
          <p:cNvSpPr/>
          <p:nvPr/>
        </p:nvSpPr>
        <p:spPr>
          <a:xfrm>
            <a:off x="1228638" y="3921627"/>
            <a:ext cx="1200300" cy="1953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33" name="Google Shape;2333;p73"/>
          <p:cNvSpPr/>
          <p:nvPr/>
        </p:nvSpPr>
        <p:spPr>
          <a:xfrm>
            <a:off x="1228651" y="3726095"/>
            <a:ext cx="1200300" cy="1953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34" name="Google Shape;2334;p73"/>
          <p:cNvSpPr/>
          <p:nvPr/>
        </p:nvSpPr>
        <p:spPr>
          <a:xfrm>
            <a:off x="1228643" y="3530563"/>
            <a:ext cx="1200300" cy="1953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35" name="Google Shape;2335;p73"/>
          <p:cNvSpPr/>
          <p:nvPr/>
        </p:nvSpPr>
        <p:spPr>
          <a:xfrm>
            <a:off x="1228645" y="4312691"/>
            <a:ext cx="1200300" cy="1953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36" name="Google Shape;2336;p73"/>
          <p:cNvSpPr/>
          <p:nvPr/>
        </p:nvSpPr>
        <p:spPr>
          <a:xfrm>
            <a:off x="6715045" y="4117172"/>
            <a:ext cx="1200300" cy="1953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37" name="Google Shape;2337;p73"/>
          <p:cNvSpPr/>
          <p:nvPr/>
        </p:nvSpPr>
        <p:spPr>
          <a:xfrm>
            <a:off x="6715038" y="3921640"/>
            <a:ext cx="1200300" cy="1953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38" name="Google Shape;2338;p73"/>
          <p:cNvSpPr/>
          <p:nvPr/>
        </p:nvSpPr>
        <p:spPr>
          <a:xfrm>
            <a:off x="6715051" y="3726107"/>
            <a:ext cx="1200300" cy="1953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39" name="Google Shape;2339;p73"/>
          <p:cNvSpPr/>
          <p:nvPr/>
        </p:nvSpPr>
        <p:spPr>
          <a:xfrm>
            <a:off x="6715043" y="3530575"/>
            <a:ext cx="1200300" cy="1953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40" name="Google Shape;2340;p73"/>
          <p:cNvSpPr/>
          <p:nvPr/>
        </p:nvSpPr>
        <p:spPr>
          <a:xfrm>
            <a:off x="6715045" y="4312704"/>
            <a:ext cx="1200300" cy="1953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41" name="Google Shape;2341;p73"/>
          <p:cNvSpPr/>
          <p:nvPr/>
        </p:nvSpPr>
        <p:spPr>
          <a:xfrm>
            <a:off x="4886245" y="4117172"/>
            <a:ext cx="1200300" cy="1953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42" name="Google Shape;2342;p73"/>
          <p:cNvSpPr/>
          <p:nvPr/>
        </p:nvSpPr>
        <p:spPr>
          <a:xfrm>
            <a:off x="4886238" y="3921640"/>
            <a:ext cx="1200300" cy="1953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43" name="Google Shape;2343;p73"/>
          <p:cNvSpPr/>
          <p:nvPr/>
        </p:nvSpPr>
        <p:spPr>
          <a:xfrm>
            <a:off x="4886251" y="3726107"/>
            <a:ext cx="1200300" cy="1953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44" name="Google Shape;2344;p73"/>
          <p:cNvSpPr/>
          <p:nvPr/>
        </p:nvSpPr>
        <p:spPr>
          <a:xfrm>
            <a:off x="4886243" y="3530575"/>
            <a:ext cx="1200300" cy="1953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45" name="Google Shape;2345;p73"/>
          <p:cNvSpPr/>
          <p:nvPr/>
        </p:nvSpPr>
        <p:spPr>
          <a:xfrm>
            <a:off x="4886245" y="4312704"/>
            <a:ext cx="1200300" cy="1953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46" name="Google Shape;2346;p73"/>
          <p:cNvSpPr/>
          <p:nvPr/>
        </p:nvSpPr>
        <p:spPr>
          <a:xfrm>
            <a:off x="3057445" y="4117160"/>
            <a:ext cx="1200300" cy="1953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47" name="Google Shape;2347;p73"/>
          <p:cNvSpPr/>
          <p:nvPr/>
        </p:nvSpPr>
        <p:spPr>
          <a:xfrm>
            <a:off x="3057438" y="3921627"/>
            <a:ext cx="1200300" cy="1953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48" name="Google Shape;2348;p73"/>
          <p:cNvSpPr/>
          <p:nvPr/>
        </p:nvSpPr>
        <p:spPr>
          <a:xfrm>
            <a:off x="3057451" y="3726095"/>
            <a:ext cx="1200300" cy="1953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49" name="Google Shape;2349;p73"/>
          <p:cNvSpPr/>
          <p:nvPr/>
        </p:nvSpPr>
        <p:spPr>
          <a:xfrm>
            <a:off x="3057443" y="3530563"/>
            <a:ext cx="1200300" cy="1953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50" name="Google Shape;2350;p73"/>
          <p:cNvSpPr/>
          <p:nvPr/>
        </p:nvSpPr>
        <p:spPr>
          <a:xfrm>
            <a:off x="3057445" y="4312691"/>
            <a:ext cx="1200300" cy="1953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51" name="Google Shape;2351;p73"/>
          <p:cNvSpPr/>
          <p:nvPr/>
        </p:nvSpPr>
        <p:spPr>
          <a:xfrm>
            <a:off x="5725220" y="1290455"/>
            <a:ext cx="1200300" cy="1953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52" name="Google Shape;2352;p73"/>
          <p:cNvSpPr/>
          <p:nvPr/>
        </p:nvSpPr>
        <p:spPr>
          <a:xfrm>
            <a:off x="5725213" y="1094923"/>
            <a:ext cx="1200300" cy="1953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53" name="Google Shape;2353;p73"/>
          <p:cNvSpPr/>
          <p:nvPr/>
        </p:nvSpPr>
        <p:spPr>
          <a:xfrm>
            <a:off x="5725226" y="899390"/>
            <a:ext cx="1200300" cy="1953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54" name="Google Shape;2354;p73"/>
          <p:cNvSpPr/>
          <p:nvPr/>
        </p:nvSpPr>
        <p:spPr>
          <a:xfrm>
            <a:off x="5725218" y="703858"/>
            <a:ext cx="1200300" cy="1953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55" name="Google Shape;2355;p73"/>
          <p:cNvSpPr/>
          <p:nvPr/>
        </p:nvSpPr>
        <p:spPr>
          <a:xfrm>
            <a:off x="5725220" y="1485987"/>
            <a:ext cx="1200300" cy="1953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2356" name="Google Shape;2356;p73"/>
          <p:cNvCxnSpPr>
            <a:stCxn id="2326" idx="0"/>
            <a:endCxn id="2327" idx="4"/>
          </p:cNvCxnSpPr>
          <p:nvPr/>
        </p:nvCxnSpPr>
        <p:spPr>
          <a:xfrm flipH="1" rot="10800000">
            <a:off x="3657605" y="1701775"/>
            <a:ext cx="914400" cy="11304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57" name="Google Shape;2357;p73"/>
          <p:cNvCxnSpPr>
            <a:stCxn id="2325" idx="0"/>
            <a:endCxn id="2327" idx="4"/>
          </p:cNvCxnSpPr>
          <p:nvPr/>
        </p:nvCxnSpPr>
        <p:spPr>
          <a:xfrm rot="10800000">
            <a:off x="4572005" y="1701785"/>
            <a:ext cx="914400" cy="11304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1" name="Shape 2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2" name="Google Shape;2362;p74"/>
          <p:cNvSpPr/>
          <p:nvPr/>
        </p:nvSpPr>
        <p:spPr>
          <a:xfrm>
            <a:off x="1631996" y="2832180"/>
            <a:ext cx="393600" cy="3936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2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63" name="Google Shape;2363;p74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Mesh Topology</a:t>
            </a:r>
            <a:endParaRPr/>
          </a:p>
        </p:txBody>
      </p:sp>
      <p:sp>
        <p:nvSpPr>
          <p:cNvPr id="2364" name="Google Shape;2364;p74"/>
          <p:cNvSpPr txBox="1"/>
          <p:nvPr>
            <p:ph idx="1" type="body"/>
          </p:nvPr>
        </p:nvSpPr>
        <p:spPr>
          <a:xfrm>
            <a:off x="107050" y="402200"/>
            <a:ext cx="8909700" cy="65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1. Everyone sends their vector to a single root.</a:t>
            </a:r>
            <a:endParaRPr/>
          </a:p>
        </p:txBody>
      </p:sp>
      <p:sp>
        <p:nvSpPr>
          <p:cNvPr id="2365" name="Google Shape;2365;p74"/>
          <p:cNvSpPr/>
          <p:nvPr/>
        </p:nvSpPr>
        <p:spPr>
          <a:xfrm>
            <a:off x="5289605" y="2832185"/>
            <a:ext cx="393600" cy="393600"/>
          </a:xfrm>
          <a:prstGeom prst="ellipse">
            <a:avLst/>
          </a:prstGeom>
          <a:solidFill>
            <a:srgbClr val="D9EAD3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4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66" name="Google Shape;2366;p74"/>
          <p:cNvSpPr/>
          <p:nvPr/>
        </p:nvSpPr>
        <p:spPr>
          <a:xfrm>
            <a:off x="3460805" y="2832175"/>
            <a:ext cx="393600" cy="393600"/>
          </a:xfrm>
          <a:prstGeom prst="ellipse">
            <a:avLst/>
          </a:prstGeom>
          <a:solidFill>
            <a:srgbClr val="F4CCCC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3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67" name="Google Shape;2367;p74"/>
          <p:cNvSpPr/>
          <p:nvPr/>
        </p:nvSpPr>
        <p:spPr>
          <a:xfrm>
            <a:off x="4375205" y="1308175"/>
            <a:ext cx="393600" cy="393600"/>
          </a:xfrm>
          <a:prstGeom prst="ellipse">
            <a:avLst/>
          </a:prstGeom>
          <a:solidFill>
            <a:srgbClr val="FCE5CD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1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68" name="Google Shape;2368;p74"/>
          <p:cNvSpPr/>
          <p:nvPr/>
        </p:nvSpPr>
        <p:spPr>
          <a:xfrm>
            <a:off x="7118405" y="2832175"/>
            <a:ext cx="393600" cy="393600"/>
          </a:xfrm>
          <a:prstGeom prst="ellipse">
            <a:avLst/>
          </a:prstGeom>
          <a:solidFill>
            <a:srgbClr val="D9D2E9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5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369" name="Google Shape;2369;p74"/>
          <p:cNvCxnSpPr>
            <a:stCxn id="2362" idx="0"/>
            <a:endCxn id="2367" idx="4"/>
          </p:cNvCxnSpPr>
          <p:nvPr/>
        </p:nvCxnSpPr>
        <p:spPr>
          <a:xfrm flipH="1" rot="10800000">
            <a:off x="1828796" y="1701780"/>
            <a:ext cx="2743200" cy="11304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70" name="Google Shape;2370;p74"/>
          <p:cNvCxnSpPr>
            <a:stCxn id="2368" idx="0"/>
            <a:endCxn id="2367" idx="4"/>
          </p:cNvCxnSpPr>
          <p:nvPr/>
        </p:nvCxnSpPr>
        <p:spPr>
          <a:xfrm rot="10800000">
            <a:off x="4572005" y="1701775"/>
            <a:ext cx="2743200" cy="11304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71" name="Google Shape;2371;p74"/>
          <p:cNvSpPr/>
          <p:nvPr/>
        </p:nvSpPr>
        <p:spPr>
          <a:xfrm>
            <a:off x="5725220" y="1290455"/>
            <a:ext cx="1200300" cy="1953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72" name="Google Shape;2372;p74"/>
          <p:cNvSpPr/>
          <p:nvPr/>
        </p:nvSpPr>
        <p:spPr>
          <a:xfrm>
            <a:off x="5725213" y="1094923"/>
            <a:ext cx="1200300" cy="1953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73" name="Google Shape;2373;p74"/>
          <p:cNvSpPr/>
          <p:nvPr/>
        </p:nvSpPr>
        <p:spPr>
          <a:xfrm>
            <a:off x="5725226" y="899390"/>
            <a:ext cx="1200300" cy="1953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74" name="Google Shape;2374;p74"/>
          <p:cNvSpPr/>
          <p:nvPr/>
        </p:nvSpPr>
        <p:spPr>
          <a:xfrm>
            <a:off x="5725218" y="703858"/>
            <a:ext cx="1200300" cy="1953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75" name="Google Shape;2375;p74"/>
          <p:cNvSpPr/>
          <p:nvPr/>
        </p:nvSpPr>
        <p:spPr>
          <a:xfrm>
            <a:off x="5725220" y="1485987"/>
            <a:ext cx="1200300" cy="1953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2376" name="Google Shape;2376;p74"/>
          <p:cNvCxnSpPr>
            <a:stCxn id="2366" idx="0"/>
            <a:endCxn id="2367" idx="4"/>
          </p:cNvCxnSpPr>
          <p:nvPr/>
        </p:nvCxnSpPr>
        <p:spPr>
          <a:xfrm flipH="1" rot="10800000">
            <a:off x="3657605" y="1701775"/>
            <a:ext cx="914400" cy="11304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77" name="Google Shape;2377;p74"/>
          <p:cNvCxnSpPr>
            <a:stCxn id="2365" idx="0"/>
            <a:endCxn id="2367" idx="4"/>
          </p:cNvCxnSpPr>
          <p:nvPr/>
        </p:nvCxnSpPr>
        <p:spPr>
          <a:xfrm rot="10800000">
            <a:off x="4572005" y="1701785"/>
            <a:ext cx="914400" cy="11304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78" name="Google Shape;2378;p74"/>
          <p:cNvSpPr/>
          <p:nvPr/>
        </p:nvSpPr>
        <p:spPr>
          <a:xfrm>
            <a:off x="5649020" y="1366647"/>
            <a:ext cx="1200300" cy="1953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79" name="Google Shape;2379;p74"/>
          <p:cNvSpPr/>
          <p:nvPr/>
        </p:nvSpPr>
        <p:spPr>
          <a:xfrm>
            <a:off x="5649013" y="1171115"/>
            <a:ext cx="1200300" cy="1953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80" name="Google Shape;2380;p74"/>
          <p:cNvSpPr/>
          <p:nvPr/>
        </p:nvSpPr>
        <p:spPr>
          <a:xfrm>
            <a:off x="5649026" y="975582"/>
            <a:ext cx="1200300" cy="1953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81" name="Google Shape;2381;p74"/>
          <p:cNvSpPr/>
          <p:nvPr/>
        </p:nvSpPr>
        <p:spPr>
          <a:xfrm>
            <a:off x="5649018" y="780050"/>
            <a:ext cx="1200300" cy="1953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82" name="Google Shape;2382;p74"/>
          <p:cNvSpPr/>
          <p:nvPr/>
        </p:nvSpPr>
        <p:spPr>
          <a:xfrm>
            <a:off x="5649020" y="1562179"/>
            <a:ext cx="1200300" cy="1953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83" name="Google Shape;2383;p74"/>
          <p:cNvSpPr/>
          <p:nvPr/>
        </p:nvSpPr>
        <p:spPr>
          <a:xfrm>
            <a:off x="5572820" y="1442847"/>
            <a:ext cx="1200300" cy="1953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84" name="Google Shape;2384;p74"/>
          <p:cNvSpPr/>
          <p:nvPr/>
        </p:nvSpPr>
        <p:spPr>
          <a:xfrm>
            <a:off x="5572813" y="1247315"/>
            <a:ext cx="1200300" cy="1953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85" name="Google Shape;2385;p74"/>
          <p:cNvSpPr/>
          <p:nvPr/>
        </p:nvSpPr>
        <p:spPr>
          <a:xfrm>
            <a:off x="5572826" y="1051782"/>
            <a:ext cx="1200300" cy="1953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86" name="Google Shape;2386;p74"/>
          <p:cNvSpPr/>
          <p:nvPr/>
        </p:nvSpPr>
        <p:spPr>
          <a:xfrm>
            <a:off x="5572818" y="856250"/>
            <a:ext cx="1200300" cy="1953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87" name="Google Shape;2387;p74"/>
          <p:cNvSpPr/>
          <p:nvPr/>
        </p:nvSpPr>
        <p:spPr>
          <a:xfrm>
            <a:off x="5572820" y="1638379"/>
            <a:ext cx="1200300" cy="1953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88" name="Google Shape;2388;p74"/>
          <p:cNvSpPr/>
          <p:nvPr/>
        </p:nvSpPr>
        <p:spPr>
          <a:xfrm>
            <a:off x="5496620" y="1519047"/>
            <a:ext cx="1200300" cy="1953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89" name="Google Shape;2389;p74"/>
          <p:cNvSpPr/>
          <p:nvPr/>
        </p:nvSpPr>
        <p:spPr>
          <a:xfrm>
            <a:off x="5496613" y="1323515"/>
            <a:ext cx="1200300" cy="1953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90" name="Google Shape;2390;p74"/>
          <p:cNvSpPr/>
          <p:nvPr/>
        </p:nvSpPr>
        <p:spPr>
          <a:xfrm>
            <a:off x="5496626" y="1127982"/>
            <a:ext cx="1200300" cy="1953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91" name="Google Shape;2391;p74"/>
          <p:cNvSpPr/>
          <p:nvPr/>
        </p:nvSpPr>
        <p:spPr>
          <a:xfrm>
            <a:off x="5496618" y="932450"/>
            <a:ext cx="1200300" cy="1953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92" name="Google Shape;2392;p74"/>
          <p:cNvSpPr/>
          <p:nvPr/>
        </p:nvSpPr>
        <p:spPr>
          <a:xfrm>
            <a:off x="5496620" y="1714579"/>
            <a:ext cx="1200300" cy="1953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93" name="Google Shape;2393;p74"/>
          <p:cNvSpPr/>
          <p:nvPr/>
        </p:nvSpPr>
        <p:spPr>
          <a:xfrm>
            <a:off x="5420420" y="1595260"/>
            <a:ext cx="1200300" cy="1953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94" name="Google Shape;2394;p74"/>
          <p:cNvSpPr/>
          <p:nvPr/>
        </p:nvSpPr>
        <p:spPr>
          <a:xfrm>
            <a:off x="5420413" y="1399727"/>
            <a:ext cx="1200300" cy="1953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95" name="Google Shape;2395;p74"/>
          <p:cNvSpPr/>
          <p:nvPr/>
        </p:nvSpPr>
        <p:spPr>
          <a:xfrm>
            <a:off x="5420426" y="1204195"/>
            <a:ext cx="1200300" cy="1953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96" name="Google Shape;2396;p74"/>
          <p:cNvSpPr/>
          <p:nvPr/>
        </p:nvSpPr>
        <p:spPr>
          <a:xfrm>
            <a:off x="5420418" y="1008663"/>
            <a:ext cx="1200300" cy="1953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97" name="Google Shape;2397;p74"/>
          <p:cNvSpPr/>
          <p:nvPr/>
        </p:nvSpPr>
        <p:spPr>
          <a:xfrm>
            <a:off x="5420420" y="1790791"/>
            <a:ext cx="1200300" cy="1953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2398" name="Google Shape;2398;p74"/>
          <p:cNvCxnSpPr/>
          <p:nvPr/>
        </p:nvCxnSpPr>
        <p:spPr>
          <a:xfrm flipH="1" rot="10800000">
            <a:off x="2007246" y="2181880"/>
            <a:ext cx="1017300" cy="4197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399" name="Google Shape;2399;p74"/>
          <p:cNvCxnSpPr/>
          <p:nvPr/>
        </p:nvCxnSpPr>
        <p:spPr>
          <a:xfrm rot="10800000">
            <a:off x="6121521" y="2181880"/>
            <a:ext cx="1017300" cy="4197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400" name="Google Shape;2400;p74"/>
          <p:cNvCxnSpPr/>
          <p:nvPr/>
        </p:nvCxnSpPr>
        <p:spPr>
          <a:xfrm flipH="1" rot="10800000">
            <a:off x="3675450" y="2112300"/>
            <a:ext cx="413400" cy="5082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401" name="Google Shape;2401;p74"/>
          <p:cNvCxnSpPr/>
          <p:nvPr/>
        </p:nvCxnSpPr>
        <p:spPr>
          <a:xfrm rot="10800000">
            <a:off x="5047050" y="2112300"/>
            <a:ext cx="413400" cy="5082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5" name="Shape 2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6" name="Google Shape;2406;p75"/>
          <p:cNvSpPr/>
          <p:nvPr/>
        </p:nvSpPr>
        <p:spPr>
          <a:xfrm>
            <a:off x="1631996" y="2832180"/>
            <a:ext cx="393600" cy="3936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2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07" name="Google Shape;2407;p75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Mesh Topology</a:t>
            </a:r>
            <a:endParaRPr/>
          </a:p>
        </p:txBody>
      </p:sp>
      <p:sp>
        <p:nvSpPr>
          <p:cNvPr id="2408" name="Google Shape;2408;p75"/>
          <p:cNvSpPr txBox="1"/>
          <p:nvPr>
            <p:ph idx="1" type="body"/>
          </p:nvPr>
        </p:nvSpPr>
        <p:spPr>
          <a:xfrm>
            <a:off x="107050" y="402200"/>
            <a:ext cx="8909700" cy="65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2. The root computes the sum.</a:t>
            </a:r>
            <a:endParaRPr/>
          </a:p>
        </p:txBody>
      </p:sp>
      <p:sp>
        <p:nvSpPr>
          <p:cNvPr id="2409" name="Google Shape;2409;p75"/>
          <p:cNvSpPr/>
          <p:nvPr/>
        </p:nvSpPr>
        <p:spPr>
          <a:xfrm>
            <a:off x="5289605" y="2832185"/>
            <a:ext cx="393600" cy="393600"/>
          </a:xfrm>
          <a:prstGeom prst="ellipse">
            <a:avLst/>
          </a:prstGeom>
          <a:solidFill>
            <a:srgbClr val="D9EAD3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4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10" name="Google Shape;2410;p75"/>
          <p:cNvSpPr/>
          <p:nvPr/>
        </p:nvSpPr>
        <p:spPr>
          <a:xfrm>
            <a:off x="3460805" y="2832175"/>
            <a:ext cx="393600" cy="393600"/>
          </a:xfrm>
          <a:prstGeom prst="ellipse">
            <a:avLst/>
          </a:prstGeom>
          <a:solidFill>
            <a:srgbClr val="F4CCCC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3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11" name="Google Shape;2411;p75"/>
          <p:cNvSpPr/>
          <p:nvPr/>
        </p:nvSpPr>
        <p:spPr>
          <a:xfrm>
            <a:off x="4375205" y="1308175"/>
            <a:ext cx="393600" cy="393600"/>
          </a:xfrm>
          <a:prstGeom prst="ellipse">
            <a:avLst/>
          </a:prstGeom>
          <a:solidFill>
            <a:srgbClr val="FCE5CD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1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12" name="Google Shape;2412;p75"/>
          <p:cNvSpPr/>
          <p:nvPr/>
        </p:nvSpPr>
        <p:spPr>
          <a:xfrm>
            <a:off x="7118405" y="2832175"/>
            <a:ext cx="393600" cy="393600"/>
          </a:xfrm>
          <a:prstGeom prst="ellipse">
            <a:avLst/>
          </a:prstGeom>
          <a:solidFill>
            <a:srgbClr val="D9D2E9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5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413" name="Google Shape;2413;p75"/>
          <p:cNvCxnSpPr>
            <a:stCxn id="2406" idx="0"/>
            <a:endCxn id="2411" idx="4"/>
          </p:cNvCxnSpPr>
          <p:nvPr/>
        </p:nvCxnSpPr>
        <p:spPr>
          <a:xfrm flipH="1" rot="10800000">
            <a:off x="1828796" y="1701780"/>
            <a:ext cx="2743200" cy="11304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14" name="Google Shape;2414;p75"/>
          <p:cNvCxnSpPr>
            <a:stCxn id="2412" idx="0"/>
            <a:endCxn id="2411" idx="4"/>
          </p:cNvCxnSpPr>
          <p:nvPr/>
        </p:nvCxnSpPr>
        <p:spPr>
          <a:xfrm rot="10800000">
            <a:off x="4572005" y="1701775"/>
            <a:ext cx="2743200" cy="11304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15" name="Google Shape;2415;p75"/>
          <p:cNvCxnSpPr>
            <a:stCxn id="2410" idx="0"/>
            <a:endCxn id="2411" idx="4"/>
          </p:cNvCxnSpPr>
          <p:nvPr/>
        </p:nvCxnSpPr>
        <p:spPr>
          <a:xfrm flipH="1" rot="10800000">
            <a:off x="3657605" y="1701775"/>
            <a:ext cx="914400" cy="11304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16" name="Google Shape;2416;p75"/>
          <p:cNvCxnSpPr>
            <a:stCxn id="2409" idx="0"/>
            <a:endCxn id="2411" idx="4"/>
          </p:cNvCxnSpPr>
          <p:nvPr/>
        </p:nvCxnSpPr>
        <p:spPr>
          <a:xfrm rot="10800000">
            <a:off x="4572005" y="1701785"/>
            <a:ext cx="914400" cy="11304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17" name="Google Shape;2417;p75"/>
          <p:cNvSpPr/>
          <p:nvPr/>
        </p:nvSpPr>
        <p:spPr>
          <a:xfrm>
            <a:off x="5725220" y="1290460"/>
            <a:ext cx="1200300" cy="1953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18" name="Google Shape;2418;p75"/>
          <p:cNvSpPr/>
          <p:nvPr/>
        </p:nvSpPr>
        <p:spPr>
          <a:xfrm>
            <a:off x="5725213" y="1094927"/>
            <a:ext cx="1200300" cy="1953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19" name="Google Shape;2419;p75"/>
          <p:cNvSpPr/>
          <p:nvPr/>
        </p:nvSpPr>
        <p:spPr>
          <a:xfrm>
            <a:off x="5725226" y="899395"/>
            <a:ext cx="1200300" cy="1953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20" name="Google Shape;2420;p75"/>
          <p:cNvSpPr/>
          <p:nvPr/>
        </p:nvSpPr>
        <p:spPr>
          <a:xfrm>
            <a:off x="5725218" y="703863"/>
            <a:ext cx="1200300" cy="1953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21" name="Google Shape;2421;p75"/>
          <p:cNvSpPr/>
          <p:nvPr/>
        </p:nvSpPr>
        <p:spPr>
          <a:xfrm>
            <a:off x="5725220" y="1485991"/>
            <a:ext cx="1200300" cy="1953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 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 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 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 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5" name="Shape 2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6" name="Google Shape;2426;p76"/>
          <p:cNvSpPr/>
          <p:nvPr/>
        </p:nvSpPr>
        <p:spPr>
          <a:xfrm>
            <a:off x="1631996" y="2832180"/>
            <a:ext cx="393600" cy="3936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2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27" name="Google Shape;2427;p76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Mesh Topology</a:t>
            </a:r>
            <a:endParaRPr/>
          </a:p>
        </p:txBody>
      </p:sp>
      <p:sp>
        <p:nvSpPr>
          <p:cNvPr id="2428" name="Google Shape;2428;p76"/>
          <p:cNvSpPr txBox="1"/>
          <p:nvPr>
            <p:ph idx="1" type="body"/>
          </p:nvPr>
        </p:nvSpPr>
        <p:spPr>
          <a:xfrm>
            <a:off x="107050" y="402200"/>
            <a:ext cx="8909700" cy="65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3. The root sends the sum to everyone else.</a:t>
            </a:r>
            <a:endParaRPr/>
          </a:p>
        </p:txBody>
      </p:sp>
      <p:sp>
        <p:nvSpPr>
          <p:cNvPr id="2429" name="Google Shape;2429;p76"/>
          <p:cNvSpPr/>
          <p:nvPr/>
        </p:nvSpPr>
        <p:spPr>
          <a:xfrm>
            <a:off x="5289605" y="2832185"/>
            <a:ext cx="393600" cy="393600"/>
          </a:xfrm>
          <a:prstGeom prst="ellipse">
            <a:avLst/>
          </a:prstGeom>
          <a:solidFill>
            <a:srgbClr val="D9EAD3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4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30" name="Google Shape;2430;p76"/>
          <p:cNvSpPr/>
          <p:nvPr/>
        </p:nvSpPr>
        <p:spPr>
          <a:xfrm>
            <a:off x="3460805" y="2832175"/>
            <a:ext cx="393600" cy="393600"/>
          </a:xfrm>
          <a:prstGeom prst="ellipse">
            <a:avLst/>
          </a:prstGeom>
          <a:solidFill>
            <a:srgbClr val="F4CCCC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3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31" name="Google Shape;2431;p76"/>
          <p:cNvSpPr/>
          <p:nvPr/>
        </p:nvSpPr>
        <p:spPr>
          <a:xfrm>
            <a:off x="4375205" y="1308175"/>
            <a:ext cx="393600" cy="393600"/>
          </a:xfrm>
          <a:prstGeom prst="ellipse">
            <a:avLst/>
          </a:prstGeom>
          <a:solidFill>
            <a:srgbClr val="FCE5CD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1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32" name="Google Shape;2432;p76"/>
          <p:cNvSpPr/>
          <p:nvPr/>
        </p:nvSpPr>
        <p:spPr>
          <a:xfrm>
            <a:off x="7118405" y="2832175"/>
            <a:ext cx="393600" cy="393600"/>
          </a:xfrm>
          <a:prstGeom prst="ellipse">
            <a:avLst/>
          </a:prstGeom>
          <a:solidFill>
            <a:srgbClr val="D9D2E9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5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433" name="Google Shape;2433;p76"/>
          <p:cNvCxnSpPr>
            <a:stCxn id="2426" idx="0"/>
            <a:endCxn id="2431" idx="4"/>
          </p:cNvCxnSpPr>
          <p:nvPr/>
        </p:nvCxnSpPr>
        <p:spPr>
          <a:xfrm flipH="1" rot="10800000">
            <a:off x="1828796" y="1701780"/>
            <a:ext cx="2743200" cy="11304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34" name="Google Shape;2434;p76"/>
          <p:cNvCxnSpPr>
            <a:stCxn id="2432" idx="0"/>
            <a:endCxn id="2431" idx="4"/>
          </p:cNvCxnSpPr>
          <p:nvPr/>
        </p:nvCxnSpPr>
        <p:spPr>
          <a:xfrm rot="10800000">
            <a:off x="4572005" y="1701775"/>
            <a:ext cx="2743200" cy="11304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35" name="Google Shape;2435;p76"/>
          <p:cNvCxnSpPr>
            <a:stCxn id="2430" idx="0"/>
            <a:endCxn id="2431" idx="4"/>
          </p:cNvCxnSpPr>
          <p:nvPr/>
        </p:nvCxnSpPr>
        <p:spPr>
          <a:xfrm flipH="1" rot="10800000">
            <a:off x="3657605" y="1701775"/>
            <a:ext cx="914400" cy="11304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36" name="Google Shape;2436;p76"/>
          <p:cNvCxnSpPr>
            <a:stCxn id="2429" idx="0"/>
            <a:endCxn id="2431" idx="4"/>
          </p:cNvCxnSpPr>
          <p:nvPr/>
        </p:nvCxnSpPr>
        <p:spPr>
          <a:xfrm rot="10800000">
            <a:off x="4572005" y="1701785"/>
            <a:ext cx="914400" cy="11304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37" name="Google Shape;2437;p76"/>
          <p:cNvCxnSpPr/>
          <p:nvPr/>
        </p:nvCxnSpPr>
        <p:spPr>
          <a:xfrm flipH="1" rot="10800000">
            <a:off x="2007246" y="2181880"/>
            <a:ext cx="1017300" cy="4197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2438" name="Google Shape;2438;p76"/>
          <p:cNvCxnSpPr/>
          <p:nvPr/>
        </p:nvCxnSpPr>
        <p:spPr>
          <a:xfrm rot="10800000">
            <a:off x="6121521" y="2181880"/>
            <a:ext cx="1017300" cy="4197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2439" name="Google Shape;2439;p76"/>
          <p:cNvCxnSpPr/>
          <p:nvPr/>
        </p:nvCxnSpPr>
        <p:spPr>
          <a:xfrm flipH="1" rot="10800000">
            <a:off x="3675450" y="2112300"/>
            <a:ext cx="413400" cy="5082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2440" name="Google Shape;2440;p76"/>
          <p:cNvCxnSpPr/>
          <p:nvPr/>
        </p:nvCxnSpPr>
        <p:spPr>
          <a:xfrm rot="10800000">
            <a:off x="5047050" y="2112300"/>
            <a:ext cx="413400" cy="5082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2441" name="Google Shape;2441;p76"/>
          <p:cNvSpPr/>
          <p:nvPr/>
        </p:nvSpPr>
        <p:spPr>
          <a:xfrm>
            <a:off x="5725220" y="1290460"/>
            <a:ext cx="1200300" cy="1953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42" name="Google Shape;2442;p76"/>
          <p:cNvSpPr/>
          <p:nvPr/>
        </p:nvSpPr>
        <p:spPr>
          <a:xfrm>
            <a:off x="5725213" y="1094927"/>
            <a:ext cx="1200300" cy="1953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43" name="Google Shape;2443;p76"/>
          <p:cNvSpPr/>
          <p:nvPr/>
        </p:nvSpPr>
        <p:spPr>
          <a:xfrm>
            <a:off x="5725226" y="899395"/>
            <a:ext cx="1200300" cy="1953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44" name="Google Shape;2444;p76"/>
          <p:cNvSpPr/>
          <p:nvPr/>
        </p:nvSpPr>
        <p:spPr>
          <a:xfrm>
            <a:off x="5725218" y="703863"/>
            <a:ext cx="1200300" cy="1953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45" name="Google Shape;2445;p76"/>
          <p:cNvSpPr/>
          <p:nvPr/>
        </p:nvSpPr>
        <p:spPr>
          <a:xfrm>
            <a:off x="5725220" y="1485991"/>
            <a:ext cx="1200300" cy="1953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 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 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 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 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46" name="Google Shape;2446;p76"/>
          <p:cNvSpPr/>
          <p:nvPr/>
        </p:nvSpPr>
        <p:spPr>
          <a:xfrm>
            <a:off x="1228645" y="4117147"/>
            <a:ext cx="1200300" cy="1953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47" name="Google Shape;2447;p76"/>
          <p:cNvSpPr/>
          <p:nvPr/>
        </p:nvSpPr>
        <p:spPr>
          <a:xfrm>
            <a:off x="1228638" y="3921615"/>
            <a:ext cx="1200300" cy="1953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48" name="Google Shape;2448;p76"/>
          <p:cNvSpPr/>
          <p:nvPr/>
        </p:nvSpPr>
        <p:spPr>
          <a:xfrm>
            <a:off x="1228651" y="3726082"/>
            <a:ext cx="1200300" cy="1953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49" name="Google Shape;2449;p76"/>
          <p:cNvSpPr/>
          <p:nvPr/>
        </p:nvSpPr>
        <p:spPr>
          <a:xfrm>
            <a:off x="1228643" y="3530550"/>
            <a:ext cx="1200300" cy="1953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50" name="Google Shape;2450;p76"/>
          <p:cNvSpPr/>
          <p:nvPr/>
        </p:nvSpPr>
        <p:spPr>
          <a:xfrm>
            <a:off x="1228645" y="4312679"/>
            <a:ext cx="1200300" cy="1953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 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 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 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 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51" name="Google Shape;2451;p76"/>
          <p:cNvSpPr/>
          <p:nvPr/>
        </p:nvSpPr>
        <p:spPr>
          <a:xfrm>
            <a:off x="3057445" y="4117172"/>
            <a:ext cx="1200300" cy="1953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52" name="Google Shape;2452;p76"/>
          <p:cNvSpPr/>
          <p:nvPr/>
        </p:nvSpPr>
        <p:spPr>
          <a:xfrm>
            <a:off x="3057438" y="3921640"/>
            <a:ext cx="1200300" cy="1953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53" name="Google Shape;2453;p76"/>
          <p:cNvSpPr/>
          <p:nvPr/>
        </p:nvSpPr>
        <p:spPr>
          <a:xfrm>
            <a:off x="3057451" y="3726107"/>
            <a:ext cx="1200300" cy="1953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54" name="Google Shape;2454;p76"/>
          <p:cNvSpPr/>
          <p:nvPr/>
        </p:nvSpPr>
        <p:spPr>
          <a:xfrm>
            <a:off x="3057443" y="3530575"/>
            <a:ext cx="1200300" cy="1953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55" name="Google Shape;2455;p76"/>
          <p:cNvSpPr/>
          <p:nvPr/>
        </p:nvSpPr>
        <p:spPr>
          <a:xfrm>
            <a:off x="3057445" y="4312704"/>
            <a:ext cx="1200300" cy="1953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 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 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 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 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56" name="Google Shape;2456;p76"/>
          <p:cNvSpPr/>
          <p:nvPr/>
        </p:nvSpPr>
        <p:spPr>
          <a:xfrm>
            <a:off x="4886245" y="4117160"/>
            <a:ext cx="1200300" cy="1953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57" name="Google Shape;2457;p76"/>
          <p:cNvSpPr/>
          <p:nvPr/>
        </p:nvSpPr>
        <p:spPr>
          <a:xfrm>
            <a:off x="4886238" y="3921627"/>
            <a:ext cx="1200300" cy="1953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58" name="Google Shape;2458;p76"/>
          <p:cNvSpPr/>
          <p:nvPr/>
        </p:nvSpPr>
        <p:spPr>
          <a:xfrm>
            <a:off x="4886251" y="3726095"/>
            <a:ext cx="1200300" cy="1953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59" name="Google Shape;2459;p76"/>
          <p:cNvSpPr/>
          <p:nvPr/>
        </p:nvSpPr>
        <p:spPr>
          <a:xfrm>
            <a:off x="4886243" y="3530563"/>
            <a:ext cx="1200300" cy="1953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60" name="Google Shape;2460;p76"/>
          <p:cNvSpPr/>
          <p:nvPr/>
        </p:nvSpPr>
        <p:spPr>
          <a:xfrm>
            <a:off x="4886245" y="4312691"/>
            <a:ext cx="1200300" cy="1953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 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 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 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 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61" name="Google Shape;2461;p76"/>
          <p:cNvSpPr/>
          <p:nvPr/>
        </p:nvSpPr>
        <p:spPr>
          <a:xfrm>
            <a:off x="6715045" y="4117147"/>
            <a:ext cx="1200300" cy="1953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62" name="Google Shape;2462;p76"/>
          <p:cNvSpPr/>
          <p:nvPr/>
        </p:nvSpPr>
        <p:spPr>
          <a:xfrm>
            <a:off x="6715038" y="3921615"/>
            <a:ext cx="1200300" cy="1953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63" name="Google Shape;2463;p76"/>
          <p:cNvSpPr/>
          <p:nvPr/>
        </p:nvSpPr>
        <p:spPr>
          <a:xfrm>
            <a:off x="6715051" y="3726082"/>
            <a:ext cx="1200300" cy="1953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64" name="Google Shape;2464;p76"/>
          <p:cNvSpPr/>
          <p:nvPr/>
        </p:nvSpPr>
        <p:spPr>
          <a:xfrm>
            <a:off x="6715043" y="3530550"/>
            <a:ext cx="1200300" cy="1953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65" name="Google Shape;2465;p76"/>
          <p:cNvSpPr/>
          <p:nvPr/>
        </p:nvSpPr>
        <p:spPr>
          <a:xfrm>
            <a:off x="6715045" y="4312679"/>
            <a:ext cx="1200300" cy="1953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 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 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 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 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aseline="-25000"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9" name="Shape 2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0" name="Google Shape;2470;p77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Single Root Topology: Efficiency</a:t>
            </a:r>
            <a:endParaRPr/>
          </a:p>
        </p:txBody>
      </p:sp>
      <p:sp>
        <p:nvSpPr>
          <p:cNvPr id="2471" name="Google Shape;2471;p77"/>
          <p:cNvSpPr txBox="1"/>
          <p:nvPr>
            <p:ph idx="1" type="body"/>
          </p:nvPr>
        </p:nvSpPr>
        <p:spPr>
          <a:xfrm>
            <a:off x="107050" y="402200"/>
            <a:ext cx="8909700" cy="204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Total bandwidth:	Each node sends its whole vector (</a:t>
            </a:r>
            <a:r>
              <a:rPr i="1" lang="en"/>
              <a:t>D</a:t>
            </a:r>
            <a:r>
              <a:rPr lang="en"/>
              <a:t> bytes) to the root.</a:t>
            </a:r>
            <a:br>
              <a:rPr lang="en"/>
            </a:br>
            <a:r>
              <a:rPr lang="en"/>
              <a:t>				There are </a:t>
            </a:r>
            <a:r>
              <a:rPr i="1" lang="en"/>
              <a:t>p</a:t>
            </a:r>
            <a:r>
              <a:rPr lang="en"/>
              <a:t> nodes in total.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Number of steps:	One step to send to root, and one step to distribute sum from root.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Bandwidth per step: Root has to receive </a:t>
            </a:r>
            <a:r>
              <a:rPr i="1" lang="en"/>
              <a:t>D</a:t>
            </a:r>
            <a:r>
              <a:rPr lang="en"/>
              <a:t> bytes from the </a:t>
            </a:r>
            <a:r>
              <a:rPr i="1" lang="en"/>
              <a:t>p</a:t>
            </a:r>
            <a:r>
              <a:rPr lang="en"/>
              <a:t>–1 other nodes.</a:t>
            </a:r>
            <a:endParaRPr/>
          </a:p>
        </p:txBody>
      </p:sp>
      <p:graphicFrame>
        <p:nvGraphicFramePr>
          <p:cNvPr id="2472" name="Google Shape;2472;p77"/>
          <p:cNvGraphicFramePr/>
          <p:nvPr/>
        </p:nvGraphicFramePr>
        <p:xfrm>
          <a:off x="952500" y="25593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{B9A57BFC-BF9F-44FD-95FC-58D745B5DC61}</a:tableStyleId>
              </a:tblPr>
              <a:tblGrid>
                <a:gridCol w="1809750"/>
                <a:gridCol w="1809750"/>
                <a:gridCol w="1809750"/>
                <a:gridCol w="18097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Total Bandwidth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Number of Steps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Bandwidth Per Step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Mesh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Dp</a:t>
                      </a:r>
                      <a:r>
                        <a:rPr baseline="30000"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2</a:t>
                      </a:r>
                      <a:endParaRPr baseline="300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1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Dp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Single Root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Dp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i="1" lang="en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Dp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6" name="Shape 2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7" name="Google Shape;2477;p78"/>
          <p:cNvSpPr txBox="1"/>
          <p:nvPr>
            <p:ph idx="1" type="body"/>
          </p:nvPr>
        </p:nvSpPr>
        <p:spPr>
          <a:xfrm>
            <a:off x="4812375" y="402200"/>
            <a:ext cx="4038000" cy="426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</a:rPr>
              <a:t>Distributed AI Training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Motivation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Infrastructure</a:t>
            </a:r>
            <a:endParaRPr>
              <a:solidFill>
                <a:srgbClr val="B7B7B7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</a:rPr>
              <a:t>Defining Collectives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Definition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Redistribution Operations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Consolidation Operations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Duals and Compositions</a:t>
            </a:r>
            <a:endParaRPr>
              <a:solidFill>
                <a:srgbClr val="B7B7B7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Implementing Collectives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Mesh Topology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Single Root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Roboto"/>
              <a:buChar char="•"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Tree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Ring (Naive)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Ring (Optimized)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Overlay/Underlay Topologies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78" name="Google Shape;2478;p78"/>
          <p:cNvSpPr txBox="1"/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Tree-Based AllReduce</a:t>
            </a:r>
            <a:endParaRPr/>
          </a:p>
        </p:txBody>
      </p:sp>
      <p:sp>
        <p:nvSpPr>
          <p:cNvPr id="2479" name="Google Shape;2479;p78"/>
          <p:cNvSpPr txBox="1"/>
          <p:nvPr>
            <p:ph idx="2" type="subTitle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Lecture 23</a:t>
            </a:r>
            <a:r>
              <a:rPr lang="en"/>
              <a:t>, CS 168, </a:t>
            </a:r>
            <a:r>
              <a:rPr lang="en"/>
              <a:t>Spring 2026</a:t>
            </a:r>
            <a:endParaRPr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3" name="Shape 2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4" name="Google Shape;2484;p79"/>
          <p:cNvSpPr txBox="1"/>
          <p:nvPr>
            <p:ph idx="1" type="body"/>
          </p:nvPr>
        </p:nvSpPr>
        <p:spPr>
          <a:xfrm>
            <a:off x="107050" y="402200"/>
            <a:ext cx="8909700" cy="59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1. Send your vector </a:t>
            </a:r>
            <a:r>
              <a:rPr lang="en"/>
              <a:t>to your parent. </a:t>
            </a:r>
            <a:r>
              <a:rPr lang="en"/>
              <a:t>When you receive vector(s), sum them up.</a:t>
            </a:r>
            <a:endParaRPr/>
          </a:p>
        </p:txBody>
      </p:sp>
      <p:sp>
        <p:nvSpPr>
          <p:cNvPr id="2485" name="Google Shape;2485;p79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Tree-Based AllReduce</a:t>
            </a:r>
            <a:endParaRPr/>
          </a:p>
        </p:txBody>
      </p:sp>
      <p:sp>
        <p:nvSpPr>
          <p:cNvPr id="2486" name="Google Shape;2486;p79"/>
          <p:cNvSpPr/>
          <p:nvPr/>
        </p:nvSpPr>
        <p:spPr>
          <a:xfrm>
            <a:off x="4365105" y="1911575"/>
            <a:ext cx="393600" cy="393600"/>
          </a:xfrm>
          <a:prstGeom prst="ellipse">
            <a:avLst/>
          </a:prstGeom>
          <a:solidFill>
            <a:srgbClr val="D9D2E9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5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87" name="Google Shape;2487;p79"/>
          <p:cNvSpPr/>
          <p:nvPr/>
        </p:nvSpPr>
        <p:spPr>
          <a:xfrm>
            <a:off x="5127408" y="1749275"/>
            <a:ext cx="1246200" cy="2511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88" name="Google Shape;2488;p79"/>
          <p:cNvSpPr/>
          <p:nvPr/>
        </p:nvSpPr>
        <p:spPr>
          <a:xfrm>
            <a:off x="5127400" y="1498075"/>
            <a:ext cx="1246200" cy="2511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89" name="Google Shape;2489;p79"/>
          <p:cNvSpPr/>
          <p:nvPr/>
        </p:nvSpPr>
        <p:spPr>
          <a:xfrm>
            <a:off x="5127414" y="1246875"/>
            <a:ext cx="1246200" cy="2511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90" name="Google Shape;2490;p79"/>
          <p:cNvSpPr/>
          <p:nvPr/>
        </p:nvSpPr>
        <p:spPr>
          <a:xfrm>
            <a:off x="5127406" y="995675"/>
            <a:ext cx="1246200" cy="2511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91" name="Google Shape;2491;p79"/>
          <p:cNvSpPr/>
          <p:nvPr/>
        </p:nvSpPr>
        <p:spPr>
          <a:xfrm>
            <a:off x="5660505" y="3283175"/>
            <a:ext cx="393600" cy="393600"/>
          </a:xfrm>
          <a:prstGeom prst="ellipse">
            <a:avLst/>
          </a:prstGeom>
          <a:solidFill>
            <a:srgbClr val="D9EAD3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4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92" name="Google Shape;2492;p79"/>
          <p:cNvSpPr/>
          <p:nvPr/>
        </p:nvSpPr>
        <p:spPr>
          <a:xfrm>
            <a:off x="6206508" y="3174474"/>
            <a:ext cx="1246200" cy="2511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93" name="Google Shape;2493;p79"/>
          <p:cNvSpPr/>
          <p:nvPr/>
        </p:nvSpPr>
        <p:spPr>
          <a:xfrm>
            <a:off x="6206500" y="2923275"/>
            <a:ext cx="1246200" cy="2511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94" name="Google Shape;2494;p79"/>
          <p:cNvSpPr/>
          <p:nvPr/>
        </p:nvSpPr>
        <p:spPr>
          <a:xfrm>
            <a:off x="6206513" y="2672075"/>
            <a:ext cx="1246200" cy="2511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95" name="Google Shape;2495;p79"/>
          <p:cNvSpPr/>
          <p:nvPr/>
        </p:nvSpPr>
        <p:spPr>
          <a:xfrm>
            <a:off x="6206506" y="2420875"/>
            <a:ext cx="1246200" cy="2511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96" name="Google Shape;2496;p79"/>
          <p:cNvSpPr/>
          <p:nvPr/>
        </p:nvSpPr>
        <p:spPr>
          <a:xfrm>
            <a:off x="3069705" y="3283175"/>
            <a:ext cx="393600" cy="393600"/>
          </a:xfrm>
          <a:prstGeom prst="ellipse">
            <a:avLst/>
          </a:prstGeom>
          <a:solidFill>
            <a:srgbClr val="F4CCCC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3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97" name="Google Shape;2497;p79"/>
          <p:cNvSpPr/>
          <p:nvPr/>
        </p:nvSpPr>
        <p:spPr>
          <a:xfrm>
            <a:off x="1671104" y="3174474"/>
            <a:ext cx="1246200" cy="2511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98" name="Google Shape;2498;p79"/>
          <p:cNvSpPr/>
          <p:nvPr/>
        </p:nvSpPr>
        <p:spPr>
          <a:xfrm>
            <a:off x="1671097" y="2923275"/>
            <a:ext cx="1246200" cy="2511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99" name="Google Shape;2499;p79"/>
          <p:cNvSpPr/>
          <p:nvPr/>
        </p:nvSpPr>
        <p:spPr>
          <a:xfrm>
            <a:off x="1671110" y="2672075"/>
            <a:ext cx="1246200" cy="2511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00" name="Google Shape;2500;p79"/>
          <p:cNvSpPr/>
          <p:nvPr/>
        </p:nvSpPr>
        <p:spPr>
          <a:xfrm>
            <a:off x="1671102" y="2420875"/>
            <a:ext cx="1246200" cy="2511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2501" name="Google Shape;2501;p79"/>
          <p:cNvCxnSpPr>
            <a:stCxn id="2486" idx="4"/>
            <a:endCxn id="2496" idx="0"/>
          </p:cNvCxnSpPr>
          <p:nvPr/>
        </p:nvCxnSpPr>
        <p:spPr>
          <a:xfrm flipH="1">
            <a:off x="3266505" y="2305175"/>
            <a:ext cx="1295400" cy="978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02" name="Google Shape;2502;p79"/>
          <p:cNvCxnSpPr>
            <a:stCxn id="2486" idx="4"/>
            <a:endCxn id="2491" idx="0"/>
          </p:cNvCxnSpPr>
          <p:nvPr/>
        </p:nvCxnSpPr>
        <p:spPr>
          <a:xfrm>
            <a:off x="4561905" y="2305175"/>
            <a:ext cx="1295400" cy="978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03" name="Google Shape;2503;p79"/>
          <p:cNvSpPr/>
          <p:nvPr/>
        </p:nvSpPr>
        <p:spPr>
          <a:xfrm>
            <a:off x="2307705" y="4654775"/>
            <a:ext cx="393600" cy="393600"/>
          </a:xfrm>
          <a:prstGeom prst="ellipse">
            <a:avLst/>
          </a:prstGeom>
          <a:solidFill>
            <a:srgbClr val="FCE5CD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1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04" name="Google Shape;2504;p79"/>
          <p:cNvSpPr/>
          <p:nvPr/>
        </p:nvSpPr>
        <p:spPr>
          <a:xfrm>
            <a:off x="909083" y="4546075"/>
            <a:ext cx="1246200" cy="2511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05" name="Google Shape;2505;p79"/>
          <p:cNvSpPr/>
          <p:nvPr/>
        </p:nvSpPr>
        <p:spPr>
          <a:xfrm>
            <a:off x="909075" y="4294875"/>
            <a:ext cx="1246200" cy="2511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06" name="Google Shape;2506;p79"/>
          <p:cNvSpPr/>
          <p:nvPr/>
        </p:nvSpPr>
        <p:spPr>
          <a:xfrm>
            <a:off x="909089" y="4043675"/>
            <a:ext cx="1246200" cy="2511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07" name="Google Shape;2507;p79"/>
          <p:cNvSpPr/>
          <p:nvPr/>
        </p:nvSpPr>
        <p:spPr>
          <a:xfrm>
            <a:off x="909081" y="3792475"/>
            <a:ext cx="1246200" cy="2511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08" name="Google Shape;2508;p79"/>
          <p:cNvSpPr/>
          <p:nvPr/>
        </p:nvSpPr>
        <p:spPr>
          <a:xfrm>
            <a:off x="3831705" y="4654775"/>
            <a:ext cx="393600" cy="3936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2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09" name="Google Shape;2509;p79"/>
          <p:cNvSpPr/>
          <p:nvPr/>
        </p:nvSpPr>
        <p:spPr>
          <a:xfrm>
            <a:off x="4377708" y="4546074"/>
            <a:ext cx="1246200" cy="251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10" name="Google Shape;2510;p79"/>
          <p:cNvSpPr/>
          <p:nvPr/>
        </p:nvSpPr>
        <p:spPr>
          <a:xfrm>
            <a:off x="4377700" y="4294875"/>
            <a:ext cx="1246200" cy="251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11" name="Google Shape;2511;p79"/>
          <p:cNvSpPr/>
          <p:nvPr/>
        </p:nvSpPr>
        <p:spPr>
          <a:xfrm>
            <a:off x="4377713" y="4043675"/>
            <a:ext cx="1246200" cy="251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12" name="Google Shape;2512;p79"/>
          <p:cNvSpPr/>
          <p:nvPr/>
        </p:nvSpPr>
        <p:spPr>
          <a:xfrm>
            <a:off x="4377706" y="3792475"/>
            <a:ext cx="1246200" cy="251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2513" name="Google Shape;2513;p79"/>
          <p:cNvCxnSpPr>
            <a:stCxn id="2496" idx="4"/>
            <a:endCxn id="2503" idx="0"/>
          </p:cNvCxnSpPr>
          <p:nvPr/>
        </p:nvCxnSpPr>
        <p:spPr>
          <a:xfrm flipH="1">
            <a:off x="2504505" y="3676775"/>
            <a:ext cx="762000" cy="978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14" name="Google Shape;2514;p79"/>
          <p:cNvCxnSpPr>
            <a:stCxn id="2496" idx="4"/>
            <a:endCxn id="2508" idx="0"/>
          </p:cNvCxnSpPr>
          <p:nvPr/>
        </p:nvCxnSpPr>
        <p:spPr>
          <a:xfrm>
            <a:off x="3266505" y="3676775"/>
            <a:ext cx="762000" cy="978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15" name="Google Shape;2515;p79"/>
          <p:cNvSpPr/>
          <p:nvPr/>
        </p:nvSpPr>
        <p:spPr>
          <a:xfrm>
            <a:off x="5127408" y="2000487"/>
            <a:ext cx="1246200" cy="2511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16" name="Google Shape;2516;p79"/>
          <p:cNvSpPr/>
          <p:nvPr/>
        </p:nvSpPr>
        <p:spPr>
          <a:xfrm>
            <a:off x="6206508" y="3425674"/>
            <a:ext cx="1246200" cy="2511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17" name="Google Shape;2517;p79"/>
          <p:cNvSpPr/>
          <p:nvPr/>
        </p:nvSpPr>
        <p:spPr>
          <a:xfrm>
            <a:off x="4377708" y="4797274"/>
            <a:ext cx="1246200" cy="251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18" name="Google Shape;2518;p79"/>
          <p:cNvSpPr/>
          <p:nvPr/>
        </p:nvSpPr>
        <p:spPr>
          <a:xfrm>
            <a:off x="909108" y="4797275"/>
            <a:ext cx="1246200" cy="2511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19" name="Google Shape;2519;p79"/>
          <p:cNvSpPr/>
          <p:nvPr/>
        </p:nvSpPr>
        <p:spPr>
          <a:xfrm>
            <a:off x="1671104" y="3425674"/>
            <a:ext cx="1246200" cy="2511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3" name="Shape 2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4" name="Google Shape;2524;p80"/>
          <p:cNvSpPr txBox="1"/>
          <p:nvPr>
            <p:ph idx="1" type="body"/>
          </p:nvPr>
        </p:nvSpPr>
        <p:spPr>
          <a:xfrm>
            <a:off x="107050" y="402200"/>
            <a:ext cx="8909700" cy="59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1. Send your vector to your parent. When you receive vector(s), sum them up.</a:t>
            </a:r>
            <a:endParaRPr/>
          </a:p>
        </p:txBody>
      </p:sp>
      <p:sp>
        <p:nvSpPr>
          <p:cNvPr id="2525" name="Google Shape;2525;p80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Tree-Based AllReduce</a:t>
            </a:r>
            <a:endParaRPr/>
          </a:p>
        </p:txBody>
      </p:sp>
      <p:sp>
        <p:nvSpPr>
          <p:cNvPr id="2526" name="Google Shape;2526;p80"/>
          <p:cNvSpPr/>
          <p:nvPr/>
        </p:nvSpPr>
        <p:spPr>
          <a:xfrm>
            <a:off x="4365105" y="1911575"/>
            <a:ext cx="393600" cy="393600"/>
          </a:xfrm>
          <a:prstGeom prst="ellipse">
            <a:avLst/>
          </a:prstGeom>
          <a:solidFill>
            <a:srgbClr val="D9D2E9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5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27" name="Google Shape;2527;p80"/>
          <p:cNvSpPr/>
          <p:nvPr/>
        </p:nvSpPr>
        <p:spPr>
          <a:xfrm>
            <a:off x="5127408" y="1749275"/>
            <a:ext cx="1246200" cy="2511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28" name="Google Shape;2528;p80"/>
          <p:cNvSpPr/>
          <p:nvPr/>
        </p:nvSpPr>
        <p:spPr>
          <a:xfrm>
            <a:off x="5127400" y="1498075"/>
            <a:ext cx="1246200" cy="2511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29" name="Google Shape;2529;p80"/>
          <p:cNvSpPr/>
          <p:nvPr/>
        </p:nvSpPr>
        <p:spPr>
          <a:xfrm>
            <a:off x="5127414" y="1246875"/>
            <a:ext cx="1246200" cy="2511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30" name="Google Shape;2530;p80"/>
          <p:cNvSpPr/>
          <p:nvPr/>
        </p:nvSpPr>
        <p:spPr>
          <a:xfrm>
            <a:off x="5127406" y="995675"/>
            <a:ext cx="1246200" cy="2511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31" name="Google Shape;2531;p80"/>
          <p:cNvSpPr/>
          <p:nvPr/>
        </p:nvSpPr>
        <p:spPr>
          <a:xfrm>
            <a:off x="5660505" y="3283175"/>
            <a:ext cx="393600" cy="393600"/>
          </a:xfrm>
          <a:prstGeom prst="ellipse">
            <a:avLst/>
          </a:prstGeom>
          <a:solidFill>
            <a:srgbClr val="D9EAD3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4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32" name="Google Shape;2532;p80"/>
          <p:cNvSpPr/>
          <p:nvPr/>
        </p:nvSpPr>
        <p:spPr>
          <a:xfrm>
            <a:off x="6206508" y="3174474"/>
            <a:ext cx="1246200" cy="2511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33" name="Google Shape;2533;p80"/>
          <p:cNvSpPr/>
          <p:nvPr/>
        </p:nvSpPr>
        <p:spPr>
          <a:xfrm>
            <a:off x="6206500" y="2923275"/>
            <a:ext cx="1246200" cy="2511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34" name="Google Shape;2534;p80"/>
          <p:cNvSpPr/>
          <p:nvPr/>
        </p:nvSpPr>
        <p:spPr>
          <a:xfrm>
            <a:off x="6206513" y="2672075"/>
            <a:ext cx="1246200" cy="2511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35" name="Google Shape;2535;p80"/>
          <p:cNvSpPr/>
          <p:nvPr/>
        </p:nvSpPr>
        <p:spPr>
          <a:xfrm>
            <a:off x="6206506" y="2420875"/>
            <a:ext cx="1246200" cy="2511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36" name="Google Shape;2536;p80"/>
          <p:cNvSpPr/>
          <p:nvPr/>
        </p:nvSpPr>
        <p:spPr>
          <a:xfrm>
            <a:off x="3069705" y="3283175"/>
            <a:ext cx="393600" cy="393600"/>
          </a:xfrm>
          <a:prstGeom prst="ellipse">
            <a:avLst/>
          </a:prstGeom>
          <a:solidFill>
            <a:srgbClr val="F4CCCC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3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37" name="Google Shape;2537;p80"/>
          <p:cNvSpPr/>
          <p:nvPr/>
        </p:nvSpPr>
        <p:spPr>
          <a:xfrm>
            <a:off x="1671104" y="3174474"/>
            <a:ext cx="1246200" cy="2511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38" name="Google Shape;2538;p80"/>
          <p:cNvSpPr/>
          <p:nvPr/>
        </p:nvSpPr>
        <p:spPr>
          <a:xfrm>
            <a:off x="1671097" y="2923275"/>
            <a:ext cx="1246200" cy="2511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39" name="Google Shape;2539;p80"/>
          <p:cNvSpPr/>
          <p:nvPr/>
        </p:nvSpPr>
        <p:spPr>
          <a:xfrm>
            <a:off x="1671110" y="2672075"/>
            <a:ext cx="1246200" cy="2511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40" name="Google Shape;2540;p80"/>
          <p:cNvSpPr/>
          <p:nvPr/>
        </p:nvSpPr>
        <p:spPr>
          <a:xfrm>
            <a:off x="1671102" y="2420875"/>
            <a:ext cx="1246200" cy="2511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2541" name="Google Shape;2541;p80"/>
          <p:cNvCxnSpPr>
            <a:stCxn id="2526" idx="4"/>
            <a:endCxn id="2536" idx="0"/>
          </p:cNvCxnSpPr>
          <p:nvPr/>
        </p:nvCxnSpPr>
        <p:spPr>
          <a:xfrm flipH="1">
            <a:off x="3266505" y="2305175"/>
            <a:ext cx="1295400" cy="978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42" name="Google Shape;2542;p80"/>
          <p:cNvCxnSpPr>
            <a:stCxn id="2526" idx="4"/>
            <a:endCxn id="2531" idx="0"/>
          </p:cNvCxnSpPr>
          <p:nvPr/>
        </p:nvCxnSpPr>
        <p:spPr>
          <a:xfrm>
            <a:off x="4561905" y="2305175"/>
            <a:ext cx="1295400" cy="978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43" name="Google Shape;2543;p80"/>
          <p:cNvSpPr/>
          <p:nvPr/>
        </p:nvSpPr>
        <p:spPr>
          <a:xfrm>
            <a:off x="2307705" y="4654775"/>
            <a:ext cx="393600" cy="393600"/>
          </a:xfrm>
          <a:prstGeom prst="ellipse">
            <a:avLst/>
          </a:prstGeom>
          <a:solidFill>
            <a:srgbClr val="FCE5CD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1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44" name="Google Shape;2544;p80"/>
          <p:cNvSpPr/>
          <p:nvPr/>
        </p:nvSpPr>
        <p:spPr>
          <a:xfrm>
            <a:off x="3831705" y="4654775"/>
            <a:ext cx="393600" cy="3936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2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545" name="Google Shape;2545;p80"/>
          <p:cNvCxnSpPr>
            <a:stCxn id="2536" idx="4"/>
            <a:endCxn id="2543" idx="0"/>
          </p:cNvCxnSpPr>
          <p:nvPr/>
        </p:nvCxnSpPr>
        <p:spPr>
          <a:xfrm flipH="1">
            <a:off x="2504505" y="3676775"/>
            <a:ext cx="762000" cy="978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46" name="Google Shape;2546;p80"/>
          <p:cNvCxnSpPr>
            <a:stCxn id="2536" idx="4"/>
            <a:endCxn id="2544" idx="0"/>
          </p:cNvCxnSpPr>
          <p:nvPr/>
        </p:nvCxnSpPr>
        <p:spPr>
          <a:xfrm>
            <a:off x="3266505" y="3676775"/>
            <a:ext cx="762000" cy="978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47" name="Google Shape;2547;p80"/>
          <p:cNvSpPr/>
          <p:nvPr/>
        </p:nvSpPr>
        <p:spPr>
          <a:xfrm>
            <a:off x="5127408" y="2000487"/>
            <a:ext cx="1246200" cy="2511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48" name="Google Shape;2548;p80"/>
          <p:cNvSpPr/>
          <p:nvPr/>
        </p:nvSpPr>
        <p:spPr>
          <a:xfrm>
            <a:off x="6206508" y="3425674"/>
            <a:ext cx="1246200" cy="2511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49" name="Google Shape;2549;p80"/>
          <p:cNvSpPr/>
          <p:nvPr/>
        </p:nvSpPr>
        <p:spPr>
          <a:xfrm>
            <a:off x="1671104" y="3425674"/>
            <a:ext cx="1246200" cy="2511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2550" name="Google Shape;2550;p80"/>
          <p:cNvCxnSpPr/>
          <p:nvPr/>
        </p:nvCxnSpPr>
        <p:spPr>
          <a:xfrm flipH="1">
            <a:off x="2504350" y="4044425"/>
            <a:ext cx="321000" cy="4125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2551" name="Google Shape;2551;p80"/>
          <p:cNvCxnSpPr/>
          <p:nvPr/>
        </p:nvCxnSpPr>
        <p:spPr>
          <a:xfrm>
            <a:off x="3707525" y="4044425"/>
            <a:ext cx="321000" cy="4125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2552" name="Google Shape;2552;p80"/>
          <p:cNvSpPr/>
          <p:nvPr/>
        </p:nvSpPr>
        <p:spPr>
          <a:xfrm>
            <a:off x="1594895" y="3250674"/>
            <a:ext cx="1246200" cy="251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53" name="Google Shape;2553;p80"/>
          <p:cNvSpPr/>
          <p:nvPr/>
        </p:nvSpPr>
        <p:spPr>
          <a:xfrm>
            <a:off x="1594887" y="2999475"/>
            <a:ext cx="1246200" cy="251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54" name="Google Shape;2554;p80"/>
          <p:cNvSpPr/>
          <p:nvPr/>
        </p:nvSpPr>
        <p:spPr>
          <a:xfrm>
            <a:off x="1594901" y="2748275"/>
            <a:ext cx="1246200" cy="251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55" name="Google Shape;2555;p80"/>
          <p:cNvSpPr/>
          <p:nvPr/>
        </p:nvSpPr>
        <p:spPr>
          <a:xfrm>
            <a:off x="1594893" y="2497075"/>
            <a:ext cx="1246200" cy="251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56" name="Google Shape;2556;p80"/>
          <p:cNvSpPr/>
          <p:nvPr/>
        </p:nvSpPr>
        <p:spPr>
          <a:xfrm>
            <a:off x="1594895" y="3501874"/>
            <a:ext cx="1246200" cy="251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57" name="Google Shape;2557;p80"/>
          <p:cNvSpPr/>
          <p:nvPr/>
        </p:nvSpPr>
        <p:spPr>
          <a:xfrm>
            <a:off x="1518670" y="3326875"/>
            <a:ext cx="1246200" cy="2511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58" name="Google Shape;2558;p80"/>
          <p:cNvSpPr/>
          <p:nvPr/>
        </p:nvSpPr>
        <p:spPr>
          <a:xfrm>
            <a:off x="1518663" y="3075675"/>
            <a:ext cx="1246200" cy="2511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59" name="Google Shape;2559;p80"/>
          <p:cNvSpPr/>
          <p:nvPr/>
        </p:nvSpPr>
        <p:spPr>
          <a:xfrm>
            <a:off x="1518676" y="2824475"/>
            <a:ext cx="1246200" cy="2511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60" name="Google Shape;2560;p80"/>
          <p:cNvSpPr/>
          <p:nvPr/>
        </p:nvSpPr>
        <p:spPr>
          <a:xfrm>
            <a:off x="1518668" y="2573275"/>
            <a:ext cx="1246200" cy="2511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61" name="Google Shape;2561;p80"/>
          <p:cNvSpPr/>
          <p:nvPr/>
        </p:nvSpPr>
        <p:spPr>
          <a:xfrm>
            <a:off x="1518695" y="3578075"/>
            <a:ext cx="1246200" cy="2511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62" name="Google Shape;2562;p80"/>
          <p:cNvSpPr txBox="1"/>
          <p:nvPr/>
        </p:nvSpPr>
        <p:spPr>
          <a:xfrm>
            <a:off x="6206500" y="4395175"/>
            <a:ext cx="2357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FF00FF"/>
                </a:solidFill>
                <a:latin typeface="Roboto"/>
                <a:ea typeface="Roboto"/>
                <a:cs typeface="Roboto"/>
                <a:sym typeface="Roboto"/>
              </a:rPr>
              <a:t>Nodes 0 and 1 send their vectors to their parent.</a:t>
            </a:r>
            <a:endParaRPr sz="1600">
              <a:solidFill>
                <a:srgbClr val="FF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6" name="Shape 2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7" name="Google Shape;2567;p81"/>
          <p:cNvSpPr txBox="1"/>
          <p:nvPr>
            <p:ph idx="1" type="body"/>
          </p:nvPr>
        </p:nvSpPr>
        <p:spPr>
          <a:xfrm>
            <a:off x="107050" y="402200"/>
            <a:ext cx="8909700" cy="59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1. Send your vector to your parent. When you receive vector(s), sum them up.</a:t>
            </a:r>
            <a:endParaRPr/>
          </a:p>
        </p:txBody>
      </p:sp>
      <p:sp>
        <p:nvSpPr>
          <p:cNvPr id="2568" name="Google Shape;2568;p81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Tree-Based AllReduce</a:t>
            </a:r>
            <a:endParaRPr/>
          </a:p>
        </p:txBody>
      </p:sp>
      <p:sp>
        <p:nvSpPr>
          <p:cNvPr id="2569" name="Google Shape;2569;p81"/>
          <p:cNvSpPr/>
          <p:nvPr/>
        </p:nvSpPr>
        <p:spPr>
          <a:xfrm>
            <a:off x="4365105" y="1911575"/>
            <a:ext cx="393600" cy="393600"/>
          </a:xfrm>
          <a:prstGeom prst="ellipse">
            <a:avLst/>
          </a:prstGeom>
          <a:solidFill>
            <a:srgbClr val="D9D2E9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5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70" name="Google Shape;2570;p81"/>
          <p:cNvSpPr/>
          <p:nvPr/>
        </p:nvSpPr>
        <p:spPr>
          <a:xfrm>
            <a:off x="5127408" y="1749275"/>
            <a:ext cx="1246200" cy="2511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71" name="Google Shape;2571;p81"/>
          <p:cNvSpPr/>
          <p:nvPr/>
        </p:nvSpPr>
        <p:spPr>
          <a:xfrm>
            <a:off x="5127400" y="1498075"/>
            <a:ext cx="1246200" cy="2511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72" name="Google Shape;2572;p81"/>
          <p:cNvSpPr/>
          <p:nvPr/>
        </p:nvSpPr>
        <p:spPr>
          <a:xfrm>
            <a:off x="5127414" y="1246875"/>
            <a:ext cx="1246200" cy="2511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73" name="Google Shape;2573;p81"/>
          <p:cNvSpPr/>
          <p:nvPr/>
        </p:nvSpPr>
        <p:spPr>
          <a:xfrm>
            <a:off x="5127406" y="995675"/>
            <a:ext cx="1246200" cy="2511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74" name="Google Shape;2574;p81"/>
          <p:cNvSpPr/>
          <p:nvPr/>
        </p:nvSpPr>
        <p:spPr>
          <a:xfrm>
            <a:off x="5660505" y="3283175"/>
            <a:ext cx="393600" cy="393600"/>
          </a:xfrm>
          <a:prstGeom prst="ellipse">
            <a:avLst/>
          </a:prstGeom>
          <a:solidFill>
            <a:srgbClr val="D9EAD3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4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75" name="Google Shape;2575;p81"/>
          <p:cNvSpPr/>
          <p:nvPr/>
        </p:nvSpPr>
        <p:spPr>
          <a:xfrm>
            <a:off x="6206508" y="3174474"/>
            <a:ext cx="1246200" cy="2511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76" name="Google Shape;2576;p81"/>
          <p:cNvSpPr/>
          <p:nvPr/>
        </p:nvSpPr>
        <p:spPr>
          <a:xfrm>
            <a:off x="6206500" y="2923275"/>
            <a:ext cx="1246200" cy="2511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77" name="Google Shape;2577;p81"/>
          <p:cNvSpPr/>
          <p:nvPr/>
        </p:nvSpPr>
        <p:spPr>
          <a:xfrm>
            <a:off x="6206513" y="2672075"/>
            <a:ext cx="1246200" cy="2511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78" name="Google Shape;2578;p81"/>
          <p:cNvSpPr/>
          <p:nvPr/>
        </p:nvSpPr>
        <p:spPr>
          <a:xfrm>
            <a:off x="6206506" y="2420875"/>
            <a:ext cx="1246200" cy="2511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79" name="Google Shape;2579;p81"/>
          <p:cNvSpPr/>
          <p:nvPr/>
        </p:nvSpPr>
        <p:spPr>
          <a:xfrm>
            <a:off x="3069705" y="3283175"/>
            <a:ext cx="393600" cy="393600"/>
          </a:xfrm>
          <a:prstGeom prst="ellipse">
            <a:avLst/>
          </a:prstGeom>
          <a:solidFill>
            <a:srgbClr val="F4CCCC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3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80" name="Google Shape;2580;p81"/>
          <p:cNvSpPr/>
          <p:nvPr/>
        </p:nvSpPr>
        <p:spPr>
          <a:xfrm>
            <a:off x="1671104" y="3174474"/>
            <a:ext cx="12462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81" name="Google Shape;2581;p81"/>
          <p:cNvSpPr/>
          <p:nvPr/>
        </p:nvSpPr>
        <p:spPr>
          <a:xfrm>
            <a:off x="1671097" y="2923275"/>
            <a:ext cx="12462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82" name="Google Shape;2582;p81"/>
          <p:cNvSpPr/>
          <p:nvPr/>
        </p:nvSpPr>
        <p:spPr>
          <a:xfrm>
            <a:off x="1671110" y="2672075"/>
            <a:ext cx="12462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83" name="Google Shape;2583;p81"/>
          <p:cNvSpPr/>
          <p:nvPr/>
        </p:nvSpPr>
        <p:spPr>
          <a:xfrm>
            <a:off x="1671102" y="2420875"/>
            <a:ext cx="12462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2584" name="Google Shape;2584;p81"/>
          <p:cNvCxnSpPr>
            <a:stCxn id="2569" idx="4"/>
            <a:endCxn id="2579" idx="0"/>
          </p:cNvCxnSpPr>
          <p:nvPr/>
        </p:nvCxnSpPr>
        <p:spPr>
          <a:xfrm flipH="1">
            <a:off x="3266505" y="2305175"/>
            <a:ext cx="1295400" cy="978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85" name="Google Shape;2585;p81"/>
          <p:cNvCxnSpPr>
            <a:stCxn id="2569" idx="4"/>
            <a:endCxn id="2574" idx="0"/>
          </p:cNvCxnSpPr>
          <p:nvPr/>
        </p:nvCxnSpPr>
        <p:spPr>
          <a:xfrm>
            <a:off x="4561905" y="2305175"/>
            <a:ext cx="1295400" cy="978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86" name="Google Shape;2586;p81"/>
          <p:cNvSpPr/>
          <p:nvPr/>
        </p:nvSpPr>
        <p:spPr>
          <a:xfrm>
            <a:off x="2307705" y="4654775"/>
            <a:ext cx="393600" cy="393600"/>
          </a:xfrm>
          <a:prstGeom prst="ellipse">
            <a:avLst/>
          </a:prstGeom>
          <a:solidFill>
            <a:srgbClr val="FCE5CD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1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87" name="Google Shape;2587;p81"/>
          <p:cNvSpPr/>
          <p:nvPr/>
        </p:nvSpPr>
        <p:spPr>
          <a:xfrm>
            <a:off x="3831705" y="4654775"/>
            <a:ext cx="393600" cy="3936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2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588" name="Google Shape;2588;p81"/>
          <p:cNvCxnSpPr>
            <a:stCxn id="2579" idx="4"/>
            <a:endCxn id="2586" idx="0"/>
          </p:cNvCxnSpPr>
          <p:nvPr/>
        </p:nvCxnSpPr>
        <p:spPr>
          <a:xfrm flipH="1">
            <a:off x="2504505" y="3676775"/>
            <a:ext cx="762000" cy="978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89" name="Google Shape;2589;p81"/>
          <p:cNvCxnSpPr>
            <a:stCxn id="2579" idx="4"/>
            <a:endCxn id="2587" idx="0"/>
          </p:cNvCxnSpPr>
          <p:nvPr/>
        </p:nvCxnSpPr>
        <p:spPr>
          <a:xfrm>
            <a:off x="3266505" y="3676775"/>
            <a:ext cx="762000" cy="978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90" name="Google Shape;2590;p81"/>
          <p:cNvSpPr/>
          <p:nvPr/>
        </p:nvSpPr>
        <p:spPr>
          <a:xfrm>
            <a:off x="5127408" y="2000487"/>
            <a:ext cx="1246200" cy="2511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91" name="Google Shape;2591;p81"/>
          <p:cNvSpPr/>
          <p:nvPr/>
        </p:nvSpPr>
        <p:spPr>
          <a:xfrm>
            <a:off x="6206508" y="3425674"/>
            <a:ext cx="1246200" cy="2511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92" name="Google Shape;2592;p81"/>
          <p:cNvSpPr/>
          <p:nvPr/>
        </p:nvSpPr>
        <p:spPr>
          <a:xfrm>
            <a:off x="1671104" y="3425674"/>
            <a:ext cx="12462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93" name="Google Shape;2593;p81"/>
          <p:cNvSpPr txBox="1"/>
          <p:nvPr/>
        </p:nvSpPr>
        <p:spPr>
          <a:xfrm>
            <a:off x="5660500" y="4395175"/>
            <a:ext cx="3074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rgbClr val="FF00FF"/>
                </a:solidFill>
                <a:latin typeface="Roboto"/>
                <a:ea typeface="Roboto"/>
                <a:cs typeface="Roboto"/>
                <a:sym typeface="Roboto"/>
              </a:rPr>
              <a:t>Node 2 computes the sum of all its descendants (plus itself).</a:t>
            </a:r>
            <a:endParaRPr sz="1600">
              <a:solidFill>
                <a:srgbClr val="FF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7" name="Shape 2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8" name="Google Shape;2598;p82"/>
          <p:cNvSpPr txBox="1"/>
          <p:nvPr>
            <p:ph idx="1" type="body"/>
          </p:nvPr>
        </p:nvSpPr>
        <p:spPr>
          <a:xfrm>
            <a:off x="107050" y="402200"/>
            <a:ext cx="8909700" cy="59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1. Send your vector to your parent. When you receive vector(s), sum them up.</a:t>
            </a:r>
            <a:endParaRPr/>
          </a:p>
        </p:txBody>
      </p:sp>
      <p:sp>
        <p:nvSpPr>
          <p:cNvPr id="2599" name="Google Shape;2599;p82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Tree-Based AllReduce</a:t>
            </a:r>
            <a:endParaRPr/>
          </a:p>
        </p:txBody>
      </p:sp>
      <p:sp>
        <p:nvSpPr>
          <p:cNvPr id="2600" name="Google Shape;2600;p82"/>
          <p:cNvSpPr/>
          <p:nvPr/>
        </p:nvSpPr>
        <p:spPr>
          <a:xfrm>
            <a:off x="4365105" y="1911575"/>
            <a:ext cx="393600" cy="393600"/>
          </a:xfrm>
          <a:prstGeom prst="ellipse">
            <a:avLst/>
          </a:prstGeom>
          <a:solidFill>
            <a:srgbClr val="D9D2E9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5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01" name="Google Shape;2601;p82"/>
          <p:cNvSpPr/>
          <p:nvPr/>
        </p:nvSpPr>
        <p:spPr>
          <a:xfrm>
            <a:off x="5127408" y="1749275"/>
            <a:ext cx="1246200" cy="2511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02" name="Google Shape;2602;p82"/>
          <p:cNvSpPr/>
          <p:nvPr/>
        </p:nvSpPr>
        <p:spPr>
          <a:xfrm>
            <a:off x="5127400" y="1498075"/>
            <a:ext cx="1246200" cy="2511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03" name="Google Shape;2603;p82"/>
          <p:cNvSpPr/>
          <p:nvPr/>
        </p:nvSpPr>
        <p:spPr>
          <a:xfrm>
            <a:off x="5127414" y="1246875"/>
            <a:ext cx="1246200" cy="2511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04" name="Google Shape;2604;p82"/>
          <p:cNvSpPr/>
          <p:nvPr/>
        </p:nvSpPr>
        <p:spPr>
          <a:xfrm>
            <a:off x="5127406" y="995675"/>
            <a:ext cx="1246200" cy="2511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05" name="Google Shape;2605;p82"/>
          <p:cNvSpPr/>
          <p:nvPr/>
        </p:nvSpPr>
        <p:spPr>
          <a:xfrm>
            <a:off x="5660505" y="3283175"/>
            <a:ext cx="393600" cy="393600"/>
          </a:xfrm>
          <a:prstGeom prst="ellipse">
            <a:avLst/>
          </a:prstGeom>
          <a:solidFill>
            <a:srgbClr val="D9EAD3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4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06" name="Google Shape;2606;p82"/>
          <p:cNvSpPr/>
          <p:nvPr/>
        </p:nvSpPr>
        <p:spPr>
          <a:xfrm>
            <a:off x="3069705" y="3283175"/>
            <a:ext cx="393600" cy="393600"/>
          </a:xfrm>
          <a:prstGeom prst="ellipse">
            <a:avLst/>
          </a:prstGeom>
          <a:solidFill>
            <a:srgbClr val="F4CCCC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3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607" name="Google Shape;2607;p82"/>
          <p:cNvCxnSpPr>
            <a:stCxn id="2600" idx="4"/>
            <a:endCxn id="2606" idx="0"/>
          </p:cNvCxnSpPr>
          <p:nvPr/>
        </p:nvCxnSpPr>
        <p:spPr>
          <a:xfrm flipH="1">
            <a:off x="3266505" y="2305175"/>
            <a:ext cx="1295400" cy="978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08" name="Google Shape;2608;p82"/>
          <p:cNvCxnSpPr>
            <a:stCxn id="2600" idx="4"/>
            <a:endCxn id="2605" idx="0"/>
          </p:cNvCxnSpPr>
          <p:nvPr/>
        </p:nvCxnSpPr>
        <p:spPr>
          <a:xfrm>
            <a:off x="4561905" y="2305175"/>
            <a:ext cx="1295400" cy="978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609" name="Google Shape;2609;p82"/>
          <p:cNvSpPr/>
          <p:nvPr/>
        </p:nvSpPr>
        <p:spPr>
          <a:xfrm>
            <a:off x="2307705" y="4654775"/>
            <a:ext cx="393600" cy="393600"/>
          </a:xfrm>
          <a:prstGeom prst="ellipse">
            <a:avLst/>
          </a:prstGeom>
          <a:solidFill>
            <a:srgbClr val="FCE5CD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1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10" name="Google Shape;2610;p82"/>
          <p:cNvSpPr/>
          <p:nvPr/>
        </p:nvSpPr>
        <p:spPr>
          <a:xfrm>
            <a:off x="3831705" y="4654775"/>
            <a:ext cx="393600" cy="3936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2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611" name="Google Shape;2611;p82"/>
          <p:cNvCxnSpPr>
            <a:stCxn id="2606" idx="4"/>
            <a:endCxn id="2609" idx="0"/>
          </p:cNvCxnSpPr>
          <p:nvPr/>
        </p:nvCxnSpPr>
        <p:spPr>
          <a:xfrm flipH="1">
            <a:off x="2504505" y="3676775"/>
            <a:ext cx="762000" cy="978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12" name="Google Shape;2612;p82"/>
          <p:cNvCxnSpPr>
            <a:stCxn id="2606" idx="4"/>
            <a:endCxn id="2610" idx="0"/>
          </p:cNvCxnSpPr>
          <p:nvPr/>
        </p:nvCxnSpPr>
        <p:spPr>
          <a:xfrm>
            <a:off x="3266505" y="3676775"/>
            <a:ext cx="762000" cy="978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613" name="Google Shape;2613;p82"/>
          <p:cNvSpPr/>
          <p:nvPr/>
        </p:nvSpPr>
        <p:spPr>
          <a:xfrm>
            <a:off x="5127408" y="2000487"/>
            <a:ext cx="1246200" cy="2511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2614" name="Google Shape;2614;p82"/>
          <p:cNvCxnSpPr/>
          <p:nvPr/>
        </p:nvCxnSpPr>
        <p:spPr>
          <a:xfrm flipH="1">
            <a:off x="3452500" y="2636550"/>
            <a:ext cx="468600" cy="3564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2615" name="Google Shape;2615;p82"/>
          <p:cNvCxnSpPr/>
          <p:nvPr/>
        </p:nvCxnSpPr>
        <p:spPr>
          <a:xfrm>
            <a:off x="5232314" y="2636550"/>
            <a:ext cx="468600" cy="3564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2616" name="Google Shape;2616;p82"/>
          <p:cNvSpPr/>
          <p:nvPr/>
        </p:nvSpPr>
        <p:spPr>
          <a:xfrm>
            <a:off x="5051195" y="1825474"/>
            <a:ext cx="1246200" cy="2511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17" name="Google Shape;2617;p82"/>
          <p:cNvSpPr/>
          <p:nvPr/>
        </p:nvSpPr>
        <p:spPr>
          <a:xfrm>
            <a:off x="5051187" y="1574275"/>
            <a:ext cx="1246200" cy="2511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18" name="Google Shape;2618;p82"/>
          <p:cNvSpPr/>
          <p:nvPr/>
        </p:nvSpPr>
        <p:spPr>
          <a:xfrm>
            <a:off x="5051201" y="1323075"/>
            <a:ext cx="1246200" cy="2511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19" name="Google Shape;2619;p82"/>
          <p:cNvSpPr/>
          <p:nvPr/>
        </p:nvSpPr>
        <p:spPr>
          <a:xfrm>
            <a:off x="5051193" y="1071875"/>
            <a:ext cx="1246200" cy="2511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20" name="Google Shape;2620;p82"/>
          <p:cNvSpPr/>
          <p:nvPr/>
        </p:nvSpPr>
        <p:spPr>
          <a:xfrm>
            <a:off x="5051195" y="2076674"/>
            <a:ext cx="1246200" cy="2511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21" name="Google Shape;2621;p82"/>
          <p:cNvSpPr/>
          <p:nvPr/>
        </p:nvSpPr>
        <p:spPr>
          <a:xfrm>
            <a:off x="4974979" y="1901674"/>
            <a:ext cx="12462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22" name="Google Shape;2622;p82"/>
          <p:cNvSpPr/>
          <p:nvPr/>
        </p:nvSpPr>
        <p:spPr>
          <a:xfrm>
            <a:off x="4974972" y="1650475"/>
            <a:ext cx="12462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23" name="Google Shape;2623;p82"/>
          <p:cNvSpPr/>
          <p:nvPr/>
        </p:nvSpPr>
        <p:spPr>
          <a:xfrm>
            <a:off x="4974985" y="1399275"/>
            <a:ext cx="12462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24" name="Google Shape;2624;p82"/>
          <p:cNvSpPr/>
          <p:nvPr/>
        </p:nvSpPr>
        <p:spPr>
          <a:xfrm>
            <a:off x="4974977" y="1148075"/>
            <a:ext cx="12462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25" name="Google Shape;2625;p82"/>
          <p:cNvSpPr/>
          <p:nvPr/>
        </p:nvSpPr>
        <p:spPr>
          <a:xfrm>
            <a:off x="4974979" y="2152874"/>
            <a:ext cx="12462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26" name="Google Shape;2626;p82"/>
          <p:cNvSpPr txBox="1"/>
          <p:nvPr/>
        </p:nvSpPr>
        <p:spPr>
          <a:xfrm>
            <a:off x="6206500" y="4395175"/>
            <a:ext cx="2357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FF00FF"/>
                </a:solidFill>
                <a:latin typeface="Roboto"/>
                <a:ea typeface="Roboto"/>
                <a:cs typeface="Roboto"/>
                <a:sym typeface="Roboto"/>
              </a:rPr>
              <a:t>Nodes 2 and 3 send their vectors to their parent.</a:t>
            </a:r>
            <a:endParaRPr sz="1600">
              <a:solidFill>
                <a:srgbClr val="FF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0" name="Shape 2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1" name="Google Shape;2631;p83"/>
          <p:cNvSpPr txBox="1"/>
          <p:nvPr>
            <p:ph idx="1" type="body"/>
          </p:nvPr>
        </p:nvSpPr>
        <p:spPr>
          <a:xfrm>
            <a:off x="107050" y="402200"/>
            <a:ext cx="8909700" cy="59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1. Send your vector to your parent. When you receive vector(s), sum them up.</a:t>
            </a:r>
            <a:endParaRPr/>
          </a:p>
        </p:txBody>
      </p:sp>
      <p:sp>
        <p:nvSpPr>
          <p:cNvPr id="2632" name="Google Shape;2632;p83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Tree-Based AllReduce</a:t>
            </a:r>
            <a:endParaRPr/>
          </a:p>
        </p:txBody>
      </p:sp>
      <p:sp>
        <p:nvSpPr>
          <p:cNvPr id="2633" name="Google Shape;2633;p83"/>
          <p:cNvSpPr/>
          <p:nvPr/>
        </p:nvSpPr>
        <p:spPr>
          <a:xfrm>
            <a:off x="4365105" y="1911575"/>
            <a:ext cx="393600" cy="393600"/>
          </a:xfrm>
          <a:prstGeom prst="ellipse">
            <a:avLst/>
          </a:prstGeom>
          <a:solidFill>
            <a:srgbClr val="D9D2E9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5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34" name="Google Shape;2634;p83"/>
          <p:cNvSpPr/>
          <p:nvPr/>
        </p:nvSpPr>
        <p:spPr>
          <a:xfrm>
            <a:off x="5127408" y="1749275"/>
            <a:ext cx="12462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35" name="Google Shape;2635;p83"/>
          <p:cNvSpPr/>
          <p:nvPr/>
        </p:nvSpPr>
        <p:spPr>
          <a:xfrm>
            <a:off x="5127400" y="1498075"/>
            <a:ext cx="12462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36" name="Google Shape;2636;p83"/>
          <p:cNvSpPr/>
          <p:nvPr/>
        </p:nvSpPr>
        <p:spPr>
          <a:xfrm>
            <a:off x="5127414" y="1246875"/>
            <a:ext cx="12462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37" name="Google Shape;2637;p83"/>
          <p:cNvSpPr/>
          <p:nvPr/>
        </p:nvSpPr>
        <p:spPr>
          <a:xfrm>
            <a:off x="5127406" y="995675"/>
            <a:ext cx="12462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38" name="Google Shape;2638;p83"/>
          <p:cNvSpPr/>
          <p:nvPr/>
        </p:nvSpPr>
        <p:spPr>
          <a:xfrm>
            <a:off x="5660505" y="3283175"/>
            <a:ext cx="393600" cy="393600"/>
          </a:xfrm>
          <a:prstGeom prst="ellipse">
            <a:avLst/>
          </a:prstGeom>
          <a:solidFill>
            <a:srgbClr val="D9EAD3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4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39" name="Google Shape;2639;p83"/>
          <p:cNvSpPr/>
          <p:nvPr/>
        </p:nvSpPr>
        <p:spPr>
          <a:xfrm>
            <a:off x="3069705" y="3283175"/>
            <a:ext cx="393600" cy="393600"/>
          </a:xfrm>
          <a:prstGeom prst="ellipse">
            <a:avLst/>
          </a:prstGeom>
          <a:solidFill>
            <a:srgbClr val="F4CCCC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3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640" name="Google Shape;2640;p83"/>
          <p:cNvCxnSpPr>
            <a:stCxn id="2633" idx="4"/>
            <a:endCxn id="2639" idx="0"/>
          </p:cNvCxnSpPr>
          <p:nvPr/>
        </p:nvCxnSpPr>
        <p:spPr>
          <a:xfrm flipH="1">
            <a:off x="3266505" y="2305175"/>
            <a:ext cx="1295400" cy="978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41" name="Google Shape;2641;p83"/>
          <p:cNvCxnSpPr>
            <a:stCxn id="2633" idx="4"/>
            <a:endCxn id="2638" idx="0"/>
          </p:cNvCxnSpPr>
          <p:nvPr/>
        </p:nvCxnSpPr>
        <p:spPr>
          <a:xfrm>
            <a:off x="4561905" y="2305175"/>
            <a:ext cx="1295400" cy="978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642" name="Google Shape;2642;p83"/>
          <p:cNvSpPr/>
          <p:nvPr/>
        </p:nvSpPr>
        <p:spPr>
          <a:xfrm>
            <a:off x="2307705" y="4654775"/>
            <a:ext cx="393600" cy="393600"/>
          </a:xfrm>
          <a:prstGeom prst="ellipse">
            <a:avLst/>
          </a:prstGeom>
          <a:solidFill>
            <a:srgbClr val="FCE5CD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1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43" name="Google Shape;2643;p83"/>
          <p:cNvSpPr/>
          <p:nvPr/>
        </p:nvSpPr>
        <p:spPr>
          <a:xfrm>
            <a:off x="3831705" y="4654775"/>
            <a:ext cx="393600" cy="3936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2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644" name="Google Shape;2644;p83"/>
          <p:cNvCxnSpPr>
            <a:stCxn id="2639" idx="4"/>
            <a:endCxn id="2642" idx="0"/>
          </p:cNvCxnSpPr>
          <p:nvPr/>
        </p:nvCxnSpPr>
        <p:spPr>
          <a:xfrm flipH="1">
            <a:off x="2504505" y="3676775"/>
            <a:ext cx="762000" cy="978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45" name="Google Shape;2645;p83"/>
          <p:cNvCxnSpPr>
            <a:stCxn id="2639" idx="4"/>
            <a:endCxn id="2643" idx="0"/>
          </p:cNvCxnSpPr>
          <p:nvPr/>
        </p:nvCxnSpPr>
        <p:spPr>
          <a:xfrm>
            <a:off x="3266505" y="3676775"/>
            <a:ext cx="762000" cy="978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646" name="Google Shape;2646;p83"/>
          <p:cNvSpPr/>
          <p:nvPr/>
        </p:nvSpPr>
        <p:spPr>
          <a:xfrm>
            <a:off x="5127408" y="2000487"/>
            <a:ext cx="12462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47" name="Google Shape;2647;p83"/>
          <p:cNvSpPr txBox="1"/>
          <p:nvPr/>
        </p:nvSpPr>
        <p:spPr>
          <a:xfrm>
            <a:off x="5660500" y="4395175"/>
            <a:ext cx="3074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FF00FF"/>
                </a:solidFill>
                <a:latin typeface="Roboto"/>
                <a:ea typeface="Roboto"/>
                <a:cs typeface="Roboto"/>
                <a:sym typeface="Roboto"/>
              </a:rPr>
              <a:t>Node 4 computes the sum of all its descendants (plus itself).</a:t>
            </a:r>
            <a:endParaRPr sz="1600">
              <a:solidFill>
                <a:srgbClr val="FF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1" name="Shape 2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2" name="Google Shape;2652;p84"/>
          <p:cNvSpPr txBox="1"/>
          <p:nvPr>
            <p:ph idx="1" type="body"/>
          </p:nvPr>
        </p:nvSpPr>
        <p:spPr>
          <a:xfrm>
            <a:off x="107050" y="402200"/>
            <a:ext cx="8909700" cy="59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2. The overall sum is sent down the tree, starting from the root.</a:t>
            </a:r>
            <a:endParaRPr/>
          </a:p>
        </p:txBody>
      </p:sp>
      <p:sp>
        <p:nvSpPr>
          <p:cNvPr id="2653" name="Google Shape;2653;p84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Tree-Based AllReduce</a:t>
            </a:r>
            <a:endParaRPr/>
          </a:p>
        </p:txBody>
      </p:sp>
      <p:sp>
        <p:nvSpPr>
          <p:cNvPr id="2654" name="Google Shape;2654;p84"/>
          <p:cNvSpPr/>
          <p:nvPr/>
        </p:nvSpPr>
        <p:spPr>
          <a:xfrm>
            <a:off x="4365105" y="1911575"/>
            <a:ext cx="393600" cy="393600"/>
          </a:xfrm>
          <a:prstGeom prst="ellipse">
            <a:avLst/>
          </a:prstGeom>
          <a:solidFill>
            <a:srgbClr val="D9D2E9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5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55" name="Google Shape;2655;p84"/>
          <p:cNvSpPr/>
          <p:nvPr/>
        </p:nvSpPr>
        <p:spPr>
          <a:xfrm>
            <a:off x="5127408" y="1749275"/>
            <a:ext cx="12462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56" name="Google Shape;2656;p84"/>
          <p:cNvSpPr/>
          <p:nvPr/>
        </p:nvSpPr>
        <p:spPr>
          <a:xfrm>
            <a:off x="5127400" y="1498075"/>
            <a:ext cx="12462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57" name="Google Shape;2657;p84"/>
          <p:cNvSpPr/>
          <p:nvPr/>
        </p:nvSpPr>
        <p:spPr>
          <a:xfrm>
            <a:off x="5127414" y="1246875"/>
            <a:ext cx="12462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58" name="Google Shape;2658;p84"/>
          <p:cNvSpPr/>
          <p:nvPr/>
        </p:nvSpPr>
        <p:spPr>
          <a:xfrm>
            <a:off x="5127406" y="995675"/>
            <a:ext cx="12462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59" name="Google Shape;2659;p84"/>
          <p:cNvSpPr/>
          <p:nvPr/>
        </p:nvSpPr>
        <p:spPr>
          <a:xfrm>
            <a:off x="5660505" y="3283175"/>
            <a:ext cx="393600" cy="393600"/>
          </a:xfrm>
          <a:prstGeom prst="ellipse">
            <a:avLst/>
          </a:prstGeom>
          <a:solidFill>
            <a:srgbClr val="D9EAD3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4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60" name="Google Shape;2660;p84"/>
          <p:cNvSpPr/>
          <p:nvPr/>
        </p:nvSpPr>
        <p:spPr>
          <a:xfrm>
            <a:off x="3069705" y="3283175"/>
            <a:ext cx="393600" cy="393600"/>
          </a:xfrm>
          <a:prstGeom prst="ellipse">
            <a:avLst/>
          </a:prstGeom>
          <a:solidFill>
            <a:srgbClr val="F4CCCC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3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661" name="Google Shape;2661;p84"/>
          <p:cNvCxnSpPr>
            <a:stCxn id="2654" idx="4"/>
            <a:endCxn id="2660" idx="0"/>
          </p:cNvCxnSpPr>
          <p:nvPr/>
        </p:nvCxnSpPr>
        <p:spPr>
          <a:xfrm flipH="1">
            <a:off x="3266505" y="2305175"/>
            <a:ext cx="1295400" cy="978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62" name="Google Shape;2662;p84"/>
          <p:cNvCxnSpPr>
            <a:stCxn id="2654" idx="4"/>
            <a:endCxn id="2659" idx="0"/>
          </p:cNvCxnSpPr>
          <p:nvPr/>
        </p:nvCxnSpPr>
        <p:spPr>
          <a:xfrm>
            <a:off x="4561905" y="2305175"/>
            <a:ext cx="1295400" cy="978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663" name="Google Shape;2663;p84"/>
          <p:cNvSpPr/>
          <p:nvPr/>
        </p:nvSpPr>
        <p:spPr>
          <a:xfrm>
            <a:off x="2307705" y="4654775"/>
            <a:ext cx="393600" cy="393600"/>
          </a:xfrm>
          <a:prstGeom prst="ellipse">
            <a:avLst/>
          </a:prstGeom>
          <a:solidFill>
            <a:srgbClr val="FCE5CD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1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64" name="Google Shape;2664;p84"/>
          <p:cNvSpPr/>
          <p:nvPr/>
        </p:nvSpPr>
        <p:spPr>
          <a:xfrm>
            <a:off x="3831705" y="4654775"/>
            <a:ext cx="393600" cy="3936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2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665" name="Google Shape;2665;p84"/>
          <p:cNvCxnSpPr>
            <a:stCxn id="2660" idx="4"/>
            <a:endCxn id="2663" idx="0"/>
          </p:cNvCxnSpPr>
          <p:nvPr/>
        </p:nvCxnSpPr>
        <p:spPr>
          <a:xfrm flipH="1">
            <a:off x="2504505" y="3676775"/>
            <a:ext cx="762000" cy="978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66" name="Google Shape;2666;p84"/>
          <p:cNvCxnSpPr>
            <a:stCxn id="2660" idx="4"/>
            <a:endCxn id="2664" idx="0"/>
          </p:cNvCxnSpPr>
          <p:nvPr/>
        </p:nvCxnSpPr>
        <p:spPr>
          <a:xfrm>
            <a:off x="3266505" y="3676775"/>
            <a:ext cx="762000" cy="978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667" name="Google Shape;2667;p84"/>
          <p:cNvSpPr/>
          <p:nvPr/>
        </p:nvSpPr>
        <p:spPr>
          <a:xfrm>
            <a:off x="5127408" y="2000487"/>
            <a:ext cx="12462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2668" name="Google Shape;2668;p84"/>
          <p:cNvCxnSpPr/>
          <p:nvPr/>
        </p:nvCxnSpPr>
        <p:spPr>
          <a:xfrm flipH="1">
            <a:off x="3452500" y="2636550"/>
            <a:ext cx="468600" cy="3564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669" name="Google Shape;2669;p84"/>
          <p:cNvCxnSpPr/>
          <p:nvPr/>
        </p:nvCxnSpPr>
        <p:spPr>
          <a:xfrm>
            <a:off x="5232314" y="2636550"/>
            <a:ext cx="468600" cy="3564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670" name="Google Shape;2670;p84"/>
          <p:cNvSpPr/>
          <p:nvPr/>
        </p:nvSpPr>
        <p:spPr>
          <a:xfrm>
            <a:off x="6206508" y="3174474"/>
            <a:ext cx="12462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71" name="Google Shape;2671;p84"/>
          <p:cNvSpPr/>
          <p:nvPr/>
        </p:nvSpPr>
        <p:spPr>
          <a:xfrm>
            <a:off x="6206500" y="2923275"/>
            <a:ext cx="12462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72" name="Google Shape;2672;p84"/>
          <p:cNvSpPr/>
          <p:nvPr/>
        </p:nvSpPr>
        <p:spPr>
          <a:xfrm>
            <a:off x="6206513" y="2672075"/>
            <a:ext cx="12462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73" name="Google Shape;2673;p84"/>
          <p:cNvSpPr/>
          <p:nvPr/>
        </p:nvSpPr>
        <p:spPr>
          <a:xfrm>
            <a:off x="6206506" y="2420875"/>
            <a:ext cx="12462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74" name="Google Shape;2674;p84"/>
          <p:cNvSpPr/>
          <p:nvPr/>
        </p:nvSpPr>
        <p:spPr>
          <a:xfrm>
            <a:off x="1671104" y="3174474"/>
            <a:ext cx="12462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75" name="Google Shape;2675;p84"/>
          <p:cNvSpPr/>
          <p:nvPr/>
        </p:nvSpPr>
        <p:spPr>
          <a:xfrm>
            <a:off x="1671097" y="2923275"/>
            <a:ext cx="12462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76" name="Google Shape;2676;p84"/>
          <p:cNvSpPr/>
          <p:nvPr/>
        </p:nvSpPr>
        <p:spPr>
          <a:xfrm>
            <a:off x="1671110" y="2672075"/>
            <a:ext cx="12462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77" name="Google Shape;2677;p84"/>
          <p:cNvSpPr/>
          <p:nvPr/>
        </p:nvSpPr>
        <p:spPr>
          <a:xfrm>
            <a:off x="1671102" y="2420875"/>
            <a:ext cx="12462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78" name="Google Shape;2678;p84"/>
          <p:cNvSpPr/>
          <p:nvPr/>
        </p:nvSpPr>
        <p:spPr>
          <a:xfrm>
            <a:off x="6206508" y="3425674"/>
            <a:ext cx="12462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79" name="Google Shape;2679;p84"/>
          <p:cNvSpPr/>
          <p:nvPr/>
        </p:nvSpPr>
        <p:spPr>
          <a:xfrm>
            <a:off x="1671104" y="3425674"/>
            <a:ext cx="12462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80" name="Google Shape;2680;p84"/>
          <p:cNvSpPr txBox="1"/>
          <p:nvPr/>
        </p:nvSpPr>
        <p:spPr>
          <a:xfrm>
            <a:off x="6206500" y="4395175"/>
            <a:ext cx="25239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FF00FF"/>
                </a:solidFill>
                <a:latin typeface="Roboto"/>
                <a:ea typeface="Roboto"/>
                <a:cs typeface="Roboto"/>
                <a:sym typeface="Roboto"/>
              </a:rPr>
              <a:t>Node 4 forwards the overall sum to its children.</a:t>
            </a:r>
            <a:endParaRPr sz="1600">
              <a:solidFill>
                <a:srgbClr val="FF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4" name="Shape 2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5" name="Google Shape;2685;p85"/>
          <p:cNvSpPr txBox="1"/>
          <p:nvPr>
            <p:ph idx="1" type="body"/>
          </p:nvPr>
        </p:nvSpPr>
        <p:spPr>
          <a:xfrm>
            <a:off x="107050" y="402200"/>
            <a:ext cx="8909700" cy="59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2. The overall sum is sent down the tree, starting from the root.</a:t>
            </a:r>
            <a:endParaRPr/>
          </a:p>
        </p:txBody>
      </p:sp>
      <p:sp>
        <p:nvSpPr>
          <p:cNvPr id="2686" name="Google Shape;2686;p85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Tree-Based AllReduce</a:t>
            </a:r>
            <a:endParaRPr/>
          </a:p>
        </p:txBody>
      </p:sp>
      <p:sp>
        <p:nvSpPr>
          <p:cNvPr id="2687" name="Google Shape;2687;p85"/>
          <p:cNvSpPr/>
          <p:nvPr/>
        </p:nvSpPr>
        <p:spPr>
          <a:xfrm>
            <a:off x="4365105" y="1911575"/>
            <a:ext cx="393600" cy="393600"/>
          </a:xfrm>
          <a:prstGeom prst="ellipse">
            <a:avLst/>
          </a:prstGeom>
          <a:solidFill>
            <a:srgbClr val="D9D2E9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5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88" name="Google Shape;2688;p85"/>
          <p:cNvSpPr/>
          <p:nvPr/>
        </p:nvSpPr>
        <p:spPr>
          <a:xfrm>
            <a:off x="5127408" y="1749275"/>
            <a:ext cx="12462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89" name="Google Shape;2689;p85"/>
          <p:cNvSpPr/>
          <p:nvPr/>
        </p:nvSpPr>
        <p:spPr>
          <a:xfrm>
            <a:off x="5127400" y="1498075"/>
            <a:ext cx="12462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90" name="Google Shape;2690;p85"/>
          <p:cNvSpPr/>
          <p:nvPr/>
        </p:nvSpPr>
        <p:spPr>
          <a:xfrm>
            <a:off x="5127414" y="1246875"/>
            <a:ext cx="12462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91" name="Google Shape;2691;p85"/>
          <p:cNvSpPr/>
          <p:nvPr/>
        </p:nvSpPr>
        <p:spPr>
          <a:xfrm>
            <a:off x="5127406" y="995675"/>
            <a:ext cx="12462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92" name="Google Shape;2692;p85"/>
          <p:cNvSpPr/>
          <p:nvPr/>
        </p:nvSpPr>
        <p:spPr>
          <a:xfrm>
            <a:off x="5660505" y="3283175"/>
            <a:ext cx="393600" cy="393600"/>
          </a:xfrm>
          <a:prstGeom prst="ellipse">
            <a:avLst/>
          </a:prstGeom>
          <a:solidFill>
            <a:srgbClr val="D9EAD3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4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93" name="Google Shape;2693;p85"/>
          <p:cNvSpPr/>
          <p:nvPr/>
        </p:nvSpPr>
        <p:spPr>
          <a:xfrm>
            <a:off x="3069705" y="3283175"/>
            <a:ext cx="393600" cy="393600"/>
          </a:xfrm>
          <a:prstGeom prst="ellipse">
            <a:avLst/>
          </a:prstGeom>
          <a:solidFill>
            <a:srgbClr val="F4CCCC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3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694" name="Google Shape;2694;p85"/>
          <p:cNvCxnSpPr>
            <a:stCxn id="2687" idx="4"/>
            <a:endCxn id="2693" idx="0"/>
          </p:cNvCxnSpPr>
          <p:nvPr/>
        </p:nvCxnSpPr>
        <p:spPr>
          <a:xfrm flipH="1">
            <a:off x="3266505" y="2305175"/>
            <a:ext cx="1295400" cy="978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95" name="Google Shape;2695;p85"/>
          <p:cNvCxnSpPr>
            <a:stCxn id="2687" idx="4"/>
            <a:endCxn id="2692" idx="0"/>
          </p:cNvCxnSpPr>
          <p:nvPr/>
        </p:nvCxnSpPr>
        <p:spPr>
          <a:xfrm>
            <a:off x="4561905" y="2305175"/>
            <a:ext cx="1295400" cy="978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696" name="Google Shape;2696;p85"/>
          <p:cNvSpPr/>
          <p:nvPr/>
        </p:nvSpPr>
        <p:spPr>
          <a:xfrm>
            <a:off x="2307705" y="4654775"/>
            <a:ext cx="393600" cy="393600"/>
          </a:xfrm>
          <a:prstGeom prst="ellipse">
            <a:avLst/>
          </a:prstGeom>
          <a:solidFill>
            <a:srgbClr val="FCE5CD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1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97" name="Google Shape;2697;p85"/>
          <p:cNvSpPr/>
          <p:nvPr/>
        </p:nvSpPr>
        <p:spPr>
          <a:xfrm>
            <a:off x="3831705" y="4654775"/>
            <a:ext cx="393600" cy="3936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2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698" name="Google Shape;2698;p85"/>
          <p:cNvCxnSpPr>
            <a:stCxn id="2693" idx="4"/>
            <a:endCxn id="2696" idx="0"/>
          </p:cNvCxnSpPr>
          <p:nvPr/>
        </p:nvCxnSpPr>
        <p:spPr>
          <a:xfrm flipH="1">
            <a:off x="2504505" y="3676775"/>
            <a:ext cx="762000" cy="978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99" name="Google Shape;2699;p85"/>
          <p:cNvCxnSpPr>
            <a:stCxn id="2693" idx="4"/>
            <a:endCxn id="2697" idx="0"/>
          </p:cNvCxnSpPr>
          <p:nvPr/>
        </p:nvCxnSpPr>
        <p:spPr>
          <a:xfrm>
            <a:off x="3266505" y="3676775"/>
            <a:ext cx="762000" cy="978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700" name="Google Shape;2700;p85"/>
          <p:cNvSpPr/>
          <p:nvPr/>
        </p:nvSpPr>
        <p:spPr>
          <a:xfrm>
            <a:off x="5127408" y="2000487"/>
            <a:ext cx="12462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01" name="Google Shape;2701;p85"/>
          <p:cNvSpPr/>
          <p:nvPr/>
        </p:nvSpPr>
        <p:spPr>
          <a:xfrm>
            <a:off x="6206508" y="3174474"/>
            <a:ext cx="12462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02" name="Google Shape;2702;p85"/>
          <p:cNvSpPr/>
          <p:nvPr/>
        </p:nvSpPr>
        <p:spPr>
          <a:xfrm>
            <a:off x="6206500" y="2923275"/>
            <a:ext cx="12462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03" name="Google Shape;2703;p85"/>
          <p:cNvSpPr/>
          <p:nvPr/>
        </p:nvSpPr>
        <p:spPr>
          <a:xfrm>
            <a:off x="6206513" y="2672075"/>
            <a:ext cx="12462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04" name="Google Shape;2704;p85"/>
          <p:cNvSpPr/>
          <p:nvPr/>
        </p:nvSpPr>
        <p:spPr>
          <a:xfrm>
            <a:off x="6206506" y="2420875"/>
            <a:ext cx="12462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05" name="Google Shape;2705;p85"/>
          <p:cNvSpPr/>
          <p:nvPr/>
        </p:nvSpPr>
        <p:spPr>
          <a:xfrm>
            <a:off x="1671104" y="3174474"/>
            <a:ext cx="12462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06" name="Google Shape;2706;p85"/>
          <p:cNvSpPr/>
          <p:nvPr/>
        </p:nvSpPr>
        <p:spPr>
          <a:xfrm>
            <a:off x="1671097" y="2923275"/>
            <a:ext cx="12462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07" name="Google Shape;2707;p85"/>
          <p:cNvSpPr/>
          <p:nvPr/>
        </p:nvSpPr>
        <p:spPr>
          <a:xfrm>
            <a:off x="1671110" y="2672075"/>
            <a:ext cx="12462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08" name="Google Shape;2708;p85"/>
          <p:cNvSpPr/>
          <p:nvPr/>
        </p:nvSpPr>
        <p:spPr>
          <a:xfrm>
            <a:off x="1671102" y="2420875"/>
            <a:ext cx="12462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09" name="Google Shape;2709;p85"/>
          <p:cNvSpPr/>
          <p:nvPr/>
        </p:nvSpPr>
        <p:spPr>
          <a:xfrm>
            <a:off x="6206508" y="3425674"/>
            <a:ext cx="12462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10" name="Google Shape;2710;p85"/>
          <p:cNvSpPr/>
          <p:nvPr/>
        </p:nvSpPr>
        <p:spPr>
          <a:xfrm>
            <a:off x="1671104" y="3425674"/>
            <a:ext cx="12462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11" name="Google Shape;2711;p85"/>
          <p:cNvSpPr txBox="1"/>
          <p:nvPr/>
        </p:nvSpPr>
        <p:spPr>
          <a:xfrm>
            <a:off x="6206500" y="4395175"/>
            <a:ext cx="25239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FF00FF"/>
                </a:solidFill>
                <a:latin typeface="Roboto"/>
                <a:ea typeface="Roboto"/>
                <a:cs typeface="Roboto"/>
                <a:sym typeface="Roboto"/>
              </a:rPr>
              <a:t>Node 2 forwards the overall sum to its children.</a:t>
            </a:r>
            <a:endParaRPr sz="1600">
              <a:solidFill>
                <a:srgbClr val="FF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712" name="Google Shape;2712;p85"/>
          <p:cNvCxnSpPr/>
          <p:nvPr/>
        </p:nvCxnSpPr>
        <p:spPr>
          <a:xfrm flipH="1">
            <a:off x="2504350" y="4044425"/>
            <a:ext cx="321000" cy="4125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713" name="Google Shape;2713;p85"/>
          <p:cNvCxnSpPr/>
          <p:nvPr/>
        </p:nvCxnSpPr>
        <p:spPr>
          <a:xfrm>
            <a:off x="3707525" y="4044425"/>
            <a:ext cx="321000" cy="4125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714" name="Google Shape;2714;p85"/>
          <p:cNvSpPr/>
          <p:nvPr/>
        </p:nvSpPr>
        <p:spPr>
          <a:xfrm>
            <a:off x="909083" y="4546075"/>
            <a:ext cx="12462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15" name="Google Shape;2715;p85"/>
          <p:cNvSpPr/>
          <p:nvPr/>
        </p:nvSpPr>
        <p:spPr>
          <a:xfrm>
            <a:off x="909075" y="4294875"/>
            <a:ext cx="12462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16" name="Google Shape;2716;p85"/>
          <p:cNvSpPr/>
          <p:nvPr/>
        </p:nvSpPr>
        <p:spPr>
          <a:xfrm>
            <a:off x="909089" y="4043675"/>
            <a:ext cx="12462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17" name="Google Shape;2717;p85"/>
          <p:cNvSpPr/>
          <p:nvPr/>
        </p:nvSpPr>
        <p:spPr>
          <a:xfrm>
            <a:off x="909081" y="3792475"/>
            <a:ext cx="12462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18" name="Google Shape;2718;p85"/>
          <p:cNvSpPr/>
          <p:nvPr/>
        </p:nvSpPr>
        <p:spPr>
          <a:xfrm>
            <a:off x="4377708" y="4546074"/>
            <a:ext cx="12462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19" name="Google Shape;2719;p85"/>
          <p:cNvSpPr/>
          <p:nvPr/>
        </p:nvSpPr>
        <p:spPr>
          <a:xfrm>
            <a:off x="4377700" y="4294875"/>
            <a:ext cx="12462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20" name="Google Shape;2720;p85"/>
          <p:cNvSpPr/>
          <p:nvPr/>
        </p:nvSpPr>
        <p:spPr>
          <a:xfrm>
            <a:off x="4377713" y="4043675"/>
            <a:ext cx="12462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21" name="Google Shape;2721;p85"/>
          <p:cNvSpPr/>
          <p:nvPr/>
        </p:nvSpPr>
        <p:spPr>
          <a:xfrm>
            <a:off x="4377706" y="3792475"/>
            <a:ext cx="12462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22" name="Google Shape;2722;p85"/>
          <p:cNvSpPr/>
          <p:nvPr/>
        </p:nvSpPr>
        <p:spPr>
          <a:xfrm>
            <a:off x="4377708" y="4797274"/>
            <a:ext cx="12462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23" name="Google Shape;2723;p85"/>
          <p:cNvSpPr/>
          <p:nvPr/>
        </p:nvSpPr>
        <p:spPr>
          <a:xfrm>
            <a:off x="909108" y="4797275"/>
            <a:ext cx="12462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7" name="Shape 27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8" name="Google Shape;2728;p86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Tree Topology: Efficiency</a:t>
            </a:r>
            <a:endParaRPr/>
          </a:p>
        </p:txBody>
      </p:sp>
      <p:sp>
        <p:nvSpPr>
          <p:cNvPr id="2729" name="Google Shape;2729;p86"/>
          <p:cNvSpPr txBox="1"/>
          <p:nvPr>
            <p:ph idx="1" type="body"/>
          </p:nvPr>
        </p:nvSpPr>
        <p:spPr>
          <a:xfrm>
            <a:off x="107050" y="402200"/>
            <a:ext cx="8909700" cy="204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Total bandwidth:	</a:t>
            </a:r>
            <a:r>
              <a:rPr lang="en"/>
              <a:t>Each node receives up to 2 vectors (</a:t>
            </a:r>
            <a:r>
              <a:rPr i="1" lang="en"/>
              <a:t>D</a:t>
            </a:r>
            <a:r>
              <a:rPr lang="en"/>
              <a:t> bytes each) from children.</a:t>
            </a:r>
            <a:br>
              <a:rPr lang="en"/>
            </a:br>
            <a:r>
              <a:rPr lang="en"/>
              <a:t>				Each node sends 1 vector (</a:t>
            </a:r>
            <a:r>
              <a:rPr i="1" lang="en"/>
              <a:t>D</a:t>
            </a:r>
            <a:r>
              <a:rPr lang="en"/>
              <a:t> bytes) to parent. </a:t>
            </a:r>
            <a:r>
              <a:rPr i="1" lang="en"/>
              <a:t>p</a:t>
            </a:r>
            <a:r>
              <a:rPr lang="en"/>
              <a:t> nodes in total.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Number of steps:	Tree has </a:t>
            </a:r>
            <a:r>
              <a:rPr i="1" lang="en"/>
              <a:t>p</a:t>
            </a:r>
            <a:r>
              <a:rPr lang="en"/>
              <a:t> nodes, and height log(</a:t>
            </a:r>
            <a:r>
              <a:rPr i="1" lang="en"/>
              <a:t>p</a:t>
            </a:r>
            <a:r>
              <a:rPr lang="en"/>
              <a:t>).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Bandwidth per step: 	Each node receives up to 2 vectors from children, and sends</a:t>
            </a:r>
            <a:br>
              <a:rPr lang="en"/>
            </a:br>
            <a:r>
              <a:rPr lang="en"/>
              <a:t>					up to 1 vector to parent. Each vector is </a:t>
            </a:r>
            <a:r>
              <a:rPr i="1" lang="en"/>
              <a:t>D</a:t>
            </a:r>
            <a:r>
              <a:rPr lang="en"/>
              <a:t> bytes.</a:t>
            </a:r>
            <a:endParaRPr/>
          </a:p>
        </p:txBody>
      </p:sp>
      <p:graphicFrame>
        <p:nvGraphicFramePr>
          <p:cNvPr id="2730" name="Google Shape;2730;p86"/>
          <p:cNvGraphicFramePr/>
          <p:nvPr/>
        </p:nvGraphicFramePr>
        <p:xfrm>
          <a:off x="952500" y="25593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{B9A57BFC-BF9F-44FD-95FC-58D745B5DC61}</a:tableStyleId>
              </a:tblPr>
              <a:tblGrid>
                <a:gridCol w="1809750"/>
                <a:gridCol w="1809750"/>
                <a:gridCol w="1809750"/>
                <a:gridCol w="18097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Total Bandwidth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Number of Steps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Bandwidth Per Step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Mesh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Dp</a:t>
                      </a:r>
                      <a:r>
                        <a:rPr baseline="30000"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2</a:t>
                      </a:r>
                      <a:endParaRPr baseline="300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1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Dp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Single Root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Dp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Dp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Tree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Dp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log(</a:t>
                      </a:r>
                      <a:r>
                        <a:rPr i="1"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p</a:t>
                      </a: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)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D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4" name="Shape 27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5" name="Google Shape;2735;p87"/>
          <p:cNvSpPr txBox="1"/>
          <p:nvPr>
            <p:ph idx="1" type="body"/>
          </p:nvPr>
        </p:nvSpPr>
        <p:spPr>
          <a:xfrm>
            <a:off x="4812375" y="402200"/>
            <a:ext cx="4038000" cy="426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</a:rPr>
              <a:t>Distributed AI Training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Motivation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Infrastructure</a:t>
            </a:r>
            <a:endParaRPr>
              <a:solidFill>
                <a:srgbClr val="B7B7B7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</a:rPr>
              <a:t>Defining Collectives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Definition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Redistribution Operations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Consolidation Operations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Duals and Compositions</a:t>
            </a:r>
            <a:endParaRPr>
              <a:solidFill>
                <a:srgbClr val="B7B7B7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Implementing Collectives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Mesh Topology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Single Root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Tree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Roboto"/>
              <a:buChar char="•"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Ring (Naive)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Ring (Optimized)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Overlay/Underlay Topologies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36" name="Google Shape;2736;p87"/>
          <p:cNvSpPr txBox="1"/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Ring-Based AllReduce (Naive)</a:t>
            </a:r>
            <a:endParaRPr/>
          </a:p>
        </p:txBody>
      </p:sp>
      <p:sp>
        <p:nvSpPr>
          <p:cNvPr id="2737" name="Google Shape;2737;p87"/>
          <p:cNvSpPr txBox="1"/>
          <p:nvPr>
            <p:ph idx="2" type="subTitle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Lecture 23</a:t>
            </a:r>
            <a:r>
              <a:rPr lang="en"/>
              <a:t>, CS 168, </a:t>
            </a:r>
            <a:r>
              <a:rPr lang="en"/>
              <a:t>Spring 2026</a:t>
            </a:r>
            <a:endParaRPr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41" name="Shape 2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2" name="Google Shape;2742;p88"/>
          <p:cNvSpPr txBox="1"/>
          <p:nvPr>
            <p:ph idx="1" type="body"/>
          </p:nvPr>
        </p:nvSpPr>
        <p:spPr>
          <a:xfrm>
            <a:off x="107050" y="402200"/>
            <a:ext cx="8909700" cy="62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1. </a:t>
            </a:r>
            <a:r>
              <a:rPr lang="en"/>
              <a:t>Send your vector to your left. When you receive a vector, add it to yours.</a:t>
            </a:r>
            <a:endParaRPr/>
          </a:p>
        </p:txBody>
      </p:sp>
      <p:sp>
        <p:nvSpPr>
          <p:cNvPr id="2743" name="Google Shape;2743;p88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Ring-Based AllReduce (Naive)</a:t>
            </a:r>
            <a:endParaRPr/>
          </a:p>
        </p:txBody>
      </p:sp>
      <p:sp>
        <p:nvSpPr>
          <p:cNvPr id="2744" name="Google Shape;2744;p88"/>
          <p:cNvSpPr/>
          <p:nvPr/>
        </p:nvSpPr>
        <p:spPr>
          <a:xfrm>
            <a:off x="532712" y="2011975"/>
            <a:ext cx="1375500" cy="2511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45" name="Google Shape;2745;p88"/>
          <p:cNvSpPr/>
          <p:nvPr/>
        </p:nvSpPr>
        <p:spPr>
          <a:xfrm>
            <a:off x="2211000" y="2011975"/>
            <a:ext cx="1375500" cy="251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46" name="Google Shape;2746;p88"/>
          <p:cNvSpPr/>
          <p:nvPr/>
        </p:nvSpPr>
        <p:spPr>
          <a:xfrm>
            <a:off x="3884250" y="2011975"/>
            <a:ext cx="1375500" cy="2511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47" name="Google Shape;2747;p88"/>
          <p:cNvSpPr/>
          <p:nvPr/>
        </p:nvSpPr>
        <p:spPr>
          <a:xfrm>
            <a:off x="5564437" y="2011975"/>
            <a:ext cx="1375500" cy="2511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48" name="Google Shape;2748;p88"/>
          <p:cNvSpPr/>
          <p:nvPr/>
        </p:nvSpPr>
        <p:spPr>
          <a:xfrm>
            <a:off x="7240837" y="2011975"/>
            <a:ext cx="1375500" cy="2511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49" name="Google Shape;2749;p88"/>
          <p:cNvSpPr/>
          <p:nvPr/>
        </p:nvSpPr>
        <p:spPr>
          <a:xfrm>
            <a:off x="532712" y="2621575"/>
            <a:ext cx="1375500" cy="2511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50" name="Google Shape;2750;p88"/>
          <p:cNvSpPr/>
          <p:nvPr/>
        </p:nvSpPr>
        <p:spPr>
          <a:xfrm>
            <a:off x="2211000" y="2621575"/>
            <a:ext cx="1375500" cy="251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51" name="Google Shape;2751;p88"/>
          <p:cNvSpPr/>
          <p:nvPr/>
        </p:nvSpPr>
        <p:spPr>
          <a:xfrm>
            <a:off x="3884250" y="2621575"/>
            <a:ext cx="1375500" cy="2511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52" name="Google Shape;2752;p88"/>
          <p:cNvSpPr/>
          <p:nvPr/>
        </p:nvSpPr>
        <p:spPr>
          <a:xfrm>
            <a:off x="5564437" y="2621575"/>
            <a:ext cx="1375500" cy="2511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53" name="Google Shape;2753;p88"/>
          <p:cNvSpPr/>
          <p:nvPr/>
        </p:nvSpPr>
        <p:spPr>
          <a:xfrm>
            <a:off x="7240837" y="2621575"/>
            <a:ext cx="1375500" cy="2511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54" name="Google Shape;2754;p88"/>
          <p:cNvSpPr/>
          <p:nvPr/>
        </p:nvSpPr>
        <p:spPr>
          <a:xfrm>
            <a:off x="532712" y="3231175"/>
            <a:ext cx="1375500" cy="2511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55" name="Google Shape;2755;p88"/>
          <p:cNvSpPr/>
          <p:nvPr/>
        </p:nvSpPr>
        <p:spPr>
          <a:xfrm>
            <a:off x="2211000" y="3231175"/>
            <a:ext cx="1375500" cy="251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56" name="Google Shape;2756;p88"/>
          <p:cNvSpPr/>
          <p:nvPr/>
        </p:nvSpPr>
        <p:spPr>
          <a:xfrm>
            <a:off x="3884250" y="3231175"/>
            <a:ext cx="1375500" cy="2511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57" name="Google Shape;2757;p88"/>
          <p:cNvSpPr/>
          <p:nvPr/>
        </p:nvSpPr>
        <p:spPr>
          <a:xfrm>
            <a:off x="5564437" y="3231175"/>
            <a:ext cx="1375500" cy="2511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58" name="Google Shape;2758;p88"/>
          <p:cNvSpPr/>
          <p:nvPr/>
        </p:nvSpPr>
        <p:spPr>
          <a:xfrm>
            <a:off x="7240837" y="3231175"/>
            <a:ext cx="1375500" cy="2511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59" name="Google Shape;2759;p88"/>
          <p:cNvSpPr/>
          <p:nvPr/>
        </p:nvSpPr>
        <p:spPr>
          <a:xfrm>
            <a:off x="2205950" y="3840775"/>
            <a:ext cx="1375500" cy="251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60" name="Google Shape;2760;p88"/>
          <p:cNvSpPr/>
          <p:nvPr/>
        </p:nvSpPr>
        <p:spPr>
          <a:xfrm>
            <a:off x="3879200" y="3840775"/>
            <a:ext cx="1375500" cy="2511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61" name="Google Shape;2761;p88"/>
          <p:cNvSpPr/>
          <p:nvPr/>
        </p:nvSpPr>
        <p:spPr>
          <a:xfrm>
            <a:off x="5559387" y="3840775"/>
            <a:ext cx="1375500" cy="2511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62" name="Google Shape;2762;p88"/>
          <p:cNvSpPr/>
          <p:nvPr/>
        </p:nvSpPr>
        <p:spPr>
          <a:xfrm>
            <a:off x="7235787" y="3840775"/>
            <a:ext cx="1375500" cy="2511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63" name="Google Shape;2763;p88"/>
          <p:cNvSpPr/>
          <p:nvPr/>
        </p:nvSpPr>
        <p:spPr>
          <a:xfrm>
            <a:off x="532712" y="3840775"/>
            <a:ext cx="1375500" cy="2511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64" name="Google Shape;2764;p88"/>
          <p:cNvSpPr/>
          <p:nvPr/>
        </p:nvSpPr>
        <p:spPr>
          <a:xfrm>
            <a:off x="2205950" y="4450375"/>
            <a:ext cx="1375500" cy="251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65" name="Google Shape;2765;p88"/>
          <p:cNvSpPr/>
          <p:nvPr/>
        </p:nvSpPr>
        <p:spPr>
          <a:xfrm>
            <a:off x="3879200" y="4450375"/>
            <a:ext cx="1375500" cy="2511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66" name="Google Shape;2766;p88"/>
          <p:cNvSpPr/>
          <p:nvPr/>
        </p:nvSpPr>
        <p:spPr>
          <a:xfrm>
            <a:off x="5559387" y="4450375"/>
            <a:ext cx="1375500" cy="2511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67" name="Google Shape;2767;p88"/>
          <p:cNvSpPr/>
          <p:nvPr/>
        </p:nvSpPr>
        <p:spPr>
          <a:xfrm>
            <a:off x="7235787" y="4450375"/>
            <a:ext cx="1375500" cy="2511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68" name="Google Shape;2768;p88"/>
          <p:cNvSpPr/>
          <p:nvPr/>
        </p:nvSpPr>
        <p:spPr>
          <a:xfrm>
            <a:off x="532712" y="4450375"/>
            <a:ext cx="1375500" cy="2511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69" name="Google Shape;2769;p88"/>
          <p:cNvSpPr/>
          <p:nvPr/>
        </p:nvSpPr>
        <p:spPr>
          <a:xfrm>
            <a:off x="7729268" y="1389775"/>
            <a:ext cx="393600" cy="393600"/>
          </a:xfrm>
          <a:prstGeom prst="ellipse">
            <a:avLst/>
          </a:prstGeom>
          <a:solidFill>
            <a:srgbClr val="D9D2E9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5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70" name="Google Shape;2770;p88"/>
          <p:cNvSpPr/>
          <p:nvPr/>
        </p:nvSpPr>
        <p:spPr>
          <a:xfrm>
            <a:off x="6052868" y="1389775"/>
            <a:ext cx="393600" cy="393600"/>
          </a:xfrm>
          <a:prstGeom prst="ellipse">
            <a:avLst/>
          </a:prstGeom>
          <a:solidFill>
            <a:srgbClr val="D9EAD3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4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71" name="Google Shape;2771;p88"/>
          <p:cNvSpPr/>
          <p:nvPr/>
        </p:nvSpPr>
        <p:spPr>
          <a:xfrm>
            <a:off x="4376468" y="1389775"/>
            <a:ext cx="393600" cy="393600"/>
          </a:xfrm>
          <a:prstGeom prst="ellipse">
            <a:avLst/>
          </a:prstGeom>
          <a:solidFill>
            <a:srgbClr val="F4CCCC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3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72" name="Google Shape;2772;p88"/>
          <p:cNvSpPr/>
          <p:nvPr/>
        </p:nvSpPr>
        <p:spPr>
          <a:xfrm>
            <a:off x="1023668" y="1389775"/>
            <a:ext cx="393600" cy="393600"/>
          </a:xfrm>
          <a:prstGeom prst="ellipse">
            <a:avLst/>
          </a:prstGeom>
          <a:solidFill>
            <a:srgbClr val="FCE5CD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1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73" name="Google Shape;2773;p88"/>
          <p:cNvSpPr/>
          <p:nvPr/>
        </p:nvSpPr>
        <p:spPr>
          <a:xfrm>
            <a:off x="2700068" y="1389775"/>
            <a:ext cx="393600" cy="3936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2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774" name="Google Shape;2774;p88"/>
          <p:cNvCxnSpPr>
            <a:stCxn id="2773" idx="2"/>
            <a:endCxn id="2772" idx="6"/>
          </p:cNvCxnSpPr>
          <p:nvPr/>
        </p:nvCxnSpPr>
        <p:spPr>
          <a:xfrm rot="10800000">
            <a:off x="1417268" y="1586575"/>
            <a:ext cx="12828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75" name="Google Shape;2775;p88"/>
          <p:cNvCxnSpPr>
            <a:stCxn id="2771" idx="2"/>
            <a:endCxn id="2773" idx="6"/>
          </p:cNvCxnSpPr>
          <p:nvPr/>
        </p:nvCxnSpPr>
        <p:spPr>
          <a:xfrm rot="10800000">
            <a:off x="3093668" y="1586575"/>
            <a:ext cx="12828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76" name="Google Shape;2776;p88"/>
          <p:cNvCxnSpPr>
            <a:stCxn id="2770" idx="2"/>
            <a:endCxn id="2771" idx="6"/>
          </p:cNvCxnSpPr>
          <p:nvPr/>
        </p:nvCxnSpPr>
        <p:spPr>
          <a:xfrm rot="10800000">
            <a:off x="4770068" y="1586575"/>
            <a:ext cx="12828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77" name="Google Shape;2777;p88"/>
          <p:cNvCxnSpPr>
            <a:stCxn id="2769" idx="2"/>
            <a:endCxn id="2770" idx="6"/>
          </p:cNvCxnSpPr>
          <p:nvPr/>
        </p:nvCxnSpPr>
        <p:spPr>
          <a:xfrm rot="10800000">
            <a:off x="6446468" y="1586575"/>
            <a:ext cx="12828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2778" name="Google Shape;2778;p88"/>
          <p:cNvGrpSpPr/>
          <p:nvPr/>
        </p:nvGrpSpPr>
        <p:grpSpPr>
          <a:xfrm>
            <a:off x="432175" y="1154275"/>
            <a:ext cx="8282200" cy="432300"/>
            <a:chOff x="432175" y="3745075"/>
            <a:chExt cx="8282200" cy="432300"/>
          </a:xfrm>
        </p:grpSpPr>
        <p:sp>
          <p:nvSpPr>
            <p:cNvPr id="2779" name="Google Shape;2779;p88"/>
            <p:cNvSpPr/>
            <p:nvPr/>
          </p:nvSpPr>
          <p:spPr>
            <a:xfrm>
              <a:off x="8282075" y="3745075"/>
              <a:ext cx="432300" cy="432300"/>
            </a:xfrm>
            <a:prstGeom prst="arc">
              <a:avLst>
                <a:gd fmla="val 16200000" name="adj1"/>
                <a:gd fmla="val 5392788" name="adj2"/>
              </a:avLst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2780" name="Google Shape;2780;p88"/>
            <p:cNvCxnSpPr>
              <a:stCxn id="2779" idx="0"/>
              <a:endCxn id="2781" idx="0"/>
            </p:cNvCxnSpPr>
            <p:nvPr/>
          </p:nvCxnSpPr>
          <p:spPr>
            <a:xfrm rot="10800000">
              <a:off x="648425" y="3745075"/>
              <a:ext cx="7849800" cy="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782" name="Google Shape;2782;p88"/>
            <p:cNvCxnSpPr>
              <a:stCxn id="2772" idx="2"/>
              <a:endCxn id="2781" idx="2"/>
            </p:cNvCxnSpPr>
            <p:nvPr/>
          </p:nvCxnSpPr>
          <p:spPr>
            <a:xfrm rot="10800000">
              <a:off x="647768" y="4177375"/>
              <a:ext cx="375900" cy="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781" name="Google Shape;2781;p88"/>
            <p:cNvSpPr/>
            <p:nvPr/>
          </p:nvSpPr>
          <p:spPr>
            <a:xfrm flipH="1">
              <a:off x="432175" y="3745075"/>
              <a:ext cx="432300" cy="432300"/>
            </a:xfrm>
            <a:prstGeom prst="arc">
              <a:avLst>
                <a:gd fmla="val 16200000" name="adj1"/>
                <a:gd fmla="val 5392788" name="adj2"/>
              </a:avLst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2783" name="Google Shape;2783;p88"/>
            <p:cNvCxnSpPr>
              <a:stCxn id="2779" idx="2"/>
              <a:endCxn id="2769" idx="6"/>
            </p:cNvCxnSpPr>
            <p:nvPr/>
          </p:nvCxnSpPr>
          <p:spPr>
            <a:xfrm rot="10800000">
              <a:off x="8122778" y="4177375"/>
              <a:ext cx="375900" cy="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87" name="Shape 27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8" name="Google Shape;2788;p89"/>
          <p:cNvSpPr txBox="1"/>
          <p:nvPr>
            <p:ph idx="1" type="body"/>
          </p:nvPr>
        </p:nvSpPr>
        <p:spPr>
          <a:xfrm>
            <a:off x="107050" y="402200"/>
            <a:ext cx="8909700" cy="62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1. Send your vector to your left. When you receive a vector, add it to yours.</a:t>
            </a:r>
            <a:endParaRPr/>
          </a:p>
        </p:txBody>
      </p:sp>
      <p:sp>
        <p:nvSpPr>
          <p:cNvPr id="2789" name="Google Shape;2789;p89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Ring-Based AllReduce (Naive)</a:t>
            </a:r>
            <a:endParaRPr/>
          </a:p>
        </p:txBody>
      </p:sp>
      <p:sp>
        <p:nvSpPr>
          <p:cNvPr id="2790" name="Google Shape;2790;p89"/>
          <p:cNvSpPr/>
          <p:nvPr/>
        </p:nvSpPr>
        <p:spPr>
          <a:xfrm>
            <a:off x="532712" y="2011975"/>
            <a:ext cx="1375500" cy="2511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91" name="Google Shape;2791;p89"/>
          <p:cNvSpPr/>
          <p:nvPr/>
        </p:nvSpPr>
        <p:spPr>
          <a:xfrm>
            <a:off x="2211000" y="2011975"/>
            <a:ext cx="1375500" cy="251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92" name="Google Shape;2792;p89"/>
          <p:cNvSpPr/>
          <p:nvPr/>
        </p:nvSpPr>
        <p:spPr>
          <a:xfrm>
            <a:off x="3884250" y="2011975"/>
            <a:ext cx="1375500" cy="2511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93" name="Google Shape;2793;p89"/>
          <p:cNvSpPr/>
          <p:nvPr/>
        </p:nvSpPr>
        <p:spPr>
          <a:xfrm>
            <a:off x="5564437" y="2011975"/>
            <a:ext cx="1375500" cy="2511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94" name="Google Shape;2794;p89"/>
          <p:cNvSpPr/>
          <p:nvPr/>
        </p:nvSpPr>
        <p:spPr>
          <a:xfrm>
            <a:off x="5486362" y="2088175"/>
            <a:ext cx="1375500" cy="2511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95" name="Google Shape;2795;p89"/>
          <p:cNvSpPr/>
          <p:nvPr/>
        </p:nvSpPr>
        <p:spPr>
          <a:xfrm>
            <a:off x="532712" y="2621575"/>
            <a:ext cx="1375500" cy="2511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96" name="Google Shape;2796;p89"/>
          <p:cNvSpPr/>
          <p:nvPr/>
        </p:nvSpPr>
        <p:spPr>
          <a:xfrm>
            <a:off x="2211000" y="2621575"/>
            <a:ext cx="1375500" cy="251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97" name="Google Shape;2797;p89"/>
          <p:cNvSpPr/>
          <p:nvPr/>
        </p:nvSpPr>
        <p:spPr>
          <a:xfrm>
            <a:off x="3884250" y="2621575"/>
            <a:ext cx="1375500" cy="2511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98" name="Google Shape;2798;p89"/>
          <p:cNvSpPr/>
          <p:nvPr/>
        </p:nvSpPr>
        <p:spPr>
          <a:xfrm>
            <a:off x="5564437" y="2621575"/>
            <a:ext cx="1375500" cy="2511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99" name="Google Shape;2799;p89"/>
          <p:cNvSpPr/>
          <p:nvPr/>
        </p:nvSpPr>
        <p:spPr>
          <a:xfrm>
            <a:off x="5486362" y="2697775"/>
            <a:ext cx="1375500" cy="2511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00" name="Google Shape;2800;p89"/>
          <p:cNvSpPr/>
          <p:nvPr/>
        </p:nvSpPr>
        <p:spPr>
          <a:xfrm>
            <a:off x="532712" y="3231175"/>
            <a:ext cx="1375500" cy="2511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01" name="Google Shape;2801;p89"/>
          <p:cNvSpPr/>
          <p:nvPr/>
        </p:nvSpPr>
        <p:spPr>
          <a:xfrm>
            <a:off x="2211000" y="3231175"/>
            <a:ext cx="1375500" cy="251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02" name="Google Shape;2802;p89"/>
          <p:cNvSpPr/>
          <p:nvPr/>
        </p:nvSpPr>
        <p:spPr>
          <a:xfrm>
            <a:off x="3884250" y="3231175"/>
            <a:ext cx="1375500" cy="2511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03" name="Google Shape;2803;p89"/>
          <p:cNvSpPr/>
          <p:nvPr/>
        </p:nvSpPr>
        <p:spPr>
          <a:xfrm>
            <a:off x="5564437" y="3231175"/>
            <a:ext cx="1375500" cy="2511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04" name="Google Shape;2804;p89"/>
          <p:cNvSpPr/>
          <p:nvPr/>
        </p:nvSpPr>
        <p:spPr>
          <a:xfrm>
            <a:off x="5486362" y="3307375"/>
            <a:ext cx="1375500" cy="2511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05" name="Google Shape;2805;p89"/>
          <p:cNvSpPr/>
          <p:nvPr/>
        </p:nvSpPr>
        <p:spPr>
          <a:xfrm>
            <a:off x="2205950" y="3840775"/>
            <a:ext cx="1375500" cy="251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06" name="Google Shape;2806;p89"/>
          <p:cNvSpPr/>
          <p:nvPr/>
        </p:nvSpPr>
        <p:spPr>
          <a:xfrm>
            <a:off x="3879200" y="3840775"/>
            <a:ext cx="1375500" cy="2511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07" name="Google Shape;2807;p89"/>
          <p:cNvSpPr/>
          <p:nvPr/>
        </p:nvSpPr>
        <p:spPr>
          <a:xfrm>
            <a:off x="5559387" y="3840775"/>
            <a:ext cx="1375500" cy="2511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08" name="Google Shape;2808;p89"/>
          <p:cNvSpPr/>
          <p:nvPr/>
        </p:nvSpPr>
        <p:spPr>
          <a:xfrm>
            <a:off x="5481312" y="3916975"/>
            <a:ext cx="1375500" cy="2511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09" name="Google Shape;2809;p89"/>
          <p:cNvSpPr/>
          <p:nvPr/>
        </p:nvSpPr>
        <p:spPr>
          <a:xfrm>
            <a:off x="532712" y="3840775"/>
            <a:ext cx="1375500" cy="2511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0" name="Google Shape;2810;p89"/>
          <p:cNvSpPr/>
          <p:nvPr/>
        </p:nvSpPr>
        <p:spPr>
          <a:xfrm>
            <a:off x="2205950" y="4450375"/>
            <a:ext cx="1375500" cy="251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1" name="Google Shape;2811;p89"/>
          <p:cNvSpPr/>
          <p:nvPr/>
        </p:nvSpPr>
        <p:spPr>
          <a:xfrm>
            <a:off x="3879200" y="4450375"/>
            <a:ext cx="1375500" cy="2511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2" name="Google Shape;2812;p89"/>
          <p:cNvSpPr/>
          <p:nvPr/>
        </p:nvSpPr>
        <p:spPr>
          <a:xfrm>
            <a:off x="5559387" y="4450375"/>
            <a:ext cx="1375500" cy="2511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3" name="Google Shape;2813;p89"/>
          <p:cNvSpPr/>
          <p:nvPr/>
        </p:nvSpPr>
        <p:spPr>
          <a:xfrm>
            <a:off x="5481312" y="4526575"/>
            <a:ext cx="1375500" cy="2511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4" name="Google Shape;2814;p89"/>
          <p:cNvSpPr/>
          <p:nvPr/>
        </p:nvSpPr>
        <p:spPr>
          <a:xfrm>
            <a:off x="532712" y="4450375"/>
            <a:ext cx="1375500" cy="2511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5" name="Google Shape;2815;p89"/>
          <p:cNvSpPr/>
          <p:nvPr/>
        </p:nvSpPr>
        <p:spPr>
          <a:xfrm>
            <a:off x="7729268" y="1389775"/>
            <a:ext cx="393600" cy="393600"/>
          </a:xfrm>
          <a:prstGeom prst="ellipse">
            <a:avLst/>
          </a:prstGeom>
          <a:solidFill>
            <a:srgbClr val="D9D2E9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5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16" name="Google Shape;2816;p89"/>
          <p:cNvSpPr/>
          <p:nvPr/>
        </p:nvSpPr>
        <p:spPr>
          <a:xfrm>
            <a:off x="6052868" y="1389775"/>
            <a:ext cx="393600" cy="393600"/>
          </a:xfrm>
          <a:prstGeom prst="ellipse">
            <a:avLst/>
          </a:prstGeom>
          <a:solidFill>
            <a:srgbClr val="D9EAD3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4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17" name="Google Shape;2817;p89"/>
          <p:cNvSpPr/>
          <p:nvPr/>
        </p:nvSpPr>
        <p:spPr>
          <a:xfrm>
            <a:off x="4376468" y="1389775"/>
            <a:ext cx="393600" cy="393600"/>
          </a:xfrm>
          <a:prstGeom prst="ellipse">
            <a:avLst/>
          </a:prstGeom>
          <a:solidFill>
            <a:srgbClr val="F4CCCC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3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18" name="Google Shape;2818;p89"/>
          <p:cNvSpPr/>
          <p:nvPr/>
        </p:nvSpPr>
        <p:spPr>
          <a:xfrm>
            <a:off x="1023668" y="1389775"/>
            <a:ext cx="393600" cy="393600"/>
          </a:xfrm>
          <a:prstGeom prst="ellipse">
            <a:avLst/>
          </a:prstGeom>
          <a:solidFill>
            <a:srgbClr val="FCE5CD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1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19" name="Google Shape;2819;p89"/>
          <p:cNvSpPr/>
          <p:nvPr/>
        </p:nvSpPr>
        <p:spPr>
          <a:xfrm>
            <a:off x="2700068" y="1389775"/>
            <a:ext cx="393600" cy="3936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2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820" name="Google Shape;2820;p89"/>
          <p:cNvCxnSpPr>
            <a:stCxn id="2819" idx="2"/>
            <a:endCxn id="2818" idx="6"/>
          </p:cNvCxnSpPr>
          <p:nvPr/>
        </p:nvCxnSpPr>
        <p:spPr>
          <a:xfrm rot="10800000">
            <a:off x="1417268" y="1586575"/>
            <a:ext cx="12828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21" name="Google Shape;2821;p89"/>
          <p:cNvCxnSpPr>
            <a:stCxn id="2817" idx="2"/>
            <a:endCxn id="2819" idx="6"/>
          </p:cNvCxnSpPr>
          <p:nvPr/>
        </p:nvCxnSpPr>
        <p:spPr>
          <a:xfrm rot="10800000">
            <a:off x="3093668" y="1586575"/>
            <a:ext cx="12828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22" name="Google Shape;2822;p89"/>
          <p:cNvCxnSpPr>
            <a:stCxn id="2816" idx="2"/>
            <a:endCxn id="2817" idx="6"/>
          </p:cNvCxnSpPr>
          <p:nvPr/>
        </p:nvCxnSpPr>
        <p:spPr>
          <a:xfrm rot="10800000">
            <a:off x="4770068" y="1586575"/>
            <a:ext cx="12828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23" name="Google Shape;2823;p89"/>
          <p:cNvCxnSpPr>
            <a:stCxn id="2815" idx="2"/>
            <a:endCxn id="2816" idx="6"/>
          </p:cNvCxnSpPr>
          <p:nvPr/>
        </p:nvCxnSpPr>
        <p:spPr>
          <a:xfrm rot="10800000">
            <a:off x="6446468" y="1586575"/>
            <a:ext cx="12828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2824" name="Google Shape;2824;p89"/>
          <p:cNvGrpSpPr/>
          <p:nvPr/>
        </p:nvGrpSpPr>
        <p:grpSpPr>
          <a:xfrm>
            <a:off x="432175" y="1154275"/>
            <a:ext cx="8282200" cy="432300"/>
            <a:chOff x="432175" y="3745075"/>
            <a:chExt cx="8282200" cy="432300"/>
          </a:xfrm>
        </p:grpSpPr>
        <p:sp>
          <p:nvSpPr>
            <p:cNvPr id="2825" name="Google Shape;2825;p89"/>
            <p:cNvSpPr/>
            <p:nvPr/>
          </p:nvSpPr>
          <p:spPr>
            <a:xfrm>
              <a:off x="8282075" y="3745075"/>
              <a:ext cx="432300" cy="432300"/>
            </a:xfrm>
            <a:prstGeom prst="arc">
              <a:avLst>
                <a:gd fmla="val 16200000" name="adj1"/>
                <a:gd fmla="val 5392788" name="adj2"/>
              </a:avLst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2826" name="Google Shape;2826;p89"/>
            <p:cNvCxnSpPr>
              <a:stCxn id="2825" idx="0"/>
              <a:endCxn id="2827" idx="0"/>
            </p:cNvCxnSpPr>
            <p:nvPr/>
          </p:nvCxnSpPr>
          <p:spPr>
            <a:xfrm rot="10800000">
              <a:off x="648425" y="3745075"/>
              <a:ext cx="7849800" cy="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828" name="Google Shape;2828;p89"/>
            <p:cNvCxnSpPr>
              <a:stCxn id="2818" idx="2"/>
              <a:endCxn id="2827" idx="2"/>
            </p:cNvCxnSpPr>
            <p:nvPr/>
          </p:nvCxnSpPr>
          <p:spPr>
            <a:xfrm rot="10800000">
              <a:off x="647768" y="4177375"/>
              <a:ext cx="375900" cy="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827" name="Google Shape;2827;p89"/>
            <p:cNvSpPr/>
            <p:nvPr/>
          </p:nvSpPr>
          <p:spPr>
            <a:xfrm flipH="1">
              <a:off x="432175" y="3745075"/>
              <a:ext cx="432300" cy="432300"/>
            </a:xfrm>
            <a:prstGeom prst="arc">
              <a:avLst>
                <a:gd fmla="val 16200000" name="adj1"/>
                <a:gd fmla="val 5392788" name="adj2"/>
              </a:avLst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2829" name="Google Shape;2829;p89"/>
            <p:cNvCxnSpPr>
              <a:stCxn id="2825" idx="2"/>
              <a:endCxn id="2815" idx="6"/>
            </p:cNvCxnSpPr>
            <p:nvPr/>
          </p:nvCxnSpPr>
          <p:spPr>
            <a:xfrm rot="10800000">
              <a:off x="8122778" y="4177375"/>
              <a:ext cx="375900" cy="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3" name="Shape 28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4" name="Google Shape;2834;p90"/>
          <p:cNvSpPr txBox="1"/>
          <p:nvPr>
            <p:ph idx="1" type="body"/>
          </p:nvPr>
        </p:nvSpPr>
        <p:spPr>
          <a:xfrm>
            <a:off x="107050" y="402200"/>
            <a:ext cx="8909700" cy="62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1. Send your vector to your left. When you receive a vector, add it to yours.</a:t>
            </a:r>
            <a:endParaRPr/>
          </a:p>
        </p:txBody>
      </p:sp>
      <p:sp>
        <p:nvSpPr>
          <p:cNvPr id="2835" name="Google Shape;2835;p90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Ring-Based AllReduce (Naive)</a:t>
            </a:r>
            <a:endParaRPr/>
          </a:p>
        </p:txBody>
      </p:sp>
      <p:sp>
        <p:nvSpPr>
          <p:cNvPr id="2836" name="Google Shape;2836;p90"/>
          <p:cNvSpPr/>
          <p:nvPr/>
        </p:nvSpPr>
        <p:spPr>
          <a:xfrm>
            <a:off x="532712" y="2011975"/>
            <a:ext cx="1375500" cy="2511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37" name="Google Shape;2837;p90"/>
          <p:cNvSpPr/>
          <p:nvPr/>
        </p:nvSpPr>
        <p:spPr>
          <a:xfrm>
            <a:off x="2211000" y="2011975"/>
            <a:ext cx="1375500" cy="251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38" name="Google Shape;2838;p90"/>
          <p:cNvSpPr/>
          <p:nvPr/>
        </p:nvSpPr>
        <p:spPr>
          <a:xfrm>
            <a:off x="3884250" y="2011975"/>
            <a:ext cx="1375500" cy="2511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39" name="Google Shape;2839;p90"/>
          <p:cNvSpPr/>
          <p:nvPr/>
        </p:nvSpPr>
        <p:spPr>
          <a:xfrm>
            <a:off x="5564437" y="2011975"/>
            <a:ext cx="13755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40" name="Google Shape;2840;p90"/>
          <p:cNvSpPr/>
          <p:nvPr/>
        </p:nvSpPr>
        <p:spPr>
          <a:xfrm>
            <a:off x="532712" y="2621575"/>
            <a:ext cx="1375500" cy="2511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41" name="Google Shape;2841;p90"/>
          <p:cNvSpPr/>
          <p:nvPr/>
        </p:nvSpPr>
        <p:spPr>
          <a:xfrm>
            <a:off x="2211000" y="2621575"/>
            <a:ext cx="1375500" cy="251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42" name="Google Shape;2842;p90"/>
          <p:cNvSpPr/>
          <p:nvPr/>
        </p:nvSpPr>
        <p:spPr>
          <a:xfrm>
            <a:off x="3884250" y="2621575"/>
            <a:ext cx="1375500" cy="2511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43" name="Google Shape;2843;p90"/>
          <p:cNvSpPr/>
          <p:nvPr/>
        </p:nvSpPr>
        <p:spPr>
          <a:xfrm>
            <a:off x="5564437" y="2621575"/>
            <a:ext cx="13755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44" name="Google Shape;2844;p90"/>
          <p:cNvSpPr/>
          <p:nvPr/>
        </p:nvSpPr>
        <p:spPr>
          <a:xfrm>
            <a:off x="532712" y="3231175"/>
            <a:ext cx="1375500" cy="2511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45" name="Google Shape;2845;p90"/>
          <p:cNvSpPr/>
          <p:nvPr/>
        </p:nvSpPr>
        <p:spPr>
          <a:xfrm>
            <a:off x="2211000" y="3231175"/>
            <a:ext cx="1375500" cy="251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46" name="Google Shape;2846;p90"/>
          <p:cNvSpPr/>
          <p:nvPr/>
        </p:nvSpPr>
        <p:spPr>
          <a:xfrm>
            <a:off x="3884250" y="3231175"/>
            <a:ext cx="1375500" cy="2511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47" name="Google Shape;2847;p90"/>
          <p:cNvSpPr/>
          <p:nvPr/>
        </p:nvSpPr>
        <p:spPr>
          <a:xfrm>
            <a:off x="5564437" y="3231175"/>
            <a:ext cx="13755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48" name="Google Shape;2848;p90"/>
          <p:cNvSpPr/>
          <p:nvPr/>
        </p:nvSpPr>
        <p:spPr>
          <a:xfrm>
            <a:off x="2205950" y="3840775"/>
            <a:ext cx="1375500" cy="251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49" name="Google Shape;2849;p90"/>
          <p:cNvSpPr/>
          <p:nvPr/>
        </p:nvSpPr>
        <p:spPr>
          <a:xfrm>
            <a:off x="3879200" y="3840775"/>
            <a:ext cx="1375500" cy="2511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50" name="Google Shape;2850;p90"/>
          <p:cNvSpPr/>
          <p:nvPr/>
        </p:nvSpPr>
        <p:spPr>
          <a:xfrm>
            <a:off x="5559387" y="3840775"/>
            <a:ext cx="13755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51" name="Google Shape;2851;p90"/>
          <p:cNvSpPr/>
          <p:nvPr/>
        </p:nvSpPr>
        <p:spPr>
          <a:xfrm>
            <a:off x="532712" y="3840775"/>
            <a:ext cx="1375500" cy="2511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52" name="Google Shape;2852;p90"/>
          <p:cNvSpPr/>
          <p:nvPr/>
        </p:nvSpPr>
        <p:spPr>
          <a:xfrm>
            <a:off x="2205950" y="4450375"/>
            <a:ext cx="1375500" cy="251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53" name="Google Shape;2853;p90"/>
          <p:cNvSpPr/>
          <p:nvPr/>
        </p:nvSpPr>
        <p:spPr>
          <a:xfrm>
            <a:off x="3879200" y="4450375"/>
            <a:ext cx="1375500" cy="2511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54" name="Google Shape;2854;p90"/>
          <p:cNvSpPr/>
          <p:nvPr/>
        </p:nvSpPr>
        <p:spPr>
          <a:xfrm>
            <a:off x="5559387" y="4450375"/>
            <a:ext cx="13755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aseline="-25000"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55" name="Google Shape;2855;p90"/>
          <p:cNvSpPr/>
          <p:nvPr/>
        </p:nvSpPr>
        <p:spPr>
          <a:xfrm>
            <a:off x="532712" y="4450375"/>
            <a:ext cx="1375500" cy="2511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56" name="Google Shape;2856;p90"/>
          <p:cNvSpPr/>
          <p:nvPr/>
        </p:nvSpPr>
        <p:spPr>
          <a:xfrm>
            <a:off x="7729268" y="1389775"/>
            <a:ext cx="393600" cy="393600"/>
          </a:xfrm>
          <a:prstGeom prst="ellipse">
            <a:avLst/>
          </a:prstGeom>
          <a:solidFill>
            <a:srgbClr val="D9D2E9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5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57" name="Google Shape;2857;p90"/>
          <p:cNvSpPr/>
          <p:nvPr/>
        </p:nvSpPr>
        <p:spPr>
          <a:xfrm>
            <a:off x="6052868" y="1389775"/>
            <a:ext cx="393600" cy="393600"/>
          </a:xfrm>
          <a:prstGeom prst="ellipse">
            <a:avLst/>
          </a:prstGeom>
          <a:solidFill>
            <a:srgbClr val="D9EAD3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4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58" name="Google Shape;2858;p90"/>
          <p:cNvSpPr/>
          <p:nvPr/>
        </p:nvSpPr>
        <p:spPr>
          <a:xfrm>
            <a:off x="4376468" y="1389775"/>
            <a:ext cx="393600" cy="393600"/>
          </a:xfrm>
          <a:prstGeom prst="ellipse">
            <a:avLst/>
          </a:prstGeom>
          <a:solidFill>
            <a:srgbClr val="F4CCCC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3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59" name="Google Shape;2859;p90"/>
          <p:cNvSpPr/>
          <p:nvPr/>
        </p:nvSpPr>
        <p:spPr>
          <a:xfrm>
            <a:off x="1023668" y="1389775"/>
            <a:ext cx="393600" cy="393600"/>
          </a:xfrm>
          <a:prstGeom prst="ellipse">
            <a:avLst/>
          </a:prstGeom>
          <a:solidFill>
            <a:srgbClr val="FCE5CD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1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60" name="Google Shape;2860;p90"/>
          <p:cNvSpPr/>
          <p:nvPr/>
        </p:nvSpPr>
        <p:spPr>
          <a:xfrm>
            <a:off x="2700068" y="1389775"/>
            <a:ext cx="393600" cy="3936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2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861" name="Google Shape;2861;p90"/>
          <p:cNvCxnSpPr>
            <a:stCxn id="2860" idx="2"/>
            <a:endCxn id="2859" idx="6"/>
          </p:cNvCxnSpPr>
          <p:nvPr/>
        </p:nvCxnSpPr>
        <p:spPr>
          <a:xfrm rot="10800000">
            <a:off x="1417268" y="1586575"/>
            <a:ext cx="12828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62" name="Google Shape;2862;p90"/>
          <p:cNvCxnSpPr>
            <a:stCxn id="2858" idx="2"/>
            <a:endCxn id="2860" idx="6"/>
          </p:cNvCxnSpPr>
          <p:nvPr/>
        </p:nvCxnSpPr>
        <p:spPr>
          <a:xfrm rot="10800000">
            <a:off x="3093668" y="1586575"/>
            <a:ext cx="12828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63" name="Google Shape;2863;p90"/>
          <p:cNvCxnSpPr>
            <a:stCxn id="2857" idx="2"/>
            <a:endCxn id="2858" idx="6"/>
          </p:cNvCxnSpPr>
          <p:nvPr/>
        </p:nvCxnSpPr>
        <p:spPr>
          <a:xfrm rot="10800000">
            <a:off x="4770068" y="1586575"/>
            <a:ext cx="12828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64" name="Google Shape;2864;p90"/>
          <p:cNvCxnSpPr>
            <a:stCxn id="2856" idx="2"/>
            <a:endCxn id="2857" idx="6"/>
          </p:cNvCxnSpPr>
          <p:nvPr/>
        </p:nvCxnSpPr>
        <p:spPr>
          <a:xfrm rot="10800000">
            <a:off x="6446468" y="1586575"/>
            <a:ext cx="12828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2865" name="Google Shape;2865;p90"/>
          <p:cNvGrpSpPr/>
          <p:nvPr/>
        </p:nvGrpSpPr>
        <p:grpSpPr>
          <a:xfrm>
            <a:off x="432175" y="1154275"/>
            <a:ext cx="8282200" cy="432300"/>
            <a:chOff x="432175" y="3745075"/>
            <a:chExt cx="8282200" cy="432300"/>
          </a:xfrm>
        </p:grpSpPr>
        <p:sp>
          <p:nvSpPr>
            <p:cNvPr id="2866" name="Google Shape;2866;p90"/>
            <p:cNvSpPr/>
            <p:nvPr/>
          </p:nvSpPr>
          <p:spPr>
            <a:xfrm>
              <a:off x="8282075" y="3745075"/>
              <a:ext cx="432300" cy="432300"/>
            </a:xfrm>
            <a:prstGeom prst="arc">
              <a:avLst>
                <a:gd fmla="val 16200000" name="adj1"/>
                <a:gd fmla="val 5392788" name="adj2"/>
              </a:avLst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2867" name="Google Shape;2867;p90"/>
            <p:cNvCxnSpPr>
              <a:stCxn id="2866" idx="0"/>
              <a:endCxn id="2868" idx="0"/>
            </p:cNvCxnSpPr>
            <p:nvPr/>
          </p:nvCxnSpPr>
          <p:spPr>
            <a:xfrm rot="10800000">
              <a:off x="648425" y="3745075"/>
              <a:ext cx="7849800" cy="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869" name="Google Shape;2869;p90"/>
            <p:cNvCxnSpPr>
              <a:stCxn id="2859" idx="2"/>
              <a:endCxn id="2868" idx="2"/>
            </p:cNvCxnSpPr>
            <p:nvPr/>
          </p:nvCxnSpPr>
          <p:spPr>
            <a:xfrm rot="10800000">
              <a:off x="647768" y="4177375"/>
              <a:ext cx="375900" cy="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868" name="Google Shape;2868;p90"/>
            <p:cNvSpPr/>
            <p:nvPr/>
          </p:nvSpPr>
          <p:spPr>
            <a:xfrm flipH="1">
              <a:off x="432175" y="3745075"/>
              <a:ext cx="432300" cy="432300"/>
            </a:xfrm>
            <a:prstGeom prst="arc">
              <a:avLst>
                <a:gd fmla="val 16200000" name="adj1"/>
                <a:gd fmla="val 5392788" name="adj2"/>
              </a:avLst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2870" name="Google Shape;2870;p90"/>
            <p:cNvCxnSpPr>
              <a:stCxn id="2866" idx="2"/>
              <a:endCxn id="2856" idx="6"/>
            </p:cNvCxnSpPr>
            <p:nvPr/>
          </p:nvCxnSpPr>
          <p:spPr>
            <a:xfrm rot="10800000">
              <a:off x="8122778" y="4177375"/>
              <a:ext cx="375900" cy="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74" name="Shape 28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5" name="Google Shape;2875;p91"/>
          <p:cNvSpPr txBox="1"/>
          <p:nvPr>
            <p:ph idx="1" type="body"/>
          </p:nvPr>
        </p:nvSpPr>
        <p:spPr>
          <a:xfrm>
            <a:off x="107050" y="402200"/>
            <a:ext cx="8909700" cy="62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1. Send your vector to your left. When you receive a vector, add it to yours.</a:t>
            </a:r>
            <a:endParaRPr/>
          </a:p>
        </p:txBody>
      </p:sp>
      <p:sp>
        <p:nvSpPr>
          <p:cNvPr id="2876" name="Google Shape;2876;p91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Ring-Based AllReduce (Naive)</a:t>
            </a:r>
            <a:endParaRPr/>
          </a:p>
        </p:txBody>
      </p:sp>
      <p:sp>
        <p:nvSpPr>
          <p:cNvPr id="2877" name="Google Shape;2877;p91"/>
          <p:cNvSpPr/>
          <p:nvPr/>
        </p:nvSpPr>
        <p:spPr>
          <a:xfrm>
            <a:off x="532712" y="2011975"/>
            <a:ext cx="1375500" cy="2511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78" name="Google Shape;2878;p91"/>
          <p:cNvSpPr/>
          <p:nvPr/>
        </p:nvSpPr>
        <p:spPr>
          <a:xfrm>
            <a:off x="2211000" y="2011975"/>
            <a:ext cx="1375500" cy="251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79" name="Google Shape;2879;p91"/>
          <p:cNvSpPr/>
          <p:nvPr/>
        </p:nvSpPr>
        <p:spPr>
          <a:xfrm>
            <a:off x="3884250" y="2011975"/>
            <a:ext cx="1375500" cy="2511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80" name="Google Shape;2880;p91"/>
          <p:cNvSpPr/>
          <p:nvPr/>
        </p:nvSpPr>
        <p:spPr>
          <a:xfrm>
            <a:off x="3818162" y="2088175"/>
            <a:ext cx="13755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81" name="Google Shape;2881;p91"/>
          <p:cNvSpPr/>
          <p:nvPr/>
        </p:nvSpPr>
        <p:spPr>
          <a:xfrm>
            <a:off x="532712" y="2621575"/>
            <a:ext cx="1375500" cy="2511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82" name="Google Shape;2882;p91"/>
          <p:cNvSpPr/>
          <p:nvPr/>
        </p:nvSpPr>
        <p:spPr>
          <a:xfrm>
            <a:off x="2211000" y="2621575"/>
            <a:ext cx="1375500" cy="251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83" name="Google Shape;2883;p91"/>
          <p:cNvSpPr/>
          <p:nvPr/>
        </p:nvSpPr>
        <p:spPr>
          <a:xfrm>
            <a:off x="3884250" y="2621575"/>
            <a:ext cx="1375500" cy="2511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84" name="Google Shape;2884;p91"/>
          <p:cNvSpPr/>
          <p:nvPr/>
        </p:nvSpPr>
        <p:spPr>
          <a:xfrm>
            <a:off x="3818162" y="2697775"/>
            <a:ext cx="13755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85" name="Google Shape;2885;p91"/>
          <p:cNvSpPr/>
          <p:nvPr/>
        </p:nvSpPr>
        <p:spPr>
          <a:xfrm>
            <a:off x="532712" y="3231175"/>
            <a:ext cx="1375500" cy="2511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86" name="Google Shape;2886;p91"/>
          <p:cNvSpPr/>
          <p:nvPr/>
        </p:nvSpPr>
        <p:spPr>
          <a:xfrm>
            <a:off x="2211000" y="3231175"/>
            <a:ext cx="1375500" cy="251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87" name="Google Shape;2887;p91"/>
          <p:cNvSpPr/>
          <p:nvPr/>
        </p:nvSpPr>
        <p:spPr>
          <a:xfrm>
            <a:off x="3884250" y="3231175"/>
            <a:ext cx="1375500" cy="2511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88" name="Google Shape;2888;p91"/>
          <p:cNvSpPr/>
          <p:nvPr/>
        </p:nvSpPr>
        <p:spPr>
          <a:xfrm>
            <a:off x="3818162" y="3307375"/>
            <a:ext cx="13755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89" name="Google Shape;2889;p91"/>
          <p:cNvSpPr/>
          <p:nvPr/>
        </p:nvSpPr>
        <p:spPr>
          <a:xfrm>
            <a:off x="2205950" y="3840775"/>
            <a:ext cx="1375500" cy="251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90" name="Google Shape;2890;p91"/>
          <p:cNvSpPr/>
          <p:nvPr/>
        </p:nvSpPr>
        <p:spPr>
          <a:xfrm>
            <a:off x="3879200" y="3840775"/>
            <a:ext cx="1375500" cy="2511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91" name="Google Shape;2891;p91"/>
          <p:cNvSpPr/>
          <p:nvPr/>
        </p:nvSpPr>
        <p:spPr>
          <a:xfrm>
            <a:off x="3813112" y="3916975"/>
            <a:ext cx="13755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92" name="Google Shape;2892;p91"/>
          <p:cNvSpPr/>
          <p:nvPr/>
        </p:nvSpPr>
        <p:spPr>
          <a:xfrm>
            <a:off x="532712" y="3840775"/>
            <a:ext cx="1375500" cy="2511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93" name="Google Shape;2893;p91"/>
          <p:cNvSpPr/>
          <p:nvPr/>
        </p:nvSpPr>
        <p:spPr>
          <a:xfrm>
            <a:off x="2205950" y="4450375"/>
            <a:ext cx="1375500" cy="251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94" name="Google Shape;2894;p91"/>
          <p:cNvSpPr/>
          <p:nvPr/>
        </p:nvSpPr>
        <p:spPr>
          <a:xfrm>
            <a:off x="3879200" y="4450375"/>
            <a:ext cx="1375500" cy="2511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95" name="Google Shape;2895;p91"/>
          <p:cNvSpPr/>
          <p:nvPr/>
        </p:nvSpPr>
        <p:spPr>
          <a:xfrm>
            <a:off x="3813112" y="4526575"/>
            <a:ext cx="13755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aseline="-25000"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96" name="Google Shape;2896;p91"/>
          <p:cNvSpPr/>
          <p:nvPr/>
        </p:nvSpPr>
        <p:spPr>
          <a:xfrm>
            <a:off x="532712" y="4450375"/>
            <a:ext cx="1375500" cy="2511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97" name="Google Shape;2897;p91"/>
          <p:cNvSpPr/>
          <p:nvPr/>
        </p:nvSpPr>
        <p:spPr>
          <a:xfrm>
            <a:off x="7729268" y="1389775"/>
            <a:ext cx="393600" cy="393600"/>
          </a:xfrm>
          <a:prstGeom prst="ellipse">
            <a:avLst/>
          </a:prstGeom>
          <a:solidFill>
            <a:srgbClr val="D9D2E9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5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98" name="Google Shape;2898;p91"/>
          <p:cNvSpPr/>
          <p:nvPr/>
        </p:nvSpPr>
        <p:spPr>
          <a:xfrm>
            <a:off x="6052868" y="1389775"/>
            <a:ext cx="393600" cy="393600"/>
          </a:xfrm>
          <a:prstGeom prst="ellipse">
            <a:avLst/>
          </a:prstGeom>
          <a:solidFill>
            <a:srgbClr val="D9EAD3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4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99" name="Google Shape;2899;p91"/>
          <p:cNvSpPr/>
          <p:nvPr/>
        </p:nvSpPr>
        <p:spPr>
          <a:xfrm>
            <a:off x="4376468" y="1389775"/>
            <a:ext cx="393600" cy="393600"/>
          </a:xfrm>
          <a:prstGeom prst="ellipse">
            <a:avLst/>
          </a:prstGeom>
          <a:solidFill>
            <a:srgbClr val="F4CCCC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3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00" name="Google Shape;2900;p91"/>
          <p:cNvSpPr/>
          <p:nvPr/>
        </p:nvSpPr>
        <p:spPr>
          <a:xfrm>
            <a:off x="1023668" y="1389775"/>
            <a:ext cx="393600" cy="393600"/>
          </a:xfrm>
          <a:prstGeom prst="ellipse">
            <a:avLst/>
          </a:prstGeom>
          <a:solidFill>
            <a:srgbClr val="FCE5CD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1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01" name="Google Shape;2901;p91"/>
          <p:cNvSpPr/>
          <p:nvPr/>
        </p:nvSpPr>
        <p:spPr>
          <a:xfrm>
            <a:off x="2700068" y="1389775"/>
            <a:ext cx="393600" cy="3936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2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902" name="Google Shape;2902;p91"/>
          <p:cNvCxnSpPr>
            <a:stCxn id="2901" idx="2"/>
            <a:endCxn id="2900" idx="6"/>
          </p:cNvCxnSpPr>
          <p:nvPr/>
        </p:nvCxnSpPr>
        <p:spPr>
          <a:xfrm rot="10800000">
            <a:off x="1417268" y="1586575"/>
            <a:ext cx="12828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03" name="Google Shape;2903;p91"/>
          <p:cNvCxnSpPr>
            <a:stCxn id="2899" idx="2"/>
            <a:endCxn id="2901" idx="6"/>
          </p:cNvCxnSpPr>
          <p:nvPr/>
        </p:nvCxnSpPr>
        <p:spPr>
          <a:xfrm rot="10800000">
            <a:off x="3093668" y="1586575"/>
            <a:ext cx="12828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04" name="Google Shape;2904;p91"/>
          <p:cNvCxnSpPr>
            <a:stCxn id="2898" idx="2"/>
            <a:endCxn id="2899" idx="6"/>
          </p:cNvCxnSpPr>
          <p:nvPr/>
        </p:nvCxnSpPr>
        <p:spPr>
          <a:xfrm rot="10800000">
            <a:off x="4770068" y="1586575"/>
            <a:ext cx="12828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05" name="Google Shape;2905;p91"/>
          <p:cNvCxnSpPr>
            <a:stCxn id="2897" idx="2"/>
            <a:endCxn id="2898" idx="6"/>
          </p:cNvCxnSpPr>
          <p:nvPr/>
        </p:nvCxnSpPr>
        <p:spPr>
          <a:xfrm rot="10800000">
            <a:off x="6446468" y="1586575"/>
            <a:ext cx="12828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2906" name="Google Shape;2906;p91"/>
          <p:cNvGrpSpPr/>
          <p:nvPr/>
        </p:nvGrpSpPr>
        <p:grpSpPr>
          <a:xfrm>
            <a:off x="432175" y="1154275"/>
            <a:ext cx="8282200" cy="432300"/>
            <a:chOff x="432175" y="3745075"/>
            <a:chExt cx="8282200" cy="432300"/>
          </a:xfrm>
        </p:grpSpPr>
        <p:sp>
          <p:nvSpPr>
            <p:cNvPr id="2907" name="Google Shape;2907;p91"/>
            <p:cNvSpPr/>
            <p:nvPr/>
          </p:nvSpPr>
          <p:spPr>
            <a:xfrm>
              <a:off x="8282075" y="3745075"/>
              <a:ext cx="432300" cy="432300"/>
            </a:xfrm>
            <a:prstGeom prst="arc">
              <a:avLst>
                <a:gd fmla="val 16200000" name="adj1"/>
                <a:gd fmla="val 5392788" name="adj2"/>
              </a:avLst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2908" name="Google Shape;2908;p91"/>
            <p:cNvCxnSpPr>
              <a:stCxn id="2907" idx="0"/>
              <a:endCxn id="2909" idx="0"/>
            </p:cNvCxnSpPr>
            <p:nvPr/>
          </p:nvCxnSpPr>
          <p:spPr>
            <a:xfrm rot="10800000">
              <a:off x="648425" y="3745075"/>
              <a:ext cx="7849800" cy="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910" name="Google Shape;2910;p91"/>
            <p:cNvCxnSpPr>
              <a:stCxn id="2900" idx="2"/>
              <a:endCxn id="2909" idx="2"/>
            </p:cNvCxnSpPr>
            <p:nvPr/>
          </p:nvCxnSpPr>
          <p:spPr>
            <a:xfrm rot="10800000">
              <a:off x="647768" y="4177375"/>
              <a:ext cx="375900" cy="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909" name="Google Shape;2909;p91"/>
            <p:cNvSpPr/>
            <p:nvPr/>
          </p:nvSpPr>
          <p:spPr>
            <a:xfrm flipH="1">
              <a:off x="432175" y="3745075"/>
              <a:ext cx="432300" cy="432300"/>
            </a:xfrm>
            <a:prstGeom prst="arc">
              <a:avLst>
                <a:gd fmla="val 16200000" name="adj1"/>
                <a:gd fmla="val 5392788" name="adj2"/>
              </a:avLst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2911" name="Google Shape;2911;p91"/>
            <p:cNvCxnSpPr>
              <a:stCxn id="2907" idx="2"/>
              <a:endCxn id="2897" idx="6"/>
            </p:cNvCxnSpPr>
            <p:nvPr/>
          </p:nvCxnSpPr>
          <p:spPr>
            <a:xfrm rot="10800000">
              <a:off x="8122778" y="4177375"/>
              <a:ext cx="375900" cy="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5" name="Shape 29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6" name="Google Shape;2916;p92"/>
          <p:cNvSpPr txBox="1"/>
          <p:nvPr>
            <p:ph idx="1" type="body"/>
          </p:nvPr>
        </p:nvSpPr>
        <p:spPr>
          <a:xfrm>
            <a:off x="107050" y="402200"/>
            <a:ext cx="8909700" cy="62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1. Send your vector to your left. When you receive a vector, add it to yours.</a:t>
            </a:r>
            <a:endParaRPr/>
          </a:p>
        </p:txBody>
      </p:sp>
      <p:sp>
        <p:nvSpPr>
          <p:cNvPr id="2917" name="Google Shape;2917;p92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Ring-Based AllReduce (Naive)</a:t>
            </a:r>
            <a:endParaRPr/>
          </a:p>
        </p:txBody>
      </p:sp>
      <p:sp>
        <p:nvSpPr>
          <p:cNvPr id="2918" name="Google Shape;2918;p92"/>
          <p:cNvSpPr/>
          <p:nvPr/>
        </p:nvSpPr>
        <p:spPr>
          <a:xfrm>
            <a:off x="532712" y="2011975"/>
            <a:ext cx="1375500" cy="2511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19" name="Google Shape;2919;p92"/>
          <p:cNvSpPr/>
          <p:nvPr/>
        </p:nvSpPr>
        <p:spPr>
          <a:xfrm>
            <a:off x="2211000" y="2011975"/>
            <a:ext cx="1375500" cy="251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20" name="Google Shape;2920;p92"/>
          <p:cNvSpPr/>
          <p:nvPr/>
        </p:nvSpPr>
        <p:spPr>
          <a:xfrm>
            <a:off x="3894362" y="2011975"/>
            <a:ext cx="13755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21" name="Google Shape;2921;p92"/>
          <p:cNvSpPr/>
          <p:nvPr/>
        </p:nvSpPr>
        <p:spPr>
          <a:xfrm>
            <a:off x="532712" y="2621575"/>
            <a:ext cx="1375500" cy="2511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22" name="Google Shape;2922;p92"/>
          <p:cNvSpPr/>
          <p:nvPr/>
        </p:nvSpPr>
        <p:spPr>
          <a:xfrm>
            <a:off x="2211000" y="2621575"/>
            <a:ext cx="1375500" cy="251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23" name="Google Shape;2923;p92"/>
          <p:cNvSpPr/>
          <p:nvPr/>
        </p:nvSpPr>
        <p:spPr>
          <a:xfrm>
            <a:off x="3894362" y="2621575"/>
            <a:ext cx="13755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24" name="Google Shape;2924;p92"/>
          <p:cNvSpPr/>
          <p:nvPr/>
        </p:nvSpPr>
        <p:spPr>
          <a:xfrm>
            <a:off x="532712" y="3231175"/>
            <a:ext cx="1375500" cy="2511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25" name="Google Shape;2925;p92"/>
          <p:cNvSpPr/>
          <p:nvPr/>
        </p:nvSpPr>
        <p:spPr>
          <a:xfrm>
            <a:off x="2211000" y="3231175"/>
            <a:ext cx="1375500" cy="251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26" name="Google Shape;2926;p92"/>
          <p:cNvSpPr/>
          <p:nvPr/>
        </p:nvSpPr>
        <p:spPr>
          <a:xfrm>
            <a:off x="3894362" y="3231175"/>
            <a:ext cx="13755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27" name="Google Shape;2927;p92"/>
          <p:cNvSpPr/>
          <p:nvPr/>
        </p:nvSpPr>
        <p:spPr>
          <a:xfrm>
            <a:off x="2205950" y="3840775"/>
            <a:ext cx="1375500" cy="251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28" name="Google Shape;2928;p92"/>
          <p:cNvSpPr/>
          <p:nvPr/>
        </p:nvSpPr>
        <p:spPr>
          <a:xfrm>
            <a:off x="3889312" y="3840775"/>
            <a:ext cx="13755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29" name="Google Shape;2929;p92"/>
          <p:cNvSpPr/>
          <p:nvPr/>
        </p:nvSpPr>
        <p:spPr>
          <a:xfrm>
            <a:off x="532712" y="3840775"/>
            <a:ext cx="1375500" cy="2511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30" name="Google Shape;2930;p92"/>
          <p:cNvSpPr/>
          <p:nvPr/>
        </p:nvSpPr>
        <p:spPr>
          <a:xfrm>
            <a:off x="2205950" y="4450375"/>
            <a:ext cx="1375500" cy="251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31" name="Google Shape;2931;p92"/>
          <p:cNvSpPr/>
          <p:nvPr/>
        </p:nvSpPr>
        <p:spPr>
          <a:xfrm>
            <a:off x="3889312" y="4450375"/>
            <a:ext cx="13755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aseline="-25000"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32" name="Google Shape;2932;p92"/>
          <p:cNvSpPr/>
          <p:nvPr/>
        </p:nvSpPr>
        <p:spPr>
          <a:xfrm>
            <a:off x="532712" y="4450375"/>
            <a:ext cx="1375500" cy="2511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33" name="Google Shape;2933;p92"/>
          <p:cNvSpPr/>
          <p:nvPr/>
        </p:nvSpPr>
        <p:spPr>
          <a:xfrm>
            <a:off x="7729268" y="1389775"/>
            <a:ext cx="393600" cy="393600"/>
          </a:xfrm>
          <a:prstGeom prst="ellipse">
            <a:avLst/>
          </a:prstGeom>
          <a:solidFill>
            <a:srgbClr val="D9D2E9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5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34" name="Google Shape;2934;p92"/>
          <p:cNvSpPr/>
          <p:nvPr/>
        </p:nvSpPr>
        <p:spPr>
          <a:xfrm>
            <a:off x="6052868" y="1389775"/>
            <a:ext cx="393600" cy="393600"/>
          </a:xfrm>
          <a:prstGeom prst="ellipse">
            <a:avLst/>
          </a:prstGeom>
          <a:solidFill>
            <a:srgbClr val="D9EAD3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4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35" name="Google Shape;2935;p92"/>
          <p:cNvSpPr/>
          <p:nvPr/>
        </p:nvSpPr>
        <p:spPr>
          <a:xfrm>
            <a:off x="4376468" y="1389775"/>
            <a:ext cx="393600" cy="393600"/>
          </a:xfrm>
          <a:prstGeom prst="ellipse">
            <a:avLst/>
          </a:prstGeom>
          <a:solidFill>
            <a:srgbClr val="F4CCCC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3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36" name="Google Shape;2936;p92"/>
          <p:cNvSpPr/>
          <p:nvPr/>
        </p:nvSpPr>
        <p:spPr>
          <a:xfrm>
            <a:off x="1023668" y="1389775"/>
            <a:ext cx="393600" cy="393600"/>
          </a:xfrm>
          <a:prstGeom prst="ellipse">
            <a:avLst/>
          </a:prstGeom>
          <a:solidFill>
            <a:srgbClr val="FCE5CD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1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37" name="Google Shape;2937;p92"/>
          <p:cNvSpPr/>
          <p:nvPr/>
        </p:nvSpPr>
        <p:spPr>
          <a:xfrm>
            <a:off x="2700068" y="1389775"/>
            <a:ext cx="393600" cy="3936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2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938" name="Google Shape;2938;p92"/>
          <p:cNvCxnSpPr>
            <a:stCxn id="2937" idx="2"/>
            <a:endCxn id="2936" idx="6"/>
          </p:cNvCxnSpPr>
          <p:nvPr/>
        </p:nvCxnSpPr>
        <p:spPr>
          <a:xfrm rot="10800000">
            <a:off x="1417268" y="1586575"/>
            <a:ext cx="12828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39" name="Google Shape;2939;p92"/>
          <p:cNvCxnSpPr>
            <a:stCxn id="2935" idx="2"/>
            <a:endCxn id="2937" idx="6"/>
          </p:cNvCxnSpPr>
          <p:nvPr/>
        </p:nvCxnSpPr>
        <p:spPr>
          <a:xfrm rot="10800000">
            <a:off x="3093668" y="1586575"/>
            <a:ext cx="12828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40" name="Google Shape;2940;p92"/>
          <p:cNvCxnSpPr>
            <a:stCxn id="2934" idx="2"/>
            <a:endCxn id="2935" idx="6"/>
          </p:cNvCxnSpPr>
          <p:nvPr/>
        </p:nvCxnSpPr>
        <p:spPr>
          <a:xfrm rot="10800000">
            <a:off x="4770068" y="1586575"/>
            <a:ext cx="12828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41" name="Google Shape;2941;p92"/>
          <p:cNvCxnSpPr>
            <a:stCxn id="2933" idx="2"/>
            <a:endCxn id="2934" idx="6"/>
          </p:cNvCxnSpPr>
          <p:nvPr/>
        </p:nvCxnSpPr>
        <p:spPr>
          <a:xfrm rot="10800000">
            <a:off x="6446468" y="1586575"/>
            <a:ext cx="12828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2942" name="Google Shape;2942;p92"/>
          <p:cNvGrpSpPr/>
          <p:nvPr/>
        </p:nvGrpSpPr>
        <p:grpSpPr>
          <a:xfrm>
            <a:off x="432175" y="1154275"/>
            <a:ext cx="8282200" cy="432300"/>
            <a:chOff x="432175" y="3745075"/>
            <a:chExt cx="8282200" cy="432300"/>
          </a:xfrm>
        </p:grpSpPr>
        <p:sp>
          <p:nvSpPr>
            <p:cNvPr id="2943" name="Google Shape;2943;p92"/>
            <p:cNvSpPr/>
            <p:nvPr/>
          </p:nvSpPr>
          <p:spPr>
            <a:xfrm>
              <a:off x="8282075" y="3745075"/>
              <a:ext cx="432300" cy="432300"/>
            </a:xfrm>
            <a:prstGeom prst="arc">
              <a:avLst>
                <a:gd fmla="val 16200000" name="adj1"/>
                <a:gd fmla="val 5392788" name="adj2"/>
              </a:avLst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2944" name="Google Shape;2944;p92"/>
            <p:cNvCxnSpPr>
              <a:stCxn id="2943" idx="0"/>
              <a:endCxn id="2945" idx="0"/>
            </p:cNvCxnSpPr>
            <p:nvPr/>
          </p:nvCxnSpPr>
          <p:spPr>
            <a:xfrm rot="10800000">
              <a:off x="648425" y="3745075"/>
              <a:ext cx="7849800" cy="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946" name="Google Shape;2946;p92"/>
            <p:cNvCxnSpPr>
              <a:stCxn id="2936" idx="2"/>
              <a:endCxn id="2945" idx="2"/>
            </p:cNvCxnSpPr>
            <p:nvPr/>
          </p:nvCxnSpPr>
          <p:spPr>
            <a:xfrm rot="10800000">
              <a:off x="647768" y="4177375"/>
              <a:ext cx="375900" cy="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945" name="Google Shape;2945;p92"/>
            <p:cNvSpPr/>
            <p:nvPr/>
          </p:nvSpPr>
          <p:spPr>
            <a:xfrm flipH="1">
              <a:off x="432175" y="3745075"/>
              <a:ext cx="432300" cy="432300"/>
            </a:xfrm>
            <a:prstGeom prst="arc">
              <a:avLst>
                <a:gd fmla="val 16200000" name="adj1"/>
                <a:gd fmla="val 5392788" name="adj2"/>
              </a:avLst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2947" name="Google Shape;2947;p92"/>
            <p:cNvCxnSpPr>
              <a:stCxn id="2943" idx="2"/>
              <a:endCxn id="2933" idx="6"/>
            </p:cNvCxnSpPr>
            <p:nvPr/>
          </p:nvCxnSpPr>
          <p:spPr>
            <a:xfrm rot="10800000">
              <a:off x="8122778" y="4177375"/>
              <a:ext cx="375900" cy="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51" name="Shape 29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2" name="Google Shape;2952;p93"/>
          <p:cNvSpPr txBox="1"/>
          <p:nvPr>
            <p:ph idx="1" type="body"/>
          </p:nvPr>
        </p:nvSpPr>
        <p:spPr>
          <a:xfrm>
            <a:off x="107050" y="402200"/>
            <a:ext cx="8909700" cy="62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1. Send your vector to your left. When you receive a vector, add it to yours.</a:t>
            </a:r>
            <a:endParaRPr/>
          </a:p>
        </p:txBody>
      </p:sp>
      <p:sp>
        <p:nvSpPr>
          <p:cNvPr id="2953" name="Google Shape;2953;p93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Ring-Based AllReduce (Naive)</a:t>
            </a:r>
            <a:endParaRPr/>
          </a:p>
        </p:txBody>
      </p:sp>
      <p:sp>
        <p:nvSpPr>
          <p:cNvPr id="2954" name="Google Shape;2954;p93"/>
          <p:cNvSpPr/>
          <p:nvPr/>
        </p:nvSpPr>
        <p:spPr>
          <a:xfrm>
            <a:off x="532712" y="2011975"/>
            <a:ext cx="1375500" cy="2511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55" name="Google Shape;2955;p93"/>
          <p:cNvSpPr/>
          <p:nvPr/>
        </p:nvSpPr>
        <p:spPr>
          <a:xfrm>
            <a:off x="2211000" y="2011975"/>
            <a:ext cx="1375500" cy="251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56" name="Google Shape;2956;p93"/>
          <p:cNvSpPr/>
          <p:nvPr/>
        </p:nvSpPr>
        <p:spPr>
          <a:xfrm>
            <a:off x="2137337" y="2088175"/>
            <a:ext cx="13755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57" name="Google Shape;2957;p93"/>
          <p:cNvSpPr/>
          <p:nvPr/>
        </p:nvSpPr>
        <p:spPr>
          <a:xfrm>
            <a:off x="532712" y="2621575"/>
            <a:ext cx="1375500" cy="2511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58" name="Google Shape;2958;p93"/>
          <p:cNvSpPr/>
          <p:nvPr/>
        </p:nvSpPr>
        <p:spPr>
          <a:xfrm>
            <a:off x="2211000" y="2621575"/>
            <a:ext cx="1375500" cy="251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59" name="Google Shape;2959;p93"/>
          <p:cNvSpPr/>
          <p:nvPr/>
        </p:nvSpPr>
        <p:spPr>
          <a:xfrm>
            <a:off x="2137337" y="2697775"/>
            <a:ext cx="13755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60" name="Google Shape;2960;p93"/>
          <p:cNvSpPr/>
          <p:nvPr/>
        </p:nvSpPr>
        <p:spPr>
          <a:xfrm>
            <a:off x="532712" y="3231175"/>
            <a:ext cx="1375500" cy="2511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61" name="Google Shape;2961;p93"/>
          <p:cNvSpPr/>
          <p:nvPr/>
        </p:nvSpPr>
        <p:spPr>
          <a:xfrm>
            <a:off x="2211000" y="3231175"/>
            <a:ext cx="1375500" cy="251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62" name="Google Shape;2962;p93"/>
          <p:cNvSpPr/>
          <p:nvPr/>
        </p:nvSpPr>
        <p:spPr>
          <a:xfrm>
            <a:off x="2137337" y="3307375"/>
            <a:ext cx="13755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63" name="Google Shape;2963;p93"/>
          <p:cNvSpPr/>
          <p:nvPr/>
        </p:nvSpPr>
        <p:spPr>
          <a:xfrm>
            <a:off x="2205950" y="3840775"/>
            <a:ext cx="1375500" cy="251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64" name="Google Shape;2964;p93"/>
          <p:cNvSpPr/>
          <p:nvPr/>
        </p:nvSpPr>
        <p:spPr>
          <a:xfrm>
            <a:off x="2132287" y="3916975"/>
            <a:ext cx="13755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65" name="Google Shape;2965;p93"/>
          <p:cNvSpPr/>
          <p:nvPr/>
        </p:nvSpPr>
        <p:spPr>
          <a:xfrm>
            <a:off x="532712" y="3840775"/>
            <a:ext cx="1375500" cy="2511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66" name="Google Shape;2966;p93"/>
          <p:cNvSpPr/>
          <p:nvPr/>
        </p:nvSpPr>
        <p:spPr>
          <a:xfrm>
            <a:off x="2205950" y="4450375"/>
            <a:ext cx="1375500" cy="251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67" name="Google Shape;2967;p93"/>
          <p:cNvSpPr/>
          <p:nvPr/>
        </p:nvSpPr>
        <p:spPr>
          <a:xfrm>
            <a:off x="2132287" y="4526575"/>
            <a:ext cx="13755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aseline="-25000"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68" name="Google Shape;2968;p93"/>
          <p:cNvSpPr/>
          <p:nvPr/>
        </p:nvSpPr>
        <p:spPr>
          <a:xfrm>
            <a:off x="532712" y="4450375"/>
            <a:ext cx="1375500" cy="2511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69" name="Google Shape;2969;p93"/>
          <p:cNvSpPr/>
          <p:nvPr/>
        </p:nvSpPr>
        <p:spPr>
          <a:xfrm>
            <a:off x="7729268" y="1389775"/>
            <a:ext cx="393600" cy="393600"/>
          </a:xfrm>
          <a:prstGeom prst="ellipse">
            <a:avLst/>
          </a:prstGeom>
          <a:solidFill>
            <a:srgbClr val="D9D2E9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5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70" name="Google Shape;2970;p93"/>
          <p:cNvSpPr/>
          <p:nvPr/>
        </p:nvSpPr>
        <p:spPr>
          <a:xfrm>
            <a:off x="6052868" y="1389775"/>
            <a:ext cx="393600" cy="393600"/>
          </a:xfrm>
          <a:prstGeom prst="ellipse">
            <a:avLst/>
          </a:prstGeom>
          <a:solidFill>
            <a:srgbClr val="D9EAD3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4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71" name="Google Shape;2971;p93"/>
          <p:cNvSpPr/>
          <p:nvPr/>
        </p:nvSpPr>
        <p:spPr>
          <a:xfrm>
            <a:off x="4376468" y="1389775"/>
            <a:ext cx="393600" cy="393600"/>
          </a:xfrm>
          <a:prstGeom prst="ellipse">
            <a:avLst/>
          </a:prstGeom>
          <a:solidFill>
            <a:srgbClr val="F4CCCC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3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72" name="Google Shape;2972;p93"/>
          <p:cNvSpPr/>
          <p:nvPr/>
        </p:nvSpPr>
        <p:spPr>
          <a:xfrm>
            <a:off x="1023668" y="1389775"/>
            <a:ext cx="393600" cy="393600"/>
          </a:xfrm>
          <a:prstGeom prst="ellipse">
            <a:avLst/>
          </a:prstGeom>
          <a:solidFill>
            <a:srgbClr val="FCE5CD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1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73" name="Google Shape;2973;p93"/>
          <p:cNvSpPr/>
          <p:nvPr/>
        </p:nvSpPr>
        <p:spPr>
          <a:xfrm>
            <a:off x="2700068" y="1389775"/>
            <a:ext cx="393600" cy="3936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2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974" name="Google Shape;2974;p93"/>
          <p:cNvCxnSpPr>
            <a:stCxn id="2973" idx="2"/>
            <a:endCxn id="2972" idx="6"/>
          </p:cNvCxnSpPr>
          <p:nvPr/>
        </p:nvCxnSpPr>
        <p:spPr>
          <a:xfrm rot="10800000">
            <a:off x="1417268" y="1586575"/>
            <a:ext cx="12828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75" name="Google Shape;2975;p93"/>
          <p:cNvCxnSpPr>
            <a:stCxn id="2971" idx="2"/>
            <a:endCxn id="2973" idx="6"/>
          </p:cNvCxnSpPr>
          <p:nvPr/>
        </p:nvCxnSpPr>
        <p:spPr>
          <a:xfrm rot="10800000">
            <a:off x="3093668" y="1586575"/>
            <a:ext cx="12828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76" name="Google Shape;2976;p93"/>
          <p:cNvCxnSpPr>
            <a:stCxn id="2970" idx="2"/>
            <a:endCxn id="2971" idx="6"/>
          </p:cNvCxnSpPr>
          <p:nvPr/>
        </p:nvCxnSpPr>
        <p:spPr>
          <a:xfrm rot="10800000">
            <a:off x="4770068" y="1586575"/>
            <a:ext cx="12828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77" name="Google Shape;2977;p93"/>
          <p:cNvCxnSpPr>
            <a:stCxn id="2969" idx="2"/>
            <a:endCxn id="2970" idx="6"/>
          </p:cNvCxnSpPr>
          <p:nvPr/>
        </p:nvCxnSpPr>
        <p:spPr>
          <a:xfrm rot="10800000">
            <a:off x="6446468" y="1586575"/>
            <a:ext cx="12828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2978" name="Google Shape;2978;p93"/>
          <p:cNvGrpSpPr/>
          <p:nvPr/>
        </p:nvGrpSpPr>
        <p:grpSpPr>
          <a:xfrm>
            <a:off x="432175" y="1154275"/>
            <a:ext cx="8282200" cy="432300"/>
            <a:chOff x="432175" y="3745075"/>
            <a:chExt cx="8282200" cy="432300"/>
          </a:xfrm>
        </p:grpSpPr>
        <p:sp>
          <p:nvSpPr>
            <p:cNvPr id="2979" name="Google Shape;2979;p93"/>
            <p:cNvSpPr/>
            <p:nvPr/>
          </p:nvSpPr>
          <p:spPr>
            <a:xfrm>
              <a:off x="8282075" y="3745075"/>
              <a:ext cx="432300" cy="432300"/>
            </a:xfrm>
            <a:prstGeom prst="arc">
              <a:avLst>
                <a:gd fmla="val 16200000" name="adj1"/>
                <a:gd fmla="val 5392788" name="adj2"/>
              </a:avLst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2980" name="Google Shape;2980;p93"/>
            <p:cNvCxnSpPr>
              <a:stCxn id="2979" idx="0"/>
              <a:endCxn id="2981" idx="0"/>
            </p:cNvCxnSpPr>
            <p:nvPr/>
          </p:nvCxnSpPr>
          <p:spPr>
            <a:xfrm rot="10800000">
              <a:off x="648425" y="3745075"/>
              <a:ext cx="7849800" cy="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982" name="Google Shape;2982;p93"/>
            <p:cNvCxnSpPr>
              <a:stCxn id="2972" idx="2"/>
              <a:endCxn id="2981" idx="2"/>
            </p:cNvCxnSpPr>
            <p:nvPr/>
          </p:nvCxnSpPr>
          <p:spPr>
            <a:xfrm rot="10800000">
              <a:off x="647768" y="4177375"/>
              <a:ext cx="375900" cy="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981" name="Google Shape;2981;p93"/>
            <p:cNvSpPr/>
            <p:nvPr/>
          </p:nvSpPr>
          <p:spPr>
            <a:xfrm flipH="1">
              <a:off x="432175" y="3745075"/>
              <a:ext cx="432300" cy="432300"/>
            </a:xfrm>
            <a:prstGeom prst="arc">
              <a:avLst>
                <a:gd fmla="val 16200000" name="adj1"/>
                <a:gd fmla="val 5392788" name="adj2"/>
              </a:avLst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2983" name="Google Shape;2983;p93"/>
            <p:cNvCxnSpPr>
              <a:stCxn id="2979" idx="2"/>
              <a:endCxn id="2969" idx="6"/>
            </p:cNvCxnSpPr>
            <p:nvPr/>
          </p:nvCxnSpPr>
          <p:spPr>
            <a:xfrm rot="10800000">
              <a:off x="8122778" y="4177375"/>
              <a:ext cx="375900" cy="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87" name="Shape 2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8" name="Google Shape;2988;p94"/>
          <p:cNvSpPr txBox="1"/>
          <p:nvPr>
            <p:ph idx="1" type="body"/>
          </p:nvPr>
        </p:nvSpPr>
        <p:spPr>
          <a:xfrm>
            <a:off x="107050" y="402200"/>
            <a:ext cx="8909700" cy="62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1. Send your vector to your left. When you receive a vector, add it to yours.</a:t>
            </a:r>
            <a:endParaRPr/>
          </a:p>
        </p:txBody>
      </p:sp>
      <p:sp>
        <p:nvSpPr>
          <p:cNvPr id="2989" name="Google Shape;2989;p94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Ring-Based AllReduce (Naive)</a:t>
            </a:r>
            <a:endParaRPr/>
          </a:p>
        </p:txBody>
      </p:sp>
      <p:sp>
        <p:nvSpPr>
          <p:cNvPr id="2990" name="Google Shape;2990;p94"/>
          <p:cNvSpPr/>
          <p:nvPr/>
        </p:nvSpPr>
        <p:spPr>
          <a:xfrm>
            <a:off x="532712" y="2011975"/>
            <a:ext cx="1375500" cy="2511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91" name="Google Shape;2991;p94"/>
          <p:cNvSpPr/>
          <p:nvPr/>
        </p:nvSpPr>
        <p:spPr>
          <a:xfrm>
            <a:off x="2213537" y="2011975"/>
            <a:ext cx="13755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92" name="Google Shape;2992;p94"/>
          <p:cNvSpPr/>
          <p:nvPr/>
        </p:nvSpPr>
        <p:spPr>
          <a:xfrm>
            <a:off x="532712" y="2621575"/>
            <a:ext cx="1375500" cy="2511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93" name="Google Shape;2993;p94"/>
          <p:cNvSpPr/>
          <p:nvPr/>
        </p:nvSpPr>
        <p:spPr>
          <a:xfrm>
            <a:off x="2213537" y="2621575"/>
            <a:ext cx="13755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94" name="Google Shape;2994;p94"/>
          <p:cNvSpPr/>
          <p:nvPr/>
        </p:nvSpPr>
        <p:spPr>
          <a:xfrm>
            <a:off x="532712" y="3231175"/>
            <a:ext cx="1375500" cy="2511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95" name="Google Shape;2995;p94"/>
          <p:cNvSpPr/>
          <p:nvPr/>
        </p:nvSpPr>
        <p:spPr>
          <a:xfrm>
            <a:off x="2213537" y="3231175"/>
            <a:ext cx="13755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96" name="Google Shape;2996;p94"/>
          <p:cNvSpPr/>
          <p:nvPr/>
        </p:nvSpPr>
        <p:spPr>
          <a:xfrm>
            <a:off x="532712" y="3840775"/>
            <a:ext cx="1375500" cy="2511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97" name="Google Shape;2997;p94"/>
          <p:cNvSpPr/>
          <p:nvPr/>
        </p:nvSpPr>
        <p:spPr>
          <a:xfrm>
            <a:off x="2208487" y="3840775"/>
            <a:ext cx="13755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98" name="Google Shape;2998;p94"/>
          <p:cNvSpPr/>
          <p:nvPr/>
        </p:nvSpPr>
        <p:spPr>
          <a:xfrm>
            <a:off x="532712" y="4450375"/>
            <a:ext cx="1375500" cy="2511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99" name="Google Shape;2999;p94"/>
          <p:cNvSpPr/>
          <p:nvPr/>
        </p:nvSpPr>
        <p:spPr>
          <a:xfrm>
            <a:off x="2208487" y="4450375"/>
            <a:ext cx="13755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aseline="-25000"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00" name="Google Shape;3000;p94"/>
          <p:cNvSpPr/>
          <p:nvPr/>
        </p:nvSpPr>
        <p:spPr>
          <a:xfrm>
            <a:off x="7729268" y="1389775"/>
            <a:ext cx="393600" cy="393600"/>
          </a:xfrm>
          <a:prstGeom prst="ellipse">
            <a:avLst/>
          </a:prstGeom>
          <a:solidFill>
            <a:srgbClr val="D9D2E9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5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01" name="Google Shape;3001;p94"/>
          <p:cNvSpPr/>
          <p:nvPr/>
        </p:nvSpPr>
        <p:spPr>
          <a:xfrm>
            <a:off x="6052868" y="1389775"/>
            <a:ext cx="393600" cy="393600"/>
          </a:xfrm>
          <a:prstGeom prst="ellipse">
            <a:avLst/>
          </a:prstGeom>
          <a:solidFill>
            <a:srgbClr val="D9EAD3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4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02" name="Google Shape;3002;p94"/>
          <p:cNvSpPr/>
          <p:nvPr/>
        </p:nvSpPr>
        <p:spPr>
          <a:xfrm>
            <a:off x="4376468" y="1389775"/>
            <a:ext cx="393600" cy="393600"/>
          </a:xfrm>
          <a:prstGeom prst="ellipse">
            <a:avLst/>
          </a:prstGeom>
          <a:solidFill>
            <a:srgbClr val="F4CCCC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3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03" name="Google Shape;3003;p94"/>
          <p:cNvSpPr/>
          <p:nvPr/>
        </p:nvSpPr>
        <p:spPr>
          <a:xfrm>
            <a:off x="1023668" y="1389775"/>
            <a:ext cx="393600" cy="393600"/>
          </a:xfrm>
          <a:prstGeom prst="ellipse">
            <a:avLst/>
          </a:prstGeom>
          <a:solidFill>
            <a:srgbClr val="FCE5CD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1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04" name="Google Shape;3004;p94"/>
          <p:cNvSpPr/>
          <p:nvPr/>
        </p:nvSpPr>
        <p:spPr>
          <a:xfrm>
            <a:off x="2700068" y="1389775"/>
            <a:ext cx="393600" cy="3936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2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005" name="Google Shape;3005;p94"/>
          <p:cNvCxnSpPr>
            <a:stCxn id="3004" idx="2"/>
            <a:endCxn id="3003" idx="6"/>
          </p:cNvCxnSpPr>
          <p:nvPr/>
        </p:nvCxnSpPr>
        <p:spPr>
          <a:xfrm rot="10800000">
            <a:off x="1417268" y="1586575"/>
            <a:ext cx="12828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06" name="Google Shape;3006;p94"/>
          <p:cNvCxnSpPr>
            <a:stCxn id="3002" idx="2"/>
            <a:endCxn id="3004" idx="6"/>
          </p:cNvCxnSpPr>
          <p:nvPr/>
        </p:nvCxnSpPr>
        <p:spPr>
          <a:xfrm rot="10800000">
            <a:off x="3093668" y="1586575"/>
            <a:ext cx="12828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07" name="Google Shape;3007;p94"/>
          <p:cNvCxnSpPr>
            <a:stCxn id="3001" idx="2"/>
            <a:endCxn id="3002" idx="6"/>
          </p:cNvCxnSpPr>
          <p:nvPr/>
        </p:nvCxnSpPr>
        <p:spPr>
          <a:xfrm rot="10800000">
            <a:off x="4770068" y="1586575"/>
            <a:ext cx="12828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08" name="Google Shape;3008;p94"/>
          <p:cNvCxnSpPr>
            <a:stCxn id="3000" idx="2"/>
            <a:endCxn id="3001" idx="6"/>
          </p:cNvCxnSpPr>
          <p:nvPr/>
        </p:nvCxnSpPr>
        <p:spPr>
          <a:xfrm rot="10800000">
            <a:off x="6446468" y="1586575"/>
            <a:ext cx="12828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3009" name="Google Shape;3009;p94"/>
          <p:cNvGrpSpPr/>
          <p:nvPr/>
        </p:nvGrpSpPr>
        <p:grpSpPr>
          <a:xfrm>
            <a:off x="432175" y="1154275"/>
            <a:ext cx="8282200" cy="432300"/>
            <a:chOff x="432175" y="3745075"/>
            <a:chExt cx="8282200" cy="432300"/>
          </a:xfrm>
        </p:grpSpPr>
        <p:sp>
          <p:nvSpPr>
            <p:cNvPr id="3010" name="Google Shape;3010;p94"/>
            <p:cNvSpPr/>
            <p:nvPr/>
          </p:nvSpPr>
          <p:spPr>
            <a:xfrm>
              <a:off x="8282075" y="3745075"/>
              <a:ext cx="432300" cy="432300"/>
            </a:xfrm>
            <a:prstGeom prst="arc">
              <a:avLst>
                <a:gd fmla="val 16200000" name="adj1"/>
                <a:gd fmla="val 5392788" name="adj2"/>
              </a:avLst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3011" name="Google Shape;3011;p94"/>
            <p:cNvCxnSpPr>
              <a:stCxn id="3010" idx="0"/>
              <a:endCxn id="3012" idx="0"/>
            </p:cNvCxnSpPr>
            <p:nvPr/>
          </p:nvCxnSpPr>
          <p:spPr>
            <a:xfrm rot="10800000">
              <a:off x="648425" y="3745075"/>
              <a:ext cx="7849800" cy="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013" name="Google Shape;3013;p94"/>
            <p:cNvCxnSpPr>
              <a:stCxn id="3003" idx="2"/>
              <a:endCxn id="3012" idx="2"/>
            </p:cNvCxnSpPr>
            <p:nvPr/>
          </p:nvCxnSpPr>
          <p:spPr>
            <a:xfrm rot="10800000">
              <a:off x="647768" y="4177375"/>
              <a:ext cx="375900" cy="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3012" name="Google Shape;3012;p94"/>
            <p:cNvSpPr/>
            <p:nvPr/>
          </p:nvSpPr>
          <p:spPr>
            <a:xfrm flipH="1">
              <a:off x="432175" y="3745075"/>
              <a:ext cx="432300" cy="432300"/>
            </a:xfrm>
            <a:prstGeom prst="arc">
              <a:avLst>
                <a:gd fmla="val 16200000" name="adj1"/>
                <a:gd fmla="val 5392788" name="adj2"/>
              </a:avLst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3014" name="Google Shape;3014;p94"/>
            <p:cNvCxnSpPr>
              <a:stCxn id="3010" idx="2"/>
              <a:endCxn id="3000" idx="6"/>
            </p:cNvCxnSpPr>
            <p:nvPr/>
          </p:nvCxnSpPr>
          <p:spPr>
            <a:xfrm rot="10800000">
              <a:off x="8122778" y="4177375"/>
              <a:ext cx="375900" cy="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18" name="Shape 30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9" name="Google Shape;3019;p95"/>
          <p:cNvSpPr txBox="1"/>
          <p:nvPr>
            <p:ph idx="1" type="body"/>
          </p:nvPr>
        </p:nvSpPr>
        <p:spPr>
          <a:xfrm>
            <a:off x="107050" y="402200"/>
            <a:ext cx="8909700" cy="62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1. Send your vector to your left. When you receive a vector, add it to yours.</a:t>
            </a:r>
            <a:endParaRPr/>
          </a:p>
        </p:txBody>
      </p:sp>
      <p:sp>
        <p:nvSpPr>
          <p:cNvPr id="3020" name="Google Shape;3020;p95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Ring-Based AllReduce (Naive)</a:t>
            </a:r>
            <a:endParaRPr/>
          </a:p>
        </p:txBody>
      </p:sp>
      <p:sp>
        <p:nvSpPr>
          <p:cNvPr id="3021" name="Google Shape;3021;p95"/>
          <p:cNvSpPr/>
          <p:nvPr/>
        </p:nvSpPr>
        <p:spPr>
          <a:xfrm>
            <a:off x="532712" y="2011975"/>
            <a:ext cx="1375500" cy="2511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22" name="Google Shape;3022;p95"/>
          <p:cNvSpPr/>
          <p:nvPr/>
        </p:nvSpPr>
        <p:spPr>
          <a:xfrm>
            <a:off x="459037" y="2088175"/>
            <a:ext cx="13755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23" name="Google Shape;3023;p95"/>
          <p:cNvSpPr/>
          <p:nvPr/>
        </p:nvSpPr>
        <p:spPr>
          <a:xfrm>
            <a:off x="532712" y="2621575"/>
            <a:ext cx="1375500" cy="2511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24" name="Google Shape;3024;p95"/>
          <p:cNvSpPr/>
          <p:nvPr/>
        </p:nvSpPr>
        <p:spPr>
          <a:xfrm>
            <a:off x="459037" y="2697775"/>
            <a:ext cx="13755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25" name="Google Shape;3025;p95"/>
          <p:cNvSpPr/>
          <p:nvPr/>
        </p:nvSpPr>
        <p:spPr>
          <a:xfrm>
            <a:off x="532712" y="3231175"/>
            <a:ext cx="1375500" cy="2511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26" name="Google Shape;3026;p95"/>
          <p:cNvSpPr/>
          <p:nvPr/>
        </p:nvSpPr>
        <p:spPr>
          <a:xfrm>
            <a:off x="459037" y="3307375"/>
            <a:ext cx="13755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27" name="Google Shape;3027;p95"/>
          <p:cNvSpPr/>
          <p:nvPr/>
        </p:nvSpPr>
        <p:spPr>
          <a:xfrm>
            <a:off x="532712" y="3840775"/>
            <a:ext cx="1375500" cy="2511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28" name="Google Shape;3028;p95"/>
          <p:cNvSpPr/>
          <p:nvPr/>
        </p:nvSpPr>
        <p:spPr>
          <a:xfrm>
            <a:off x="453987" y="3916975"/>
            <a:ext cx="13755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29" name="Google Shape;3029;p95"/>
          <p:cNvSpPr/>
          <p:nvPr/>
        </p:nvSpPr>
        <p:spPr>
          <a:xfrm>
            <a:off x="532712" y="4450375"/>
            <a:ext cx="1375500" cy="2511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30" name="Google Shape;3030;p95"/>
          <p:cNvSpPr/>
          <p:nvPr/>
        </p:nvSpPr>
        <p:spPr>
          <a:xfrm>
            <a:off x="453987" y="4526575"/>
            <a:ext cx="13755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aseline="-25000"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31" name="Google Shape;3031;p95"/>
          <p:cNvSpPr/>
          <p:nvPr/>
        </p:nvSpPr>
        <p:spPr>
          <a:xfrm>
            <a:off x="7729268" y="1389775"/>
            <a:ext cx="393600" cy="393600"/>
          </a:xfrm>
          <a:prstGeom prst="ellipse">
            <a:avLst/>
          </a:prstGeom>
          <a:solidFill>
            <a:srgbClr val="D9D2E9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5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32" name="Google Shape;3032;p95"/>
          <p:cNvSpPr/>
          <p:nvPr/>
        </p:nvSpPr>
        <p:spPr>
          <a:xfrm>
            <a:off x="6052868" y="1389775"/>
            <a:ext cx="393600" cy="393600"/>
          </a:xfrm>
          <a:prstGeom prst="ellipse">
            <a:avLst/>
          </a:prstGeom>
          <a:solidFill>
            <a:srgbClr val="D9EAD3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4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33" name="Google Shape;3033;p95"/>
          <p:cNvSpPr/>
          <p:nvPr/>
        </p:nvSpPr>
        <p:spPr>
          <a:xfrm>
            <a:off x="4376468" y="1389775"/>
            <a:ext cx="393600" cy="393600"/>
          </a:xfrm>
          <a:prstGeom prst="ellipse">
            <a:avLst/>
          </a:prstGeom>
          <a:solidFill>
            <a:srgbClr val="F4CCCC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3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34" name="Google Shape;3034;p95"/>
          <p:cNvSpPr/>
          <p:nvPr/>
        </p:nvSpPr>
        <p:spPr>
          <a:xfrm>
            <a:off x="1023668" y="1389775"/>
            <a:ext cx="393600" cy="393600"/>
          </a:xfrm>
          <a:prstGeom prst="ellipse">
            <a:avLst/>
          </a:prstGeom>
          <a:solidFill>
            <a:srgbClr val="FCE5CD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1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35" name="Google Shape;3035;p95"/>
          <p:cNvSpPr/>
          <p:nvPr/>
        </p:nvSpPr>
        <p:spPr>
          <a:xfrm>
            <a:off x="2700068" y="1389775"/>
            <a:ext cx="393600" cy="3936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2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036" name="Google Shape;3036;p95"/>
          <p:cNvCxnSpPr>
            <a:stCxn id="3035" idx="2"/>
            <a:endCxn id="3034" idx="6"/>
          </p:cNvCxnSpPr>
          <p:nvPr/>
        </p:nvCxnSpPr>
        <p:spPr>
          <a:xfrm rot="10800000">
            <a:off x="1417268" y="1586575"/>
            <a:ext cx="12828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37" name="Google Shape;3037;p95"/>
          <p:cNvCxnSpPr>
            <a:stCxn id="3033" idx="2"/>
            <a:endCxn id="3035" idx="6"/>
          </p:cNvCxnSpPr>
          <p:nvPr/>
        </p:nvCxnSpPr>
        <p:spPr>
          <a:xfrm rot="10800000">
            <a:off x="3093668" y="1586575"/>
            <a:ext cx="12828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38" name="Google Shape;3038;p95"/>
          <p:cNvCxnSpPr>
            <a:stCxn id="3032" idx="2"/>
            <a:endCxn id="3033" idx="6"/>
          </p:cNvCxnSpPr>
          <p:nvPr/>
        </p:nvCxnSpPr>
        <p:spPr>
          <a:xfrm rot="10800000">
            <a:off x="4770068" y="1586575"/>
            <a:ext cx="12828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39" name="Google Shape;3039;p95"/>
          <p:cNvCxnSpPr>
            <a:stCxn id="3031" idx="2"/>
            <a:endCxn id="3032" idx="6"/>
          </p:cNvCxnSpPr>
          <p:nvPr/>
        </p:nvCxnSpPr>
        <p:spPr>
          <a:xfrm rot="10800000">
            <a:off x="6446468" y="1586575"/>
            <a:ext cx="12828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3040" name="Google Shape;3040;p95"/>
          <p:cNvGrpSpPr/>
          <p:nvPr/>
        </p:nvGrpSpPr>
        <p:grpSpPr>
          <a:xfrm>
            <a:off x="432175" y="1154275"/>
            <a:ext cx="8282200" cy="432300"/>
            <a:chOff x="432175" y="3745075"/>
            <a:chExt cx="8282200" cy="432300"/>
          </a:xfrm>
        </p:grpSpPr>
        <p:sp>
          <p:nvSpPr>
            <p:cNvPr id="3041" name="Google Shape;3041;p95"/>
            <p:cNvSpPr/>
            <p:nvPr/>
          </p:nvSpPr>
          <p:spPr>
            <a:xfrm>
              <a:off x="8282075" y="3745075"/>
              <a:ext cx="432300" cy="432300"/>
            </a:xfrm>
            <a:prstGeom prst="arc">
              <a:avLst>
                <a:gd fmla="val 16200000" name="adj1"/>
                <a:gd fmla="val 5392788" name="adj2"/>
              </a:avLst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3042" name="Google Shape;3042;p95"/>
            <p:cNvCxnSpPr>
              <a:stCxn id="3041" idx="0"/>
              <a:endCxn id="3043" idx="0"/>
            </p:cNvCxnSpPr>
            <p:nvPr/>
          </p:nvCxnSpPr>
          <p:spPr>
            <a:xfrm rot="10800000">
              <a:off x="648425" y="3745075"/>
              <a:ext cx="7849800" cy="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044" name="Google Shape;3044;p95"/>
            <p:cNvCxnSpPr>
              <a:stCxn id="3034" idx="2"/>
              <a:endCxn id="3043" idx="2"/>
            </p:cNvCxnSpPr>
            <p:nvPr/>
          </p:nvCxnSpPr>
          <p:spPr>
            <a:xfrm rot="10800000">
              <a:off x="647768" y="4177375"/>
              <a:ext cx="375900" cy="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3043" name="Google Shape;3043;p95"/>
            <p:cNvSpPr/>
            <p:nvPr/>
          </p:nvSpPr>
          <p:spPr>
            <a:xfrm flipH="1">
              <a:off x="432175" y="3745075"/>
              <a:ext cx="432300" cy="432300"/>
            </a:xfrm>
            <a:prstGeom prst="arc">
              <a:avLst>
                <a:gd fmla="val 16200000" name="adj1"/>
                <a:gd fmla="val 5392788" name="adj2"/>
              </a:avLst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3045" name="Google Shape;3045;p95"/>
            <p:cNvCxnSpPr>
              <a:stCxn id="3041" idx="2"/>
              <a:endCxn id="3031" idx="6"/>
            </p:cNvCxnSpPr>
            <p:nvPr/>
          </p:nvCxnSpPr>
          <p:spPr>
            <a:xfrm rot="10800000">
              <a:off x="8122778" y="4177375"/>
              <a:ext cx="375900" cy="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49" name="Shape 30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0" name="Google Shape;3050;p96"/>
          <p:cNvSpPr txBox="1"/>
          <p:nvPr>
            <p:ph idx="1" type="body"/>
          </p:nvPr>
        </p:nvSpPr>
        <p:spPr>
          <a:xfrm>
            <a:off x="107050" y="402200"/>
            <a:ext cx="8909700" cy="62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1. Send your vector to your left. When you receive a vector, add it to yours.</a:t>
            </a:r>
            <a:endParaRPr/>
          </a:p>
        </p:txBody>
      </p:sp>
      <p:sp>
        <p:nvSpPr>
          <p:cNvPr id="3051" name="Google Shape;3051;p96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Ring-Based AllReduce (Naive)</a:t>
            </a:r>
            <a:endParaRPr/>
          </a:p>
        </p:txBody>
      </p:sp>
      <p:sp>
        <p:nvSpPr>
          <p:cNvPr id="3052" name="Google Shape;3052;p96"/>
          <p:cNvSpPr/>
          <p:nvPr/>
        </p:nvSpPr>
        <p:spPr>
          <a:xfrm>
            <a:off x="535237" y="2011975"/>
            <a:ext cx="13755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53" name="Google Shape;3053;p96"/>
          <p:cNvSpPr/>
          <p:nvPr/>
        </p:nvSpPr>
        <p:spPr>
          <a:xfrm>
            <a:off x="535237" y="2621575"/>
            <a:ext cx="13755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54" name="Google Shape;3054;p96"/>
          <p:cNvSpPr/>
          <p:nvPr/>
        </p:nvSpPr>
        <p:spPr>
          <a:xfrm>
            <a:off x="535237" y="3231175"/>
            <a:ext cx="13755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55" name="Google Shape;3055;p96"/>
          <p:cNvSpPr/>
          <p:nvPr/>
        </p:nvSpPr>
        <p:spPr>
          <a:xfrm>
            <a:off x="535237" y="3840775"/>
            <a:ext cx="13755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56" name="Google Shape;3056;p96"/>
          <p:cNvSpPr/>
          <p:nvPr/>
        </p:nvSpPr>
        <p:spPr>
          <a:xfrm>
            <a:off x="535237" y="4450375"/>
            <a:ext cx="13755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aseline="-25000"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57" name="Google Shape;3057;p96"/>
          <p:cNvSpPr/>
          <p:nvPr/>
        </p:nvSpPr>
        <p:spPr>
          <a:xfrm>
            <a:off x="7729268" y="1389775"/>
            <a:ext cx="393600" cy="393600"/>
          </a:xfrm>
          <a:prstGeom prst="ellipse">
            <a:avLst/>
          </a:prstGeom>
          <a:solidFill>
            <a:srgbClr val="D9D2E9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5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58" name="Google Shape;3058;p96"/>
          <p:cNvSpPr/>
          <p:nvPr/>
        </p:nvSpPr>
        <p:spPr>
          <a:xfrm>
            <a:off x="6052868" y="1389775"/>
            <a:ext cx="393600" cy="393600"/>
          </a:xfrm>
          <a:prstGeom prst="ellipse">
            <a:avLst/>
          </a:prstGeom>
          <a:solidFill>
            <a:srgbClr val="D9EAD3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4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59" name="Google Shape;3059;p96"/>
          <p:cNvSpPr/>
          <p:nvPr/>
        </p:nvSpPr>
        <p:spPr>
          <a:xfrm>
            <a:off x="4376468" y="1389775"/>
            <a:ext cx="393600" cy="393600"/>
          </a:xfrm>
          <a:prstGeom prst="ellipse">
            <a:avLst/>
          </a:prstGeom>
          <a:solidFill>
            <a:srgbClr val="F4CCCC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3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60" name="Google Shape;3060;p96"/>
          <p:cNvSpPr/>
          <p:nvPr/>
        </p:nvSpPr>
        <p:spPr>
          <a:xfrm>
            <a:off x="1023668" y="1389775"/>
            <a:ext cx="393600" cy="393600"/>
          </a:xfrm>
          <a:prstGeom prst="ellipse">
            <a:avLst/>
          </a:prstGeom>
          <a:solidFill>
            <a:srgbClr val="FCE5CD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1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61" name="Google Shape;3061;p96"/>
          <p:cNvSpPr/>
          <p:nvPr/>
        </p:nvSpPr>
        <p:spPr>
          <a:xfrm>
            <a:off x="2700068" y="1389775"/>
            <a:ext cx="393600" cy="3936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2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062" name="Google Shape;3062;p96"/>
          <p:cNvCxnSpPr>
            <a:stCxn id="3061" idx="2"/>
            <a:endCxn id="3060" idx="6"/>
          </p:cNvCxnSpPr>
          <p:nvPr/>
        </p:nvCxnSpPr>
        <p:spPr>
          <a:xfrm rot="10800000">
            <a:off x="1417268" y="1586575"/>
            <a:ext cx="12828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63" name="Google Shape;3063;p96"/>
          <p:cNvCxnSpPr>
            <a:stCxn id="3059" idx="2"/>
            <a:endCxn id="3061" idx="6"/>
          </p:cNvCxnSpPr>
          <p:nvPr/>
        </p:nvCxnSpPr>
        <p:spPr>
          <a:xfrm rot="10800000">
            <a:off x="3093668" y="1586575"/>
            <a:ext cx="12828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64" name="Google Shape;3064;p96"/>
          <p:cNvCxnSpPr>
            <a:stCxn id="3058" idx="2"/>
            <a:endCxn id="3059" idx="6"/>
          </p:cNvCxnSpPr>
          <p:nvPr/>
        </p:nvCxnSpPr>
        <p:spPr>
          <a:xfrm rot="10800000">
            <a:off x="4770068" y="1586575"/>
            <a:ext cx="12828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65" name="Google Shape;3065;p96"/>
          <p:cNvCxnSpPr>
            <a:stCxn id="3057" idx="2"/>
            <a:endCxn id="3058" idx="6"/>
          </p:cNvCxnSpPr>
          <p:nvPr/>
        </p:nvCxnSpPr>
        <p:spPr>
          <a:xfrm rot="10800000">
            <a:off x="6446468" y="1586575"/>
            <a:ext cx="12828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3066" name="Google Shape;3066;p96"/>
          <p:cNvGrpSpPr/>
          <p:nvPr/>
        </p:nvGrpSpPr>
        <p:grpSpPr>
          <a:xfrm>
            <a:off x="432175" y="1154275"/>
            <a:ext cx="8282200" cy="432300"/>
            <a:chOff x="432175" y="3745075"/>
            <a:chExt cx="8282200" cy="432300"/>
          </a:xfrm>
        </p:grpSpPr>
        <p:sp>
          <p:nvSpPr>
            <p:cNvPr id="3067" name="Google Shape;3067;p96"/>
            <p:cNvSpPr/>
            <p:nvPr/>
          </p:nvSpPr>
          <p:spPr>
            <a:xfrm>
              <a:off x="8282075" y="3745075"/>
              <a:ext cx="432300" cy="432300"/>
            </a:xfrm>
            <a:prstGeom prst="arc">
              <a:avLst>
                <a:gd fmla="val 16200000" name="adj1"/>
                <a:gd fmla="val 5392788" name="adj2"/>
              </a:avLst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3068" name="Google Shape;3068;p96"/>
            <p:cNvCxnSpPr>
              <a:stCxn id="3067" idx="0"/>
              <a:endCxn id="3069" idx="0"/>
            </p:cNvCxnSpPr>
            <p:nvPr/>
          </p:nvCxnSpPr>
          <p:spPr>
            <a:xfrm rot="10800000">
              <a:off x="648425" y="3745075"/>
              <a:ext cx="7849800" cy="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070" name="Google Shape;3070;p96"/>
            <p:cNvCxnSpPr>
              <a:stCxn id="3060" idx="2"/>
              <a:endCxn id="3069" idx="2"/>
            </p:cNvCxnSpPr>
            <p:nvPr/>
          </p:nvCxnSpPr>
          <p:spPr>
            <a:xfrm rot="10800000">
              <a:off x="647768" y="4177375"/>
              <a:ext cx="375900" cy="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3069" name="Google Shape;3069;p96"/>
            <p:cNvSpPr/>
            <p:nvPr/>
          </p:nvSpPr>
          <p:spPr>
            <a:xfrm flipH="1">
              <a:off x="432175" y="3745075"/>
              <a:ext cx="432300" cy="432300"/>
            </a:xfrm>
            <a:prstGeom prst="arc">
              <a:avLst>
                <a:gd fmla="val 16200000" name="adj1"/>
                <a:gd fmla="val 5392788" name="adj2"/>
              </a:avLst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3071" name="Google Shape;3071;p96"/>
            <p:cNvCxnSpPr>
              <a:stCxn id="3067" idx="2"/>
              <a:endCxn id="3057" idx="6"/>
            </p:cNvCxnSpPr>
            <p:nvPr/>
          </p:nvCxnSpPr>
          <p:spPr>
            <a:xfrm rot="10800000">
              <a:off x="8122778" y="4177375"/>
              <a:ext cx="375900" cy="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75" name="Shape 30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Google Shape;3076;p97"/>
          <p:cNvSpPr txBox="1"/>
          <p:nvPr>
            <p:ph idx="1" type="body"/>
          </p:nvPr>
        </p:nvSpPr>
        <p:spPr>
          <a:xfrm>
            <a:off x="107050" y="402200"/>
            <a:ext cx="8909700" cy="62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2. Send the overall sum to your left, so that everyone gets a copy of it.</a:t>
            </a:r>
            <a:endParaRPr/>
          </a:p>
        </p:txBody>
      </p:sp>
      <p:sp>
        <p:nvSpPr>
          <p:cNvPr id="3077" name="Google Shape;3077;p97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Ring-Based AllReduce (Naive)</a:t>
            </a:r>
            <a:endParaRPr/>
          </a:p>
        </p:txBody>
      </p:sp>
      <p:grpSp>
        <p:nvGrpSpPr>
          <p:cNvPr id="3078" name="Google Shape;3078;p97"/>
          <p:cNvGrpSpPr/>
          <p:nvPr/>
        </p:nvGrpSpPr>
        <p:grpSpPr>
          <a:xfrm>
            <a:off x="535237" y="2011975"/>
            <a:ext cx="1375500" cy="2689500"/>
            <a:chOff x="535237" y="2011975"/>
            <a:chExt cx="1375500" cy="2689500"/>
          </a:xfrm>
        </p:grpSpPr>
        <p:sp>
          <p:nvSpPr>
            <p:cNvPr id="3079" name="Google Shape;3079;p97"/>
            <p:cNvSpPr/>
            <p:nvPr/>
          </p:nvSpPr>
          <p:spPr>
            <a:xfrm>
              <a:off x="535237" y="2011975"/>
              <a:ext cx="1375500" cy="251100"/>
            </a:xfrm>
            <a:prstGeom prst="rect">
              <a:avLst/>
            </a:prstGeom>
            <a:solidFill>
              <a:srgbClr val="EFEFE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27425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v</a:t>
              </a:r>
              <a:r>
                <a:rPr lang="en" sz="9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 </a:t>
              </a:r>
              <a:r>
                <a:rPr lang="en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</a:t>
              </a:r>
              <a:r>
                <a:rPr lang="en" sz="9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r>
                <a:rPr i="1" lang="en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w</a:t>
              </a:r>
              <a:r>
                <a:rPr lang="en" sz="9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 </a:t>
              </a:r>
              <a:r>
                <a:rPr lang="en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</a:t>
              </a:r>
              <a:r>
                <a:rPr lang="en" sz="9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r>
                <a:rPr i="1" lang="en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x</a:t>
              </a:r>
              <a:r>
                <a:rPr lang="en" sz="9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 </a:t>
              </a:r>
              <a:r>
                <a:rPr lang="en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</a:t>
              </a:r>
              <a:r>
                <a:rPr lang="en" sz="9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r>
                <a:rPr i="1" lang="en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y</a:t>
              </a:r>
              <a:r>
                <a:rPr lang="en" sz="9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 </a:t>
              </a:r>
              <a:r>
                <a:rPr lang="en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</a:t>
              </a:r>
              <a:r>
                <a:rPr lang="en" sz="9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r>
                <a:rPr i="1" lang="en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z</a:t>
              </a:r>
              <a:r>
                <a:rPr lang="en" sz="9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</a:t>
              </a:r>
              <a:endParaRPr baseline="-25000" sz="10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080" name="Google Shape;3080;p97"/>
            <p:cNvSpPr/>
            <p:nvPr/>
          </p:nvSpPr>
          <p:spPr>
            <a:xfrm>
              <a:off x="535237" y="2621575"/>
              <a:ext cx="1375500" cy="251100"/>
            </a:xfrm>
            <a:prstGeom prst="rect">
              <a:avLst/>
            </a:prstGeom>
            <a:solidFill>
              <a:srgbClr val="EFEFE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27425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v</a:t>
              </a:r>
              <a:r>
                <a:rPr lang="en" sz="9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2 </a:t>
              </a:r>
              <a:r>
                <a:rPr lang="en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</a:t>
              </a:r>
              <a:r>
                <a:rPr lang="en" sz="9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r>
                <a:rPr i="1" lang="en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w</a:t>
              </a:r>
              <a:r>
                <a:rPr lang="en" sz="9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2 </a:t>
              </a:r>
              <a:r>
                <a:rPr lang="en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</a:t>
              </a:r>
              <a:r>
                <a:rPr lang="en" sz="9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r>
                <a:rPr i="1" lang="en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x</a:t>
              </a:r>
              <a:r>
                <a:rPr lang="en" sz="9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2 </a:t>
              </a:r>
              <a:r>
                <a:rPr lang="en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</a:t>
              </a:r>
              <a:r>
                <a:rPr lang="en" sz="9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r>
                <a:rPr i="1" lang="en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y</a:t>
              </a:r>
              <a:r>
                <a:rPr lang="en" sz="9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2 </a:t>
              </a:r>
              <a:r>
                <a:rPr lang="en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</a:t>
              </a:r>
              <a:r>
                <a:rPr lang="en" sz="9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r>
                <a:rPr i="1" lang="en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z</a:t>
              </a:r>
              <a:r>
                <a:rPr lang="en" sz="9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2</a:t>
              </a:r>
              <a:endParaRPr baseline="-25000" sz="10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081" name="Google Shape;3081;p97"/>
            <p:cNvSpPr/>
            <p:nvPr/>
          </p:nvSpPr>
          <p:spPr>
            <a:xfrm>
              <a:off x="535237" y="3231175"/>
              <a:ext cx="1375500" cy="251100"/>
            </a:xfrm>
            <a:prstGeom prst="rect">
              <a:avLst/>
            </a:prstGeom>
            <a:solidFill>
              <a:srgbClr val="EFEFE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27425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v</a:t>
              </a:r>
              <a:r>
                <a:rPr lang="en" sz="9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3 </a:t>
              </a:r>
              <a:r>
                <a:rPr lang="en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</a:t>
              </a:r>
              <a:r>
                <a:rPr lang="en" sz="9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r>
                <a:rPr i="1" lang="en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w</a:t>
              </a:r>
              <a:r>
                <a:rPr lang="en" sz="9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3 </a:t>
              </a:r>
              <a:r>
                <a:rPr lang="en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</a:t>
              </a:r>
              <a:r>
                <a:rPr lang="en" sz="9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r>
                <a:rPr i="1" lang="en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x</a:t>
              </a:r>
              <a:r>
                <a:rPr lang="en" sz="9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3 </a:t>
              </a:r>
              <a:r>
                <a:rPr lang="en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</a:t>
              </a:r>
              <a:r>
                <a:rPr lang="en" sz="9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r>
                <a:rPr i="1" lang="en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y</a:t>
              </a:r>
              <a:r>
                <a:rPr lang="en" sz="9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3 </a:t>
              </a:r>
              <a:r>
                <a:rPr lang="en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</a:t>
              </a:r>
              <a:r>
                <a:rPr lang="en" sz="9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r>
                <a:rPr i="1" lang="en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z</a:t>
              </a:r>
              <a:r>
                <a:rPr lang="en" sz="9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3</a:t>
              </a:r>
              <a:endParaRPr baseline="-25000" sz="10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082" name="Google Shape;3082;p97"/>
            <p:cNvSpPr/>
            <p:nvPr/>
          </p:nvSpPr>
          <p:spPr>
            <a:xfrm>
              <a:off x="535237" y="3840775"/>
              <a:ext cx="1375500" cy="251100"/>
            </a:xfrm>
            <a:prstGeom prst="rect">
              <a:avLst/>
            </a:prstGeom>
            <a:solidFill>
              <a:srgbClr val="EFEFE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27425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v</a:t>
              </a:r>
              <a:r>
                <a:rPr lang="en" sz="9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4 </a:t>
              </a:r>
              <a:r>
                <a:rPr lang="en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</a:t>
              </a:r>
              <a:r>
                <a:rPr lang="en" sz="9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r>
                <a:rPr i="1" lang="en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w</a:t>
              </a:r>
              <a:r>
                <a:rPr lang="en" sz="9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4 </a:t>
              </a:r>
              <a:r>
                <a:rPr lang="en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</a:t>
              </a:r>
              <a:r>
                <a:rPr lang="en" sz="9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r>
                <a:rPr i="1" lang="en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x</a:t>
              </a:r>
              <a:r>
                <a:rPr lang="en" sz="9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4 </a:t>
              </a:r>
              <a:r>
                <a:rPr lang="en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</a:t>
              </a:r>
              <a:r>
                <a:rPr lang="en" sz="9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r>
                <a:rPr i="1" lang="en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y</a:t>
              </a:r>
              <a:r>
                <a:rPr lang="en" sz="9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4 </a:t>
              </a:r>
              <a:r>
                <a:rPr lang="en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</a:t>
              </a:r>
              <a:r>
                <a:rPr lang="en" sz="9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r>
                <a:rPr i="1" lang="en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z</a:t>
              </a:r>
              <a:r>
                <a:rPr lang="en" sz="9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4</a:t>
              </a:r>
              <a:endParaRPr baseline="-25000" sz="10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083" name="Google Shape;3083;p97"/>
            <p:cNvSpPr/>
            <p:nvPr/>
          </p:nvSpPr>
          <p:spPr>
            <a:xfrm>
              <a:off x="535237" y="4450375"/>
              <a:ext cx="1375500" cy="251100"/>
            </a:xfrm>
            <a:prstGeom prst="rect">
              <a:avLst/>
            </a:prstGeom>
            <a:solidFill>
              <a:srgbClr val="EFEFE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27425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i="1" lang="en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v</a:t>
              </a:r>
              <a:r>
                <a:rPr lang="en" sz="9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5 </a:t>
              </a:r>
              <a:r>
                <a:rPr lang="en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</a:t>
              </a:r>
              <a:r>
                <a:rPr lang="en" sz="9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r>
                <a:rPr i="1" lang="en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w</a:t>
              </a:r>
              <a:r>
                <a:rPr lang="en" sz="9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5 </a:t>
              </a:r>
              <a:r>
                <a:rPr lang="en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</a:t>
              </a:r>
              <a:r>
                <a:rPr lang="en" sz="9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r>
                <a:rPr i="1" lang="en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x</a:t>
              </a:r>
              <a:r>
                <a:rPr lang="en" sz="9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5 </a:t>
              </a:r>
              <a:r>
                <a:rPr lang="en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</a:t>
              </a:r>
              <a:r>
                <a:rPr lang="en" sz="9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r>
                <a:rPr i="1" lang="en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y</a:t>
              </a:r>
              <a:r>
                <a:rPr lang="en" sz="9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5 </a:t>
              </a:r>
              <a:r>
                <a:rPr lang="en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</a:t>
              </a:r>
              <a:r>
                <a:rPr lang="en" sz="9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r>
                <a:rPr i="1" lang="en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z</a:t>
              </a:r>
              <a:r>
                <a:rPr lang="en" sz="9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5</a:t>
              </a:r>
              <a:endParaRPr baseline="-25000" sz="10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3084" name="Google Shape;3084;p97"/>
          <p:cNvGrpSpPr/>
          <p:nvPr/>
        </p:nvGrpSpPr>
        <p:grpSpPr>
          <a:xfrm>
            <a:off x="7235812" y="2011975"/>
            <a:ext cx="1380550" cy="2689500"/>
            <a:chOff x="7235812" y="2011975"/>
            <a:chExt cx="1380550" cy="2689500"/>
          </a:xfrm>
        </p:grpSpPr>
        <p:sp>
          <p:nvSpPr>
            <p:cNvPr id="3085" name="Google Shape;3085;p97"/>
            <p:cNvSpPr/>
            <p:nvPr/>
          </p:nvSpPr>
          <p:spPr>
            <a:xfrm>
              <a:off x="7240862" y="2011975"/>
              <a:ext cx="1375500" cy="251100"/>
            </a:xfrm>
            <a:prstGeom prst="rect">
              <a:avLst/>
            </a:prstGeom>
            <a:solidFill>
              <a:srgbClr val="EFEFE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27425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v</a:t>
              </a:r>
              <a:r>
                <a:rPr lang="en" sz="9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 </a:t>
              </a:r>
              <a:r>
                <a:rPr lang="en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</a:t>
              </a:r>
              <a:r>
                <a:rPr lang="en" sz="9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r>
                <a:rPr i="1" lang="en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w</a:t>
              </a:r>
              <a:r>
                <a:rPr lang="en" sz="9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 </a:t>
              </a:r>
              <a:r>
                <a:rPr lang="en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</a:t>
              </a:r>
              <a:r>
                <a:rPr lang="en" sz="9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r>
                <a:rPr i="1" lang="en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x</a:t>
              </a:r>
              <a:r>
                <a:rPr lang="en" sz="9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 </a:t>
              </a:r>
              <a:r>
                <a:rPr lang="en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</a:t>
              </a:r>
              <a:r>
                <a:rPr lang="en" sz="9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r>
                <a:rPr i="1" lang="en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y</a:t>
              </a:r>
              <a:r>
                <a:rPr lang="en" sz="9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 </a:t>
              </a:r>
              <a:r>
                <a:rPr lang="en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</a:t>
              </a:r>
              <a:r>
                <a:rPr lang="en" sz="9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r>
                <a:rPr i="1" lang="en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z</a:t>
              </a:r>
              <a:r>
                <a:rPr lang="en" sz="9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</a:t>
              </a:r>
              <a:endParaRPr baseline="-25000" sz="10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086" name="Google Shape;3086;p97"/>
            <p:cNvSpPr/>
            <p:nvPr/>
          </p:nvSpPr>
          <p:spPr>
            <a:xfrm>
              <a:off x="7240862" y="2621575"/>
              <a:ext cx="1375500" cy="251100"/>
            </a:xfrm>
            <a:prstGeom prst="rect">
              <a:avLst/>
            </a:prstGeom>
            <a:solidFill>
              <a:srgbClr val="EFEFE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27425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v</a:t>
              </a:r>
              <a:r>
                <a:rPr lang="en" sz="9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2 </a:t>
              </a:r>
              <a:r>
                <a:rPr lang="en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</a:t>
              </a:r>
              <a:r>
                <a:rPr lang="en" sz="9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r>
                <a:rPr i="1" lang="en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w</a:t>
              </a:r>
              <a:r>
                <a:rPr lang="en" sz="9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2 </a:t>
              </a:r>
              <a:r>
                <a:rPr lang="en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</a:t>
              </a:r>
              <a:r>
                <a:rPr lang="en" sz="9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r>
                <a:rPr i="1" lang="en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x</a:t>
              </a:r>
              <a:r>
                <a:rPr lang="en" sz="9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2 </a:t>
              </a:r>
              <a:r>
                <a:rPr lang="en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</a:t>
              </a:r>
              <a:r>
                <a:rPr lang="en" sz="9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r>
                <a:rPr i="1" lang="en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y</a:t>
              </a:r>
              <a:r>
                <a:rPr lang="en" sz="9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2 </a:t>
              </a:r>
              <a:r>
                <a:rPr lang="en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</a:t>
              </a:r>
              <a:r>
                <a:rPr lang="en" sz="9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r>
                <a:rPr i="1" lang="en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z</a:t>
              </a:r>
              <a:r>
                <a:rPr lang="en" sz="9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2</a:t>
              </a:r>
              <a:endParaRPr baseline="-25000" sz="10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087" name="Google Shape;3087;p97"/>
            <p:cNvSpPr/>
            <p:nvPr/>
          </p:nvSpPr>
          <p:spPr>
            <a:xfrm>
              <a:off x="7240862" y="3231175"/>
              <a:ext cx="1375500" cy="251100"/>
            </a:xfrm>
            <a:prstGeom prst="rect">
              <a:avLst/>
            </a:prstGeom>
            <a:solidFill>
              <a:srgbClr val="EFEFE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27425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v</a:t>
              </a:r>
              <a:r>
                <a:rPr lang="en" sz="9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3 </a:t>
              </a:r>
              <a:r>
                <a:rPr lang="en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</a:t>
              </a:r>
              <a:r>
                <a:rPr lang="en" sz="9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r>
                <a:rPr i="1" lang="en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w</a:t>
              </a:r>
              <a:r>
                <a:rPr lang="en" sz="9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3 </a:t>
              </a:r>
              <a:r>
                <a:rPr lang="en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</a:t>
              </a:r>
              <a:r>
                <a:rPr lang="en" sz="9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r>
                <a:rPr i="1" lang="en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x</a:t>
              </a:r>
              <a:r>
                <a:rPr lang="en" sz="9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3 </a:t>
              </a:r>
              <a:r>
                <a:rPr lang="en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</a:t>
              </a:r>
              <a:r>
                <a:rPr lang="en" sz="9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r>
                <a:rPr i="1" lang="en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y</a:t>
              </a:r>
              <a:r>
                <a:rPr lang="en" sz="9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3 </a:t>
              </a:r>
              <a:r>
                <a:rPr lang="en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</a:t>
              </a:r>
              <a:r>
                <a:rPr lang="en" sz="9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r>
                <a:rPr i="1" lang="en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z</a:t>
              </a:r>
              <a:r>
                <a:rPr lang="en" sz="9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3</a:t>
              </a:r>
              <a:endParaRPr baseline="-25000" sz="10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088" name="Google Shape;3088;p97"/>
            <p:cNvSpPr/>
            <p:nvPr/>
          </p:nvSpPr>
          <p:spPr>
            <a:xfrm>
              <a:off x="7235812" y="3840775"/>
              <a:ext cx="1375500" cy="251100"/>
            </a:xfrm>
            <a:prstGeom prst="rect">
              <a:avLst/>
            </a:prstGeom>
            <a:solidFill>
              <a:srgbClr val="EFEFE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27425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v</a:t>
              </a:r>
              <a:r>
                <a:rPr lang="en" sz="9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4 </a:t>
              </a:r>
              <a:r>
                <a:rPr lang="en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</a:t>
              </a:r>
              <a:r>
                <a:rPr lang="en" sz="9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r>
                <a:rPr i="1" lang="en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w</a:t>
              </a:r>
              <a:r>
                <a:rPr lang="en" sz="9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4 </a:t>
              </a:r>
              <a:r>
                <a:rPr lang="en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</a:t>
              </a:r>
              <a:r>
                <a:rPr lang="en" sz="9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r>
                <a:rPr i="1" lang="en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x</a:t>
              </a:r>
              <a:r>
                <a:rPr lang="en" sz="9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4 </a:t>
              </a:r>
              <a:r>
                <a:rPr lang="en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</a:t>
              </a:r>
              <a:r>
                <a:rPr lang="en" sz="9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r>
                <a:rPr i="1" lang="en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y</a:t>
              </a:r>
              <a:r>
                <a:rPr lang="en" sz="9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4 </a:t>
              </a:r>
              <a:r>
                <a:rPr lang="en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</a:t>
              </a:r>
              <a:r>
                <a:rPr lang="en" sz="9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r>
                <a:rPr i="1" lang="en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z</a:t>
              </a:r>
              <a:r>
                <a:rPr lang="en" sz="9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4</a:t>
              </a:r>
              <a:endParaRPr baseline="-25000" sz="10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089" name="Google Shape;3089;p97"/>
            <p:cNvSpPr/>
            <p:nvPr/>
          </p:nvSpPr>
          <p:spPr>
            <a:xfrm>
              <a:off x="7235812" y="4450375"/>
              <a:ext cx="1375500" cy="251100"/>
            </a:xfrm>
            <a:prstGeom prst="rect">
              <a:avLst/>
            </a:prstGeom>
            <a:solidFill>
              <a:srgbClr val="EFEFE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27425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i="1" lang="en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v</a:t>
              </a:r>
              <a:r>
                <a:rPr lang="en" sz="9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5 </a:t>
              </a:r>
              <a:r>
                <a:rPr lang="en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</a:t>
              </a:r>
              <a:r>
                <a:rPr lang="en" sz="9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r>
                <a:rPr i="1" lang="en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w</a:t>
              </a:r>
              <a:r>
                <a:rPr lang="en" sz="9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5 </a:t>
              </a:r>
              <a:r>
                <a:rPr lang="en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</a:t>
              </a:r>
              <a:r>
                <a:rPr lang="en" sz="9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r>
                <a:rPr i="1" lang="en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x</a:t>
              </a:r>
              <a:r>
                <a:rPr lang="en" sz="9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5 </a:t>
              </a:r>
              <a:r>
                <a:rPr lang="en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</a:t>
              </a:r>
              <a:r>
                <a:rPr lang="en" sz="9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r>
                <a:rPr i="1" lang="en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y</a:t>
              </a:r>
              <a:r>
                <a:rPr lang="en" sz="9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5 </a:t>
              </a:r>
              <a:r>
                <a:rPr lang="en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</a:t>
              </a:r>
              <a:r>
                <a:rPr lang="en" sz="9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r>
                <a:rPr i="1" lang="en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z</a:t>
              </a:r>
              <a:r>
                <a:rPr lang="en" sz="9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5</a:t>
              </a:r>
              <a:endParaRPr baseline="-25000" sz="10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3090" name="Google Shape;3090;p97"/>
          <p:cNvGrpSpPr/>
          <p:nvPr/>
        </p:nvGrpSpPr>
        <p:grpSpPr>
          <a:xfrm>
            <a:off x="5559412" y="2011975"/>
            <a:ext cx="1380550" cy="2689500"/>
            <a:chOff x="5559412" y="2011975"/>
            <a:chExt cx="1380550" cy="2689500"/>
          </a:xfrm>
        </p:grpSpPr>
        <p:sp>
          <p:nvSpPr>
            <p:cNvPr id="3091" name="Google Shape;3091;p97"/>
            <p:cNvSpPr/>
            <p:nvPr/>
          </p:nvSpPr>
          <p:spPr>
            <a:xfrm>
              <a:off x="5564462" y="2011975"/>
              <a:ext cx="1375500" cy="251100"/>
            </a:xfrm>
            <a:prstGeom prst="rect">
              <a:avLst/>
            </a:prstGeom>
            <a:solidFill>
              <a:srgbClr val="EFEFE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27425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v</a:t>
              </a:r>
              <a:r>
                <a:rPr lang="en" sz="9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 </a:t>
              </a:r>
              <a:r>
                <a:rPr lang="en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</a:t>
              </a:r>
              <a:r>
                <a:rPr lang="en" sz="9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r>
                <a:rPr i="1" lang="en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w</a:t>
              </a:r>
              <a:r>
                <a:rPr lang="en" sz="9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 </a:t>
              </a:r>
              <a:r>
                <a:rPr lang="en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</a:t>
              </a:r>
              <a:r>
                <a:rPr lang="en" sz="9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r>
                <a:rPr i="1" lang="en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x</a:t>
              </a:r>
              <a:r>
                <a:rPr lang="en" sz="9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 </a:t>
              </a:r>
              <a:r>
                <a:rPr lang="en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</a:t>
              </a:r>
              <a:r>
                <a:rPr lang="en" sz="9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r>
                <a:rPr i="1" lang="en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y</a:t>
              </a:r>
              <a:r>
                <a:rPr lang="en" sz="9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 </a:t>
              </a:r>
              <a:r>
                <a:rPr lang="en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</a:t>
              </a:r>
              <a:r>
                <a:rPr lang="en" sz="9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r>
                <a:rPr i="1" lang="en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z</a:t>
              </a:r>
              <a:r>
                <a:rPr lang="en" sz="9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</a:t>
              </a:r>
              <a:endParaRPr baseline="-25000" sz="10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092" name="Google Shape;3092;p97"/>
            <p:cNvSpPr/>
            <p:nvPr/>
          </p:nvSpPr>
          <p:spPr>
            <a:xfrm>
              <a:off x="5564462" y="2621575"/>
              <a:ext cx="1375500" cy="251100"/>
            </a:xfrm>
            <a:prstGeom prst="rect">
              <a:avLst/>
            </a:prstGeom>
            <a:solidFill>
              <a:srgbClr val="EFEFE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27425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v</a:t>
              </a:r>
              <a:r>
                <a:rPr lang="en" sz="9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2 </a:t>
              </a:r>
              <a:r>
                <a:rPr lang="en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</a:t>
              </a:r>
              <a:r>
                <a:rPr lang="en" sz="9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r>
                <a:rPr i="1" lang="en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w</a:t>
              </a:r>
              <a:r>
                <a:rPr lang="en" sz="9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2 </a:t>
              </a:r>
              <a:r>
                <a:rPr lang="en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</a:t>
              </a:r>
              <a:r>
                <a:rPr lang="en" sz="9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r>
                <a:rPr i="1" lang="en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x</a:t>
              </a:r>
              <a:r>
                <a:rPr lang="en" sz="9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2 </a:t>
              </a:r>
              <a:r>
                <a:rPr lang="en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</a:t>
              </a:r>
              <a:r>
                <a:rPr lang="en" sz="9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r>
                <a:rPr i="1" lang="en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y</a:t>
              </a:r>
              <a:r>
                <a:rPr lang="en" sz="9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2 </a:t>
              </a:r>
              <a:r>
                <a:rPr lang="en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</a:t>
              </a:r>
              <a:r>
                <a:rPr lang="en" sz="9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r>
                <a:rPr i="1" lang="en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z</a:t>
              </a:r>
              <a:r>
                <a:rPr lang="en" sz="9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2</a:t>
              </a:r>
              <a:endParaRPr baseline="-25000" sz="10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093" name="Google Shape;3093;p97"/>
            <p:cNvSpPr/>
            <p:nvPr/>
          </p:nvSpPr>
          <p:spPr>
            <a:xfrm>
              <a:off x="5564462" y="3231175"/>
              <a:ext cx="1375500" cy="251100"/>
            </a:xfrm>
            <a:prstGeom prst="rect">
              <a:avLst/>
            </a:prstGeom>
            <a:solidFill>
              <a:srgbClr val="EFEFE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27425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v</a:t>
              </a:r>
              <a:r>
                <a:rPr lang="en" sz="9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3 </a:t>
              </a:r>
              <a:r>
                <a:rPr lang="en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</a:t>
              </a:r>
              <a:r>
                <a:rPr lang="en" sz="9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r>
                <a:rPr i="1" lang="en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w</a:t>
              </a:r>
              <a:r>
                <a:rPr lang="en" sz="9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3 </a:t>
              </a:r>
              <a:r>
                <a:rPr lang="en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</a:t>
              </a:r>
              <a:r>
                <a:rPr lang="en" sz="9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r>
                <a:rPr i="1" lang="en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x</a:t>
              </a:r>
              <a:r>
                <a:rPr lang="en" sz="9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3 </a:t>
              </a:r>
              <a:r>
                <a:rPr lang="en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</a:t>
              </a:r>
              <a:r>
                <a:rPr lang="en" sz="9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r>
                <a:rPr i="1" lang="en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y</a:t>
              </a:r>
              <a:r>
                <a:rPr lang="en" sz="9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3 </a:t>
              </a:r>
              <a:r>
                <a:rPr lang="en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</a:t>
              </a:r>
              <a:r>
                <a:rPr lang="en" sz="9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r>
                <a:rPr i="1" lang="en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z</a:t>
              </a:r>
              <a:r>
                <a:rPr lang="en" sz="9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3</a:t>
              </a:r>
              <a:endParaRPr baseline="-25000" sz="10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094" name="Google Shape;3094;p97"/>
            <p:cNvSpPr/>
            <p:nvPr/>
          </p:nvSpPr>
          <p:spPr>
            <a:xfrm>
              <a:off x="5559412" y="3840775"/>
              <a:ext cx="1375500" cy="251100"/>
            </a:xfrm>
            <a:prstGeom prst="rect">
              <a:avLst/>
            </a:prstGeom>
            <a:solidFill>
              <a:srgbClr val="EFEFE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27425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v</a:t>
              </a:r>
              <a:r>
                <a:rPr lang="en" sz="9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4 </a:t>
              </a:r>
              <a:r>
                <a:rPr lang="en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</a:t>
              </a:r>
              <a:r>
                <a:rPr lang="en" sz="9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r>
                <a:rPr i="1" lang="en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w</a:t>
              </a:r>
              <a:r>
                <a:rPr lang="en" sz="9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4 </a:t>
              </a:r>
              <a:r>
                <a:rPr lang="en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</a:t>
              </a:r>
              <a:r>
                <a:rPr lang="en" sz="9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r>
                <a:rPr i="1" lang="en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x</a:t>
              </a:r>
              <a:r>
                <a:rPr lang="en" sz="9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4 </a:t>
              </a:r>
              <a:r>
                <a:rPr lang="en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</a:t>
              </a:r>
              <a:r>
                <a:rPr lang="en" sz="9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r>
                <a:rPr i="1" lang="en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y</a:t>
              </a:r>
              <a:r>
                <a:rPr lang="en" sz="9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4 </a:t>
              </a:r>
              <a:r>
                <a:rPr lang="en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</a:t>
              </a:r>
              <a:r>
                <a:rPr lang="en" sz="9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r>
                <a:rPr i="1" lang="en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z</a:t>
              </a:r>
              <a:r>
                <a:rPr lang="en" sz="9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4</a:t>
              </a:r>
              <a:endParaRPr baseline="-25000" sz="10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095" name="Google Shape;3095;p97"/>
            <p:cNvSpPr/>
            <p:nvPr/>
          </p:nvSpPr>
          <p:spPr>
            <a:xfrm>
              <a:off x="5559412" y="4450375"/>
              <a:ext cx="1375500" cy="251100"/>
            </a:xfrm>
            <a:prstGeom prst="rect">
              <a:avLst/>
            </a:prstGeom>
            <a:solidFill>
              <a:srgbClr val="EFEFE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27425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i="1" lang="en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v</a:t>
              </a:r>
              <a:r>
                <a:rPr lang="en" sz="9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5 </a:t>
              </a:r>
              <a:r>
                <a:rPr lang="en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</a:t>
              </a:r>
              <a:r>
                <a:rPr lang="en" sz="9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r>
                <a:rPr i="1" lang="en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w</a:t>
              </a:r>
              <a:r>
                <a:rPr lang="en" sz="9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5 </a:t>
              </a:r>
              <a:r>
                <a:rPr lang="en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</a:t>
              </a:r>
              <a:r>
                <a:rPr lang="en" sz="9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r>
                <a:rPr i="1" lang="en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x</a:t>
              </a:r>
              <a:r>
                <a:rPr lang="en" sz="9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5 </a:t>
              </a:r>
              <a:r>
                <a:rPr lang="en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</a:t>
              </a:r>
              <a:r>
                <a:rPr lang="en" sz="9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r>
                <a:rPr i="1" lang="en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y</a:t>
              </a:r>
              <a:r>
                <a:rPr lang="en" sz="9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5 </a:t>
              </a:r>
              <a:r>
                <a:rPr lang="en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</a:t>
              </a:r>
              <a:r>
                <a:rPr lang="en" sz="9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r>
                <a:rPr i="1" lang="en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z</a:t>
              </a:r>
              <a:r>
                <a:rPr lang="en" sz="9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5</a:t>
              </a:r>
              <a:endParaRPr baseline="-25000" sz="10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3096" name="Google Shape;3096;p97"/>
          <p:cNvGrpSpPr/>
          <p:nvPr/>
        </p:nvGrpSpPr>
        <p:grpSpPr>
          <a:xfrm>
            <a:off x="3885525" y="2011975"/>
            <a:ext cx="1380550" cy="2689500"/>
            <a:chOff x="3885525" y="2011975"/>
            <a:chExt cx="1380550" cy="2689500"/>
          </a:xfrm>
        </p:grpSpPr>
        <p:sp>
          <p:nvSpPr>
            <p:cNvPr id="3097" name="Google Shape;3097;p97"/>
            <p:cNvSpPr/>
            <p:nvPr/>
          </p:nvSpPr>
          <p:spPr>
            <a:xfrm>
              <a:off x="3890575" y="2011975"/>
              <a:ext cx="1375500" cy="251100"/>
            </a:xfrm>
            <a:prstGeom prst="rect">
              <a:avLst/>
            </a:prstGeom>
            <a:solidFill>
              <a:srgbClr val="EFEFE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27425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v</a:t>
              </a:r>
              <a:r>
                <a:rPr lang="en" sz="9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 </a:t>
              </a:r>
              <a:r>
                <a:rPr lang="en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</a:t>
              </a:r>
              <a:r>
                <a:rPr lang="en" sz="9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r>
                <a:rPr i="1" lang="en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w</a:t>
              </a:r>
              <a:r>
                <a:rPr lang="en" sz="9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 </a:t>
              </a:r>
              <a:r>
                <a:rPr lang="en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</a:t>
              </a:r>
              <a:r>
                <a:rPr lang="en" sz="9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r>
                <a:rPr i="1" lang="en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x</a:t>
              </a:r>
              <a:r>
                <a:rPr lang="en" sz="9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 </a:t>
              </a:r>
              <a:r>
                <a:rPr lang="en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</a:t>
              </a:r>
              <a:r>
                <a:rPr lang="en" sz="9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r>
                <a:rPr i="1" lang="en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y</a:t>
              </a:r>
              <a:r>
                <a:rPr lang="en" sz="9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 </a:t>
              </a:r>
              <a:r>
                <a:rPr lang="en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</a:t>
              </a:r>
              <a:r>
                <a:rPr lang="en" sz="9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r>
                <a:rPr i="1" lang="en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z</a:t>
              </a:r>
              <a:r>
                <a:rPr lang="en" sz="9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</a:t>
              </a:r>
              <a:endParaRPr baseline="-25000" sz="10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098" name="Google Shape;3098;p97"/>
            <p:cNvSpPr/>
            <p:nvPr/>
          </p:nvSpPr>
          <p:spPr>
            <a:xfrm>
              <a:off x="3890575" y="2621575"/>
              <a:ext cx="1375500" cy="251100"/>
            </a:xfrm>
            <a:prstGeom prst="rect">
              <a:avLst/>
            </a:prstGeom>
            <a:solidFill>
              <a:srgbClr val="EFEFE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27425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v</a:t>
              </a:r>
              <a:r>
                <a:rPr lang="en" sz="9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2 </a:t>
              </a:r>
              <a:r>
                <a:rPr lang="en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</a:t>
              </a:r>
              <a:r>
                <a:rPr lang="en" sz="9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r>
                <a:rPr i="1" lang="en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w</a:t>
              </a:r>
              <a:r>
                <a:rPr lang="en" sz="9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2 </a:t>
              </a:r>
              <a:r>
                <a:rPr lang="en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</a:t>
              </a:r>
              <a:r>
                <a:rPr lang="en" sz="9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r>
                <a:rPr i="1" lang="en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x</a:t>
              </a:r>
              <a:r>
                <a:rPr lang="en" sz="9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2 </a:t>
              </a:r>
              <a:r>
                <a:rPr lang="en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</a:t>
              </a:r>
              <a:r>
                <a:rPr lang="en" sz="9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r>
                <a:rPr i="1" lang="en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y</a:t>
              </a:r>
              <a:r>
                <a:rPr lang="en" sz="9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2 </a:t>
              </a:r>
              <a:r>
                <a:rPr lang="en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</a:t>
              </a:r>
              <a:r>
                <a:rPr lang="en" sz="9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r>
                <a:rPr i="1" lang="en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z</a:t>
              </a:r>
              <a:r>
                <a:rPr lang="en" sz="9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2</a:t>
              </a:r>
              <a:endParaRPr baseline="-25000" sz="10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099" name="Google Shape;3099;p97"/>
            <p:cNvSpPr/>
            <p:nvPr/>
          </p:nvSpPr>
          <p:spPr>
            <a:xfrm>
              <a:off x="3890575" y="3231175"/>
              <a:ext cx="1375500" cy="251100"/>
            </a:xfrm>
            <a:prstGeom prst="rect">
              <a:avLst/>
            </a:prstGeom>
            <a:solidFill>
              <a:srgbClr val="EFEFE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27425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v</a:t>
              </a:r>
              <a:r>
                <a:rPr lang="en" sz="9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3 </a:t>
              </a:r>
              <a:r>
                <a:rPr lang="en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</a:t>
              </a:r>
              <a:r>
                <a:rPr lang="en" sz="9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r>
                <a:rPr i="1" lang="en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w</a:t>
              </a:r>
              <a:r>
                <a:rPr lang="en" sz="9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3 </a:t>
              </a:r>
              <a:r>
                <a:rPr lang="en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</a:t>
              </a:r>
              <a:r>
                <a:rPr lang="en" sz="9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r>
                <a:rPr i="1" lang="en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x</a:t>
              </a:r>
              <a:r>
                <a:rPr lang="en" sz="9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3 </a:t>
              </a:r>
              <a:r>
                <a:rPr lang="en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</a:t>
              </a:r>
              <a:r>
                <a:rPr lang="en" sz="9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r>
                <a:rPr i="1" lang="en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y</a:t>
              </a:r>
              <a:r>
                <a:rPr lang="en" sz="9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3 </a:t>
              </a:r>
              <a:r>
                <a:rPr lang="en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</a:t>
              </a:r>
              <a:r>
                <a:rPr lang="en" sz="9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r>
                <a:rPr i="1" lang="en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z</a:t>
              </a:r>
              <a:r>
                <a:rPr lang="en" sz="9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3</a:t>
              </a:r>
              <a:endParaRPr baseline="-25000" sz="10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100" name="Google Shape;3100;p97"/>
            <p:cNvSpPr/>
            <p:nvPr/>
          </p:nvSpPr>
          <p:spPr>
            <a:xfrm>
              <a:off x="3885525" y="3840775"/>
              <a:ext cx="1375500" cy="251100"/>
            </a:xfrm>
            <a:prstGeom prst="rect">
              <a:avLst/>
            </a:prstGeom>
            <a:solidFill>
              <a:srgbClr val="EFEFE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27425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v</a:t>
              </a:r>
              <a:r>
                <a:rPr lang="en" sz="9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4 </a:t>
              </a:r>
              <a:r>
                <a:rPr lang="en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</a:t>
              </a:r>
              <a:r>
                <a:rPr lang="en" sz="9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r>
                <a:rPr i="1" lang="en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w</a:t>
              </a:r>
              <a:r>
                <a:rPr lang="en" sz="9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4 </a:t>
              </a:r>
              <a:r>
                <a:rPr lang="en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</a:t>
              </a:r>
              <a:r>
                <a:rPr lang="en" sz="9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r>
                <a:rPr i="1" lang="en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x</a:t>
              </a:r>
              <a:r>
                <a:rPr lang="en" sz="9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4 </a:t>
              </a:r>
              <a:r>
                <a:rPr lang="en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</a:t>
              </a:r>
              <a:r>
                <a:rPr lang="en" sz="9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r>
                <a:rPr i="1" lang="en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y</a:t>
              </a:r>
              <a:r>
                <a:rPr lang="en" sz="9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4 </a:t>
              </a:r>
              <a:r>
                <a:rPr lang="en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</a:t>
              </a:r>
              <a:r>
                <a:rPr lang="en" sz="9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r>
                <a:rPr i="1" lang="en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z</a:t>
              </a:r>
              <a:r>
                <a:rPr lang="en" sz="9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4</a:t>
              </a:r>
              <a:endParaRPr baseline="-25000" sz="10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101" name="Google Shape;3101;p97"/>
            <p:cNvSpPr/>
            <p:nvPr/>
          </p:nvSpPr>
          <p:spPr>
            <a:xfrm>
              <a:off x="3885525" y="4450375"/>
              <a:ext cx="1375500" cy="251100"/>
            </a:xfrm>
            <a:prstGeom prst="rect">
              <a:avLst/>
            </a:prstGeom>
            <a:solidFill>
              <a:srgbClr val="EFEFE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27425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i="1" lang="en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v</a:t>
              </a:r>
              <a:r>
                <a:rPr lang="en" sz="9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5 </a:t>
              </a:r>
              <a:r>
                <a:rPr lang="en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</a:t>
              </a:r>
              <a:r>
                <a:rPr lang="en" sz="9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r>
                <a:rPr i="1" lang="en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w</a:t>
              </a:r>
              <a:r>
                <a:rPr lang="en" sz="9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5 </a:t>
              </a:r>
              <a:r>
                <a:rPr lang="en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</a:t>
              </a:r>
              <a:r>
                <a:rPr lang="en" sz="9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r>
                <a:rPr i="1" lang="en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x</a:t>
              </a:r>
              <a:r>
                <a:rPr lang="en" sz="9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5 </a:t>
              </a:r>
              <a:r>
                <a:rPr lang="en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</a:t>
              </a:r>
              <a:r>
                <a:rPr lang="en" sz="9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r>
                <a:rPr i="1" lang="en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y</a:t>
              </a:r>
              <a:r>
                <a:rPr lang="en" sz="9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5 </a:t>
              </a:r>
              <a:r>
                <a:rPr lang="en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</a:t>
              </a:r>
              <a:r>
                <a:rPr lang="en" sz="9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r>
                <a:rPr i="1" lang="en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z</a:t>
              </a:r>
              <a:r>
                <a:rPr lang="en" sz="9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5</a:t>
              </a:r>
              <a:endParaRPr baseline="-25000" sz="10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3102" name="Google Shape;3102;p97"/>
          <p:cNvGrpSpPr/>
          <p:nvPr/>
        </p:nvGrpSpPr>
        <p:grpSpPr>
          <a:xfrm>
            <a:off x="2210375" y="2011975"/>
            <a:ext cx="1380550" cy="2689500"/>
            <a:chOff x="2210375" y="2011975"/>
            <a:chExt cx="1380550" cy="2689500"/>
          </a:xfrm>
        </p:grpSpPr>
        <p:sp>
          <p:nvSpPr>
            <p:cNvPr id="3103" name="Google Shape;3103;p97"/>
            <p:cNvSpPr/>
            <p:nvPr/>
          </p:nvSpPr>
          <p:spPr>
            <a:xfrm>
              <a:off x="2215425" y="2011975"/>
              <a:ext cx="1375500" cy="251100"/>
            </a:xfrm>
            <a:prstGeom prst="rect">
              <a:avLst/>
            </a:prstGeom>
            <a:solidFill>
              <a:srgbClr val="EFEFE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27425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v</a:t>
              </a:r>
              <a:r>
                <a:rPr lang="en" sz="9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 </a:t>
              </a:r>
              <a:r>
                <a:rPr lang="en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</a:t>
              </a:r>
              <a:r>
                <a:rPr lang="en" sz="9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r>
                <a:rPr i="1" lang="en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w</a:t>
              </a:r>
              <a:r>
                <a:rPr lang="en" sz="9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 </a:t>
              </a:r>
              <a:r>
                <a:rPr lang="en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</a:t>
              </a:r>
              <a:r>
                <a:rPr lang="en" sz="9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r>
                <a:rPr i="1" lang="en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x</a:t>
              </a:r>
              <a:r>
                <a:rPr lang="en" sz="9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 </a:t>
              </a:r>
              <a:r>
                <a:rPr lang="en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</a:t>
              </a:r>
              <a:r>
                <a:rPr lang="en" sz="9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r>
                <a:rPr i="1" lang="en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y</a:t>
              </a:r>
              <a:r>
                <a:rPr lang="en" sz="9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 </a:t>
              </a:r>
              <a:r>
                <a:rPr lang="en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</a:t>
              </a:r>
              <a:r>
                <a:rPr lang="en" sz="9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r>
                <a:rPr i="1" lang="en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z</a:t>
              </a:r>
              <a:r>
                <a:rPr lang="en" sz="9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</a:t>
              </a:r>
              <a:endParaRPr baseline="-25000" sz="10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104" name="Google Shape;3104;p97"/>
            <p:cNvSpPr/>
            <p:nvPr/>
          </p:nvSpPr>
          <p:spPr>
            <a:xfrm>
              <a:off x="2215425" y="2621575"/>
              <a:ext cx="1375500" cy="251100"/>
            </a:xfrm>
            <a:prstGeom prst="rect">
              <a:avLst/>
            </a:prstGeom>
            <a:solidFill>
              <a:srgbClr val="EFEFE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27425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v</a:t>
              </a:r>
              <a:r>
                <a:rPr lang="en" sz="9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2 </a:t>
              </a:r>
              <a:r>
                <a:rPr lang="en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</a:t>
              </a:r>
              <a:r>
                <a:rPr lang="en" sz="9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r>
                <a:rPr i="1" lang="en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w</a:t>
              </a:r>
              <a:r>
                <a:rPr lang="en" sz="9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2 </a:t>
              </a:r>
              <a:r>
                <a:rPr lang="en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</a:t>
              </a:r>
              <a:r>
                <a:rPr lang="en" sz="9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r>
                <a:rPr i="1" lang="en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x</a:t>
              </a:r>
              <a:r>
                <a:rPr lang="en" sz="9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2 </a:t>
              </a:r>
              <a:r>
                <a:rPr lang="en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</a:t>
              </a:r>
              <a:r>
                <a:rPr lang="en" sz="9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r>
                <a:rPr i="1" lang="en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y</a:t>
              </a:r>
              <a:r>
                <a:rPr lang="en" sz="9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2 </a:t>
              </a:r>
              <a:r>
                <a:rPr lang="en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</a:t>
              </a:r>
              <a:r>
                <a:rPr lang="en" sz="9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r>
                <a:rPr i="1" lang="en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z</a:t>
              </a:r>
              <a:r>
                <a:rPr lang="en" sz="9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2</a:t>
              </a:r>
              <a:endParaRPr baseline="-25000" sz="10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105" name="Google Shape;3105;p97"/>
            <p:cNvSpPr/>
            <p:nvPr/>
          </p:nvSpPr>
          <p:spPr>
            <a:xfrm>
              <a:off x="2215425" y="3231175"/>
              <a:ext cx="1375500" cy="251100"/>
            </a:xfrm>
            <a:prstGeom prst="rect">
              <a:avLst/>
            </a:prstGeom>
            <a:solidFill>
              <a:srgbClr val="EFEFE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27425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v</a:t>
              </a:r>
              <a:r>
                <a:rPr lang="en" sz="9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3 </a:t>
              </a:r>
              <a:r>
                <a:rPr lang="en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</a:t>
              </a:r>
              <a:r>
                <a:rPr lang="en" sz="9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r>
                <a:rPr i="1" lang="en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w</a:t>
              </a:r>
              <a:r>
                <a:rPr lang="en" sz="9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3 </a:t>
              </a:r>
              <a:r>
                <a:rPr lang="en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</a:t>
              </a:r>
              <a:r>
                <a:rPr lang="en" sz="9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r>
                <a:rPr i="1" lang="en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x</a:t>
              </a:r>
              <a:r>
                <a:rPr lang="en" sz="9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3 </a:t>
              </a:r>
              <a:r>
                <a:rPr lang="en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</a:t>
              </a:r>
              <a:r>
                <a:rPr lang="en" sz="9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r>
                <a:rPr i="1" lang="en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y</a:t>
              </a:r>
              <a:r>
                <a:rPr lang="en" sz="9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3 </a:t>
              </a:r>
              <a:r>
                <a:rPr lang="en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</a:t>
              </a:r>
              <a:r>
                <a:rPr lang="en" sz="9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r>
                <a:rPr i="1" lang="en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z</a:t>
              </a:r>
              <a:r>
                <a:rPr lang="en" sz="9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3</a:t>
              </a:r>
              <a:endParaRPr baseline="-25000" sz="10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106" name="Google Shape;3106;p97"/>
            <p:cNvSpPr/>
            <p:nvPr/>
          </p:nvSpPr>
          <p:spPr>
            <a:xfrm>
              <a:off x="2210375" y="3840775"/>
              <a:ext cx="1375500" cy="251100"/>
            </a:xfrm>
            <a:prstGeom prst="rect">
              <a:avLst/>
            </a:prstGeom>
            <a:solidFill>
              <a:srgbClr val="EFEFE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27425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v</a:t>
              </a:r>
              <a:r>
                <a:rPr lang="en" sz="9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4 </a:t>
              </a:r>
              <a:r>
                <a:rPr lang="en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</a:t>
              </a:r>
              <a:r>
                <a:rPr lang="en" sz="9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r>
                <a:rPr i="1" lang="en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w</a:t>
              </a:r>
              <a:r>
                <a:rPr lang="en" sz="9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4 </a:t>
              </a:r>
              <a:r>
                <a:rPr lang="en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</a:t>
              </a:r>
              <a:r>
                <a:rPr lang="en" sz="9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r>
                <a:rPr i="1" lang="en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x</a:t>
              </a:r>
              <a:r>
                <a:rPr lang="en" sz="9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4 </a:t>
              </a:r>
              <a:r>
                <a:rPr lang="en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</a:t>
              </a:r>
              <a:r>
                <a:rPr lang="en" sz="9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r>
                <a:rPr i="1" lang="en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y</a:t>
              </a:r>
              <a:r>
                <a:rPr lang="en" sz="9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4 </a:t>
              </a:r>
              <a:r>
                <a:rPr lang="en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</a:t>
              </a:r>
              <a:r>
                <a:rPr lang="en" sz="9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r>
                <a:rPr i="1" lang="en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z</a:t>
              </a:r>
              <a:r>
                <a:rPr lang="en" sz="9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4</a:t>
              </a:r>
              <a:endParaRPr baseline="-25000" sz="10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107" name="Google Shape;3107;p97"/>
            <p:cNvSpPr/>
            <p:nvPr/>
          </p:nvSpPr>
          <p:spPr>
            <a:xfrm>
              <a:off x="2210375" y="4450375"/>
              <a:ext cx="1375500" cy="251100"/>
            </a:xfrm>
            <a:prstGeom prst="rect">
              <a:avLst/>
            </a:prstGeom>
            <a:solidFill>
              <a:srgbClr val="EFEFE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27425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i="1" lang="en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v</a:t>
              </a:r>
              <a:r>
                <a:rPr lang="en" sz="9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5 </a:t>
              </a:r>
              <a:r>
                <a:rPr lang="en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</a:t>
              </a:r>
              <a:r>
                <a:rPr lang="en" sz="9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r>
                <a:rPr i="1" lang="en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w</a:t>
              </a:r>
              <a:r>
                <a:rPr lang="en" sz="9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5 </a:t>
              </a:r>
              <a:r>
                <a:rPr lang="en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</a:t>
              </a:r>
              <a:r>
                <a:rPr lang="en" sz="9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r>
                <a:rPr i="1" lang="en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x</a:t>
              </a:r>
              <a:r>
                <a:rPr lang="en" sz="9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5 </a:t>
              </a:r>
              <a:r>
                <a:rPr lang="en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</a:t>
              </a:r>
              <a:r>
                <a:rPr lang="en" sz="9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r>
                <a:rPr i="1" lang="en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y</a:t>
              </a:r>
              <a:r>
                <a:rPr lang="en" sz="9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5 </a:t>
              </a:r>
              <a:r>
                <a:rPr lang="en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</a:t>
              </a:r>
              <a:r>
                <a:rPr lang="en" sz="9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r>
                <a:rPr i="1" lang="en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z</a:t>
              </a:r>
              <a:r>
                <a:rPr lang="en" sz="9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5</a:t>
              </a:r>
              <a:endParaRPr baseline="-25000" sz="10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3108" name="Google Shape;3108;p97"/>
          <p:cNvSpPr/>
          <p:nvPr/>
        </p:nvSpPr>
        <p:spPr>
          <a:xfrm>
            <a:off x="7729268" y="1389775"/>
            <a:ext cx="393600" cy="393600"/>
          </a:xfrm>
          <a:prstGeom prst="ellipse">
            <a:avLst/>
          </a:prstGeom>
          <a:solidFill>
            <a:srgbClr val="D9D2E9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5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09" name="Google Shape;3109;p97"/>
          <p:cNvSpPr/>
          <p:nvPr/>
        </p:nvSpPr>
        <p:spPr>
          <a:xfrm>
            <a:off x="6052868" y="1389775"/>
            <a:ext cx="393600" cy="393600"/>
          </a:xfrm>
          <a:prstGeom prst="ellipse">
            <a:avLst/>
          </a:prstGeom>
          <a:solidFill>
            <a:srgbClr val="D9EAD3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4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10" name="Google Shape;3110;p97"/>
          <p:cNvSpPr/>
          <p:nvPr/>
        </p:nvSpPr>
        <p:spPr>
          <a:xfrm>
            <a:off x="4376468" y="1389775"/>
            <a:ext cx="393600" cy="393600"/>
          </a:xfrm>
          <a:prstGeom prst="ellipse">
            <a:avLst/>
          </a:prstGeom>
          <a:solidFill>
            <a:srgbClr val="F4CCCC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3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11" name="Google Shape;3111;p97"/>
          <p:cNvSpPr/>
          <p:nvPr/>
        </p:nvSpPr>
        <p:spPr>
          <a:xfrm>
            <a:off x="1023668" y="1389775"/>
            <a:ext cx="393600" cy="393600"/>
          </a:xfrm>
          <a:prstGeom prst="ellipse">
            <a:avLst/>
          </a:prstGeom>
          <a:solidFill>
            <a:srgbClr val="FCE5CD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1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12" name="Google Shape;3112;p97"/>
          <p:cNvSpPr/>
          <p:nvPr/>
        </p:nvSpPr>
        <p:spPr>
          <a:xfrm>
            <a:off x="2700068" y="1389775"/>
            <a:ext cx="393600" cy="3936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2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113" name="Google Shape;3113;p97"/>
          <p:cNvCxnSpPr>
            <a:stCxn id="3112" idx="2"/>
            <a:endCxn id="3111" idx="6"/>
          </p:cNvCxnSpPr>
          <p:nvPr/>
        </p:nvCxnSpPr>
        <p:spPr>
          <a:xfrm rot="10800000">
            <a:off x="1417268" y="1586575"/>
            <a:ext cx="12828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14" name="Google Shape;3114;p97"/>
          <p:cNvCxnSpPr>
            <a:stCxn id="3110" idx="2"/>
            <a:endCxn id="3112" idx="6"/>
          </p:cNvCxnSpPr>
          <p:nvPr/>
        </p:nvCxnSpPr>
        <p:spPr>
          <a:xfrm rot="10800000">
            <a:off x="3093668" y="1586575"/>
            <a:ext cx="12828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15" name="Google Shape;3115;p97"/>
          <p:cNvCxnSpPr>
            <a:stCxn id="3109" idx="2"/>
            <a:endCxn id="3110" idx="6"/>
          </p:cNvCxnSpPr>
          <p:nvPr/>
        </p:nvCxnSpPr>
        <p:spPr>
          <a:xfrm rot="10800000">
            <a:off x="4770068" y="1586575"/>
            <a:ext cx="12828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16" name="Google Shape;3116;p97"/>
          <p:cNvCxnSpPr>
            <a:stCxn id="3108" idx="2"/>
            <a:endCxn id="3109" idx="6"/>
          </p:cNvCxnSpPr>
          <p:nvPr/>
        </p:nvCxnSpPr>
        <p:spPr>
          <a:xfrm rot="10800000">
            <a:off x="6446468" y="1586575"/>
            <a:ext cx="12828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3117" name="Google Shape;3117;p97"/>
          <p:cNvGrpSpPr/>
          <p:nvPr/>
        </p:nvGrpSpPr>
        <p:grpSpPr>
          <a:xfrm>
            <a:off x="432175" y="1154275"/>
            <a:ext cx="8282200" cy="432300"/>
            <a:chOff x="432175" y="3745075"/>
            <a:chExt cx="8282200" cy="432300"/>
          </a:xfrm>
        </p:grpSpPr>
        <p:sp>
          <p:nvSpPr>
            <p:cNvPr id="3118" name="Google Shape;3118;p97"/>
            <p:cNvSpPr/>
            <p:nvPr/>
          </p:nvSpPr>
          <p:spPr>
            <a:xfrm>
              <a:off x="8282075" y="3745075"/>
              <a:ext cx="432300" cy="432300"/>
            </a:xfrm>
            <a:prstGeom prst="arc">
              <a:avLst>
                <a:gd fmla="val 16200000" name="adj1"/>
                <a:gd fmla="val 5392788" name="adj2"/>
              </a:avLst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3119" name="Google Shape;3119;p97"/>
            <p:cNvCxnSpPr>
              <a:stCxn id="3118" idx="0"/>
              <a:endCxn id="3120" idx="0"/>
            </p:cNvCxnSpPr>
            <p:nvPr/>
          </p:nvCxnSpPr>
          <p:spPr>
            <a:xfrm rot="10800000">
              <a:off x="648425" y="3745075"/>
              <a:ext cx="7849800" cy="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121" name="Google Shape;3121;p97"/>
            <p:cNvCxnSpPr>
              <a:stCxn id="3111" idx="2"/>
              <a:endCxn id="3120" idx="2"/>
            </p:cNvCxnSpPr>
            <p:nvPr/>
          </p:nvCxnSpPr>
          <p:spPr>
            <a:xfrm rot="10800000">
              <a:off x="647768" y="4177375"/>
              <a:ext cx="375900" cy="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3120" name="Google Shape;3120;p97"/>
            <p:cNvSpPr/>
            <p:nvPr/>
          </p:nvSpPr>
          <p:spPr>
            <a:xfrm flipH="1">
              <a:off x="432175" y="3745075"/>
              <a:ext cx="432300" cy="432300"/>
            </a:xfrm>
            <a:prstGeom prst="arc">
              <a:avLst>
                <a:gd fmla="val 16200000" name="adj1"/>
                <a:gd fmla="val 5392788" name="adj2"/>
              </a:avLst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3122" name="Google Shape;3122;p97"/>
            <p:cNvCxnSpPr>
              <a:stCxn id="3118" idx="2"/>
              <a:endCxn id="3108" idx="6"/>
            </p:cNvCxnSpPr>
            <p:nvPr/>
          </p:nvCxnSpPr>
          <p:spPr>
            <a:xfrm rot="10800000">
              <a:off x="8122778" y="4177375"/>
              <a:ext cx="375900" cy="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26" name="Shape 3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7" name="Google Shape;3127;p98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Naive Ring Topology: Efficiency</a:t>
            </a:r>
            <a:endParaRPr/>
          </a:p>
        </p:txBody>
      </p:sp>
      <p:sp>
        <p:nvSpPr>
          <p:cNvPr id="3128" name="Google Shape;3128;p98"/>
          <p:cNvSpPr txBox="1"/>
          <p:nvPr>
            <p:ph idx="1" type="body"/>
          </p:nvPr>
        </p:nvSpPr>
        <p:spPr>
          <a:xfrm>
            <a:off x="107050" y="402200"/>
            <a:ext cx="8909700" cy="204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Total bandwidth:	Each node receives 1 vector (</a:t>
            </a:r>
            <a:r>
              <a:rPr i="1" lang="en"/>
              <a:t>D</a:t>
            </a:r>
            <a:r>
              <a:rPr lang="en"/>
              <a:t> bytes) from the right.</a:t>
            </a:r>
            <a:br>
              <a:rPr lang="en"/>
            </a:br>
            <a:r>
              <a:rPr lang="en"/>
              <a:t>				Each node sends 1 vector (</a:t>
            </a:r>
            <a:r>
              <a:rPr i="1" lang="en"/>
              <a:t>D</a:t>
            </a:r>
            <a:r>
              <a:rPr lang="en"/>
              <a:t> bytes) to the left. </a:t>
            </a:r>
            <a:r>
              <a:rPr i="1" lang="en"/>
              <a:t>p</a:t>
            </a:r>
            <a:r>
              <a:rPr lang="en"/>
              <a:t> nodes in total.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Number of steps:	Vector must travel around all </a:t>
            </a:r>
            <a:r>
              <a:rPr i="1" lang="en"/>
              <a:t>p</a:t>
            </a:r>
            <a:r>
              <a:rPr lang="en"/>
              <a:t> nodes in the ring.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Bandwidth per step: 	Each node receives 1 vector from the right.</a:t>
            </a:r>
            <a:br>
              <a:rPr lang="en"/>
            </a:br>
            <a:r>
              <a:rPr lang="en"/>
              <a:t>					Each node sends 1 vector to the left. Each vector is </a:t>
            </a:r>
            <a:r>
              <a:rPr i="1" lang="en"/>
              <a:t>D</a:t>
            </a:r>
            <a:r>
              <a:rPr lang="en"/>
              <a:t> bytes.</a:t>
            </a:r>
            <a:endParaRPr/>
          </a:p>
        </p:txBody>
      </p:sp>
      <p:graphicFrame>
        <p:nvGraphicFramePr>
          <p:cNvPr id="3129" name="Google Shape;3129;p98"/>
          <p:cNvGraphicFramePr/>
          <p:nvPr/>
        </p:nvGraphicFramePr>
        <p:xfrm>
          <a:off x="952500" y="25593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{B9A57BFC-BF9F-44FD-95FC-58D745B5DC61}</a:tableStyleId>
              </a:tblPr>
              <a:tblGrid>
                <a:gridCol w="1809750"/>
                <a:gridCol w="1809750"/>
                <a:gridCol w="1809750"/>
                <a:gridCol w="18097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Total Bandwidth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Number of Steps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Bandwidth Per Step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Mesh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Dp</a:t>
                      </a:r>
                      <a:r>
                        <a:rPr baseline="30000"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2</a:t>
                      </a:r>
                      <a:endParaRPr baseline="300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1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Dp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Single Root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Dp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Dp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Tree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Dp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log(</a:t>
                      </a:r>
                      <a:r>
                        <a:rPr i="1"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p</a:t>
                      </a: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)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D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Ring (Naive)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Dp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p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D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33" name="Shape 3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4" name="Google Shape;3134;p99"/>
          <p:cNvSpPr txBox="1"/>
          <p:nvPr>
            <p:ph idx="1" type="body"/>
          </p:nvPr>
        </p:nvSpPr>
        <p:spPr>
          <a:xfrm>
            <a:off x="4812375" y="402200"/>
            <a:ext cx="4038000" cy="426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</a:rPr>
              <a:t>Distributed AI Training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Motivation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Infrastructure</a:t>
            </a:r>
            <a:endParaRPr>
              <a:solidFill>
                <a:srgbClr val="B7B7B7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</a:rPr>
              <a:t>Defining Collectives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Definition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Redistribution Operations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Consolidation Operations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Duals and Compositions</a:t>
            </a:r>
            <a:endParaRPr>
              <a:solidFill>
                <a:srgbClr val="B7B7B7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Implementing Collectives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Mesh Topology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Single Root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Tree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Ring (Naive)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Roboto"/>
              <a:buChar char="•"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Ring (Optimized)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Overlay/Underlay Topologies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35" name="Google Shape;3135;p99"/>
          <p:cNvSpPr txBox="1"/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Ring-Based AllReduce (Optimized)</a:t>
            </a:r>
            <a:endParaRPr/>
          </a:p>
        </p:txBody>
      </p:sp>
      <p:sp>
        <p:nvSpPr>
          <p:cNvPr id="3136" name="Google Shape;3136;p99"/>
          <p:cNvSpPr txBox="1"/>
          <p:nvPr>
            <p:ph idx="2" type="subTitle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Lecture 23</a:t>
            </a:r>
            <a:r>
              <a:rPr lang="en"/>
              <a:t>, CS 168, </a:t>
            </a:r>
            <a:r>
              <a:rPr lang="en"/>
              <a:t>Spring 2026</a:t>
            </a:r>
            <a:endParaRPr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40" name="Shape 3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1" name="Google Shape;3141;p100"/>
          <p:cNvSpPr txBox="1"/>
          <p:nvPr>
            <p:ph idx="1" type="body"/>
          </p:nvPr>
        </p:nvSpPr>
        <p:spPr>
          <a:xfrm>
            <a:off x="107050" y="402200"/>
            <a:ext cx="8909700" cy="62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1. Send your vector to your left, one element at a time (i.e. delaying later elements).</a:t>
            </a:r>
            <a:endParaRPr/>
          </a:p>
        </p:txBody>
      </p:sp>
      <p:sp>
        <p:nvSpPr>
          <p:cNvPr id="3142" name="Google Shape;3142;p100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Ring-Based AllReduce (</a:t>
            </a:r>
            <a:r>
              <a:rPr lang="en">
                <a:solidFill>
                  <a:schemeClr val="accent3"/>
                </a:solidFill>
              </a:rPr>
              <a:t>Optimized</a:t>
            </a:r>
            <a:r>
              <a:rPr lang="en"/>
              <a:t>)</a:t>
            </a:r>
            <a:endParaRPr/>
          </a:p>
        </p:txBody>
      </p:sp>
      <p:sp>
        <p:nvSpPr>
          <p:cNvPr id="3143" name="Google Shape;3143;p100"/>
          <p:cNvSpPr/>
          <p:nvPr/>
        </p:nvSpPr>
        <p:spPr>
          <a:xfrm>
            <a:off x="532712" y="2011975"/>
            <a:ext cx="1375500" cy="2511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144" name="Google Shape;3144;p100"/>
          <p:cNvSpPr/>
          <p:nvPr/>
        </p:nvSpPr>
        <p:spPr>
          <a:xfrm>
            <a:off x="2211000" y="2011975"/>
            <a:ext cx="1375500" cy="251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145" name="Google Shape;3145;p100"/>
          <p:cNvSpPr/>
          <p:nvPr/>
        </p:nvSpPr>
        <p:spPr>
          <a:xfrm>
            <a:off x="3884250" y="2011975"/>
            <a:ext cx="1375500" cy="2511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146" name="Google Shape;3146;p100"/>
          <p:cNvSpPr/>
          <p:nvPr/>
        </p:nvSpPr>
        <p:spPr>
          <a:xfrm>
            <a:off x="5564437" y="2011975"/>
            <a:ext cx="1375500" cy="2511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147" name="Google Shape;3147;p100"/>
          <p:cNvSpPr/>
          <p:nvPr/>
        </p:nvSpPr>
        <p:spPr>
          <a:xfrm>
            <a:off x="7240837" y="2011975"/>
            <a:ext cx="1375500" cy="2511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148" name="Google Shape;3148;p100"/>
          <p:cNvSpPr/>
          <p:nvPr/>
        </p:nvSpPr>
        <p:spPr>
          <a:xfrm>
            <a:off x="532712" y="2621575"/>
            <a:ext cx="1375500" cy="2511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149" name="Google Shape;3149;p100"/>
          <p:cNvSpPr/>
          <p:nvPr/>
        </p:nvSpPr>
        <p:spPr>
          <a:xfrm>
            <a:off x="2211000" y="2621575"/>
            <a:ext cx="1375500" cy="251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150" name="Google Shape;3150;p100"/>
          <p:cNvSpPr/>
          <p:nvPr/>
        </p:nvSpPr>
        <p:spPr>
          <a:xfrm>
            <a:off x="3884250" y="2621575"/>
            <a:ext cx="1375500" cy="2511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151" name="Google Shape;3151;p100"/>
          <p:cNvSpPr/>
          <p:nvPr/>
        </p:nvSpPr>
        <p:spPr>
          <a:xfrm>
            <a:off x="5564437" y="2621575"/>
            <a:ext cx="1375500" cy="2511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152" name="Google Shape;3152;p100"/>
          <p:cNvSpPr/>
          <p:nvPr/>
        </p:nvSpPr>
        <p:spPr>
          <a:xfrm>
            <a:off x="7240837" y="2621575"/>
            <a:ext cx="1375500" cy="2511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153" name="Google Shape;3153;p100"/>
          <p:cNvSpPr/>
          <p:nvPr/>
        </p:nvSpPr>
        <p:spPr>
          <a:xfrm>
            <a:off x="532712" y="3231175"/>
            <a:ext cx="1375500" cy="2511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154" name="Google Shape;3154;p100"/>
          <p:cNvSpPr/>
          <p:nvPr/>
        </p:nvSpPr>
        <p:spPr>
          <a:xfrm>
            <a:off x="2211000" y="3231175"/>
            <a:ext cx="1375500" cy="251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155" name="Google Shape;3155;p100"/>
          <p:cNvSpPr/>
          <p:nvPr/>
        </p:nvSpPr>
        <p:spPr>
          <a:xfrm>
            <a:off x="3884250" y="3231175"/>
            <a:ext cx="1375500" cy="2511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156" name="Google Shape;3156;p100"/>
          <p:cNvSpPr/>
          <p:nvPr/>
        </p:nvSpPr>
        <p:spPr>
          <a:xfrm>
            <a:off x="5564437" y="3231175"/>
            <a:ext cx="1375500" cy="2511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157" name="Google Shape;3157;p100"/>
          <p:cNvSpPr/>
          <p:nvPr/>
        </p:nvSpPr>
        <p:spPr>
          <a:xfrm>
            <a:off x="7240837" y="3231175"/>
            <a:ext cx="1375500" cy="2511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158" name="Google Shape;3158;p100"/>
          <p:cNvSpPr/>
          <p:nvPr/>
        </p:nvSpPr>
        <p:spPr>
          <a:xfrm>
            <a:off x="527662" y="3840775"/>
            <a:ext cx="1375500" cy="2511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159" name="Google Shape;3159;p100"/>
          <p:cNvSpPr/>
          <p:nvPr/>
        </p:nvSpPr>
        <p:spPr>
          <a:xfrm>
            <a:off x="2205950" y="3840775"/>
            <a:ext cx="1375500" cy="251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160" name="Google Shape;3160;p100"/>
          <p:cNvSpPr/>
          <p:nvPr/>
        </p:nvSpPr>
        <p:spPr>
          <a:xfrm>
            <a:off x="3879200" y="3840775"/>
            <a:ext cx="1375500" cy="2511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161" name="Google Shape;3161;p100"/>
          <p:cNvSpPr/>
          <p:nvPr/>
        </p:nvSpPr>
        <p:spPr>
          <a:xfrm>
            <a:off x="5559387" y="3840775"/>
            <a:ext cx="1375500" cy="2511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162" name="Google Shape;3162;p100"/>
          <p:cNvSpPr/>
          <p:nvPr/>
        </p:nvSpPr>
        <p:spPr>
          <a:xfrm>
            <a:off x="7235787" y="3840775"/>
            <a:ext cx="1375500" cy="2511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3163" name="Google Shape;3163;p100"/>
          <p:cNvCxnSpPr/>
          <p:nvPr/>
        </p:nvCxnSpPr>
        <p:spPr>
          <a:xfrm rot="10800000">
            <a:off x="2285250" y="2545375"/>
            <a:ext cx="1227000" cy="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164" name="Google Shape;3164;p100"/>
          <p:cNvSpPr/>
          <p:nvPr/>
        </p:nvSpPr>
        <p:spPr>
          <a:xfrm>
            <a:off x="527662" y="4450375"/>
            <a:ext cx="1375500" cy="2511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165" name="Google Shape;3165;p100"/>
          <p:cNvSpPr/>
          <p:nvPr/>
        </p:nvSpPr>
        <p:spPr>
          <a:xfrm>
            <a:off x="2205950" y="4450375"/>
            <a:ext cx="1375500" cy="251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166" name="Google Shape;3166;p100"/>
          <p:cNvSpPr/>
          <p:nvPr/>
        </p:nvSpPr>
        <p:spPr>
          <a:xfrm>
            <a:off x="3879200" y="4450375"/>
            <a:ext cx="1375500" cy="2511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167" name="Google Shape;3167;p100"/>
          <p:cNvSpPr/>
          <p:nvPr/>
        </p:nvSpPr>
        <p:spPr>
          <a:xfrm>
            <a:off x="5559387" y="4450375"/>
            <a:ext cx="1375500" cy="2511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168" name="Google Shape;3168;p100"/>
          <p:cNvSpPr/>
          <p:nvPr/>
        </p:nvSpPr>
        <p:spPr>
          <a:xfrm>
            <a:off x="7235787" y="4450375"/>
            <a:ext cx="1375500" cy="2511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3169" name="Google Shape;3169;p100"/>
          <p:cNvCxnSpPr/>
          <p:nvPr/>
        </p:nvCxnSpPr>
        <p:spPr>
          <a:xfrm rot="10800000">
            <a:off x="601900" y="1935775"/>
            <a:ext cx="1227000" cy="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170" name="Google Shape;3170;p100"/>
          <p:cNvCxnSpPr/>
          <p:nvPr/>
        </p:nvCxnSpPr>
        <p:spPr>
          <a:xfrm rot="10800000">
            <a:off x="5641837" y="3764575"/>
            <a:ext cx="1227000" cy="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171" name="Google Shape;3171;p100"/>
          <p:cNvCxnSpPr/>
          <p:nvPr/>
        </p:nvCxnSpPr>
        <p:spPr>
          <a:xfrm rot="10800000">
            <a:off x="3958487" y="3154975"/>
            <a:ext cx="1227000" cy="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172" name="Google Shape;3172;p100"/>
          <p:cNvCxnSpPr/>
          <p:nvPr/>
        </p:nvCxnSpPr>
        <p:spPr>
          <a:xfrm rot="10800000">
            <a:off x="7315087" y="4374175"/>
            <a:ext cx="1227000" cy="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173" name="Google Shape;3173;p100"/>
          <p:cNvSpPr/>
          <p:nvPr/>
        </p:nvSpPr>
        <p:spPr>
          <a:xfrm>
            <a:off x="7729268" y="1389775"/>
            <a:ext cx="393600" cy="393600"/>
          </a:xfrm>
          <a:prstGeom prst="ellipse">
            <a:avLst/>
          </a:prstGeom>
          <a:solidFill>
            <a:srgbClr val="D9D2E9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5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74" name="Google Shape;3174;p100"/>
          <p:cNvSpPr/>
          <p:nvPr/>
        </p:nvSpPr>
        <p:spPr>
          <a:xfrm>
            <a:off x="6052868" y="1389775"/>
            <a:ext cx="393600" cy="393600"/>
          </a:xfrm>
          <a:prstGeom prst="ellipse">
            <a:avLst/>
          </a:prstGeom>
          <a:solidFill>
            <a:srgbClr val="D9EAD3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4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75" name="Google Shape;3175;p100"/>
          <p:cNvSpPr/>
          <p:nvPr/>
        </p:nvSpPr>
        <p:spPr>
          <a:xfrm>
            <a:off x="4376468" y="1389775"/>
            <a:ext cx="393600" cy="393600"/>
          </a:xfrm>
          <a:prstGeom prst="ellipse">
            <a:avLst/>
          </a:prstGeom>
          <a:solidFill>
            <a:srgbClr val="F4CCCC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3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76" name="Google Shape;3176;p100"/>
          <p:cNvSpPr/>
          <p:nvPr/>
        </p:nvSpPr>
        <p:spPr>
          <a:xfrm>
            <a:off x="1023668" y="1389775"/>
            <a:ext cx="393600" cy="393600"/>
          </a:xfrm>
          <a:prstGeom prst="ellipse">
            <a:avLst/>
          </a:prstGeom>
          <a:solidFill>
            <a:srgbClr val="FCE5CD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1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77" name="Google Shape;3177;p100"/>
          <p:cNvSpPr/>
          <p:nvPr/>
        </p:nvSpPr>
        <p:spPr>
          <a:xfrm>
            <a:off x="2700068" y="1389775"/>
            <a:ext cx="393600" cy="3936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2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178" name="Google Shape;3178;p100"/>
          <p:cNvCxnSpPr>
            <a:stCxn id="3177" idx="2"/>
            <a:endCxn id="3176" idx="6"/>
          </p:cNvCxnSpPr>
          <p:nvPr/>
        </p:nvCxnSpPr>
        <p:spPr>
          <a:xfrm rot="10800000">
            <a:off x="1417268" y="1586575"/>
            <a:ext cx="12828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79" name="Google Shape;3179;p100"/>
          <p:cNvCxnSpPr>
            <a:stCxn id="3175" idx="2"/>
            <a:endCxn id="3177" idx="6"/>
          </p:cNvCxnSpPr>
          <p:nvPr/>
        </p:nvCxnSpPr>
        <p:spPr>
          <a:xfrm rot="10800000">
            <a:off x="3093668" y="1586575"/>
            <a:ext cx="12828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80" name="Google Shape;3180;p100"/>
          <p:cNvCxnSpPr>
            <a:stCxn id="3174" idx="2"/>
            <a:endCxn id="3175" idx="6"/>
          </p:cNvCxnSpPr>
          <p:nvPr/>
        </p:nvCxnSpPr>
        <p:spPr>
          <a:xfrm rot="10800000">
            <a:off x="4770068" y="1586575"/>
            <a:ext cx="12828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81" name="Google Shape;3181;p100"/>
          <p:cNvCxnSpPr>
            <a:stCxn id="3173" idx="2"/>
            <a:endCxn id="3174" idx="6"/>
          </p:cNvCxnSpPr>
          <p:nvPr/>
        </p:nvCxnSpPr>
        <p:spPr>
          <a:xfrm rot="10800000">
            <a:off x="6446468" y="1586575"/>
            <a:ext cx="12828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3182" name="Google Shape;3182;p100"/>
          <p:cNvGrpSpPr/>
          <p:nvPr/>
        </p:nvGrpSpPr>
        <p:grpSpPr>
          <a:xfrm>
            <a:off x="432175" y="1154275"/>
            <a:ext cx="8282200" cy="432300"/>
            <a:chOff x="432175" y="3745075"/>
            <a:chExt cx="8282200" cy="432300"/>
          </a:xfrm>
        </p:grpSpPr>
        <p:sp>
          <p:nvSpPr>
            <p:cNvPr id="3183" name="Google Shape;3183;p100"/>
            <p:cNvSpPr/>
            <p:nvPr/>
          </p:nvSpPr>
          <p:spPr>
            <a:xfrm>
              <a:off x="8282075" y="3745075"/>
              <a:ext cx="432300" cy="432300"/>
            </a:xfrm>
            <a:prstGeom prst="arc">
              <a:avLst>
                <a:gd fmla="val 16200000" name="adj1"/>
                <a:gd fmla="val 5392788" name="adj2"/>
              </a:avLst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3184" name="Google Shape;3184;p100"/>
            <p:cNvCxnSpPr>
              <a:stCxn id="3183" idx="0"/>
              <a:endCxn id="3185" idx="0"/>
            </p:cNvCxnSpPr>
            <p:nvPr/>
          </p:nvCxnSpPr>
          <p:spPr>
            <a:xfrm rot="10800000">
              <a:off x="648425" y="3745075"/>
              <a:ext cx="7849800" cy="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186" name="Google Shape;3186;p100"/>
            <p:cNvCxnSpPr>
              <a:stCxn id="3176" idx="2"/>
              <a:endCxn id="3185" idx="2"/>
            </p:cNvCxnSpPr>
            <p:nvPr/>
          </p:nvCxnSpPr>
          <p:spPr>
            <a:xfrm rot="10800000">
              <a:off x="647768" y="4177375"/>
              <a:ext cx="375900" cy="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3185" name="Google Shape;3185;p100"/>
            <p:cNvSpPr/>
            <p:nvPr/>
          </p:nvSpPr>
          <p:spPr>
            <a:xfrm flipH="1">
              <a:off x="432175" y="3745075"/>
              <a:ext cx="432300" cy="432300"/>
            </a:xfrm>
            <a:prstGeom prst="arc">
              <a:avLst>
                <a:gd fmla="val 16200000" name="adj1"/>
                <a:gd fmla="val 5392788" name="adj2"/>
              </a:avLst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3187" name="Google Shape;3187;p100"/>
            <p:cNvCxnSpPr>
              <a:stCxn id="3183" idx="2"/>
              <a:endCxn id="3173" idx="6"/>
            </p:cNvCxnSpPr>
            <p:nvPr/>
          </p:nvCxnSpPr>
          <p:spPr>
            <a:xfrm rot="10800000">
              <a:off x="8122778" y="4177375"/>
              <a:ext cx="375900" cy="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91" name="Shape 3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2" name="Google Shape;3192;p101"/>
          <p:cNvSpPr txBox="1"/>
          <p:nvPr>
            <p:ph idx="1" type="body"/>
          </p:nvPr>
        </p:nvSpPr>
        <p:spPr>
          <a:xfrm>
            <a:off x="107050" y="402200"/>
            <a:ext cx="8909700" cy="62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1. Send your vector to your left, one element at a time (i.e. delaying later elements).</a:t>
            </a:r>
            <a:endParaRPr/>
          </a:p>
        </p:txBody>
      </p:sp>
      <p:sp>
        <p:nvSpPr>
          <p:cNvPr id="3193" name="Google Shape;3193;p101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Ring-Based AllReduce (</a:t>
            </a:r>
            <a:r>
              <a:rPr lang="en">
                <a:solidFill>
                  <a:schemeClr val="accent3"/>
                </a:solidFill>
              </a:rPr>
              <a:t>Optimized</a:t>
            </a:r>
            <a:r>
              <a:rPr lang="en"/>
              <a:t>)</a:t>
            </a:r>
            <a:endParaRPr/>
          </a:p>
        </p:txBody>
      </p:sp>
      <p:sp>
        <p:nvSpPr>
          <p:cNvPr id="3194" name="Google Shape;3194;p101"/>
          <p:cNvSpPr/>
          <p:nvPr/>
        </p:nvSpPr>
        <p:spPr>
          <a:xfrm>
            <a:off x="2211000" y="2011975"/>
            <a:ext cx="1375500" cy="251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195" name="Google Shape;3195;p101"/>
          <p:cNvSpPr/>
          <p:nvPr/>
        </p:nvSpPr>
        <p:spPr>
          <a:xfrm>
            <a:off x="3884250" y="2011975"/>
            <a:ext cx="1375500" cy="2511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196" name="Google Shape;3196;p101"/>
          <p:cNvSpPr/>
          <p:nvPr/>
        </p:nvSpPr>
        <p:spPr>
          <a:xfrm>
            <a:off x="5564437" y="2011975"/>
            <a:ext cx="1375500" cy="2511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197" name="Google Shape;3197;p101"/>
          <p:cNvSpPr/>
          <p:nvPr/>
        </p:nvSpPr>
        <p:spPr>
          <a:xfrm>
            <a:off x="7240837" y="2011975"/>
            <a:ext cx="1375500" cy="2511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198" name="Google Shape;3198;p101"/>
          <p:cNvSpPr/>
          <p:nvPr/>
        </p:nvSpPr>
        <p:spPr>
          <a:xfrm>
            <a:off x="532712" y="2621575"/>
            <a:ext cx="1375500" cy="2511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199" name="Google Shape;3199;p101"/>
          <p:cNvSpPr/>
          <p:nvPr/>
        </p:nvSpPr>
        <p:spPr>
          <a:xfrm>
            <a:off x="456500" y="2697763"/>
            <a:ext cx="1375500" cy="251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00" name="Google Shape;3200;p101"/>
          <p:cNvSpPr/>
          <p:nvPr/>
        </p:nvSpPr>
        <p:spPr>
          <a:xfrm>
            <a:off x="3884250" y="2621575"/>
            <a:ext cx="1375500" cy="2511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01" name="Google Shape;3201;p101"/>
          <p:cNvSpPr/>
          <p:nvPr/>
        </p:nvSpPr>
        <p:spPr>
          <a:xfrm>
            <a:off x="5564437" y="2621575"/>
            <a:ext cx="1375500" cy="2511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02" name="Google Shape;3202;p101"/>
          <p:cNvSpPr/>
          <p:nvPr/>
        </p:nvSpPr>
        <p:spPr>
          <a:xfrm>
            <a:off x="7240837" y="2621575"/>
            <a:ext cx="1375500" cy="2511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03" name="Google Shape;3203;p101"/>
          <p:cNvSpPr/>
          <p:nvPr/>
        </p:nvSpPr>
        <p:spPr>
          <a:xfrm>
            <a:off x="532712" y="3231175"/>
            <a:ext cx="1375500" cy="2511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04" name="Google Shape;3204;p101"/>
          <p:cNvSpPr/>
          <p:nvPr/>
        </p:nvSpPr>
        <p:spPr>
          <a:xfrm>
            <a:off x="2211000" y="3231175"/>
            <a:ext cx="1375500" cy="251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05" name="Google Shape;3205;p101"/>
          <p:cNvSpPr/>
          <p:nvPr/>
        </p:nvSpPr>
        <p:spPr>
          <a:xfrm>
            <a:off x="2132925" y="3307375"/>
            <a:ext cx="1375500" cy="2511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06" name="Google Shape;3206;p101"/>
          <p:cNvSpPr/>
          <p:nvPr/>
        </p:nvSpPr>
        <p:spPr>
          <a:xfrm>
            <a:off x="5564437" y="3231175"/>
            <a:ext cx="1375500" cy="2511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07" name="Google Shape;3207;p101"/>
          <p:cNvSpPr/>
          <p:nvPr/>
        </p:nvSpPr>
        <p:spPr>
          <a:xfrm>
            <a:off x="7240837" y="3231175"/>
            <a:ext cx="1375500" cy="2511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08" name="Google Shape;3208;p101"/>
          <p:cNvSpPr/>
          <p:nvPr/>
        </p:nvSpPr>
        <p:spPr>
          <a:xfrm>
            <a:off x="527662" y="3840775"/>
            <a:ext cx="1375500" cy="2511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09" name="Google Shape;3209;p101"/>
          <p:cNvSpPr/>
          <p:nvPr/>
        </p:nvSpPr>
        <p:spPr>
          <a:xfrm>
            <a:off x="2205950" y="3840775"/>
            <a:ext cx="1375500" cy="251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10" name="Google Shape;3210;p101"/>
          <p:cNvSpPr/>
          <p:nvPr/>
        </p:nvSpPr>
        <p:spPr>
          <a:xfrm>
            <a:off x="3879200" y="3840775"/>
            <a:ext cx="1375500" cy="2511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11" name="Google Shape;3211;p101"/>
          <p:cNvSpPr/>
          <p:nvPr/>
        </p:nvSpPr>
        <p:spPr>
          <a:xfrm>
            <a:off x="3803012" y="3916975"/>
            <a:ext cx="1375500" cy="2511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12" name="Google Shape;3212;p101"/>
          <p:cNvSpPr/>
          <p:nvPr/>
        </p:nvSpPr>
        <p:spPr>
          <a:xfrm>
            <a:off x="7235787" y="3840775"/>
            <a:ext cx="1375500" cy="2511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13" name="Google Shape;3213;p101"/>
          <p:cNvSpPr/>
          <p:nvPr/>
        </p:nvSpPr>
        <p:spPr>
          <a:xfrm>
            <a:off x="527662" y="4450375"/>
            <a:ext cx="1375500" cy="2511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14" name="Google Shape;3214;p101"/>
          <p:cNvSpPr/>
          <p:nvPr/>
        </p:nvSpPr>
        <p:spPr>
          <a:xfrm>
            <a:off x="2205950" y="4450375"/>
            <a:ext cx="1375500" cy="251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15" name="Google Shape;3215;p101"/>
          <p:cNvSpPr/>
          <p:nvPr/>
        </p:nvSpPr>
        <p:spPr>
          <a:xfrm>
            <a:off x="3879200" y="4450375"/>
            <a:ext cx="1375500" cy="2511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16" name="Google Shape;3216;p101"/>
          <p:cNvSpPr/>
          <p:nvPr/>
        </p:nvSpPr>
        <p:spPr>
          <a:xfrm>
            <a:off x="5559387" y="4450375"/>
            <a:ext cx="1375500" cy="2511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17" name="Google Shape;3217;p101"/>
          <p:cNvSpPr/>
          <p:nvPr/>
        </p:nvSpPr>
        <p:spPr>
          <a:xfrm>
            <a:off x="5483187" y="4526575"/>
            <a:ext cx="1375500" cy="2511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18" name="Google Shape;3218;p101"/>
          <p:cNvSpPr/>
          <p:nvPr/>
        </p:nvSpPr>
        <p:spPr>
          <a:xfrm>
            <a:off x="7164637" y="2088175"/>
            <a:ext cx="1375500" cy="2511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19" name="Google Shape;3219;p101"/>
          <p:cNvSpPr/>
          <p:nvPr/>
        </p:nvSpPr>
        <p:spPr>
          <a:xfrm>
            <a:off x="7729268" y="1389775"/>
            <a:ext cx="393600" cy="393600"/>
          </a:xfrm>
          <a:prstGeom prst="ellipse">
            <a:avLst/>
          </a:prstGeom>
          <a:solidFill>
            <a:srgbClr val="D9D2E9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5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20" name="Google Shape;3220;p101"/>
          <p:cNvSpPr/>
          <p:nvPr/>
        </p:nvSpPr>
        <p:spPr>
          <a:xfrm>
            <a:off x="6052868" y="1389775"/>
            <a:ext cx="393600" cy="393600"/>
          </a:xfrm>
          <a:prstGeom prst="ellipse">
            <a:avLst/>
          </a:prstGeom>
          <a:solidFill>
            <a:srgbClr val="D9EAD3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4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21" name="Google Shape;3221;p101"/>
          <p:cNvSpPr/>
          <p:nvPr/>
        </p:nvSpPr>
        <p:spPr>
          <a:xfrm>
            <a:off x="4376468" y="1389775"/>
            <a:ext cx="393600" cy="393600"/>
          </a:xfrm>
          <a:prstGeom prst="ellipse">
            <a:avLst/>
          </a:prstGeom>
          <a:solidFill>
            <a:srgbClr val="F4CCCC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3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22" name="Google Shape;3222;p101"/>
          <p:cNvSpPr/>
          <p:nvPr/>
        </p:nvSpPr>
        <p:spPr>
          <a:xfrm>
            <a:off x="1023668" y="1389775"/>
            <a:ext cx="393600" cy="393600"/>
          </a:xfrm>
          <a:prstGeom prst="ellipse">
            <a:avLst/>
          </a:prstGeom>
          <a:solidFill>
            <a:srgbClr val="FCE5CD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1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23" name="Google Shape;3223;p101"/>
          <p:cNvSpPr/>
          <p:nvPr/>
        </p:nvSpPr>
        <p:spPr>
          <a:xfrm>
            <a:off x="2700068" y="1389775"/>
            <a:ext cx="393600" cy="3936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2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224" name="Google Shape;3224;p101"/>
          <p:cNvCxnSpPr>
            <a:stCxn id="3223" idx="2"/>
            <a:endCxn id="3222" idx="6"/>
          </p:cNvCxnSpPr>
          <p:nvPr/>
        </p:nvCxnSpPr>
        <p:spPr>
          <a:xfrm rot="10800000">
            <a:off x="1417268" y="1586575"/>
            <a:ext cx="12828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25" name="Google Shape;3225;p101"/>
          <p:cNvCxnSpPr>
            <a:stCxn id="3221" idx="2"/>
            <a:endCxn id="3223" idx="6"/>
          </p:cNvCxnSpPr>
          <p:nvPr/>
        </p:nvCxnSpPr>
        <p:spPr>
          <a:xfrm rot="10800000">
            <a:off x="3093668" y="1586575"/>
            <a:ext cx="12828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26" name="Google Shape;3226;p101"/>
          <p:cNvCxnSpPr>
            <a:stCxn id="3220" idx="2"/>
            <a:endCxn id="3221" idx="6"/>
          </p:cNvCxnSpPr>
          <p:nvPr/>
        </p:nvCxnSpPr>
        <p:spPr>
          <a:xfrm rot="10800000">
            <a:off x="4770068" y="1586575"/>
            <a:ext cx="12828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27" name="Google Shape;3227;p101"/>
          <p:cNvCxnSpPr>
            <a:stCxn id="3219" idx="2"/>
            <a:endCxn id="3220" idx="6"/>
          </p:cNvCxnSpPr>
          <p:nvPr/>
        </p:nvCxnSpPr>
        <p:spPr>
          <a:xfrm rot="10800000">
            <a:off x="6446468" y="1586575"/>
            <a:ext cx="12828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3228" name="Google Shape;3228;p101"/>
          <p:cNvGrpSpPr/>
          <p:nvPr/>
        </p:nvGrpSpPr>
        <p:grpSpPr>
          <a:xfrm>
            <a:off x="432175" y="1154275"/>
            <a:ext cx="8282200" cy="432300"/>
            <a:chOff x="432175" y="3745075"/>
            <a:chExt cx="8282200" cy="432300"/>
          </a:xfrm>
        </p:grpSpPr>
        <p:sp>
          <p:nvSpPr>
            <p:cNvPr id="3229" name="Google Shape;3229;p101"/>
            <p:cNvSpPr/>
            <p:nvPr/>
          </p:nvSpPr>
          <p:spPr>
            <a:xfrm>
              <a:off x="8282075" y="3745075"/>
              <a:ext cx="432300" cy="432300"/>
            </a:xfrm>
            <a:prstGeom prst="arc">
              <a:avLst>
                <a:gd fmla="val 16200000" name="adj1"/>
                <a:gd fmla="val 5392788" name="adj2"/>
              </a:avLst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3230" name="Google Shape;3230;p101"/>
            <p:cNvCxnSpPr>
              <a:stCxn id="3229" idx="0"/>
              <a:endCxn id="3231" idx="0"/>
            </p:cNvCxnSpPr>
            <p:nvPr/>
          </p:nvCxnSpPr>
          <p:spPr>
            <a:xfrm rot="10800000">
              <a:off x="648425" y="3745075"/>
              <a:ext cx="7849800" cy="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232" name="Google Shape;3232;p101"/>
            <p:cNvCxnSpPr>
              <a:stCxn id="3222" idx="2"/>
              <a:endCxn id="3231" idx="2"/>
            </p:cNvCxnSpPr>
            <p:nvPr/>
          </p:nvCxnSpPr>
          <p:spPr>
            <a:xfrm rot="10800000">
              <a:off x="647768" y="4177375"/>
              <a:ext cx="375900" cy="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3231" name="Google Shape;3231;p101"/>
            <p:cNvSpPr/>
            <p:nvPr/>
          </p:nvSpPr>
          <p:spPr>
            <a:xfrm flipH="1">
              <a:off x="432175" y="3745075"/>
              <a:ext cx="432300" cy="432300"/>
            </a:xfrm>
            <a:prstGeom prst="arc">
              <a:avLst>
                <a:gd fmla="val 16200000" name="adj1"/>
                <a:gd fmla="val 5392788" name="adj2"/>
              </a:avLst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3233" name="Google Shape;3233;p101"/>
            <p:cNvCxnSpPr>
              <a:stCxn id="3229" idx="2"/>
              <a:endCxn id="3219" idx="6"/>
            </p:cNvCxnSpPr>
            <p:nvPr/>
          </p:nvCxnSpPr>
          <p:spPr>
            <a:xfrm rot="10800000">
              <a:off x="8122778" y="4177375"/>
              <a:ext cx="375900" cy="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37" name="Shape 3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8" name="Google Shape;3238;p102"/>
          <p:cNvSpPr txBox="1"/>
          <p:nvPr>
            <p:ph idx="1" type="body"/>
          </p:nvPr>
        </p:nvSpPr>
        <p:spPr>
          <a:xfrm>
            <a:off x="107050" y="402200"/>
            <a:ext cx="8909700" cy="62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1. Send your vector to your left, one element at a time (i.e. delaying later elements).</a:t>
            </a:r>
            <a:endParaRPr/>
          </a:p>
        </p:txBody>
      </p:sp>
      <p:sp>
        <p:nvSpPr>
          <p:cNvPr id="3239" name="Google Shape;3239;p102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Ring-Based AllReduce (</a:t>
            </a:r>
            <a:r>
              <a:rPr lang="en">
                <a:solidFill>
                  <a:schemeClr val="accent3"/>
                </a:solidFill>
              </a:rPr>
              <a:t>Optimized</a:t>
            </a:r>
            <a:r>
              <a:rPr lang="en"/>
              <a:t>)</a:t>
            </a:r>
            <a:endParaRPr/>
          </a:p>
        </p:txBody>
      </p:sp>
      <p:sp>
        <p:nvSpPr>
          <p:cNvPr id="3240" name="Google Shape;3240;p102"/>
          <p:cNvSpPr/>
          <p:nvPr/>
        </p:nvSpPr>
        <p:spPr>
          <a:xfrm>
            <a:off x="2211000" y="2011975"/>
            <a:ext cx="1375500" cy="251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41" name="Google Shape;3241;p102"/>
          <p:cNvSpPr/>
          <p:nvPr/>
        </p:nvSpPr>
        <p:spPr>
          <a:xfrm>
            <a:off x="3884250" y="2011975"/>
            <a:ext cx="1375500" cy="2511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42" name="Google Shape;3242;p102"/>
          <p:cNvSpPr/>
          <p:nvPr/>
        </p:nvSpPr>
        <p:spPr>
          <a:xfrm>
            <a:off x="5564437" y="2011975"/>
            <a:ext cx="1375500" cy="2511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43" name="Google Shape;3243;p102"/>
          <p:cNvSpPr/>
          <p:nvPr/>
        </p:nvSpPr>
        <p:spPr>
          <a:xfrm>
            <a:off x="7240837" y="2011975"/>
            <a:ext cx="13755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44" name="Google Shape;3244;p102"/>
          <p:cNvSpPr/>
          <p:nvPr/>
        </p:nvSpPr>
        <p:spPr>
          <a:xfrm>
            <a:off x="532712" y="2621575"/>
            <a:ext cx="13755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45" name="Google Shape;3245;p102"/>
          <p:cNvSpPr/>
          <p:nvPr/>
        </p:nvSpPr>
        <p:spPr>
          <a:xfrm>
            <a:off x="3884250" y="2621575"/>
            <a:ext cx="1375500" cy="2511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46" name="Google Shape;3246;p102"/>
          <p:cNvSpPr/>
          <p:nvPr/>
        </p:nvSpPr>
        <p:spPr>
          <a:xfrm>
            <a:off x="5564437" y="2621575"/>
            <a:ext cx="1375500" cy="2511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47" name="Google Shape;3247;p102"/>
          <p:cNvSpPr/>
          <p:nvPr/>
        </p:nvSpPr>
        <p:spPr>
          <a:xfrm>
            <a:off x="7240837" y="2621575"/>
            <a:ext cx="1375500" cy="2511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48" name="Google Shape;3248;p102"/>
          <p:cNvSpPr/>
          <p:nvPr/>
        </p:nvSpPr>
        <p:spPr>
          <a:xfrm>
            <a:off x="532712" y="3231175"/>
            <a:ext cx="1375500" cy="2511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49" name="Google Shape;3249;p102"/>
          <p:cNvSpPr/>
          <p:nvPr/>
        </p:nvSpPr>
        <p:spPr>
          <a:xfrm>
            <a:off x="2211000" y="3231175"/>
            <a:ext cx="13755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50" name="Google Shape;3250;p102"/>
          <p:cNvSpPr/>
          <p:nvPr/>
        </p:nvSpPr>
        <p:spPr>
          <a:xfrm>
            <a:off x="5564437" y="3231175"/>
            <a:ext cx="1375500" cy="2511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51" name="Google Shape;3251;p102"/>
          <p:cNvSpPr/>
          <p:nvPr/>
        </p:nvSpPr>
        <p:spPr>
          <a:xfrm>
            <a:off x="7240837" y="3231175"/>
            <a:ext cx="1375500" cy="2511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52" name="Google Shape;3252;p102"/>
          <p:cNvSpPr/>
          <p:nvPr/>
        </p:nvSpPr>
        <p:spPr>
          <a:xfrm>
            <a:off x="527662" y="3840775"/>
            <a:ext cx="1375500" cy="2511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53" name="Google Shape;3253;p102"/>
          <p:cNvSpPr/>
          <p:nvPr/>
        </p:nvSpPr>
        <p:spPr>
          <a:xfrm>
            <a:off x="2205950" y="3840775"/>
            <a:ext cx="1375500" cy="251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54" name="Google Shape;3254;p102"/>
          <p:cNvSpPr/>
          <p:nvPr/>
        </p:nvSpPr>
        <p:spPr>
          <a:xfrm>
            <a:off x="3879200" y="3840775"/>
            <a:ext cx="13755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55" name="Google Shape;3255;p102"/>
          <p:cNvSpPr/>
          <p:nvPr/>
        </p:nvSpPr>
        <p:spPr>
          <a:xfrm>
            <a:off x="7235787" y="3840775"/>
            <a:ext cx="1375500" cy="2511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3256" name="Google Shape;3256;p102"/>
          <p:cNvCxnSpPr/>
          <p:nvPr/>
        </p:nvCxnSpPr>
        <p:spPr>
          <a:xfrm rot="10800000">
            <a:off x="2285250" y="3154975"/>
            <a:ext cx="1227000" cy="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257" name="Google Shape;3257;p102"/>
          <p:cNvSpPr/>
          <p:nvPr/>
        </p:nvSpPr>
        <p:spPr>
          <a:xfrm>
            <a:off x="527662" y="4450375"/>
            <a:ext cx="1375500" cy="2511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58" name="Google Shape;3258;p102"/>
          <p:cNvSpPr/>
          <p:nvPr/>
        </p:nvSpPr>
        <p:spPr>
          <a:xfrm>
            <a:off x="2205950" y="4450375"/>
            <a:ext cx="1375500" cy="251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59" name="Google Shape;3259;p102"/>
          <p:cNvSpPr/>
          <p:nvPr/>
        </p:nvSpPr>
        <p:spPr>
          <a:xfrm>
            <a:off x="3879200" y="4450375"/>
            <a:ext cx="1375500" cy="2511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60" name="Google Shape;3260;p102"/>
          <p:cNvSpPr/>
          <p:nvPr/>
        </p:nvSpPr>
        <p:spPr>
          <a:xfrm>
            <a:off x="5559387" y="4450375"/>
            <a:ext cx="13755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3261" name="Google Shape;3261;p102"/>
          <p:cNvCxnSpPr/>
          <p:nvPr/>
        </p:nvCxnSpPr>
        <p:spPr>
          <a:xfrm rot="10800000">
            <a:off x="601900" y="2545375"/>
            <a:ext cx="1227000" cy="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262" name="Google Shape;3262;p102"/>
          <p:cNvCxnSpPr/>
          <p:nvPr/>
        </p:nvCxnSpPr>
        <p:spPr>
          <a:xfrm rot="10800000">
            <a:off x="5641837" y="4374175"/>
            <a:ext cx="1227000" cy="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263" name="Google Shape;3263;p102"/>
          <p:cNvCxnSpPr/>
          <p:nvPr/>
        </p:nvCxnSpPr>
        <p:spPr>
          <a:xfrm rot="10800000">
            <a:off x="3958487" y="3764575"/>
            <a:ext cx="1227000" cy="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264" name="Google Shape;3264;p102"/>
          <p:cNvCxnSpPr/>
          <p:nvPr/>
        </p:nvCxnSpPr>
        <p:spPr>
          <a:xfrm rot="10800000">
            <a:off x="7315087" y="1935775"/>
            <a:ext cx="1227000" cy="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265" name="Google Shape;3265;p102"/>
          <p:cNvSpPr/>
          <p:nvPr/>
        </p:nvSpPr>
        <p:spPr>
          <a:xfrm>
            <a:off x="7729268" y="1389775"/>
            <a:ext cx="393600" cy="393600"/>
          </a:xfrm>
          <a:prstGeom prst="ellipse">
            <a:avLst/>
          </a:prstGeom>
          <a:solidFill>
            <a:srgbClr val="D9D2E9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5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66" name="Google Shape;3266;p102"/>
          <p:cNvSpPr/>
          <p:nvPr/>
        </p:nvSpPr>
        <p:spPr>
          <a:xfrm>
            <a:off x="6052868" y="1389775"/>
            <a:ext cx="393600" cy="393600"/>
          </a:xfrm>
          <a:prstGeom prst="ellipse">
            <a:avLst/>
          </a:prstGeom>
          <a:solidFill>
            <a:srgbClr val="D9EAD3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4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67" name="Google Shape;3267;p102"/>
          <p:cNvSpPr/>
          <p:nvPr/>
        </p:nvSpPr>
        <p:spPr>
          <a:xfrm>
            <a:off x="4376468" y="1389775"/>
            <a:ext cx="393600" cy="393600"/>
          </a:xfrm>
          <a:prstGeom prst="ellipse">
            <a:avLst/>
          </a:prstGeom>
          <a:solidFill>
            <a:srgbClr val="F4CCCC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3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68" name="Google Shape;3268;p102"/>
          <p:cNvSpPr/>
          <p:nvPr/>
        </p:nvSpPr>
        <p:spPr>
          <a:xfrm>
            <a:off x="1023668" y="1389775"/>
            <a:ext cx="393600" cy="393600"/>
          </a:xfrm>
          <a:prstGeom prst="ellipse">
            <a:avLst/>
          </a:prstGeom>
          <a:solidFill>
            <a:srgbClr val="FCE5CD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1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69" name="Google Shape;3269;p102"/>
          <p:cNvSpPr/>
          <p:nvPr/>
        </p:nvSpPr>
        <p:spPr>
          <a:xfrm>
            <a:off x="2700068" y="1389775"/>
            <a:ext cx="393600" cy="3936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2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270" name="Google Shape;3270;p102"/>
          <p:cNvCxnSpPr>
            <a:stCxn id="3269" idx="2"/>
            <a:endCxn id="3268" idx="6"/>
          </p:cNvCxnSpPr>
          <p:nvPr/>
        </p:nvCxnSpPr>
        <p:spPr>
          <a:xfrm rot="10800000">
            <a:off x="1417268" y="1586575"/>
            <a:ext cx="12828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71" name="Google Shape;3271;p102"/>
          <p:cNvCxnSpPr>
            <a:stCxn id="3267" idx="2"/>
            <a:endCxn id="3269" idx="6"/>
          </p:cNvCxnSpPr>
          <p:nvPr/>
        </p:nvCxnSpPr>
        <p:spPr>
          <a:xfrm rot="10800000">
            <a:off x="3093668" y="1586575"/>
            <a:ext cx="12828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72" name="Google Shape;3272;p102"/>
          <p:cNvCxnSpPr>
            <a:stCxn id="3266" idx="2"/>
            <a:endCxn id="3267" idx="6"/>
          </p:cNvCxnSpPr>
          <p:nvPr/>
        </p:nvCxnSpPr>
        <p:spPr>
          <a:xfrm rot="10800000">
            <a:off x="4770068" y="1586575"/>
            <a:ext cx="12828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73" name="Google Shape;3273;p102"/>
          <p:cNvCxnSpPr>
            <a:stCxn id="3265" idx="2"/>
            <a:endCxn id="3266" idx="6"/>
          </p:cNvCxnSpPr>
          <p:nvPr/>
        </p:nvCxnSpPr>
        <p:spPr>
          <a:xfrm rot="10800000">
            <a:off x="6446468" y="1586575"/>
            <a:ext cx="12828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3274" name="Google Shape;3274;p102"/>
          <p:cNvGrpSpPr/>
          <p:nvPr/>
        </p:nvGrpSpPr>
        <p:grpSpPr>
          <a:xfrm>
            <a:off x="432175" y="1154275"/>
            <a:ext cx="8282200" cy="432300"/>
            <a:chOff x="432175" y="3745075"/>
            <a:chExt cx="8282200" cy="432300"/>
          </a:xfrm>
        </p:grpSpPr>
        <p:sp>
          <p:nvSpPr>
            <p:cNvPr id="3275" name="Google Shape;3275;p102"/>
            <p:cNvSpPr/>
            <p:nvPr/>
          </p:nvSpPr>
          <p:spPr>
            <a:xfrm>
              <a:off x="8282075" y="3745075"/>
              <a:ext cx="432300" cy="432300"/>
            </a:xfrm>
            <a:prstGeom prst="arc">
              <a:avLst>
                <a:gd fmla="val 16200000" name="adj1"/>
                <a:gd fmla="val 5392788" name="adj2"/>
              </a:avLst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3276" name="Google Shape;3276;p102"/>
            <p:cNvCxnSpPr>
              <a:stCxn id="3275" idx="0"/>
              <a:endCxn id="3277" idx="0"/>
            </p:cNvCxnSpPr>
            <p:nvPr/>
          </p:nvCxnSpPr>
          <p:spPr>
            <a:xfrm rot="10800000">
              <a:off x="648425" y="3745075"/>
              <a:ext cx="7849800" cy="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278" name="Google Shape;3278;p102"/>
            <p:cNvCxnSpPr>
              <a:stCxn id="3268" idx="2"/>
              <a:endCxn id="3277" idx="2"/>
            </p:cNvCxnSpPr>
            <p:nvPr/>
          </p:nvCxnSpPr>
          <p:spPr>
            <a:xfrm rot="10800000">
              <a:off x="647768" y="4177375"/>
              <a:ext cx="375900" cy="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3277" name="Google Shape;3277;p102"/>
            <p:cNvSpPr/>
            <p:nvPr/>
          </p:nvSpPr>
          <p:spPr>
            <a:xfrm flipH="1">
              <a:off x="432175" y="3745075"/>
              <a:ext cx="432300" cy="432300"/>
            </a:xfrm>
            <a:prstGeom prst="arc">
              <a:avLst>
                <a:gd fmla="val 16200000" name="adj1"/>
                <a:gd fmla="val 5392788" name="adj2"/>
              </a:avLst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3279" name="Google Shape;3279;p102"/>
            <p:cNvCxnSpPr>
              <a:stCxn id="3275" idx="2"/>
              <a:endCxn id="3265" idx="6"/>
            </p:cNvCxnSpPr>
            <p:nvPr/>
          </p:nvCxnSpPr>
          <p:spPr>
            <a:xfrm rot="10800000">
              <a:off x="8122778" y="4177375"/>
              <a:ext cx="375900" cy="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83" name="Shape 3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4" name="Google Shape;3284;p103"/>
          <p:cNvSpPr txBox="1"/>
          <p:nvPr>
            <p:ph idx="1" type="body"/>
          </p:nvPr>
        </p:nvSpPr>
        <p:spPr>
          <a:xfrm>
            <a:off x="107050" y="402200"/>
            <a:ext cx="8909700" cy="62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1. Send your vector to your left, one element at a time (i.e. delaying later elements).</a:t>
            </a:r>
            <a:endParaRPr/>
          </a:p>
        </p:txBody>
      </p:sp>
      <p:sp>
        <p:nvSpPr>
          <p:cNvPr id="3285" name="Google Shape;3285;p103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Ring-Based AllReduce (</a:t>
            </a:r>
            <a:r>
              <a:rPr lang="en">
                <a:solidFill>
                  <a:schemeClr val="accent3"/>
                </a:solidFill>
              </a:rPr>
              <a:t>Optimized</a:t>
            </a:r>
            <a:r>
              <a:rPr lang="en"/>
              <a:t>)</a:t>
            </a:r>
            <a:endParaRPr/>
          </a:p>
        </p:txBody>
      </p:sp>
      <p:sp>
        <p:nvSpPr>
          <p:cNvPr id="3286" name="Google Shape;3286;p103"/>
          <p:cNvSpPr/>
          <p:nvPr/>
        </p:nvSpPr>
        <p:spPr>
          <a:xfrm>
            <a:off x="2211000" y="2011975"/>
            <a:ext cx="1375500" cy="251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87" name="Google Shape;3287;p103"/>
          <p:cNvSpPr/>
          <p:nvPr/>
        </p:nvSpPr>
        <p:spPr>
          <a:xfrm>
            <a:off x="3884250" y="2011975"/>
            <a:ext cx="1375500" cy="2511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88" name="Google Shape;3288;p103"/>
          <p:cNvSpPr/>
          <p:nvPr/>
        </p:nvSpPr>
        <p:spPr>
          <a:xfrm>
            <a:off x="5564437" y="2011975"/>
            <a:ext cx="1375500" cy="2511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89" name="Google Shape;3289;p103"/>
          <p:cNvSpPr/>
          <p:nvPr/>
        </p:nvSpPr>
        <p:spPr>
          <a:xfrm>
            <a:off x="5488237" y="2088163"/>
            <a:ext cx="13755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90" name="Google Shape;3290;p103"/>
          <p:cNvSpPr/>
          <p:nvPr/>
        </p:nvSpPr>
        <p:spPr>
          <a:xfrm>
            <a:off x="3884250" y="2621575"/>
            <a:ext cx="1375500" cy="2511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91" name="Google Shape;3291;p103"/>
          <p:cNvSpPr/>
          <p:nvPr/>
        </p:nvSpPr>
        <p:spPr>
          <a:xfrm>
            <a:off x="5564437" y="2621575"/>
            <a:ext cx="1375500" cy="2511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92" name="Google Shape;3292;p103"/>
          <p:cNvSpPr/>
          <p:nvPr/>
        </p:nvSpPr>
        <p:spPr>
          <a:xfrm>
            <a:off x="7240837" y="2621575"/>
            <a:ext cx="1375500" cy="2511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93" name="Google Shape;3293;p103"/>
          <p:cNvSpPr/>
          <p:nvPr/>
        </p:nvSpPr>
        <p:spPr>
          <a:xfrm>
            <a:off x="532712" y="3231175"/>
            <a:ext cx="1375500" cy="2511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94" name="Google Shape;3294;p103"/>
          <p:cNvSpPr/>
          <p:nvPr/>
        </p:nvSpPr>
        <p:spPr>
          <a:xfrm>
            <a:off x="456500" y="3307375"/>
            <a:ext cx="13755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95" name="Google Shape;3295;p103"/>
          <p:cNvSpPr/>
          <p:nvPr/>
        </p:nvSpPr>
        <p:spPr>
          <a:xfrm>
            <a:off x="5564437" y="3231175"/>
            <a:ext cx="1375500" cy="2511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96" name="Google Shape;3296;p103"/>
          <p:cNvSpPr/>
          <p:nvPr/>
        </p:nvSpPr>
        <p:spPr>
          <a:xfrm>
            <a:off x="7240837" y="3231175"/>
            <a:ext cx="1375500" cy="2511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97" name="Google Shape;3297;p103"/>
          <p:cNvSpPr/>
          <p:nvPr/>
        </p:nvSpPr>
        <p:spPr>
          <a:xfrm>
            <a:off x="527662" y="3840775"/>
            <a:ext cx="1375500" cy="2511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98" name="Google Shape;3298;p103"/>
          <p:cNvSpPr/>
          <p:nvPr/>
        </p:nvSpPr>
        <p:spPr>
          <a:xfrm>
            <a:off x="2205950" y="3840775"/>
            <a:ext cx="1375500" cy="251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99" name="Google Shape;3299;p103"/>
          <p:cNvSpPr/>
          <p:nvPr/>
        </p:nvSpPr>
        <p:spPr>
          <a:xfrm>
            <a:off x="2129750" y="3916975"/>
            <a:ext cx="13755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300" name="Google Shape;3300;p103"/>
          <p:cNvSpPr/>
          <p:nvPr/>
        </p:nvSpPr>
        <p:spPr>
          <a:xfrm>
            <a:off x="7235787" y="3840775"/>
            <a:ext cx="1375500" cy="2511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301" name="Google Shape;3301;p103"/>
          <p:cNvSpPr/>
          <p:nvPr/>
        </p:nvSpPr>
        <p:spPr>
          <a:xfrm>
            <a:off x="527662" y="4450375"/>
            <a:ext cx="1375500" cy="2511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302" name="Google Shape;3302;p103"/>
          <p:cNvSpPr/>
          <p:nvPr/>
        </p:nvSpPr>
        <p:spPr>
          <a:xfrm>
            <a:off x="2205950" y="4450375"/>
            <a:ext cx="1375500" cy="251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303" name="Google Shape;3303;p103"/>
          <p:cNvSpPr/>
          <p:nvPr/>
        </p:nvSpPr>
        <p:spPr>
          <a:xfrm>
            <a:off x="3879200" y="4450375"/>
            <a:ext cx="1375500" cy="2511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304" name="Google Shape;3304;p103"/>
          <p:cNvSpPr/>
          <p:nvPr/>
        </p:nvSpPr>
        <p:spPr>
          <a:xfrm>
            <a:off x="3803012" y="4526575"/>
            <a:ext cx="13755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305" name="Google Shape;3305;p103"/>
          <p:cNvSpPr/>
          <p:nvPr/>
        </p:nvSpPr>
        <p:spPr>
          <a:xfrm>
            <a:off x="7164637" y="2697775"/>
            <a:ext cx="13755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306" name="Google Shape;3306;p103"/>
          <p:cNvSpPr/>
          <p:nvPr/>
        </p:nvSpPr>
        <p:spPr>
          <a:xfrm>
            <a:off x="7729268" y="1389775"/>
            <a:ext cx="393600" cy="393600"/>
          </a:xfrm>
          <a:prstGeom prst="ellipse">
            <a:avLst/>
          </a:prstGeom>
          <a:solidFill>
            <a:srgbClr val="D9D2E9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5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07" name="Google Shape;3307;p103"/>
          <p:cNvSpPr/>
          <p:nvPr/>
        </p:nvSpPr>
        <p:spPr>
          <a:xfrm>
            <a:off x="6052868" y="1389775"/>
            <a:ext cx="393600" cy="393600"/>
          </a:xfrm>
          <a:prstGeom prst="ellipse">
            <a:avLst/>
          </a:prstGeom>
          <a:solidFill>
            <a:srgbClr val="D9EAD3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4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08" name="Google Shape;3308;p103"/>
          <p:cNvSpPr/>
          <p:nvPr/>
        </p:nvSpPr>
        <p:spPr>
          <a:xfrm>
            <a:off x="4376468" y="1389775"/>
            <a:ext cx="393600" cy="393600"/>
          </a:xfrm>
          <a:prstGeom prst="ellipse">
            <a:avLst/>
          </a:prstGeom>
          <a:solidFill>
            <a:srgbClr val="F4CCCC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3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09" name="Google Shape;3309;p103"/>
          <p:cNvSpPr/>
          <p:nvPr/>
        </p:nvSpPr>
        <p:spPr>
          <a:xfrm>
            <a:off x="1023668" y="1389775"/>
            <a:ext cx="393600" cy="393600"/>
          </a:xfrm>
          <a:prstGeom prst="ellipse">
            <a:avLst/>
          </a:prstGeom>
          <a:solidFill>
            <a:srgbClr val="FCE5CD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1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10" name="Google Shape;3310;p103"/>
          <p:cNvSpPr/>
          <p:nvPr/>
        </p:nvSpPr>
        <p:spPr>
          <a:xfrm>
            <a:off x="2700068" y="1389775"/>
            <a:ext cx="393600" cy="3936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2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311" name="Google Shape;3311;p103"/>
          <p:cNvCxnSpPr>
            <a:stCxn id="3310" idx="2"/>
            <a:endCxn id="3309" idx="6"/>
          </p:cNvCxnSpPr>
          <p:nvPr/>
        </p:nvCxnSpPr>
        <p:spPr>
          <a:xfrm rot="10800000">
            <a:off x="1417268" y="1586575"/>
            <a:ext cx="12828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12" name="Google Shape;3312;p103"/>
          <p:cNvCxnSpPr>
            <a:stCxn id="3308" idx="2"/>
            <a:endCxn id="3310" idx="6"/>
          </p:cNvCxnSpPr>
          <p:nvPr/>
        </p:nvCxnSpPr>
        <p:spPr>
          <a:xfrm rot="10800000">
            <a:off x="3093668" y="1586575"/>
            <a:ext cx="12828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13" name="Google Shape;3313;p103"/>
          <p:cNvCxnSpPr>
            <a:stCxn id="3307" idx="2"/>
            <a:endCxn id="3308" idx="6"/>
          </p:cNvCxnSpPr>
          <p:nvPr/>
        </p:nvCxnSpPr>
        <p:spPr>
          <a:xfrm rot="10800000">
            <a:off x="4770068" y="1586575"/>
            <a:ext cx="12828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14" name="Google Shape;3314;p103"/>
          <p:cNvCxnSpPr>
            <a:stCxn id="3306" idx="2"/>
            <a:endCxn id="3307" idx="6"/>
          </p:cNvCxnSpPr>
          <p:nvPr/>
        </p:nvCxnSpPr>
        <p:spPr>
          <a:xfrm rot="10800000">
            <a:off x="6446468" y="1586575"/>
            <a:ext cx="12828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3315" name="Google Shape;3315;p103"/>
          <p:cNvGrpSpPr/>
          <p:nvPr/>
        </p:nvGrpSpPr>
        <p:grpSpPr>
          <a:xfrm>
            <a:off x="432175" y="1154275"/>
            <a:ext cx="8282200" cy="432300"/>
            <a:chOff x="432175" y="3745075"/>
            <a:chExt cx="8282200" cy="432300"/>
          </a:xfrm>
        </p:grpSpPr>
        <p:sp>
          <p:nvSpPr>
            <p:cNvPr id="3316" name="Google Shape;3316;p103"/>
            <p:cNvSpPr/>
            <p:nvPr/>
          </p:nvSpPr>
          <p:spPr>
            <a:xfrm>
              <a:off x="8282075" y="3745075"/>
              <a:ext cx="432300" cy="432300"/>
            </a:xfrm>
            <a:prstGeom prst="arc">
              <a:avLst>
                <a:gd fmla="val 16200000" name="adj1"/>
                <a:gd fmla="val 5392788" name="adj2"/>
              </a:avLst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3317" name="Google Shape;3317;p103"/>
            <p:cNvCxnSpPr>
              <a:stCxn id="3316" idx="0"/>
              <a:endCxn id="3318" idx="0"/>
            </p:cNvCxnSpPr>
            <p:nvPr/>
          </p:nvCxnSpPr>
          <p:spPr>
            <a:xfrm rot="10800000">
              <a:off x="648425" y="3745075"/>
              <a:ext cx="7849800" cy="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319" name="Google Shape;3319;p103"/>
            <p:cNvCxnSpPr>
              <a:stCxn id="3309" idx="2"/>
              <a:endCxn id="3318" idx="2"/>
            </p:cNvCxnSpPr>
            <p:nvPr/>
          </p:nvCxnSpPr>
          <p:spPr>
            <a:xfrm rot="10800000">
              <a:off x="647768" y="4177375"/>
              <a:ext cx="375900" cy="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3318" name="Google Shape;3318;p103"/>
            <p:cNvSpPr/>
            <p:nvPr/>
          </p:nvSpPr>
          <p:spPr>
            <a:xfrm flipH="1">
              <a:off x="432175" y="3745075"/>
              <a:ext cx="432300" cy="432300"/>
            </a:xfrm>
            <a:prstGeom prst="arc">
              <a:avLst>
                <a:gd fmla="val 16200000" name="adj1"/>
                <a:gd fmla="val 5392788" name="adj2"/>
              </a:avLst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3320" name="Google Shape;3320;p103"/>
            <p:cNvCxnSpPr>
              <a:stCxn id="3316" idx="2"/>
              <a:endCxn id="3306" idx="6"/>
            </p:cNvCxnSpPr>
            <p:nvPr/>
          </p:nvCxnSpPr>
          <p:spPr>
            <a:xfrm rot="10800000">
              <a:off x="8122778" y="4177375"/>
              <a:ext cx="375900" cy="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24" name="Shape 3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5" name="Google Shape;3325;p104"/>
          <p:cNvSpPr txBox="1"/>
          <p:nvPr>
            <p:ph idx="1" type="body"/>
          </p:nvPr>
        </p:nvSpPr>
        <p:spPr>
          <a:xfrm>
            <a:off x="107050" y="402200"/>
            <a:ext cx="8909700" cy="62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1. Send your vector to your left, one element at a time (i.e. delaying later elements).</a:t>
            </a:r>
            <a:endParaRPr/>
          </a:p>
        </p:txBody>
      </p:sp>
      <p:sp>
        <p:nvSpPr>
          <p:cNvPr id="3326" name="Google Shape;3326;p104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Ring-Based AllReduce (</a:t>
            </a:r>
            <a:r>
              <a:rPr lang="en">
                <a:solidFill>
                  <a:schemeClr val="accent3"/>
                </a:solidFill>
              </a:rPr>
              <a:t>Optimized</a:t>
            </a:r>
            <a:r>
              <a:rPr lang="en"/>
              <a:t>)</a:t>
            </a:r>
            <a:endParaRPr/>
          </a:p>
        </p:txBody>
      </p:sp>
      <p:sp>
        <p:nvSpPr>
          <p:cNvPr id="3327" name="Google Shape;3327;p104"/>
          <p:cNvSpPr/>
          <p:nvPr/>
        </p:nvSpPr>
        <p:spPr>
          <a:xfrm>
            <a:off x="2211000" y="2011975"/>
            <a:ext cx="1375500" cy="251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328" name="Google Shape;3328;p104"/>
          <p:cNvSpPr/>
          <p:nvPr/>
        </p:nvSpPr>
        <p:spPr>
          <a:xfrm>
            <a:off x="3884250" y="2011975"/>
            <a:ext cx="1375500" cy="2511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329" name="Google Shape;3329;p104"/>
          <p:cNvSpPr/>
          <p:nvPr/>
        </p:nvSpPr>
        <p:spPr>
          <a:xfrm>
            <a:off x="5564437" y="2011963"/>
            <a:ext cx="13755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330" name="Google Shape;3330;p104"/>
          <p:cNvSpPr/>
          <p:nvPr/>
        </p:nvSpPr>
        <p:spPr>
          <a:xfrm>
            <a:off x="3884250" y="2621575"/>
            <a:ext cx="1375500" cy="2511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331" name="Google Shape;3331;p104"/>
          <p:cNvSpPr/>
          <p:nvPr/>
        </p:nvSpPr>
        <p:spPr>
          <a:xfrm>
            <a:off x="5564437" y="2621575"/>
            <a:ext cx="1375500" cy="2511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332" name="Google Shape;3332;p104"/>
          <p:cNvSpPr/>
          <p:nvPr/>
        </p:nvSpPr>
        <p:spPr>
          <a:xfrm>
            <a:off x="532700" y="3231175"/>
            <a:ext cx="13755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333" name="Google Shape;3333;p104"/>
          <p:cNvSpPr/>
          <p:nvPr/>
        </p:nvSpPr>
        <p:spPr>
          <a:xfrm>
            <a:off x="5564437" y="3231175"/>
            <a:ext cx="1375500" cy="2511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334" name="Google Shape;3334;p104"/>
          <p:cNvSpPr/>
          <p:nvPr/>
        </p:nvSpPr>
        <p:spPr>
          <a:xfrm>
            <a:off x="7240837" y="3231175"/>
            <a:ext cx="1375500" cy="2511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335" name="Google Shape;3335;p104"/>
          <p:cNvSpPr/>
          <p:nvPr/>
        </p:nvSpPr>
        <p:spPr>
          <a:xfrm>
            <a:off x="527662" y="3840775"/>
            <a:ext cx="1375500" cy="2511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336" name="Google Shape;3336;p104"/>
          <p:cNvSpPr/>
          <p:nvPr/>
        </p:nvSpPr>
        <p:spPr>
          <a:xfrm>
            <a:off x="2205950" y="3840775"/>
            <a:ext cx="13755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337" name="Google Shape;3337;p104"/>
          <p:cNvSpPr/>
          <p:nvPr/>
        </p:nvSpPr>
        <p:spPr>
          <a:xfrm>
            <a:off x="7235787" y="3840775"/>
            <a:ext cx="1375500" cy="2511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338" name="Google Shape;3338;p104"/>
          <p:cNvSpPr/>
          <p:nvPr/>
        </p:nvSpPr>
        <p:spPr>
          <a:xfrm>
            <a:off x="527662" y="4450375"/>
            <a:ext cx="1375500" cy="2511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339" name="Google Shape;3339;p104"/>
          <p:cNvSpPr/>
          <p:nvPr/>
        </p:nvSpPr>
        <p:spPr>
          <a:xfrm>
            <a:off x="2205950" y="4450375"/>
            <a:ext cx="1375500" cy="251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340" name="Google Shape;3340;p104"/>
          <p:cNvSpPr/>
          <p:nvPr/>
        </p:nvSpPr>
        <p:spPr>
          <a:xfrm>
            <a:off x="3879212" y="4450375"/>
            <a:ext cx="13755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341" name="Google Shape;3341;p104"/>
          <p:cNvSpPr/>
          <p:nvPr/>
        </p:nvSpPr>
        <p:spPr>
          <a:xfrm>
            <a:off x="7240837" y="2621575"/>
            <a:ext cx="13755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3342" name="Google Shape;3342;p104"/>
          <p:cNvCxnSpPr/>
          <p:nvPr/>
        </p:nvCxnSpPr>
        <p:spPr>
          <a:xfrm rot="10800000">
            <a:off x="2285250" y="3764575"/>
            <a:ext cx="1227000" cy="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343" name="Google Shape;3343;p104"/>
          <p:cNvCxnSpPr/>
          <p:nvPr/>
        </p:nvCxnSpPr>
        <p:spPr>
          <a:xfrm rot="10800000">
            <a:off x="601900" y="3154975"/>
            <a:ext cx="1227000" cy="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344" name="Google Shape;3344;p104"/>
          <p:cNvCxnSpPr/>
          <p:nvPr/>
        </p:nvCxnSpPr>
        <p:spPr>
          <a:xfrm rot="10800000">
            <a:off x="3958487" y="4374175"/>
            <a:ext cx="1227000" cy="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345" name="Google Shape;3345;p104"/>
          <p:cNvCxnSpPr/>
          <p:nvPr/>
        </p:nvCxnSpPr>
        <p:spPr>
          <a:xfrm rot="10800000">
            <a:off x="5641837" y="1935775"/>
            <a:ext cx="1227000" cy="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346" name="Google Shape;3346;p104"/>
          <p:cNvCxnSpPr/>
          <p:nvPr/>
        </p:nvCxnSpPr>
        <p:spPr>
          <a:xfrm rot="10800000">
            <a:off x="7315087" y="2545375"/>
            <a:ext cx="1227000" cy="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347" name="Google Shape;3347;p104"/>
          <p:cNvSpPr/>
          <p:nvPr/>
        </p:nvSpPr>
        <p:spPr>
          <a:xfrm>
            <a:off x="7729268" y="1389775"/>
            <a:ext cx="393600" cy="393600"/>
          </a:xfrm>
          <a:prstGeom prst="ellipse">
            <a:avLst/>
          </a:prstGeom>
          <a:solidFill>
            <a:srgbClr val="D9D2E9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5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48" name="Google Shape;3348;p104"/>
          <p:cNvSpPr/>
          <p:nvPr/>
        </p:nvSpPr>
        <p:spPr>
          <a:xfrm>
            <a:off x="6052868" y="1389775"/>
            <a:ext cx="393600" cy="393600"/>
          </a:xfrm>
          <a:prstGeom prst="ellipse">
            <a:avLst/>
          </a:prstGeom>
          <a:solidFill>
            <a:srgbClr val="D9EAD3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4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49" name="Google Shape;3349;p104"/>
          <p:cNvSpPr/>
          <p:nvPr/>
        </p:nvSpPr>
        <p:spPr>
          <a:xfrm>
            <a:off x="4376468" y="1389775"/>
            <a:ext cx="393600" cy="393600"/>
          </a:xfrm>
          <a:prstGeom prst="ellipse">
            <a:avLst/>
          </a:prstGeom>
          <a:solidFill>
            <a:srgbClr val="F4CCCC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3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50" name="Google Shape;3350;p104"/>
          <p:cNvSpPr/>
          <p:nvPr/>
        </p:nvSpPr>
        <p:spPr>
          <a:xfrm>
            <a:off x="1023668" y="1389775"/>
            <a:ext cx="393600" cy="393600"/>
          </a:xfrm>
          <a:prstGeom prst="ellipse">
            <a:avLst/>
          </a:prstGeom>
          <a:solidFill>
            <a:srgbClr val="FCE5CD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1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51" name="Google Shape;3351;p104"/>
          <p:cNvSpPr/>
          <p:nvPr/>
        </p:nvSpPr>
        <p:spPr>
          <a:xfrm>
            <a:off x="2700068" y="1389775"/>
            <a:ext cx="393600" cy="3936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2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352" name="Google Shape;3352;p104"/>
          <p:cNvCxnSpPr>
            <a:stCxn id="3351" idx="2"/>
            <a:endCxn id="3350" idx="6"/>
          </p:cNvCxnSpPr>
          <p:nvPr/>
        </p:nvCxnSpPr>
        <p:spPr>
          <a:xfrm rot="10800000">
            <a:off x="1417268" y="1586575"/>
            <a:ext cx="12828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53" name="Google Shape;3353;p104"/>
          <p:cNvCxnSpPr>
            <a:stCxn id="3349" idx="2"/>
            <a:endCxn id="3351" idx="6"/>
          </p:cNvCxnSpPr>
          <p:nvPr/>
        </p:nvCxnSpPr>
        <p:spPr>
          <a:xfrm rot="10800000">
            <a:off x="3093668" y="1586575"/>
            <a:ext cx="12828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54" name="Google Shape;3354;p104"/>
          <p:cNvCxnSpPr>
            <a:stCxn id="3348" idx="2"/>
            <a:endCxn id="3349" idx="6"/>
          </p:cNvCxnSpPr>
          <p:nvPr/>
        </p:nvCxnSpPr>
        <p:spPr>
          <a:xfrm rot="10800000">
            <a:off x="4770068" y="1586575"/>
            <a:ext cx="12828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55" name="Google Shape;3355;p104"/>
          <p:cNvCxnSpPr>
            <a:stCxn id="3347" idx="2"/>
            <a:endCxn id="3348" idx="6"/>
          </p:cNvCxnSpPr>
          <p:nvPr/>
        </p:nvCxnSpPr>
        <p:spPr>
          <a:xfrm rot="10800000">
            <a:off x="6446468" y="1586575"/>
            <a:ext cx="12828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3356" name="Google Shape;3356;p104"/>
          <p:cNvGrpSpPr/>
          <p:nvPr/>
        </p:nvGrpSpPr>
        <p:grpSpPr>
          <a:xfrm>
            <a:off x="432175" y="1154275"/>
            <a:ext cx="8282200" cy="432300"/>
            <a:chOff x="432175" y="3745075"/>
            <a:chExt cx="8282200" cy="432300"/>
          </a:xfrm>
        </p:grpSpPr>
        <p:sp>
          <p:nvSpPr>
            <p:cNvPr id="3357" name="Google Shape;3357;p104"/>
            <p:cNvSpPr/>
            <p:nvPr/>
          </p:nvSpPr>
          <p:spPr>
            <a:xfrm>
              <a:off x="8282075" y="3745075"/>
              <a:ext cx="432300" cy="432300"/>
            </a:xfrm>
            <a:prstGeom prst="arc">
              <a:avLst>
                <a:gd fmla="val 16200000" name="adj1"/>
                <a:gd fmla="val 5392788" name="adj2"/>
              </a:avLst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3358" name="Google Shape;3358;p104"/>
            <p:cNvCxnSpPr>
              <a:stCxn id="3357" idx="0"/>
              <a:endCxn id="3359" idx="0"/>
            </p:cNvCxnSpPr>
            <p:nvPr/>
          </p:nvCxnSpPr>
          <p:spPr>
            <a:xfrm rot="10800000">
              <a:off x="648425" y="3745075"/>
              <a:ext cx="7849800" cy="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360" name="Google Shape;3360;p104"/>
            <p:cNvCxnSpPr>
              <a:stCxn id="3350" idx="2"/>
              <a:endCxn id="3359" idx="2"/>
            </p:cNvCxnSpPr>
            <p:nvPr/>
          </p:nvCxnSpPr>
          <p:spPr>
            <a:xfrm rot="10800000">
              <a:off x="647768" y="4177375"/>
              <a:ext cx="375900" cy="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3359" name="Google Shape;3359;p104"/>
            <p:cNvSpPr/>
            <p:nvPr/>
          </p:nvSpPr>
          <p:spPr>
            <a:xfrm flipH="1">
              <a:off x="432175" y="3745075"/>
              <a:ext cx="432300" cy="432300"/>
            </a:xfrm>
            <a:prstGeom prst="arc">
              <a:avLst>
                <a:gd fmla="val 16200000" name="adj1"/>
                <a:gd fmla="val 5392788" name="adj2"/>
              </a:avLst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3361" name="Google Shape;3361;p104"/>
            <p:cNvCxnSpPr>
              <a:stCxn id="3357" idx="2"/>
              <a:endCxn id="3347" idx="6"/>
            </p:cNvCxnSpPr>
            <p:nvPr/>
          </p:nvCxnSpPr>
          <p:spPr>
            <a:xfrm rot="10800000">
              <a:off x="8122778" y="4177375"/>
              <a:ext cx="375900" cy="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65" name="Shape 3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6" name="Google Shape;3366;p105"/>
          <p:cNvSpPr txBox="1"/>
          <p:nvPr>
            <p:ph idx="1" type="body"/>
          </p:nvPr>
        </p:nvSpPr>
        <p:spPr>
          <a:xfrm>
            <a:off x="107050" y="402200"/>
            <a:ext cx="8909700" cy="62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1. Send your vector to your left, one element at a time (i.e. delaying later elements).</a:t>
            </a:r>
            <a:endParaRPr/>
          </a:p>
        </p:txBody>
      </p:sp>
      <p:sp>
        <p:nvSpPr>
          <p:cNvPr id="3367" name="Google Shape;3367;p105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Ring-Based AllReduce (</a:t>
            </a:r>
            <a:r>
              <a:rPr lang="en">
                <a:solidFill>
                  <a:schemeClr val="accent3"/>
                </a:solidFill>
              </a:rPr>
              <a:t>Optimized</a:t>
            </a:r>
            <a:r>
              <a:rPr lang="en"/>
              <a:t>)</a:t>
            </a:r>
            <a:endParaRPr/>
          </a:p>
        </p:txBody>
      </p:sp>
      <p:sp>
        <p:nvSpPr>
          <p:cNvPr id="3368" name="Google Shape;3368;p105"/>
          <p:cNvSpPr/>
          <p:nvPr/>
        </p:nvSpPr>
        <p:spPr>
          <a:xfrm>
            <a:off x="2211000" y="2011975"/>
            <a:ext cx="1375500" cy="251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369" name="Google Shape;3369;p105"/>
          <p:cNvSpPr/>
          <p:nvPr/>
        </p:nvSpPr>
        <p:spPr>
          <a:xfrm>
            <a:off x="3884250" y="2011975"/>
            <a:ext cx="1375500" cy="2511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370" name="Google Shape;3370;p105"/>
          <p:cNvSpPr/>
          <p:nvPr/>
        </p:nvSpPr>
        <p:spPr>
          <a:xfrm>
            <a:off x="3808062" y="2088163"/>
            <a:ext cx="13755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371" name="Google Shape;3371;p105"/>
          <p:cNvSpPr/>
          <p:nvPr/>
        </p:nvSpPr>
        <p:spPr>
          <a:xfrm>
            <a:off x="3884250" y="2621575"/>
            <a:ext cx="1375500" cy="2511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372" name="Google Shape;3372;p105"/>
          <p:cNvSpPr/>
          <p:nvPr/>
        </p:nvSpPr>
        <p:spPr>
          <a:xfrm>
            <a:off x="5564437" y="2621575"/>
            <a:ext cx="1375500" cy="2511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373" name="Google Shape;3373;p105"/>
          <p:cNvSpPr/>
          <p:nvPr/>
        </p:nvSpPr>
        <p:spPr>
          <a:xfrm>
            <a:off x="5564437" y="3231175"/>
            <a:ext cx="1375500" cy="2511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374" name="Google Shape;3374;p105"/>
          <p:cNvSpPr/>
          <p:nvPr/>
        </p:nvSpPr>
        <p:spPr>
          <a:xfrm>
            <a:off x="7240837" y="3231175"/>
            <a:ext cx="1375500" cy="2511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375" name="Google Shape;3375;p105"/>
          <p:cNvSpPr/>
          <p:nvPr/>
        </p:nvSpPr>
        <p:spPr>
          <a:xfrm>
            <a:off x="527662" y="3840775"/>
            <a:ext cx="1375500" cy="2511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376" name="Google Shape;3376;p105"/>
          <p:cNvSpPr/>
          <p:nvPr/>
        </p:nvSpPr>
        <p:spPr>
          <a:xfrm>
            <a:off x="451450" y="3916975"/>
            <a:ext cx="13755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377" name="Google Shape;3377;p105"/>
          <p:cNvSpPr/>
          <p:nvPr/>
        </p:nvSpPr>
        <p:spPr>
          <a:xfrm>
            <a:off x="7235787" y="3840775"/>
            <a:ext cx="1375500" cy="2511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378" name="Google Shape;3378;p105"/>
          <p:cNvSpPr/>
          <p:nvPr/>
        </p:nvSpPr>
        <p:spPr>
          <a:xfrm>
            <a:off x="527662" y="4450375"/>
            <a:ext cx="1375500" cy="2511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379" name="Google Shape;3379;p105"/>
          <p:cNvSpPr/>
          <p:nvPr/>
        </p:nvSpPr>
        <p:spPr>
          <a:xfrm>
            <a:off x="2205950" y="4450375"/>
            <a:ext cx="1375500" cy="251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380" name="Google Shape;3380;p105"/>
          <p:cNvSpPr/>
          <p:nvPr/>
        </p:nvSpPr>
        <p:spPr>
          <a:xfrm>
            <a:off x="2129762" y="4526575"/>
            <a:ext cx="13755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381" name="Google Shape;3381;p105"/>
          <p:cNvSpPr/>
          <p:nvPr/>
        </p:nvSpPr>
        <p:spPr>
          <a:xfrm>
            <a:off x="5488237" y="2697775"/>
            <a:ext cx="13755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382" name="Google Shape;3382;p105"/>
          <p:cNvSpPr/>
          <p:nvPr/>
        </p:nvSpPr>
        <p:spPr>
          <a:xfrm>
            <a:off x="7164625" y="3307375"/>
            <a:ext cx="13755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383" name="Google Shape;3383;p105"/>
          <p:cNvSpPr/>
          <p:nvPr/>
        </p:nvSpPr>
        <p:spPr>
          <a:xfrm>
            <a:off x="7729268" y="1389775"/>
            <a:ext cx="393600" cy="393600"/>
          </a:xfrm>
          <a:prstGeom prst="ellipse">
            <a:avLst/>
          </a:prstGeom>
          <a:solidFill>
            <a:srgbClr val="D9D2E9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5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84" name="Google Shape;3384;p105"/>
          <p:cNvSpPr/>
          <p:nvPr/>
        </p:nvSpPr>
        <p:spPr>
          <a:xfrm>
            <a:off x="6052868" y="1389775"/>
            <a:ext cx="393600" cy="393600"/>
          </a:xfrm>
          <a:prstGeom prst="ellipse">
            <a:avLst/>
          </a:prstGeom>
          <a:solidFill>
            <a:srgbClr val="D9EAD3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4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85" name="Google Shape;3385;p105"/>
          <p:cNvSpPr/>
          <p:nvPr/>
        </p:nvSpPr>
        <p:spPr>
          <a:xfrm>
            <a:off x="4376468" y="1389775"/>
            <a:ext cx="393600" cy="393600"/>
          </a:xfrm>
          <a:prstGeom prst="ellipse">
            <a:avLst/>
          </a:prstGeom>
          <a:solidFill>
            <a:srgbClr val="F4CCCC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3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86" name="Google Shape;3386;p105"/>
          <p:cNvSpPr/>
          <p:nvPr/>
        </p:nvSpPr>
        <p:spPr>
          <a:xfrm>
            <a:off x="1023668" y="1389775"/>
            <a:ext cx="393600" cy="393600"/>
          </a:xfrm>
          <a:prstGeom prst="ellipse">
            <a:avLst/>
          </a:prstGeom>
          <a:solidFill>
            <a:srgbClr val="FCE5CD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1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87" name="Google Shape;3387;p105"/>
          <p:cNvSpPr/>
          <p:nvPr/>
        </p:nvSpPr>
        <p:spPr>
          <a:xfrm>
            <a:off x="2700068" y="1389775"/>
            <a:ext cx="393600" cy="3936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2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388" name="Google Shape;3388;p105"/>
          <p:cNvCxnSpPr>
            <a:stCxn id="3387" idx="2"/>
            <a:endCxn id="3386" idx="6"/>
          </p:cNvCxnSpPr>
          <p:nvPr/>
        </p:nvCxnSpPr>
        <p:spPr>
          <a:xfrm rot="10800000">
            <a:off x="1417268" y="1586575"/>
            <a:ext cx="12828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89" name="Google Shape;3389;p105"/>
          <p:cNvCxnSpPr>
            <a:stCxn id="3385" idx="2"/>
            <a:endCxn id="3387" idx="6"/>
          </p:cNvCxnSpPr>
          <p:nvPr/>
        </p:nvCxnSpPr>
        <p:spPr>
          <a:xfrm rot="10800000">
            <a:off x="3093668" y="1586575"/>
            <a:ext cx="12828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90" name="Google Shape;3390;p105"/>
          <p:cNvCxnSpPr>
            <a:stCxn id="3384" idx="2"/>
            <a:endCxn id="3385" idx="6"/>
          </p:cNvCxnSpPr>
          <p:nvPr/>
        </p:nvCxnSpPr>
        <p:spPr>
          <a:xfrm rot="10800000">
            <a:off x="4770068" y="1586575"/>
            <a:ext cx="12828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91" name="Google Shape;3391;p105"/>
          <p:cNvCxnSpPr>
            <a:stCxn id="3383" idx="2"/>
            <a:endCxn id="3384" idx="6"/>
          </p:cNvCxnSpPr>
          <p:nvPr/>
        </p:nvCxnSpPr>
        <p:spPr>
          <a:xfrm rot="10800000">
            <a:off x="6446468" y="1586575"/>
            <a:ext cx="12828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3392" name="Google Shape;3392;p105"/>
          <p:cNvGrpSpPr/>
          <p:nvPr/>
        </p:nvGrpSpPr>
        <p:grpSpPr>
          <a:xfrm>
            <a:off x="432175" y="1154275"/>
            <a:ext cx="8282200" cy="432300"/>
            <a:chOff x="432175" y="3745075"/>
            <a:chExt cx="8282200" cy="432300"/>
          </a:xfrm>
        </p:grpSpPr>
        <p:sp>
          <p:nvSpPr>
            <p:cNvPr id="3393" name="Google Shape;3393;p105"/>
            <p:cNvSpPr/>
            <p:nvPr/>
          </p:nvSpPr>
          <p:spPr>
            <a:xfrm>
              <a:off x="8282075" y="3745075"/>
              <a:ext cx="432300" cy="432300"/>
            </a:xfrm>
            <a:prstGeom prst="arc">
              <a:avLst>
                <a:gd fmla="val 16200000" name="adj1"/>
                <a:gd fmla="val 5392788" name="adj2"/>
              </a:avLst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3394" name="Google Shape;3394;p105"/>
            <p:cNvCxnSpPr>
              <a:stCxn id="3393" idx="0"/>
              <a:endCxn id="3395" idx="0"/>
            </p:cNvCxnSpPr>
            <p:nvPr/>
          </p:nvCxnSpPr>
          <p:spPr>
            <a:xfrm rot="10800000">
              <a:off x="648425" y="3745075"/>
              <a:ext cx="7849800" cy="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396" name="Google Shape;3396;p105"/>
            <p:cNvCxnSpPr>
              <a:stCxn id="3386" idx="2"/>
              <a:endCxn id="3395" idx="2"/>
            </p:cNvCxnSpPr>
            <p:nvPr/>
          </p:nvCxnSpPr>
          <p:spPr>
            <a:xfrm rot="10800000">
              <a:off x="647768" y="4177375"/>
              <a:ext cx="375900" cy="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3395" name="Google Shape;3395;p105"/>
            <p:cNvSpPr/>
            <p:nvPr/>
          </p:nvSpPr>
          <p:spPr>
            <a:xfrm flipH="1">
              <a:off x="432175" y="3745075"/>
              <a:ext cx="432300" cy="432300"/>
            </a:xfrm>
            <a:prstGeom prst="arc">
              <a:avLst>
                <a:gd fmla="val 16200000" name="adj1"/>
                <a:gd fmla="val 5392788" name="adj2"/>
              </a:avLst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3397" name="Google Shape;3397;p105"/>
            <p:cNvCxnSpPr>
              <a:stCxn id="3393" idx="2"/>
              <a:endCxn id="3383" idx="6"/>
            </p:cNvCxnSpPr>
            <p:nvPr/>
          </p:nvCxnSpPr>
          <p:spPr>
            <a:xfrm rot="10800000">
              <a:off x="8122778" y="4177375"/>
              <a:ext cx="375900" cy="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01" name="Shape 3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2" name="Google Shape;3402;p106"/>
          <p:cNvSpPr txBox="1"/>
          <p:nvPr>
            <p:ph idx="1" type="body"/>
          </p:nvPr>
        </p:nvSpPr>
        <p:spPr>
          <a:xfrm>
            <a:off x="107050" y="402200"/>
            <a:ext cx="8909700" cy="62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1. Send your vector to your left, one element at a time (i.e. delaying later elements).</a:t>
            </a:r>
            <a:endParaRPr/>
          </a:p>
        </p:txBody>
      </p:sp>
      <p:sp>
        <p:nvSpPr>
          <p:cNvPr id="3403" name="Google Shape;3403;p106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Ring-Based AllReduce (</a:t>
            </a:r>
            <a:r>
              <a:rPr lang="en">
                <a:solidFill>
                  <a:schemeClr val="accent3"/>
                </a:solidFill>
              </a:rPr>
              <a:t>Optimized</a:t>
            </a:r>
            <a:r>
              <a:rPr lang="en"/>
              <a:t>)</a:t>
            </a:r>
            <a:endParaRPr/>
          </a:p>
        </p:txBody>
      </p:sp>
      <p:sp>
        <p:nvSpPr>
          <p:cNvPr id="3404" name="Google Shape;3404;p106"/>
          <p:cNvSpPr/>
          <p:nvPr/>
        </p:nvSpPr>
        <p:spPr>
          <a:xfrm>
            <a:off x="2211000" y="2011975"/>
            <a:ext cx="1375500" cy="251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405" name="Google Shape;3405;p106"/>
          <p:cNvSpPr/>
          <p:nvPr/>
        </p:nvSpPr>
        <p:spPr>
          <a:xfrm>
            <a:off x="3884262" y="2011963"/>
            <a:ext cx="13755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406" name="Google Shape;3406;p106"/>
          <p:cNvSpPr/>
          <p:nvPr/>
        </p:nvSpPr>
        <p:spPr>
          <a:xfrm>
            <a:off x="3884250" y="2621575"/>
            <a:ext cx="1375500" cy="2511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407" name="Google Shape;3407;p106"/>
          <p:cNvSpPr/>
          <p:nvPr/>
        </p:nvSpPr>
        <p:spPr>
          <a:xfrm>
            <a:off x="5564437" y="3231175"/>
            <a:ext cx="1375500" cy="2511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408" name="Google Shape;3408;p106"/>
          <p:cNvSpPr/>
          <p:nvPr/>
        </p:nvSpPr>
        <p:spPr>
          <a:xfrm>
            <a:off x="527650" y="3840775"/>
            <a:ext cx="13755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409" name="Google Shape;3409;p106"/>
          <p:cNvSpPr/>
          <p:nvPr/>
        </p:nvSpPr>
        <p:spPr>
          <a:xfrm>
            <a:off x="7235787" y="3840775"/>
            <a:ext cx="1375500" cy="2511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410" name="Google Shape;3410;p106"/>
          <p:cNvSpPr/>
          <p:nvPr/>
        </p:nvSpPr>
        <p:spPr>
          <a:xfrm>
            <a:off x="527662" y="4450375"/>
            <a:ext cx="1375500" cy="2511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411" name="Google Shape;3411;p106"/>
          <p:cNvSpPr/>
          <p:nvPr/>
        </p:nvSpPr>
        <p:spPr>
          <a:xfrm>
            <a:off x="2205962" y="4450375"/>
            <a:ext cx="13755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412" name="Google Shape;3412;p106"/>
          <p:cNvSpPr/>
          <p:nvPr/>
        </p:nvSpPr>
        <p:spPr>
          <a:xfrm>
            <a:off x="5564437" y="2621575"/>
            <a:ext cx="13755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413" name="Google Shape;3413;p106"/>
          <p:cNvSpPr/>
          <p:nvPr/>
        </p:nvSpPr>
        <p:spPr>
          <a:xfrm>
            <a:off x="7240825" y="3231175"/>
            <a:ext cx="13755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3414" name="Google Shape;3414;p106"/>
          <p:cNvCxnSpPr/>
          <p:nvPr/>
        </p:nvCxnSpPr>
        <p:spPr>
          <a:xfrm rot="10800000">
            <a:off x="2285250" y="4374175"/>
            <a:ext cx="1227000" cy="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415" name="Google Shape;3415;p106"/>
          <p:cNvCxnSpPr/>
          <p:nvPr/>
        </p:nvCxnSpPr>
        <p:spPr>
          <a:xfrm rot="10800000">
            <a:off x="601900" y="3764575"/>
            <a:ext cx="1227000" cy="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416" name="Google Shape;3416;p106"/>
          <p:cNvCxnSpPr/>
          <p:nvPr/>
        </p:nvCxnSpPr>
        <p:spPr>
          <a:xfrm rot="10800000">
            <a:off x="3958487" y="1935775"/>
            <a:ext cx="1227000" cy="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417" name="Google Shape;3417;p106"/>
          <p:cNvCxnSpPr/>
          <p:nvPr/>
        </p:nvCxnSpPr>
        <p:spPr>
          <a:xfrm rot="10800000">
            <a:off x="5641837" y="2545375"/>
            <a:ext cx="1227000" cy="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418" name="Google Shape;3418;p106"/>
          <p:cNvCxnSpPr/>
          <p:nvPr/>
        </p:nvCxnSpPr>
        <p:spPr>
          <a:xfrm rot="10800000">
            <a:off x="7315087" y="3154975"/>
            <a:ext cx="1227000" cy="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419" name="Google Shape;3419;p106"/>
          <p:cNvSpPr/>
          <p:nvPr/>
        </p:nvSpPr>
        <p:spPr>
          <a:xfrm>
            <a:off x="7729268" y="1389775"/>
            <a:ext cx="393600" cy="393600"/>
          </a:xfrm>
          <a:prstGeom prst="ellipse">
            <a:avLst/>
          </a:prstGeom>
          <a:solidFill>
            <a:srgbClr val="D9D2E9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5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20" name="Google Shape;3420;p106"/>
          <p:cNvSpPr/>
          <p:nvPr/>
        </p:nvSpPr>
        <p:spPr>
          <a:xfrm>
            <a:off x="6052868" y="1389775"/>
            <a:ext cx="393600" cy="393600"/>
          </a:xfrm>
          <a:prstGeom prst="ellipse">
            <a:avLst/>
          </a:prstGeom>
          <a:solidFill>
            <a:srgbClr val="D9EAD3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4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21" name="Google Shape;3421;p106"/>
          <p:cNvSpPr/>
          <p:nvPr/>
        </p:nvSpPr>
        <p:spPr>
          <a:xfrm>
            <a:off x="4376468" y="1389775"/>
            <a:ext cx="393600" cy="393600"/>
          </a:xfrm>
          <a:prstGeom prst="ellipse">
            <a:avLst/>
          </a:prstGeom>
          <a:solidFill>
            <a:srgbClr val="F4CCCC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3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22" name="Google Shape;3422;p106"/>
          <p:cNvSpPr/>
          <p:nvPr/>
        </p:nvSpPr>
        <p:spPr>
          <a:xfrm>
            <a:off x="1023668" y="1389775"/>
            <a:ext cx="393600" cy="393600"/>
          </a:xfrm>
          <a:prstGeom prst="ellipse">
            <a:avLst/>
          </a:prstGeom>
          <a:solidFill>
            <a:srgbClr val="FCE5CD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1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23" name="Google Shape;3423;p106"/>
          <p:cNvSpPr/>
          <p:nvPr/>
        </p:nvSpPr>
        <p:spPr>
          <a:xfrm>
            <a:off x="2700068" y="1389775"/>
            <a:ext cx="393600" cy="3936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2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424" name="Google Shape;3424;p106"/>
          <p:cNvCxnSpPr>
            <a:stCxn id="3423" idx="2"/>
            <a:endCxn id="3422" idx="6"/>
          </p:cNvCxnSpPr>
          <p:nvPr/>
        </p:nvCxnSpPr>
        <p:spPr>
          <a:xfrm rot="10800000">
            <a:off x="1417268" y="1586575"/>
            <a:ext cx="12828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25" name="Google Shape;3425;p106"/>
          <p:cNvCxnSpPr>
            <a:stCxn id="3421" idx="2"/>
            <a:endCxn id="3423" idx="6"/>
          </p:cNvCxnSpPr>
          <p:nvPr/>
        </p:nvCxnSpPr>
        <p:spPr>
          <a:xfrm rot="10800000">
            <a:off x="3093668" y="1586575"/>
            <a:ext cx="12828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26" name="Google Shape;3426;p106"/>
          <p:cNvCxnSpPr>
            <a:stCxn id="3420" idx="2"/>
            <a:endCxn id="3421" idx="6"/>
          </p:cNvCxnSpPr>
          <p:nvPr/>
        </p:nvCxnSpPr>
        <p:spPr>
          <a:xfrm rot="10800000">
            <a:off x="4770068" y="1586575"/>
            <a:ext cx="12828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27" name="Google Shape;3427;p106"/>
          <p:cNvCxnSpPr>
            <a:stCxn id="3419" idx="2"/>
            <a:endCxn id="3420" idx="6"/>
          </p:cNvCxnSpPr>
          <p:nvPr/>
        </p:nvCxnSpPr>
        <p:spPr>
          <a:xfrm rot="10800000">
            <a:off x="6446468" y="1586575"/>
            <a:ext cx="12828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3428" name="Google Shape;3428;p106"/>
          <p:cNvGrpSpPr/>
          <p:nvPr/>
        </p:nvGrpSpPr>
        <p:grpSpPr>
          <a:xfrm>
            <a:off x="432175" y="1154275"/>
            <a:ext cx="8282200" cy="432300"/>
            <a:chOff x="432175" y="3745075"/>
            <a:chExt cx="8282200" cy="432300"/>
          </a:xfrm>
        </p:grpSpPr>
        <p:sp>
          <p:nvSpPr>
            <p:cNvPr id="3429" name="Google Shape;3429;p106"/>
            <p:cNvSpPr/>
            <p:nvPr/>
          </p:nvSpPr>
          <p:spPr>
            <a:xfrm>
              <a:off x="8282075" y="3745075"/>
              <a:ext cx="432300" cy="432300"/>
            </a:xfrm>
            <a:prstGeom prst="arc">
              <a:avLst>
                <a:gd fmla="val 16200000" name="adj1"/>
                <a:gd fmla="val 5392788" name="adj2"/>
              </a:avLst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3430" name="Google Shape;3430;p106"/>
            <p:cNvCxnSpPr>
              <a:stCxn id="3429" idx="0"/>
              <a:endCxn id="3431" idx="0"/>
            </p:cNvCxnSpPr>
            <p:nvPr/>
          </p:nvCxnSpPr>
          <p:spPr>
            <a:xfrm rot="10800000">
              <a:off x="648425" y="3745075"/>
              <a:ext cx="7849800" cy="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432" name="Google Shape;3432;p106"/>
            <p:cNvCxnSpPr>
              <a:stCxn id="3422" idx="2"/>
              <a:endCxn id="3431" idx="2"/>
            </p:cNvCxnSpPr>
            <p:nvPr/>
          </p:nvCxnSpPr>
          <p:spPr>
            <a:xfrm rot="10800000">
              <a:off x="647768" y="4177375"/>
              <a:ext cx="375900" cy="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3431" name="Google Shape;3431;p106"/>
            <p:cNvSpPr/>
            <p:nvPr/>
          </p:nvSpPr>
          <p:spPr>
            <a:xfrm flipH="1">
              <a:off x="432175" y="3745075"/>
              <a:ext cx="432300" cy="432300"/>
            </a:xfrm>
            <a:prstGeom prst="arc">
              <a:avLst>
                <a:gd fmla="val 16200000" name="adj1"/>
                <a:gd fmla="val 5392788" name="adj2"/>
              </a:avLst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3433" name="Google Shape;3433;p106"/>
            <p:cNvCxnSpPr>
              <a:stCxn id="3429" idx="2"/>
              <a:endCxn id="3419" idx="6"/>
            </p:cNvCxnSpPr>
            <p:nvPr/>
          </p:nvCxnSpPr>
          <p:spPr>
            <a:xfrm rot="10800000">
              <a:off x="8122778" y="4177375"/>
              <a:ext cx="375900" cy="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37" name="Shape 3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8" name="Google Shape;3438;p107"/>
          <p:cNvSpPr txBox="1"/>
          <p:nvPr>
            <p:ph idx="1" type="body"/>
          </p:nvPr>
        </p:nvSpPr>
        <p:spPr>
          <a:xfrm>
            <a:off x="107050" y="402200"/>
            <a:ext cx="8909700" cy="62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1. Send your vector to your left, one element at a time (i.e. delaying later elements).</a:t>
            </a:r>
            <a:endParaRPr/>
          </a:p>
        </p:txBody>
      </p:sp>
      <p:sp>
        <p:nvSpPr>
          <p:cNvPr id="3439" name="Google Shape;3439;p107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Ring-Based AllReduce (</a:t>
            </a:r>
            <a:r>
              <a:rPr lang="en">
                <a:solidFill>
                  <a:schemeClr val="accent3"/>
                </a:solidFill>
              </a:rPr>
              <a:t>Optimized</a:t>
            </a:r>
            <a:r>
              <a:rPr lang="en"/>
              <a:t>)</a:t>
            </a:r>
            <a:endParaRPr/>
          </a:p>
        </p:txBody>
      </p:sp>
      <p:sp>
        <p:nvSpPr>
          <p:cNvPr id="3440" name="Google Shape;3440;p107"/>
          <p:cNvSpPr/>
          <p:nvPr/>
        </p:nvSpPr>
        <p:spPr>
          <a:xfrm>
            <a:off x="2211000" y="2011975"/>
            <a:ext cx="1375500" cy="251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441" name="Google Shape;3441;p107"/>
          <p:cNvSpPr/>
          <p:nvPr/>
        </p:nvSpPr>
        <p:spPr>
          <a:xfrm>
            <a:off x="2134812" y="2088163"/>
            <a:ext cx="13755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442" name="Google Shape;3442;p107"/>
          <p:cNvSpPr/>
          <p:nvPr/>
        </p:nvSpPr>
        <p:spPr>
          <a:xfrm>
            <a:off x="3884250" y="2621575"/>
            <a:ext cx="1375500" cy="2511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443" name="Google Shape;3443;p107"/>
          <p:cNvSpPr/>
          <p:nvPr/>
        </p:nvSpPr>
        <p:spPr>
          <a:xfrm>
            <a:off x="5564437" y="3231175"/>
            <a:ext cx="1375500" cy="2511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444" name="Google Shape;3444;p107"/>
          <p:cNvSpPr/>
          <p:nvPr/>
        </p:nvSpPr>
        <p:spPr>
          <a:xfrm>
            <a:off x="7235787" y="3840775"/>
            <a:ext cx="1375500" cy="2511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445" name="Google Shape;3445;p107"/>
          <p:cNvSpPr/>
          <p:nvPr/>
        </p:nvSpPr>
        <p:spPr>
          <a:xfrm>
            <a:off x="527662" y="4450375"/>
            <a:ext cx="1375500" cy="2511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446" name="Google Shape;3446;p107"/>
          <p:cNvSpPr/>
          <p:nvPr/>
        </p:nvSpPr>
        <p:spPr>
          <a:xfrm>
            <a:off x="451462" y="4526575"/>
            <a:ext cx="13755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447" name="Google Shape;3447;p107"/>
          <p:cNvSpPr/>
          <p:nvPr/>
        </p:nvSpPr>
        <p:spPr>
          <a:xfrm>
            <a:off x="3808062" y="2697775"/>
            <a:ext cx="13755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448" name="Google Shape;3448;p107"/>
          <p:cNvSpPr/>
          <p:nvPr/>
        </p:nvSpPr>
        <p:spPr>
          <a:xfrm>
            <a:off x="5488225" y="3307375"/>
            <a:ext cx="13755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449" name="Google Shape;3449;p107"/>
          <p:cNvSpPr/>
          <p:nvPr/>
        </p:nvSpPr>
        <p:spPr>
          <a:xfrm>
            <a:off x="7159575" y="3916975"/>
            <a:ext cx="13755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450" name="Google Shape;3450;p107"/>
          <p:cNvSpPr/>
          <p:nvPr/>
        </p:nvSpPr>
        <p:spPr>
          <a:xfrm>
            <a:off x="7729268" y="1389775"/>
            <a:ext cx="393600" cy="393600"/>
          </a:xfrm>
          <a:prstGeom prst="ellipse">
            <a:avLst/>
          </a:prstGeom>
          <a:solidFill>
            <a:srgbClr val="D9D2E9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5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51" name="Google Shape;3451;p107"/>
          <p:cNvSpPr/>
          <p:nvPr/>
        </p:nvSpPr>
        <p:spPr>
          <a:xfrm>
            <a:off x="6052868" y="1389775"/>
            <a:ext cx="393600" cy="393600"/>
          </a:xfrm>
          <a:prstGeom prst="ellipse">
            <a:avLst/>
          </a:prstGeom>
          <a:solidFill>
            <a:srgbClr val="D9EAD3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4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52" name="Google Shape;3452;p107"/>
          <p:cNvSpPr/>
          <p:nvPr/>
        </p:nvSpPr>
        <p:spPr>
          <a:xfrm>
            <a:off x="4376468" y="1389775"/>
            <a:ext cx="393600" cy="393600"/>
          </a:xfrm>
          <a:prstGeom prst="ellipse">
            <a:avLst/>
          </a:prstGeom>
          <a:solidFill>
            <a:srgbClr val="F4CCCC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3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53" name="Google Shape;3453;p107"/>
          <p:cNvSpPr/>
          <p:nvPr/>
        </p:nvSpPr>
        <p:spPr>
          <a:xfrm>
            <a:off x="1023668" y="1389775"/>
            <a:ext cx="393600" cy="393600"/>
          </a:xfrm>
          <a:prstGeom prst="ellipse">
            <a:avLst/>
          </a:prstGeom>
          <a:solidFill>
            <a:srgbClr val="FCE5CD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1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54" name="Google Shape;3454;p107"/>
          <p:cNvSpPr/>
          <p:nvPr/>
        </p:nvSpPr>
        <p:spPr>
          <a:xfrm>
            <a:off x="2700068" y="1389775"/>
            <a:ext cx="393600" cy="3936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2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455" name="Google Shape;3455;p107"/>
          <p:cNvCxnSpPr>
            <a:stCxn id="3454" idx="2"/>
            <a:endCxn id="3453" idx="6"/>
          </p:cNvCxnSpPr>
          <p:nvPr/>
        </p:nvCxnSpPr>
        <p:spPr>
          <a:xfrm rot="10800000">
            <a:off x="1417268" y="1586575"/>
            <a:ext cx="12828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56" name="Google Shape;3456;p107"/>
          <p:cNvCxnSpPr>
            <a:stCxn id="3452" idx="2"/>
            <a:endCxn id="3454" idx="6"/>
          </p:cNvCxnSpPr>
          <p:nvPr/>
        </p:nvCxnSpPr>
        <p:spPr>
          <a:xfrm rot="10800000">
            <a:off x="3093668" y="1586575"/>
            <a:ext cx="12828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57" name="Google Shape;3457;p107"/>
          <p:cNvCxnSpPr>
            <a:stCxn id="3451" idx="2"/>
            <a:endCxn id="3452" idx="6"/>
          </p:cNvCxnSpPr>
          <p:nvPr/>
        </p:nvCxnSpPr>
        <p:spPr>
          <a:xfrm rot="10800000">
            <a:off x="4770068" y="1586575"/>
            <a:ext cx="12828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58" name="Google Shape;3458;p107"/>
          <p:cNvCxnSpPr>
            <a:stCxn id="3450" idx="2"/>
            <a:endCxn id="3451" idx="6"/>
          </p:cNvCxnSpPr>
          <p:nvPr/>
        </p:nvCxnSpPr>
        <p:spPr>
          <a:xfrm rot="10800000">
            <a:off x="6446468" y="1586575"/>
            <a:ext cx="12828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3459" name="Google Shape;3459;p107"/>
          <p:cNvGrpSpPr/>
          <p:nvPr/>
        </p:nvGrpSpPr>
        <p:grpSpPr>
          <a:xfrm>
            <a:off x="432175" y="1154275"/>
            <a:ext cx="8282200" cy="432300"/>
            <a:chOff x="432175" y="3745075"/>
            <a:chExt cx="8282200" cy="432300"/>
          </a:xfrm>
        </p:grpSpPr>
        <p:sp>
          <p:nvSpPr>
            <p:cNvPr id="3460" name="Google Shape;3460;p107"/>
            <p:cNvSpPr/>
            <p:nvPr/>
          </p:nvSpPr>
          <p:spPr>
            <a:xfrm>
              <a:off x="8282075" y="3745075"/>
              <a:ext cx="432300" cy="432300"/>
            </a:xfrm>
            <a:prstGeom prst="arc">
              <a:avLst>
                <a:gd fmla="val 16200000" name="adj1"/>
                <a:gd fmla="val 5392788" name="adj2"/>
              </a:avLst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3461" name="Google Shape;3461;p107"/>
            <p:cNvCxnSpPr>
              <a:stCxn id="3460" idx="0"/>
              <a:endCxn id="3462" idx="0"/>
            </p:cNvCxnSpPr>
            <p:nvPr/>
          </p:nvCxnSpPr>
          <p:spPr>
            <a:xfrm rot="10800000">
              <a:off x="648425" y="3745075"/>
              <a:ext cx="7849800" cy="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463" name="Google Shape;3463;p107"/>
            <p:cNvCxnSpPr>
              <a:stCxn id="3453" idx="2"/>
              <a:endCxn id="3462" idx="2"/>
            </p:cNvCxnSpPr>
            <p:nvPr/>
          </p:nvCxnSpPr>
          <p:spPr>
            <a:xfrm rot="10800000">
              <a:off x="647768" y="4177375"/>
              <a:ext cx="375900" cy="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3462" name="Google Shape;3462;p107"/>
            <p:cNvSpPr/>
            <p:nvPr/>
          </p:nvSpPr>
          <p:spPr>
            <a:xfrm flipH="1">
              <a:off x="432175" y="3745075"/>
              <a:ext cx="432300" cy="432300"/>
            </a:xfrm>
            <a:prstGeom prst="arc">
              <a:avLst>
                <a:gd fmla="val 16200000" name="adj1"/>
                <a:gd fmla="val 5392788" name="adj2"/>
              </a:avLst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3464" name="Google Shape;3464;p107"/>
            <p:cNvCxnSpPr>
              <a:stCxn id="3460" idx="2"/>
              <a:endCxn id="3450" idx="6"/>
            </p:cNvCxnSpPr>
            <p:nvPr/>
          </p:nvCxnSpPr>
          <p:spPr>
            <a:xfrm rot="10800000">
              <a:off x="8122778" y="4177375"/>
              <a:ext cx="375900" cy="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68" name="Shape 3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9" name="Google Shape;3469;p108"/>
          <p:cNvSpPr txBox="1"/>
          <p:nvPr>
            <p:ph idx="1" type="body"/>
          </p:nvPr>
        </p:nvSpPr>
        <p:spPr>
          <a:xfrm>
            <a:off x="107050" y="402200"/>
            <a:ext cx="8909700" cy="62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1. Send your vector to your left, one element at a time (i.e. delaying later elements).</a:t>
            </a:r>
            <a:endParaRPr/>
          </a:p>
        </p:txBody>
      </p:sp>
      <p:sp>
        <p:nvSpPr>
          <p:cNvPr id="3470" name="Google Shape;3470;p108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Ring-Based AllReduce (</a:t>
            </a:r>
            <a:r>
              <a:rPr lang="en">
                <a:solidFill>
                  <a:schemeClr val="accent3"/>
                </a:solidFill>
              </a:rPr>
              <a:t>Optimized</a:t>
            </a:r>
            <a:r>
              <a:rPr lang="en"/>
              <a:t>)</a:t>
            </a:r>
            <a:endParaRPr/>
          </a:p>
        </p:txBody>
      </p:sp>
      <p:sp>
        <p:nvSpPr>
          <p:cNvPr id="3471" name="Google Shape;3471;p108"/>
          <p:cNvSpPr/>
          <p:nvPr/>
        </p:nvSpPr>
        <p:spPr>
          <a:xfrm>
            <a:off x="2211012" y="2011963"/>
            <a:ext cx="13755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472" name="Google Shape;3472;p108"/>
          <p:cNvSpPr/>
          <p:nvPr/>
        </p:nvSpPr>
        <p:spPr>
          <a:xfrm>
            <a:off x="527662" y="4450375"/>
            <a:ext cx="13755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473" name="Google Shape;3473;p108"/>
          <p:cNvSpPr/>
          <p:nvPr/>
        </p:nvSpPr>
        <p:spPr>
          <a:xfrm>
            <a:off x="3884262" y="2621575"/>
            <a:ext cx="13755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474" name="Google Shape;3474;p108"/>
          <p:cNvSpPr/>
          <p:nvPr/>
        </p:nvSpPr>
        <p:spPr>
          <a:xfrm>
            <a:off x="5564425" y="3231175"/>
            <a:ext cx="13755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475" name="Google Shape;3475;p108"/>
          <p:cNvSpPr/>
          <p:nvPr/>
        </p:nvSpPr>
        <p:spPr>
          <a:xfrm>
            <a:off x="7235775" y="3840775"/>
            <a:ext cx="13755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476" name="Google Shape;3476;p108"/>
          <p:cNvSpPr/>
          <p:nvPr/>
        </p:nvSpPr>
        <p:spPr>
          <a:xfrm>
            <a:off x="7729268" y="1389775"/>
            <a:ext cx="393600" cy="393600"/>
          </a:xfrm>
          <a:prstGeom prst="ellipse">
            <a:avLst/>
          </a:prstGeom>
          <a:solidFill>
            <a:srgbClr val="D9D2E9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5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77" name="Google Shape;3477;p108"/>
          <p:cNvSpPr/>
          <p:nvPr/>
        </p:nvSpPr>
        <p:spPr>
          <a:xfrm>
            <a:off x="6052868" y="1389775"/>
            <a:ext cx="393600" cy="393600"/>
          </a:xfrm>
          <a:prstGeom prst="ellipse">
            <a:avLst/>
          </a:prstGeom>
          <a:solidFill>
            <a:srgbClr val="D9EAD3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4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78" name="Google Shape;3478;p108"/>
          <p:cNvSpPr/>
          <p:nvPr/>
        </p:nvSpPr>
        <p:spPr>
          <a:xfrm>
            <a:off x="4376468" y="1389775"/>
            <a:ext cx="393600" cy="393600"/>
          </a:xfrm>
          <a:prstGeom prst="ellipse">
            <a:avLst/>
          </a:prstGeom>
          <a:solidFill>
            <a:srgbClr val="F4CCCC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3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79" name="Google Shape;3479;p108"/>
          <p:cNvSpPr/>
          <p:nvPr/>
        </p:nvSpPr>
        <p:spPr>
          <a:xfrm>
            <a:off x="1023668" y="1389775"/>
            <a:ext cx="393600" cy="393600"/>
          </a:xfrm>
          <a:prstGeom prst="ellipse">
            <a:avLst/>
          </a:prstGeom>
          <a:solidFill>
            <a:srgbClr val="FCE5CD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1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80" name="Google Shape;3480;p108"/>
          <p:cNvSpPr/>
          <p:nvPr/>
        </p:nvSpPr>
        <p:spPr>
          <a:xfrm>
            <a:off x="2700068" y="1389775"/>
            <a:ext cx="393600" cy="3936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2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481" name="Google Shape;3481;p108"/>
          <p:cNvCxnSpPr>
            <a:stCxn id="3480" idx="2"/>
            <a:endCxn id="3479" idx="6"/>
          </p:cNvCxnSpPr>
          <p:nvPr/>
        </p:nvCxnSpPr>
        <p:spPr>
          <a:xfrm rot="10800000">
            <a:off x="1417268" y="1586575"/>
            <a:ext cx="12828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82" name="Google Shape;3482;p108"/>
          <p:cNvCxnSpPr>
            <a:stCxn id="3478" idx="2"/>
            <a:endCxn id="3480" idx="6"/>
          </p:cNvCxnSpPr>
          <p:nvPr/>
        </p:nvCxnSpPr>
        <p:spPr>
          <a:xfrm rot="10800000">
            <a:off x="3093668" y="1586575"/>
            <a:ext cx="12828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83" name="Google Shape;3483;p108"/>
          <p:cNvCxnSpPr>
            <a:stCxn id="3477" idx="2"/>
            <a:endCxn id="3478" idx="6"/>
          </p:cNvCxnSpPr>
          <p:nvPr/>
        </p:nvCxnSpPr>
        <p:spPr>
          <a:xfrm rot="10800000">
            <a:off x="4770068" y="1586575"/>
            <a:ext cx="12828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84" name="Google Shape;3484;p108"/>
          <p:cNvCxnSpPr>
            <a:stCxn id="3476" idx="2"/>
            <a:endCxn id="3477" idx="6"/>
          </p:cNvCxnSpPr>
          <p:nvPr/>
        </p:nvCxnSpPr>
        <p:spPr>
          <a:xfrm rot="10800000">
            <a:off x="6446468" y="1586575"/>
            <a:ext cx="12828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3485" name="Google Shape;3485;p108"/>
          <p:cNvGrpSpPr/>
          <p:nvPr/>
        </p:nvGrpSpPr>
        <p:grpSpPr>
          <a:xfrm>
            <a:off x="432175" y="1154275"/>
            <a:ext cx="8282200" cy="432300"/>
            <a:chOff x="432175" y="3745075"/>
            <a:chExt cx="8282200" cy="432300"/>
          </a:xfrm>
        </p:grpSpPr>
        <p:sp>
          <p:nvSpPr>
            <p:cNvPr id="3486" name="Google Shape;3486;p108"/>
            <p:cNvSpPr/>
            <p:nvPr/>
          </p:nvSpPr>
          <p:spPr>
            <a:xfrm>
              <a:off x="8282075" y="3745075"/>
              <a:ext cx="432300" cy="432300"/>
            </a:xfrm>
            <a:prstGeom prst="arc">
              <a:avLst>
                <a:gd fmla="val 16200000" name="adj1"/>
                <a:gd fmla="val 5392788" name="adj2"/>
              </a:avLst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3487" name="Google Shape;3487;p108"/>
            <p:cNvCxnSpPr>
              <a:stCxn id="3486" idx="0"/>
              <a:endCxn id="3488" idx="0"/>
            </p:cNvCxnSpPr>
            <p:nvPr/>
          </p:nvCxnSpPr>
          <p:spPr>
            <a:xfrm rot="10800000">
              <a:off x="648425" y="3745075"/>
              <a:ext cx="7849800" cy="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489" name="Google Shape;3489;p108"/>
            <p:cNvCxnSpPr>
              <a:stCxn id="3479" idx="2"/>
              <a:endCxn id="3488" idx="2"/>
            </p:cNvCxnSpPr>
            <p:nvPr/>
          </p:nvCxnSpPr>
          <p:spPr>
            <a:xfrm rot="10800000">
              <a:off x="647768" y="4177375"/>
              <a:ext cx="375900" cy="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3488" name="Google Shape;3488;p108"/>
            <p:cNvSpPr/>
            <p:nvPr/>
          </p:nvSpPr>
          <p:spPr>
            <a:xfrm flipH="1">
              <a:off x="432175" y="3745075"/>
              <a:ext cx="432300" cy="432300"/>
            </a:xfrm>
            <a:prstGeom prst="arc">
              <a:avLst>
                <a:gd fmla="val 16200000" name="adj1"/>
                <a:gd fmla="val 5392788" name="adj2"/>
              </a:avLst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3490" name="Google Shape;3490;p108"/>
            <p:cNvCxnSpPr>
              <a:stCxn id="3486" idx="2"/>
              <a:endCxn id="3476" idx="6"/>
            </p:cNvCxnSpPr>
            <p:nvPr/>
          </p:nvCxnSpPr>
          <p:spPr>
            <a:xfrm rot="10800000">
              <a:off x="8122778" y="4177375"/>
              <a:ext cx="375900" cy="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94" name="Shape 3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5" name="Google Shape;3495;p109"/>
          <p:cNvSpPr txBox="1"/>
          <p:nvPr>
            <p:ph idx="1" type="body"/>
          </p:nvPr>
        </p:nvSpPr>
        <p:spPr>
          <a:xfrm>
            <a:off x="107050" y="402200"/>
            <a:ext cx="8909700" cy="62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2. Send the overall sum to the left.</a:t>
            </a:r>
            <a:endParaRPr/>
          </a:p>
        </p:txBody>
      </p:sp>
      <p:sp>
        <p:nvSpPr>
          <p:cNvPr id="3496" name="Google Shape;3496;p109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Ring-Based AllReduce (Optimized)</a:t>
            </a:r>
            <a:endParaRPr/>
          </a:p>
        </p:txBody>
      </p:sp>
      <p:sp>
        <p:nvSpPr>
          <p:cNvPr id="3497" name="Google Shape;3497;p109"/>
          <p:cNvSpPr/>
          <p:nvPr/>
        </p:nvSpPr>
        <p:spPr>
          <a:xfrm>
            <a:off x="2211012" y="2011963"/>
            <a:ext cx="13755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498" name="Google Shape;3498;p109"/>
          <p:cNvSpPr/>
          <p:nvPr/>
        </p:nvSpPr>
        <p:spPr>
          <a:xfrm>
            <a:off x="527662" y="4450375"/>
            <a:ext cx="13755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499" name="Google Shape;3499;p109"/>
          <p:cNvSpPr/>
          <p:nvPr/>
        </p:nvSpPr>
        <p:spPr>
          <a:xfrm>
            <a:off x="3884262" y="2621575"/>
            <a:ext cx="13755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500" name="Google Shape;3500;p109"/>
          <p:cNvSpPr/>
          <p:nvPr/>
        </p:nvSpPr>
        <p:spPr>
          <a:xfrm>
            <a:off x="5564425" y="3231175"/>
            <a:ext cx="13755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501" name="Google Shape;3501;p109"/>
          <p:cNvSpPr/>
          <p:nvPr/>
        </p:nvSpPr>
        <p:spPr>
          <a:xfrm>
            <a:off x="7235775" y="3840775"/>
            <a:ext cx="13755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3502" name="Google Shape;3502;p109"/>
          <p:cNvCxnSpPr/>
          <p:nvPr/>
        </p:nvCxnSpPr>
        <p:spPr>
          <a:xfrm rot="10800000">
            <a:off x="601900" y="4374175"/>
            <a:ext cx="1227000" cy="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503" name="Google Shape;3503;p109"/>
          <p:cNvCxnSpPr/>
          <p:nvPr/>
        </p:nvCxnSpPr>
        <p:spPr>
          <a:xfrm rot="10800000">
            <a:off x="2285250" y="1935775"/>
            <a:ext cx="1227000" cy="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504" name="Google Shape;3504;p109"/>
          <p:cNvCxnSpPr/>
          <p:nvPr/>
        </p:nvCxnSpPr>
        <p:spPr>
          <a:xfrm rot="10800000">
            <a:off x="5641837" y="3154975"/>
            <a:ext cx="1227000" cy="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505" name="Google Shape;3505;p109"/>
          <p:cNvCxnSpPr/>
          <p:nvPr/>
        </p:nvCxnSpPr>
        <p:spPr>
          <a:xfrm rot="10800000">
            <a:off x="3958487" y="2545375"/>
            <a:ext cx="1227000" cy="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506" name="Google Shape;3506;p109"/>
          <p:cNvCxnSpPr/>
          <p:nvPr/>
        </p:nvCxnSpPr>
        <p:spPr>
          <a:xfrm rot="10800000">
            <a:off x="7315087" y="3764575"/>
            <a:ext cx="1227000" cy="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507" name="Google Shape;3507;p109"/>
          <p:cNvSpPr/>
          <p:nvPr/>
        </p:nvSpPr>
        <p:spPr>
          <a:xfrm>
            <a:off x="7729268" y="1389775"/>
            <a:ext cx="393600" cy="393600"/>
          </a:xfrm>
          <a:prstGeom prst="ellipse">
            <a:avLst/>
          </a:prstGeom>
          <a:solidFill>
            <a:srgbClr val="D9D2E9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5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08" name="Google Shape;3508;p109"/>
          <p:cNvSpPr/>
          <p:nvPr/>
        </p:nvSpPr>
        <p:spPr>
          <a:xfrm>
            <a:off x="6052868" y="1389775"/>
            <a:ext cx="393600" cy="393600"/>
          </a:xfrm>
          <a:prstGeom prst="ellipse">
            <a:avLst/>
          </a:prstGeom>
          <a:solidFill>
            <a:srgbClr val="D9EAD3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4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09" name="Google Shape;3509;p109"/>
          <p:cNvSpPr/>
          <p:nvPr/>
        </p:nvSpPr>
        <p:spPr>
          <a:xfrm>
            <a:off x="4376468" y="1389775"/>
            <a:ext cx="393600" cy="393600"/>
          </a:xfrm>
          <a:prstGeom prst="ellipse">
            <a:avLst/>
          </a:prstGeom>
          <a:solidFill>
            <a:srgbClr val="F4CCCC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3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10" name="Google Shape;3510;p109"/>
          <p:cNvSpPr/>
          <p:nvPr/>
        </p:nvSpPr>
        <p:spPr>
          <a:xfrm>
            <a:off x="1023668" y="1389775"/>
            <a:ext cx="393600" cy="393600"/>
          </a:xfrm>
          <a:prstGeom prst="ellipse">
            <a:avLst/>
          </a:prstGeom>
          <a:solidFill>
            <a:srgbClr val="FCE5CD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1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11" name="Google Shape;3511;p109"/>
          <p:cNvSpPr/>
          <p:nvPr/>
        </p:nvSpPr>
        <p:spPr>
          <a:xfrm>
            <a:off x="2700068" y="1389775"/>
            <a:ext cx="393600" cy="3936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2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512" name="Google Shape;3512;p109"/>
          <p:cNvCxnSpPr>
            <a:stCxn id="3511" idx="2"/>
            <a:endCxn id="3510" idx="6"/>
          </p:cNvCxnSpPr>
          <p:nvPr/>
        </p:nvCxnSpPr>
        <p:spPr>
          <a:xfrm rot="10800000">
            <a:off x="1417268" y="1586575"/>
            <a:ext cx="12828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13" name="Google Shape;3513;p109"/>
          <p:cNvCxnSpPr>
            <a:stCxn id="3509" idx="2"/>
            <a:endCxn id="3511" idx="6"/>
          </p:cNvCxnSpPr>
          <p:nvPr/>
        </p:nvCxnSpPr>
        <p:spPr>
          <a:xfrm rot="10800000">
            <a:off x="3093668" y="1586575"/>
            <a:ext cx="12828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14" name="Google Shape;3514;p109"/>
          <p:cNvCxnSpPr>
            <a:stCxn id="3508" idx="2"/>
            <a:endCxn id="3509" idx="6"/>
          </p:cNvCxnSpPr>
          <p:nvPr/>
        </p:nvCxnSpPr>
        <p:spPr>
          <a:xfrm rot="10800000">
            <a:off x="4770068" y="1586575"/>
            <a:ext cx="12828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15" name="Google Shape;3515;p109"/>
          <p:cNvCxnSpPr>
            <a:stCxn id="3507" idx="2"/>
            <a:endCxn id="3508" idx="6"/>
          </p:cNvCxnSpPr>
          <p:nvPr/>
        </p:nvCxnSpPr>
        <p:spPr>
          <a:xfrm rot="10800000">
            <a:off x="6446468" y="1586575"/>
            <a:ext cx="12828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3516" name="Google Shape;3516;p109"/>
          <p:cNvGrpSpPr/>
          <p:nvPr/>
        </p:nvGrpSpPr>
        <p:grpSpPr>
          <a:xfrm>
            <a:off x="432175" y="1154275"/>
            <a:ext cx="8282200" cy="432300"/>
            <a:chOff x="432175" y="3745075"/>
            <a:chExt cx="8282200" cy="432300"/>
          </a:xfrm>
        </p:grpSpPr>
        <p:sp>
          <p:nvSpPr>
            <p:cNvPr id="3517" name="Google Shape;3517;p109"/>
            <p:cNvSpPr/>
            <p:nvPr/>
          </p:nvSpPr>
          <p:spPr>
            <a:xfrm>
              <a:off x="8282075" y="3745075"/>
              <a:ext cx="432300" cy="432300"/>
            </a:xfrm>
            <a:prstGeom prst="arc">
              <a:avLst>
                <a:gd fmla="val 16200000" name="adj1"/>
                <a:gd fmla="val 5392788" name="adj2"/>
              </a:avLst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3518" name="Google Shape;3518;p109"/>
            <p:cNvCxnSpPr>
              <a:stCxn id="3517" idx="0"/>
              <a:endCxn id="3519" idx="0"/>
            </p:cNvCxnSpPr>
            <p:nvPr/>
          </p:nvCxnSpPr>
          <p:spPr>
            <a:xfrm rot="10800000">
              <a:off x="648425" y="3745075"/>
              <a:ext cx="7849800" cy="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520" name="Google Shape;3520;p109"/>
            <p:cNvCxnSpPr>
              <a:stCxn id="3510" idx="2"/>
              <a:endCxn id="3519" idx="2"/>
            </p:cNvCxnSpPr>
            <p:nvPr/>
          </p:nvCxnSpPr>
          <p:spPr>
            <a:xfrm rot="10800000">
              <a:off x="647768" y="4177375"/>
              <a:ext cx="375900" cy="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3519" name="Google Shape;3519;p109"/>
            <p:cNvSpPr/>
            <p:nvPr/>
          </p:nvSpPr>
          <p:spPr>
            <a:xfrm flipH="1">
              <a:off x="432175" y="3745075"/>
              <a:ext cx="432300" cy="432300"/>
            </a:xfrm>
            <a:prstGeom prst="arc">
              <a:avLst>
                <a:gd fmla="val 16200000" name="adj1"/>
                <a:gd fmla="val 5392788" name="adj2"/>
              </a:avLst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3521" name="Google Shape;3521;p109"/>
            <p:cNvCxnSpPr>
              <a:stCxn id="3517" idx="2"/>
              <a:endCxn id="3507" idx="6"/>
            </p:cNvCxnSpPr>
            <p:nvPr/>
          </p:nvCxnSpPr>
          <p:spPr>
            <a:xfrm rot="10800000">
              <a:off x="8122778" y="4177375"/>
              <a:ext cx="375900" cy="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25" name="Shape 3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6" name="Google Shape;3526;p110"/>
          <p:cNvSpPr txBox="1"/>
          <p:nvPr>
            <p:ph idx="1" type="body"/>
          </p:nvPr>
        </p:nvSpPr>
        <p:spPr>
          <a:xfrm>
            <a:off x="107050" y="402200"/>
            <a:ext cx="8909700" cy="62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2. Send the overall sum to the left.</a:t>
            </a:r>
            <a:endParaRPr/>
          </a:p>
        </p:txBody>
      </p:sp>
      <p:sp>
        <p:nvSpPr>
          <p:cNvPr id="3527" name="Google Shape;3527;p110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Ring-Based AllReduce (Optimized)</a:t>
            </a:r>
            <a:endParaRPr/>
          </a:p>
        </p:txBody>
      </p:sp>
      <p:sp>
        <p:nvSpPr>
          <p:cNvPr id="3528" name="Google Shape;3528;p110"/>
          <p:cNvSpPr/>
          <p:nvPr/>
        </p:nvSpPr>
        <p:spPr>
          <a:xfrm>
            <a:off x="2211012" y="2011963"/>
            <a:ext cx="13755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529" name="Google Shape;3529;p110"/>
          <p:cNvSpPr/>
          <p:nvPr/>
        </p:nvSpPr>
        <p:spPr>
          <a:xfrm>
            <a:off x="527662" y="4450375"/>
            <a:ext cx="13755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530" name="Google Shape;3530;p110"/>
          <p:cNvSpPr/>
          <p:nvPr/>
        </p:nvSpPr>
        <p:spPr>
          <a:xfrm>
            <a:off x="3884262" y="2621575"/>
            <a:ext cx="13755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531" name="Google Shape;3531;p110"/>
          <p:cNvSpPr/>
          <p:nvPr/>
        </p:nvSpPr>
        <p:spPr>
          <a:xfrm>
            <a:off x="5564425" y="3231175"/>
            <a:ext cx="13755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532" name="Google Shape;3532;p110"/>
          <p:cNvSpPr/>
          <p:nvPr/>
        </p:nvSpPr>
        <p:spPr>
          <a:xfrm>
            <a:off x="7235775" y="3840775"/>
            <a:ext cx="13755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533" name="Google Shape;3533;p110"/>
          <p:cNvSpPr/>
          <p:nvPr/>
        </p:nvSpPr>
        <p:spPr>
          <a:xfrm>
            <a:off x="7235787" y="4450375"/>
            <a:ext cx="13755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534" name="Google Shape;3534;p110"/>
          <p:cNvSpPr/>
          <p:nvPr/>
        </p:nvSpPr>
        <p:spPr>
          <a:xfrm>
            <a:off x="5564425" y="3840775"/>
            <a:ext cx="13755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535" name="Google Shape;3535;p110"/>
          <p:cNvSpPr/>
          <p:nvPr/>
        </p:nvSpPr>
        <p:spPr>
          <a:xfrm>
            <a:off x="3884250" y="3231175"/>
            <a:ext cx="13755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536" name="Google Shape;3536;p110"/>
          <p:cNvSpPr/>
          <p:nvPr/>
        </p:nvSpPr>
        <p:spPr>
          <a:xfrm>
            <a:off x="2211012" y="2621575"/>
            <a:ext cx="13755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537" name="Google Shape;3537;p110"/>
          <p:cNvSpPr/>
          <p:nvPr/>
        </p:nvSpPr>
        <p:spPr>
          <a:xfrm>
            <a:off x="527662" y="2011963"/>
            <a:ext cx="13755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3538" name="Google Shape;3538;p110"/>
          <p:cNvCxnSpPr/>
          <p:nvPr/>
        </p:nvCxnSpPr>
        <p:spPr>
          <a:xfrm rot="10800000">
            <a:off x="2285250" y="2545375"/>
            <a:ext cx="1227000" cy="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539" name="Google Shape;3539;p110"/>
          <p:cNvCxnSpPr/>
          <p:nvPr/>
        </p:nvCxnSpPr>
        <p:spPr>
          <a:xfrm rot="10800000">
            <a:off x="601900" y="1935775"/>
            <a:ext cx="1227000" cy="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540" name="Google Shape;3540;p110"/>
          <p:cNvCxnSpPr/>
          <p:nvPr/>
        </p:nvCxnSpPr>
        <p:spPr>
          <a:xfrm rot="10800000">
            <a:off x="5641837" y="3764575"/>
            <a:ext cx="1227000" cy="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541" name="Google Shape;3541;p110"/>
          <p:cNvCxnSpPr/>
          <p:nvPr/>
        </p:nvCxnSpPr>
        <p:spPr>
          <a:xfrm rot="10800000">
            <a:off x="3958487" y="3154975"/>
            <a:ext cx="1227000" cy="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542" name="Google Shape;3542;p110"/>
          <p:cNvCxnSpPr/>
          <p:nvPr/>
        </p:nvCxnSpPr>
        <p:spPr>
          <a:xfrm rot="10800000">
            <a:off x="7315087" y="4374175"/>
            <a:ext cx="1227000" cy="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543" name="Google Shape;3543;p110"/>
          <p:cNvSpPr/>
          <p:nvPr/>
        </p:nvSpPr>
        <p:spPr>
          <a:xfrm>
            <a:off x="7729268" y="1389775"/>
            <a:ext cx="393600" cy="393600"/>
          </a:xfrm>
          <a:prstGeom prst="ellipse">
            <a:avLst/>
          </a:prstGeom>
          <a:solidFill>
            <a:srgbClr val="D9D2E9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5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44" name="Google Shape;3544;p110"/>
          <p:cNvSpPr/>
          <p:nvPr/>
        </p:nvSpPr>
        <p:spPr>
          <a:xfrm>
            <a:off x="6052868" y="1389775"/>
            <a:ext cx="393600" cy="393600"/>
          </a:xfrm>
          <a:prstGeom prst="ellipse">
            <a:avLst/>
          </a:prstGeom>
          <a:solidFill>
            <a:srgbClr val="D9EAD3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4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45" name="Google Shape;3545;p110"/>
          <p:cNvSpPr/>
          <p:nvPr/>
        </p:nvSpPr>
        <p:spPr>
          <a:xfrm>
            <a:off x="4376468" y="1389775"/>
            <a:ext cx="393600" cy="393600"/>
          </a:xfrm>
          <a:prstGeom prst="ellipse">
            <a:avLst/>
          </a:prstGeom>
          <a:solidFill>
            <a:srgbClr val="F4CCCC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3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46" name="Google Shape;3546;p110"/>
          <p:cNvSpPr/>
          <p:nvPr/>
        </p:nvSpPr>
        <p:spPr>
          <a:xfrm>
            <a:off x="1023668" y="1389775"/>
            <a:ext cx="393600" cy="393600"/>
          </a:xfrm>
          <a:prstGeom prst="ellipse">
            <a:avLst/>
          </a:prstGeom>
          <a:solidFill>
            <a:srgbClr val="FCE5CD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1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47" name="Google Shape;3547;p110"/>
          <p:cNvSpPr/>
          <p:nvPr/>
        </p:nvSpPr>
        <p:spPr>
          <a:xfrm>
            <a:off x="2700068" y="1389775"/>
            <a:ext cx="393600" cy="3936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2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548" name="Google Shape;3548;p110"/>
          <p:cNvCxnSpPr>
            <a:stCxn id="3547" idx="2"/>
            <a:endCxn id="3546" idx="6"/>
          </p:cNvCxnSpPr>
          <p:nvPr/>
        </p:nvCxnSpPr>
        <p:spPr>
          <a:xfrm rot="10800000">
            <a:off x="1417268" y="1586575"/>
            <a:ext cx="12828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49" name="Google Shape;3549;p110"/>
          <p:cNvCxnSpPr>
            <a:stCxn id="3545" idx="2"/>
            <a:endCxn id="3547" idx="6"/>
          </p:cNvCxnSpPr>
          <p:nvPr/>
        </p:nvCxnSpPr>
        <p:spPr>
          <a:xfrm rot="10800000">
            <a:off x="3093668" y="1586575"/>
            <a:ext cx="12828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50" name="Google Shape;3550;p110"/>
          <p:cNvCxnSpPr>
            <a:stCxn id="3544" idx="2"/>
            <a:endCxn id="3545" idx="6"/>
          </p:cNvCxnSpPr>
          <p:nvPr/>
        </p:nvCxnSpPr>
        <p:spPr>
          <a:xfrm rot="10800000">
            <a:off x="4770068" y="1586575"/>
            <a:ext cx="12828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51" name="Google Shape;3551;p110"/>
          <p:cNvCxnSpPr>
            <a:stCxn id="3543" idx="2"/>
            <a:endCxn id="3544" idx="6"/>
          </p:cNvCxnSpPr>
          <p:nvPr/>
        </p:nvCxnSpPr>
        <p:spPr>
          <a:xfrm rot="10800000">
            <a:off x="6446468" y="1586575"/>
            <a:ext cx="12828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3552" name="Google Shape;3552;p110"/>
          <p:cNvGrpSpPr/>
          <p:nvPr/>
        </p:nvGrpSpPr>
        <p:grpSpPr>
          <a:xfrm>
            <a:off x="432175" y="1154275"/>
            <a:ext cx="8282200" cy="432300"/>
            <a:chOff x="432175" y="3745075"/>
            <a:chExt cx="8282200" cy="432300"/>
          </a:xfrm>
        </p:grpSpPr>
        <p:sp>
          <p:nvSpPr>
            <p:cNvPr id="3553" name="Google Shape;3553;p110"/>
            <p:cNvSpPr/>
            <p:nvPr/>
          </p:nvSpPr>
          <p:spPr>
            <a:xfrm>
              <a:off x="8282075" y="3745075"/>
              <a:ext cx="432300" cy="432300"/>
            </a:xfrm>
            <a:prstGeom prst="arc">
              <a:avLst>
                <a:gd fmla="val 16200000" name="adj1"/>
                <a:gd fmla="val 5392788" name="adj2"/>
              </a:avLst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3554" name="Google Shape;3554;p110"/>
            <p:cNvCxnSpPr>
              <a:stCxn id="3553" idx="0"/>
              <a:endCxn id="3555" idx="0"/>
            </p:cNvCxnSpPr>
            <p:nvPr/>
          </p:nvCxnSpPr>
          <p:spPr>
            <a:xfrm rot="10800000">
              <a:off x="648425" y="3745075"/>
              <a:ext cx="7849800" cy="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556" name="Google Shape;3556;p110"/>
            <p:cNvCxnSpPr>
              <a:stCxn id="3546" idx="2"/>
              <a:endCxn id="3555" idx="2"/>
            </p:cNvCxnSpPr>
            <p:nvPr/>
          </p:nvCxnSpPr>
          <p:spPr>
            <a:xfrm rot="10800000">
              <a:off x="647768" y="4177375"/>
              <a:ext cx="375900" cy="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3555" name="Google Shape;3555;p110"/>
            <p:cNvSpPr/>
            <p:nvPr/>
          </p:nvSpPr>
          <p:spPr>
            <a:xfrm flipH="1">
              <a:off x="432175" y="3745075"/>
              <a:ext cx="432300" cy="432300"/>
            </a:xfrm>
            <a:prstGeom prst="arc">
              <a:avLst>
                <a:gd fmla="val 16200000" name="adj1"/>
                <a:gd fmla="val 5392788" name="adj2"/>
              </a:avLst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3557" name="Google Shape;3557;p110"/>
            <p:cNvCxnSpPr>
              <a:stCxn id="3553" idx="2"/>
              <a:endCxn id="3543" idx="6"/>
            </p:cNvCxnSpPr>
            <p:nvPr/>
          </p:nvCxnSpPr>
          <p:spPr>
            <a:xfrm rot="10800000">
              <a:off x="8122778" y="4177375"/>
              <a:ext cx="375900" cy="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61" name="Shape 3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2" name="Google Shape;3562;p111"/>
          <p:cNvSpPr txBox="1"/>
          <p:nvPr>
            <p:ph idx="1" type="body"/>
          </p:nvPr>
        </p:nvSpPr>
        <p:spPr>
          <a:xfrm>
            <a:off x="107050" y="402200"/>
            <a:ext cx="8909700" cy="62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2. Send the overall sum to the left.</a:t>
            </a:r>
            <a:endParaRPr/>
          </a:p>
        </p:txBody>
      </p:sp>
      <p:sp>
        <p:nvSpPr>
          <p:cNvPr id="3563" name="Google Shape;3563;p111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Ring-Based AllReduce (Optimized)</a:t>
            </a:r>
            <a:endParaRPr/>
          </a:p>
        </p:txBody>
      </p:sp>
      <p:sp>
        <p:nvSpPr>
          <p:cNvPr id="3564" name="Google Shape;3564;p111"/>
          <p:cNvSpPr/>
          <p:nvPr/>
        </p:nvSpPr>
        <p:spPr>
          <a:xfrm>
            <a:off x="2211012" y="2011963"/>
            <a:ext cx="13755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565" name="Google Shape;3565;p111"/>
          <p:cNvSpPr/>
          <p:nvPr/>
        </p:nvSpPr>
        <p:spPr>
          <a:xfrm>
            <a:off x="527662" y="4450375"/>
            <a:ext cx="13755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566" name="Google Shape;3566;p111"/>
          <p:cNvSpPr/>
          <p:nvPr/>
        </p:nvSpPr>
        <p:spPr>
          <a:xfrm>
            <a:off x="3884262" y="2621575"/>
            <a:ext cx="13755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567" name="Google Shape;3567;p111"/>
          <p:cNvSpPr/>
          <p:nvPr/>
        </p:nvSpPr>
        <p:spPr>
          <a:xfrm>
            <a:off x="5564425" y="3231175"/>
            <a:ext cx="13755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568" name="Google Shape;3568;p111"/>
          <p:cNvSpPr/>
          <p:nvPr/>
        </p:nvSpPr>
        <p:spPr>
          <a:xfrm>
            <a:off x="7235775" y="3840775"/>
            <a:ext cx="13755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569" name="Google Shape;3569;p111"/>
          <p:cNvSpPr/>
          <p:nvPr/>
        </p:nvSpPr>
        <p:spPr>
          <a:xfrm>
            <a:off x="7235787" y="4450375"/>
            <a:ext cx="13755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570" name="Google Shape;3570;p111"/>
          <p:cNvSpPr/>
          <p:nvPr/>
        </p:nvSpPr>
        <p:spPr>
          <a:xfrm>
            <a:off x="5564425" y="3840775"/>
            <a:ext cx="13755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571" name="Google Shape;3571;p111"/>
          <p:cNvSpPr/>
          <p:nvPr/>
        </p:nvSpPr>
        <p:spPr>
          <a:xfrm>
            <a:off x="3884250" y="3231175"/>
            <a:ext cx="13755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572" name="Google Shape;3572;p111"/>
          <p:cNvSpPr/>
          <p:nvPr/>
        </p:nvSpPr>
        <p:spPr>
          <a:xfrm>
            <a:off x="2211012" y="2621575"/>
            <a:ext cx="13755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573" name="Google Shape;3573;p111"/>
          <p:cNvSpPr/>
          <p:nvPr/>
        </p:nvSpPr>
        <p:spPr>
          <a:xfrm>
            <a:off x="527662" y="2613025"/>
            <a:ext cx="13755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574" name="Google Shape;3574;p111"/>
          <p:cNvSpPr/>
          <p:nvPr/>
        </p:nvSpPr>
        <p:spPr>
          <a:xfrm>
            <a:off x="527662" y="2011963"/>
            <a:ext cx="13755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575" name="Google Shape;3575;p111"/>
          <p:cNvSpPr/>
          <p:nvPr/>
        </p:nvSpPr>
        <p:spPr>
          <a:xfrm>
            <a:off x="2211000" y="3231175"/>
            <a:ext cx="13755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576" name="Google Shape;3576;p111"/>
          <p:cNvSpPr/>
          <p:nvPr/>
        </p:nvSpPr>
        <p:spPr>
          <a:xfrm>
            <a:off x="3884250" y="3840775"/>
            <a:ext cx="13755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577" name="Google Shape;3577;p111"/>
          <p:cNvSpPr/>
          <p:nvPr/>
        </p:nvSpPr>
        <p:spPr>
          <a:xfrm>
            <a:off x="5564437" y="4450375"/>
            <a:ext cx="13755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578" name="Google Shape;3578;p111"/>
          <p:cNvSpPr/>
          <p:nvPr/>
        </p:nvSpPr>
        <p:spPr>
          <a:xfrm>
            <a:off x="7240837" y="2011975"/>
            <a:ext cx="13755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3579" name="Google Shape;3579;p111"/>
          <p:cNvCxnSpPr/>
          <p:nvPr/>
        </p:nvCxnSpPr>
        <p:spPr>
          <a:xfrm rot="10800000">
            <a:off x="2285250" y="3154975"/>
            <a:ext cx="1227000" cy="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580" name="Google Shape;3580;p111"/>
          <p:cNvCxnSpPr/>
          <p:nvPr/>
        </p:nvCxnSpPr>
        <p:spPr>
          <a:xfrm rot="10800000">
            <a:off x="601900" y="2545375"/>
            <a:ext cx="1227000" cy="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581" name="Google Shape;3581;p111"/>
          <p:cNvCxnSpPr/>
          <p:nvPr/>
        </p:nvCxnSpPr>
        <p:spPr>
          <a:xfrm rot="10800000">
            <a:off x="5641837" y="4374175"/>
            <a:ext cx="1227000" cy="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582" name="Google Shape;3582;p111"/>
          <p:cNvCxnSpPr/>
          <p:nvPr/>
        </p:nvCxnSpPr>
        <p:spPr>
          <a:xfrm rot="10800000">
            <a:off x="3958487" y="3764575"/>
            <a:ext cx="1227000" cy="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583" name="Google Shape;3583;p111"/>
          <p:cNvCxnSpPr/>
          <p:nvPr/>
        </p:nvCxnSpPr>
        <p:spPr>
          <a:xfrm rot="10800000">
            <a:off x="7315087" y="1935775"/>
            <a:ext cx="1227000" cy="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584" name="Google Shape;3584;p111"/>
          <p:cNvSpPr/>
          <p:nvPr/>
        </p:nvSpPr>
        <p:spPr>
          <a:xfrm>
            <a:off x="7729268" y="1389775"/>
            <a:ext cx="393600" cy="393600"/>
          </a:xfrm>
          <a:prstGeom prst="ellipse">
            <a:avLst/>
          </a:prstGeom>
          <a:solidFill>
            <a:srgbClr val="D9D2E9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5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85" name="Google Shape;3585;p111"/>
          <p:cNvSpPr/>
          <p:nvPr/>
        </p:nvSpPr>
        <p:spPr>
          <a:xfrm>
            <a:off x="6052868" y="1389775"/>
            <a:ext cx="393600" cy="393600"/>
          </a:xfrm>
          <a:prstGeom prst="ellipse">
            <a:avLst/>
          </a:prstGeom>
          <a:solidFill>
            <a:srgbClr val="D9EAD3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4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86" name="Google Shape;3586;p111"/>
          <p:cNvSpPr/>
          <p:nvPr/>
        </p:nvSpPr>
        <p:spPr>
          <a:xfrm>
            <a:off x="4376468" y="1389775"/>
            <a:ext cx="393600" cy="393600"/>
          </a:xfrm>
          <a:prstGeom prst="ellipse">
            <a:avLst/>
          </a:prstGeom>
          <a:solidFill>
            <a:srgbClr val="F4CCCC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3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87" name="Google Shape;3587;p111"/>
          <p:cNvSpPr/>
          <p:nvPr/>
        </p:nvSpPr>
        <p:spPr>
          <a:xfrm>
            <a:off x="1023668" y="1389775"/>
            <a:ext cx="393600" cy="393600"/>
          </a:xfrm>
          <a:prstGeom prst="ellipse">
            <a:avLst/>
          </a:prstGeom>
          <a:solidFill>
            <a:srgbClr val="FCE5CD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1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88" name="Google Shape;3588;p111"/>
          <p:cNvSpPr/>
          <p:nvPr/>
        </p:nvSpPr>
        <p:spPr>
          <a:xfrm>
            <a:off x="2700068" y="1389775"/>
            <a:ext cx="393600" cy="3936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2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589" name="Google Shape;3589;p111"/>
          <p:cNvCxnSpPr>
            <a:stCxn id="3588" idx="2"/>
            <a:endCxn id="3587" idx="6"/>
          </p:cNvCxnSpPr>
          <p:nvPr/>
        </p:nvCxnSpPr>
        <p:spPr>
          <a:xfrm rot="10800000">
            <a:off x="1417268" y="1586575"/>
            <a:ext cx="12828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90" name="Google Shape;3590;p111"/>
          <p:cNvCxnSpPr>
            <a:stCxn id="3586" idx="2"/>
            <a:endCxn id="3588" idx="6"/>
          </p:cNvCxnSpPr>
          <p:nvPr/>
        </p:nvCxnSpPr>
        <p:spPr>
          <a:xfrm rot="10800000">
            <a:off x="3093668" y="1586575"/>
            <a:ext cx="12828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91" name="Google Shape;3591;p111"/>
          <p:cNvCxnSpPr>
            <a:stCxn id="3585" idx="2"/>
            <a:endCxn id="3586" idx="6"/>
          </p:cNvCxnSpPr>
          <p:nvPr/>
        </p:nvCxnSpPr>
        <p:spPr>
          <a:xfrm rot="10800000">
            <a:off x="4770068" y="1586575"/>
            <a:ext cx="12828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92" name="Google Shape;3592;p111"/>
          <p:cNvCxnSpPr>
            <a:stCxn id="3584" idx="2"/>
            <a:endCxn id="3585" idx="6"/>
          </p:cNvCxnSpPr>
          <p:nvPr/>
        </p:nvCxnSpPr>
        <p:spPr>
          <a:xfrm rot="10800000">
            <a:off x="6446468" y="1586575"/>
            <a:ext cx="12828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3593" name="Google Shape;3593;p111"/>
          <p:cNvGrpSpPr/>
          <p:nvPr/>
        </p:nvGrpSpPr>
        <p:grpSpPr>
          <a:xfrm>
            <a:off x="432175" y="1154275"/>
            <a:ext cx="8282200" cy="432300"/>
            <a:chOff x="432175" y="3745075"/>
            <a:chExt cx="8282200" cy="432300"/>
          </a:xfrm>
        </p:grpSpPr>
        <p:sp>
          <p:nvSpPr>
            <p:cNvPr id="3594" name="Google Shape;3594;p111"/>
            <p:cNvSpPr/>
            <p:nvPr/>
          </p:nvSpPr>
          <p:spPr>
            <a:xfrm>
              <a:off x="8282075" y="3745075"/>
              <a:ext cx="432300" cy="432300"/>
            </a:xfrm>
            <a:prstGeom prst="arc">
              <a:avLst>
                <a:gd fmla="val 16200000" name="adj1"/>
                <a:gd fmla="val 5392788" name="adj2"/>
              </a:avLst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3595" name="Google Shape;3595;p111"/>
            <p:cNvCxnSpPr>
              <a:stCxn id="3594" idx="0"/>
              <a:endCxn id="3596" idx="0"/>
            </p:cNvCxnSpPr>
            <p:nvPr/>
          </p:nvCxnSpPr>
          <p:spPr>
            <a:xfrm rot="10800000">
              <a:off x="648425" y="3745075"/>
              <a:ext cx="7849800" cy="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597" name="Google Shape;3597;p111"/>
            <p:cNvCxnSpPr>
              <a:stCxn id="3587" idx="2"/>
              <a:endCxn id="3596" idx="2"/>
            </p:cNvCxnSpPr>
            <p:nvPr/>
          </p:nvCxnSpPr>
          <p:spPr>
            <a:xfrm rot="10800000">
              <a:off x="647768" y="4177375"/>
              <a:ext cx="375900" cy="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3596" name="Google Shape;3596;p111"/>
            <p:cNvSpPr/>
            <p:nvPr/>
          </p:nvSpPr>
          <p:spPr>
            <a:xfrm flipH="1">
              <a:off x="432175" y="3745075"/>
              <a:ext cx="432300" cy="432300"/>
            </a:xfrm>
            <a:prstGeom prst="arc">
              <a:avLst>
                <a:gd fmla="val 16200000" name="adj1"/>
                <a:gd fmla="val 5392788" name="adj2"/>
              </a:avLst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3598" name="Google Shape;3598;p111"/>
            <p:cNvCxnSpPr>
              <a:stCxn id="3594" idx="2"/>
              <a:endCxn id="3584" idx="6"/>
            </p:cNvCxnSpPr>
            <p:nvPr/>
          </p:nvCxnSpPr>
          <p:spPr>
            <a:xfrm rot="10800000">
              <a:off x="8122778" y="4177375"/>
              <a:ext cx="375900" cy="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02" name="Shape 3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3" name="Google Shape;3603;p112"/>
          <p:cNvSpPr txBox="1"/>
          <p:nvPr>
            <p:ph idx="1" type="body"/>
          </p:nvPr>
        </p:nvSpPr>
        <p:spPr>
          <a:xfrm>
            <a:off x="107050" y="402200"/>
            <a:ext cx="8909700" cy="62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2. Send the overall sum to the left.</a:t>
            </a:r>
            <a:endParaRPr/>
          </a:p>
        </p:txBody>
      </p:sp>
      <p:sp>
        <p:nvSpPr>
          <p:cNvPr id="3604" name="Google Shape;3604;p112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Ring-Based AllReduce (Optimized)</a:t>
            </a:r>
            <a:endParaRPr/>
          </a:p>
        </p:txBody>
      </p:sp>
      <p:sp>
        <p:nvSpPr>
          <p:cNvPr id="3605" name="Google Shape;3605;p112"/>
          <p:cNvSpPr/>
          <p:nvPr/>
        </p:nvSpPr>
        <p:spPr>
          <a:xfrm>
            <a:off x="2211012" y="2011963"/>
            <a:ext cx="13755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606" name="Google Shape;3606;p112"/>
          <p:cNvSpPr/>
          <p:nvPr/>
        </p:nvSpPr>
        <p:spPr>
          <a:xfrm>
            <a:off x="527662" y="4450375"/>
            <a:ext cx="13755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607" name="Google Shape;3607;p112"/>
          <p:cNvSpPr/>
          <p:nvPr/>
        </p:nvSpPr>
        <p:spPr>
          <a:xfrm>
            <a:off x="3884262" y="2621575"/>
            <a:ext cx="13755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608" name="Google Shape;3608;p112"/>
          <p:cNvSpPr/>
          <p:nvPr/>
        </p:nvSpPr>
        <p:spPr>
          <a:xfrm>
            <a:off x="5564425" y="3231175"/>
            <a:ext cx="13755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609" name="Google Shape;3609;p112"/>
          <p:cNvSpPr/>
          <p:nvPr/>
        </p:nvSpPr>
        <p:spPr>
          <a:xfrm>
            <a:off x="7235775" y="3840775"/>
            <a:ext cx="13755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610" name="Google Shape;3610;p112"/>
          <p:cNvSpPr/>
          <p:nvPr/>
        </p:nvSpPr>
        <p:spPr>
          <a:xfrm>
            <a:off x="7235787" y="4450375"/>
            <a:ext cx="13755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611" name="Google Shape;3611;p112"/>
          <p:cNvSpPr/>
          <p:nvPr/>
        </p:nvSpPr>
        <p:spPr>
          <a:xfrm>
            <a:off x="5564425" y="3840775"/>
            <a:ext cx="13755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612" name="Google Shape;3612;p112"/>
          <p:cNvSpPr/>
          <p:nvPr/>
        </p:nvSpPr>
        <p:spPr>
          <a:xfrm>
            <a:off x="3884250" y="3231175"/>
            <a:ext cx="13755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613" name="Google Shape;3613;p112"/>
          <p:cNvSpPr/>
          <p:nvPr/>
        </p:nvSpPr>
        <p:spPr>
          <a:xfrm>
            <a:off x="2211012" y="2621575"/>
            <a:ext cx="13755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614" name="Google Shape;3614;p112"/>
          <p:cNvSpPr/>
          <p:nvPr/>
        </p:nvSpPr>
        <p:spPr>
          <a:xfrm>
            <a:off x="527662" y="2613025"/>
            <a:ext cx="13755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615" name="Google Shape;3615;p112"/>
          <p:cNvSpPr/>
          <p:nvPr/>
        </p:nvSpPr>
        <p:spPr>
          <a:xfrm>
            <a:off x="527662" y="2011963"/>
            <a:ext cx="13755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616" name="Google Shape;3616;p112"/>
          <p:cNvSpPr/>
          <p:nvPr/>
        </p:nvSpPr>
        <p:spPr>
          <a:xfrm>
            <a:off x="2211000" y="3231175"/>
            <a:ext cx="13755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617" name="Google Shape;3617;p112"/>
          <p:cNvSpPr/>
          <p:nvPr/>
        </p:nvSpPr>
        <p:spPr>
          <a:xfrm>
            <a:off x="3884250" y="3840775"/>
            <a:ext cx="13755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618" name="Google Shape;3618;p112"/>
          <p:cNvSpPr/>
          <p:nvPr/>
        </p:nvSpPr>
        <p:spPr>
          <a:xfrm>
            <a:off x="5564437" y="4450375"/>
            <a:ext cx="13755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619" name="Google Shape;3619;p112"/>
          <p:cNvSpPr/>
          <p:nvPr/>
        </p:nvSpPr>
        <p:spPr>
          <a:xfrm>
            <a:off x="7240837" y="2011975"/>
            <a:ext cx="13755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3620" name="Google Shape;3620;p112"/>
          <p:cNvCxnSpPr/>
          <p:nvPr/>
        </p:nvCxnSpPr>
        <p:spPr>
          <a:xfrm rot="10800000">
            <a:off x="2285250" y="3764575"/>
            <a:ext cx="1227000" cy="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621" name="Google Shape;3621;p112"/>
          <p:cNvCxnSpPr/>
          <p:nvPr/>
        </p:nvCxnSpPr>
        <p:spPr>
          <a:xfrm rot="10800000">
            <a:off x="601900" y="3154975"/>
            <a:ext cx="1227000" cy="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622" name="Google Shape;3622;p112"/>
          <p:cNvCxnSpPr/>
          <p:nvPr/>
        </p:nvCxnSpPr>
        <p:spPr>
          <a:xfrm rot="10800000">
            <a:off x="5641837" y="1935775"/>
            <a:ext cx="1227000" cy="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623" name="Google Shape;3623;p112"/>
          <p:cNvCxnSpPr/>
          <p:nvPr/>
        </p:nvCxnSpPr>
        <p:spPr>
          <a:xfrm rot="10800000">
            <a:off x="3958487" y="4374175"/>
            <a:ext cx="1227000" cy="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624" name="Google Shape;3624;p112"/>
          <p:cNvCxnSpPr/>
          <p:nvPr/>
        </p:nvCxnSpPr>
        <p:spPr>
          <a:xfrm rot="10800000">
            <a:off x="7315087" y="2545375"/>
            <a:ext cx="1227000" cy="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625" name="Google Shape;3625;p112"/>
          <p:cNvSpPr/>
          <p:nvPr/>
        </p:nvSpPr>
        <p:spPr>
          <a:xfrm>
            <a:off x="527650" y="3231175"/>
            <a:ext cx="13755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626" name="Google Shape;3626;p112"/>
          <p:cNvSpPr/>
          <p:nvPr/>
        </p:nvSpPr>
        <p:spPr>
          <a:xfrm>
            <a:off x="2211000" y="3840775"/>
            <a:ext cx="13755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627" name="Google Shape;3627;p112"/>
          <p:cNvSpPr/>
          <p:nvPr/>
        </p:nvSpPr>
        <p:spPr>
          <a:xfrm>
            <a:off x="3881725" y="4450375"/>
            <a:ext cx="13755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628" name="Google Shape;3628;p112"/>
          <p:cNvSpPr/>
          <p:nvPr/>
        </p:nvSpPr>
        <p:spPr>
          <a:xfrm>
            <a:off x="5561937" y="2011975"/>
            <a:ext cx="13755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629" name="Google Shape;3629;p112"/>
          <p:cNvSpPr/>
          <p:nvPr/>
        </p:nvSpPr>
        <p:spPr>
          <a:xfrm>
            <a:off x="7235787" y="2621575"/>
            <a:ext cx="13755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630" name="Google Shape;3630;p112"/>
          <p:cNvSpPr/>
          <p:nvPr/>
        </p:nvSpPr>
        <p:spPr>
          <a:xfrm>
            <a:off x="7729268" y="1389775"/>
            <a:ext cx="393600" cy="393600"/>
          </a:xfrm>
          <a:prstGeom prst="ellipse">
            <a:avLst/>
          </a:prstGeom>
          <a:solidFill>
            <a:srgbClr val="D9D2E9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5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31" name="Google Shape;3631;p112"/>
          <p:cNvSpPr/>
          <p:nvPr/>
        </p:nvSpPr>
        <p:spPr>
          <a:xfrm>
            <a:off x="6052868" y="1389775"/>
            <a:ext cx="393600" cy="393600"/>
          </a:xfrm>
          <a:prstGeom prst="ellipse">
            <a:avLst/>
          </a:prstGeom>
          <a:solidFill>
            <a:srgbClr val="D9EAD3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4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32" name="Google Shape;3632;p112"/>
          <p:cNvSpPr/>
          <p:nvPr/>
        </p:nvSpPr>
        <p:spPr>
          <a:xfrm>
            <a:off x="4376468" y="1389775"/>
            <a:ext cx="393600" cy="393600"/>
          </a:xfrm>
          <a:prstGeom prst="ellipse">
            <a:avLst/>
          </a:prstGeom>
          <a:solidFill>
            <a:srgbClr val="F4CCCC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3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33" name="Google Shape;3633;p112"/>
          <p:cNvSpPr/>
          <p:nvPr/>
        </p:nvSpPr>
        <p:spPr>
          <a:xfrm>
            <a:off x="1023668" y="1389775"/>
            <a:ext cx="393600" cy="393600"/>
          </a:xfrm>
          <a:prstGeom prst="ellipse">
            <a:avLst/>
          </a:prstGeom>
          <a:solidFill>
            <a:srgbClr val="FCE5CD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1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34" name="Google Shape;3634;p112"/>
          <p:cNvSpPr/>
          <p:nvPr/>
        </p:nvSpPr>
        <p:spPr>
          <a:xfrm>
            <a:off x="2700068" y="1389775"/>
            <a:ext cx="393600" cy="3936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2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635" name="Google Shape;3635;p112"/>
          <p:cNvCxnSpPr>
            <a:stCxn id="3634" idx="2"/>
            <a:endCxn id="3633" idx="6"/>
          </p:cNvCxnSpPr>
          <p:nvPr/>
        </p:nvCxnSpPr>
        <p:spPr>
          <a:xfrm rot="10800000">
            <a:off x="1417268" y="1586575"/>
            <a:ext cx="12828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36" name="Google Shape;3636;p112"/>
          <p:cNvCxnSpPr>
            <a:stCxn id="3632" idx="2"/>
            <a:endCxn id="3634" idx="6"/>
          </p:cNvCxnSpPr>
          <p:nvPr/>
        </p:nvCxnSpPr>
        <p:spPr>
          <a:xfrm rot="10800000">
            <a:off x="3093668" y="1586575"/>
            <a:ext cx="12828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37" name="Google Shape;3637;p112"/>
          <p:cNvCxnSpPr>
            <a:stCxn id="3631" idx="2"/>
            <a:endCxn id="3632" idx="6"/>
          </p:cNvCxnSpPr>
          <p:nvPr/>
        </p:nvCxnSpPr>
        <p:spPr>
          <a:xfrm rot="10800000">
            <a:off x="4770068" y="1586575"/>
            <a:ext cx="12828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38" name="Google Shape;3638;p112"/>
          <p:cNvCxnSpPr>
            <a:stCxn id="3630" idx="2"/>
            <a:endCxn id="3631" idx="6"/>
          </p:cNvCxnSpPr>
          <p:nvPr/>
        </p:nvCxnSpPr>
        <p:spPr>
          <a:xfrm rot="10800000">
            <a:off x="6446468" y="1586575"/>
            <a:ext cx="12828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3639" name="Google Shape;3639;p112"/>
          <p:cNvGrpSpPr/>
          <p:nvPr/>
        </p:nvGrpSpPr>
        <p:grpSpPr>
          <a:xfrm>
            <a:off x="432175" y="1154275"/>
            <a:ext cx="8282200" cy="432300"/>
            <a:chOff x="432175" y="3745075"/>
            <a:chExt cx="8282200" cy="432300"/>
          </a:xfrm>
        </p:grpSpPr>
        <p:sp>
          <p:nvSpPr>
            <p:cNvPr id="3640" name="Google Shape;3640;p112"/>
            <p:cNvSpPr/>
            <p:nvPr/>
          </p:nvSpPr>
          <p:spPr>
            <a:xfrm>
              <a:off x="8282075" y="3745075"/>
              <a:ext cx="432300" cy="432300"/>
            </a:xfrm>
            <a:prstGeom prst="arc">
              <a:avLst>
                <a:gd fmla="val 16200000" name="adj1"/>
                <a:gd fmla="val 5392788" name="adj2"/>
              </a:avLst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3641" name="Google Shape;3641;p112"/>
            <p:cNvCxnSpPr>
              <a:stCxn id="3640" idx="0"/>
              <a:endCxn id="3642" idx="0"/>
            </p:cNvCxnSpPr>
            <p:nvPr/>
          </p:nvCxnSpPr>
          <p:spPr>
            <a:xfrm rot="10800000">
              <a:off x="648425" y="3745075"/>
              <a:ext cx="7849800" cy="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643" name="Google Shape;3643;p112"/>
            <p:cNvCxnSpPr>
              <a:stCxn id="3633" idx="2"/>
              <a:endCxn id="3642" idx="2"/>
            </p:cNvCxnSpPr>
            <p:nvPr/>
          </p:nvCxnSpPr>
          <p:spPr>
            <a:xfrm rot="10800000">
              <a:off x="647768" y="4177375"/>
              <a:ext cx="375900" cy="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3642" name="Google Shape;3642;p112"/>
            <p:cNvSpPr/>
            <p:nvPr/>
          </p:nvSpPr>
          <p:spPr>
            <a:xfrm flipH="1">
              <a:off x="432175" y="3745075"/>
              <a:ext cx="432300" cy="432300"/>
            </a:xfrm>
            <a:prstGeom prst="arc">
              <a:avLst>
                <a:gd fmla="val 16200000" name="adj1"/>
                <a:gd fmla="val 5392788" name="adj2"/>
              </a:avLst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3644" name="Google Shape;3644;p112"/>
            <p:cNvCxnSpPr>
              <a:stCxn id="3640" idx="2"/>
              <a:endCxn id="3630" idx="6"/>
            </p:cNvCxnSpPr>
            <p:nvPr/>
          </p:nvCxnSpPr>
          <p:spPr>
            <a:xfrm rot="10800000">
              <a:off x="8122778" y="4177375"/>
              <a:ext cx="375900" cy="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48" name="Shape 3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9" name="Google Shape;3649;p113"/>
          <p:cNvSpPr txBox="1"/>
          <p:nvPr>
            <p:ph idx="1" type="body"/>
          </p:nvPr>
        </p:nvSpPr>
        <p:spPr>
          <a:xfrm>
            <a:off x="107050" y="402200"/>
            <a:ext cx="8909700" cy="62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2. Send the overall sum to the left.</a:t>
            </a:r>
            <a:endParaRPr/>
          </a:p>
        </p:txBody>
      </p:sp>
      <p:sp>
        <p:nvSpPr>
          <p:cNvPr id="3650" name="Google Shape;3650;p113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Ring-Based AllReduce (Optimized)</a:t>
            </a:r>
            <a:endParaRPr/>
          </a:p>
        </p:txBody>
      </p:sp>
      <p:sp>
        <p:nvSpPr>
          <p:cNvPr id="3651" name="Google Shape;3651;p113"/>
          <p:cNvSpPr/>
          <p:nvPr/>
        </p:nvSpPr>
        <p:spPr>
          <a:xfrm>
            <a:off x="2211012" y="2011963"/>
            <a:ext cx="13755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652" name="Google Shape;3652;p113"/>
          <p:cNvSpPr/>
          <p:nvPr/>
        </p:nvSpPr>
        <p:spPr>
          <a:xfrm>
            <a:off x="527662" y="4450375"/>
            <a:ext cx="13755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653" name="Google Shape;3653;p113"/>
          <p:cNvSpPr/>
          <p:nvPr/>
        </p:nvSpPr>
        <p:spPr>
          <a:xfrm>
            <a:off x="3884262" y="2621575"/>
            <a:ext cx="13755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654" name="Google Shape;3654;p113"/>
          <p:cNvSpPr/>
          <p:nvPr/>
        </p:nvSpPr>
        <p:spPr>
          <a:xfrm>
            <a:off x="5564425" y="3231175"/>
            <a:ext cx="13755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655" name="Google Shape;3655;p113"/>
          <p:cNvSpPr/>
          <p:nvPr/>
        </p:nvSpPr>
        <p:spPr>
          <a:xfrm>
            <a:off x="7235775" y="3840775"/>
            <a:ext cx="13755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656" name="Google Shape;3656;p113"/>
          <p:cNvSpPr/>
          <p:nvPr/>
        </p:nvSpPr>
        <p:spPr>
          <a:xfrm>
            <a:off x="7235787" y="4450375"/>
            <a:ext cx="13755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657" name="Google Shape;3657;p113"/>
          <p:cNvSpPr/>
          <p:nvPr/>
        </p:nvSpPr>
        <p:spPr>
          <a:xfrm>
            <a:off x="5564425" y="3840775"/>
            <a:ext cx="13755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658" name="Google Shape;3658;p113"/>
          <p:cNvSpPr/>
          <p:nvPr/>
        </p:nvSpPr>
        <p:spPr>
          <a:xfrm>
            <a:off x="3884250" y="3231175"/>
            <a:ext cx="13755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659" name="Google Shape;3659;p113"/>
          <p:cNvSpPr/>
          <p:nvPr/>
        </p:nvSpPr>
        <p:spPr>
          <a:xfrm>
            <a:off x="2211012" y="2621575"/>
            <a:ext cx="13755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660" name="Google Shape;3660;p113"/>
          <p:cNvSpPr/>
          <p:nvPr/>
        </p:nvSpPr>
        <p:spPr>
          <a:xfrm>
            <a:off x="527662" y="2613025"/>
            <a:ext cx="13755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661" name="Google Shape;3661;p113"/>
          <p:cNvSpPr/>
          <p:nvPr/>
        </p:nvSpPr>
        <p:spPr>
          <a:xfrm>
            <a:off x="527662" y="2011963"/>
            <a:ext cx="13755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662" name="Google Shape;3662;p113"/>
          <p:cNvSpPr/>
          <p:nvPr/>
        </p:nvSpPr>
        <p:spPr>
          <a:xfrm>
            <a:off x="2211000" y="3231175"/>
            <a:ext cx="13755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663" name="Google Shape;3663;p113"/>
          <p:cNvSpPr/>
          <p:nvPr/>
        </p:nvSpPr>
        <p:spPr>
          <a:xfrm>
            <a:off x="3884250" y="3840775"/>
            <a:ext cx="13755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664" name="Google Shape;3664;p113"/>
          <p:cNvSpPr/>
          <p:nvPr/>
        </p:nvSpPr>
        <p:spPr>
          <a:xfrm>
            <a:off x="5564437" y="4450375"/>
            <a:ext cx="13755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665" name="Google Shape;3665;p113"/>
          <p:cNvSpPr/>
          <p:nvPr/>
        </p:nvSpPr>
        <p:spPr>
          <a:xfrm>
            <a:off x="7240837" y="2011975"/>
            <a:ext cx="13755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666" name="Google Shape;3666;p113"/>
          <p:cNvSpPr/>
          <p:nvPr/>
        </p:nvSpPr>
        <p:spPr>
          <a:xfrm>
            <a:off x="527650" y="3231175"/>
            <a:ext cx="13755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667" name="Google Shape;3667;p113"/>
          <p:cNvSpPr/>
          <p:nvPr/>
        </p:nvSpPr>
        <p:spPr>
          <a:xfrm>
            <a:off x="2211000" y="3840775"/>
            <a:ext cx="13755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668" name="Google Shape;3668;p113"/>
          <p:cNvSpPr/>
          <p:nvPr/>
        </p:nvSpPr>
        <p:spPr>
          <a:xfrm>
            <a:off x="3881725" y="4450375"/>
            <a:ext cx="13755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669" name="Google Shape;3669;p113"/>
          <p:cNvSpPr/>
          <p:nvPr/>
        </p:nvSpPr>
        <p:spPr>
          <a:xfrm>
            <a:off x="5561937" y="2011975"/>
            <a:ext cx="13755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670" name="Google Shape;3670;p113"/>
          <p:cNvSpPr/>
          <p:nvPr/>
        </p:nvSpPr>
        <p:spPr>
          <a:xfrm>
            <a:off x="7235787" y="2621575"/>
            <a:ext cx="13755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671" name="Google Shape;3671;p113"/>
          <p:cNvSpPr/>
          <p:nvPr/>
        </p:nvSpPr>
        <p:spPr>
          <a:xfrm>
            <a:off x="527650" y="3840775"/>
            <a:ext cx="13755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672" name="Google Shape;3672;p113"/>
          <p:cNvSpPr/>
          <p:nvPr/>
        </p:nvSpPr>
        <p:spPr>
          <a:xfrm>
            <a:off x="2211000" y="4450375"/>
            <a:ext cx="13755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673" name="Google Shape;3673;p113"/>
          <p:cNvSpPr/>
          <p:nvPr/>
        </p:nvSpPr>
        <p:spPr>
          <a:xfrm>
            <a:off x="5561937" y="2621575"/>
            <a:ext cx="13755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674" name="Google Shape;3674;p113"/>
          <p:cNvSpPr/>
          <p:nvPr/>
        </p:nvSpPr>
        <p:spPr>
          <a:xfrm>
            <a:off x="7235787" y="3231175"/>
            <a:ext cx="13755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675" name="Google Shape;3675;p113"/>
          <p:cNvSpPr/>
          <p:nvPr/>
        </p:nvSpPr>
        <p:spPr>
          <a:xfrm>
            <a:off x="3884262" y="2011975"/>
            <a:ext cx="13755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676" name="Google Shape;3676;p113"/>
          <p:cNvSpPr/>
          <p:nvPr/>
        </p:nvSpPr>
        <p:spPr>
          <a:xfrm>
            <a:off x="7729268" y="1389775"/>
            <a:ext cx="393600" cy="393600"/>
          </a:xfrm>
          <a:prstGeom prst="ellipse">
            <a:avLst/>
          </a:prstGeom>
          <a:solidFill>
            <a:srgbClr val="D9D2E9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5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77" name="Google Shape;3677;p113"/>
          <p:cNvSpPr/>
          <p:nvPr/>
        </p:nvSpPr>
        <p:spPr>
          <a:xfrm>
            <a:off x="6052868" y="1389775"/>
            <a:ext cx="393600" cy="393600"/>
          </a:xfrm>
          <a:prstGeom prst="ellipse">
            <a:avLst/>
          </a:prstGeom>
          <a:solidFill>
            <a:srgbClr val="D9EAD3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4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78" name="Google Shape;3678;p113"/>
          <p:cNvSpPr/>
          <p:nvPr/>
        </p:nvSpPr>
        <p:spPr>
          <a:xfrm>
            <a:off x="4376468" y="1389775"/>
            <a:ext cx="393600" cy="393600"/>
          </a:xfrm>
          <a:prstGeom prst="ellipse">
            <a:avLst/>
          </a:prstGeom>
          <a:solidFill>
            <a:srgbClr val="F4CCCC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3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79" name="Google Shape;3679;p113"/>
          <p:cNvSpPr/>
          <p:nvPr/>
        </p:nvSpPr>
        <p:spPr>
          <a:xfrm>
            <a:off x="1023668" y="1389775"/>
            <a:ext cx="393600" cy="393600"/>
          </a:xfrm>
          <a:prstGeom prst="ellipse">
            <a:avLst/>
          </a:prstGeom>
          <a:solidFill>
            <a:srgbClr val="FCE5CD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1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80" name="Google Shape;3680;p113"/>
          <p:cNvSpPr/>
          <p:nvPr/>
        </p:nvSpPr>
        <p:spPr>
          <a:xfrm>
            <a:off x="2700068" y="1389775"/>
            <a:ext cx="393600" cy="3936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2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681" name="Google Shape;3681;p113"/>
          <p:cNvCxnSpPr>
            <a:stCxn id="3680" idx="2"/>
            <a:endCxn id="3679" idx="6"/>
          </p:cNvCxnSpPr>
          <p:nvPr/>
        </p:nvCxnSpPr>
        <p:spPr>
          <a:xfrm rot="10800000">
            <a:off x="1417268" y="1586575"/>
            <a:ext cx="12828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82" name="Google Shape;3682;p113"/>
          <p:cNvCxnSpPr>
            <a:stCxn id="3678" idx="2"/>
            <a:endCxn id="3680" idx="6"/>
          </p:cNvCxnSpPr>
          <p:nvPr/>
        </p:nvCxnSpPr>
        <p:spPr>
          <a:xfrm rot="10800000">
            <a:off x="3093668" y="1586575"/>
            <a:ext cx="12828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83" name="Google Shape;3683;p113"/>
          <p:cNvCxnSpPr>
            <a:stCxn id="3677" idx="2"/>
            <a:endCxn id="3678" idx="6"/>
          </p:cNvCxnSpPr>
          <p:nvPr/>
        </p:nvCxnSpPr>
        <p:spPr>
          <a:xfrm rot="10800000">
            <a:off x="4770068" y="1586575"/>
            <a:ext cx="12828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84" name="Google Shape;3684;p113"/>
          <p:cNvCxnSpPr>
            <a:stCxn id="3676" idx="2"/>
            <a:endCxn id="3677" idx="6"/>
          </p:cNvCxnSpPr>
          <p:nvPr/>
        </p:nvCxnSpPr>
        <p:spPr>
          <a:xfrm rot="10800000">
            <a:off x="6446468" y="1586575"/>
            <a:ext cx="12828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3685" name="Google Shape;3685;p113"/>
          <p:cNvGrpSpPr/>
          <p:nvPr/>
        </p:nvGrpSpPr>
        <p:grpSpPr>
          <a:xfrm>
            <a:off x="432175" y="1154275"/>
            <a:ext cx="8282200" cy="432300"/>
            <a:chOff x="432175" y="3745075"/>
            <a:chExt cx="8282200" cy="432300"/>
          </a:xfrm>
        </p:grpSpPr>
        <p:sp>
          <p:nvSpPr>
            <p:cNvPr id="3686" name="Google Shape;3686;p113"/>
            <p:cNvSpPr/>
            <p:nvPr/>
          </p:nvSpPr>
          <p:spPr>
            <a:xfrm>
              <a:off x="8282075" y="3745075"/>
              <a:ext cx="432300" cy="432300"/>
            </a:xfrm>
            <a:prstGeom prst="arc">
              <a:avLst>
                <a:gd fmla="val 16200000" name="adj1"/>
                <a:gd fmla="val 5392788" name="adj2"/>
              </a:avLst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3687" name="Google Shape;3687;p113"/>
            <p:cNvCxnSpPr>
              <a:stCxn id="3686" idx="0"/>
              <a:endCxn id="3688" idx="0"/>
            </p:cNvCxnSpPr>
            <p:nvPr/>
          </p:nvCxnSpPr>
          <p:spPr>
            <a:xfrm rot="10800000">
              <a:off x="648425" y="3745075"/>
              <a:ext cx="7849800" cy="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689" name="Google Shape;3689;p113"/>
            <p:cNvCxnSpPr>
              <a:stCxn id="3679" idx="2"/>
              <a:endCxn id="3688" idx="2"/>
            </p:cNvCxnSpPr>
            <p:nvPr/>
          </p:nvCxnSpPr>
          <p:spPr>
            <a:xfrm rot="10800000">
              <a:off x="647768" y="4177375"/>
              <a:ext cx="375900" cy="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3688" name="Google Shape;3688;p113"/>
            <p:cNvSpPr/>
            <p:nvPr/>
          </p:nvSpPr>
          <p:spPr>
            <a:xfrm flipH="1">
              <a:off x="432175" y="3745075"/>
              <a:ext cx="432300" cy="432300"/>
            </a:xfrm>
            <a:prstGeom prst="arc">
              <a:avLst>
                <a:gd fmla="val 16200000" name="adj1"/>
                <a:gd fmla="val 5392788" name="adj2"/>
              </a:avLst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3690" name="Google Shape;3690;p113"/>
            <p:cNvCxnSpPr>
              <a:stCxn id="3686" idx="2"/>
              <a:endCxn id="3676" idx="6"/>
            </p:cNvCxnSpPr>
            <p:nvPr/>
          </p:nvCxnSpPr>
          <p:spPr>
            <a:xfrm rot="10800000">
              <a:off x="8122778" y="4177375"/>
              <a:ext cx="375900" cy="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94" name="Shape 36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5" name="Google Shape;3695;p114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Naive Ring Topology: Efficiency</a:t>
            </a:r>
            <a:endParaRPr/>
          </a:p>
        </p:txBody>
      </p:sp>
      <p:sp>
        <p:nvSpPr>
          <p:cNvPr id="3696" name="Google Shape;3696;p114"/>
          <p:cNvSpPr txBox="1"/>
          <p:nvPr>
            <p:ph idx="1" type="body"/>
          </p:nvPr>
        </p:nvSpPr>
        <p:spPr>
          <a:xfrm>
            <a:off x="107050" y="402200"/>
            <a:ext cx="8909700" cy="204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Total bandwidth:	Each node receives 1 vector (</a:t>
            </a:r>
            <a:r>
              <a:rPr i="1" lang="en"/>
              <a:t>D</a:t>
            </a:r>
            <a:r>
              <a:rPr lang="en"/>
              <a:t> bytes) from the right.</a:t>
            </a:r>
            <a:br>
              <a:rPr lang="en"/>
            </a:br>
            <a:r>
              <a:rPr lang="en"/>
              <a:t>				Each node sends 1 vector (</a:t>
            </a:r>
            <a:r>
              <a:rPr i="1" lang="en"/>
              <a:t>D</a:t>
            </a:r>
            <a:r>
              <a:rPr lang="en"/>
              <a:t> bytes) to the left. </a:t>
            </a:r>
            <a:r>
              <a:rPr i="1" lang="en"/>
              <a:t>p</a:t>
            </a:r>
            <a:r>
              <a:rPr lang="en"/>
              <a:t> nodes in total.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Number of steps:	Vector must travel around all </a:t>
            </a:r>
            <a:r>
              <a:rPr i="1" lang="en"/>
              <a:t>p</a:t>
            </a:r>
            <a:r>
              <a:rPr lang="en"/>
              <a:t> nodes in the ring.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Bandwidth per step: 	Each node receives 1 element (</a:t>
            </a:r>
            <a:r>
              <a:rPr i="1" lang="en"/>
              <a:t>D</a:t>
            </a:r>
            <a:r>
              <a:rPr lang="en"/>
              <a:t>/</a:t>
            </a:r>
            <a:r>
              <a:rPr i="1" lang="en"/>
              <a:t>p</a:t>
            </a:r>
            <a:r>
              <a:rPr lang="en"/>
              <a:t> bytes) </a:t>
            </a:r>
            <a:r>
              <a:rPr lang="en"/>
              <a:t>from the right.</a:t>
            </a:r>
            <a:br>
              <a:rPr lang="en"/>
            </a:br>
            <a:r>
              <a:rPr lang="en"/>
              <a:t>					Each node sends 1 element </a:t>
            </a:r>
            <a:r>
              <a:rPr lang="en"/>
              <a:t>(</a:t>
            </a:r>
            <a:r>
              <a:rPr i="1" lang="en"/>
              <a:t>D</a:t>
            </a:r>
            <a:r>
              <a:rPr lang="en"/>
              <a:t>/</a:t>
            </a:r>
            <a:r>
              <a:rPr i="1" lang="en"/>
              <a:t>p</a:t>
            </a:r>
            <a:r>
              <a:rPr lang="en"/>
              <a:t> bytes) </a:t>
            </a:r>
            <a:r>
              <a:rPr lang="en"/>
              <a:t>to the left.</a:t>
            </a:r>
            <a:endParaRPr/>
          </a:p>
        </p:txBody>
      </p:sp>
      <p:graphicFrame>
        <p:nvGraphicFramePr>
          <p:cNvPr id="3697" name="Google Shape;3697;p114"/>
          <p:cNvGraphicFramePr/>
          <p:nvPr/>
        </p:nvGraphicFramePr>
        <p:xfrm>
          <a:off x="952500" y="25593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{B9A57BFC-BF9F-44FD-95FC-58D745B5DC61}</a:tableStyleId>
              </a:tblPr>
              <a:tblGrid>
                <a:gridCol w="1809750"/>
                <a:gridCol w="1809750"/>
                <a:gridCol w="1809750"/>
                <a:gridCol w="18097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Total Bandwidth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Number of Steps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Bandwidth Per Step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Mesh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Dp</a:t>
                      </a:r>
                      <a:r>
                        <a:rPr baseline="30000"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2</a:t>
                      </a:r>
                      <a:endParaRPr baseline="300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1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Dp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Single Root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Dp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Dp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Tree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Dp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log(</a:t>
                      </a:r>
                      <a:r>
                        <a:rPr i="1"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p</a:t>
                      </a: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)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D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Ring (Naive)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Dp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p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D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Ring (Optimized)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Dp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p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D</a:t>
                      </a: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/</a:t>
                      </a:r>
                      <a:r>
                        <a:rPr i="1"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p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01" name="Shape 37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2" name="Google Shape;3702;p115"/>
          <p:cNvSpPr txBox="1"/>
          <p:nvPr>
            <p:ph idx="1" type="body"/>
          </p:nvPr>
        </p:nvSpPr>
        <p:spPr>
          <a:xfrm>
            <a:off x="4812375" y="402200"/>
            <a:ext cx="4038000" cy="426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</a:rPr>
              <a:t>Distributed AI Training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Motivation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Infrastructure</a:t>
            </a:r>
            <a:endParaRPr>
              <a:solidFill>
                <a:srgbClr val="B7B7B7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</a:rPr>
              <a:t>Defining Collectives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Definition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Redistribution Operations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Consolidation Operations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Duals and Compositions</a:t>
            </a:r>
            <a:endParaRPr>
              <a:solidFill>
                <a:srgbClr val="B7B7B7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Implementing Collectives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Mesh Topology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Single Root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Tree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Ring (Naive)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Ring (Optimized)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Roboto"/>
              <a:buChar char="•"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Overlay/Underlay Topologies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03" name="Google Shape;3703;p115"/>
          <p:cNvSpPr txBox="1"/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Overlay/Underlay Topologies</a:t>
            </a:r>
            <a:endParaRPr/>
          </a:p>
        </p:txBody>
      </p:sp>
      <p:sp>
        <p:nvSpPr>
          <p:cNvPr id="3704" name="Google Shape;3704;p115"/>
          <p:cNvSpPr txBox="1"/>
          <p:nvPr>
            <p:ph idx="2" type="subTitle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Lecture 23</a:t>
            </a:r>
            <a:r>
              <a:rPr lang="en"/>
              <a:t>, CS 168, </a:t>
            </a:r>
            <a:r>
              <a:rPr lang="en"/>
              <a:t>Spring 2026</a:t>
            </a:r>
            <a:endParaRPr/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08" name="Shape 3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709" name="Google Shape;3709;p116"/>
          <p:cNvCxnSpPr>
            <a:stCxn id="3710" idx="2"/>
            <a:endCxn id="3711" idx="6"/>
          </p:cNvCxnSpPr>
          <p:nvPr/>
        </p:nvCxnSpPr>
        <p:spPr>
          <a:xfrm flipH="1">
            <a:off x="1732588" y="2156325"/>
            <a:ext cx="934200" cy="60960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3712" name="Google Shape;3712;p116"/>
          <p:cNvCxnSpPr>
            <a:stCxn id="3713" idx="2"/>
            <a:endCxn id="3711" idx="6"/>
          </p:cNvCxnSpPr>
          <p:nvPr/>
        </p:nvCxnSpPr>
        <p:spPr>
          <a:xfrm rot="10800000">
            <a:off x="1732588" y="2765925"/>
            <a:ext cx="4439400" cy="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3714" name="Google Shape;3714;p116"/>
          <p:cNvCxnSpPr>
            <a:stCxn id="3715" idx="2"/>
            <a:endCxn id="3713" idx="7"/>
          </p:cNvCxnSpPr>
          <p:nvPr/>
        </p:nvCxnSpPr>
        <p:spPr>
          <a:xfrm flipH="1">
            <a:off x="6415288" y="2156325"/>
            <a:ext cx="975900" cy="50880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3716" name="Google Shape;3716;p116"/>
          <p:cNvCxnSpPr>
            <a:stCxn id="3715" idx="2"/>
            <a:endCxn id="3710" idx="6"/>
          </p:cNvCxnSpPr>
          <p:nvPr/>
        </p:nvCxnSpPr>
        <p:spPr>
          <a:xfrm rot="10800000">
            <a:off x="2951788" y="2156325"/>
            <a:ext cx="4439400" cy="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3717" name="Google Shape;3717;p116"/>
          <p:cNvCxnSpPr>
            <a:stCxn id="3718" idx="3"/>
            <a:endCxn id="3719" idx="1"/>
          </p:cNvCxnSpPr>
          <p:nvPr/>
        </p:nvCxnSpPr>
        <p:spPr>
          <a:xfrm>
            <a:off x="1742500" y="4850625"/>
            <a:ext cx="12954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20" name="Google Shape;3720;p116"/>
          <p:cNvCxnSpPr>
            <a:stCxn id="3719" idx="3"/>
            <a:endCxn id="3721" idx="1"/>
          </p:cNvCxnSpPr>
          <p:nvPr/>
        </p:nvCxnSpPr>
        <p:spPr>
          <a:xfrm>
            <a:off x="3342700" y="4850625"/>
            <a:ext cx="12954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22" name="Google Shape;3722;p116"/>
          <p:cNvCxnSpPr>
            <a:stCxn id="3721" idx="3"/>
            <a:endCxn id="3723" idx="1"/>
          </p:cNvCxnSpPr>
          <p:nvPr/>
        </p:nvCxnSpPr>
        <p:spPr>
          <a:xfrm>
            <a:off x="4942900" y="4850625"/>
            <a:ext cx="12192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24" name="Google Shape;3724;p116"/>
          <p:cNvCxnSpPr>
            <a:stCxn id="3725" idx="3"/>
            <a:endCxn id="3726" idx="1"/>
          </p:cNvCxnSpPr>
          <p:nvPr/>
        </p:nvCxnSpPr>
        <p:spPr>
          <a:xfrm>
            <a:off x="5552500" y="4241025"/>
            <a:ext cx="12192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27" name="Google Shape;3727;p116"/>
          <p:cNvCxnSpPr>
            <a:stCxn id="3728" idx="3"/>
            <a:endCxn id="3725" idx="1"/>
          </p:cNvCxnSpPr>
          <p:nvPr/>
        </p:nvCxnSpPr>
        <p:spPr>
          <a:xfrm>
            <a:off x="3952300" y="4241025"/>
            <a:ext cx="12954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29" name="Google Shape;3729;p116"/>
          <p:cNvCxnSpPr>
            <a:stCxn id="3730" idx="3"/>
            <a:endCxn id="3728" idx="1"/>
          </p:cNvCxnSpPr>
          <p:nvPr/>
        </p:nvCxnSpPr>
        <p:spPr>
          <a:xfrm>
            <a:off x="2352100" y="4241025"/>
            <a:ext cx="12954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31" name="Google Shape;3731;p116"/>
          <p:cNvCxnSpPr>
            <a:stCxn id="3732" idx="3"/>
            <a:endCxn id="3733" idx="1"/>
          </p:cNvCxnSpPr>
          <p:nvPr/>
        </p:nvCxnSpPr>
        <p:spPr>
          <a:xfrm>
            <a:off x="2961700" y="3631425"/>
            <a:ext cx="12954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34" name="Google Shape;3734;p116"/>
          <p:cNvCxnSpPr>
            <a:stCxn id="3733" idx="3"/>
            <a:endCxn id="3735" idx="1"/>
          </p:cNvCxnSpPr>
          <p:nvPr/>
        </p:nvCxnSpPr>
        <p:spPr>
          <a:xfrm>
            <a:off x="4561900" y="3631425"/>
            <a:ext cx="12954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36" name="Google Shape;3736;p116"/>
          <p:cNvCxnSpPr>
            <a:stCxn id="3735" idx="3"/>
            <a:endCxn id="3737" idx="1"/>
          </p:cNvCxnSpPr>
          <p:nvPr/>
        </p:nvCxnSpPr>
        <p:spPr>
          <a:xfrm>
            <a:off x="6162100" y="3631425"/>
            <a:ext cx="12192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38" name="Google Shape;3738;p116"/>
          <p:cNvCxnSpPr>
            <a:stCxn id="3723" idx="3"/>
            <a:endCxn id="3726" idx="2"/>
          </p:cNvCxnSpPr>
          <p:nvPr/>
        </p:nvCxnSpPr>
        <p:spPr>
          <a:xfrm flipH="1" rot="10800000">
            <a:off x="6466900" y="4393425"/>
            <a:ext cx="457200" cy="4572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39" name="Google Shape;3739;p116"/>
          <p:cNvCxnSpPr>
            <a:stCxn id="3726" idx="3"/>
            <a:endCxn id="3737" idx="2"/>
          </p:cNvCxnSpPr>
          <p:nvPr/>
        </p:nvCxnSpPr>
        <p:spPr>
          <a:xfrm flipH="1" rot="10800000">
            <a:off x="7076500" y="3783825"/>
            <a:ext cx="457200" cy="4572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40" name="Google Shape;3740;p116"/>
          <p:cNvCxnSpPr>
            <a:stCxn id="3721" idx="3"/>
            <a:endCxn id="3725" idx="2"/>
          </p:cNvCxnSpPr>
          <p:nvPr/>
        </p:nvCxnSpPr>
        <p:spPr>
          <a:xfrm flipH="1" rot="10800000">
            <a:off x="4942900" y="4393425"/>
            <a:ext cx="457200" cy="4572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41" name="Google Shape;3741;p116"/>
          <p:cNvCxnSpPr>
            <a:stCxn id="3725" idx="3"/>
            <a:endCxn id="3735" idx="2"/>
          </p:cNvCxnSpPr>
          <p:nvPr/>
        </p:nvCxnSpPr>
        <p:spPr>
          <a:xfrm flipH="1" rot="10800000">
            <a:off x="5552500" y="3783825"/>
            <a:ext cx="457200" cy="4572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42" name="Google Shape;3742;p116"/>
          <p:cNvCxnSpPr>
            <a:stCxn id="3728" idx="3"/>
            <a:endCxn id="3733" idx="2"/>
          </p:cNvCxnSpPr>
          <p:nvPr/>
        </p:nvCxnSpPr>
        <p:spPr>
          <a:xfrm flipH="1" rot="10800000">
            <a:off x="3952300" y="3783825"/>
            <a:ext cx="457200" cy="4572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43" name="Google Shape;3743;p116"/>
          <p:cNvCxnSpPr>
            <a:stCxn id="3719" idx="3"/>
            <a:endCxn id="3728" idx="2"/>
          </p:cNvCxnSpPr>
          <p:nvPr/>
        </p:nvCxnSpPr>
        <p:spPr>
          <a:xfrm flipH="1" rot="10800000">
            <a:off x="3342700" y="4393425"/>
            <a:ext cx="457200" cy="4572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44" name="Google Shape;3744;p116"/>
          <p:cNvCxnSpPr>
            <a:stCxn id="3718" idx="3"/>
            <a:endCxn id="3730" idx="2"/>
          </p:cNvCxnSpPr>
          <p:nvPr/>
        </p:nvCxnSpPr>
        <p:spPr>
          <a:xfrm flipH="1" rot="10800000">
            <a:off x="1742500" y="4393425"/>
            <a:ext cx="457200" cy="4572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45" name="Google Shape;3745;p116"/>
          <p:cNvCxnSpPr>
            <a:stCxn id="3730" idx="3"/>
            <a:endCxn id="3732" idx="2"/>
          </p:cNvCxnSpPr>
          <p:nvPr/>
        </p:nvCxnSpPr>
        <p:spPr>
          <a:xfrm flipH="1" rot="10800000">
            <a:off x="2352100" y="3783825"/>
            <a:ext cx="457200" cy="4572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746" name="Google Shape;3746;p116"/>
          <p:cNvSpPr txBox="1"/>
          <p:nvPr>
            <p:ph idx="1" type="body"/>
          </p:nvPr>
        </p:nvSpPr>
        <p:spPr>
          <a:xfrm>
            <a:off x="107050" y="402200"/>
            <a:ext cx="8909700" cy="118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Suppose Hosts A, B, C, D want to run an AllReduce operation.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A, B, C, D are not in a ring topology. But, we can add virtual links to create a ring!</a:t>
            </a:r>
            <a:endParaRPr/>
          </a:p>
        </p:txBody>
      </p:sp>
      <p:sp>
        <p:nvSpPr>
          <p:cNvPr id="3747" name="Google Shape;3747;p116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Overlay and Underlay Topologies</a:t>
            </a:r>
            <a:endParaRPr/>
          </a:p>
        </p:txBody>
      </p:sp>
      <p:sp>
        <p:nvSpPr>
          <p:cNvPr id="3718" name="Google Shape;3718;p116"/>
          <p:cNvSpPr/>
          <p:nvPr/>
        </p:nvSpPr>
        <p:spPr>
          <a:xfrm>
            <a:off x="1437700" y="469822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R1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19" name="Google Shape;3719;p116"/>
          <p:cNvSpPr/>
          <p:nvPr/>
        </p:nvSpPr>
        <p:spPr>
          <a:xfrm>
            <a:off x="3037900" y="469822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R2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21" name="Google Shape;3721;p116"/>
          <p:cNvSpPr/>
          <p:nvPr/>
        </p:nvSpPr>
        <p:spPr>
          <a:xfrm>
            <a:off x="4638100" y="469822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R3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23" name="Google Shape;3723;p116"/>
          <p:cNvSpPr/>
          <p:nvPr/>
        </p:nvSpPr>
        <p:spPr>
          <a:xfrm>
            <a:off x="6162100" y="469822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R4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30" name="Google Shape;3730;p116"/>
          <p:cNvSpPr/>
          <p:nvPr/>
        </p:nvSpPr>
        <p:spPr>
          <a:xfrm>
            <a:off x="2047300" y="408862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R5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28" name="Google Shape;3728;p116"/>
          <p:cNvSpPr/>
          <p:nvPr/>
        </p:nvSpPr>
        <p:spPr>
          <a:xfrm>
            <a:off x="3647500" y="408862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R6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25" name="Google Shape;3725;p116"/>
          <p:cNvSpPr/>
          <p:nvPr/>
        </p:nvSpPr>
        <p:spPr>
          <a:xfrm>
            <a:off x="5247700" y="408862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R7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26" name="Google Shape;3726;p116"/>
          <p:cNvSpPr/>
          <p:nvPr/>
        </p:nvSpPr>
        <p:spPr>
          <a:xfrm>
            <a:off x="6771700" y="408862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R8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32" name="Google Shape;3732;p116"/>
          <p:cNvSpPr/>
          <p:nvPr/>
        </p:nvSpPr>
        <p:spPr>
          <a:xfrm>
            <a:off x="2656900" y="347902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R9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33" name="Google Shape;3733;p116"/>
          <p:cNvSpPr/>
          <p:nvPr/>
        </p:nvSpPr>
        <p:spPr>
          <a:xfrm>
            <a:off x="4257100" y="347902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R10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35" name="Google Shape;3735;p116"/>
          <p:cNvSpPr/>
          <p:nvPr/>
        </p:nvSpPr>
        <p:spPr>
          <a:xfrm>
            <a:off x="5857300" y="347902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R11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37" name="Google Shape;3737;p116"/>
          <p:cNvSpPr/>
          <p:nvPr/>
        </p:nvSpPr>
        <p:spPr>
          <a:xfrm>
            <a:off x="7381300" y="347902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R12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11" name="Google Shape;3711;p116"/>
          <p:cNvSpPr/>
          <p:nvPr/>
        </p:nvSpPr>
        <p:spPr>
          <a:xfrm>
            <a:off x="1447588" y="2623425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748" name="Google Shape;3748;p116"/>
          <p:cNvCxnSpPr>
            <a:stCxn id="3718" idx="0"/>
            <a:endCxn id="3711" idx="4"/>
          </p:cNvCxnSpPr>
          <p:nvPr/>
        </p:nvCxnSpPr>
        <p:spPr>
          <a:xfrm rot="10800000">
            <a:off x="1590100" y="2908425"/>
            <a:ext cx="0" cy="1789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710" name="Google Shape;3710;p116"/>
          <p:cNvSpPr/>
          <p:nvPr/>
        </p:nvSpPr>
        <p:spPr>
          <a:xfrm>
            <a:off x="2666788" y="2013825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749" name="Google Shape;3749;p116"/>
          <p:cNvCxnSpPr>
            <a:stCxn id="3732" idx="0"/>
            <a:endCxn id="3710" idx="4"/>
          </p:cNvCxnSpPr>
          <p:nvPr/>
        </p:nvCxnSpPr>
        <p:spPr>
          <a:xfrm rot="10800000">
            <a:off x="2809300" y="2298825"/>
            <a:ext cx="0" cy="1180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713" name="Google Shape;3713;p116"/>
          <p:cNvSpPr/>
          <p:nvPr/>
        </p:nvSpPr>
        <p:spPr>
          <a:xfrm>
            <a:off x="6171988" y="2623425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D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750" name="Google Shape;3750;p116"/>
          <p:cNvCxnSpPr>
            <a:stCxn id="3723" idx="0"/>
            <a:endCxn id="3713" idx="4"/>
          </p:cNvCxnSpPr>
          <p:nvPr/>
        </p:nvCxnSpPr>
        <p:spPr>
          <a:xfrm rot="10800000">
            <a:off x="6314500" y="2908425"/>
            <a:ext cx="0" cy="1789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715" name="Google Shape;3715;p116"/>
          <p:cNvSpPr/>
          <p:nvPr/>
        </p:nvSpPr>
        <p:spPr>
          <a:xfrm>
            <a:off x="7391188" y="2013825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751" name="Google Shape;3751;p116"/>
          <p:cNvCxnSpPr>
            <a:stCxn id="3737" idx="0"/>
            <a:endCxn id="3715" idx="4"/>
          </p:cNvCxnSpPr>
          <p:nvPr/>
        </p:nvCxnSpPr>
        <p:spPr>
          <a:xfrm rot="10800000">
            <a:off x="7533700" y="2298825"/>
            <a:ext cx="0" cy="1180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55" name="Shape 37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6" name="Google Shape;3756;p117"/>
          <p:cNvSpPr txBox="1"/>
          <p:nvPr>
            <p:ph idx="1" type="body"/>
          </p:nvPr>
        </p:nvSpPr>
        <p:spPr>
          <a:xfrm>
            <a:off x="107050" y="402200"/>
            <a:ext cx="8909700" cy="141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Suppose Hosts A, B, C, D want to run an AllReduce operation.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For best performance, in what order should we connect the hosts in a ring?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(The way we number the nodes affects the ring we draw.)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57" name="Google Shape;3757;p117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Different Overlay Topologies</a:t>
            </a:r>
            <a:endParaRPr/>
          </a:p>
        </p:txBody>
      </p:sp>
      <p:cxnSp>
        <p:nvCxnSpPr>
          <p:cNvPr id="3758" name="Google Shape;3758;p117"/>
          <p:cNvCxnSpPr>
            <a:stCxn id="3759" idx="2"/>
            <a:endCxn id="3760" idx="6"/>
          </p:cNvCxnSpPr>
          <p:nvPr/>
        </p:nvCxnSpPr>
        <p:spPr>
          <a:xfrm rot="10800000">
            <a:off x="2647288" y="2687625"/>
            <a:ext cx="934200" cy="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61" name="Google Shape;3761;p117"/>
          <p:cNvCxnSpPr>
            <a:stCxn id="3762" idx="2"/>
            <a:endCxn id="3763" idx="6"/>
          </p:cNvCxnSpPr>
          <p:nvPr/>
        </p:nvCxnSpPr>
        <p:spPr>
          <a:xfrm rot="10800000">
            <a:off x="7371688" y="2687625"/>
            <a:ext cx="934200" cy="0"/>
          </a:xfrm>
          <a:prstGeom prst="straightConnector1">
            <a:avLst/>
          </a:prstGeom>
          <a:noFill/>
          <a:ln cap="flat" cmpd="sng" w="28575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64" name="Google Shape;3764;p117"/>
          <p:cNvCxnSpPr>
            <a:stCxn id="3763" idx="2"/>
            <a:endCxn id="3759" idx="6"/>
          </p:cNvCxnSpPr>
          <p:nvPr/>
        </p:nvCxnSpPr>
        <p:spPr>
          <a:xfrm rot="10800000">
            <a:off x="3866488" y="2687625"/>
            <a:ext cx="3220200" cy="0"/>
          </a:xfrm>
          <a:prstGeom prst="straightConnector1">
            <a:avLst/>
          </a:prstGeom>
          <a:noFill/>
          <a:ln cap="flat" cmpd="sng" w="28575">
            <a:solidFill>
              <a:srgbClr val="38761D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765" name="Google Shape;3765;p117"/>
          <p:cNvSpPr/>
          <p:nvPr/>
        </p:nvSpPr>
        <p:spPr>
          <a:xfrm>
            <a:off x="2610050" y="2315591"/>
            <a:ext cx="5729200" cy="286875"/>
          </a:xfrm>
          <a:custGeom>
            <a:rect b="b" l="l" r="r" t="t"/>
            <a:pathLst>
              <a:path extrusionOk="0" h="11475" w="229168">
                <a:moveTo>
                  <a:pt x="0" y="11104"/>
                </a:moveTo>
                <a:cubicBezTo>
                  <a:pt x="7485" y="9387"/>
                  <a:pt x="13938" y="2336"/>
                  <a:pt x="44908" y="800"/>
                </a:cubicBezTo>
                <a:cubicBezTo>
                  <a:pt x="75879" y="-736"/>
                  <a:pt x="155113" y="110"/>
                  <a:pt x="185823" y="1889"/>
                </a:cubicBezTo>
                <a:cubicBezTo>
                  <a:pt x="216533" y="3668"/>
                  <a:pt x="221944" y="9877"/>
                  <a:pt x="229168" y="11475"/>
                </a:cubicBezTo>
              </a:path>
            </a:pathLst>
          </a:cu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3760" name="Google Shape;3760;p117"/>
          <p:cNvSpPr/>
          <p:nvPr/>
        </p:nvSpPr>
        <p:spPr>
          <a:xfrm>
            <a:off x="2362288" y="2545125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59" name="Google Shape;3759;p117"/>
          <p:cNvSpPr/>
          <p:nvPr/>
        </p:nvSpPr>
        <p:spPr>
          <a:xfrm>
            <a:off x="3581488" y="2545125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63" name="Google Shape;3763;p117"/>
          <p:cNvSpPr/>
          <p:nvPr/>
        </p:nvSpPr>
        <p:spPr>
          <a:xfrm>
            <a:off x="7086688" y="2545125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D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62" name="Google Shape;3762;p117"/>
          <p:cNvSpPr/>
          <p:nvPr/>
        </p:nvSpPr>
        <p:spPr>
          <a:xfrm>
            <a:off x="8305888" y="2545125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766" name="Google Shape;3766;p117"/>
          <p:cNvCxnSpPr>
            <a:stCxn id="3767" idx="2"/>
            <a:endCxn id="3768" idx="6"/>
          </p:cNvCxnSpPr>
          <p:nvPr/>
        </p:nvCxnSpPr>
        <p:spPr>
          <a:xfrm flipH="1">
            <a:off x="2647288" y="3983025"/>
            <a:ext cx="934200" cy="6096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69" name="Google Shape;3769;p117"/>
          <p:cNvCxnSpPr>
            <a:stCxn id="3770" idx="2"/>
            <a:endCxn id="3771" idx="6"/>
          </p:cNvCxnSpPr>
          <p:nvPr/>
        </p:nvCxnSpPr>
        <p:spPr>
          <a:xfrm flipH="1">
            <a:off x="7371688" y="3983025"/>
            <a:ext cx="934200" cy="609600"/>
          </a:xfrm>
          <a:prstGeom prst="straightConnector1">
            <a:avLst/>
          </a:prstGeom>
          <a:noFill/>
          <a:ln cap="flat" cmpd="sng" w="28575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72" name="Google Shape;3772;p117"/>
          <p:cNvCxnSpPr>
            <a:stCxn id="3770" idx="2"/>
            <a:endCxn id="3767" idx="6"/>
          </p:cNvCxnSpPr>
          <p:nvPr/>
        </p:nvCxnSpPr>
        <p:spPr>
          <a:xfrm rot="10800000">
            <a:off x="3866488" y="3983025"/>
            <a:ext cx="4439400" cy="0"/>
          </a:xfrm>
          <a:prstGeom prst="straightConnector1">
            <a:avLst/>
          </a:prstGeom>
          <a:noFill/>
          <a:ln cap="flat" cmpd="sng" w="28575">
            <a:solidFill>
              <a:srgbClr val="38761D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768" name="Google Shape;3768;p117"/>
          <p:cNvSpPr/>
          <p:nvPr/>
        </p:nvSpPr>
        <p:spPr>
          <a:xfrm>
            <a:off x="2362288" y="4450125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67" name="Google Shape;3767;p117"/>
          <p:cNvSpPr/>
          <p:nvPr/>
        </p:nvSpPr>
        <p:spPr>
          <a:xfrm>
            <a:off x="3581488" y="3840525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71" name="Google Shape;3771;p117"/>
          <p:cNvSpPr/>
          <p:nvPr/>
        </p:nvSpPr>
        <p:spPr>
          <a:xfrm>
            <a:off x="7086688" y="4450125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D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70" name="Google Shape;3770;p117"/>
          <p:cNvSpPr/>
          <p:nvPr/>
        </p:nvSpPr>
        <p:spPr>
          <a:xfrm>
            <a:off x="8305888" y="3840525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773" name="Google Shape;3773;p117"/>
          <p:cNvCxnSpPr>
            <a:stCxn id="3771" idx="2"/>
            <a:endCxn id="3768" idx="6"/>
          </p:cNvCxnSpPr>
          <p:nvPr/>
        </p:nvCxnSpPr>
        <p:spPr>
          <a:xfrm rot="10800000">
            <a:off x="2647288" y="4592625"/>
            <a:ext cx="4439400" cy="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774" name="Google Shape;3774;p117"/>
          <p:cNvSpPr txBox="1"/>
          <p:nvPr/>
        </p:nvSpPr>
        <p:spPr>
          <a:xfrm>
            <a:off x="2165350" y="2842413"/>
            <a:ext cx="6789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Node 1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75" name="Google Shape;3775;p117"/>
          <p:cNvSpPr txBox="1"/>
          <p:nvPr/>
        </p:nvSpPr>
        <p:spPr>
          <a:xfrm>
            <a:off x="3384550" y="2842400"/>
            <a:ext cx="6789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Node 2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76" name="Google Shape;3776;p117"/>
          <p:cNvSpPr txBox="1"/>
          <p:nvPr/>
        </p:nvSpPr>
        <p:spPr>
          <a:xfrm>
            <a:off x="6889750" y="2842413"/>
            <a:ext cx="6789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Node 3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77" name="Google Shape;3777;p117"/>
          <p:cNvSpPr txBox="1"/>
          <p:nvPr/>
        </p:nvSpPr>
        <p:spPr>
          <a:xfrm>
            <a:off x="8108950" y="2842413"/>
            <a:ext cx="6789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Node 4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78" name="Google Shape;3778;p117"/>
          <p:cNvSpPr txBox="1"/>
          <p:nvPr/>
        </p:nvSpPr>
        <p:spPr>
          <a:xfrm>
            <a:off x="2165350" y="4747388"/>
            <a:ext cx="6789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Node 1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79" name="Google Shape;3779;p117"/>
          <p:cNvSpPr txBox="1"/>
          <p:nvPr/>
        </p:nvSpPr>
        <p:spPr>
          <a:xfrm>
            <a:off x="3384550" y="3604400"/>
            <a:ext cx="6789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Node 2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80" name="Google Shape;3780;p117"/>
          <p:cNvSpPr txBox="1"/>
          <p:nvPr/>
        </p:nvSpPr>
        <p:spPr>
          <a:xfrm>
            <a:off x="6889750" y="4747388"/>
            <a:ext cx="6789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Node 4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81" name="Google Shape;3781;p117"/>
          <p:cNvSpPr txBox="1"/>
          <p:nvPr/>
        </p:nvSpPr>
        <p:spPr>
          <a:xfrm>
            <a:off x="8108950" y="3604413"/>
            <a:ext cx="6789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Node 3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82" name="Google Shape;3782;p117"/>
          <p:cNvSpPr txBox="1"/>
          <p:nvPr/>
        </p:nvSpPr>
        <p:spPr>
          <a:xfrm>
            <a:off x="335950" y="1980200"/>
            <a:ext cx="1745700" cy="107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Overlay Topology 1: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Node 1 = A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Node 2 = C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Node 3 = D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Node 4 = B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83" name="Google Shape;3783;p117"/>
          <p:cNvSpPr txBox="1"/>
          <p:nvPr/>
        </p:nvSpPr>
        <p:spPr>
          <a:xfrm>
            <a:off x="335950" y="3885200"/>
            <a:ext cx="1745700" cy="107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Overlay Topology 2: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Node 1 = A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Node 2 = C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Node 3 = B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Node 4 = D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87" name="Shape 37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788" name="Google Shape;3788;p118"/>
          <p:cNvCxnSpPr>
            <a:stCxn id="3789" idx="3"/>
            <a:endCxn id="3790" idx="1"/>
          </p:cNvCxnSpPr>
          <p:nvPr/>
        </p:nvCxnSpPr>
        <p:spPr>
          <a:xfrm>
            <a:off x="1742500" y="4850625"/>
            <a:ext cx="12954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91" name="Google Shape;3791;p118"/>
          <p:cNvCxnSpPr>
            <a:stCxn id="3790" idx="3"/>
            <a:endCxn id="3792" idx="1"/>
          </p:cNvCxnSpPr>
          <p:nvPr/>
        </p:nvCxnSpPr>
        <p:spPr>
          <a:xfrm>
            <a:off x="3342700" y="4850625"/>
            <a:ext cx="12954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93" name="Google Shape;3793;p118"/>
          <p:cNvCxnSpPr>
            <a:stCxn id="3792" idx="3"/>
            <a:endCxn id="3794" idx="1"/>
          </p:cNvCxnSpPr>
          <p:nvPr/>
        </p:nvCxnSpPr>
        <p:spPr>
          <a:xfrm>
            <a:off x="4942900" y="4850625"/>
            <a:ext cx="12192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95" name="Google Shape;3795;p118"/>
          <p:cNvCxnSpPr>
            <a:stCxn id="3796" idx="3"/>
            <a:endCxn id="3797" idx="1"/>
          </p:cNvCxnSpPr>
          <p:nvPr/>
        </p:nvCxnSpPr>
        <p:spPr>
          <a:xfrm>
            <a:off x="5552500" y="4241025"/>
            <a:ext cx="12192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98" name="Google Shape;3798;p118"/>
          <p:cNvCxnSpPr>
            <a:stCxn id="3799" idx="3"/>
            <a:endCxn id="3796" idx="1"/>
          </p:cNvCxnSpPr>
          <p:nvPr/>
        </p:nvCxnSpPr>
        <p:spPr>
          <a:xfrm>
            <a:off x="3952300" y="4241025"/>
            <a:ext cx="12954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00" name="Google Shape;3800;p118"/>
          <p:cNvCxnSpPr>
            <a:stCxn id="3801" idx="3"/>
            <a:endCxn id="3799" idx="1"/>
          </p:cNvCxnSpPr>
          <p:nvPr/>
        </p:nvCxnSpPr>
        <p:spPr>
          <a:xfrm>
            <a:off x="2352100" y="4241025"/>
            <a:ext cx="12954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02" name="Google Shape;3802;p118"/>
          <p:cNvCxnSpPr>
            <a:stCxn id="3803" idx="3"/>
            <a:endCxn id="3804" idx="1"/>
          </p:cNvCxnSpPr>
          <p:nvPr/>
        </p:nvCxnSpPr>
        <p:spPr>
          <a:xfrm>
            <a:off x="2961700" y="3631425"/>
            <a:ext cx="12954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05" name="Google Shape;3805;p118"/>
          <p:cNvCxnSpPr>
            <a:stCxn id="3804" idx="3"/>
            <a:endCxn id="3806" idx="1"/>
          </p:cNvCxnSpPr>
          <p:nvPr/>
        </p:nvCxnSpPr>
        <p:spPr>
          <a:xfrm>
            <a:off x="4561900" y="3631425"/>
            <a:ext cx="12954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07" name="Google Shape;3807;p118"/>
          <p:cNvCxnSpPr>
            <a:stCxn id="3806" idx="3"/>
            <a:endCxn id="3808" idx="1"/>
          </p:cNvCxnSpPr>
          <p:nvPr/>
        </p:nvCxnSpPr>
        <p:spPr>
          <a:xfrm>
            <a:off x="6162100" y="3631425"/>
            <a:ext cx="12192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09" name="Google Shape;3809;p118"/>
          <p:cNvCxnSpPr>
            <a:stCxn id="3794" idx="3"/>
            <a:endCxn id="3797" idx="2"/>
          </p:cNvCxnSpPr>
          <p:nvPr/>
        </p:nvCxnSpPr>
        <p:spPr>
          <a:xfrm flipH="1" rot="10800000">
            <a:off x="6466900" y="4393425"/>
            <a:ext cx="457200" cy="4572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10" name="Google Shape;3810;p118"/>
          <p:cNvCxnSpPr>
            <a:stCxn id="3797" idx="3"/>
            <a:endCxn id="3808" idx="2"/>
          </p:cNvCxnSpPr>
          <p:nvPr/>
        </p:nvCxnSpPr>
        <p:spPr>
          <a:xfrm flipH="1" rot="10800000">
            <a:off x="7076500" y="3783825"/>
            <a:ext cx="457200" cy="4572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11" name="Google Shape;3811;p118"/>
          <p:cNvCxnSpPr>
            <a:stCxn id="3792" idx="3"/>
            <a:endCxn id="3796" idx="2"/>
          </p:cNvCxnSpPr>
          <p:nvPr/>
        </p:nvCxnSpPr>
        <p:spPr>
          <a:xfrm flipH="1" rot="10800000">
            <a:off x="4942900" y="4393425"/>
            <a:ext cx="457200" cy="4572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12" name="Google Shape;3812;p118"/>
          <p:cNvCxnSpPr>
            <a:stCxn id="3796" idx="3"/>
            <a:endCxn id="3806" idx="2"/>
          </p:cNvCxnSpPr>
          <p:nvPr/>
        </p:nvCxnSpPr>
        <p:spPr>
          <a:xfrm flipH="1" rot="10800000">
            <a:off x="5552500" y="3783825"/>
            <a:ext cx="457200" cy="4572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13" name="Google Shape;3813;p118"/>
          <p:cNvCxnSpPr>
            <a:stCxn id="3799" idx="3"/>
            <a:endCxn id="3804" idx="2"/>
          </p:cNvCxnSpPr>
          <p:nvPr/>
        </p:nvCxnSpPr>
        <p:spPr>
          <a:xfrm flipH="1" rot="10800000">
            <a:off x="3952300" y="3783825"/>
            <a:ext cx="457200" cy="4572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14" name="Google Shape;3814;p118"/>
          <p:cNvCxnSpPr>
            <a:stCxn id="3790" idx="3"/>
            <a:endCxn id="3799" idx="2"/>
          </p:cNvCxnSpPr>
          <p:nvPr/>
        </p:nvCxnSpPr>
        <p:spPr>
          <a:xfrm flipH="1" rot="10800000">
            <a:off x="3342700" y="4393425"/>
            <a:ext cx="457200" cy="4572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15" name="Google Shape;3815;p118"/>
          <p:cNvCxnSpPr>
            <a:stCxn id="3789" idx="3"/>
            <a:endCxn id="3801" idx="2"/>
          </p:cNvCxnSpPr>
          <p:nvPr/>
        </p:nvCxnSpPr>
        <p:spPr>
          <a:xfrm flipH="1" rot="10800000">
            <a:off x="1742500" y="4393425"/>
            <a:ext cx="457200" cy="4572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16" name="Google Shape;3816;p118"/>
          <p:cNvCxnSpPr>
            <a:stCxn id="3801" idx="3"/>
            <a:endCxn id="3803" idx="2"/>
          </p:cNvCxnSpPr>
          <p:nvPr/>
        </p:nvCxnSpPr>
        <p:spPr>
          <a:xfrm flipH="1" rot="10800000">
            <a:off x="2352100" y="3783825"/>
            <a:ext cx="457200" cy="4572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17" name="Google Shape;3817;p118"/>
          <p:cNvCxnSpPr>
            <a:stCxn id="3818" idx="2"/>
            <a:endCxn id="3819" idx="6"/>
          </p:cNvCxnSpPr>
          <p:nvPr/>
        </p:nvCxnSpPr>
        <p:spPr>
          <a:xfrm rot="10800000">
            <a:off x="1732588" y="1851525"/>
            <a:ext cx="934200" cy="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20" name="Google Shape;3820;p118"/>
          <p:cNvCxnSpPr>
            <a:stCxn id="3821" idx="2"/>
            <a:endCxn id="3822" idx="6"/>
          </p:cNvCxnSpPr>
          <p:nvPr/>
        </p:nvCxnSpPr>
        <p:spPr>
          <a:xfrm rot="10800000">
            <a:off x="6456988" y="1851525"/>
            <a:ext cx="934200" cy="0"/>
          </a:xfrm>
          <a:prstGeom prst="straightConnector1">
            <a:avLst/>
          </a:prstGeom>
          <a:noFill/>
          <a:ln cap="flat" cmpd="sng" w="28575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23" name="Google Shape;3823;p118"/>
          <p:cNvCxnSpPr>
            <a:stCxn id="3822" idx="2"/>
            <a:endCxn id="3818" idx="6"/>
          </p:cNvCxnSpPr>
          <p:nvPr/>
        </p:nvCxnSpPr>
        <p:spPr>
          <a:xfrm rot="10800000">
            <a:off x="2951788" y="1851525"/>
            <a:ext cx="3220200" cy="0"/>
          </a:xfrm>
          <a:prstGeom prst="straightConnector1">
            <a:avLst/>
          </a:prstGeom>
          <a:noFill/>
          <a:ln cap="flat" cmpd="sng" w="28575">
            <a:solidFill>
              <a:srgbClr val="38761D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824" name="Google Shape;3824;p118"/>
          <p:cNvSpPr/>
          <p:nvPr/>
        </p:nvSpPr>
        <p:spPr>
          <a:xfrm>
            <a:off x="1695350" y="1479491"/>
            <a:ext cx="5729200" cy="286875"/>
          </a:xfrm>
          <a:custGeom>
            <a:rect b="b" l="l" r="r" t="t"/>
            <a:pathLst>
              <a:path extrusionOk="0" h="11475" w="229168">
                <a:moveTo>
                  <a:pt x="0" y="11104"/>
                </a:moveTo>
                <a:cubicBezTo>
                  <a:pt x="7485" y="9387"/>
                  <a:pt x="13938" y="2336"/>
                  <a:pt x="44908" y="800"/>
                </a:cubicBezTo>
                <a:cubicBezTo>
                  <a:pt x="75879" y="-736"/>
                  <a:pt x="155113" y="110"/>
                  <a:pt x="185823" y="1889"/>
                </a:cubicBezTo>
                <a:cubicBezTo>
                  <a:pt x="216533" y="3668"/>
                  <a:pt x="221944" y="9877"/>
                  <a:pt x="229168" y="11475"/>
                </a:cubicBezTo>
              </a:path>
            </a:pathLst>
          </a:cu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3825" name="Google Shape;3825;p118"/>
          <p:cNvSpPr txBox="1"/>
          <p:nvPr>
            <p:ph idx="1" type="body"/>
          </p:nvPr>
        </p:nvSpPr>
        <p:spPr>
          <a:xfrm>
            <a:off x="107050" y="402200"/>
            <a:ext cx="8909700" cy="60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The average stretch factor depends on how the nodes are numbered.</a:t>
            </a:r>
            <a:endParaRPr/>
          </a:p>
        </p:txBody>
      </p:sp>
      <p:sp>
        <p:nvSpPr>
          <p:cNvPr id="3826" name="Google Shape;3826;p118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Overlay Ring Topology #1</a:t>
            </a:r>
            <a:endParaRPr/>
          </a:p>
        </p:txBody>
      </p:sp>
      <p:sp>
        <p:nvSpPr>
          <p:cNvPr id="3789" name="Google Shape;3789;p118"/>
          <p:cNvSpPr/>
          <p:nvPr/>
        </p:nvSpPr>
        <p:spPr>
          <a:xfrm>
            <a:off x="1437700" y="469822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R1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90" name="Google Shape;3790;p118"/>
          <p:cNvSpPr/>
          <p:nvPr/>
        </p:nvSpPr>
        <p:spPr>
          <a:xfrm>
            <a:off x="3037900" y="469822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R2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92" name="Google Shape;3792;p118"/>
          <p:cNvSpPr/>
          <p:nvPr/>
        </p:nvSpPr>
        <p:spPr>
          <a:xfrm>
            <a:off x="4638100" y="469822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R3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94" name="Google Shape;3794;p118"/>
          <p:cNvSpPr/>
          <p:nvPr/>
        </p:nvSpPr>
        <p:spPr>
          <a:xfrm>
            <a:off x="6162100" y="469822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R4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01" name="Google Shape;3801;p118"/>
          <p:cNvSpPr/>
          <p:nvPr/>
        </p:nvSpPr>
        <p:spPr>
          <a:xfrm>
            <a:off x="2047300" y="408862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R5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99" name="Google Shape;3799;p118"/>
          <p:cNvSpPr/>
          <p:nvPr/>
        </p:nvSpPr>
        <p:spPr>
          <a:xfrm>
            <a:off x="3647500" y="408862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R6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96" name="Google Shape;3796;p118"/>
          <p:cNvSpPr/>
          <p:nvPr/>
        </p:nvSpPr>
        <p:spPr>
          <a:xfrm>
            <a:off x="5247700" y="408862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R7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97" name="Google Shape;3797;p118"/>
          <p:cNvSpPr/>
          <p:nvPr/>
        </p:nvSpPr>
        <p:spPr>
          <a:xfrm>
            <a:off x="6771700" y="408862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R8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03" name="Google Shape;3803;p118"/>
          <p:cNvSpPr/>
          <p:nvPr/>
        </p:nvSpPr>
        <p:spPr>
          <a:xfrm>
            <a:off x="2656900" y="347902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R9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04" name="Google Shape;3804;p118"/>
          <p:cNvSpPr/>
          <p:nvPr/>
        </p:nvSpPr>
        <p:spPr>
          <a:xfrm>
            <a:off x="4257100" y="347902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R10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06" name="Google Shape;3806;p118"/>
          <p:cNvSpPr/>
          <p:nvPr/>
        </p:nvSpPr>
        <p:spPr>
          <a:xfrm>
            <a:off x="5857300" y="347902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R11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08" name="Google Shape;3808;p118"/>
          <p:cNvSpPr/>
          <p:nvPr/>
        </p:nvSpPr>
        <p:spPr>
          <a:xfrm>
            <a:off x="7381300" y="347902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R12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19" name="Google Shape;3819;p118"/>
          <p:cNvSpPr/>
          <p:nvPr/>
        </p:nvSpPr>
        <p:spPr>
          <a:xfrm>
            <a:off x="1447588" y="1709025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827" name="Google Shape;3827;p118"/>
          <p:cNvCxnSpPr>
            <a:stCxn id="3789" idx="0"/>
            <a:endCxn id="3819" idx="4"/>
          </p:cNvCxnSpPr>
          <p:nvPr/>
        </p:nvCxnSpPr>
        <p:spPr>
          <a:xfrm rot="10800000">
            <a:off x="1590100" y="1994025"/>
            <a:ext cx="0" cy="2704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818" name="Google Shape;3818;p118"/>
          <p:cNvSpPr/>
          <p:nvPr/>
        </p:nvSpPr>
        <p:spPr>
          <a:xfrm>
            <a:off x="2666788" y="1709025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828" name="Google Shape;3828;p118"/>
          <p:cNvCxnSpPr>
            <a:stCxn id="3803" idx="0"/>
            <a:endCxn id="3818" idx="4"/>
          </p:cNvCxnSpPr>
          <p:nvPr/>
        </p:nvCxnSpPr>
        <p:spPr>
          <a:xfrm rot="10800000">
            <a:off x="2809300" y="1994025"/>
            <a:ext cx="0" cy="1485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822" name="Google Shape;3822;p118"/>
          <p:cNvSpPr/>
          <p:nvPr/>
        </p:nvSpPr>
        <p:spPr>
          <a:xfrm>
            <a:off x="6171988" y="1709025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D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829" name="Google Shape;3829;p118"/>
          <p:cNvCxnSpPr>
            <a:stCxn id="3794" idx="0"/>
            <a:endCxn id="3822" idx="4"/>
          </p:cNvCxnSpPr>
          <p:nvPr/>
        </p:nvCxnSpPr>
        <p:spPr>
          <a:xfrm rot="10800000">
            <a:off x="6314500" y="1994025"/>
            <a:ext cx="0" cy="2704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821" name="Google Shape;3821;p118"/>
          <p:cNvSpPr/>
          <p:nvPr/>
        </p:nvSpPr>
        <p:spPr>
          <a:xfrm>
            <a:off x="7391188" y="1709025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830" name="Google Shape;3830;p118"/>
          <p:cNvCxnSpPr>
            <a:stCxn id="3808" idx="0"/>
            <a:endCxn id="3821" idx="4"/>
          </p:cNvCxnSpPr>
          <p:nvPr/>
        </p:nvCxnSpPr>
        <p:spPr>
          <a:xfrm rot="10800000">
            <a:off x="7533700" y="1994025"/>
            <a:ext cx="0" cy="1485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34" name="Shape 38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835" name="Google Shape;3835;p119"/>
          <p:cNvCxnSpPr>
            <a:stCxn id="3836" idx="3"/>
            <a:endCxn id="3837" idx="1"/>
          </p:cNvCxnSpPr>
          <p:nvPr/>
        </p:nvCxnSpPr>
        <p:spPr>
          <a:xfrm>
            <a:off x="1742500" y="4850625"/>
            <a:ext cx="12954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38" name="Google Shape;3838;p119"/>
          <p:cNvCxnSpPr>
            <a:stCxn id="3837" idx="3"/>
            <a:endCxn id="3839" idx="1"/>
          </p:cNvCxnSpPr>
          <p:nvPr/>
        </p:nvCxnSpPr>
        <p:spPr>
          <a:xfrm>
            <a:off x="3342700" y="4850625"/>
            <a:ext cx="12954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40" name="Google Shape;3840;p119"/>
          <p:cNvCxnSpPr>
            <a:stCxn id="3839" idx="3"/>
            <a:endCxn id="3841" idx="1"/>
          </p:cNvCxnSpPr>
          <p:nvPr/>
        </p:nvCxnSpPr>
        <p:spPr>
          <a:xfrm>
            <a:off x="4942900" y="4850625"/>
            <a:ext cx="12192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42" name="Google Shape;3842;p119"/>
          <p:cNvCxnSpPr>
            <a:stCxn id="3843" idx="3"/>
            <a:endCxn id="3844" idx="1"/>
          </p:cNvCxnSpPr>
          <p:nvPr/>
        </p:nvCxnSpPr>
        <p:spPr>
          <a:xfrm>
            <a:off x="5552500" y="4241025"/>
            <a:ext cx="12192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45" name="Google Shape;3845;p119"/>
          <p:cNvCxnSpPr>
            <a:stCxn id="3846" idx="3"/>
            <a:endCxn id="3843" idx="1"/>
          </p:cNvCxnSpPr>
          <p:nvPr/>
        </p:nvCxnSpPr>
        <p:spPr>
          <a:xfrm>
            <a:off x="3952300" y="4241025"/>
            <a:ext cx="12954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47" name="Google Shape;3847;p119"/>
          <p:cNvCxnSpPr>
            <a:stCxn id="3848" idx="3"/>
            <a:endCxn id="3846" idx="1"/>
          </p:cNvCxnSpPr>
          <p:nvPr/>
        </p:nvCxnSpPr>
        <p:spPr>
          <a:xfrm>
            <a:off x="2352100" y="4241025"/>
            <a:ext cx="12954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49" name="Google Shape;3849;p119"/>
          <p:cNvCxnSpPr>
            <a:stCxn id="3850" idx="3"/>
            <a:endCxn id="3851" idx="1"/>
          </p:cNvCxnSpPr>
          <p:nvPr/>
        </p:nvCxnSpPr>
        <p:spPr>
          <a:xfrm>
            <a:off x="2961700" y="3631425"/>
            <a:ext cx="12954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52" name="Google Shape;3852;p119"/>
          <p:cNvCxnSpPr>
            <a:stCxn id="3851" idx="3"/>
            <a:endCxn id="3853" idx="1"/>
          </p:cNvCxnSpPr>
          <p:nvPr/>
        </p:nvCxnSpPr>
        <p:spPr>
          <a:xfrm>
            <a:off x="4561900" y="3631425"/>
            <a:ext cx="12954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54" name="Google Shape;3854;p119"/>
          <p:cNvCxnSpPr>
            <a:stCxn id="3853" idx="3"/>
            <a:endCxn id="3855" idx="1"/>
          </p:cNvCxnSpPr>
          <p:nvPr/>
        </p:nvCxnSpPr>
        <p:spPr>
          <a:xfrm>
            <a:off x="6162100" y="3631425"/>
            <a:ext cx="12192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56" name="Google Shape;3856;p119"/>
          <p:cNvCxnSpPr>
            <a:stCxn id="3841" idx="3"/>
            <a:endCxn id="3844" idx="2"/>
          </p:cNvCxnSpPr>
          <p:nvPr/>
        </p:nvCxnSpPr>
        <p:spPr>
          <a:xfrm flipH="1" rot="10800000">
            <a:off x="6466900" y="4393425"/>
            <a:ext cx="457200" cy="4572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57" name="Google Shape;3857;p119"/>
          <p:cNvCxnSpPr>
            <a:stCxn id="3844" idx="3"/>
            <a:endCxn id="3855" idx="2"/>
          </p:cNvCxnSpPr>
          <p:nvPr/>
        </p:nvCxnSpPr>
        <p:spPr>
          <a:xfrm flipH="1" rot="10800000">
            <a:off x="7076500" y="3783825"/>
            <a:ext cx="457200" cy="4572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58" name="Google Shape;3858;p119"/>
          <p:cNvCxnSpPr>
            <a:stCxn id="3839" idx="3"/>
            <a:endCxn id="3843" idx="2"/>
          </p:cNvCxnSpPr>
          <p:nvPr/>
        </p:nvCxnSpPr>
        <p:spPr>
          <a:xfrm flipH="1" rot="10800000">
            <a:off x="4942900" y="4393425"/>
            <a:ext cx="457200" cy="4572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59" name="Google Shape;3859;p119"/>
          <p:cNvCxnSpPr>
            <a:stCxn id="3843" idx="3"/>
            <a:endCxn id="3853" idx="2"/>
          </p:cNvCxnSpPr>
          <p:nvPr/>
        </p:nvCxnSpPr>
        <p:spPr>
          <a:xfrm flipH="1" rot="10800000">
            <a:off x="5552500" y="3783825"/>
            <a:ext cx="457200" cy="4572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60" name="Google Shape;3860;p119"/>
          <p:cNvCxnSpPr>
            <a:stCxn id="3846" idx="3"/>
            <a:endCxn id="3851" idx="2"/>
          </p:cNvCxnSpPr>
          <p:nvPr/>
        </p:nvCxnSpPr>
        <p:spPr>
          <a:xfrm flipH="1" rot="10800000">
            <a:off x="3952300" y="3783825"/>
            <a:ext cx="457200" cy="4572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61" name="Google Shape;3861;p119"/>
          <p:cNvCxnSpPr>
            <a:stCxn id="3837" idx="3"/>
            <a:endCxn id="3846" idx="2"/>
          </p:cNvCxnSpPr>
          <p:nvPr/>
        </p:nvCxnSpPr>
        <p:spPr>
          <a:xfrm flipH="1" rot="10800000">
            <a:off x="3342700" y="4393425"/>
            <a:ext cx="457200" cy="4572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62" name="Google Shape;3862;p119"/>
          <p:cNvCxnSpPr>
            <a:stCxn id="3836" idx="3"/>
            <a:endCxn id="3848" idx="2"/>
          </p:cNvCxnSpPr>
          <p:nvPr/>
        </p:nvCxnSpPr>
        <p:spPr>
          <a:xfrm flipH="1" rot="10800000">
            <a:off x="1742500" y="4393425"/>
            <a:ext cx="457200" cy="4572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63" name="Google Shape;3863;p119"/>
          <p:cNvCxnSpPr>
            <a:stCxn id="3848" idx="3"/>
            <a:endCxn id="3850" idx="2"/>
          </p:cNvCxnSpPr>
          <p:nvPr/>
        </p:nvCxnSpPr>
        <p:spPr>
          <a:xfrm flipH="1" rot="10800000">
            <a:off x="2352100" y="3783825"/>
            <a:ext cx="457200" cy="4572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64" name="Google Shape;3864;p119"/>
          <p:cNvCxnSpPr>
            <a:stCxn id="3865" idx="2"/>
            <a:endCxn id="3866" idx="6"/>
          </p:cNvCxnSpPr>
          <p:nvPr/>
        </p:nvCxnSpPr>
        <p:spPr>
          <a:xfrm rot="10800000">
            <a:off x="1732588" y="1851525"/>
            <a:ext cx="934200" cy="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67" name="Google Shape;3867;p119"/>
          <p:cNvCxnSpPr>
            <a:stCxn id="3868" idx="2"/>
            <a:endCxn id="3869" idx="6"/>
          </p:cNvCxnSpPr>
          <p:nvPr/>
        </p:nvCxnSpPr>
        <p:spPr>
          <a:xfrm rot="10800000">
            <a:off x="6456988" y="1851525"/>
            <a:ext cx="934200" cy="0"/>
          </a:xfrm>
          <a:prstGeom prst="straightConnector1">
            <a:avLst/>
          </a:prstGeom>
          <a:noFill/>
          <a:ln cap="flat" cmpd="sng" w="28575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70" name="Google Shape;3870;p119"/>
          <p:cNvCxnSpPr>
            <a:stCxn id="3869" idx="2"/>
            <a:endCxn id="3865" idx="6"/>
          </p:cNvCxnSpPr>
          <p:nvPr/>
        </p:nvCxnSpPr>
        <p:spPr>
          <a:xfrm rot="10800000">
            <a:off x="2951788" y="1851525"/>
            <a:ext cx="3220200" cy="0"/>
          </a:xfrm>
          <a:prstGeom prst="straightConnector1">
            <a:avLst/>
          </a:prstGeom>
          <a:noFill/>
          <a:ln cap="flat" cmpd="sng" w="28575">
            <a:solidFill>
              <a:srgbClr val="38761D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871" name="Google Shape;3871;p119"/>
          <p:cNvSpPr/>
          <p:nvPr/>
        </p:nvSpPr>
        <p:spPr>
          <a:xfrm>
            <a:off x="1695350" y="1479491"/>
            <a:ext cx="5729200" cy="286875"/>
          </a:xfrm>
          <a:custGeom>
            <a:rect b="b" l="l" r="r" t="t"/>
            <a:pathLst>
              <a:path extrusionOk="0" h="11475" w="229168">
                <a:moveTo>
                  <a:pt x="0" y="11104"/>
                </a:moveTo>
                <a:cubicBezTo>
                  <a:pt x="7485" y="9387"/>
                  <a:pt x="13938" y="2336"/>
                  <a:pt x="44908" y="800"/>
                </a:cubicBezTo>
                <a:cubicBezTo>
                  <a:pt x="75879" y="-736"/>
                  <a:pt x="155113" y="110"/>
                  <a:pt x="185823" y="1889"/>
                </a:cubicBezTo>
                <a:cubicBezTo>
                  <a:pt x="216533" y="3668"/>
                  <a:pt x="221944" y="9877"/>
                  <a:pt x="229168" y="11475"/>
                </a:cubicBezTo>
              </a:path>
            </a:pathLst>
          </a:cu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3872" name="Google Shape;3872;p119"/>
          <p:cNvSpPr txBox="1"/>
          <p:nvPr>
            <p:ph idx="1" type="body"/>
          </p:nvPr>
        </p:nvSpPr>
        <p:spPr>
          <a:xfrm>
            <a:off x="107050" y="402200"/>
            <a:ext cx="8909700" cy="60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The average stretch factor depends on how the nodes are numbered.</a:t>
            </a:r>
            <a:endParaRPr/>
          </a:p>
        </p:txBody>
      </p:sp>
      <p:sp>
        <p:nvSpPr>
          <p:cNvPr id="3873" name="Google Shape;3873;p119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Overlay Ring Topology #1</a:t>
            </a:r>
            <a:endParaRPr/>
          </a:p>
        </p:txBody>
      </p:sp>
      <p:sp>
        <p:nvSpPr>
          <p:cNvPr id="3836" name="Google Shape;3836;p119"/>
          <p:cNvSpPr/>
          <p:nvPr/>
        </p:nvSpPr>
        <p:spPr>
          <a:xfrm>
            <a:off x="1437700" y="469822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R1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37" name="Google Shape;3837;p119"/>
          <p:cNvSpPr/>
          <p:nvPr/>
        </p:nvSpPr>
        <p:spPr>
          <a:xfrm>
            <a:off x="3037900" y="469822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R2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39" name="Google Shape;3839;p119"/>
          <p:cNvSpPr/>
          <p:nvPr/>
        </p:nvSpPr>
        <p:spPr>
          <a:xfrm>
            <a:off x="4638100" y="469822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R3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41" name="Google Shape;3841;p119"/>
          <p:cNvSpPr/>
          <p:nvPr/>
        </p:nvSpPr>
        <p:spPr>
          <a:xfrm>
            <a:off x="6162100" y="469822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R4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48" name="Google Shape;3848;p119"/>
          <p:cNvSpPr/>
          <p:nvPr/>
        </p:nvSpPr>
        <p:spPr>
          <a:xfrm>
            <a:off x="2047300" y="408862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R5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46" name="Google Shape;3846;p119"/>
          <p:cNvSpPr/>
          <p:nvPr/>
        </p:nvSpPr>
        <p:spPr>
          <a:xfrm>
            <a:off x="3647500" y="408862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R6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43" name="Google Shape;3843;p119"/>
          <p:cNvSpPr/>
          <p:nvPr/>
        </p:nvSpPr>
        <p:spPr>
          <a:xfrm>
            <a:off x="5247700" y="408862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R7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44" name="Google Shape;3844;p119"/>
          <p:cNvSpPr/>
          <p:nvPr/>
        </p:nvSpPr>
        <p:spPr>
          <a:xfrm>
            <a:off x="6771700" y="408862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R8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50" name="Google Shape;3850;p119"/>
          <p:cNvSpPr/>
          <p:nvPr/>
        </p:nvSpPr>
        <p:spPr>
          <a:xfrm>
            <a:off x="2656900" y="347902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R9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51" name="Google Shape;3851;p119"/>
          <p:cNvSpPr/>
          <p:nvPr/>
        </p:nvSpPr>
        <p:spPr>
          <a:xfrm>
            <a:off x="4257100" y="347902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R10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53" name="Google Shape;3853;p119"/>
          <p:cNvSpPr/>
          <p:nvPr/>
        </p:nvSpPr>
        <p:spPr>
          <a:xfrm>
            <a:off x="5857300" y="347902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R11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55" name="Google Shape;3855;p119"/>
          <p:cNvSpPr/>
          <p:nvPr/>
        </p:nvSpPr>
        <p:spPr>
          <a:xfrm>
            <a:off x="7381300" y="347902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R12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66" name="Google Shape;3866;p119"/>
          <p:cNvSpPr/>
          <p:nvPr/>
        </p:nvSpPr>
        <p:spPr>
          <a:xfrm>
            <a:off x="1447588" y="1709025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874" name="Google Shape;3874;p119"/>
          <p:cNvCxnSpPr>
            <a:stCxn id="3836" idx="0"/>
            <a:endCxn id="3866" idx="4"/>
          </p:cNvCxnSpPr>
          <p:nvPr/>
        </p:nvCxnSpPr>
        <p:spPr>
          <a:xfrm rot="10800000">
            <a:off x="1590100" y="1994025"/>
            <a:ext cx="0" cy="2704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865" name="Google Shape;3865;p119"/>
          <p:cNvSpPr/>
          <p:nvPr/>
        </p:nvSpPr>
        <p:spPr>
          <a:xfrm>
            <a:off x="2666788" y="1709025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875" name="Google Shape;3875;p119"/>
          <p:cNvCxnSpPr>
            <a:stCxn id="3850" idx="0"/>
            <a:endCxn id="3865" idx="4"/>
          </p:cNvCxnSpPr>
          <p:nvPr/>
        </p:nvCxnSpPr>
        <p:spPr>
          <a:xfrm rot="10800000">
            <a:off x="2809300" y="1994025"/>
            <a:ext cx="0" cy="1485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869" name="Google Shape;3869;p119"/>
          <p:cNvSpPr/>
          <p:nvPr/>
        </p:nvSpPr>
        <p:spPr>
          <a:xfrm>
            <a:off x="6171988" y="1709025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D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876" name="Google Shape;3876;p119"/>
          <p:cNvCxnSpPr>
            <a:stCxn id="3841" idx="0"/>
            <a:endCxn id="3869" idx="4"/>
          </p:cNvCxnSpPr>
          <p:nvPr/>
        </p:nvCxnSpPr>
        <p:spPr>
          <a:xfrm rot="10800000">
            <a:off x="6314500" y="1994025"/>
            <a:ext cx="0" cy="2704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868" name="Google Shape;3868;p119"/>
          <p:cNvSpPr/>
          <p:nvPr/>
        </p:nvSpPr>
        <p:spPr>
          <a:xfrm>
            <a:off x="7391188" y="1709025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877" name="Google Shape;3877;p119"/>
          <p:cNvCxnSpPr>
            <a:stCxn id="3855" idx="0"/>
            <a:endCxn id="3868" idx="4"/>
          </p:cNvCxnSpPr>
          <p:nvPr/>
        </p:nvCxnSpPr>
        <p:spPr>
          <a:xfrm rot="10800000">
            <a:off x="7533700" y="1994025"/>
            <a:ext cx="0" cy="1485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878" name="Google Shape;3878;p119"/>
          <p:cNvSpPr txBox="1"/>
          <p:nvPr/>
        </p:nvSpPr>
        <p:spPr>
          <a:xfrm>
            <a:off x="1732600" y="1927725"/>
            <a:ext cx="9342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00FF"/>
                </a:solidFill>
                <a:latin typeface="Roboto"/>
                <a:ea typeface="Roboto"/>
                <a:cs typeface="Roboto"/>
                <a:sym typeface="Roboto"/>
              </a:rPr>
              <a:t>Stretch = 2</a:t>
            </a:r>
            <a:endParaRPr>
              <a:solidFill>
                <a:srgbClr val="FF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82" name="Shape 38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883" name="Google Shape;3883;p120"/>
          <p:cNvCxnSpPr>
            <a:stCxn id="3884" idx="3"/>
            <a:endCxn id="3885" idx="2"/>
          </p:cNvCxnSpPr>
          <p:nvPr/>
        </p:nvCxnSpPr>
        <p:spPr>
          <a:xfrm flipH="1" rot="10800000">
            <a:off x="1742500" y="4393425"/>
            <a:ext cx="457200" cy="4572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86" name="Google Shape;3886;p120"/>
          <p:cNvCxnSpPr>
            <a:stCxn id="3885" idx="3"/>
            <a:endCxn id="3887" idx="2"/>
          </p:cNvCxnSpPr>
          <p:nvPr/>
        </p:nvCxnSpPr>
        <p:spPr>
          <a:xfrm flipH="1" rot="10800000">
            <a:off x="2352100" y="3783825"/>
            <a:ext cx="457200" cy="4572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88" name="Google Shape;3888;p120"/>
          <p:cNvCxnSpPr>
            <a:stCxn id="3884" idx="3"/>
            <a:endCxn id="3889" idx="1"/>
          </p:cNvCxnSpPr>
          <p:nvPr/>
        </p:nvCxnSpPr>
        <p:spPr>
          <a:xfrm>
            <a:off x="1742500" y="4850625"/>
            <a:ext cx="12954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90" name="Google Shape;3890;p120"/>
          <p:cNvCxnSpPr>
            <a:stCxn id="3889" idx="3"/>
            <a:endCxn id="3891" idx="1"/>
          </p:cNvCxnSpPr>
          <p:nvPr/>
        </p:nvCxnSpPr>
        <p:spPr>
          <a:xfrm>
            <a:off x="3342700" y="4850625"/>
            <a:ext cx="12954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92" name="Google Shape;3892;p120"/>
          <p:cNvCxnSpPr>
            <a:stCxn id="3893" idx="3"/>
            <a:endCxn id="3894" idx="1"/>
          </p:cNvCxnSpPr>
          <p:nvPr/>
        </p:nvCxnSpPr>
        <p:spPr>
          <a:xfrm>
            <a:off x="5552500" y="4241025"/>
            <a:ext cx="12192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95" name="Google Shape;3895;p120"/>
          <p:cNvCxnSpPr>
            <a:stCxn id="3885" idx="3"/>
            <a:endCxn id="3896" idx="1"/>
          </p:cNvCxnSpPr>
          <p:nvPr/>
        </p:nvCxnSpPr>
        <p:spPr>
          <a:xfrm>
            <a:off x="2352100" y="4241025"/>
            <a:ext cx="12954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97" name="Google Shape;3897;p120"/>
          <p:cNvCxnSpPr>
            <a:stCxn id="3898" idx="3"/>
            <a:endCxn id="3899" idx="1"/>
          </p:cNvCxnSpPr>
          <p:nvPr/>
        </p:nvCxnSpPr>
        <p:spPr>
          <a:xfrm>
            <a:off x="4561900" y="3631425"/>
            <a:ext cx="12954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00" name="Google Shape;3900;p120"/>
          <p:cNvCxnSpPr>
            <a:stCxn id="3899" idx="3"/>
            <a:endCxn id="3901" idx="1"/>
          </p:cNvCxnSpPr>
          <p:nvPr/>
        </p:nvCxnSpPr>
        <p:spPr>
          <a:xfrm>
            <a:off x="6162100" y="3631425"/>
            <a:ext cx="12192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02" name="Google Shape;3902;p120"/>
          <p:cNvCxnSpPr>
            <a:stCxn id="3903" idx="3"/>
            <a:endCxn id="3894" idx="2"/>
          </p:cNvCxnSpPr>
          <p:nvPr/>
        </p:nvCxnSpPr>
        <p:spPr>
          <a:xfrm flipH="1" rot="10800000">
            <a:off x="6466900" y="4393425"/>
            <a:ext cx="457200" cy="4572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04" name="Google Shape;3904;p120"/>
          <p:cNvCxnSpPr>
            <a:stCxn id="3894" idx="3"/>
            <a:endCxn id="3901" idx="2"/>
          </p:cNvCxnSpPr>
          <p:nvPr/>
        </p:nvCxnSpPr>
        <p:spPr>
          <a:xfrm flipH="1" rot="10800000">
            <a:off x="7076500" y="3783825"/>
            <a:ext cx="457200" cy="4572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05" name="Google Shape;3905;p120"/>
          <p:cNvCxnSpPr>
            <a:stCxn id="3893" idx="3"/>
            <a:endCxn id="3899" idx="2"/>
          </p:cNvCxnSpPr>
          <p:nvPr/>
        </p:nvCxnSpPr>
        <p:spPr>
          <a:xfrm flipH="1" rot="10800000">
            <a:off x="5552500" y="3783825"/>
            <a:ext cx="457200" cy="4572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06" name="Google Shape;3906;p120"/>
          <p:cNvCxnSpPr>
            <a:stCxn id="3889" idx="3"/>
            <a:endCxn id="3896" idx="2"/>
          </p:cNvCxnSpPr>
          <p:nvPr/>
        </p:nvCxnSpPr>
        <p:spPr>
          <a:xfrm flipH="1" rot="10800000">
            <a:off x="3342700" y="4393425"/>
            <a:ext cx="457200" cy="4572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07" name="Google Shape;3907;p120"/>
          <p:cNvCxnSpPr>
            <a:stCxn id="3891" idx="3"/>
            <a:endCxn id="3903" idx="1"/>
          </p:cNvCxnSpPr>
          <p:nvPr/>
        </p:nvCxnSpPr>
        <p:spPr>
          <a:xfrm>
            <a:off x="4942900" y="4850625"/>
            <a:ext cx="1219200" cy="0"/>
          </a:xfrm>
          <a:prstGeom prst="straightConnector1">
            <a:avLst/>
          </a:prstGeom>
          <a:noFill/>
          <a:ln cap="flat" cmpd="sng" w="28575">
            <a:solidFill>
              <a:srgbClr val="38761D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08" name="Google Shape;3908;p120"/>
          <p:cNvCxnSpPr>
            <a:stCxn id="3896" idx="3"/>
            <a:endCxn id="3893" idx="1"/>
          </p:cNvCxnSpPr>
          <p:nvPr/>
        </p:nvCxnSpPr>
        <p:spPr>
          <a:xfrm>
            <a:off x="3952300" y="4241025"/>
            <a:ext cx="1295400" cy="0"/>
          </a:xfrm>
          <a:prstGeom prst="straightConnector1">
            <a:avLst/>
          </a:prstGeom>
          <a:noFill/>
          <a:ln cap="flat" cmpd="sng" w="28575">
            <a:solidFill>
              <a:srgbClr val="38761D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09" name="Google Shape;3909;p120"/>
          <p:cNvCxnSpPr>
            <a:stCxn id="3887" idx="3"/>
            <a:endCxn id="3898" idx="1"/>
          </p:cNvCxnSpPr>
          <p:nvPr/>
        </p:nvCxnSpPr>
        <p:spPr>
          <a:xfrm>
            <a:off x="2961700" y="3631425"/>
            <a:ext cx="1295400" cy="0"/>
          </a:xfrm>
          <a:prstGeom prst="straightConnector1">
            <a:avLst/>
          </a:prstGeom>
          <a:noFill/>
          <a:ln cap="flat" cmpd="sng" w="28575">
            <a:solidFill>
              <a:srgbClr val="38761D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10" name="Google Shape;3910;p120"/>
          <p:cNvCxnSpPr>
            <a:stCxn id="3891" idx="3"/>
            <a:endCxn id="3893" idx="2"/>
          </p:cNvCxnSpPr>
          <p:nvPr/>
        </p:nvCxnSpPr>
        <p:spPr>
          <a:xfrm flipH="1" rot="10800000">
            <a:off x="4942900" y="4393425"/>
            <a:ext cx="457200" cy="457200"/>
          </a:xfrm>
          <a:prstGeom prst="straightConnector1">
            <a:avLst/>
          </a:prstGeom>
          <a:noFill/>
          <a:ln cap="flat" cmpd="sng" w="28575">
            <a:solidFill>
              <a:srgbClr val="38761D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11" name="Google Shape;3911;p120"/>
          <p:cNvCxnSpPr>
            <a:stCxn id="3896" idx="3"/>
            <a:endCxn id="3898" idx="2"/>
          </p:cNvCxnSpPr>
          <p:nvPr/>
        </p:nvCxnSpPr>
        <p:spPr>
          <a:xfrm flipH="1" rot="10800000">
            <a:off x="3952300" y="3783825"/>
            <a:ext cx="457200" cy="457200"/>
          </a:xfrm>
          <a:prstGeom prst="straightConnector1">
            <a:avLst/>
          </a:prstGeom>
          <a:noFill/>
          <a:ln cap="flat" cmpd="sng" w="28575">
            <a:solidFill>
              <a:srgbClr val="38761D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12" name="Google Shape;3912;p120"/>
          <p:cNvCxnSpPr>
            <a:stCxn id="3913" idx="2"/>
            <a:endCxn id="3914" idx="6"/>
          </p:cNvCxnSpPr>
          <p:nvPr/>
        </p:nvCxnSpPr>
        <p:spPr>
          <a:xfrm rot="10800000">
            <a:off x="1732588" y="1851525"/>
            <a:ext cx="934200" cy="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15" name="Google Shape;3915;p120"/>
          <p:cNvCxnSpPr>
            <a:stCxn id="3916" idx="2"/>
            <a:endCxn id="3917" idx="6"/>
          </p:cNvCxnSpPr>
          <p:nvPr/>
        </p:nvCxnSpPr>
        <p:spPr>
          <a:xfrm rot="10800000">
            <a:off x="6456988" y="1851525"/>
            <a:ext cx="934200" cy="0"/>
          </a:xfrm>
          <a:prstGeom prst="straightConnector1">
            <a:avLst/>
          </a:prstGeom>
          <a:noFill/>
          <a:ln cap="flat" cmpd="sng" w="28575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18" name="Google Shape;3918;p120"/>
          <p:cNvCxnSpPr>
            <a:stCxn id="3917" idx="2"/>
            <a:endCxn id="3913" idx="6"/>
          </p:cNvCxnSpPr>
          <p:nvPr/>
        </p:nvCxnSpPr>
        <p:spPr>
          <a:xfrm rot="10800000">
            <a:off x="2951788" y="1851525"/>
            <a:ext cx="3220200" cy="0"/>
          </a:xfrm>
          <a:prstGeom prst="straightConnector1">
            <a:avLst/>
          </a:prstGeom>
          <a:noFill/>
          <a:ln cap="flat" cmpd="sng" w="28575">
            <a:solidFill>
              <a:srgbClr val="38761D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919" name="Google Shape;3919;p120"/>
          <p:cNvSpPr/>
          <p:nvPr/>
        </p:nvSpPr>
        <p:spPr>
          <a:xfrm>
            <a:off x="1695350" y="1479491"/>
            <a:ext cx="5729200" cy="286875"/>
          </a:xfrm>
          <a:custGeom>
            <a:rect b="b" l="l" r="r" t="t"/>
            <a:pathLst>
              <a:path extrusionOk="0" h="11475" w="229168">
                <a:moveTo>
                  <a:pt x="0" y="11104"/>
                </a:moveTo>
                <a:cubicBezTo>
                  <a:pt x="7485" y="9387"/>
                  <a:pt x="13938" y="2336"/>
                  <a:pt x="44908" y="800"/>
                </a:cubicBezTo>
                <a:cubicBezTo>
                  <a:pt x="75879" y="-736"/>
                  <a:pt x="155113" y="110"/>
                  <a:pt x="185823" y="1889"/>
                </a:cubicBezTo>
                <a:cubicBezTo>
                  <a:pt x="216533" y="3668"/>
                  <a:pt x="221944" y="9877"/>
                  <a:pt x="229168" y="11475"/>
                </a:cubicBezTo>
              </a:path>
            </a:pathLst>
          </a:cu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3920" name="Google Shape;3920;p120"/>
          <p:cNvSpPr txBox="1"/>
          <p:nvPr>
            <p:ph idx="1" type="body"/>
          </p:nvPr>
        </p:nvSpPr>
        <p:spPr>
          <a:xfrm>
            <a:off x="107050" y="402200"/>
            <a:ext cx="8909700" cy="60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The average stretch factor depends on how the nodes are numbered.</a:t>
            </a:r>
            <a:endParaRPr/>
          </a:p>
        </p:txBody>
      </p:sp>
      <p:sp>
        <p:nvSpPr>
          <p:cNvPr id="3921" name="Google Shape;3921;p120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Overlay Ring Topology #1</a:t>
            </a:r>
            <a:endParaRPr/>
          </a:p>
        </p:txBody>
      </p:sp>
      <p:sp>
        <p:nvSpPr>
          <p:cNvPr id="3884" name="Google Shape;3884;p120"/>
          <p:cNvSpPr/>
          <p:nvPr/>
        </p:nvSpPr>
        <p:spPr>
          <a:xfrm>
            <a:off x="1437700" y="469822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R1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89" name="Google Shape;3889;p120"/>
          <p:cNvSpPr/>
          <p:nvPr/>
        </p:nvSpPr>
        <p:spPr>
          <a:xfrm>
            <a:off x="3037900" y="469822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R2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91" name="Google Shape;3891;p120"/>
          <p:cNvSpPr/>
          <p:nvPr/>
        </p:nvSpPr>
        <p:spPr>
          <a:xfrm>
            <a:off x="4638100" y="469822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R3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03" name="Google Shape;3903;p120"/>
          <p:cNvSpPr/>
          <p:nvPr/>
        </p:nvSpPr>
        <p:spPr>
          <a:xfrm>
            <a:off x="6162100" y="469822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R4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85" name="Google Shape;3885;p120"/>
          <p:cNvSpPr/>
          <p:nvPr/>
        </p:nvSpPr>
        <p:spPr>
          <a:xfrm>
            <a:off x="2047300" y="408862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R5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96" name="Google Shape;3896;p120"/>
          <p:cNvSpPr/>
          <p:nvPr/>
        </p:nvSpPr>
        <p:spPr>
          <a:xfrm>
            <a:off x="3647500" y="408862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R6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93" name="Google Shape;3893;p120"/>
          <p:cNvSpPr/>
          <p:nvPr/>
        </p:nvSpPr>
        <p:spPr>
          <a:xfrm>
            <a:off x="5247700" y="408862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R7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94" name="Google Shape;3894;p120"/>
          <p:cNvSpPr/>
          <p:nvPr/>
        </p:nvSpPr>
        <p:spPr>
          <a:xfrm>
            <a:off x="6771700" y="408862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R8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87" name="Google Shape;3887;p120"/>
          <p:cNvSpPr/>
          <p:nvPr/>
        </p:nvSpPr>
        <p:spPr>
          <a:xfrm>
            <a:off x="2656900" y="347902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R9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98" name="Google Shape;3898;p120"/>
          <p:cNvSpPr/>
          <p:nvPr/>
        </p:nvSpPr>
        <p:spPr>
          <a:xfrm>
            <a:off x="4257100" y="347902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R10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99" name="Google Shape;3899;p120"/>
          <p:cNvSpPr/>
          <p:nvPr/>
        </p:nvSpPr>
        <p:spPr>
          <a:xfrm>
            <a:off x="5857300" y="347902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R11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01" name="Google Shape;3901;p120"/>
          <p:cNvSpPr/>
          <p:nvPr/>
        </p:nvSpPr>
        <p:spPr>
          <a:xfrm>
            <a:off x="7381300" y="347902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R12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14" name="Google Shape;3914;p120"/>
          <p:cNvSpPr/>
          <p:nvPr/>
        </p:nvSpPr>
        <p:spPr>
          <a:xfrm>
            <a:off x="1447588" y="1709025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922" name="Google Shape;3922;p120"/>
          <p:cNvCxnSpPr>
            <a:stCxn id="3884" idx="0"/>
            <a:endCxn id="3914" idx="4"/>
          </p:cNvCxnSpPr>
          <p:nvPr/>
        </p:nvCxnSpPr>
        <p:spPr>
          <a:xfrm rot="10800000">
            <a:off x="1590100" y="1994025"/>
            <a:ext cx="0" cy="2704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913" name="Google Shape;3913;p120"/>
          <p:cNvSpPr/>
          <p:nvPr/>
        </p:nvSpPr>
        <p:spPr>
          <a:xfrm>
            <a:off x="2666788" y="1709025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923" name="Google Shape;3923;p120"/>
          <p:cNvCxnSpPr>
            <a:stCxn id="3887" idx="0"/>
            <a:endCxn id="3913" idx="4"/>
          </p:cNvCxnSpPr>
          <p:nvPr/>
        </p:nvCxnSpPr>
        <p:spPr>
          <a:xfrm rot="10800000">
            <a:off x="2809300" y="1994025"/>
            <a:ext cx="0" cy="1485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917" name="Google Shape;3917;p120"/>
          <p:cNvSpPr/>
          <p:nvPr/>
        </p:nvSpPr>
        <p:spPr>
          <a:xfrm>
            <a:off x="6171988" y="1709025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D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924" name="Google Shape;3924;p120"/>
          <p:cNvCxnSpPr>
            <a:stCxn id="3903" idx="0"/>
            <a:endCxn id="3917" idx="4"/>
          </p:cNvCxnSpPr>
          <p:nvPr/>
        </p:nvCxnSpPr>
        <p:spPr>
          <a:xfrm rot="10800000">
            <a:off x="6314500" y="1994025"/>
            <a:ext cx="0" cy="2704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916" name="Google Shape;3916;p120"/>
          <p:cNvSpPr/>
          <p:nvPr/>
        </p:nvSpPr>
        <p:spPr>
          <a:xfrm>
            <a:off x="7391188" y="1709025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925" name="Google Shape;3925;p120"/>
          <p:cNvCxnSpPr>
            <a:stCxn id="3901" idx="0"/>
            <a:endCxn id="3916" idx="4"/>
          </p:cNvCxnSpPr>
          <p:nvPr/>
        </p:nvCxnSpPr>
        <p:spPr>
          <a:xfrm rot="10800000">
            <a:off x="7533700" y="1994025"/>
            <a:ext cx="0" cy="1485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926" name="Google Shape;3926;p120"/>
          <p:cNvSpPr txBox="1"/>
          <p:nvPr/>
        </p:nvSpPr>
        <p:spPr>
          <a:xfrm>
            <a:off x="1732600" y="1927725"/>
            <a:ext cx="9342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00FF"/>
                </a:solidFill>
                <a:latin typeface="Roboto"/>
                <a:ea typeface="Roboto"/>
                <a:cs typeface="Roboto"/>
                <a:sym typeface="Roboto"/>
              </a:rPr>
              <a:t>Stretch = 2</a:t>
            </a:r>
            <a:endParaRPr>
              <a:solidFill>
                <a:srgbClr val="FF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27" name="Google Shape;3927;p120"/>
          <p:cNvSpPr txBox="1"/>
          <p:nvPr/>
        </p:nvSpPr>
        <p:spPr>
          <a:xfrm>
            <a:off x="4104900" y="1927713"/>
            <a:ext cx="9342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8761D"/>
                </a:solidFill>
                <a:latin typeface="Roboto"/>
                <a:ea typeface="Roboto"/>
                <a:cs typeface="Roboto"/>
                <a:sym typeface="Roboto"/>
              </a:rPr>
              <a:t>Stretch = 5</a:t>
            </a:r>
            <a:endParaRPr>
              <a:solidFill>
                <a:srgbClr val="38761D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31" name="Shape 39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932" name="Google Shape;3932;p121"/>
          <p:cNvCxnSpPr>
            <a:stCxn id="3933" idx="3"/>
            <a:endCxn id="3934" idx="2"/>
          </p:cNvCxnSpPr>
          <p:nvPr/>
        </p:nvCxnSpPr>
        <p:spPr>
          <a:xfrm flipH="1" rot="10800000">
            <a:off x="6466900" y="4393425"/>
            <a:ext cx="457200" cy="457200"/>
          </a:xfrm>
          <a:prstGeom prst="straightConnector1">
            <a:avLst/>
          </a:prstGeom>
          <a:noFill/>
          <a:ln cap="flat" cmpd="sng" w="28575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35" name="Google Shape;3935;p121"/>
          <p:cNvCxnSpPr>
            <a:stCxn id="3934" idx="3"/>
            <a:endCxn id="3936" idx="2"/>
          </p:cNvCxnSpPr>
          <p:nvPr/>
        </p:nvCxnSpPr>
        <p:spPr>
          <a:xfrm flipH="1" rot="10800000">
            <a:off x="7076500" y="3783825"/>
            <a:ext cx="457200" cy="457200"/>
          </a:xfrm>
          <a:prstGeom prst="straightConnector1">
            <a:avLst/>
          </a:prstGeom>
          <a:noFill/>
          <a:ln cap="flat" cmpd="sng" w="28575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37" name="Google Shape;3937;p121"/>
          <p:cNvCxnSpPr>
            <a:stCxn id="3938" idx="3"/>
            <a:endCxn id="3939" idx="1"/>
          </p:cNvCxnSpPr>
          <p:nvPr/>
        </p:nvCxnSpPr>
        <p:spPr>
          <a:xfrm>
            <a:off x="1742500" y="4850625"/>
            <a:ext cx="12954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40" name="Google Shape;3940;p121"/>
          <p:cNvCxnSpPr>
            <a:stCxn id="3939" idx="3"/>
            <a:endCxn id="3941" idx="1"/>
          </p:cNvCxnSpPr>
          <p:nvPr/>
        </p:nvCxnSpPr>
        <p:spPr>
          <a:xfrm>
            <a:off x="3342700" y="4850625"/>
            <a:ext cx="12954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42" name="Google Shape;3942;p121"/>
          <p:cNvCxnSpPr>
            <a:stCxn id="3941" idx="3"/>
            <a:endCxn id="3933" idx="1"/>
          </p:cNvCxnSpPr>
          <p:nvPr/>
        </p:nvCxnSpPr>
        <p:spPr>
          <a:xfrm>
            <a:off x="4942900" y="4850625"/>
            <a:ext cx="12192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43" name="Google Shape;3943;p121"/>
          <p:cNvCxnSpPr>
            <a:stCxn id="3944" idx="3"/>
            <a:endCxn id="3934" idx="1"/>
          </p:cNvCxnSpPr>
          <p:nvPr/>
        </p:nvCxnSpPr>
        <p:spPr>
          <a:xfrm>
            <a:off x="5552500" y="4241025"/>
            <a:ext cx="12192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45" name="Google Shape;3945;p121"/>
          <p:cNvCxnSpPr>
            <a:stCxn id="3946" idx="3"/>
            <a:endCxn id="3944" idx="1"/>
          </p:cNvCxnSpPr>
          <p:nvPr/>
        </p:nvCxnSpPr>
        <p:spPr>
          <a:xfrm>
            <a:off x="3952300" y="4241025"/>
            <a:ext cx="12954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47" name="Google Shape;3947;p121"/>
          <p:cNvCxnSpPr>
            <a:stCxn id="3948" idx="3"/>
            <a:endCxn id="3946" idx="1"/>
          </p:cNvCxnSpPr>
          <p:nvPr/>
        </p:nvCxnSpPr>
        <p:spPr>
          <a:xfrm>
            <a:off x="2352100" y="4241025"/>
            <a:ext cx="12954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49" name="Google Shape;3949;p121"/>
          <p:cNvCxnSpPr>
            <a:stCxn id="3950" idx="3"/>
            <a:endCxn id="3951" idx="1"/>
          </p:cNvCxnSpPr>
          <p:nvPr/>
        </p:nvCxnSpPr>
        <p:spPr>
          <a:xfrm>
            <a:off x="2961700" y="3631425"/>
            <a:ext cx="12954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52" name="Google Shape;3952;p121"/>
          <p:cNvCxnSpPr>
            <a:stCxn id="3951" idx="3"/>
            <a:endCxn id="3953" idx="1"/>
          </p:cNvCxnSpPr>
          <p:nvPr/>
        </p:nvCxnSpPr>
        <p:spPr>
          <a:xfrm>
            <a:off x="4561900" y="3631425"/>
            <a:ext cx="12954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54" name="Google Shape;3954;p121"/>
          <p:cNvCxnSpPr>
            <a:stCxn id="3953" idx="3"/>
            <a:endCxn id="3936" idx="1"/>
          </p:cNvCxnSpPr>
          <p:nvPr/>
        </p:nvCxnSpPr>
        <p:spPr>
          <a:xfrm>
            <a:off x="6162100" y="3631425"/>
            <a:ext cx="12192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55" name="Google Shape;3955;p121"/>
          <p:cNvCxnSpPr>
            <a:stCxn id="3941" idx="3"/>
            <a:endCxn id="3944" idx="2"/>
          </p:cNvCxnSpPr>
          <p:nvPr/>
        </p:nvCxnSpPr>
        <p:spPr>
          <a:xfrm flipH="1" rot="10800000">
            <a:off x="4942900" y="4393425"/>
            <a:ext cx="457200" cy="4572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56" name="Google Shape;3956;p121"/>
          <p:cNvCxnSpPr>
            <a:stCxn id="3944" idx="3"/>
            <a:endCxn id="3953" idx="2"/>
          </p:cNvCxnSpPr>
          <p:nvPr/>
        </p:nvCxnSpPr>
        <p:spPr>
          <a:xfrm flipH="1" rot="10800000">
            <a:off x="5552500" y="3783825"/>
            <a:ext cx="457200" cy="4572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57" name="Google Shape;3957;p121"/>
          <p:cNvCxnSpPr>
            <a:stCxn id="3946" idx="3"/>
            <a:endCxn id="3951" idx="2"/>
          </p:cNvCxnSpPr>
          <p:nvPr/>
        </p:nvCxnSpPr>
        <p:spPr>
          <a:xfrm flipH="1" rot="10800000">
            <a:off x="3952300" y="3783825"/>
            <a:ext cx="457200" cy="4572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58" name="Google Shape;3958;p121"/>
          <p:cNvCxnSpPr>
            <a:stCxn id="3939" idx="3"/>
            <a:endCxn id="3946" idx="2"/>
          </p:cNvCxnSpPr>
          <p:nvPr/>
        </p:nvCxnSpPr>
        <p:spPr>
          <a:xfrm flipH="1" rot="10800000">
            <a:off x="3342700" y="4393425"/>
            <a:ext cx="457200" cy="4572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59" name="Google Shape;3959;p121"/>
          <p:cNvCxnSpPr>
            <a:stCxn id="3938" idx="3"/>
            <a:endCxn id="3948" idx="2"/>
          </p:cNvCxnSpPr>
          <p:nvPr/>
        </p:nvCxnSpPr>
        <p:spPr>
          <a:xfrm flipH="1" rot="10800000">
            <a:off x="1742500" y="4393425"/>
            <a:ext cx="457200" cy="4572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60" name="Google Shape;3960;p121"/>
          <p:cNvCxnSpPr>
            <a:stCxn id="3948" idx="3"/>
            <a:endCxn id="3950" idx="2"/>
          </p:cNvCxnSpPr>
          <p:nvPr/>
        </p:nvCxnSpPr>
        <p:spPr>
          <a:xfrm flipH="1" rot="10800000">
            <a:off x="2352100" y="3783825"/>
            <a:ext cx="457200" cy="4572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61" name="Google Shape;3961;p121"/>
          <p:cNvCxnSpPr>
            <a:stCxn id="3962" idx="2"/>
            <a:endCxn id="3963" idx="6"/>
          </p:cNvCxnSpPr>
          <p:nvPr/>
        </p:nvCxnSpPr>
        <p:spPr>
          <a:xfrm rot="10800000">
            <a:off x="1732588" y="1851525"/>
            <a:ext cx="934200" cy="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64" name="Google Shape;3964;p121"/>
          <p:cNvCxnSpPr>
            <a:stCxn id="3965" idx="2"/>
            <a:endCxn id="3966" idx="6"/>
          </p:cNvCxnSpPr>
          <p:nvPr/>
        </p:nvCxnSpPr>
        <p:spPr>
          <a:xfrm rot="10800000">
            <a:off x="6456988" y="1851525"/>
            <a:ext cx="934200" cy="0"/>
          </a:xfrm>
          <a:prstGeom prst="straightConnector1">
            <a:avLst/>
          </a:prstGeom>
          <a:noFill/>
          <a:ln cap="flat" cmpd="sng" w="28575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67" name="Google Shape;3967;p121"/>
          <p:cNvCxnSpPr>
            <a:stCxn id="3966" idx="2"/>
            <a:endCxn id="3962" idx="6"/>
          </p:cNvCxnSpPr>
          <p:nvPr/>
        </p:nvCxnSpPr>
        <p:spPr>
          <a:xfrm rot="10800000">
            <a:off x="2951788" y="1851525"/>
            <a:ext cx="3220200" cy="0"/>
          </a:xfrm>
          <a:prstGeom prst="straightConnector1">
            <a:avLst/>
          </a:prstGeom>
          <a:noFill/>
          <a:ln cap="flat" cmpd="sng" w="28575">
            <a:solidFill>
              <a:srgbClr val="38761D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968" name="Google Shape;3968;p121"/>
          <p:cNvSpPr/>
          <p:nvPr/>
        </p:nvSpPr>
        <p:spPr>
          <a:xfrm>
            <a:off x="1695350" y="1479491"/>
            <a:ext cx="5729200" cy="286875"/>
          </a:xfrm>
          <a:custGeom>
            <a:rect b="b" l="l" r="r" t="t"/>
            <a:pathLst>
              <a:path extrusionOk="0" h="11475" w="229168">
                <a:moveTo>
                  <a:pt x="0" y="11104"/>
                </a:moveTo>
                <a:cubicBezTo>
                  <a:pt x="7485" y="9387"/>
                  <a:pt x="13938" y="2336"/>
                  <a:pt x="44908" y="800"/>
                </a:cubicBezTo>
                <a:cubicBezTo>
                  <a:pt x="75879" y="-736"/>
                  <a:pt x="155113" y="110"/>
                  <a:pt x="185823" y="1889"/>
                </a:cubicBezTo>
                <a:cubicBezTo>
                  <a:pt x="216533" y="3668"/>
                  <a:pt x="221944" y="9877"/>
                  <a:pt x="229168" y="11475"/>
                </a:cubicBezTo>
              </a:path>
            </a:pathLst>
          </a:cu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3969" name="Google Shape;3969;p121"/>
          <p:cNvSpPr txBox="1"/>
          <p:nvPr>
            <p:ph idx="1" type="body"/>
          </p:nvPr>
        </p:nvSpPr>
        <p:spPr>
          <a:xfrm>
            <a:off x="107050" y="402200"/>
            <a:ext cx="8909700" cy="60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The average stretch factor depends on how the nodes are numbered.</a:t>
            </a:r>
            <a:endParaRPr/>
          </a:p>
        </p:txBody>
      </p:sp>
      <p:sp>
        <p:nvSpPr>
          <p:cNvPr id="3970" name="Google Shape;3970;p121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Overlay Ring Topology #1</a:t>
            </a:r>
            <a:endParaRPr/>
          </a:p>
        </p:txBody>
      </p:sp>
      <p:sp>
        <p:nvSpPr>
          <p:cNvPr id="3938" name="Google Shape;3938;p121"/>
          <p:cNvSpPr/>
          <p:nvPr/>
        </p:nvSpPr>
        <p:spPr>
          <a:xfrm>
            <a:off x="1437700" y="469822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R1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39" name="Google Shape;3939;p121"/>
          <p:cNvSpPr/>
          <p:nvPr/>
        </p:nvSpPr>
        <p:spPr>
          <a:xfrm>
            <a:off x="3037900" y="469822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R2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41" name="Google Shape;3941;p121"/>
          <p:cNvSpPr/>
          <p:nvPr/>
        </p:nvSpPr>
        <p:spPr>
          <a:xfrm>
            <a:off x="4638100" y="469822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R3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33" name="Google Shape;3933;p121"/>
          <p:cNvSpPr/>
          <p:nvPr/>
        </p:nvSpPr>
        <p:spPr>
          <a:xfrm>
            <a:off x="6162100" y="469822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R4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48" name="Google Shape;3948;p121"/>
          <p:cNvSpPr/>
          <p:nvPr/>
        </p:nvSpPr>
        <p:spPr>
          <a:xfrm>
            <a:off x="2047300" y="408862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R5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46" name="Google Shape;3946;p121"/>
          <p:cNvSpPr/>
          <p:nvPr/>
        </p:nvSpPr>
        <p:spPr>
          <a:xfrm>
            <a:off x="3647500" y="408862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R6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44" name="Google Shape;3944;p121"/>
          <p:cNvSpPr/>
          <p:nvPr/>
        </p:nvSpPr>
        <p:spPr>
          <a:xfrm>
            <a:off x="5247700" y="408862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R7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34" name="Google Shape;3934;p121"/>
          <p:cNvSpPr/>
          <p:nvPr/>
        </p:nvSpPr>
        <p:spPr>
          <a:xfrm>
            <a:off x="6771700" y="408862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R8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50" name="Google Shape;3950;p121"/>
          <p:cNvSpPr/>
          <p:nvPr/>
        </p:nvSpPr>
        <p:spPr>
          <a:xfrm>
            <a:off x="2656900" y="347902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R9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51" name="Google Shape;3951;p121"/>
          <p:cNvSpPr/>
          <p:nvPr/>
        </p:nvSpPr>
        <p:spPr>
          <a:xfrm>
            <a:off x="4257100" y="347902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R10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53" name="Google Shape;3953;p121"/>
          <p:cNvSpPr/>
          <p:nvPr/>
        </p:nvSpPr>
        <p:spPr>
          <a:xfrm>
            <a:off x="5857300" y="347902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R11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36" name="Google Shape;3936;p121"/>
          <p:cNvSpPr/>
          <p:nvPr/>
        </p:nvSpPr>
        <p:spPr>
          <a:xfrm>
            <a:off x="7381300" y="347902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R12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63" name="Google Shape;3963;p121"/>
          <p:cNvSpPr/>
          <p:nvPr/>
        </p:nvSpPr>
        <p:spPr>
          <a:xfrm>
            <a:off x="1447588" y="1709025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971" name="Google Shape;3971;p121"/>
          <p:cNvCxnSpPr>
            <a:stCxn id="3938" idx="0"/>
            <a:endCxn id="3963" idx="4"/>
          </p:cNvCxnSpPr>
          <p:nvPr/>
        </p:nvCxnSpPr>
        <p:spPr>
          <a:xfrm rot="10800000">
            <a:off x="1590100" y="1994025"/>
            <a:ext cx="0" cy="2704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962" name="Google Shape;3962;p121"/>
          <p:cNvSpPr/>
          <p:nvPr/>
        </p:nvSpPr>
        <p:spPr>
          <a:xfrm>
            <a:off x="2666788" y="1709025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972" name="Google Shape;3972;p121"/>
          <p:cNvCxnSpPr>
            <a:stCxn id="3950" idx="0"/>
            <a:endCxn id="3962" idx="4"/>
          </p:cNvCxnSpPr>
          <p:nvPr/>
        </p:nvCxnSpPr>
        <p:spPr>
          <a:xfrm rot="10800000">
            <a:off x="2809300" y="1994025"/>
            <a:ext cx="0" cy="1485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966" name="Google Shape;3966;p121"/>
          <p:cNvSpPr/>
          <p:nvPr/>
        </p:nvSpPr>
        <p:spPr>
          <a:xfrm>
            <a:off x="6171988" y="1709025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D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973" name="Google Shape;3973;p121"/>
          <p:cNvCxnSpPr>
            <a:stCxn id="3933" idx="0"/>
            <a:endCxn id="3966" idx="4"/>
          </p:cNvCxnSpPr>
          <p:nvPr/>
        </p:nvCxnSpPr>
        <p:spPr>
          <a:xfrm rot="10800000">
            <a:off x="6314500" y="1994025"/>
            <a:ext cx="0" cy="2704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965" name="Google Shape;3965;p121"/>
          <p:cNvSpPr/>
          <p:nvPr/>
        </p:nvSpPr>
        <p:spPr>
          <a:xfrm>
            <a:off x="7391188" y="1709025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974" name="Google Shape;3974;p121"/>
          <p:cNvCxnSpPr>
            <a:stCxn id="3936" idx="0"/>
            <a:endCxn id="3965" idx="4"/>
          </p:cNvCxnSpPr>
          <p:nvPr/>
        </p:nvCxnSpPr>
        <p:spPr>
          <a:xfrm rot="10800000">
            <a:off x="7533700" y="1994025"/>
            <a:ext cx="0" cy="1485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975" name="Google Shape;3975;p121"/>
          <p:cNvSpPr txBox="1"/>
          <p:nvPr/>
        </p:nvSpPr>
        <p:spPr>
          <a:xfrm>
            <a:off x="1732600" y="1927725"/>
            <a:ext cx="9342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00FF"/>
                </a:solidFill>
                <a:latin typeface="Roboto"/>
                <a:ea typeface="Roboto"/>
                <a:cs typeface="Roboto"/>
                <a:sym typeface="Roboto"/>
              </a:rPr>
              <a:t>Stretch = 2</a:t>
            </a:r>
            <a:endParaRPr>
              <a:solidFill>
                <a:srgbClr val="FF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76" name="Google Shape;3976;p121"/>
          <p:cNvSpPr txBox="1"/>
          <p:nvPr/>
        </p:nvSpPr>
        <p:spPr>
          <a:xfrm>
            <a:off x="4104900" y="1927713"/>
            <a:ext cx="9342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8761D"/>
                </a:solidFill>
                <a:latin typeface="Roboto"/>
                <a:ea typeface="Roboto"/>
                <a:cs typeface="Roboto"/>
                <a:sym typeface="Roboto"/>
              </a:rPr>
              <a:t>Stretch = 5</a:t>
            </a:r>
            <a:endParaRPr>
              <a:solidFill>
                <a:srgbClr val="38761D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77" name="Google Shape;3977;p121"/>
          <p:cNvSpPr txBox="1"/>
          <p:nvPr/>
        </p:nvSpPr>
        <p:spPr>
          <a:xfrm>
            <a:off x="6457000" y="1927725"/>
            <a:ext cx="9342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Stretch = 2</a:t>
            </a:r>
            <a:endParaRPr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81" name="Shape 39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982" name="Google Shape;3982;p122"/>
          <p:cNvCxnSpPr>
            <a:stCxn id="3983" idx="3"/>
            <a:endCxn id="3984" idx="1"/>
          </p:cNvCxnSpPr>
          <p:nvPr/>
        </p:nvCxnSpPr>
        <p:spPr>
          <a:xfrm>
            <a:off x="2961700" y="3631425"/>
            <a:ext cx="1295400" cy="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85" name="Google Shape;3985;p122"/>
          <p:cNvCxnSpPr>
            <a:stCxn id="3984" idx="3"/>
            <a:endCxn id="3986" idx="1"/>
          </p:cNvCxnSpPr>
          <p:nvPr/>
        </p:nvCxnSpPr>
        <p:spPr>
          <a:xfrm>
            <a:off x="4561900" y="3631425"/>
            <a:ext cx="1295400" cy="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87" name="Google Shape;3987;p122"/>
          <p:cNvCxnSpPr>
            <a:stCxn id="3986" idx="3"/>
            <a:endCxn id="3988" idx="1"/>
          </p:cNvCxnSpPr>
          <p:nvPr/>
        </p:nvCxnSpPr>
        <p:spPr>
          <a:xfrm>
            <a:off x="6162100" y="3631425"/>
            <a:ext cx="1219200" cy="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89" name="Google Shape;3989;p122"/>
          <p:cNvCxnSpPr>
            <a:stCxn id="3990" idx="3"/>
            <a:endCxn id="3991" idx="2"/>
          </p:cNvCxnSpPr>
          <p:nvPr/>
        </p:nvCxnSpPr>
        <p:spPr>
          <a:xfrm flipH="1" rot="10800000">
            <a:off x="1742500" y="4393425"/>
            <a:ext cx="457200" cy="45720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92" name="Google Shape;3992;p122"/>
          <p:cNvCxnSpPr>
            <a:stCxn id="3991" idx="3"/>
            <a:endCxn id="3983" idx="2"/>
          </p:cNvCxnSpPr>
          <p:nvPr/>
        </p:nvCxnSpPr>
        <p:spPr>
          <a:xfrm flipH="1" rot="10800000">
            <a:off x="2352100" y="3783825"/>
            <a:ext cx="457200" cy="45720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93" name="Google Shape;3993;p122"/>
          <p:cNvCxnSpPr>
            <a:stCxn id="3990" idx="3"/>
            <a:endCxn id="3994" idx="1"/>
          </p:cNvCxnSpPr>
          <p:nvPr/>
        </p:nvCxnSpPr>
        <p:spPr>
          <a:xfrm>
            <a:off x="1742500" y="4850625"/>
            <a:ext cx="12954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95" name="Google Shape;3995;p122"/>
          <p:cNvCxnSpPr>
            <a:stCxn id="3994" idx="3"/>
            <a:endCxn id="3996" idx="1"/>
          </p:cNvCxnSpPr>
          <p:nvPr/>
        </p:nvCxnSpPr>
        <p:spPr>
          <a:xfrm>
            <a:off x="3342700" y="4850625"/>
            <a:ext cx="12954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97" name="Google Shape;3997;p122"/>
          <p:cNvCxnSpPr>
            <a:stCxn id="3996" idx="3"/>
            <a:endCxn id="3998" idx="1"/>
          </p:cNvCxnSpPr>
          <p:nvPr/>
        </p:nvCxnSpPr>
        <p:spPr>
          <a:xfrm>
            <a:off x="4942900" y="4850625"/>
            <a:ext cx="12192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99" name="Google Shape;3999;p122"/>
          <p:cNvCxnSpPr>
            <a:stCxn id="4000" idx="3"/>
            <a:endCxn id="4001" idx="1"/>
          </p:cNvCxnSpPr>
          <p:nvPr/>
        </p:nvCxnSpPr>
        <p:spPr>
          <a:xfrm>
            <a:off x="5552500" y="4241025"/>
            <a:ext cx="12192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02" name="Google Shape;4002;p122"/>
          <p:cNvCxnSpPr>
            <a:stCxn id="4003" idx="3"/>
            <a:endCxn id="4000" idx="1"/>
          </p:cNvCxnSpPr>
          <p:nvPr/>
        </p:nvCxnSpPr>
        <p:spPr>
          <a:xfrm>
            <a:off x="3952300" y="4241025"/>
            <a:ext cx="12954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04" name="Google Shape;4004;p122"/>
          <p:cNvCxnSpPr>
            <a:stCxn id="3991" idx="3"/>
            <a:endCxn id="4003" idx="1"/>
          </p:cNvCxnSpPr>
          <p:nvPr/>
        </p:nvCxnSpPr>
        <p:spPr>
          <a:xfrm>
            <a:off x="2352100" y="4241025"/>
            <a:ext cx="12954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05" name="Google Shape;4005;p122"/>
          <p:cNvCxnSpPr>
            <a:stCxn id="3998" idx="3"/>
            <a:endCxn id="4001" idx="2"/>
          </p:cNvCxnSpPr>
          <p:nvPr/>
        </p:nvCxnSpPr>
        <p:spPr>
          <a:xfrm flipH="1" rot="10800000">
            <a:off x="6466900" y="4393425"/>
            <a:ext cx="457200" cy="4572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06" name="Google Shape;4006;p122"/>
          <p:cNvCxnSpPr>
            <a:stCxn id="4001" idx="3"/>
            <a:endCxn id="3988" idx="2"/>
          </p:cNvCxnSpPr>
          <p:nvPr/>
        </p:nvCxnSpPr>
        <p:spPr>
          <a:xfrm flipH="1" rot="10800000">
            <a:off x="7076500" y="3783825"/>
            <a:ext cx="457200" cy="4572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07" name="Google Shape;4007;p122"/>
          <p:cNvCxnSpPr>
            <a:stCxn id="3996" idx="3"/>
            <a:endCxn id="4000" idx="2"/>
          </p:cNvCxnSpPr>
          <p:nvPr/>
        </p:nvCxnSpPr>
        <p:spPr>
          <a:xfrm flipH="1" rot="10800000">
            <a:off x="4942900" y="4393425"/>
            <a:ext cx="457200" cy="4572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08" name="Google Shape;4008;p122"/>
          <p:cNvCxnSpPr>
            <a:stCxn id="4000" idx="3"/>
            <a:endCxn id="3986" idx="2"/>
          </p:cNvCxnSpPr>
          <p:nvPr/>
        </p:nvCxnSpPr>
        <p:spPr>
          <a:xfrm flipH="1" rot="10800000">
            <a:off x="5552500" y="3783825"/>
            <a:ext cx="457200" cy="4572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09" name="Google Shape;4009;p122"/>
          <p:cNvCxnSpPr>
            <a:stCxn id="4003" idx="3"/>
            <a:endCxn id="3984" idx="2"/>
          </p:cNvCxnSpPr>
          <p:nvPr/>
        </p:nvCxnSpPr>
        <p:spPr>
          <a:xfrm flipH="1" rot="10800000">
            <a:off x="3952300" y="3783825"/>
            <a:ext cx="457200" cy="4572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10" name="Google Shape;4010;p122"/>
          <p:cNvCxnSpPr>
            <a:stCxn id="3994" idx="3"/>
            <a:endCxn id="4003" idx="2"/>
          </p:cNvCxnSpPr>
          <p:nvPr/>
        </p:nvCxnSpPr>
        <p:spPr>
          <a:xfrm flipH="1" rot="10800000">
            <a:off x="3342700" y="4393425"/>
            <a:ext cx="457200" cy="4572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11" name="Google Shape;4011;p122"/>
          <p:cNvCxnSpPr>
            <a:stCxn id="4012" idx="2"/>
            <a:endCxn id="4013" idx="6"/>
          </p:cNvCxnSpPr>
          <p:nvPr/>
        </p:nvCxnSpPr>
        <p:spPr>
          <a:xfrm rot="10800000">
            <a:off x="1732588" y="1851525"/>
            <a:ext cx="934200" cy="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14" name="Google Shape;4014;p122"/>
          <p:cNvCxnSpPr>
            <a:stCxn id="4015" idx="2"/>
            <a:endCxn id="4016" idx="6"/>
          </p:cNvCxnSpPr>
          <p:nvPr/>
        </p:nvCxnSpPr>
        <p:spPr>
          <a:xfrm rot="10800000">
            <a:off x="6456988" y="1851525"/>
            <a:ext cx="934200" cy="0"/>
          </a:xfrm>
          <a:prstGeom prst="straightConnector1">
            <a:avLst/>
          </a:prstGeom>
          <a:noFill/>
          <a:ln cap="flat" cmpd="sng" w="28575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17" name="Google Shape;4017;p122"/>
          <p:cNvCxnSpPr>
            <a:stCxn id="4016" idx="2"/>
            <a:endCxn id="4012" idx="6"/>
          </p:cNvCxnSpPr>
          <p:nvPr/>
        </p:nvCxnSpPr>
        <p:spPr>
          <a:xfrm rot="10800000">
            <a:off x="2951788" y="1851525"/>
            <a:ext cx="3220200" cy="0"/>
          </a:xfrm>
          <a:prstGeom prst="straightConnector1">
            <a:avLst/>
          </a:prstGeom>
          <a:noFill/>
          <a:ln cap="flat" cmpd="sng" w="28575">
            <a:solidFill>
              <a:srgbClr val="38761D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018" name="Google Shape;4018;p122"/>
          <p:cNvSpPr/>
          <p:nvPr/>
        </p:nvSpPr>
        <p:spPr>
          <a:xfrm>
            <a:off x="1695350" y="1479491"/>
            <a:ext cx="5729200" cy="286875"/>
          </a:xfrm>
          <a:custGeom>
            <a:rect b="b" l="l" r="r" t="t"/>
            <a:pathLst>
              <a:path extrusionOk="0" h="11475" w="229168">
                <a:moveTo>
                  <a:pt x="0" y="11104"/>
                </a:moveTo>
                <a:cubicBezTo>
                  <a:pt x="7485" y="9387"/>
                  <a:pt x="13938" y="2336"/>
                  <a:pt x="44908" y="800"/>
                </a:cubicBezTo>
                <a:cubicBezTo>
                  <a:pt x="75879" y="-736"/>
                  <a:pt x="155113" y="110"/>
                  <a:pt x="185823" y="1889"/>
                </a:cubicBezTo>
                <a:cubicBezTo>
                  <a:pt x="216533" y="3668"/>
                  <a:pt x="221944" y="9877"/>
                  <a:pt x="229168" y="11475"/>
                </a:cubicBezTo>
              </a:path>
            </a:pathLst>
          </a:cu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4019" name="Google Shape;4019;p122"/>
          <p:cNvSpPr txBox="1"/>
          <p:nvPr>
            <p:ph idx="1" type="body"/>
          </p:nvPr>
        </p:nvSpPr>
        <p:spPr>
          <a:xfrm>
            <a:off x="107050" y="402200"/>
            <a:ext cx="8909700" cy="60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The average stretch factor depends on how the nodes are numbered.</a:t>
            </a:r>
            <a:endParaRPr/>
          </a:p>
        </p:txBody>
      </p:sp>
      <p:sp>
        <p:nvSpPr>
          <p:cNvPr id="4020" name="Google Shape;4020;p122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Overlay Ring Topology #1</a:t>
            </a:r>
            <a:endParaRPr/>
          </a:p>
        </p:txBody>
      </p:sp>
      <p:sp>
        <p:nvSpPr>
          <p:cNvPr id="3990" name="Google Shape;3990;p122"/>
          <p:cNvSpPr/>
          <p:nvPr/>
        </p:nvSpPr>
        <p:spPr>
          <a:xfrm>
            <a:off x="1437700" y="469822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R1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94" name="Google Shape;3994;p122"/>
          <p:cNvSpPr/>
          <p:nvPr/>
        </p:nvSpPr>
        <p:spPr>
          <a:xfrm>
            <a:off x="3037900" y="469822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R2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96" name="Google Shape;3996;p122"/>
          <p:cNvSpPr/>
          <p:nvPr/>
        </p:nvSpPr>
        <p:spPr>
          <a:xfrm>
            <a:off x="4638100" y="469822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R3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98" name="Google Shape;3998;p122"/>
          <p:cNvSpPr/>
          <p:nvPr/>
        </p:nvSpPr>
        <p:spPr>
          <a:xfrm>
            <a:off x="6162100" y="469822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R4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91" name="Google Shape;3991;p122"/>
          <p:cNvSpPr/>
          <p:nvPr/>
        </p:nvSpPr>
        <p:spPr>
          <a:xfrm>
            <a:off x="2047300" y="408862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R5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03" name="Google Shape;4003;p122"/>
          <p:cNvSpPr/>
          <p:nvPr/>
        </p:nvSpPr>
        <p:spPr>
          <a:xfrm>
            <a:off x="3647500" y="408862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R6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00" name="Google Shape;4000;p122"/>
          <p:cNvSpPr/>
          <p:nvPr/>
        </p:nvSpPr>
        <p:spPr>
          <a:xfrm>
            <a:off x="5247700" y="408862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R7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01" name="Google Shape;4001;p122"/>
          <p:cNvSpPr/>
          <p:nvPr/>
        </p:nvSpPr>
        <p:spPr>
          <a:xfrm>
            <a:off x="6771700" y="408862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R8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83" name="Google Shape;3983;p122"/>
          <p:cNvSpPr/>
          <p:nvPr/>
        </p:nvSpPr>
        <p:spPr>
          <a:xfrm>
            <a:off x="2656900" y="347902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R9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84" name="Google Shape;3984;p122"/>
          <p:cNvSpPr/>
          <p:nvPr/>
        </p:nvSpPr>
        <p:spPr>
          <a:xfrm>
            <a:off x="4257100" y="347902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R10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86" name="Google Shape;3986;p122"/>
          <p:cNvSpPr/>
          <p:nvPr/>
        </p:nvSpPr>
        <p:spPr>
          <a:xfrm>
            <a:off x="5857300" y="347902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R11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88" name="Google Shape;3988;p122"/>
          <p:cNvSpPr/>
          <p:nvPr/>
        </p:nvSpPr>
        <p:spPr>
          <a:xfrm>
            <a:off x="7381300" y="347902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R12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13" name="Google Shape;4013;p122"/>
          <p:cNvSpPr/>
          <p:nvPr/>
        </p:nvSpPr>
        <p:spPr>
          <a:xfrm>
            <a:off x="1447588" y="1709025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021" name="Google Shape;4021;p122"/>
          <p:cNvCxnSpPr>
            <a:stCxn id="3990" idx="0"/>
            <a:endCxn id="4013" idx="4"/>
          </p:cNvCxnSpPr>
          <p:nvPr/>
        </p:nvCxnSpPr>
        <p:spPr>
          <a:xfrm rot="10800000">
            <a:off x="1590100" y="1994025"/>
            <a:ext cx="0" cy="2704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012" name="Google Shape;4012;p122"/>
          <p:cNvSpPr/>
          <p:nvPr/>
        </p:nvSpPr>
        <p:spPr>
          <a:xfrm>
            <a:off x="2666788" y="1709025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022" name="Google Shape;4022;p122"/>
          <p:cNvCxnSpPr>
            <a:stCxn id="3983" idx="0"/>
            <a:endCxn id="4012" idx="4"/>
          </p:cNvCxnSpPr>
          <p:nvPr/>
        </p:nvCxnSpPr>
        <p:spPr>
          <a:xfrm rot="10800000">
            <a:off x="2809300" y="1994025"/>
            <a:ext cx="0" cy="1485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016" name="Google Shape;4016;p122"/>
          <p:cNvSpPr/>
          <p:nvPr/>
        </p:nvSpPr>
        <p:spPr>
          <a:xfrm>
            <a:off x="6171988" y="1709025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D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023" name="Google Shape;4023;p122"/>
          <p:cNvCxnSpPr>
            <a:stCxn id="3998" idx="0"/>
            <a:endCxn id="4016" idx="4"/>
          </p:cNvCxnSpPr>
          <p:nvPr/>
        </p:nvCxnSpPr>
        <p:spPr>
          <a:xfrm rot="10800000">
            <a:off x="6314500" y="1994025"/>
            <a:ext cx="0" cy="2704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015" name="Google Shape;4015;p122"/>
          <p:cNvSpPr/>
          <p:nvPr/>
        </p:nvSpPr>
        <p:spPr>
          <a:xfrm>
            <a:off x="7391188" y="1709025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024" name="Google Shape;4024;p122"/>
          <p:cNvCxnSpPr>
            <a:stCxn id="3988" idx="0"/>
            <a:endCxn id="4015" idx="4"/>
          </p:cNvCxnSpPr>
          <p:nvPr/>
        </p:nvCxnSpPr>
        <p:spPr>
          <a:xfrm rot="10800000">
            <a:off x="7533700" y="1994025"/>
            <a:ext cx="0" cy="1485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025" name="Google Shape;4025;p122"/>
          <p:cNvSpPr txBox="1"/>
          <p:nvPr/>
        </p:nvSpPr>
        <p:spPr>
          <a:xfrm>
            <a:off x="1732600" y="1927725"/>
            <a:ext cx="9342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00FF"/>
                </a:solidFill>
                <a:latin typeface="Roboto"/>
                <a:ea typeface="Roboto"/>
                <a:cs typeface="Roboto"/>
                <a:sym typeface="Roboto"/>
              </a:rPr>
              <a:t>Stretch = 2</a:t>
            </a:r>
            <a:endParaRPr>
              <a:solidFill>
                <a:srgbClr val="FF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26" name="Google Shape;4026;p122"/>
          <p:cNvSpPr txBox="1"/>
          <p:nvPr/>
        </p:nvSpPr>
        <p:spPr>
          <a:xfrm>
            <a:off x="4104900" y="1927713"/>
            <a:ext cx="9342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8761D"/>
                </a:solidFill>
                <a:latin typeface="Roboto"/>
                <a:ea typeface="Roboto"/>
                <a:cs typeface="Roboto"/>
                <a:sym typeface="Roboto"/>
              </a:rPr>
              <a:t>Stretch = 5</a:t>
            </a:r>
            <a:endParaRPr>
              <a:solidFill>
                <a:srgbClr val="38761D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27" name="Google Shape;4027;p122"/>
          <p:cNvSpPr txBox="1"/>
          <p:nvPr/>
        </p:nvSpPr>
        <p:spPr>
          <a:xfrm>
            <a:off x="6457000" y="1927725"/>
            <a:ext cx="9342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Stretch = 2</a:t>
            </a:r>
            <a:endParaRPr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28" name="Google Shape;4028;p122"/>
          <p:cNvSpPr txBox="1"/>
          <p:nvPr/>
        </p:nvSpPr>
        <p:spPr>
          <a:xfrm>
            <a:off x="4104900" y="1241913"/>
            <a:ext cx="9342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Stretch = 5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29" name="Google Shape;4029;p122"/>
          <p:cNvSpPr txBox="1"/>
          <p:nvPr/>
        </p:nvSpPr>
        <p:spPr>
          <a:xfrm>
            <a:off x="7381300" y="4635075"/>
            <a:ext cx="1673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Average stretch: (2+5+2+5)/4 = 3.5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33" name="Shape 40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034" name="Google Shape;4034;p123"/>
          <p:cNvCxnSpPr>
            <a:stCxn id="4035" idx="3"/>
            <a:endCxn id="4036" idx="1"/>
          </p:cNvCxnSpPr>
          <p:nvPr/>
        </p:nvCxnSpPr>
        <p:spPr>
          <a:xfrm>
            <a:off x="1742500" y="4850625"/>
            <a:ext cx="12954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37" name="Google Shape;4037;p123"/>
          <p:cNvCxnSpPr>
            <a:stCxn id="4036" idx="3"/>
            <a:endCxn id="4038" idx="1"/>
          </p:cNvCxnSpPr>
          <p:nvPr/>
        </p:nvCxnSpPr>
        <p:spPr>
          <a:xfrm>
            <a:off x="3342700" y="4850625"/>
            <a:ext cx="12954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39" name="Google Shape;4039;p123"/>
          <p:cNvCxnSpPr>
            <a:stCxn id="4038" idx="3"/>
            <a:endCxn id="4040" idx="1"/>
          </p:cNvCxnSpPr>
          <p:nvPr/>
        </p:nvCxnSpPr>
        <p:spPr>
          <a:xfrm>
            <a:off x="4942900" y="4850625"/>
            <a:ext cx="12192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41" name="Google Shape;4041;p123"/>
          <p:cNvCxnSpPr>
            <a:stCxn id="4042" idx="3"/>
            <a:endCxn id="4043" idx="1"/>
          </p:cNvCxnSpPr>
          <p:nvPr/>
        </p:nvCxnSpPr>
        <p:spPr>
          <a:xfrm>
            <a:off x="5552500" y="4241025"/>
            <a:ext cx="12192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44" name="Google Shape;4044;p123"/>
          <p:cNvCxnSpPr>
            <a:stCxn id="4045" idx="3"/>
            <a:endCxn id="4042" idx="1"/>
          </p:cNvCxnSpPr>
          <p:nvPr/>
        </p:nvCxnSpPr>
        <p:spPr>
          <a:xfrm>
            <a:off x="3952300" y="4241025"/>
            <a:ext cx="12954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46" name="Google Shape;4046;p123"/>
          <p:cNvCxnSpPr>
            <a:stCxn id="4047" idx="3"/>
            <a:endCxn id="4045" idx="1"/>
          </p:cNvCxnSpPr>
          <p:nvPr/>
        </p:nvCxnSpPr>
        <p:spPr>
          <a:xfrm>
            <a:off x="2352100" y="4241025"/>
            <a:ext cx="12954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48" name="Google Shape;4048;p123"/>
          <p:cNvCxnSpPr>
            <a:stCxn id="4049" idx="3"/>
            <a:endCxn id="4050" idx="1"/>
          </p:cNvCxnSpPr>
          <p:nvPr/>
        </p:nvCxnSpPr>
        <p:spPr>
          <a:xfrm>
            <a:off x="2961700" y="3631425"/>
            <a:ext cx="12954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51" name="Google Shape;4051;p123"/>
          <p:cNvCxnSpPr>
            <a:stCxn id="4050" idx="3"/>
            <a:endCxn id="4052" idx="1"/>
          </p:cNvCxnSpPr>
          <p:nvPr/>
        </p:nvCxnSpPr>
        <p:spPr>
          <a:xfrm>
            <a:off x="4561900" y="3631425"/>
            <a:ext cx="12954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53" name="Google Shape;4053;p123"/>
          <p:cNvCxnSpPr>
            <a:stCxn id="4052" idx="3"/>
            <a:endCxn id="4054" idx="1"/>
          </p:cNvCxnSpPr>
          <p:nvPr/>
        </p:nvCxnSpPr>
        <p:spPr>
          <a:xfrm>
            <a:off x="6162100" y="3631425"/>
            <a:ext cx="12192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55" name="Google Shape;4055;p123"/>
          <p:cNvCxnSpPr>
            <a:stCxn id="4040" idx="3"/>
            <a:endCxn id="4043" idx="2"/>
          </p:cNvCxnSpPr>
          <p:nvPr/>
        </p:nvCxnSpPr>
        <p:spPr>
          <a:xfrm flipH="1" rot="10800000">
            <a:off x="6466900" y="4393425"/>
            <a:ext cx="457200" cy="4572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56" name="Google Shape;4056;p123"/>
          <p:cNvCxnSpPr>
            <a:stCxn id="4043" idx="3"/>
            <a:endCxn id="4054" idx="2"/>
          </p:cNvCxnSpPr>
          <p:nvPr/>
        </p:nvCxnSpPr>
        <p:spPr>
          <a:xfrm flipH="1" rot="10800000">
            <a:off x="7076500" y="3783825"/>
            <a:ext cx="457200" cy="4572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57" name="Google Shape;4057;p123"/>
          <p:cNvCxnSpPr>
            <a:stCxn id="4038" idx="3"/>
            <a:endCxn id="4042" idx="2"/>
          </p:cNvCxnSpPr>
          <p:nvPr/>
        </p:nvCxnSpPr>
        <p:spPr>
          <a:xfrm flipH="1" rot="10800000">
            <a:off x="4942900" y="4393425"/>
            <a:ext cx="457200" cy="4572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58" name="Google Shape;4058;p123"/>
          <p:cNvCxnSpPr>
            <a:stCxn id="4042" idx="3"/>
            <a:endCxn id="4052" idx="2"/>
          </p:cNvCxnSpPr>
          <p:nvPr/>
        </p:nvCxnSpPr>
        <p:spPr>
          <a:xfrm flipH="1" rot="10800000">
            <a:off x="5552500" y="3783825"/>
            <a:ext cx="457200" cy="4572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59" name="Google Shape;4059;p123"/>
          <p:cNvCxnSpPr>
            <a:stCxn id="4045" idx="3"/>
            <a:endCxn id="4050" idx="2"/>
          </p:cNvCxnSpPr>
          <p:nvPr/>
        </p:nvCxnSpPr>
        <p:spPr>
          <a:xfrm flipH="1" rot="10800000">
            <a:off x="3952300" y="3783825"/>
            <a:ext cx="457200" cy="4572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60" name="Google Shape;4060;p123"/>
          <p:cNvCxnSpPr>
            <a:stCxn id="4036" idx="3"/>
            <a:endCxn id="4045" idx="2"/>
          </p:cNvCxnSpPr>
          <p:nvPr/>
        </p:nvCxnSpPr>
        <p:spPr>
          <a:xfrm flipH="1" rot="10800000">
            <a:off x="3342700" y="4393425"/>
            <a:ext cx="457200" cy="4572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61" name="Google Shape;4061;p123"/>
          <p:cNvCxnSpPr>
            <a:stCxn id="4035" idx="3"/>
            <a:endCxn id="4047" idx="2"/>
          </p:cNvCxnSpPr>
          <p:nvPr/>
        </p:nvCxnSpPr>
        <p:spPr>
          <a:xfrm flipH="1" rot="10800000">
            <a:off x="1742500" y="4393425"/>
            <a:ext cx="457200" cy="4572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62" name="Google Shape;4062;p123"/>
          <p:cNvCxnSpPr>
            <a:stCxn id="4047" idx="3"/>
            <a:endCxn id="4049" idx="2"/>
          </p:cNvCxnSpPr>
          <p:nvPr/>
        </p:nvCxnSpPr>
        <p:spPr>
          <a:xfrm flipH="1" rot="10800000">
            <a:off x="2352100" y="3783825"/>
            <a:ext cx="457200" cy="4572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63" name="Google Shape;4063;p123"/>
          <p:cNvCxnSpPr>
            <a:stCxn id="4064" idx="2"/>
            <a:endCxn id="4065" idx="6"/>
          </p:cNvCxnSpPr>
          <p:nvPr/>
        </p:nvCxnSpPr>
        <p:spPr>
          <a:xfrm flipH="1">
            <a:off x="1732588" y="1851525"/>
            <a:ext cx="934200" cy="6096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66" name="Google Shape;4066;p123"/>
          <p:cNvCxnSpPr>
            <a:stCxn id="4067" idx="2"/>
            <a:endCxn id="4068" idx="6"/>
          </p:cNvCxnSpPr>
          <p:nvPr/>
        </p:nvCxnSpPr>
        <p:spPr>
          <a:xfrm flipH="1">
            <a:off x="6456988" y="1851525"/>
            <a:ext cx="934200" cy="609600"/>
          </a:xfrm>
          <a:prstGeom prst="straightConnector1">
            <a:avLst/>
          </a:prstGeom>
          <a:noFill/>
          <a:ln cap="flat" cmpd="sng" w="28575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69" name="Google Shape;4069;p123"/>
          <p:cNvCxnSpPr>
            <a:stCxn id="4067" idx="2"/>
            <a:endCxn id="4064" idx="6"/>
          </p:cNvCxnSpPr>
          <p:nvPr/>
        </p:nvCxnSpPr>
        <p:spPr>
          <a:xfrm rot="10800000">
            <a:off x="2951788" y="1851525"/>
            <a:ext cx="4439400" cy="0"/>
          </a:xfrm>
          <a:prstGeom prst="straightConnector1">
            <a:avLst/>
          </a:prstGeom>
          <a:noFill/>
          <a:ln cap="flat" cmpd="sng" w="28575">
            <a:solidFill>
              <a:srgbClr val="38761D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070" name="Google Shape;4070;p123"/>
          <p:cNvSpPr txBox="1"/>
          <p:nvPr>
            <p:ph idx="1" type="body"/>
          </p:nvPr>
        </p:nvSpPr>
        <p:spPr>
          <a:xfrm>
            <a:off x="107050" y="402200"/>
            <a:ext cx="8909700" cy="60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The average stretch factor depends on how the nodes are numbered.</a:t>
            </a:r>
            <a:endParaRPr/>
          </a:p>
        </p:txBody>
      </p:sp>
      <p:sp>
        <p:nvSpPr>
          <p:cNvPr id="4071" name="Google Shape;4071;p123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Overlay Ring Topology #2</a:t>
            </a:r>
            <a:endParaRPr/>
          </a:p>
        </p:txBody>
      </p:sp>
      <p:sp>
        <p:nvSpPr>
          <p:cNvPr id="4035" name="Google Shape;4035;p123"/>
          <p:cNvSpPr/>
          <p:nvPr/>
        </p:nvSpPr>
        <p:spPr>
          <a:xfrm>
            <a:off x="1437700" y="469822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R1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36" name="Google Shape;4036;p123"/>
          <p:cNvSpPr/>
          <p:nvPr/>
        </p:nvSpPr>
        <p:spPr>
          <a:xfrm>
            <a:off x="3037900" y="469822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R2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38" name="Google Shape;4038;p123"/>
          <p:cNvSpPr/>
          <p:nvPr/>
        </p:nvSpPr>
        <p:spPr>
          <a:xfrm>
            <a:off x="4638100" y="469822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R3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40" name="Google Shape;4040;p123"/>
          <p:cNvSpPr/>
          <p:nvPr/>
        </p:nvSpPr>
        <p:spPr>
          <a:xfrm>
            <a:off x="6162100" y="469822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R4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47" name="Google Shape;4047;p123"/>
          <p:cNvSpPr/>
          <p:nvPr/>
        </p:nvSpPr>
        <p:spPr>
          <a:xfrm>
            <a:off x="2047300" y="408862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R5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45" name="Google Shape;4045;p123"/>
          <p:cNvSpPr/>
          <p:nvPr/>
        </p:nvSpPr>
        <p:spPr>
          <a:xfrm>
            <a:off x="3647500" y="408862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R6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42" name="Google Shape;4042;p123"/>
          <p:cNvSpPr/>
          <p:nvPr/>
        </p:nvSpPr>
        <p:spPr>
          <a:xfrm>
            <a:off x="5247700" y="408862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R7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43" name="Google Shape;4043;p123"/>
          <p:cNvSpPr/>
          <p:nvPr/>
        </p:nvSpPr>
        <p:spPr>
          <a:xfrm>
            <a:off x="6771700" y="408862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R8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49" name="Google Shape;4049;p123"/>
          <p:cNvSpPr/>
          <p:nvPr/>
        </p:nvSpPr>
        <p:spPr>
          <a:xfrm>
            <a:off x="2656900" y="347902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R9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50" name="Google Shape;4050;p123"/>
          <p:cNvSpPr/>
          <p:nvPr/>
        </p:nvSpPr>
        <p:spPr>
          <a:xfrm>
            <a:off x="4257100" y="347902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R10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52" name="Google Shape;4052;p123"/>
          <p:cNvSpPr/>
          <p:nvPr/>
        </p:nvSpPr>
        <p:spPr>
          <a:xfrm>
            <a:off x="5857300" y="347902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R11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54" name="Google Shape;4054;p123"/>
          <p:cNvSpPr/>
          <p:nvPr/>
        </p:nvSpPr>
        <p:spPr>
          <a:xfrm>
            <a:off x="7381300" y="347902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R12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65" name="Google Shape;4065;p123"/>
          <p:cNvSpPr/>
          <p:nvPr/>
        </p:nvSpPr>
        <p:spPr>
          <a:xfrm>
            <a:off x="1447588" y="2318625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072" name="Google Shape;4072;p123"/>
          <p:cNvCxnSpPr>
            <a:stCxn id="4035" idx="0"/>
            <a:endCxn id="4065" idx="4"/>
          </p:cNvCxnSpPr>
          <p:nvPr/>
        </p:nvCxnSpPr>
        <p:spPr>
          <a:xfrm rot="10800000">
            <a:off x="1590100" y="2603625"/>
            <a:ext cx="0" cy="2094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064" name="Google Shape;4064;p123"/>
          <p:cNvSpPr/>
          <p:nvPr/>
        </p:nvSpPr>
        <p:spPr>
          <a:xfrm>
            <a:off x="2666788" y="1709025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073" name="Google Shape;4073;p123"/>
          <p:cNvCxnSpPr>
            <a:stCxn id="4049" idx="0"/>
            <a:endCxn id="4064" idx="4"/>
          </p:cNvCxnSpPr>
          <p:nvPr/>
        </p:nvCxnSpPr>
        <p:spPr>
          <a:xfrm rot="10800000">
            <a:off x="2809300" y="1994025"/>
            <a:ext cx="0" cy="1485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068" name="Google Shape;4068;p123"/>
          <p:cNvSpPr/>
          <p:nvPr/>
        </p:nvSpPr>
        <p:spPr>
          <a:xfrm>
            <a:off x="6171988" y="2318625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D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074" name="Google Shape;4074;p123"/>
          <p:cNvCxnSpPr>
            <a:stCxn id="4040" idx="0"/>
            <a:endCxn id="4068" idx="4"/>
          </p:cNvCxnSpPr>
          <p:nvPr/>
        </p:nvCxnSpPr>
        <p:spPr>
          <a:xfrm rot="10800000">
            <a:off x="6314500" y="2603625"/>
            <a:ext cx="0" cy="2094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067" name="Google Shape;4067;p123"/>
          <p:cNvSpPr/>
          <p:nvPr/>
        </p:nvSpPr>
        <p:spPr>
          <a:xfrm>
            <a:off x="7391188" y="1709025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075" name="Google Shape;4075;p123"/>
          <p:cNvCxnSpPr>
            <a:stCxn id="4054" idx="0"/>
            <a:endCxn id="4067" idx="4"/>
          </p:cNvCxnSpPr>
          <p:nvPr/>
        </p:nvCxnSpPr>
        <p:spPr>
          <a:xfrm rot="10800000">
            <a:off x="7533700" y="1994025"/>
            <a:ext cx="0" cy="1485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76" name="Google Shape;4076;p123"/>
          <p:cNvCxnSpPr>
            <a:stCxn id="4068" idx="2"/>
            <a:endCxn id="4065" idx="6"/>
          </p:cNvCxnSpPr>
          <p:nvPr/>
        </p:nvCxnSpPr>
        <p:spPr>
          <a:xfrm rot="10800000">
            <a:off x="1732588" y="2461125"/>
            <a:ext cx="4439400" cy="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80" name="Shape 40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081" name="Google Shape;4081;p124"/>
          <p:cNvCxnSpPr>
            <a:stCxn id="4082" idx="3"/>
            <a:endCxn id="4083" idx="2"/>
          </p:cNvCxnSpPr>
          <p:nvPr/>
        </p:nvCxnSpPr>
        <p:spPr>
          <a:xfrm flipH="1" rot="10800000">
            <a:off x="1742500" y="4393425"/>
            <a:ext cx="457200" cy="4572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84" name="Google Shape;4084;p124"/>
          <p:cNvCxnSpPr>
            <a:stCxn id="4083" idx="3"/>
            <a:endCxn id="4085" idx="2"/>
          </p:cNvCxnSpPr>
          <p:nvPr/>
        </p:nvCxnSpPr>
        <p:spPr>
          <a:xfrm flipH="1" rot="10800000">
            <a:off x="2352100" y="3783825"/>
            <a:ext cx="457200" cy="4572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86" name="Google Shape;4086;p124"/>
          <p:cNvCxnSpPr>
            <a:stCxn id="4082" idx="3"/>
            <a:endCxn id="4087" idx="1"/>
          </p:cNvCxnSpPr>
          <p:nvPr/>
        </p:nvCxnSpPr>
        <p:spPr>
          <a:xfrm>
            <a:off x="1742500" y="4850625"/>
            <a:ext cx="12954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88" name="Google Shape;4088;p124"/>
          <p:cNvCxnSpPr>
            <a:stCxn id="4087" idx="3"/>
            <a:endCxn id="4089" idx="1"/>
          </p:cNvCxnSpPr>
          <p:nvPr/>
        </p:nvCxnSpPr>
        <p:spPr>
          <a:xfrm>
            <a:off x="3342700" y="4850625"/>
            <a:ext cx="12954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90" name="Google Shape;4090;p124"/>
          <p:cNvCxnSpPr>
            <a:stCxn id="4089" idx="3"/>
            <a:endCxn id="4091" idx="1"/>
          </p:cNvCxnSpPr>
          <p:nvPr/>
        </p:nvCxnSpPr>
        <p:spPr>
          <a:xfrm>
            <a:off x="4942900" y="4850625"/>
            <a:ext cx="12192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92" name="Google Shape;4092;p124"/>
          <p:cNvCxnSpPr>
            <a:stCxn id="4093" idx="3"/>
            <a:endCxn id="4094" idx="1"/>
          </p:cNvCxnSpPr>
          <p:nvPr/>
        </p:nvCxnSpPr>
        <p:spPr>
          <a:xfrm>
            <a:off x="5552500" y="4241025"/>
            <a:ext cx="12192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95" name="Google Shape;4095;p124"/>
          <p:cNvCxnSpPr>
            <a:stCxn id="4096" idx="3"/>
            <a:endCxn id="4093" idx="1"/>
          </p:cNvCxnSpPr>
          <p:nvPr/>
        </p:nvCxnSpPr>
        <p:spPr>
          <a:xfrm>
            <a:off x="3952300" y="4241025"/>
            <a:ext cx="12954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97" name="Google Shape;4097;p124"/>
          <p:cNvCxnSpPr>
            <a:stCxn id="4083" idx="3"/>
            <a:endCxn id="4096" idx="1"/>
          </p:cNvCxnSpPr>
          <p:nvPr/>
        </p:nvCxnSpPr>
        <p:spPr>
          <a:xfrm>
            <a:off x="2352100" y="4241025"/>
            <a:ext cx="12954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98" name="Google Shape;4098;p124"/>
          <p:cNvCxnSpPr>
            <a:stCxn id="4085" idx="3"/>
            <a:endCxn id="4099" idx="1"/>
          </p:cNvCxnSpPr>
          <p:nvPr/>
        </p:nvCxnSpPr>
        <p:spPr>
          <a:xfrm>
            <a:off x="2961700" y="3631425"/>
            <a:ext cx="12954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00" name="Google Shape;4100;p124"/>
          <p:cNvCxnSpPr>
            <a:stCxn id="4099" idx="3"/>
            <a:endCxn id="4101" idx="1"/>
          </p:cNvCxnSpPr>
          <p:nvPr/>
        </p:nvCxnSpPr>
        <p:spPr>
          <a:xfrm>
            <a:off x="4561900" y="3631425"/>
            <a:ext cx="12954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02" name="Google Shape;4102;p124"/>
          <p:cNvCxnSpPr>
            <a:stCxn id="4101" idx="3"/>
            <a:endCxn id="4103" idx="1"/>
          </p:cNvCxnSpPr>
          <p:nvPr/>
        </p:nvCxnSpPr>
        <p:spPr>
          <a:xfrm>
            <a:off x="6162100" y="3631425"/>
            <a:ext cx="12192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04" name="Google Shape;4104;p124"/>
          <p:cNvCxnSpPr>
            <a:stCxn id="4091" idx="3"/>
            <a:endCxn id="4094" idx="2"/>
          </p:cNvCxnSpPr>
          <p:nvPr/>
        </p:nvCxnSpPr>
        <p:spPr>
          <a:xfrm flipH="1" rot="10800000">
            <a:off x="6466900" y="4393425"/>
            <a:ext cx="457200" cy="4572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05" name="Google Shape;4105;p124"/>
          <p:cNvCxnSpPr>
            <a:stCxn id="4094" idx="3"/>
            <a:endCxn id="4103" idx="2"/>
          </p:cNvCxnSpPr>
          <p:nvPr/>
        </p:nvCxnSpPr>
        <p:spPr>
          <a:xfrm flipH="1" rot="10800000">
            <a:off x="7076500" y="3783825"/>
            <a:ext cx="457200" cy="4572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06" name="Google Shape;4106;p124"/>
          <p:cNvCxnSpPr>
            <a:stCxn id="4089" idx="3"/>
            <a:endCxn id="4093" idx="2"/>
          </p:cNvCxnSpPr>
          <p:nvPr/>
        </p:nvCxnSpPr>
        <p:spPr>
          <a:xfrm flipH="1" rot="10800000">
            <a:off x="4942900" y="4393425"/>
            <a:ext cx="457200" cy="4572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07" name="Google Shape;4107;p124"/>
          <p:cNvCxnSpPr>
            <a:stCxn id="4093" idx="3"/>
            <a:endCxn id="4101" idx="2"/>
          </p:cNvCxnSpPr>
          <p:nvPr/>
        </p:nvCxnSpPr>
        <p:spPr>
          <a:xfrm flipH="1" rot="10800000">
            <a:off x="5552500" y="3783825"/>
            <a:ext cx="457200" cy="4572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08" name="Google Shape;4108;p124"/>
          <p:cNvCxnSpPr>
            <a:stCxn id="4096" idx="3"/>
            <a:endCxn id="4099" idx="2"/>
          </p:cNvCxnSpPr>
          <p:nvPr/>
        </p:nvCxnSpPr>
        <p:spPr>
          <a:xfrm flipH="1" rot="10800000">
            <a:off x="3952300" y="3783825"/>
            <a:ext cx="457200" cy="4572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09" name="Google Shape;4109;p124"/>
          <p:cNvCxnSpPr>
            <a:stCxn id="4087" idx="3"/>
            <a:endCxn id="4096" idx="2"/>
          </p:cNvCxnSpPr>
          <p:nvPr/>
        </p:nvCxnSpPr>
        <p:spPr>
          <a:xfrm flipH="1" rot="10800000">
            <a:off x="3342700" y="4393425"/>
            <a:ext cx="457200" cy="4572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10" name="Google Shape;4110;p124"/>
          <p:cNvCxnSpPr>
            <a:stCxn id="4111" idx="2"/>
            <a:endCxn id="4112" idx="6"/>
          </p:cNvCxnSpPr>
          <p:nvPr/>
        </p:nvCxnSpPr>
        <p:spPr>
          <a:xfrm flipH="1">
            <a:off x="1732588" y="1851525"/>
            <a:ext cx="934200" cy="6096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13" name="Google Shape;4113;p124"/>
          <p:cNvCxnSpPr>
            <a:stCxn id="4114" idx="2"/>
            <a:endCxn id="4115" idx="6"/>
          </p:cNvCxnSpPr>
          <p:nvPr/>
        </p:nvCxnSpPr>
        <p:spPr>
          <a:xfrm flipH="1">
            <a:off x="6456988" y="1851525"/>
            <a:ext cx="934200" cy="609600"/>
          </a:xfrm>
          <a:prstGeom prst="straightConnector1">
            <a:avLst/>
          </a:prstGeom>
          <a:noFill/>
          <a:ln cap="flat" cmpd="sng" w="28575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16" name="Google Shape;4116;p124"/>
          <p:cNvCxnSpPr>
            <a:stCxn id="4114" idx="2"/>
            <a:endCxn id="4111" idx="6"/>
          </p:cNvCxnSpPr>
          <p:nvPr/>
        </p:nvCxnSpPr>
        <p:spPr>
          <a:xfrm rot="10800000">
            <a:off x="2951788" y="1851525"/>
            <a:ext cx="4439400" cy="0"/>
          </a:xfrm>
          <a:prstGeom prst="straightConnector1">
            <a:avLst/>
          </a:prstGeom>
          <a:noFill/>
          <a:ln cap="flat" cmpd="sng" w="28575">
            <a:solidFill>
              <a:srgbClr val="38761D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117" name="Google Shape;4117;p124"/>
          <p:cNvSpPr txBox="1"/>
          <p:nvPr>
            <p:ph idx="1" type="body"/>
          </p:nvPr>
        </p:nvSpPr>
        <p:spPr>
          <a:xfrm>
            <a:off x="107050" y="402200"/>
            <a:ext cx="8909700" cy="60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The average stretch factor depends on how the nodes are numbered.</a:t>
            </a:r>
            <a:endParaRPr/>
          </a:p>
        </p:txBody>
      </p:sp>
      <p:sp>
        <p:nvSpPr>
          <p:cNvPr id="4118" name="Google Shape;4118;p124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Overlay Ring Topology #2</a:t>
            </a:r>
            <a:endParaRPr/>
          </a:p>
        </p:txBody>
      </p:sp>
      <p:sp>
        <p:nvSpPr>
          <p:cNvPr id="4082" name="Google Shape;4082;p124"/>
          <p:cNvSpPr/>
          <p:nvPr/>
        </p:nvSpPr>
        <p:spPr>
          <a:xfrm>
            <a:off x="1437700" y="469822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R1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87" name="Google Shape;4087;p124"/>
          <p:cNvSpPr/>
          <p:nvPr/>
        </p:nvSpPr>
        <p:spPr>
          <a:xfrm>
            <a:off x="3037900" y="469822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R2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89" name="Google Shape;4089;p124"/>
          <p:cNvSpPr/>
          <p:nvPr/>
        </p:nvSpPr>
        <p:spPr>
          <a:xfrm>
            <a:off x="4638100" y="469822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R3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91" name="Google Shape;4091;p124"/>
          <p:cNvSpPr/>
          <p:nvPr/>
        </p:nvSpPr>
        <p:spPr>
          <a:xfrm>
            <a:off x="6162100" y="469822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R4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83" name="Google Shape;4083;p124"/>
          <p:cNvSpPr/>
          <p:nvPr/>
        </p:nvSpPr>
        <p:spPr>
          <a:xfrm>
            <a:off x="2047300" y="408862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R5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96" name="Google Shape;4096;p124"/>
          <p:cNvSpPr/>
          <p:nvPr/>
        </p:nvSpPr>
        <p:spPr>
          <a:xfrm>
            <a:off x="3647500" y="408862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R6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93" name="Google Shape;4093;p124"/>
          <p:cNvSpPr/>
          <p:nvPr/>
        </p:nvSpPr>
        <p:spPr>
          <a:xfrm>
            <a:off x="5247700" y="408862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R7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94" name="Google Shape;4094;p124"/>
          <p:cNvSpPr/>
          <p:nvPr/>
        </p:nvSpPr>
        <p:spPr>
          <a:xfrm>
            <a:off x="6771700" y="408862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R8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85" name="Google Shape;4085;p124"/>
          <p:cNvSpPr/>
          <p:nvPr/>
        </p:nvSpPr>
        <p:spPr>
          <a:xfrm>
            <a:off x="2656900" y="347902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R9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99" name="Google Shape;4099;p124"/>
          <p:cNvSpPr/>
          <p:nvPr/>
        </p:nvSpPr>
        <p:spPr>
          <a:xfrm>
            <a:off x="4257100" y="347902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R10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01" name="Google Shape;4101;p124"/>
          <p:cNvSpPr/>
          <p:nvPr/>
        </p:nvSpPr>
        <p:spPr>
          <a:xfrm>
            <a:off x="5857300" y="347902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R11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03" name="Google Shape;4103;p124"/>
          <p:cNvSpPr/>
          <p:nvPr/>
        </p:nvSpPr>
        <p:spPr>
          <a:xfrm>
            <a:off x="7381300" y="347902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R12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12" name="Google Shape;4112;p124"/>
          <p:cNvSpPr/>
          <p:nvPr/>
        </p:nvSpPr>
        <p:spPr>
          <a:xfrm>
            <a:off x="1447588" y="2318625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119" name="Google Shape;4119;p124"/>
          <p:cNvCxnSpPr>
            <a:stCxn id="4082" idx="0"/>
            <a:endCxn id="4112" idx="4"/>
          </p:cNvCxnSpPr>
          <p:nvPr/>
        </p:nvCxnSpPr>
        <p:spPr>
          <a:xfrm rot="10800000">
            <a:off x="1590100" y="2603625"/>
            <a:ext cx="0" cy="2094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111" name="Google Shape;4111;p124"/>
          <p:cNvSpPr/>
          <p:nvPr/>
        </p:nvSpPr>
        <p:spPr>
          <a:xfrm>
            <a:off x="2666788" y="1709025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120" name="Google Shape;4120;p124"/>
          <p:cNvCxnSpPr>
            <a:stCxn id="4085" idx="0"/>
            <a:endCxn id="4111" idx="4"/>
          </p:cNvCxnSpPr>
          <p:nvPr/>
        </p:nvCxnSpPr>
        <p:spPr>
          <a:xfrm rot="10800000">
            <a:off x="2809300" y="1994025"/>
            <a:ext cx="0" cy="1485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115" name="Google Shape;4115;p124"/>
          <p:cNvSpPr/>
          <p:nvPr/>
        </p:nvSpPr>
        <p:spPr>
          <a:xfrm>
            <a:off x="6171988" y="2318625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D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121" name="Google Shape;4121;p124"/>
          <p:cNvCxnSpPr>
            <a:stCxn id="4091" idx="0"/>
            <a:endCxn id="4115" idx="4"/>
          </p:cNvCxnSpPr>
          <p:nvPr/>
        </p:nvCxnSpPr>
        <p:spPr>
          <a:xfrm rot="10800000">
            <a:off x="6314500" y="2603625"/>
            <a:ext cx="0" cy="2094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114" name="Google Shape;4114;p124"/>
          <p:cNvSpPr/>
          <p:nvPr/>
        </p:nvSpPr>
        <p:spPr>
          <a:xfrm>
            <a:off x="7391188" y="1709025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122" name="Google Shape;4122;p124"/>
          <p:cNvCxnSpPr>
            <a:stCxn id="4103" idx="0"/>
            <a:endCxn id="4114" idx="4"/>
          </p:cNvCxnSpPr>
          <p:nvPr/>
        </p:nvCxnSpPr>
        <p:spPr>
          <a:xfrm rot="10800000">
            <a:off x="7533700" y="1994025"/>
            <a:ext cx="0" cy="1485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23" name="Google Shape;4123;p124"/>
          <p:cNvCxnSpPr>
            <a:stCxn id="4115" idx="2"/>
            <a:endCxn id="4112" idx="6"/>
          </p:cNvCxnSpPr>
          <p:nvPr/>
        </p:nvCxnSpPr>
        <p:spPr>
          <a:xfrm rot="10800000">
            <a:off x="1732588" y="2461125"/>
            <a:ext cx="4439400" cy="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124" name="Google Shape;4124;p124"/>
          <p:cNvSpPr txBox="1"/>
          <p:nvPr/>
        </p:nvSpPr>
        <p:spPr>
          <a:xfrm>
            <a:off x="1275400" y="1927725"/>
            <a:ext cx="9342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00FF"/>
                </a:solidFill>
                <a:latin typeface="Roboto"/>
                <a:ea typeface="Roboto"/>
                <a:cs typeface="Roboto"/>
                <a:sym typeface="Roboto"/>
              </a:rPr>
              <a:t>Stretch = 2</a:t>
            </a:r>
            <a:endParaRPr>
              <a:solidFill>
                <a:srgbClr val="FF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28" name="Shape 4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129" name="Google Shape;4129;p125"/>
          <p:cNvCxnSpPr>
            <a:stCxn id="4130" idx="3"/>
            <a:endCxn id="4131" idx="1"/>
          </p:cNvCxnSpPr>
          <p:nvPr/>
        </p:nvCxnSpPr>
        <p:spPr>
          <a:xfrm>
            <a:off x="2961700" y="3631425"/>
            <a:ext cx="1295400" cy="0"/>
          </a:xfrm>
          <a:prstGeom prst="straightConnector1">
            <a:avLst/>
          </a:prstGeom>
          <a:noFill/>
          <a:ln cap="flat" cmpd="sng" w="28575">
            <a:solidFill>
              <a:srgbClr val="38761D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32" name="Google Shape;4132;p125"/>
          <p:cNvCxnSpPr>
            <a:stCxn id="4131" idx="3"/>
            <a:endCxn id="4133" idx="1"/>
          </p:cNvCxnSpPr>
          <p:nvPr/>
        </p:nvCxnSpPr>
        <p:spPr>
          <a:xfrm>
            <a:off x="4561900" y="3631425"/>
            <a:ext cx="1295400" cy="0"/>
          </a:xfrm>
          <a:prstGeom prst="straightConnector1">
            <a:avLst/>
          </a:prstGeom>
          <a:noFill/>
          <a:ln cap="flat" cmpd="sng" w="28575">
            <a:solidFill>
              <a:srgbClr val="38761D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34" name="Google Shape;4134;p125"/>
          <p:cNvCxnSpPr>
            <a:stCxn id="4133" idx="3"/>
            <a:endCxn id="4135" idx="1"/>
          </p:cNvCxnSpPr>
          <p:nvPr/>
        </p:nvCxnSpPr>
        <p:spPr>
          <a:xfrm>
            <a:off x="6162100" y="3631425"/>
            <a:ext cx="1219200" cy="0"/>
          </a:xfrm>
          <a:prstGeom prst="straightConnector1">
            <a:avLst/>
          </a:prstGeom>
          <a:noFill/>
          <a:ln cap="flat" cmpd="sng" w="28575">
            <a:solidFill>
              <a:srgbClr val="38761D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36" name="Google Shape;4136;p125"/>
          <p:cNvCxnSpPr>
            <a:stCxn id="4137" idx="3"/>
            <a:endCxn id="4138" idx="1"/>
          </p:cNvCxnSpPr>
          <p:nvPr/>
        </p:nvCxnSpPr>
        <p:spPr>
          <a:xfrm>
            <a:off x="1742500" y="4850625"/>
            <a:ext cx="12954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39" name="Google Shape;4139;p125"/>
          <p:cNvCxnSpPr>
            <a:stCxn id="4138" idx="3"/>
            <a:endCxn id="4140" idx="1"/>
          </p:cNvCxnSpPr>
          <p:nvPr/>
        </p:nvCxnSpPr>
        <p:spPr>
          <a:xfrm>
            <a:off x="3342700" y="4850625"/>
            <a:ext cx="12954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41" name="Google Shape;4141;p125"/>
          <p:cNvCxnSpPr>
            <a:stCxn id="4140" idx="3"/>
            <a:endCxn id="4142" idx="1"/>
          </p:cNvCxnSpPr>
          <p:nvPr/>
        </p:nvCxnSpPr>
        <p:spPr>
          <a:xfrm>
            <a:off x="4942900" y="4850625"/>
            <a:ext cx="12192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43" name="Google Shape;4143;p125"/>
          <p:cNvCxnSpPr>
            <a:stCxn id="4144" idx="3"/>
            <a:endCxn id="4145" idx="1"/>
          </p:cNvCxnSpPr>
          <p:nvPr/>
        </p:nvCxnSpPr>
        <p:spPr>
          <a:xfrm>
            <a:off x="5552500" y="4241025"/>
            <a:ext cx="12192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46" name="Google Shape;4146;p125"/>
          <p:cNvCxnSpPr>
            <a:stCxn id="4147" idx="3"/>
            <a:endCxn id="4144" idx="1"/>
          </p:cNvCxnSpPr>
          <p:nvPr/>
        </p:nvCxnSpPr>
        <p:spPr>
          <a:xfrm>
            <a:off x="3952300" y="4241025"/>
            <a:ext cx="12954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48" name="Google Shape;4148;p125"/>
          <p:cNvCxnSpPr>
            <a:stCxn id="4149" idx="3"/>
            <a:endCxn id="4147" idx="1"/>
          </p:cNvCxnSpPr>
          <p:nvPr/>
        </p:nvCxnSpPr>
        <p:spPr>
          <a:xfrm>
            <a:off x="2352100" y="4241025"/>
            <a:ext cx="12954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50" name="Google Shape;4150;p125"/>
          <p:cNvCxnSpPr>
            <a:stCxn id="4142" idx="3"/>
            <a:endCxn id="4145" idx="2"/>
          </p:cNvCxnSpPr>
          <p:nvPr/>
        </p:nvCxnSpPr>
        <p:spPr>
          <a:xfrm flipH="1" rot="10800000">
            <a:off x="6466900" y="4393425"/>
            <a:ext cx="457200" cy="4572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51" name="Google Shape;4151;p125"/>
          <p:cNvCxnSpPr>
            <a:stCxn id="4145" idx="3"/>
            <a:endCxn id="4135" idx="2"/>
          </p:cNvCxnSpPr>
          <p:nvPr/>
        </p:nvCxnSpPr>
        <p:spPr>
          <a:xfrm flipH="1" rot="10800000">
            <a:off x="7076500" y="3783825"/>
            <a:ext cx="457200" cy="4572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52" name="Google Shape;4152;p125"/>
          <p:cNvCxnSpPr>
            <a:stCxn id="4140" idx="3"/>
            <a:endCxn id="4144" idx="2"/>
          </p:cNvCxnSpPr>
          <p:nvPr/>
        </p:nvCxnSpPr>
        <p:spPr>
          <a:xfrm flipH="1" rot="10800000">
            <a:off x="4942900" y="4393425"/>
            <a:ext cx="457200" cy="4572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53" name="Google Shape;4153;p125"/>
          <p:cNvCxnSpPr>
            <a:stCxn id="4144" idx="3"/>
            <a:endCxn id="4133" idx="2"/>
          </p:cNvCxnSpPr>
          <p:nvPr/>
        </p:nvCxnSpPr>
        <p:spPr>
          <a:xfrm flipH="1" rot="10800000">
            <a:off x="5552500" y="3783825"/>
            <a:ext cx="457200" cy="4572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54" name="Google Shape;4154;p125"/>
          <p:cNvCxnSpPr>
            <a:stCxn id="4147" idx="3"/>
            <a:endCxn id="4131" idx="2"/>
          </p:cNvCxnSpPr>
          <p:nvPr/>
        </p:nvCxnSpPr>
        <p:spPr>
          <a:xfrm flipH="1" rot="10800000">
            <a:off x="3952300" y="3783825"/>
            <a:ext cx="457200" cy="4572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55" name="Google Shape;4155;p125"/>
          <p:cNvCxnSpPr>
            <a:stCxn id="4138" idx="3"/>
            <a:endCxn id="4147" idx="2"/>
          </p:cNvCxnSpPr>
          <p:nvPr/>
        </p:nvCxnSpPr>
        <p:spPr>
          <a:xfrm flipH="1" rot="10800000">
            <a:off x="3342700" y="4393425"/>
            <a:ext cx="457200" cy="4572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56" name="Google Shape;4156;p125"/>
          <p:cNvCxnSpPr>
            <a:stCxn id="4137" idx="3"/>
            <a:endCxn id="4149" idx="2"/>
          </p:cNvCxnSpPr>
          <p:nvPr/>
        </p:nvCxnSpPr>
        <p:spPr>
          <a:xfrm flipH="1" rot="10800000">
            <a:off x="1742500" y="4393425"/>
            <a:ext cx="457200" cy="4572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57" name="Google Shape;4157;p125"/>
          <p:cNvCxnSpPr>
            <a:stCxn id="4149" idx="3"/>
            <a:endCxn id="4130" idx="2"/>
          </p:cNvCxnSpPr>
          <p:nvPr/>
        </p:nvCxnSpPr>
        <p:spPr>
          <a:xfrm flipH="1" rot="10800000">
            <a:off x="2352100" y="3783825"/>
            <a:ext cx="457200" cy="4572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58" name="Google Shape;4158;p125"/>
          <p:cNvCxnSpPr>
            <a:stCxn id="4159" idx="2"/>
            <a:endCxn id="4160" idx="6"/>
          </p:cNvCxnSpPr>
          <p:nvPr/>
        </p:nvCxnSpPr>
        <p:spPr>
          <a:xfrm flipH="1">
            <a:off x="1732588" y="1851525"/>
            <a:ext cx="934200" cy="6096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61" name="Google Shape;4161;p125"/>
          <p:cNvCxnSpPr>
            <a:stCxn id="4162" idx="2"/>
            <a:endCxn id="4163" idx="6"/>
          </p:cNvCxnSpPr>
          <p:nvPr/>
        </p:nvCxnSpPr>
        <p:spPr>
          <a:xfrm flipH="1">
            <a:off x="6456988" y="1851525"/>
            <a:ext cx="934200" cy="609600"/>
          </a:xfrm>
          <a:prstGeom prst="straightConnector1">
            <a:avLst/>
          </a:prstGeom>
          <a:noFill/>
          <a:ln cap="flat" cmpd="sng" w="28575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64" name="Google Shape;4164;p125"/>
          <p:cNvCxnSpPr>
            <a:stCxn id="4162" idx="2"/>
            <a:endCxn id="4159" idx="6"/>
          </p:cNvCxnSpPr>
          <p:nvPr/>
        </p:nvCxnSpPr>
        <p:spPr>
          <a:xfrm rot="10800000">
            <a:off x="2951788" y="1851525"/>
            <a:ext cx="4439400" cy="0"/>
          </a:xfrm>
          <a:prstGeom prst="straightConnector1">
            <a:avLst/>
          </a:prstGeom>
          <a:noFill/>
          <a:ln cap="flat" cmpd="sng" w="28575">
            <a:solidFill>
              <a:srgbClr val="38761D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165" name="Google Shape;4165;p125"/>
          <p:cNvSpPr txBox="1"/>
          <p:nvPr>
            <p:ph idx="1" type="body"/>
          </p:nvPr>
        </p:nvSpPr>
        <p:spPr>
          <a:xfrm>
            <a:off x="107050" y="402200"/>
            <a:ext cx="8909700" cy="60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The average stretch factor depends on how the nodes are numbered.</a:t>
            </a:r>
            <a:endParaRPr/>
          </a:p>
        </p:txBody>
      </p:sp>
      <p:sp>
        <p:nvSpPr>
          <p:cNvPr id="4166" name="Google Shape;4166;p125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Overlay Ring Topology #2</a:t>
            </a:r>
            <a:endParaRPr/>
          </a:p>
        </p:txBody>
      </p:sp>
      <p:sp>
        <p:nvSpPr>
          <p:cNvPr id="4137" name="Google Shape;4137;p125"/>
          <p:cNvSpPr/>
          <p:nvPr/>
        </p:nvSpPr>
        <p:spPr>
          <a:xfrm>
            <a:off x="1437700" y="469822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R1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38" name="Google Shape;4138;p125"/>
          <p:cNvSpPr/>
          <p:nvPr/>
        </p:nvSpPr>
        <p:spPr>
          <a:xfrm>
            <a:off x="3037900" y="469822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R2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40" name="Google Shape;4140;p125"/>
          <p:cNvSpPr/>
          <p:nvPr/>
        </p:nvSpPr>
        <p:spPr>
          <a:xfrm>
            <a:off x="4638100" y="469822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R3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42" name="Google Shape;4142;p125"/>
          <p:cNvSpPr/>
          <p:nvPr/>
        </p:nvSpPr>
        <p:spPr>
          <a:xfrm>
            <a:off x="6162100" y="469822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R4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49" name="Google Shape;4149;p125"/>
          <p:cNvSpPr/>
          <p:nvPr/>
        </p:nvSpPr>
        <p:spPr>
          <a:xfrm>
            <a:off x="2047300" y="408862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R5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47" name="Google Shape;4147;p125"/>
          <p:cNvSpPr/>
          <p:nvPr/>
        </p:nvSpPr>
        <p:spPr>
          <a:xfrm>
            <a:off x="3647500" y="408862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R6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44" name="Google Shape;4144;p125"/>
          <p:cNvSpPr/>
          <p:nvPr/>
        </p:nvSpPr>
        <p:spPr>
          <a:xfrm>
            <a:off x="5247700" y="408862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R7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45" name="Google Shape;4145;p125"/>
          <p:cNvSpPr/>
          <p:nvPr/>
        </p:nvSpPr>
        <p:spPr>
          <a:xfrm>
            <a:off x="6771700" y="408862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R8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30" name="Google Shape;4130;p125"/>
          <p:cNvSpPr/>
          <p:nvPr/>
        </p:nvSpPr>
        <p:spPr>
          <a:xfrm>
            <a:off x="2656900" y="347902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R9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31" name="Google Shape;4131;p125"/>
          <p:cNvSpPr/>
          <p:nvPr/>
        </p:nvSpPr>
        <p:spPr>
          <a:xfrm>
            <a:off x="4257100" y="347902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R10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33" name="Google Shape;4133;p125"/>
          <p:cNvSpPr/>
          <p:nvPr/>
        </p:nvSpPr>
        <p:spPr>
          <a:xfrm>
            <a:off x="5857300" y="347902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R11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35" name="Google Shape;4135;p125"/>
          <p:cNvSpPr/>
          <p:nvPr/>
        </p:nvSpPr>
        <p:spPr>
          <a:xfrm>
            <a:off x="7381300" y="347902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R12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60" name="Google Shape;4160;p125"/>
          <p:cNvSpPr/>
          <p:nvPr/>
        </p:nvSpPr>
        <p:spPr>
          <a:xfrm>
            <a:off x="1447588" y="2318625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167" name="Google Shape;4167;p125"/>
          <p:cNvCxnSpPr>
            <a:stCxn id="4137" idx="0"/>
            <a:endCxn id="4160" idx="4"/>
          </p:cNvCxnSpPr>
          <p:nvPr/>
        </p:nvCxnSpPr>
        <p:spPr>
          <a:xfrm rot="10800000">
            <a:off x="1590100" y="2603625"/>
            <a:ext cx="0" cy="2094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159" name="Google Shape;4159;p125"/>
          <p:cNvSpPr/>
          <p:nvPr/>
        </p:nvSpPr>
        <p:spPr>
          <a:xfrm>
            <a:off x="2666788" y="1709025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168" name="Google Shape;4168;p125"/>
          <p:cNvCxnSpPr>
            <a:stCxn id="4130" idx="0"/>
            <a:endCxn id="4159" idx="4"/>
          </p:cNvCxnSpPr>
          <p:nvPr/>
        </p:nvCxnSpPr>
        <p:spPr>
          <a:xfrm rot="10800000">
            <a:off x="2809300" y="1994025"/>
            <a:ext cx="0" cy="1485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163" name="Google Shape;4163;p125"/>
          <p:cNvSpPr/>
          <p:nvPr/>
        </p:nvSpPr>
        <p:spPr>
          <a:xfrm>
            <a:off x="6171988" y="2318625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D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169" name="Google Shape;4169;p125"/>
          <p:cNvCxnSpPr>
            <a:stCxn id="4142" idx="0"/>
            <a:endCxn id="4163" idx="4"/>
          </p:cNvCxnSpPr>
          <p:nvPr/>
        </p:nvCxnSpPr>
        <p:spPr>
          <a:xfrm rot="10800000">
            <a:off x="6314500" y="2603625"/>
            <a:ext cx="0" cy="2094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162" name="Google Shape;4162;p125"/>
          <p:cNvSpPr/>
          <p:nvPr/>
        </p:nvSpPr>
        <p:spPr>
          <a:xfrm>
            <a:off x="7391188" y="1709025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170" name="Google Shape;4170;p125"/>
          <p:cNvCxnSpPr>
            <a:stCxn id="4135" idx="0"/>
            <a:endCxn id="4162" idx="4"/>
          </p:cNvCxnSpPr>
          <p:nvPr/>
        </p:nvCxnSpPr>
        <p:spPr>
          <a:xfrm rot="10800000">
            <a:off x="7533700" y="1994025"/>
            <a:ext cx="0" cy="1485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71" name="Google Shape;4171;p125"/>
          <p:cNvCxnSpPr>
            <a:stCxn id="4163" idx="2"/>
            <a:endCxn id="4160" idx="6"/>
          </p:cNvCxnSpPr>
          <p:nvPr/>
        </p:nvCxnSpPr>
        <p:spPr>
          <a:xfrm rot="10800000">
            <a:off x="1732588" y="2461125"/>
            <a:ext cx="4439400" cy="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172" name="Google Shape;4172;p125"/>
          <p:cNvSpPr txBox="1"/>
          <p:nvPr/>
        </p:nvSpPr>
        <p:spPr>
          <a:xfrm>
            <a:off x="1275400" y="1927725"/>
            <a:ext cx="9342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00FF"/>
                </a:solidFill>
                <a:latin typeface="Roboto"/>
                <a:ea typeface="Roboto"/>
                <a:cs typeface="Roboto"/>
                <a:sym typeface="Roboto"/>
              </a:rPr>
              <a:t>Stretch = 2</a:t>
            </a:r>
            <a:endParaRPr>
              <a:solidFill>
                <a:srgbClr val="FF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73" name="Google Shape;4173;p125"/>
          <p:cNvSpPr txBox="1"/>
          <p:nvPr/>
        </p:nvSpPr>
        <p:spPr>
          <a:xfrm>
            <a:off x="4714300" y="1559913"/>
            <a:ext cx="9342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8761D"/>
                </a:solidFill>
                <a:latin typeface="Roboto"/>
                <a:ea typeface="Roboto"/>
                <a:cs typeface="Roboto"/>
                <a:sym typeface="Roboto"/>
              </a:rPr>
              <a:t>Stretch = 3</a:t>
            </a:r>
            <a:endParaRPr>
              <a:solidFill>
                <a:srgbClr val="38761D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77" name="Shape 4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178" name="Google Shape;4178;p126"/>
          <p:cNvCxnSpPr>
            <a:stCxn id="4179" idx="3"/>
            <a:endCxn id="4180" idx="2"/>
          </p:cNvCxnSpPr>
          <p:nvPr/>
        </p:nvCxnSpPr>
        <p:spPr>
          <a:xfrm flipH="1" rot="10800000">
            <a:off x="6466900" y="4393425"/>
            <a:ext cx="457200" cy="457200"/>
          </a:xfrm>
          <a:prstGeom prst="straightConnector1">
            <a:avLst/>
          </a:prstGeom>
          <a:noFill/>
          <a:ln cap="flat" cmpd="sng" w="28575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81" name="Google Shape;4181;p126"/>
          <p:cNvCxnSpPr>
            <a:stCxn id="4180" idx="3"/>
            <a:endCxn id="4182" idx="2"/>
          </p:cNvCxnSpPr>
          <p:nvPr/>
        </p:nvCxnSpPr>
        <p:spPr>
          <a:xfrm flipH="1" rot="10800000">
            <a:off x="7076500" y="3783825"/>
            <a:ext cx="457200" cy="457200"/>
          </a:xfrm>
          <a:prstGeom prst="straightConnector1">
            <a:avLst/>
          </a:prstGeom>
          <a:noFill/>
          <a:ln cap="flat" cmpd="sng" w="28575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83" name="Google Shape;4183;p126"/>
          <p:cNvCxnSpPr>
            <a:stCxn id="4184" idx="3"/>
            <a:endCxn id="4185" idx="1"/>
          </p:cNvCxnSpPr>
          <p:nvPr/>
        </p:nvCxnSpPr>
        <p:spPr>
          <a:xfrm>
            <a:off x="1742500" y="4850625"/>
            <a:ext cx="12954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86" name="Google Shape;4186;p126"/>
          <p:cNvCxnSpPr>
            <a:stCxn id="4185" idx="3"/>
            <a:endCxn id="4187" idx="1"/>
          </p:cNvCxnSpPr>
          <p:nvPr/>
        </p:nvCxnSpPr>
        <p:spPr>
          <a:xfrm>
            <a:off x="3342700" y="4850625"/>
            <a:ext cx="12954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88" name="Google Shape;4188;p126"/>
          <p:cNvCxnSpPr>
            <a:stCxn id="4187" idx="3"/>
            <a:endCxn id="4179" idx="1"/>
          </p:cNvCxnSpPr>
          <p:nvPr/>
        </p:nvCxnSpPr>
        <p:spPr>
          <a:xfrm>
            <a:off x="4942900" y="4850625"/>
            <a:ext cx="12192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89" name="Google Shape;4189;p126"/>
          <p:cNvCxnSpPr>
            <a:stCxn id="4190" idx="3"/>
            <a:endCxn id="4180" idx="1"/>
          </p:cNvCxnSpPr>
          <p:nvPr/>
        </p:nvCxnSpPr>
        <p:spPr>
          <a:xfrm>
            <a:off x="5552500" y="4241025"/>
            <a:ext cx="12192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91" name="Google Shape;4191;p126"/>
          <p:cNvCxnSpPr>
            <a:stCxn id="4192" idx="3"/>
            <a:endCxn id="4190" idx="1"/>
          </p:cNvCxnSpPr>
          <p:nvPr/>
        </p:nvCxnSpPr>
        <p:spPr>
          <a:xfrm>
            <a:off x="3952300" y="4241025"/>
            <a:ext cx="12954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93" name="Google Shape;4193;p126"/>
          <p:cNvCxnSpPr>
            <a:stCxn id="4194" idx="3"/>
            <a:endCxn id="4192" idx="1"/>
          </p:cNvCxnSpPr>
          <p:nvPr/>
        </p:nvCxnSpPr>
        <p:spPr>
          <a:xfrm>
            <a:off x="2352100" y="4241025"/>
            <a:ext cx="12954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95" name="Google Shape;4195;p126"/>
          <p:cNvCxnSpPr>
            <a:stCxn id="4196" idx="3"/>
            <a:endCxn id="4197" idx="1"/>
          </p:cNvCxnSpPr>
          <p:nvPr/>
        </p:nvCxnSpPr>
        <p:spPr>
          <a:xfrm>
            <a:off x="2961700" y="3631425"/>
            <a:ext cx="12954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98" name="Google Shape;4198;p126"/>
          <p:cNvCxnSpPr>
            <a:stCxn id="4197" idx="3"/>
            <a:endCxn id="4199" idx="1"/>
          </p:cNvCxnSpPr>
          <p:nvPr/>
        </p:nvCxnSpPr>
        <p:spPr>
          <a:xfrm>
            <a:off x="4561900" y="3631425"/>
            <a:ext cx="12954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00" name="Google Shape;4200;p126"/>
          <p:cNvCxnSpPr>
            <a:stCxn id="4199" idx="3"/>
            <a:endCxn id="4182" idx="1"/>
          </p:cNvCxnSpPr>
          <p:nvPr/>
        </p:nvCxnSpPr>
        <p:spPr>
          <a:xfrm>
            <a:off x="6162100" y="3631425"/>
            <a:ext cx="12192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01" name="Google Shape;4201;p126"/>
          <p:cNvCxnSpPr>
            <a:stCxn id="4187" idx="3"/>
            <a:endCxn id="4190" idx="2"/>
          </p:cNvCxnSpPr>
          <p:nvPr/>
        </p:nvCxnSpPr>
        <p:spPr>
          <a:xfrm flipH="1" rot="10800000">
            <a:off x="4942900" y="4393425"/>
            <a:ext cx="457200" cy="4572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02" name="Google Shape;4202;p126"/>
          <p:cNvCxnSpPr>
            <a:stCxn id="4190" idx="3"/>
            <a:endCxn id="4199" idx="2"/>
          </p:cNvCxnSpPr>
          <p:nvPr/>
        </p:nvCxnSpPr>
        <p:spPr>
          <a:xfrm flipH="1" rot="10800000">
            <a:off x="5552500" y="3783825"/>
            <a:ext cx="457200" cy="4572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03" name="Google Shape;4203;p126"/>
          <p:cNvCxnSpPr>
            <a:stCxn id="4192" idx="3"/>
            <a:endCxn id="4197" idx="2"/>
          </p:cNvCxnSpPr>
          <p:nvPr/>
        </p:nvCxnSpPr>
        <p:spPr>
          <a:xfrm flipH="1" rot="10800000">
            <a:off x="3952300" y="3783825"/>
            <a:ext cx="457200" cy="4572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04" name="Google Shape;4204;p126"/>
          <p:cNvCxnSpPr>
            <a:stCxn id="4185" idx="3"/>
            <a:endCxn id="4192" idx="2"/>
          </p:cNvCxnSpPr>
          <p:nvPr/>
        </p:nvCxnSpPr>
        <p:spPr>
          <a:xfrm flipH="1" rot="10800000">
            <a:off x="3342700" y="4393425"/>
            <a:ext cx="457200" cy="4572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05" name="Google Shape;4205;p126"/>
          <p:cNvCxnSpPr>
            <a:stCxn id="4184" idx="3"/>
            <a:endCxn id="4194" idx="2"/>
          </p:cNvCxnSpPr>
          <p:nvPr/>
        </p:nvCxnSpPr>
        <p:spPr>
          <a:xfrm flipH="1" rot="10800000">
            <a:off x="1742500" y="4393425"/>
            <a:ext cx="457200" cy="4572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06" name="Google Shape;4206;p126"/>
          <p:cNvCxnSpPr>
            <a:stCxn id="4194" idx="3"/>
            <a:endCxn id="4196" idx="2"/>
          </p:cNvCxnSpPr>
          <p:nvPr/>
        </p:nvCxnSpPr>
        <p:spPr>
          <a:xfrm flipH="1" rot="10800000">
            <a:off x="2352100" y="3783825"/>
            <a:ext cx="457200" cy="4572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07" name="Google Shape;4207;p126"/>
          <p:cNvCxnSpPr>
            <a:stCxn id="4208" idx="2"/>
            <a:endCxn id="4209" idx="6"/>
          </p:cNvCxnSpPr>
          <p:nvPr/>
        </p:nvCxnSpPr>
        <p:spPr>
          <a:xfrm flipH="1">
            <a:off x="1732588" y="1851525"/>
            <a:ext cx="934200" cy="6096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10" name="Google Shape;4210;p126"/>
          <p:cNvCxnSpPr>
            <a:stCxn id="4211" idx="2"/>
            <a:endCxn id="4212" idx="6"/>
          </p:cNvCxnSpPr>
          <p:nvPr/>
        </p:nvCxnSpPr>
        <p:spPr>
          <a:xfrm flipH="1">
            <a:off x="6456988" y="1851525"/>
            <a:ext cx="934200" cy="609600"/>
          </a:xfrm>
          <a:prstGeom prst="straightConnector1">
            <a:avLst/>
          </a:prstGeom>
          <a:noFill/>
          <a:ln cap="flat" cmpd="sng" w="28575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13" name="Google Shape;4213;p126"/>
          <p:cNvCxnSpPr>
            <a:stCxn id="4211" idx="2"/>
            <a:endCxn id="4208" idx="6"/>
          </p:cNvCxnSpPr>
          <p:nvPr/>
        </p:nvCxnSpPr>
        <p:spPr>
          <a:xfrm rot="10800000">
            <a:off x="2951788" y="1851525"/>
            <a:ext cx="4439400" cy="0"/>
          </a:xfrm>
          <a:prstGeom prst="straightConnector1">
            <a:avLst/>
          </a:prstGeom>
          <a:noFill/>
          <a:ln cap="flat" cmpd="sng" w="28575">
            <a:solidFill>
              <a:srgbClr val="38761D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214" name="Google Shape;4214;p126"/>
          <p:cNvSpPr txBox="1"/>
          <p:nvPr>
            <p:ph idx="1" type="body"/>
          </p:nvPr>
        </p:nvSpPr>
        <p:spPr>
          <a:xfrm>
            <a:off x="107050" y="402200"/>
            <a:ext cx="8909700" cy="60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The average stretch factor depends on how the nodes are numbered.</a:t>
            </a:r>
            <a:endParaRPr/>
          </a:p>
        </p:txBody>
      </p:sp>
      <p:sp>
        <p:nvSpPr>
          <p:cNvPr id="4215" name="Google Shape;4215;p126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Overlay Ring Topology #2</a:t>
            </a:r>
            <a:endParaRPr/>
          </a:p>
        </p:txBody>
      </p:sp>
      <p:sp>
        <p:nvSpPr>
          <p:cNvPr id="4184" name="Google Shape;4184;p126"/>
          <p:cNvSpPr/>
          <p:nvPr/>
        </p:nvSpPr>
        <p:spPr>
          <a:xfrm>
            <a:off x="1437700" y="469822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R1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85" name="Google Shape;4185;p126"/>
          <p:cNvSpPr/>
          <p:nvPr/>
        </p:nvSpPr>
        <p:spPr>
          <a:xfrm>
            <a:off x="3037900" y="469822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R2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87" name="Google Shape;4187;p126"/>
          <p:cNvSpPr/>
          <p:nvPr/>
        </p:nvSpPr>
        <p:spPr>
          <a:xfrm>
            <a:off x="4638100" y="469822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R3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79" name="Google Shape;4179;p126"/>
          <p:cNvSpPr/>
          <p:nvPr/>
        </p:nvSpPr>
        <p:spPr>
          <a:xfrm>
            <a:off x="6162100" y="469822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R4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94" name="Google Shape;4194;p126"/>
          <p:cNvSpPr/>
          <p:nvPr/>
        </p:nvSpPr>
        <p:spPr>
          <a:xfrm>
            <a:off x="2047300" y="408862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R5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92" name="Google Shape;4192;p126"/>
          <p:cNvSpPr/>
          <p:nvPr/>
        </p:nvSpPr>
        <p:spPr>
          <a:xfrm>
            <a:off x="3647500" y="408862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R6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90" name="Google Shape;4190;p126"/>
          <p:cNvSpPr/>
          <p:nvPr/>
        </p:nvSpPr>
        <p:spPr>
          <a:xfrm>
            <a:off x="5247700" y="408862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R7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80" name="Google Shape;4180;p126"/>
          <p:cNvSpPr/>
          <p:nvPr/>
        </p:nvSpPr>
        <p:spPr>
          <a:xfrm>
            <a:off x="6771700" y="408862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R8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96" name="Google Shape;4196;p126"/>
          <p:cNvSpPr/>
          <p:nvPr/>
        </p:nvSpPr>
        <p:spPr>
          <a:xfrm>
            <a:off x="2656900" y="347902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R9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97" name="Google Shape;4197;p126"/>
          <p:cNvSpPr/>
          <p:nvPr/>
        </p:nvSpPr>
        <p:spPr>
          <a:xfrm>
            <a:off x="4257100" y="347902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R10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99" name="Google Shape;4199;p126"/>
          <p:cNvSpPr/>
          <p:nvPr/>
        </p:nvSpPr>
        <p:spPr>
          <a:xfrm>
            <a:off x="5857300" y="347902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R11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82" name="Google Shape;4182;p126"/>
          <p:cNvSpPr/>
          <p:nvPr/>
        </p:nvSpPr>
        <p:spPr>
          <a:xfrm>
            <a:off x="7381300" y="347902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R12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09" name="Google Shape;4209;p126"/>
          <p:cNvSpPr/>
          <p:nvPr/>
        </p:nvSpPr>
        <p:spPr>
          <a:xfrm>
            <a:off x="1447588" y="2318625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216" name="Google Shape;4216;p126"/>
          <p:cNvCxnSpPr>
            <a:stCxn id="4184" idx="0"/>
            <a:endCxn id="4209" idx="4"/>
          </p:cNvCxnSpPr>
          <p:nvPr/>
        </p:nvCxnSpPr>
        <p:spPr>
          <a:xfrm rot="10800000">
            <a:off x="1590100" y="2603625"/>
            <a:ext cx="0" cy="2094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208" name="Google Shape;4208;p126"/>
          <p:cNvSpPr/>
          <p:nvPr/>
        </p:nvSpPr>
        <p:spPr>
          <a:xfrm>
            <a:off x="2666788" y="1709025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217" name="Google Shape;4217;p126"/>
          <p:cNvCxnSpPr>
            <a:stCxn id="4196" idx="0"/>
            <a:endCxn id="4208" idx="4"/>
          </p:cNvCxnSpPr>
          <p:nvPr/>
        </p:nvCxnSpPr>
        <p:spPr>
          <a:xfrm rot="10800000">
            <a:off x="2809300" y="1994025"/>
            <a:ext cx="0" cy="1485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212" name="Google Shape;4212;p126"/>
          <p:cNvSpPr/>
          <p:nvPr/>
        </p:nvSpPr>
        <p:spPr>
          <a:xfrm>
            <a:off x="6171988" y="2318625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D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218" name="Google Shape;4218;p126"/>
          <p:cNvCxnSpPr>
            <a:stCxn id="4179" idx="0"/>
            <a:endCxn id="4212" idx="4"/>
          </p:cNvCxnSpPr>
          <p:nvPr/>
        </p:nvCxnSpPr>
        <p:spPr>
          <a:xfrm rot="10800000">
            <a:off x="6314500" y="2603625"/>
            <a:ext cx="0" cy="2094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211" name="Google Shape;4211;p126"/>
          <p:cNvSpPr/>
          <p:nvPr/>
        </p:nvSpPr>
        <p:spPr>
          <a:xfrm>
            <a:off x="7391188" y="1709025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219" name="Google Shape;4219;p126"/>
          <p:cNvCxnSpPr>
            <a:stCxn id="4182" idx="0"/>
            <a:endCxn id="4211" idx="4"/>
          </p:cNvCxnSpPr>
          <p:nvPr/>
        </p:nvCxnSpPr>
        <p:spPr>
          <a:xfrm rot="10800000">
            <a:off x="7533700" y="1994025"/>
            <a:ext cx="0" cy="1485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20" name="Google Shape;4220;p126"/>
          <p:cNvCxnSpPr>
            <a:stCxn id="4212" idx="2"/>
            <a:endCxn id="4209" idx="6"/>
          </p:cNvCxnSpPr>
          <p:nvPr/>
        </p:nvCxnSpPr>
        <p:spPr>
          <a:xfrm rot="10800000">
            <a:off x="1732588" y="2461125"/>
            <a:ext cx="4439400" cy="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221" name="Google Shape;4221;p126"/>
          <p:cNvSpPr txBox="1"/>
          <p:nvPr/>
        </p:nvSpPr>
        <p:spPr>
          <a:xfrm>
            <a:off x="1275400" y="1927725"/>
            <a:ext cx="9342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00FF"/>
                </a:solidFill>
                <a:latin typeface="Roboto"/>
                <a:ea typeface="Roboto"/>
                <a:cs typeface="Roboto"/>
                <a:sym typeface="Roboto"/>
              </a:rPr>
              <a:t>Stretch = 2</a:t>
            </a:r>
            <a:endParaRPr>
              <a:solidFill>
                <a:srgbClr val="FF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22" name="Google Shape;4222;p126"/>
          <p:cNvSpPr txBox="1"/>
          <p:nvPr/>
        </p:nvSpPr>
        <p:spPr>
          <a:xfrm>
            <a:off x="5923600" y="2003925"/>
            <a:ext cx="9342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Stretch = 2</a:t>
            </a:r>
            <a:endParaRPr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23" name="Google Shape;4223;p126"/>
          <p:cNvSpPr txBox="1"/>
          <p:nvPr/>
        </p:nvSpPr>
        <p:spPr>
          <a:xfrm>
            <a:off x="4714300" y="1559913"/>
            <a:ext cx="9342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8761D"/>
                </a:solidFill>
                <a:latin typeface="Roboto"/>
                <a:ea typeface="Roboto"/>
                <a:cs typeface="Roboto"/>
                <a:sym typeface="Roboto"/>
              </a:rPr>
              <a:t>Stretch = 3</a:t>
            </a:r>
            <a:endParaRPr>
              <a:solidFill>
                <a:srgbClr val="38761D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27" name="Shape 4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228" name="Google Shape;4228;p127"/>
          <p:cNvCxnSpPr>
            <a:stCxn id="4229" idx="3"/>
            <a:endCxn id="4230" idx="1"/>
          </p:cNvCxnSpPr>
          <p:nvPr/>
        </p:nvCxnSpPr>
        <p:spPr>
          <a:xfrm>
            <a:off x="1742500" y="4850625"/>
            <a:ext cx="1295400" cy="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31" name="Google Shape;4231;p127"/>
          <p:cNvCxnSpPr>
            <a:stCxn id="4230" idx="3"/>
            <a:endCxn id="4232" idx="1"/>
          </p:cNvCxnSpPr>
          <p:nvPr/>
        </p:nvCxnSpPr>
        <p:spPr>
          <a:xfrm>
            <a:off x="3342700" y="4850625"/>
            <a:ext cx="1295400" cy="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33" name="Google Shape;4233;p127"/>
          <p:cNvCxnSpPr>
            <a:stCxn id="4232" idx="3"/>
            <a:endCxn id="4234" idx="1"/>
          </p:cNvCxnSpPr>
          <p:nvPr/>
        </p:nvCxnSpPr>
        <p:spPr>
          <a:xfrm>
            <a:off x="4942900" y="4850625"/>
            <a:ext cx="1219200" cy="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35" name="Google Shape;4235;p127"/>
          <p:cNvCxnSpPr>
            <a:stCxn id="4236" idx="3"/>
            <a:endCxn id="4237" idx="1"/>
          </p:cNvCxnSpPr>
          <p:nvPr/>
        </p:nvCxnSpPr>
        <p:spPr>
          <a:xfrm>
            <a:off x="5552500" y="4241025"/>
            <a:ext cx="12192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38" name="Google Shape;4238;p127"/>
          <p:cNvCxnSpPr>
            <a:stCxn id="4239" idx="3"/>
            <a:endCxn id="4236" idx="1"/>
          </p:cNvCxnSpPr>
          <p:nvPr/>
        </p:nvCxnSpPr>
        <p:spPr>
          <a:xfrm>
            <a:off x="3952300" y="4241025"/>
            <a:ext cx="12954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40" name="Google Shape;4240;p127"/>
          <p:cNvCxnSpPr>
            <a:stCxn id="4241" idx="3"/>
            <a:endCxn id="4239" idx="1"/>
          </p:cNvCxnSpPr>
          <p:nvPr/>
        </p:nvCxnSpPr>
        <p:spPr>
          <a:xfrm>
            <a:off x="2352100" y="4241025"/>
            <a:ext cx="12954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42" name="Google Shape;4242;p127"/>
          <p:cNvCxnSpPr>
            <a:stCxn id="4243" idx="3"/>
            <a:endCxn id="4244" idx="1"/>
          </p:cNvCxnSpPr>
          <p:nvPr/>
        </p:nvCxnSpPr>
        <p:spPr>
          <a:xfrm>
            <a:off x="2961700" y="3631425"/>
            <a:ext cx="12954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45" name="Google Shape;4245;p127"/>
          <p:cNvCxnSpPr>
            <a:stCxn id="4244" idx="3"/>
            <a:endCxn id="4246" idx="1"/>
          </p:cNvCxnSpPr>
          <p:nvPr/>
        </p:nvCxnSpPr>
        <p:spPr>
          <a:xfrm>
            <a:off x="4561900" y="3631425"/>
            <a:ext cx="12954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47" name="Google Shape;4247;p127"/>
          <p:cNvCxnSpPr>
            <a:stCxn id="4246" idx="3"/>
            <a:endCxn id="4248" idx="1"/>
          </p:cNvCxnSpPr>
          <p:nvPr/>
        </p:nvCxnSpPr>
        <p:spPr>
          <a:xfrm>
            <a:off x="6162100" y="3631425"/>
            <a:ext cx="12192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49" name="Google Shape;4249;p127"/>
          <p:cNvCxnSpPr>
            <a:stCxn id="4234" idx="3"/>
            <a:endCxn id="4237" idx="2"/>
          </p:cNvCxnSpPr>
          <p:nvPr/>
        </p:nvCxnSpPr>
        <p:spPr>
          <a:xfrm flipH="1" rot="10800000">
            <a:off x="6466900" y="4393425"/>
            <a:ext cx="457200" cy="4572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50" name="Google Shape;4250;p127"/>
          <p:cNvCxnSpPr>
            <a:stCxn id="4237" idx="3"/>
            <a:endCxn id="4248" idx="2"/>
          </p:cNvCxnSpPr>
          <p:nvPr/>
        </p:nvCxnSpPr>
        <p:spPr>
          <a:xfrm flipH="1" rot="10800000">
            <a:off x="7076500" y="3783825"/>
            <a:ext cx="457200" cy="4572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51" name="Google Shape;4251;p127"/>
          <p:cNvCxnSpPr>
            <a:stCxn id="4232" idx="3"/>
            <a:endCxn id="4236" idx="2"/>
          </p:cNvCxnSpPr>
          <p:nvPr/>
        </p:nvCxnSpPr>
        <p:spPr>
          <a:xfrm flipH="1" rot="10800000">
            <a:off x="4942900" y="4393425"/>
            <a:ext cx="457200" cy="4572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52" name="Google Shape;4252;p127"/>
          <p:cNvCxnSpPr>
            <a:stCxn id="4236" idx="3"/>
            <a:endCxn id="4246" idx="2"/>
          </p:cNvCxnSpPr>
          <p:nvPr/>
        </p:nvCxnSpPr>
        <p:spPr>
          <a:xfrm flipH="1" rot="10800000">
            <a:off x="5552500" y="3783825"/>
            <a:ext cx="457200" cy="4572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53" name="Google Shape;4253;p127"/>
          <p:cNvCxnSpPr>
            <a:stCxn id="4239" idx="3"/>
            <a:endCxn id="4244" idx="2"/>
          </p:cNvCxnSpPr>
          <p:nvPr/>
        </p:nvCxnSpPr>
        <p:spPr>
          <a:xfrm flipH="1" rot="10800000">
            <a:off x="3952300" y="3783825"/>
            <a:ext cx="457200" cy="4572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54" name="Google Shape;4254;p127"/>
          <p:cNvCxnSpPr>
            <a:stCxn id="4230" idx="3"/>
            <a:endCxn id="4239" idx="2"/>
          </p:cNvCxnSpPr>
          <p:nvPr/>
        </p:nvCxnSpPr>
        <p:spPr>
          <a:xfrm flipH="1" rot="10800000">
            <a:off x="3342700" y="4393425"/>
            <a:ext cx="457200" cy="4572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55" name="Google Shape;4255;p127"/>
          <p:cNvCxnSpPr>
            <a:stCxn id="4229" idx="3"/>
            <a:endCxn id="4241" idx="2"/>
          </p:cNvCxnSpPr>
          <p:nvPr/>
        </p:nvCxnSpPr>
        <p:spPr>
          <a:xfrm flipH="1" rot="10800000">
            <a:off x="1742500" y="4393425"/>
            <a:ext cx="457200" cy="4572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56" name="Google Shape;4256;p127"/>
          <p:cNvCxnSpPr>
            <a:stCxn id="4241" idx="3"/>
            <a:endCxn id="4243" idx="2"/>
          </p:cNvCxnSpPr>
          <p:nvPr/>
        </p:nvCxnSpPr>
        <p:spPr>
          <a:xfrm flipH="1" rot="10800000">
            <a:off x="2352100" y="3783825"/>
            <a:ext cx="457200" cy="4572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57" name="Google Shape;4257;p127"/>
          <p:cNvCxnSpPr>
            <a:stCxn id="4258" idx="2"/>
            <a:endCxn id="4259" idx="6"/>
          </p:cNvCxnSpPr>
          <p:nvPr/>
        </p:nvCxnSpPr>
        <p:spPr>
          <a:xfrm flipH="1">
            <a:off x="1732588" y="1851525"/>
            <a:ext cx="934200" cy="6096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60" name="Google Shape;4260;p127"/>
          <p:cNvCxnSpPr>
            <a:stCxn id="4261" idx="2"/>
            <a:endCxn id="4262" idx="6"/>
          </p:cNvCxnSpPr>
          <p:nvPr/>
        </p:nvCxnSpPr>
        <p:spPr>
          <a:xfrm flipH="1">
            <a:off x="6456988" y="1851525"/>
            <a:ext cx="934200" cy="609600"/>
          </a:xfrm>
          <a:prstGeom prst="straightConnector1">
            <a:avLst/>
          </a:prstGeom>
          <a:noFill/>
          <a:ln cap="flat" cmpd="sng" w="28575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63" name="Google Shape;4263;p127"/>
          <p:cNvCxnSpPr>
            <a:stCxn id="4261" idx="2"/>
            <a:endCxn id="4258" idx="6"/>
          </p:cNvCxnSpPr>
          <p:nvPr/>
        </p:nvCxnSpPr>
        <p:spPr>
          <a:xfrm rot="10800000">
            <a:off x="2951788" y="1851525"/>
            <a:ext cx="4439400" cy="0"/>
          </a:xfrm>
          <a:prstGeom prst="straightConnector1">
            <a:avLst/>
          </a:prstGeom>
          <a:noFill/>
          <a:ln cap="flat" cmpd="sng" w="28575">
            <a:solidFill>
              <a:srgbClr val="38761D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264" name="Google Shape;4264;p127"/>
          <p:cNvSpPr txBox="1"/>
          <p:nvPr>
            <p:ph idx="1" type="body"/>
          </p:nvPr>
        </p:nvSpPr>
        <p:spPr>
          <a:xfrm>
            <a:off x="107050" y="402200"/>
            <a:ext cx="8909700" cy="60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The average stretch factor depends on how the nodes are numbered.</a:t>
            </a:r>
            <a:endParaRPr/>
          </a:p>
        </p:txBody>
      </p:sp>
      <p:sp>
        <p:nvSpPr>
          <p:cNvPr id="4265" name="Google Shape;4265;p127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Overlay Ring Topology #2</a:t>
            </a:r>
            <a:endParaRPr/>
          </a:p>
        </p:txBody>
      </p:sp>
      <p:sp>
        <p:nvSpPr>
          <p:cNvPr id="4229" name="Google Shape;4229;p127"/>
          <p:cNvSpPr/>
          <p:nvPr/>
        </p:nvSpPr>
        <p:spPr>
          <a:xfrm>
            <a:off x="1437700" y="469822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R1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30" name="Google Shape;4230;p127"/>
          <p:cNvSpPr/>
          <p:nvPr/>
        </p:nvSpPr>
        <p:spPr>
          <a:xfrm>
            <a:off x="3037900" y="469822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R2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32" name="Google Shape;4232;p127"/>
          <p:cNvSpPr/>
          <p:nvPr/>
        </p:nvSpPr>
        <p:spPr>
          <a:xfrm>
            <a:off x="4638100" y="469822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R3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34" name="Google Shape;4234;p127"/>
          <p:cNvSpPr/>
          <p:nvPr/>
        </p:nvSpPr>
        <p:spPr>
          <a:xfrm>
            <a:off x="6162100" y="469822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R4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41" name="Google Shape;4241;p127"/>
          <p:cNvSpPr/>
          <p:nvPr/>
        </p:nvSpPr>
        <p:spPr>
          <a:xfrm>
            <a:off x="2047300" y="408862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R5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39" name="Google Shape;4239;p127"/>
          <p:cNvSpPr/>
          <p:nvPr/>
        </p:nvSpPr>
        <p:spPr>
          <a:xfrm>
            <a:off x="3647500" y="408862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R6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36" name="Google Shape;4236;p127"/>
          <p:cNvSpPr/>
          <p:nvPr/>
        </p:nvSpPr>
        <p:spPr>
          <a:xfrm>
            <a:off x="5247700" y="408862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R7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37" name="Google Shape;4237;p127"/>
          <p:cNvSpPr/>
          <p:nvPr/>
        </p:nvSpPr>
        <p:spPr>
          <a:xfrm>
            <a:off x="6771700" y="408862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R8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43" name="Google Shape;4243;p127"/>
          <p:cNvSpPr/>
          <p:nvPr/>
        </p:nvSpPr>
        <p:spPr>
          <a:xfrm>
            <a:off x="2656900" y="347902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R9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44" name="Google Shape;4244;p127"/>
          <p:cNvSpPr/>
          <p:nvPr/>
        </p:nvSpPr>
        <p:spPr>
          <a:xfrm>
            <a:off x="4257100" y="347902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R10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46" name="Google Shape;4246;p127"/>
          <p:cNvSpPr/>
          <p:nvPr/>
        </p:nvSpPr>
        <p:spPr>
          <a:xfrm>
            <a:off x="5857300" y="347902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R11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48" name="Google Shape;4248;p127"/>
          <p:cNvSpPr/>
          <p:nvPr/>
        </p:nvSpPr>
        <p:spPr>
          <a:xfrm>
            <a:off x="7381300" y="347902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R12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59" name="Google Shape;4259;p127"/>
          <p:cNvSpPr/>
          <p:nvPr/>
        </p:nvSpPr>
        <p:spPr>
          <a:xfrm>
            <a:off x="1447588" y="2318625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266" name="Google Shape;4266;p127"/>
          <p:cNvCxnSpPr>
            <a:stCxn id="4229" idx="0"/>
            <a:endCxn id="4259" idx="4"/>
          </p:cNvCxnSpPr>
          <p:nvPr/>
        </p:nvCxnSpPr>
        <p:spPr>
          <a:xfrm rot="10800000">
            <a:off x="1590100" y="2603625"/>
            <a:ext cx="0" cy="2094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258" name="Google Shape;4258;p127"/>
          <p:cNvSpPr/>
          <p:nvPr/>
        </p:nvSpPr>
        <p:spPr>
          <a:xfrm>
            <a:off x="2666788" y="1709025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267" name="Google Shape;4267;p127"/>
          <p:cNvCxnSpPr>
            <a:stCxn id="4243" idx="0"/>
            <a:endCxn id="4258" idx="4"/>
          </p:cNvCxnSpPr>
          <p:nvPr/>
        </p:nvCxnSpPr>
        <p:spPr>
          <a:xfrm rot="10800000">
            <a:off x="2809300" y="1994025"/>
            <a:ext cx="0" cy="1485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262" name="Google Shape;4262;p127"/>
          <p:cNvSpPr/>
          <p:nvPr/>
        </p:nvSpPr>
        <p:spPr>
          <a:xfrm>
            <a:off x="6171988" y="2318625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D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268" name="Google Shape;4268;p127"/>
          <p:cNvCxnSpPr>
            <a:stCxn id="4234" idx="0"/>
            <a:endCxn id="4262" idx="4"/>
          </p:cNvCxnSpPr>
          <p:nvPr/>
        </p:nvCxnSpPr>
        <p:spPr>
          <a:xfrm rot="10800000">
            <a:off x="6314500" y="2603625"/>
            <a:ext cx="0" cy="2094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261" name="Google Shape;4261;p127"/>
          <p:cNvSpPr/>
          <p:nvPr/>
        </p:nvSpPr>
        <p:spPr>
          <a:xfrm>
            <a:off x="7391188" y="1709025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269" name="Google Shape;4269;p127"/>
          <p:cNvCxnSpPr>
            <a:stCxn id="4248" idx="0"/>
            <a:endCxn id="4261" idx="4"/>
          </p:cNvCxnSpPr>
          <p:nvPr/>
        </p:nvCxnSpPr>
        <p:spPr>
          <a:xfrm rot="10800000">
            <a:off x="7533700" y="1994025"/>
            <a:ext cx="0" cy="1485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70" name="Google Shape;4270;p127"/>
          <p:cNvCxnSpPr>
            <a:stCxn id="4262" idx="2"/>
            <a:endCxn id="4259" idx="6"/>
          </p:cNvCxnSpPr>
          <p:nvPr/>
        </p:nvCxnSpPr>
        <p:spPr>
          <a:xfrm rot="10800000">
            <a:off x="1732588" y="2461125"/>
            <a:ext cx="4439400" cy="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271" name="Google Shape;4271;p127"/>
          <p:cNvSpPr txBox="1"/>
          <p:nvPr/>
        </p:nvSpPr>
        <p:spPr>
          <a:xfrm>
            <a:off x="1275400" y="1927725"/>
            <a:ext cx="9342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00FF"/>
                </a:solidFill>
                <a:latin typeface="Roboto"/>
                <a:ea typeface="Roboto"/>
                <a:cs typeface="Roboto"/>
                <a:sym typeface="Roboto"/>
              </a:rPr>
              <a:t>Stretch = 2</a:t>
            </a:r>
            <a:endParaRPr>
              <a:solidFill>
                <a:srgbClr val="FF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72" name="Google Shape;4272;p127"/>
          <p:cNvSpPr txBox="1"/>
          <p:nvPr/>
        </p:nvSpPr>
        <p:spPr>
          <a:xfrm>
            <a:off x="3485200" y="2537313"/>
            <a:ext cx="9342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Stretch = 3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73" name="Google Shape;4273;p127"/>
          <p:cNvSpPr txBox="1"/>
          <p:nvPr/>
        </p:nvSpPr>
        <p:spPr>
          <a:xfrm>
            <a:off x="5923600" y="2003925"/>
            <a:ext cx="9342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Stretch = 2</a:t>
            </a:r>
            <a:endParaRPr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74" name="Google Shape;4274;p127"/>
          <p:cNvSpPr txBox="1"/>
          <p:nvPr/>
        </p:nvSpPr>
        <p:spPr>
          <a:xfrm>
            <a:off x="4714300" y="1559913"/>
            <a:ext cx="9342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8761D"/>
                </a:solidFill>
                <a:latin typeface="Roboto"/>
                <a:ea typeface="Roboto"/>
                <a:cs typeface="Roboto"/>
                <a:sym typeface="Roboto"/>
              </a:rPr>
              <a:t>Stretch = 3</a:t>
            </a:r>
            <a:endParaRPr>
              <a:solidFill>
                <a:srgbClr val="38761D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75" name="Google Shape;4275;p127"/>
          <p:cNvSpPr txBox="1"/>
          <p:nvPr/>
        </p:nvSpPr>
        <p:spPr>
          <a:xfrm>
            <a:off x="7381300" y="4635075"/>
            <a:ext cx="1673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Average stretch: (2+3+2+3)/4 =</a:t>
            </a: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2</a:t>
            </a: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.5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79" name="Shape 4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0" name="Google Shape;4280;p128"/>
          <p:cNvSpPr txBox="1"/>
          <p:nvPr>
            <p:ph idx="1" type="body"/>
          </p:nvPr>
        </p:nvSpPr>
        <p:spPr>
          <a:xfrm>
            <a:off x="107050" y="402200"/>
            <a:ext cx="8909700" cy="129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Topology 2 achieves better average stretch (i.e. better matches the underlay).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Takeaway: How you draw the overlay network (e.g. the order you connect the hosts) has a big impact on performance.</a:t>
            </a:r>
            <a:endParaRPr/>
          </a:p>
        </p:txBody>
      </p:sp>
      <p:sp>
        <p:nvSpPr>
          <p:cNvPr id="4281" name="Google Shape;4281;p128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Different Overlay Topologies</a:t>
            </a:r>
            <a:endParaRPr/>
          </a:p>
        </p:txBody>
      </p:sp>
      <p:cxnSp>
        <p:nvCxnSpPr>
          <p:cNvPr id="4282" name="Google Shape;4282;p128"/>
          <p:cNvCxnSpPr>
            <a:stCxn id="4283" idx="2"/>
            <a:endCxn id="4284" idx="6"/>
          </p:cNvCxnSpPr>
          <p:nvPr/>
        </p:nvCxnSpPr>
        <p:spPr>
          <a:xfrm rot="10800000">
            <a:off x="2647288" y="2687625"/>
            <a:ext cx="934200" cy="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85" name="Google Shape;4285;p128"/>
          <p:cNvCxnSpPr>
            <a:stCxn id="4286" idx="2"/>
            <a:endCxn id="4287" idx="6"/>
          </p:cNvCxnSpPr>
          <p:nvPr/>
        </p:nvCxnSpPr>
        <p:spPr>
          <a:xfrm rot="10800000">
            <a:off x="7371688" y="2687625"/>
            <a:ext cx="934200" cy="0"/>
          </a:xfrm>
          <a:prstGeom prst="straightConnector1">
            <a:avLst/>
          </a:prstGeom>
          <a:noFill/>
          <a:ln cap="flat" cmpd="sng" w="28575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88" name="Google Shape;4288;p128"/>
          <p:cNvCxnSpPr>
            <a:stCxn id="4287" idx="2"/>
            <a:endCxn id="4283" idx="6"/>
          </p:cNvCxnSpPr>
          <p:nvPr/>
        </p:nvCxnSpPr>
        <p:spPr>
          <a:xfrm rot="10800000">
            <a:off x="3866488" y="2687625"/>
            <a:ext cx="3220200" cy="0"/>
          </a:xfrm>
          <a:prstGeom prst="straightConnector1">
            <a:avLst/>
          </a:prstGeom>
          <a:noFill/>
          <a:ln cap="flat" cmpd="sng" w="28575">
            <a:solidFill>
              <a:srgbClr val="38761D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289" name="Google Shape;4289;p128"/>
          <p:cNvSpPr/>
          <p:nvPr/>
        </p:nvSpPr>
        <p:spPr>
          <a:xfrm>
            <a:off x="2610050" y="2315591"/>
            <a:ext cx="5729200" cy="286875"/>
          </a:xfrm>
          <a:custGeom>
            <a:rect b="b" l="l" r="r" t="t"/>
            <a:pathLst>
              <a:path extrusionOk="0" h="11475" w="229168">
                <a:moveTo>
                  <a:pt x="0" y="11104"/>
                </a:moveTo>
                <a:cubicBezTo>
                  <a:pt x="7485" y="9387"/>
                  <a:pt x="13938" y="2336"/>
                  <a:pt x="44908" y="800"/>
                </a:cubicBezTo>
                <a:cubicBezTo>
                  <a:pt x="75879" y="-736"/>
                  <a:pt x="155113" y="110"/>
                  <a:pt x="185823" y="1889"/>
                </a:cubicBezTo>
                <a:cubicBezTo>
                  <a:pt x="216533" y="3668"/>
                  <a:pt x="221944" y="9877"/>
                  <a:pt x="229168" y="11475"/>
                </a:cubicBezTo>
              </a:path>
            </a:pathLst>
          </a:cu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4284" name="Google Shape;4284;p128"/>
          <p:cNvSpPr/>
          <p:nvPr/>
        </p:nvSpPr>
        <p:spPr>
          <a:xfrm>
            <a:off x="2362288" y="2545125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83" name="Google Shape;4283;p128"/>
          <p:cNvSpPr/>
          <p:nvPr/>
        </p:nvSpPr>
        <p:spPr>
          <a:xfrm>
            <a:off x="3581488" y="2545125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87" name="Google Shape;4287;p128"/>
          <p:cNvSpPr/>
          <p:nvPr/>
        </p:nvSpPr>
        <p:spPr>
          <a:xfrm>
            <a:off x="7086688" y="2545125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D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86" name="Google Shape;4286;p128"/>
          <p:cNvSpPr/>
          <p:nvPr/>
        </p:nvSpPr>
        <p:spPr>
          <a:xfrm>
            <a:off x="8305888" y="2545125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290" name="Google Shape;4290;p128"/>
          <p:cNvCxnSpPr>
            <a:stCxn id="4291" idx="2"/>
            <a:endCxn id="4292" idx="6"/>
          </p:cNvCxnSpPr>
          <p:nvPr/>
        </p:nvCxnSpPr>
        <p:spPr>
          <a:xfrm flipH="1">
            <a:off x="2647288" y="3983025"/>
            <a:ext cx="934200" cy="6096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93" name="Google Shape;4293;p128"/>
          <p:cNvCxnSpPr>
            <a:stCxn id="4294" idx="2"/>
            <a:endCxn id="4295" idx="6"/>
          </p:cNvCxnSpPr>
          <p:nvPr/>
        </p:nvCxnSpPr>
        <p:spPr>
          <a:xfrm flipH="1">
            <a:off x="7371688" y="3983025"/>
            <a:ext cx="934200" cy="609600"/>
          </a:xfrm>
          <a:prstGeom prst="straightConnector1">
            <a:avLst/>
          </a:prstGeom>
          <a:noFill/>
          <a:ln cap="flat" cmpd="sng" w="28575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96" name="Google Shape;4296;p128"/>
          <p:cNvCxnSpPr>
            <a:stCxn id="4294" idx="2"/>
            <a:endCxn id="4291" idx="6"/>
          </p:cNvCxnSpPr>
          <p:nvPr/>
        </p:nvCxnSpPr>
        <p:spPr>
          <a:xfrm rot="10800000">
            <a:off x="3866488" y="3983025"/>
            <a:ext cx="4439400" cy="0"/>
          </a:xfrm>
          <a:prstGeom prst="straightConnector1">
            <a:avLst/>
          </a:prstGeom>
          <a:noFill/>
          <a:ln cap="flat" cmpd="sng" w="28575">
            <a:solidFill>
              <a:srgbClr val="38761D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292" name="Google Shape;4292;p128"/>
          <p:cNvSpPr/>
          <p:nvPr/>
        </p:nvSpPr>
        <p:spPr>
          <a:xfrm>
            <a:off x="2362288" y="4450125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91" name="Google Shape;4291;p128"/>
          <p:cNvSpPr/>
          <p:nvPr/>
        </p:nvSpPr>
        <p:spPr>
          <a:xfrm>
            <a:off x="3581488" y="3840525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95" name="Google Shape;4295;p128"/>
          <p:cNvSpPr/>
          <p:nvPr/>
        </p:nvSpPr>
        <p:spPr>
          <a:xfrm>
            <a:off x="7086688" y="4450125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D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94" name="Google Shape;4294;p128"/>
          <p:cNvSpPr/>
          <p:nvPr/>
        </p:nvSpPr>
        <p:spPr>
          <a:xfrm>
            <a:off x="8305888" y="3840525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297" name="Google Shape;4297;p128"/>
          <p:cNvCxnSpPr>
            <a:stCxn id="4295" idx="2"/>
            <a:endCxn id="4292" idx="6"/>
          </p:cNvCxnSpPr>
          <p:nvPr/>
        </p:nvCxnSpPr>
        <p:spPr>
          <a:xfrm rot="10800000">
            <a:off x="2647288" y="4592625"/>
            <a:ext cx="4439400" cy="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298" name="Google Shape;4298;p128"/>
          <p:cNvSpPr txBox="1"/>
          <p:nvPr/>
        </p:nvSpPr>
        <p:spPr>
          <a:xfrm>
            <a:off x="2165350" y="2842413"/>
            <a:ext cx="6789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Node 1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99" name="Google Shape;4299;p128"/>
          <p:cNvSpPr txBox="1"/>
          <p:nvPr/>
        </p:nvSpPr>
        <p:spPr>
          <a:xfrm>
            <a:off x="3384550" y="2842400"/>
            <a:ext cx="6789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Node 2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300" name="Google Shape;4300;p128"/>
          <p:cNvSpPr txBox="1"/>
          <p:nvPr/>
        </p:nvSpPr>
        <p:spPr>
          <a:xfrm>
            <a:off x="6889750" y="2842413"/>
            <a:ext cx="6789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Node 3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301" name="Google Shape;4301;p128"/>
          <p:cNvSpPr txBox="1"/>
          <p:nvPr/>
        </p:nvSpPr>
        <p:spPr>
          <a:xfrm>
            <a:off x="8108950" y="2842413"/>
            <a:ext cx="6789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Node 4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302" name="Google Shape;4302;p128"/>
          <p:cNvSpPr txBox="1"/>
          <p:nvPr/>
        </p:nvSpPr>
        <p:spPr>
          <a:xfrm>
            <a:off x="2165350" y="4747388"/>
            <a:ext cx="6789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Node 1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303" name="Google Shape;4303;p128"/>
          <p:cNvSpPr txBox="1"/>
          <p:nvPr/>
        </p:nvSpPr>
        <p:spPr>
          <a:xfrm>
            <a:off x="3384550" y="3604400"/>
            <a:ext cx="6789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Node 2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304" name="Google Shape;4304;p128"/>
          <p:cNvSpPr txBox="1"/>
          <p:nvPr/>
        </p:nvSpPr>
        <p:spPr>
          <a:xfrm>
            <a:off x="6889750" y="4747388"/>
            <a:ext cx="6789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Node 4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305" name="Google Shape;4305;p128"/>
          <p:cNvSpPr txBox="1"/>
          <p:nvPr/>
        </p:nvSpPr>
        <p:spPr>
          <a:xfrm>
            <a:off x="8108950" y="3604413"/>
            <a:ext cx="6789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Node 3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306" name="Google Shape;4306;p128"/>
          <p:cNvSpPr txBox="1"/>
          <p:nvPr/>
        </p:nvSpPr>
        <p:spPr>
          <a:xfrm>
            <a:off x="335950" y="1904000"/>
            <a:ext cx="17457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Overlay Topology 1: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Node 1 = A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Node 2 = C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Node 3 = D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Node 4 = B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Average Stretch: 3.5</a:t>
            </a:r>
            <a:endParaRPr b="1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307" name="Google Shape;4307;p128"/>
          <p:cNvSpPr txBox="1"/>
          <p:nvPr/>
        </p:nvSpPr>
        <p:spPr>
          <a:xfrm>
            <a:off x="335950" y="3732800"/>
            <a:ext cx="17457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Overlay Topology 2: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Node 1 = A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Node 2 = C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Node 3 = B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Node 4 = D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Average Stretch: 2.5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11" name="Shape 4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2" name="Google Shape;4312;p129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Summary - Layers of Abstraction</a:t>
            </a:r>
            <a:endParaRPr/>
          </a:p>
        </p:txBody>
      </p:sp>
      <p:sp>
        <p:nvSpPr>
          <p:cNvPr id="4313" name="Google Shape;4313;p129"/>
          <p:cNvSpPr txBox="1"/>
          <p:nvPr>
            <p:ph idx="1" type="body"/>
          </p:nvPr>
        </p:nvSpPr>
        <p:spPr>
          <a:xfrm>
            <a:off x="107050" y="402200"/>
            <a:ext cx="8909700" cy="151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We thought about collectives at 3 different layers of abstraction: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Clr>
                <a:schemeClr val="accent3"/>
              </a:buClr>
              <a:buSzPts val="1800"/>
              <a:buChar char="●"/>
            </a:pPr>
            <a:r>
              <a:rPr b="1" lang="en">
                <a:solidFill>
                  <a:schemeClr val="accent3"/>
                </a:solidFill>
              </a:rPr>
              <a:t>Definitions: Users just need to know the input/outputs to use the operations.</a:t>
            </a:r>
            <a:endParaRPr b="1">
              <a:solidFill>
                <a:schemeClr val="accent3"/>
              </a:solidFill>
            </a:endParaRPr>
          </a:p>
        </p:txBody>
      </p:sp>
      <p:sp>
        <p:nvSpPr>
          <p:cNvPr id="4314" name="Google Shape;4314;p129"/>
          <p:cNvSpPr/>
          <p:nvPr/>
        </p:nvSpPr>
        <p:spPr>
          <a:xfrm>
            <a:off x="1749531" y="3277486"/>
            <a:ext cx="926700" cy="2511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315" name="Google Shape;4315;p129"/>
          <p:cNvSpPr/>
          <p:nvPr/>
        </p:nvSpPr>
        <p:spPr>
          <a:xfrm>
            <a:off x="1749525" y="3026287"/>
            <a:ext cx="926700" cy="2511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316" name="Google Shape;4316;p129"/>
          <p:cNvSpPr/>
          <p:nvPr/>
        </p:nvSpPr>
        <p:spPr>
          <a:xfrm>
            <a:off x="1749535" y="2775088"/>
            <a:ext cx="926700" cy="2511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317" name="Google Shape;4317;p129"/>
          <p:cNvSpPr/>
          <p:nvPr/>
        </p:nvSpPr>
        <p:spPr>
          <a:xfrm>
            <a:off x="1749529" y="2523889"/>
            <a:ext cx="926700" cy="2511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7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318" name="Google Shape;4318;p129"/>
          <p:cNvSpPr/>
          <p:nvPr/>
        </p:nvSpPr>
        <p:spPr>
          <a:xfrm>
            <a:off x="2800056" y="3277474"/>
            <a:ext cx="926700" cy="2511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319" name="Google Shape;4319;p129"/>
          <p:cNvSpPr/>
          <p:nvPr/>
        </p:nvSpPr>
        <p:spPr>
          <a:xfrm>
            <a:off x="2800050" y="3026275"/>
            <a:ext cx="926700" cy="2511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320" name="Google Shape;4320;p129"/>
          <p:cNvSpPr/>
          <p:nvPr/>
        </p:nvSpPr>
        <p:spPr>
          <a:xfrm>
            <a:off x="2800060" y="2775075"/>
            <a:ext cx="926700" cy="2511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i="1" sz="1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321" name="Google Shape;4321;p129"/>
          <p:cNvSpPr/>
          <p:nvPr/>
        </p:nvSpPr>
        <p:spPr>
          <a:xfrm>
            <a:off x="2800054" y="2523876"/>
            <a:ext cx="926700" cy="2511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322" name="Google Shape;4322;p129"/>
          <p:cNvSpPr/>
          <p:nvPr/>
        </p:nvSpPr>
        <p:spPr>
          <a:xfrm>
            <a:off x="3850575" y="3277474"/>
            <a:ext cx="926700" cy="2511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323" name="Google Shape;4323;p129"/>
          <p:cNvSpPr/>
          <p:nvPr/>
        </p:nvSpPr>
        <p:spPr>
          <a:xfrm>
            <a:off x="3850569" y="3026275"/>
            <a:ext cx="926700" cy="2511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324" name="Google Shape;4324;p129"/>
          <p:cNvSpPr/>
          <p:nvPr/>
        </p:nvSpPr>
        <p:spPr>
          <a:xfrm>
            <a:off x="3850579" y="2775075"/>
            <a:ext cx="926700" cy="2511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325" name="Google Shape;4325;p129"/>
          <p:cNvSpPr/>
          <p:nvPr/>
        </p:nvSpPr>
        <p:spPr>
          <a:xfrm>
            <a:off x="3850573" y="2523876"/>
            <a:ext cx="926700" cy="2511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326" name="Google Shape;4326;p129"/>
          <p:cNvSpPr/>
          <p:nvPr/>
        </p:nvSpPr>
        <p:spPr>
          <a:xfrm>
            <a:off x="4901094" y="3277474"/>
            <a:ext cx="926700" cy="2511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327" name="Google Shape;4327;p129"/>
          <p:cNvSpPr/>
          <p:nvPr/>
        </p:nvSpPr>
        <p:spPr>
          <a:xfrm>
            <a:off x="4901088" y="3026275"/>
            <a:ext cx="926700" cy="2511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328" name="Google Shape;4328;p129"/>
          <p:cNvSpPr/>
          <p:nvPr/>
        </p:nvSpPr>
        <p:spPr>
          <a:xfrm>
            <a:off x="4901098" y="2775075"/>
            <a:ext cx="926700" cy="2511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329" name="Google Shape;4329;p129"/>
          <p:cNvSpPr/>
          <p:nvPr/>
        </p:nvSpPr>
        <p:spPr>
          <a:xfrm>
            <a:off x="4901092" y="2523876"/>
            <a:ext cx="926700" cy="2511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330" name="Google Shape;4330;p129"/>
          <p:cNvSpPr txBox="1"/>
          <p:nvPr/>
        </p:nvSpPr>
        <p:spPr>
          <a:xfrm>
            <a:off x="1895609" y="3676008"/>
            <a:ext cx="6366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Node 1:</a:t>
            </a:r>
            <a:endParaRPr sz="1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331" name="Google Shape;4331;p129"/>
          <p:cNvSpPr txBox="1"/>
          <p:nvPr/>
        </p:nvSpPr>
        <p:spPr>
          <a:xfrm>
            <a:off x="2946153" y="3675995"/>
            <a:ext cx="6366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Node 2:</a:t>
            </a:r>
            <a:endParaRPr sz="1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332" name="Google Shape;4332;p129"/>
          <p:cNvSpPr txBox="1"/>
          <p:nvPr/>
        </p:nvSpPr>
        <p:spPr>
          <a:xfrm>
            <a:off x="3996660" y="3675995"/>
            <a:ext cx="6366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Node 3:</a:t>
            </a:r>
            <a:endParaRPr sz="1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333" name="Google Shape;4333;p129"/>
          <p:cNvSpPr txBox="1"/>
          <p:nvPr/>
        </p:nvSpPr>
        <p:spPr>
          <a:xfrm>
            <a:off x="5047166" y="3675995"/>
            <a:ext cx="6366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Node 4:</a:t>
            </a:r>
            <a:endParaRPr sz="1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334" name="Google Shape;4334;p129"/>
          <p:cNvSpPr/>
          <p:nvPr/>
        </p:nvSpPr>
        <p:spPr>
          <a:xfrm>
            <a:off x="1749531" y="4614002"/>
            <a:ext cx="9267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335" name="Google Shape;4335;p129"/>
          <p:cNvSpPr/>
          <p:nvPr/>
        </p:nvSpPr>
        <p:spPr>
          <a:xfrm>
            <a:off x="1749525" y="4362827"/>
            <a:ext cx="9267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336" name="Google Shape;4336;p129"/>
          <p:cNvSpPr/>
          <p:nvPr/>
        </p:nvSpPr>
        <p:spPr>
          <a:xfrm>
            <a:off x="1749535" y="4111651"/>
            <a:ext cx="9267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337" name="Google Shape;4337;p129"/>
          <p:cNvSpPr/>
          <p:nvPr/>
        </p:nvSpPr>
        <p:spPr>
          <a:xfrm>
            <a:off x="1749529" y="3860475"/>
            <a:ext cx="9267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700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700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700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7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338" name="Google Shape;4338;p129"/>
          <p:cNvSpPr/>
          <p:nvPr/>
        </p:nvSpPr>
        <p:spPr>
          <a:xfrm>
            <a:off x="2798073" y="4614002"/>
            <a:ext cx="9267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339" name="Google Shape;4339;p129"/>
          <p:cNvSpPr/>
          <p:nvPr/>
        </p:nvSpPr>
        <p:spPr>
          <a:xfrm>
            <a:off x="2798067" y="4362827"/>
            <a:ext cx="9267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340" name="Google Shape;4340;p129"/>
          <p:cNvSpPr/>
          <p:nvPr/>
        </p:nvSpPr>
        <p:spPr>
          <a:xfrm>
            <a:off x="2798077" y="4111651"/>
            <a:ext cx="9267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341" name="Google Shape;4341;p129"/>
          <p:cNvSpPr/>
          <p:nvPr/>
        </p:nvSpPr>
        <p:spPr>
          <a:xfrm>
            <a:off x="2798072" y="3860475"/>
            <a:ext cx="9267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342" name="Google Shape;4342;p129"/>
          <p:cNvSpPr/>
          <p:nvPr/>
        </p:nvSpPr>
        <p:spPr>
          <a:xfrm>
            <a:off x="3846640" y="4614002"/>
            <a:ext cx="9267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343" name="Google Shape;4343;p129"/>
          <p:cNvSpPr/>
          <p:nvPr/>
        </p:nvSpPr>
        <p:spPr>
          <a:xfrm>
            <a:off x="3846635" y="4362827"/>
            <a:ext cx="9267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344" name="Google Shape;4344;p129"/>
          <p:cNvSpPr/>
          <p:nvPr/>
        </p:nvSpPr>
        <p:spPr>
          <a:xfrm>
            <a:off x="3846645" y="4111651"/>
            <a:ext cx="9267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345" name="Google Shape;4345;p129"/>
          <p:cNvSpPr/>
          <p:nvPr/>
        </p:nvSpPr>
        <p:spPr>
          <a:xfrm>
            <a:off x="3846639" y="3860475"/>
            <a:ext cx="9267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346" name="Google Shape;4346;p129"/>
          <p:cNvSpPr/>
          <p:nvPr/>
        </p:nvSpPr>
        <p:spPr>
          <a:xfrm>
            <a:off x="4901095" y="4614002"/>
            <a:ext cx="9267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347" name="Google Shape;4347;p129"/>
          <p:cNvSpPr/>
          <p:nvPr/>
        </p:nvSpPr>
        <p:spPr>
          <a:xfrm>
            <a:off x="4901089" y="4362827"/>
            <a:ext cx="9267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348" name="Google Shape;4348;p129"/>
          <p:cNvSpPr/>
          <p:nvPr/>
        </p:nvSpPr>
        <p:spPr>
          <a:xfrm>
            <a:off x="4901100" y="4111651"/>
            <a:ext cx="9267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349" name="Google Shape;4349;p129"/>
          <p:cNvSpPr/>
          <p:nvPr/>
        </p:nvSpPr>
        <p:spPr>
          <a:xfrm>
            <a:off x="4901094" y="3860475"/>
            <a:ext cx="926700" cy="251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4350" name="Google Shape;4350;p129"/>
          <p:cNvCxnSpPr/>
          <p:nvPr/>
        </p:nvCxnSpPr>
        <p:spPr>
          <a:xfrm flipH="1">
            <a:off x="5982137" y="3188904"/>
            <a:ext cx="600" cy="1434900"/>
          </a:xfrm>
          <a:prstGeom prst="curvedConnector3">
            <a:avLst>
              <a:gd fmla="val -141332928" name="adj1"/>
            </a:avLst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351" name="Google Shape;4351;p129"/>
          <p:cNvSpPr txBox="1"/>
          <p:nvPr/>
        </p:nvSpPr>
        <p:spPr>
          <a:xfrm>
            <a:off x="6258580" y="3783200"/>
            <a:ext cx="1115700" cy="2463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AllReduce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352" name="Google Shape;4352;p129"/>
          <p:cNvSpPr txBox="1"/>
          <p:nvPr/>
        </p:nvSpPr>
        <p:spPr>
          <a:xfrm>
            <a:off x="1895609" y="2339199"/>
            <a:ext cx="6366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Node 1:</a:t>
            </a:r>
            <a:endParaRPr sz="1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353" name="Google Shape;4353;p129"/>
          <p:cNvSpPr txBox="1"/>
          <p:nvPr/>
        </p:nvSpPr>
        <p:spPr>
          <a:xfrm>
            <a:off x="2946153" y="2339187"/>
            <a:ext cx="6366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Node 2:</a:t>
            </a:r>
            <a:endParaRPr sz="1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354" name="Google Shape;4354;p129"/>
          <p:cNvSpPr txBox="1"/>
          <p:nvPr/>
        </p:nvSpPr>
        <p:spPr>
          <a:xfrm>
            <a:off x="3996660" y="2339187"/>
            <a:ext cx="6366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Node 3:</a:t>
            </a:r>
            <a:endParaRPr sz="1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355" name="Google Shape;4355;p129"/>
          <p:cNvSpPr txBox="1"/>
          <p:nvPr/>
        </p:nvSpPr>
        <p:spPr>
          <a:xfrm>
            <a:off x="5047166" y="2339187"/>
            <a:ext cx="6366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Node 4:</a:t>
            </a:r>
            <a:endParaRPr sz="1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59" name="Shape 4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0" name="Google Shape;4360;p130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Summary - Layers of Abstraction</a:t>
            </a:r>
            <a:endParaRPr/>
          </a:p>
        </p:txBody>
      </p:sp>
      <p:sp>
        <p:nvSpPr>
          <p:cNvPr id="4361" name="Google Shape;4361;p130"/>
          <p:cNvSpPr txBox="1"/>
          <p:nvPr>
            <p:ph idx="1" type="body"/>
          </p:nvPr>
        </p:nvSpPr>
        <p:spPr>
          <a:xfrm>
            <a:off x="107050" y="402200"/>
            <a:ext cx="8909700" cy="151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We thought about collectives at 3 different layers of abstraction: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Definitions: Users just need to know the input/outputs to use the operations.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Char char="●"/>
            </a:pPr>
            <a:r>
              <a:rPr b="1" lang="en">
                <a:solidFill>
                  <a:schemeClr val="accent3"/>
                </a:solidFill>
              </a:rPr>
              <a:t>Overlay: The data exchanged over virtual links.</a:t>
            </a:r>
            <a:endParaRPr b="1">
              <a:solidFill>
                <a:schemeClr val="accent3"/>
              </a:solidFill>
            </a:endParaRPr>
          </a:p>
        </p:txBody>
      </p:sp>
      <p:sp>
        <p:nvSpPr>
          <p:cNvPr id="4362" name="Google Shape;4362;p130"/>
          <p:cNvSpPr/>
          <p:nvPr/>
        </p:nvSpPr>
        <p:spPr>
          <a:xfrm>
            <a:off x="7729268" y="3980575"/>
            <a:ext cx="393600" cy="393600"/>
          </a:xfrm>
          <a:prstGeom prst="ellipse">
            <a:avLst/>
          </a:prstGeom>
          <a:solidFill>
            <a:srgbClr val="D9D2E9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5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363" name="Google Shape;4363;p130"/>
          <p:cNvSpPr/>
          <p:nvPr/>
        </p:nvSpPr>
        <p:spPr>
          <a:xfrm>
            <a:off x="6052868" y="3980575"/>
            <a:ext cx="393600" cy="393600"/>
          </a:xfrm>
          <a:prstGeom prst="ellipse">
            <a:avLst/>
          </a:prstGeom>
          <a:solidFill>
            <a:srgbClr val="D9EAD3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4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364" name="Google Shape;4364;p130"/>
          <p:cNvSpPr/>
          <p:nvPr/>
        </p:nvSpPr>
        <p:spPr>
          <a:xfrm>
            <a:off x="4376468" y="3980575"/>
            <a:ext cx="393600" cy="393600"/>
          </a:xfrm>
          <a:prstGeom prst="ellipse">
            <a:avLst/>
          </a:prstGeom>
          <a:solidFill>
            <a:srgbClr val="F4CCCC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3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365" name="Google Shape;4365;p130"/>
          <p:cNvSpPr/>
          <p:nvPr/>
        </p:nvSpPr>
        <p:spPr>
          <a:xfrm>
            <a:off x="1023668" y="3980575"/>
            <a:ext cx="393600" cy="393600"/>
          </a:xfrm>
          <a:prstGeom prst="ellipse">
            <a:avLst/>
          </a:prstGeom>
          <a:solidFill>
            <a:srgbClr val="FCE5CD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1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366" name="Google Shape;4366;p130"/>
          <p:cNvSpPr/>
          <p:nvPr/>
        </p:nvSpPr>
        <p:spPr>
          <a:xfrm>
            <a:off x="2700068" y="3980575"/>
            <a:ext cx="393600" cy="3936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2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367" name="Google Shape;4367;p130"/>
          <p:cNvCxnSpPr>
            <a:stCxn id="4366" idx="2"/>
            <a:endCxn id="4365" idx="6"/>
          </p:cNvCxnSpPr>
          <p:nvPr/>
        </p:nvCxnSpPr>
        <p:spPr>
          <a:xfrm rot="10800000">
            <a:off x="1417268" y="4177375"/>
            <a:ext cx="12828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368" name="Google Shape;4368;p130"/>
          <p:cNvCxnSpPr>
            <a:stCxn id="4364" idx="2"/>
            <a:endCxn id="4366" idx="6"/>
          </p:cNvCxnSpPr>
          <p:nvPr/>
        </p:nvCxnSpPr>
        <p:spPr>
          <a:xfrm rot="10800000">
            <a:off x="3093668" y="4177375"/>
            <a:ext cx="12828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369" name="Google Shape;4369;p130"/>
          <p:cNvCxnSpPr>
            <a:stCxn id="4363" idx="2"/>
            <a:endCxn id="4364" idx="6"/>
          </p:cNvCxnSpPr>
          <p:nvPr/>
        </p:nvCxnSpPr>
        <p:spPr>
          <a:xfrm rot="10800000">
            <a:off x="4770068" y="4177375"/>
            <a:ext cx="12828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370" name="Google Shape;4370;p130"/>
          <p:cNvCxnSpPr>
            <a:stCxn id="4362" idx="2"/>
            <a:endCxn id="4363" idx="6"/>
          </p:cNvCxnSpPr>
          <p:nvPr/>
        </p:nvCxnSpPr>
        <p:spPr>
          <a:xfrm rot="10800000">
            <a:off x="6446468" y="4177375"/>
            <a:ext cx="12828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4371" name="Google Shape;4371;p130"/>
          <p:cNvGrpSpPr/>
          <p:nvPr/>
        </p:nvGrpSpPr>
        <p:grpSpPr>
          <a:xfrm>
            <a:off x="432175" y="3745075"/>
            <a:ext cx="8282200" cy="432300"/>
            <a:chOff x="432175" y="3745075"/>
            <a:chExt cx="8282200" cy="432300"/>
          </a:xfrm>
        </p:grpSpPr>
        <p:sp>
          <p:nvSpPr>
            <p:cNvPr id="4372" name="Google Shape;4372;p130"/>
            <p:cNvSpPr/>
            <p:nvPr/>
          </p:nvSpPr>
          <p:spPr>
            <a:xfrm>
              <a:off x="8282075" y="3745075"/>
              <a:ext cx="432300" cy="432300"/>
            </a:xfrm>
            <a:prstGeom prst="arc">
              <a:avLst>
                <a:gd fmla="val 16200000" name="adj1"/>
                <a:gd fmla="val 5392788" name="adj2"/>
              </a:avLst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4373" name="Google Shape;4373;p130"/>
            <p:cNvCxnSpPr>
              <a:stCxn id="4372" idx="0"/>
              <a:endCxn id="4374" idx="0"/>
            </p:cNvCxnSpPr>
            <p:nvPr/>
          </p:nvCxnSpPr>
          <p:spPr>
            <a:xfrm rot="10800000">
              <a:off x="648425" y="3745075"/>
              <a:ext cx="7849800" cy="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375" name="Google Shape;4375;p130"/>
            <p:cNvCxnSpPr>
              <a:stCxn id="4365" idx="2"/>
              <a:endCxn id="4374" idx="2"/>
            </p:cNvCxnSpPr>
            <p:nvPr/>
          </p:nvCxnSpPr>
          <p:spPr>
            <a:xfrm rot="10800000">
              <a:off x="647768" y="4177375"/>
              <a:ext cx="375900" cy="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4374" name="Google Shape;4374;p130"/>
            <p:cNvSpPr/>
            <p:nvPr/>
          </p:nvSpPr>
          <p:spPr>
            <a:xfrm flipH="1">
              <a:off x="432175" y="3745075"/>
              <a:ext cx="432300" cy="432300"/>
            </a:xfrm>
            <a:prstGeom prst="arc">
              <a:avLst>
                <a:gd fmla="val 16200000" name="adj1"/>
                <a:gd fmla="val 5392788" name="adj2"/>
              </a:avLst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4376" name="Google Shape;4376;p130"/>
            <p:cNvCxnSpPr>
              <a:stCxn id="4372" idx="2"/>
              <a:endCxn id="4362" idx="6"/>
            </p:cNvCxnSpPr>
            <p:nvPr/>
          </p:nvCxnSpPr>
          <p:spPr>
            <a:xfrm rot="10800000">
              <a:off x="8122778" y="4177375"/>
              <a:ext cx="375900" cy="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80" name="Shape 4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1" name="Google Shape;4381;p131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Summary - Layers of Abstraction</a:t>
            </a:r>
            <a:endParaRPr/>
          </a:p>
        </p:txBody>
      </p:sp>
      <p:sp>
        <p:nvSpPr>
          <p:cNvPr id="4382" name="Google Shape;4382;p131"/>
          <p:cNvSpPr txBox="1"/>
          <p:nvPr>
            <p:ph idx="1" type="body"/>
          </p:nvPr>
        </p:nvSpPr>
        <p:spPr>
          <a:xfrm>
            <a:off x="107050" y="402200"/>
            <a:ext cx="8909700" cy="151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We thought about collectives at 3 different layers of abstraction: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Definitions: Users just need to know the input/outputs to use the operations.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Overlay: The data exchanged over virtual links.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Char char="●"/>
            </a:pPr>
            <a:r>
              <a:rPr b="1" lang="en">
                <a:solidFill>
                  <a:schemeClr val="accent3"/>
                </a:solidFill>
              </a:rPr>
              <a:t>Underlay: How the virtual links correspond to actual physical links.</a:t>
            </a:r>
            <a:endParaRPr b="1">
              <a:solidFill>
                <a:schemeClr val="accent3"/>
              </a:solidFill>
            </a:endParaRPr>
          </a:p>
        </p:txBody>
      </p:sp>
      <p:cxnSp>
        <p:nvCxnSpPr>
          <p:cNvPr id="4383" name="Google Shape;4383;p131"/>
          <p:cNvCxnSpPr>
            <a:stCxn id="4384" idx="2"/>
            <a:endCxn id="4385" idx="6"/>
          </p:cNvCxnSpPr>
          <p:nvPr/>
        </p:nvCxnSpPr>
        <p:spPr>
          <a:xfrm flipH="1">
            <a:off x="1732588" y="2156325"/>
            <a:ext cx="934200" cy="60960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4386" name="Google Shape;4386;p131"/>
          <p:cNvCxnSpPr>
            <a:stCxn id="4387" idx="2"/>
            <a:endCxn id="4385" idx="6"/>
          </p:cNvCxnSpPr>
          <p:nvPr/>
        </p:nvCxnSpPr>
        <p:spPr>
          <a:xfrm rot="10800000">
            <a:off x="1732588" y="2765925"/>
            <a:ext cx="4439400" cy="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4388" name="Google Shape;4388;p131"/>
          <p:cNvCxnSpPr>
            <a:stCxn id="4389" idx="2"/>
            <a:endCxn id="4387" idx="7"/>
          </p:cNvCxnSpPr>
          <p:nvPr/>
        </p:nvCxnSpPr>
        <p:spPr>
          <a:xfrm flipH="1">
            <a:off x="6415288" y="2156325"/>
            <a:ext cx="975900" cy="50880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4390" name="Google Shape;4390;p131"/>
          <p:cNvCxnSpPr>
            <a:stCxn id="4389" idx="2"/>
            <a:endCxn id="4384" idx="6"/>
          </p:cNvCxnSpPr>
          <p:nvPr/>
        </p:nvCxnSpPr>
        <p:spPr>
          <a:xfrm rot="10800000">
            <a:off x="2951788" y="2156325"/>
            <a:ext cx="4439400" cy="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4391" name="Google Shape;4391;p131"/>
          <p:cNvCxnSpPr>
            <a:stCxn id="4392" idx="3"/>
            <a:endCxn id="4393" idx="1"/>
          </p:cNvCxnSpPr>
          <p:nvPr/>
        </p:nvCxnSpPr>
        <p:spPr>
          <a:xfrm>
            <a:off x="1742500" y="4850625"/>
            <a:ext cx="12954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394" name="Google Shape;4394;p131"/>
          <p:cNvCxnSpPr>
            <a:stCxn id="4393" idx="3"/>
            <a:endCxn id="4395" idx="1"/>
          </p:cNvCxnSpPr>
          <p:nvPr/>
        </p:nvCxnSpPr>
        <p:spPr>
          <a:xfrm>
            <a:off x="3342700" y="4850625"/>
            <a:ext cx="12954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396" name="Google Shape;4396;p131"/>
          <p:cNvCxnSpPr>
            <a:stCxn id="4395" idx="3"/>
            <a:endCxn id="4397" idx="1"/>
          </p:cNvCxnSpPr>
          <p:nvPr/>
        </p:nvCxnSpPr>
        <p:spPr>
          <a:xfrm>
            <a:off x="4942900" y="4850625"/>
            <a:ext cx="12192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398" name="Google Shape;4398;p131"/>
          <p:cNvCxnSpPr>
            <a:stCxn id="4399" idx="3"/>
            <a:endCxn id="4400" idx="1"/>
          </p:cNvCxnSpPr>
          <p:nvPr/>
        </p:nvCxnSpPr>
        <p:spPr>
          <a:xfrm>
            <a:off x="5552500" y="4241025"/>
            <a:ext cx="12192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01" name="Google Shape;4401;p131"/>
          <p:cNvCxnSpPr>
            <a:stCxn id="4402" idx="3"/>
            <a:endCxn id="4399" idx="1"/>
          </p:cNvCxnSpPr>
          <p:nvPr/>
        </p:nvCxnSpPr>
        <p:spPr>
          <a:xfrm>
            <a:off x="3952300" y="4241025"/>
            <a:ext cx="12954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03" name="Google Shape;4403;p131"/>
          <p:cNvCxnSpPr>
            <a:stCxn id="4404" idx="3"/>
            <a:endCxn id="4402" idx="1"/>
          </p:cNvCxnSpPr>
          <p:nvPr/>
        </p:nvCxnSpPr>
        <p:spPr>
          <a:xfrm>
            <a:off x="2352100" y="4241025"/>
            <a:ext cx="12954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05" name="Google Shape;4405;p131"/>
          <p:cNvCxnSpPr>
            <a:stCxn id="4406" idx="3"/>
            <a:endCxn id="4407" idx="1"/>
          </p:cNvCxnSpPr>
          <p:nvPr/>
        </p:nvCxnSpPr>
        <p:spPr>
          <a:xfrm>
            <a:off x="2961700" y="3631425"/>
            <a:ext cx="12954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08" name="Google Shape;4408;p131"/>
          <p:cNvCxnSpPr>
            <a:stCxn id="4407" idx="3"/>
            <a:endCxn id="4409" idx="1"/>
          </p:cNvCxnSpPr>
          <p:nvPr/>
        </p:nvCxnSpPr>
        <p:spPr>
          <a:xfrm>
            <a:off x="4561900" y="3631425"/>
            <a:ext cx="12954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10" name="Google Shape;4410;p131"/>
          <p:cNvCxnSpPr>
            <a:stCxn id="4409" idx="3"/>
            <a:endCxn id="4411" idx="1"/>
          </p:cNvCxnSpPr>
          <p:nvPr/>
        </p:nvCxnSpPr>
        <p:spPr>
          <a:xfrm>
            <a:off x="6162100" y="3631425"/>
            <a:ext cx="12192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12" name="Google Shape;4412;p131"/>
          <p:cNvCxnSpPr>
            <a:stCxn id="4397" idx="3"/>
            <a:endCxn id="4400" idx="2"/>
          </p:cNvCxnSpPr>
          <p:nvPr/>
        </p:nvCxnSpPr>
        <p:spPr>
          <a:xfrm flipH="1" rot="10800000">
            <a:off x="6466900" y="4393425"/>
            <a:ext cx="457200" cy="4572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13" name="Google Shape;4413;p131"/>
          <p:cNvCxnSpPr>
            <a:stCxn id="4400" idx="3"/>
            <a:endCxn id="4411" idx="2"/>
          </p:cNvCxnSpPr>
          <p:nvPr/>
        </p:nvCxnSpPr>
        <p:spPr>
          <a:xfrm flipH="1" rot="10800000">
            <a:off x="7076500" y="3783825"/>
            <a:ext cx="457200" cy="4572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14" name="Google Shape;4414;p131"/>
          <p:cNvCxnSpPr>
            <a:stCxn id="4395" idx="3"/>
            <a:endCxn id="4399" idx="2"/>
          </p:cNvCxnSpPr>
          <p:nvPr/>
        </p:nvCxnSpPr>
        <p:spPr>
          <a:xfrm flipH="1" rot="10800000">
            <a:off x="4942900" y="4393425"/>
            <a:ext cx="457200" cy="4572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15" name="Google Shape;4415;p131"/>
          <p:cNvCxnSpPr>
            <a:stCxn id="4399" idx="3"/>
            <a:endCxn id="4409" idx="2"/>
          </p:cNvCxnSpPr>
          <p:nvPr/>
        </p:nvCxnSpPr>
        <p:spPr>
          <a:xfrm flipH="1" rot="10800000">
            <a:off x="5552500" y="3783825"/>
            <a:ext cx="457200" cy="4572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16" name="Google Shape;4416;p131"/>
          <p:cNvCxnSpPr>
            <a:stCxn id="4402" idx="3"/>
            <a:endCxn id="4407" idx="2"/>
          </p:cNvCxnSpPr>
          <p:nvPr/>
        </p:nvCxnSpPr>
        <p:spPr>
          <a:xfrm flipH="1" rot="10800000">
            <a:off x="3952300" y="3783825"/>
            <a:ext cx="457200" cy="4572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17" name="Google Shape;4417;p131"/>
          <p:cNvCxnSpPr>
            <a:stCxn id="4393" idx="3"/>
            <a:endCxn id="4402" idx="2"/>
          </p:cNvCxnSpPr>
          <p:nvPr/>
        </p:nvCxnSpPr>
        <p:spPr>
          <a:xfrm flipH="1" rot="10800000">
            <a:off x="3342700" y="4393425"/>
            <a:ext cx="457200" cy="4572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18" name="Google Shape;4418;p131"/>
          <p:cNvCxnSpPr>
            <a:stCxn id="4392" idx="3"/>
            <a:endCxn id="4404" idx="2"/>
          </p:cNvCxnSpPr>
          <p:nvPr/>
        </p:nvCxnSpPr>
        <p:spPr>
          <a:xfrm flipH="1" rot="10800000">
            <a:off x="1742500" y="4393425"/>
            <a:ext cx="457200" cy="4572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19" name="Google Shape;4419;p131"/>
          <p:cNvCxnSpPr>
            <a:stCxn id="4404" idx="3"/>
            <a:endCxn id="4406" idx="2"/>
          </p:cNvCxnSpPr>
          <p:nvPr/>
        </p:nvCxnSpPr>
        <p:spPr>
          <a:xfrm flipH="1" rot="10800000">
            <a:off x="2352100" y="3783825"/>
            <a:ext cx="457200" cy="4572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392" name="Google Shape;4392;p131"/>
          <p:cNvSpPr/>
          <p:nvPr/>
        </p:nvSpPr>
        <p:spPr>
          <a:xfrm>
            <a:off x="1437700" y="469822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R1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393" name="Google Shape;4393;p131"/>
          <p:cNvSpPr/>
          <p:nvPr/>
        </p:nvSpPr>
        <p:spPr>
          <a:xfrm>
            <a:off x="3037900" y="469822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R2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395" name="Google Shape;4395;p131"/>
          <p:cNvSpPr/>
          <p:nvPr/>
        </p:nvSpPr>
        <p:spPr>
          <a:xfrm>
            <a:off x="4638100" y="469822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R3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397" name="Google Shape;4397;p131"/>
          <p:cNvSpPr/>
          <p:nvPr/>
        </p:nvSpPr>
        <p:spPr>
          <a:xfrm>
            <a:off x="6162100" y="469822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R4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04" name="Google Shape;4404;p131"/>
          <p:cNvSpPr/>
          <p:nvPr/>
        </p:nvSpPr>
        <p:spPr>
          <a:xfrm>
            <a:off x="2047300" y="408862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R5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02" name="Google Shape;4402;p131"/>
          <p:cNvSpPr/>
          <p:nvPr/>
        </p:nvSpPr>
        <p:spPr>
          <a:xfrm>
            <a:off x="3647500" y="408862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R6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399" name="Google Shape;4399;p131"/>
          <p:cNvSpPr/>
          <p:nvPr/>
        </p:nvSpPr>
        <p:spPr>
          <a:xfrm>
            <a:off x="5247700" y="408862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R7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00" name="Google Shape;4400;p131"/>
          <p:cNvSpPr/>
          <p:nvPr/>
        </p:nvSpPr>
        <p:spPr>
          <a:xfrm>
            <a:off x="6771700" y="408862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R8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06" name="Google Shape;4406;p131"/>
          <p:cNvSpPr/>
          <p:nvPr/>
        </p:nvSpPr>
        <p:spPr>
          <a:xfrm>
            <a:off x="2656900" y="347902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R9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07" name="Google Shape;4407;p131"/>
          <p:cNvSpPr/>
          <p:nvPr/>
        </p:nvSpPr>
        <p:spPr>
          <a:xfrm>
            <a:off x="4257100" y="347902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R10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09" name="Google Shape;4409;p131"/>
          <p:cNvSpPr/>
          <p:nvPr/>
        </p:nvSpPr>
        <p:spPr>
          <a:xfrm>
            <a:off x="5857300" y="347902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R11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11" name="Google Shape;4411;p131"/>
          <p:cNvSpPr/>
          <p:nvPr/>
        </p:nvSpPr>
        <p:spPr>
          <a:xfrm>
            <a:off x="7381300" y="347902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R12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385" name="Google Shape;4385;p131"/>
          <p:cNvSpPr/>
          <p:nvPr/>
        </p:nvSpPr>
        <p:spPr>
          <a:xfrm>
            <a:off x="1447588" y="2623425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420" name="Google Shape;4420;p131"/>
          <p:cNvCxnSpPr>
            <a:stCxn id="4392" idx="0"/>
            <a:endCxn id="4385" idx="4"/>
          </p:cNvCxnSpPr>
          <p:nvPr/>
        </p:nvCxnSpPr>
        <p:spPr>
          <a:xfrm rot="10800000">
            <a:off x="1590100" y="2908425"/>
            <a:ext cx="0" cy="1789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384" name="Google Shape;4384;p131"/>
          <p:cNvSpPr/>
          <p:nvPr/>
        </p:nvSpPr>
        <p:spPr>
          <a:xfrm>
            <a:off x="2666788" y="2013825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421" name="Google Shape;4421;p131"/>
          <p:cNvCxnSpPr>
            <a:stCxn id="4406" idx="0"/>
            <a:endCxn id="4384" idx="4"/>
          </p:cNvCxnSpPr>
          <p:nvPr/>
        </p:nvCxnSpPr>
        <p:spPr>
          <a:xfrm rot="10800000">
            <a:off x="2809300" y="2298825"/>
            <a:ext cx="0" cy="1180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387" name="Google Shape;4387;p131"/>
          <p:cNvSpPr/>
          <p:nvPr/>
        </p:nvSpPr>
        <p:spPr>
          <a:xfrm>
            <a:off x="6171988" y="2623425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D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422" name="Google Shape;4422;p131"/>
          <p:cNvCxnSpPr>
            <a:stCxn id="4397" idx="0"/>
            <a:endCxn id="4387" idx="4"/>
          </p:cNvCxnSpPr>
          <p:nvPr/>
        </p:nvCxnSpPr>
        <p:spPr>
          <a:xfrm rot="10800000">
            <a:off x="6314500" y="2908425"/>
            <a:ext cx="0" cy="1789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389" name="Google Shape;4389;p131"/>
          <p:cNvSpPr/>
          <p:nvPr/>
        </p:nvSpPr>
        <p:spPr>
          <a:xfrm>
            <a:off x="7391188" y="2013825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423" name="Google Shape;4423;p131"/>
          <p:cNvCxnSpPr>
            <a:stCxn id="4411" idx="0"/>
            <a:endCxn id="4389" idx="4"/>
          </p:cNvCxnSpPr>
          <p:nvPr/>
        </p:nvCxnSpPr>
        <p:spPr>
          <a:xfrm rot="10800000">
            <a:off x="7533700" y="2298825"/>
            <a:ext cx="0" cy="1180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ecture">
  <a:themeElements>
    <a:clrScheme name="Simple Light">
      <a:dk1>
        <a:srgbClr val="000000"/>
      </a:dk1>
      <a:lt1>
        <a:srgbClr val="FFFFFF"/>
      </a:lt1>
      <a:dk2>
        <a:srgbClr val="666666"/>
      </a:dk2>
      <a:lt2>
        <a:srgbClr val="C9DAF8"/>
      </a:lt2>
      <a:accent1>
        <a:srgbClr val="FCE5CD"/>
      </a:accent1>
      <a:accent2>
        <a:srgbClr val="CC4125"/>
      </a:accent2>
      <a:accent3>
        <a:srgbClr val="0B5394"/>
      </a:accent3>
      <a:accent4>
        <a:srgbClr val="BF9000"/>
      </a:accent4>
      <a:accent5>
        <a:srgbClr val="6AA84F"/>
      </a:accent5>
      <a:accent6>
        <a:srgbClr val="D9D9D9"/>
      </a:accent6>
      <a:hlink>
        <a:srgbClr val="1E71E6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