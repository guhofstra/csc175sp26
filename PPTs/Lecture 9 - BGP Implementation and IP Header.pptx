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9" r:id="rId82"/>
    <p:sldId id="340" r:id="rId83"/>
    <p:sldId id="341" r:id="rId8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6"/>
      <p:bold r:id="rId87"/>
      <p:italic r:id="rId88"/>
      <p:boldItalic r:id="rId89"/>
    </p:embeddedFont>
    <p:embeddedFont>
      <p:font typeface="Roboto Light" panose="02000000000000000000" pitchFamily="2" charset="0"/>
      <p:regular r:id="rId90"/>
      <p:bold r:id="rId91"/>
      <p:italic r:id="rId92"/>
      <p:boldItalic r:id="rId93"/>
    </p:embeddedFont>
    <p:embeddedFont>
      <p:font typeface="Roboto Medium" panose="02000000000000000000" pitchFamily="2" charset="0"/>
      <p:regular r:id="rId94"/>
      <p:bold r:id="rId95"/>
      <p:italic r:id="rId96"/>
      <p:boldItalic r:id="rId9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83003-73C7-4C6F-83B1-D1FCE449FF87}" v="5" dt="2026-04-02T19:12:45.909"/>
  </p1510:revLst>
</p1510:revInfo>
</file>

<file path=ppt/tableStyles.xml><?xml version="1.0" encoding="utf-8"?>
<a:tblStyleLst xmlns:a="http://schemas.openxmlformats.org/drawingml/2006/main" def="{E86AB450-7094-4175-A4DD-E6209F6168E6}">
  <a:tblStyle styleId="{E86AB450-7094-4175-A4DD-E6209F6168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font" Target="fonts/font5.fntdata"/><Relationship Id="rId95" Type="http://schemas.openxmlformats.org/officeDocument/2006/relationships/font" Target="fonts/font10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3.fntdata"/><Relationship Id="rId91" Type="http://schemas.openxmlformats.org/officeDocument/2006/relationships/font" Target="fonts/font6.fntdata"/><Relationship Id="rId96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1.fntdata"/><Relationship Id="rId94" Type="http://schemas.openxmlformats.org/officeDocument/2006/relationships/font" Target="fonts/font9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8.fntdata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delSld modSld">
      <pc:chgData name="Zonghua Gu" userId="9a7e1853e1951ef5" providerId="LiveId" clId="{CF1FAA12-072C-4ED5-BA76-0FFFAEFDB88A}" dt="2026-04-02T19:22:52.958" v="215" actId="20577"/>
      <pc:docMkLst>
        <pc:docMk/>
      </pc:docMkLst>
      <pc:sldChg chg="modSp mod">
        <pc:chgData name="Zonghua Gu" userId="9a7e1853e1951ef5" providerId="LiveId" clId="{CF1FAA12-072C-4ED5-BA76-0FFFAEFDB88A}" dt="2026-04-02T18:59:53.208" v="149" actId="20577"/>
        <pc:sldMkLst>
          <pc:docMk/>
          <pc:sldMk cId="0" sldId="274"/>
        </pc:sldMkLst>
        <pc:spChg chg="mod">
          <ac:chgData name="Zonghua Gu" userId="9a7e1853e1951ef5" providerId="LiveId" clId="{CF1FAA12-072C-4ED5-BA76-0FFFAEFDB88A}" dt="2026-04-02T18:59:53.208" v="149" actId="20577"/>
          <ac:spMkLst>
            <pc:docMk/>
            <pc:sldMk cId="0" sldId="274"/>
            <ac:spMk id="86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4-02T19:10:16.970" v="178" actId="1076"/>
        <pc:sldMkLst>
          <pc:docMk/>
          <pc:sldMk cId="0" sldId="291"/>
        </pc:sldMkLst>
        <pc:spChg chg="mod">
          <ac:chgData name="Zonghua Gu" userId="9a7e1853e1951ef5" providerId="LiveId" clId="{CF1FAA12-072C-4ED5-BA76-0FFFAEFDB88A}" dt="2026-04-02T19:10:16.970" v="178" actId="1076"/>
          <ac:spMkLst>
            <pc:docMk/>
            <pc:sldMk cId="0" sldId="291"/>
            <ac:spMk id="142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4-02T19:11:58.776" v="183" actId="20577"/>
        <pc:sldMkLst>
          <pc:docMk/>
          <pc:sldMk cId="0" sldId="292"/>
        </pc:sldMkLst>
        <pc:spChg chg="mod">
          <ac:chgData name="Zonghua Gu" userId="9a7e1853e1951ef5" providerId="LiveId" clId="{CF1FAA12-072C-4ED5-BA76-0FFFAEFDB88A}" dt="2026-04-02T19:11:58.776" v="183" actId="20577"/>
          <ac:spMkLst>
            <pc:docMk/>
            <pc:sldMk cId="0" sldId="292"/>
            <ac:spMk id="1458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4-02T19:12:49.331" v="190" actId="20577"/>
        <pc:sldMkLst>
          <pc:docMk/>
          <pc:sldMk cId="0" sldId="293"/>
        </pc:sldMkLst>
        <pc:spChg chg="mod">
          <ac:chgData name="Zonghua Gu" userId="9a7e1853e1951ef5" providerId="LiveId" clId="{CF1FAA12-072C-4ED5-BA76-0FFFAEFDB88A}" dt="2026-04-02T19:12:49.331" v="190" actId="20577"/>
          <ac:spMkLst>
            <pc:docMk/>
            <pc:sldMk cId="0" sldId="293"/>
            <ac:spMk id="149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4-02T19:22:52.958" v="215" actId="20577"/>
        <pc:sldMkLst>
          <pc:docMk/>
          <pc:sldMk cId="0" sldId="311"/>
        </pc:sldMkLst>
        <pc:spChg chg="mod">
          <ac:chgData name="Zonghua Gu" userId="9a7e1853e1951ef5" providerId="LiveId" clId="{CF1FAA12-072C-4ED5-BA76-0FFFAEFDB88A}" dt="2026-04-02T19:22:45.550" v="207" actId="20577"/>
          <ac:spMkLst>
            <pc:docMk/>
            <pc:sldMk cId="0" sldId="311"/>
            <ac:spMk id="1728" creationId="{00000000-0000-0000-0000-000000000000}"/>
          </ac:spMkLst>
        </pc:spChg>
        <pc:spChg chg="mod">
          <ac:chgData name="Zonghua Gu" userId="9a7e1853e1951ef5" providerId="LiveId" clId="{CF1FAA12-072C-4ED5-BA76-0FFFAEFDB88A}" dt="2026-04-02T19:22:39.884" v="197" actId="20577"/>
          <ac:spMkLst>
            <pc:docMk/>
            <pc:sldMk cId="0" sldId="311"/>
            <ac:spMk id="1731" creationId="{00000000-0000-0000-0000-000000000000}"/>
          </ac:spMkLst>
        </pc:spChg>
        <pc:spChg chg="mod">
          <ac:chgData name="Zonghua Gu" userId="9a7e1853e1951ef5" providerId="LiveId" clId="{CF1FAA12-072C-4ED5-BA76-0FFFAEFDB88A}" dt="2026-04-02T19:22:52.958" v="215" actId="20577"/>
          <ac:spMkLst>
            <pc:docMk/>
            <pc:sldMk cId="0" sldId="311"/>
            <ac:spMk id="17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4271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4271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4271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427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4271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427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NGedUSoutline.png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07261ad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07261ad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 routing lecture! Last lecture with midterm material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a07261ad5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a07261ad5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be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discussing bgp implementation and the IP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header so it's a two-part lecture let's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start by talking about how bgp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implemented so far we've talked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at a conceptual level and we've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thought about the autonomous system as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unit and it talks with other as's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a07261ad5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a07261ad5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far you've seen graphs like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as's talk to other as's and they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routes between each 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however as we know the internet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really a network of networks so what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means is within each as there's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all these different routers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goal today when implementing bgp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figure out what these routers do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they all act as one single unit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our conceptual picture the as was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just a single unit and it thought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itself and made some decisions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a07261ad5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a07261ad5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today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will see how all of these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work together to act as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brain doing the things that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needs to do exchanging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exporting them importing them so 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goal is to get all of these routers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coordinate with each other in some way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they all act as one single brain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it comes to bgp and interdomain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we're also going to see how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combines with intra domain routing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those are the protocols like distance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and Link State and when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both of those protocols we'll be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able to find routes to any destination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entire internet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a07261ad5_0_7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ea07261ad5_0_7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before we get started let's go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 some terms one term that you'll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 is a border router these are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that have links to 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autonomous systems so in this picture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 B and G are border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they have links to routers 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autonomous systems by contrast 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interior router is only linked to 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inside the same as so in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picture c d e and f are the interior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because they do not have links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outside and other as's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a07261ad5_0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a07261ad5_0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another term that you'll see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throughout today is bgp Speaker you can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the GP speakers as the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are speaking on behalf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as and advertising paths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as's so remember the goal is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all of these routers work together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a single unit and the way that they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 do that is routers a B and G will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the bgp speakers and they will talk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behalf of as number one sending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and receiving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from the neighboring as's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speakers need to also understand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protocol we have to add extra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code inside of these routers so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understand how to exchange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as's so in summary the bgp speakers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Border routers inside each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a07261ad5_0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a07261ad5_0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note that you might have already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seen from the last lecture but we want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mention it one more time is that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stub as is an as that only has a single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provider it's kind of like the 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equivalent of a host in intra domain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so remember when we talked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inside of a network we said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hosts don't participate in routing they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simply send packets to their next top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and the next top router handles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packet for them well similarly if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a stub as the stub as doesn't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participate in routing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doesn't have to learn any paths 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any advertisements it simply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sends every packet that it wants to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its one and only provider and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provider does all the work for them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a result the stub as's don't have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speak bgp they don't have to participate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routing protocol all that they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do is send all packets to their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and only provider as a default route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they're all done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ea07261ad5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ea07261ad5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 is a longlived connection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two routers that will want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exchange bgp information between each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any two routers can form a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and that will be a longlived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where they can exchange lots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information about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anything like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bgp sessions can be formed between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adjacent routers so for example A and 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form a longlived bgp connection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they send packets between each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but you can also form bgp sessions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routers that are further away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 A and G could form a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they would forward packets back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forth between each other and it's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true that the packets would have to take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multiple hops to get from a to G but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ultimately that is still a bgp session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think of it like a long lift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sort of like the connections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layers 4 and seven but instead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sending user data they are sending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a07261ad5_0_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a07261ad5_0_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actually implement bgp we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need two types of sessions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two sessions together will help us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ensure that all of these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coordinate to give the illusion that 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one is working as a single brain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even though it's made up of lots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separate routers the first type of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is called external bgp session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these are the sessions where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different as's exchange paths between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so the arrows in blue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represent external bgp sessions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 there might be a session between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and some router in as number five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talking to each other across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as's and they're exchanging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between each 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a07261ad5_0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ea07261ad5_0_1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if only G knows about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path to Z that is not enough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there are all these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inside as number one one and we want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them to act as one cohesive unit so what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means is if G learns a piece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in order for everyone to act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one cohesive unit G needs to share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information with the class it needs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stand up and tell everyone else in 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one hey everyone I just found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G sorry I found a way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reach Z that's what G says and so if 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stands up and announces this information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everyone now everyone in the as also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knows about the way to reach Z and all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them are working in sync so in order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everyone to be coherent and cohesive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someone learns about a path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another as they need to stand up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announce it to the rest of the class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that we do that is using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bgp or ibgp sessions these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sessions that happen between two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same autonomous system and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allow the Border routers to distribute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routes that they have learned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inside the as so you 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ebgp for the Border routers to learn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 and then you use ibgp to announce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 findings to the whole class so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inside the as is working as 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cohesive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 so those are the two types of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sessions that can be formed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ea07261ad5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ea07261ad5_0_1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RFC for BGP is here if you're curious: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https://datatracker.ietf.org/doc/html/rfc4271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careful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to confuse them with igp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igp is the interior Gateway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protocol these are the ones that allow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to find paths inside of the as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when we talked about distance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and Link State protocols those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were igp protocols they allow you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 paths inside of the network so 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drawing the arrows in red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denote that these are the routing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that would get exchanged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you learn paths inside of your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so bgp was used to learn paths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outside of the network and igp is used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learn paths inside of the network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distinction still applies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ea07261ad5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ea07261ad5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of the pieces together we have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taxonomy that looks something like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are two types of routing protocols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the interdomain protocol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finding external routes and the int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domain protocol for finding internal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the intro domain protocol that's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igp that's distance Vector link state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allows you to find the next Toops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inside of the current Network and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 domain protocol is bgp for finding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outside of the network and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consists of two parts ebgp for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routers to learn the routes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ibgp to distribute those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ea07261ad5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ea07261ad5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look at how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all three of them together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intra domain and Inter domain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to achieve paths to every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internal or external now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that routing Protocols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always constantly running and converging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Recon converging so technically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an order to how you run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protocols but for Simplicity let's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consider them one at a time so the first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we'll consider is igp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ea07261ad5_0_1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ea07261ad5_0_1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learn external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we have to use bgp and 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now know is a two-step process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 step is to use ebgp for the Border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to discover external routes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this as a B and G talking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outside world and learning external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routes for example G the Border router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have learned that there is a path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to Z via as number 5 so the Border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learn about some external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remember that it's not enough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Border routers to know these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need everyone in the as to know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routes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a07261ad5_0_1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a07261ad5_0_1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 step is to use ibgp to take those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 dnal routes that were learned by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routers and share them with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whole class so for example G will tell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whole class hey everyone I learned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Z so if you ever want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reach Z come talk to me and I will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the packet to Z for you that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something that ibgp can announce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notice that router e can now write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down router e writes down if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ever want to talk to Z my buddy 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apparently knows how to reach Z so if 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 want to talk to Z I will talk to my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buddy G and they will forward the packet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me that is a route learned via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ibgp so in summary you use igp to learn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routes ebgp allows the Border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to learn the external routes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ibgp allows everyone to learn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external routes because the Border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announces it to the whole class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that's what the picture looks like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put all the pieces together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ea07261ad5_0_2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ea07261ad5_0_20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also introduces a term that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haven't seen before called egress router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an egress router is like the way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current as to reach an external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so if we look at the entry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e wrote down as a result of ibgp 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wrote down if I ever want to talk to Z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person I should talk to is G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can forward packets outside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Network and closer to Z so 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words G is the egress router for z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is the way that you exit the current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to get closer to Z so the egress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are the Border routers you have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choice between a B and G in this case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is the egress router that you use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network and get closer to Z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 B would be the egress router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I want to send packets to as number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those packets would exit the current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via B so everyone remembers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egress routers for various destinations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ea07261ad5_0_2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ea07261ad5_0_2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routing tables will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now be two Separate Tables we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 have an igp table and that's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you've already seen from distance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vector or link state that Maps each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to a next toop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says something like if you want to reach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H please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the next toop of e so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tells me the direct next toop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destinations the bgp table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the new one and the difference 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we are now listing external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ones outside of the network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instead of listing a direct next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toop we instead list the egress router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write down which exit do we take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leave the current Network and get closer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that external destination one thing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note is that the egress router does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need to be a direct neighbor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actually okay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ea07261ad5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ea07261ad5_0_2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obvious I ran out of letters.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for example 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picture notice that e writes down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 exit to reach Z is G and G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a direct neighbor of e but that's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okay the egress router does not have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 one of your direct neighbors you just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write down where you are exiting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to get closer to the Final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so those are the two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tables we are going to use and you can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combine using them to find destinations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next tops for any destination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you want so if you want to find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next toop for an internal destination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simple you just use the igp table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look up the next top just like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you've been doing for distance vector 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 state for external destinations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a two-step process First Look up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exit using the bgp table it tells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what egress router to use to exit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and get closer to your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destination and that erress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might not be directly connected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you and because that egress router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not be directly connected to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use the igp table to find the next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top to get closer to the exit so the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steps are where is the exit and what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top to get closer to the exit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ea07261ad5_0_2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ea07261ad5_0_2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obvious I ran out of letters.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let's say you are router D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want to send packets somewhere well then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you can do is use one of these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tables and maybe both of them to find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top for any possible packet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someone sends to you notice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internal destination table Maps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destinations b w x y g those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all destinations inside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current Network and those are all mapped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direct next Toops c e or a by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contrast the external destination table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describing external destinations like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 v and z in other networks and there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instead of writing direct next Toops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writing the exit routers and some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the exit routers like B and G are not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directly connected to us but that's okay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writing down the exit routers even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they are far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away so how do you use these tables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say I want to send a packet to V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well the first thing I notice V is not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internal destination it's an external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so I go into my external destination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 and I look up the way to exit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 closer to V it turns out that b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egress router that I should use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the network and get closer to V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other words to get closer to V I must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exit via B that's what I learned from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table unfortunately B is not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directly connected to me so I can't just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this to B right away I need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out how do I get this packet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closer to the exit closer to B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 look in my internal destination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table and it says that the next hop to 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C that's using the internal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table because B is 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so using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internal destination table I realized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 way to get closer to the exit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to forward the table to 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ea07261ad5_0_2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ea07261ad5_0_2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final note about ibgp and ebgp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we move on is how ibgp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implemented so far we've been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describing it very conceptually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we've said if a border router like 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learns a way to reach Z what it should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is just stand up and announce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in the as that there is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way to reach C and if you want to reach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if you want to reach Z please exit via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that's what we're doing so far when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learn a route and you're a border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stand up announce it to the whole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 how do you actually do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lots of different approaches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look up something called route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reflectors if you want to find a more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sophisticated approach but let's use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relatively simple 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ea07261ad5_0_2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ea07261ad5_0_2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our approach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be to run an ibgp session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every pair of routers remember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an ibgp session is two routers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constantly communicating data between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so for example we can start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between G and a and another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between G and B and another 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G and C G and D G and E GN F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want to announce something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class you send a packet to a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 one to B you send one to C another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to D another one to e and another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to F so G is going to send six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separate packets in order to announce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new information to the six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routers in the as this works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doesn't scale terribly well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requires having a lot of bgp sessions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fact you need one between every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border router and everyone else so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would need sessions with everyone else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B would also need sessions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else on a larger Network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could present scaling issues but that's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simple approach that we will use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 that when you create an ibgp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session you were not building a new link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between G and a you are just saying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and a are going to exchange data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data that they exchange still has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travel multiple hops so for example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 to a packet would travel g f e d a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G sends a separate packet to 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travels the path g f e c b and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and so forth so there's no new links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ea07261ad5_0_2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ea07261ad5_0_2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talk about installing multiple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links between a pair of as's and how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changes some of the assumptions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we've seen so far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a07261ad5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a07261ad5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consider these two as's Verizon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AT&amp;T they are very big as's they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span the entire country and let's say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only one link between them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link is on the west coast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United States between a and F so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only one link between these as's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it's on the west coast this means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if e wants to send a message to 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that it would do so is actually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send the packet all the way across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country to a and then a will forward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to F in AT&amp;T's network and then f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going to have to forward the packet all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way back across the country to 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quite wasteful this packet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taking an unnecessarily long route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wastes the resources of Verizon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AT&amp;T because they have to carry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all the way across the country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then all the way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ea07261ad5_0_2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ea07261ad5_0_2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better approach would be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actually have two links between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pair of as's so there's one link on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west coast and one link on the east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coast and now if e and J want to talk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other we no longer have to send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all the way across the country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back so this is a better approach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do notice that we are now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introducing something we haven't seen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these are two as's and we've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drawn two parallel lines between them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unlike all the pictures so far where any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pair of as's are connected by just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single line there could now be a case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I draw two parallel lines between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number 3 and as number four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going to introduce some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tiebreaking scenarios that we haven't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seen before namely which of those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links do you use they look the same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two lines between the same pair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as's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ea07261ad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ea07261ad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existence of multiple links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as's creates some tiebreaking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scenarios that we haven't seen before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think about the conceptual picture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bgp from last time we were always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 at the as level we were drawing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paths between as's and we would draw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path that says something like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 three to as number 10 to Asos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 25 you'd write out the path as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 of as's the problem is if you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parallel links between two as's well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the path that you create looks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if you're thinking at the as level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for example if there's two parallel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between A&amp;T and Verizon which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use is indifferent at the as level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create the same as path so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 if Verizon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 both of these links point 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 if Verizon is a peer both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links point at appear because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pointing at the same as so you can't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the xer rules to pick the customer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 the pier since the links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 same pair of as's it's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say customer customer or peer peer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provider provider you can't use the gxf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to help you tiebreak so we need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tie Breakers to help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ea07261ad5_0_2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ea07261ad5_0_2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first tiebreak we'll see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called Hot Potato routing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example let's say x wants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Y and it turns out there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two paths that the packet can take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the as perspective they look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identical they go from AT&amp;T to Verizon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need to use a tiebreaking scheme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decide which path we like better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AT&amp;T let's say you're router 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AT&amp;T's network and you need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 this packet how should you do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want to forward the packet along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Gold Path or the pink one well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in terms of AT&amp;T AT&amp;T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it likes making money and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like wasting money when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have to if we allow this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take the path in Gold we are dumping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packet off to Verizon and forcing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to carry the packet most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so if you imagine these networks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spanning the entire country then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happen in the Gold Path is we give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to Verizon in San Francisco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force Verizon to carry the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way across the country to New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York by contrast in the pink path AT&amp;T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doing most of the work AT&amp;T is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own resources and paying to carry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all the way across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country to New York and only dumping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off to Verizon once it reaches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York so if you're AT&amp;T you prefer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Gold Path because it's cheaper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ea07261ad5_0_2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ea07261ad5_0_2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Implement Hot Potato routing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find the nearest exit if there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multiple exits to the same as so in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f and I are both exits to Verizon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we're router e we prefer for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closer one because that allows us to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rid of the packet and make someone else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namely Verizon do all of the work so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look something like this first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ebgp to learn about the routes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A and D both announce that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Y and that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propagates to AT&amp;T so F and I both know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can now reach y but it's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enough for f and I to know they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announce their findings to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rest of the class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ibgp so F and I both use ibgp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 to everyone hey everyone inside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AT&amp;T I have a path to Y so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want to forward packets to Y you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them to me f and I'll dump them off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you or you can send the packets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 I and router I will forward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Y for you so both of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 that they can reach y and 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aware of both exits e knows that 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 valid exit to Y and I is also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valid exit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 so now when e receives a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destined for y it can choose either f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as a valid exit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ea07261ad5_0_2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ea07261ad5_0_2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ea07261ad5_0_2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ea07261ad5_0_2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ea07261ad5_0_3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ea07261ad5_0_3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AT&amp;T's perspective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both of these routes are equally good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let's think about Verizon if you're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do you have a preference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path it takes the gold one or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pink one well you sure do if you're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you have the same business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incentive of not using resources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carry this packet so if you're a Verizon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like this Gold Path because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you to send the packet all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across the country you really prefer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pink path so what we can do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resolve this type breaker because AT&amp;T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no preference we're going to ask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 for its opinions and let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Verizon's preferences take over so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AT&amp;T doesn't have its own preference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ask Verizon what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 is and follow what Verizon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in order to encode Verizon's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 that it prefers the pink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 the Gold Path Verizon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advertisements will now contain an extra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value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a07261ad5_0_3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ea07261ad5_0_3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ea07261ad5_0_3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ea07261ad5_0_3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ea07261ad5_0_3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ea07261ad5_0_3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ea07261ad5_0_3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ea07261ad5_0_3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https://commons.wikimedia.org/wiki/File:PNGedUSoutline.png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ea07261ad5_0_3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ea07261ad5_0_3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ea07261ad5_0_3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ea07261ad5_0_3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ea07261ad5_0_3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ea07261ad5_0_3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ea07261ad5_0_3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ea07261ad5_0_3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a07261ad5_0_3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a07261ad5_0_3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ea07261ad5_0_3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ea07261ad5_0_3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now have all the pieces we need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 bgp with multiple routers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an as working together as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cohesive brain but everything we've done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far is in English and using speech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bubbles so for example we had pictures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or we said send it this way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further eress router but of course real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life routers cannot use speech bubbles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communicate and they cannot write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plain English so the final thing we need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do is Implement all of our policies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actual 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ea07261ad5_0_3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ea07261ad5_0_3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do that we're going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to specify the syntax and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semantics of pgp remember that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 syntax and semantics the syntax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tells us what the ones and zeros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represents and the semantics tell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to do when we receive a message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we're going to focus on how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write bgp syntax how do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these messages that we've been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writing in plain English in actual ones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zeros to do so we need to Define bgp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types these are the messages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 routers exchange during bgp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four types we'll just focus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but do know that other message types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exist there's the open message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bgp sessions the keep aive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for maintaining a bgp session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like when you're talking on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phone and neither person is talking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occasionally want to say hey I'm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here don't hang up yet we might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more to say there's also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somewhat strangely named notification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for errors I don't know why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called it that but as far as I can tell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for processing errors but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focus on the update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 update message is how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encode the announcements so all of those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announcements that we've been seeing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ebgp ibgp sharing with the class all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those are bgp announcements and they're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be encoded in bgp update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messages so that's what we're going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ea07261ad5_0_3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ea07261ad5_0_3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bgp update messages how do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encode them every bgp update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message will first have a destination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 indicating what destination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talking about so every advertisement has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say something like I can reach Z or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V or I can reach 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the destination prefix that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include but of course instead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saying Z or w we actually use IP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prefixes so the destination prefix might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 something like 1 19211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12.0.0 sl16 it's a range of IP addresses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we've already seen and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indicates what destination you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announcing that you can reach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 to the destination prefix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also include include one or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 attributes and this incudes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information that we've been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talking about things like the path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 will take or the me value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those are going to be encoded in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 attributes you can think of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name value pairs like a python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dictionary where the name tells us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attribute is and the value tells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actual value of the attribute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particular advertisement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ea07261ad5_0_3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ea07261ad5_0_3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ea07261ad5_0_3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ea07261ad5_0_3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ea07261ad5_0_3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ea07261ad5_0_3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ea07261ad5_0_3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ea07261ad5_0_3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ea07261ad5_0_3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ea07261ad5_0_3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ea07261ad5_0_3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ea07261ad5_0_3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wrap up bgp let's talk about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 with it so it turns out bgp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remarkably good protocol it has stood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test of time it's been around for 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 years and everyone on the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it so it's pretty impressive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entire internet uses bgp and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working I find that a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impressive achievement that being said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still some issues that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talk about one issue is security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built-in security measures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into BG P so it means that as's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allowed to lie and specifically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it might lie about maybe it lies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being able to reach a destination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it actually cannot so the as says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destination Z but it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can't that could be a security issue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security issue might be that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says it's going to follow One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ends up following a different one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advertises an as path and it says I'm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this packet from 9 to 7 to 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when it receives the packet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forwards it along a different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of as's so as's are allowed to lie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protocol by itself doesn't stop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there is some ongoing research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ways to actually build security into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protocol but the base protocol does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stop Asis from lying another issue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performance and this is one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really an issue in that it's not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but it's a conscious tradeoff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 designers of bgp made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bgp values the autonomy and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privacy of each as it means that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that are chosen are often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we're respecting everyone's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policies of making money or whatever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weird policy they have and as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 we are not strictly optimizing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cost you can imagine a different bgp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where we ignore everyone's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autonomy and we go for the least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but that is not what the bgp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designers did they chose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intentionally sacrifice a little bit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 in exchange for allowing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to have their own special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policy also because of the privacy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autonomy concerns we list the as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terms of the as's that the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passes through so the advertisement says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can reach Z via as 7 12 and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we have no idea how big those as's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there could be one hop inside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that as could be carrying the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across hundreds of hops from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perspective this is length three either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because it passes through three as's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regardless of their length so the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length can be misleading this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case where we did a tradeoff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designer said it's okay if the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a little bit too long or longer than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optimal but at least we're respecting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everyone's privacy and not forcing Asis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reveal their internal structure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you could call this an issue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it's more of a trade-off where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intentionally sacrific performance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exchange for autonomy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privacy another issue with bgp it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quite complicated we're just showing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basics there's a lot of edge cases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haven't talked about and also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lot of bgp has to be manually configured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example when we talked about local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you indicate the gal rexord Rules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 saying that customers are 3,000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peers are 1,000 someone has to go in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manually type those numbers and if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make a mistake well suddenly the policy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not be what you expect and often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times Internet outages are caused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 operators messing up bgp there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research into automatically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configuring bgp but the base protocol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a manual configuration and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prone to human errors and the final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 with bgp is that it does not come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any guarantees we did have a proof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said if everyone follows the 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rules we are going to be able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every destination and the routes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converge but that proof assumed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following the gal Rexford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if someone is not following those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we can't use that proof and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bets are off is it actually possible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all internet destinations we no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longer have that guarantee so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issue with bgp but despite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 I still think it's a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impressive protocol given that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entire internet uses it and it's one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backbone protocols for making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work so that's actually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bgp hope you enjoyed all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intricacies of the protocol I think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pretty fun protocol that talks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 life business goals in addition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leas cost routing and other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we've seen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ea07261ad5_0_3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ea07261ad5_0_3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second half of today we'll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conclude our discussion of layer three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by talking about all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fields in the IP headers we'll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with ipv4 then we'll talk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and then we'll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ea07261ad5_0_3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ea07261ad5_0_3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1:01</a:t>
            </a:r>
            <a:r>
              <a:rPr lang="en-US" dirty="0"/>
              <a:t>Our goal: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Understand all of the fields in this header.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Understand the design choices in making this header.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if we're getting into the heads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IP designers and we're thinking like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 designer we can think of the IP header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as the way that routers and hosts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communicate at layer 3 so if we're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forwarding a packet across the network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the end host has to say something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router it would do so by filling 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IP header with some data or if 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router wants to say something to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later routers it would do so by filling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 an IP field and then forwarding the 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packet so if routers or hosts want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communicate they have to use the fields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 the IP header to talk to each other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1:38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therefore one way to design the IP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header is to think about what things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1:43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routers and the hosts might want to say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 each other what do they want to talk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about what functionality do they have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1:51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they need to express in the header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can give us a clue as to what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1:55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Fields have to be in the headers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Fields don't so we're going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1:58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split up the header into various tasks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2:01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have to happen at layer three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2:03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for each task we'll see what headers are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2:06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relevant for that task by breaking down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2:09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problem like this it allows us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think about what fields are there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also why they were added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ea07261ad5_0_3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ea07261ad5_0_3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ea07261ad5_0_3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ea07261ad5_0_3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2ea07261ad5_0_3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2ea07261ad5_0_3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2ea07261ad5_0_3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ea07261ad5_0_3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ea07261ad5_0_3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ea07261ad5_0_3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2ea07261ad5_0_3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2ea07261ad5_0_3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ea07261ad5_0_3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ea07261ad5_0_3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2ea07261ad5_0_3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2ea07261ad5_0_3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ea07261ad5_0_3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ea07261ad5_0_3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ea07261ad5_0_3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ea07261ad5_0_3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2ea07261ad5_0_3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ea07261ad5_0_3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2ea07261ad5_0_3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2ea07261ad5_0_3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ea07261ad5_0_3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2ea07261ad5_0_3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ea07261ad5_0_3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ea07261ad5_0_3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ea07261ad5_0_3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ea07261ad5_0_3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ea07261ad5_0_3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ea07261ad5_0_3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ea07261ad5_0_3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2ea07261ad5_0_3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2ea07261ad5_0_3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2ea07261ad5_0_3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IPv6 was originally supposed to be more ambitious, but additional features were never realized.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result is an elegant, if unambitious, protocol.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2ea07261ad5_0_3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2ea07261ad5_0_3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ea07261ad5_0_3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ea07261ad5_0_3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ea07261ad5_0_3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ea07261ad5_0_3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ea07261ad5_0_3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ea07261ad5_0_3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ea07261ad5_0_3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ea07261ad5_0_3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ea07261ad5_0_3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2ea07261ad5_0_3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2ea07261ad5_0_38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ea07261ad5_0_38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ea07261ad5_0_3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2ea07261ad5_0_3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2ea07261ad5_0_3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ea07261ad5_0_3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ea07261ad5_0_38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ea07261ad5_0_38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ea07261ad5_0_3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ea07261ad5_0_3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ea07261ad5_0_3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ea07261ad5_0_3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Not all routers respond with the "TTL Exceeded" message.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2ea495e6a3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2ea495e6a3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ea495e6a3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ea495e6a3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ea495e6a3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ea495e6a3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BGP Implementation and IP Header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9 (Routing 6)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981467" y="396500"/>
            <a:ext cx="3633300" cy="863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3694525" y="1469254"/>
            <a:ext cx="4489800" cy="863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5304095" y="768182"/>
            <a:ext cx="222900" cy="2229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037529" y="768182"/>
            <a:ext cx="222900" cy="22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4"/>
          <p:cNvCxnSpPr>
            <a:stCxn id="148" idx="3"/>
            <a:endCxn id="149" idx="1"/>
          </p:cNvCxnSpPr>
          <p:nvPr/>
        </p:nvCxnSpPr>
        <p:spPr>
          <a:xfrm>
            <a:off x="5526995" y="87963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24"/>
          <p:cNvSpPr/>
          <p:nvPr/>
        </p:nvSpPr>
        <p:spPr>
          <a:xfrm>
            <a:off x="4570660" y="1721742"/>
            <a:ext cx="222900" cy="22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" name="Google Shape;152;p24"/>
          <p:cNvCxnSpPr>
            <a:stCxn id="151" idx="3"/>
            <a:endCxn id="153" idx="1"/>
          </p:cNvCxnSpPr>
          <p:nvPr/>
        </p:nvCxnSpPr>
        <p:spPr>
          <a:xfrm>
            <a:off x="4793560" y="183319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24"/>
          <p:cNvSpPr/>
          <p:nvPr/>
        </p:nvSpPr>
        <p:spPr>
          <a:xfrm>
            <a:off x="5304095" y="1721742"/>
            <a:ext cx="222900" cy="2229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037529" y="1721742"/>
            <a:ext cx="222900" cy="22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" name="Google Shape;155;p24"/>
          <p:cNvCxnSpPr>
            <a:stCxn id="153" idx="3"/>
            <a:endCxn id="154" idx="1"/>
          </p:cNvCxnSpPr>
          <p:nvPr/>
        </p:nvCxnSpPr>
        <p:spPr>
          <a:xfrm>
            <a:off x="5526995" y="183319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Google Shape;156;p24"/>
          <p:cNvSpPr/>
          <p:nvPr/>
        </p:nvSpPr>
        <p:spPr>
          <a:xfrm>
            <a:off x="6770964" y="768182"/>
            <a:ext cx="222900" cy="22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6770964" y="1721742"/>
            <a:ext cx="222900" cy="22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" name="Google Shape;158;p24"/>
          <p:cNvCxnSpPr>
            <a:stCxn id="149" idx="3"/>
            <a:endCxn id="156" idx="1"/>
          </p:cNvCxnSpPr>
          <p:nvPr/>
        </p:nvCxnSpPr>
        <p:spPr>
          <a:xfrm>
            <a:off x="6260429" y="87963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4"/>
          <p:cNvCxnSpPr>
            <a:stCxn id="154" idx="3"/>
            <a:endCxn id="157" idx="1"/>
          </p:cNvCxnSpPr>
          <p:nvPr/>
        </p:nvCxnSpPr>
        <p:spPr>
          <a:xfrm>
            <a:off x="6260429" y="183319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4"/>
          <p:cNvCxnSpPr>
            <a:stCxn id="148" idx="2"/>
            <a:endCxn id="153" idx="0"/>
          </p:cNvCxnSpPr>
          <p:nvPr/>
        </p:nvCxnSpPr>
        <p:spPr>
          <a:xfrm>
            <a:off x="5415545" y="991082"/>
            <a:ext cx="0" cy="73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4"/>
          <p:cNvSpPr/>
          <p:nvPr/>
        </p:nvSpPr>
        <p:spPr>
          <a:xfrm>
            <a:off x="7504399" y="768182"/>
            <a:ext cx="222900" cy="2229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7504399" y="1721742"/>
            <a:ext cx="222900" cy="2229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" name="Google Shape;163;p24"/>
          <p:cNvCxnSpPr>
            <a:stCxn id="156" idx="3"/>
            <a:endCxn id="161" idx="1"/>
          </p:cNvCxnSpPr>
          <p:nvPr/>
        </p:nvCxnSpPr>
        <p:spPr>
          <a:xfrm>
            <a:off x="6993864" y="87963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4"/>
          <p:cNvCxnSpPr>
            <a:stCxn id="157" idx="3"/>
            <a:endCxn id="162" idx="1"/>
          </p:cNvCxnSpPr>
          <p:nvPr/>
        </p:nvCxnSpPr>
        <p:spPr>
          <a:xfrm>
            <a:off x="6993864" y="1833192"/>
            <a:ext cx="510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4"/>
          <p:cNvCxnSpPr>
            <a:stCxn id="161" idx="2"/>
            <a:endCxn id="162" idx="0"/>
          </p:cNvCxnSpPr>
          <p:nvPr/>
        </p:nvCxnSpPr>
        <p:spPr>
          <a:xfrm>
            <a:off x="7615849" y="991082"/>
            <a:ext cx="0" cy="73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4"/>
          <p:cNvSpPr/>
          <p:nvPr/>
        </p:nvSpPr>
        <p:spPr>
          <a:xfrm>
            <a:off x="4045375" y="1721742"/>
            <a:ext cx="222900" cy="2229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" name="Google Shape;167;p24"/>
          <p:cNvCxnSpPr>
            <a:stCxn id="166" idx="6"/>
            <a:endCxn id="151" idx="1"/>
          </p:cNvCxnSpPr>
          <p:nvPr/>
        </p:nvCxnSpPr>
        <p:spPr>
          <a:xfrm>
            <a:off x="4268275" y="1833192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24"/>
          <p:cNvSpPr/>
          <p:nvPr/>
        </p:nvSpPr>
        <p:spPr>
          <a:xfrm>
            <a:off x="8029737" y="768182"/>
            <a:ext cx="222900" cy="2229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" name="Google Shape;169;p24"/>
          <p:cNvCxnSpPr>
            <a:stCxn id="161" idx="3"/>
            <a:endCxn id="168" idx="2"/>
          </p:cNvCxnSpPr>
          <p:nvPr/>
        </p:nvCxnSpPr>
        <p:spPr>
          <a:xfrm>
            <a:off x="7727299" y="879632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4"/>
          <p:cNvSpPr/>
          <p:nvPr/>
        </p:nvSpPr>
        <p:spPr>
          <a:xfrm>
            <a:off x="4159379" y="946329"/>
            <a:ext cx="3865412" cy="959167"/>
          </a:xfrm>
          <a:custGeom>
            <a:avLst/>
            <a:gdLst/>
            <a:ahLst/>
            <a:cxnLst/>
            <a:rect l="l" t="t" r="r" b="b"/>
            <a:pathLst>
              <a:path w="197694" h="49056" extrusionOk="0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Google Shape;171;p24"/>
          <p:cNvSpPr/>
          <p:nvPr/>
        </p:nvSpPr>
        <p:spPr>
          <a:xfrm>
            <a:off x="4163251" y="807034"/>
            <a:ext cx="3843063" cy="955980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C64C57-066A-95CF-B573-070B1442234A}"/>
              </a:ext>
            </a:extLst>
          </p:cNvPr>
          <p:cNvSpPr txBox="1"/>
          <p:nvPr/>
        </p:nvSpPr>
        <p:spPr>
          <a:xfrm>
            <a:off x="3526681" y="4865536"/>
            <a:ext cx="20906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Slides credit: CS 168 @ UC Berkeley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BGP and Internal 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BGP and Internal BGP</a:t>
            </a:r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88604C-6889-B7D3-0DB6-1C4339021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Intra-Domain and Inter-Domain Routing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shown BGP in terms of ASes talking to each other.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AS advertises routes to its neighbor ASes.</a:t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26"/>
          <p:cNvCxnSpPr>
            <a:stCxn id="186" idx="3"/>
            <a:endCxn id="18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6"/>
          <p:cNvCxnSpPr>
            <a:stCxn id="187" idx="3"/>
            <a:endCxn id="188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87" idx="0"/>
            <a:endCxn id="189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89" idx="3"/>
            <a:endCxn id="188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>
            <a:stCxn id="187" idx="3"/>
            <a:endCxn id="19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>
            <a:stCxn id="190" idx="0"/>
            <a:endCxn id="188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6"/>
          <p:cNvCxnSpPr>
            <a:stCxn id="190" idx="3"/>
            <a:endCxn id="191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6"/>
          <p:cNvCxnSpPr>
            <a:stCxn id="191" idx="3"/>
            <a:endCxn id="192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6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26"/>
          <p:cNvCxnSpPr>
            <a:stCxn id="187" idx="2"/>
            <a:endCxn id="202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6"/>
          <p:cNvCxnSpPr>
            <a:stCxn id="201" idx="7"/>
            <a:endCxn id="190" idx="2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6"/>
          <p:cNvCxnSpPr>
            <a:stCxn id="191" idx="0"/>
            <a:endCxn id="203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6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6"/>
          <p:cNvCxnSpPr>
            <a:stCxn id="207" idx="1"/>
            <a:endCxn id="192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6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6"/>
          <p:cNvCxnSpPr>
            <a:stCxn id="209" idx="3"/>
            <a:endCxn id="192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6"/>
          <p:cNvCxnSpPr>
            <a:stCxn id="209" idx="2"/>
            <a:endCxn id="210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6"/>
          <p:cNvCxnSpPr>
            <a:stCxn id="210" idx="2"/>
            <a:endCxn id="189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6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26"/>
          <p:cNvCxnSpPr>
            <a:stCxn id="214" idx="4"/>
            <a:endCxn id="186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26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889A09-C1A6-6957-CA59-C143032CDC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reality, an AS is made up of a bunch of routers.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ensure the routers "act as one."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we'll also see how BGP interacts with intra-domain routing.</a:t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" name="Google Shape;228;p27"/>
          <p:cNvCxnSpPr>
            <a:stCxn id="224" idx="3"/>
            <a:endCxn id="229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7"/>
          <p:cNvCxnSpPr>
            <a:stCxn id="229" idx="3"/>
            <a:endCxn id="225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7"/>
          <p:cNvCxnSpPr>
            <a:stCxn id="229" idx="0"/>
            <a:endCxn id="226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26" idx="3"/>
            <a:endCxn id="225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>
            <a:stCxn id="229" idx="3"/>
            <a:endCxn id="23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7"/>
          <p:cNvCxnSpPr>
            <a:stCxn id="234" idx="0"/>
            <a:endCxn id="225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34" idx="3"/>
            <a:endCxn id="237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7"/>
          <p:cNvCxnSpPr>
            <a:stCxn id="237" idx="3"/>
            <a:endCxn id="227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7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27"/>
          <p:cNvCxnSpPr>
            <a:endCxn id="241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7"/>
          <p:cNvCxnSpPr>
            <a:stCxn id="240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7"/>
          <p:cNvCxnSpPr>
            <a:endCxn id="242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7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" name="Google Shape;246;p27"/>
          <p:cNvCxnSpPr>
            <a:stCxn id="247" idx="1"/>
            <a:endCxn id="227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7"/>
          <p:cNvCxnSpPr>
            <a:stCxn id="249" idx="3"/>
            <a:endCxn id="227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7"/>
          <p:cNvCxnSpPr>
            <a:stCxn id="249" idx="2"/>
            <a:endCxn id="251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7"/>
          <p:cNvCxnSpPr>
            <a:stCxn id="251" idx="2"/>
            <a:endCxn id="226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7"/>
          <p:cNvCxnSpPr>
            <a:stCxn id="254" idx="4"/>
            <a:endCxn id="224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27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A585FF-EEA3-CC8C-0A66-5E3662EB6B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260" name="Google Shape;260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Border routers</a:t>
            </a:r>
            <a:r>
              <a:rPr lang="en"/>
              <a:t>: At least one link to a router in a different AS. (A, B, G)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Interior routers</a:t>
            </a:r>
            <a:r>
              <a:rPr lang="en"/>
              <a:t>: Only linked to other routers in the same AS. (C, D, E, F)</a:t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" name="Google Shape;266;p28"/>
          <p:cNvCxnSpPr>
            <a:stCxn id="262" idx="3"/>
            <a:endCxn id="26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8"/>
          <p:cNvCxnSpPr>
            <a:stCxn id="267" idx="3"/>
            <a:endCxn id="263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8"/>
          <p:cNvCxnSpPr>
            <a:stCxn id="267" idx="0"/>
            <a:endCxn id="264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8"/>
          <p:cNvCxnSpPr>
            <a:stCxn id="264" idx="3"/>
            <a:endCxn id="263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8"/>
          <p:cNvCxnSpPr>
            <a:stCxn id="267" idx="3"/>
            <a:endCxn id="272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28"/>
          <p:cNvCxnSpPr>
            <a:stCxn id="272" idx="0"/>
            <a:endCxn id="263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28"/>
          <p:cNvCxnSpPr>
            <a:stCxn id="272" idx="3"/>
            <a:endCxn id="275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>
            <a:stCxn id="275" idx="3"/>
            <a:endCxn id="265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8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8"/>
          <p:cNvCxnSpPr>
            <a:endCxn id="279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8"/>
          <p:cNvCxnSpPr>
            <a:stCxn id="278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8"/>
          <p:cNvCxnSpPr>
            <a:endCxn id="280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8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28"/>
          <p:cNvCxnSpPr>
            <a:stCxn id="285" idx="1"/>
            <a:endCxn id="265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8"/>
          <p:cNvCxnSpPr>
            <a:stCxn id="287" idx="3"/>
            <a:endCxn id="265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8"/>
          <p:cNvCxnSpPr>
            <a:stCxn id="287" idx="2"/>
            <a:endCxn id="28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28"/>
          <p:cNvCxnSpPr>
            <a:stCxn id="289" idx="2"/>
            <a:endCxn id="264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28"/>
          <p:cNvCxnSpPr>
            <a:stCxn id="292" idx="4"/>
            <a:endCxn id="262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28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E553E-0521-BE1E-6D3B-EB1BE149D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298" name="Google Shape;298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BGP speakers</a:t>
            </a:r>
            <a:r>
              <a:rPr lang="en"/>
              <a:t>: The routers that advertise BGP paths to other ASes.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speaks BGP? All the border routers inside each AS.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Speakers must understand BGP syntax and semantics.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" name="Google Shape;304;p29"/>
          <p:cNvCxnSpPr>
            <a:stCxn id="300" idx="3"/>
            <a:endCxn id="30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29"/>
          <p:cNvCxnSpPr>
            <a:stCxn id="305" idx="3"/>
            <a:endCxn id="301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29"/>
          <p:cNvCxnSpPr>
            <a:stCxn id="305" idx="0"/>
            <a:endCxn id="302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302" idx="3"/>
            <a:endCxn id="30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305" idx="3"/>
            <a:endCxn id="31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29"/>
          <p:cNvCxnSpPr>
            <a:stCxn id="310" idx="0"/>
            <a:endCxn id="30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29"/>
          <p:cNvCxnSpPr>
            <a:stCxn id="310" idx="3"/>
            <a:endCxn id="313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29"/>
          <p:cNvCxnSpPr>
            <a:stCxn id="313" idx="3"/>
            <a:endCxn id="303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29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endCxn id="317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9"/>
          <p:cNvCxnSpPr>
            <a:stCxn id="316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9"/>
          <p:cNvCxnSpPr>
            <a:endCxn id="318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29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29"/>
          <p:cNvCxnSpPr>
            <a:stCxn id="323" idx="1"/>
            <a:endCxn id="30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25" idx="3"/>
            <a:endCxn id="30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25" idx="2"/>
            <a:endCxn id="327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9"/>
          <p:cNvCxnSpPr>
            <a:stCxn id="327" idx="2"/>
            <a:endCxn id="30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29"/>
          <p:cNvCxnSpPr>
            <a:stCxn id="330" idx="4"/>
            <a:endCxn id="30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29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FFC165-CC34-0929-A1DD-D579F4643E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/>
          <p:nvPr/>
        </p:nvSpPr>
        <p:spPr>
          <a:xfrm>
            <a:off x="3415500" y="3952045"/>
            <a:ext cx="1689600" cy="972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783300" y="4421350"/>
            <a:ext cx="95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Stub AS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Border Routers and Interior Routers</a:t>
            </a:r>
            <a:endParaRPr/>
          </a:p>
        </p:txBody>
      </p:sp>
      <p:sp>
        <p:nvSpPr>
          <p:cNvPr id="338" name="Google Shape;338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BGP speakers</a:t>
            </a:r>
            <a:r>
              <a:rPr lang="en"/>
              <a:t>: The routers that advertise BGP paths to other ASes.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Stub ASes don't need to speak BGP.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border router can default-route everything to the provider AS.</a:t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4117791" y="39520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" name="Google Shape;340;p30"/>
          <p:cNvCxnSpPr>
            <a:stCxn id="341" idx="4"/>
            <a:endCxn id="339" idx="0"/>
          </p:cNvCxnSpPr>
          <p:nvPr/>
        </p:nvCxnSpPr>
        <p:spPr>
          <a:xfrm>
            <a:off x="4260300" y="3328550"/>
            <a:ext cx="0" cy="62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30"/>
          <p:cNvSpPr/>
          <p:nvPr/>
        </p:nvSpPr>
        <p:spPr>
          <a:xfrm>
            <a:off x="3415500" y="2355650"/>
            <a:ext cx="1689600" cy="972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Provider 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9686BE-EC30-23E7-036B-6165489A35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" name="Google Shape;351;p31"/>
          <p:cNvCxnSpPr>
            <a:stCxn id="347" idx="3"/>
            <a:endCxn id="352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31"/>
          <p:cNvCxnSpPr>
            <a:stCxn id="352" idx="3"/>
            <a:endCxn id="348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" name="Google Shape;354;p31"/>
          <p:cNvCxnSpPr>
            <a:stCxn id="352" idx="0"/>
            <a:endCxn id="349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31"/>
          <p:cNvCxnSpPr>
            <a:stCxn id="349" idx="3"/>
            <a:endCxn id="348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1"/>
          <p:cNvCxnSpPr>
            <a:stCxn id="352" idx="3"/>
            <a:endCxn id="357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31"/>
          <p:cNvCxnSpPr>
            <a:stCxn id="357" idx="0"/>
            <a:endCxn id="348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31"/>
          <p:cNvCxnSpPr>
            <a:stCxn id="357" idx="3"/>
            <a:endCxn id="360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1"/>
          <p:cNvCxnSpPr>
            <a:stCxn id="360" idx="3"/>
            <a:endCxn id="350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2" name="Google Shape;362;p31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" name="Google Shape;366;p31"/>
          <p:cNvCxnSpPr>
            <a:endCxn id="364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31"/>
          <p:cNvCxnSpPr>
            <a:stCxn id="363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31"/>
          <p:cNvCxnSpPr>
            <a:endCxn id="365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2" name="Google Shape;352;p31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/>
          </a:p>
        </p:txBody>
      </p:sp>
      <p:sp>
        <p:nvSpPr>
          <p:cNvPr id="370" name="Google Shape;370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BGP session</a:t>
            </a:r>
            <a:r>
              <a:rPr lang="en"/>
              <a:t>: Two routers exchanging BGP information between each other.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1" name="Google Shape;371;p31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2" name="Google Shape;372;p31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3" name="Google Shape;373;p31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4" name="Google Shape;374;p31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5" name="Google Shape;375;p31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6" name="Google Shape;376;p31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7" name="Google Shape;377;p31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8" name="Google Shape;378;p31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9" name="Google Shape;379;p31"/>
          <p:cNvCxnSpPr>
            <a:stCxn id="380" idx="1"/>
            <a:endCxn id="350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31"/>
          <p:cNvCxnSpPr>
            <a:stCxn id="382" idx="3"/>
            <a:endCxn id="350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3" name="Google Shape;383;p31"/>
          <p:cNvCxnSpPr>
            <a:stCxn id="382" idx="2"/>
            <a:endCxn id="384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31"/>
          <p:cNvCxnSpPr>
            <a:stCxn id="384" idx="2"/>
            <a:endCxn id="349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31"/>
          <p:cNvCxnSpPr>
            <a:stCxn id="387" idx="4"/>
            <a:endCxn id="347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0" name="Google Shape;380;p31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1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9" name="Google Shape;389;p31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0" name="Google Shape;390;p31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1" name="Google Shape;391;p31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2" name="Google Shape;392;p31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3" name="Google Shape;393;p31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0B166-D2D6-6295-2412-92FE98C6A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32"/>
          <p:cNvCxnSpPr>
            <a:stCxn id="399" idx="3"/>
            <a:endCxn id="404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32"/>
          <p:cNvCxnSpPr>
            <a:stCxn id="404" idx="3"/>
            <a:endCxn id="400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32"/>
          <p:cNvCxnSpPr>
            <a:stCxn id="404" idx="0"/>
            <a:endCxn id="401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32"/>
          <p:cNvCxnSpPr>
            <a:stCxn id="401" idx="3"/>
            <a:endCxn id="400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32"/>
          <p:cNvCxnSpPr>
            <a:stCxn id="404" idx="3"/>
            <a:endCxn id="409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32"/>
          <p:cNvCxnSpPr>
            <a:stCxn id="409" idx="0"/>
            <a:endCxn id="400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32"/>
          <p:cNvCxnSpPr>
            <a:stCxn id="409" idx="3"/>
            <a:endCxn id="412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2"/>
          <p:cNvCxnSpPr>
            <a:stCxn id="412" idx="3"/>
            <a:endCxn id="402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4" name="Google Shape;414;p32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8" name="Google Shape;418;p32"/>
          <p:cNvCxnSpPr>
            <a:endCxn id="416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32"/>
          <p:cNvCxnSpPr>
            <a:stCxn id="415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32"/>
          <p:cNvCxnSpPr>
            <a:endCxn id="417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" name="Google Shape;404;p32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22" name="Google Shape;422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External BGP (eBGP) session</a:t>
            </a:r>
            <a:r>
              <a:rPr lang="en"/>
              <a:t>: Between two routers in </a:t>
            </a:r>
            <a:r>
              <a:rPr lang="en" i="1"/>
              <a:t>different</a:t>
            </a:r>
            <a:r>
              <a:rPr lang="en"/>
              <a:t> ASes.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eBGP to exchange inter-domain routes.</a:t>
            </a:r>
            <a:endParaRPr/>
          </a:p>
        </p:txBody>
      </p:sp>
      <p:cxnSp>
        <p:nvCxnSpPr>
          <p:cNvPr id="423" name="Google Shape;423;p32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4" name="Google Shape;424;p32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5" name="Google Shape;425;p32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6" name="Google Shape;426;p32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7" name="Google Shape;427;p32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8" name="Google Shape;428;p32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9" name="Google Shape;429;p32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0" name="Google Shape;430;p32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1" name="Google Shape;431;p32"/>
          <p:cNvCxnSpPr>
            <a:stCxn id="432" idx="1"/>
            <a:endCxn id="402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Google Shape;433;p32"/>
          <p:cNvCxnSpPr>
            <a:stCxn id="434" idx="3"/>
            <a:endCxn id="402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" name="Google Shape;435;p32"/>
          <p:cNvCxnSpPr>
            <a:stCxn id="434" idx="2"/>
            <a:endCxn id="43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7" name="Google Shape;437;p32"/>
          <p:cNvCxnSpPr>
            <a:stCxn id="436" idx="2"/>
            <a:endCxn id="401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32"/>
          <p:cNvCxnSpPr>
            <a:stCxn id="439" idx="4"/>
            <a:endCxn id="399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2" name="Google Shape;432;p32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" name="Google Shape;440;p32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1" name="Google Shape;441;p32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2" name="Google Shape;442;p32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3" name="Google Shape;443;p32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4" name="Google Shape;444;p32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5" name="Google Shape;445;p32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7378975" y="3298250"/>
            <a:ext cx="1572600" cy="624300"/>
          </a:xfrm>
          <a:prstGeom prst="wedgeRoundRectCallout">
            <a:avLst>
              <a:gd name="adj1" fmla="val -38616"/>
              <a:gd name="adj2" fmla="val 7590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Hi AS#1. Did you know you can reach Z via AS#5?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8D85E1-0490-0C4B-7F3E-EC03B4BB9C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2" name="Google Shape;452;p3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Internal BGP (iBGP) session</a:t>
            </a:r>
            <a:r>
              <a:rPr lang="en"/>
              <a:t>: Between two routers in the </a:t>
            </a:r>
            <a:r>
              <a:rPr lang="en" i="1"/>
              <a:t>same</a:t>
            </a:r>
            <a:r>
              <a:rPr lang="en"/>
              <a:t> AS.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iBGP to distribute the routes it discovers to everyone else in the AS.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3"/>
          <p:cNvCxnSpPr>
            <a:stCxn id="454" idx="3"/>
            <a:endCxn id="459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33"/>
          <p:cNvCxnSpPr>
            <a:stCxn id="459" idx="3"/>
            <a:endCxn id="455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33"/>
          <p:cNvCxnSpPr>
            <a:stCxn id="459" idx="0"/>
            <a:endCxn id="456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33"/>
          <p:cNvCxnSpPr>
            <a:stCxn id="456" idx="3"/>
            <a:endCxn id="455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33"/>
          <p:cNvCxnSpPr>
            <a:stCxn id="459" idx="3"/>
            <a:endCxn id="46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33"/>
          <p:cNvCxnSpPr>
            <a:stCxn id="464" idx="0"/>
            <a:endCxn id="455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33"/>
          <p:cNvCxnSpPr>
            <a:stCxn id="464" idx="3"/>
            <a:endCxn id="467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33"/>
          <p:cNvCxnSpPr>
            <a:stCxn id="467" idx="3"/>
            <a:endCxn id="457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3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3"/>
          <p:cNvCxnSpPr>
            <a:endCxn id="471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4" name="Google Shape;474;p33"/>
          <p:cNvCxnSpPr>
            <a:stCxn id="470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3"/>
          <p:cNvCxnSpPr>
            <a:endCxn id="472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9" name="Google Shape;459;p33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33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7" name="Google Shape;477;p33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8" name="Google Shape;478;p33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9" name="Google Shape;479;p33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0" name="Google Shape;480;p33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1" name="Google Shape;481;p33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2" name="Google Shape;482;p33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3" name="Google Shape;483;p33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4" name="Google Shape;484;p33"/>
          <p:cNvCxnSpPr>
            <a:stCxn id="485" idx="1"/>
            <a:endCxn id="457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33"/>
          <p:cNvCxnSpPr>
            <a:stCxn id="487" idx="3"/>
            <a:endCxn id="457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33"/>
          <p:cNvCxnSpPr>
            <a:stCxn id="487" idx="2"/>
            <a:endCxn id="48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33"/>
          <p:cNvCxnSpPr>
            <a:stCxn id="489" idx="2"/>
            <a:endCxn id="456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3"/>
          <p:cNvCxnSpPr>
            <a:stCxn id="492" idx="4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5" name="Google Shape;485;p33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3" name="Google Shape;493;p33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4" name="Google Shape;494;p33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5" name="Google Shape;495;p33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6" name="Google Shape;496;p33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7" name="Google Shape;497;p33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98" name="Google Shape;498;p33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name="adj1" fmla="val 35053"/>
              <a:gd name="adj2" fmla="val -9593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41D30C-374C-4B46-671C-1FB3A40840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4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4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4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9" name="Google Shape;509;p34"/>
          <p:cNvCxnSpPr>
            <a:stCxn id="505" idx="3"/>
            <a:endCxn id="510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1" name="Google Shape;511;p34"/>
          <p:cNvCxnSpPr>
            <a:stCxn id="510" idx="3"/>
            <a:endCxn id="506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34"/>
          <p:cNvCxnSpPr>
            <a:stCxn id="510" idx="0"/>
            <a:endCxn id="507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3" name="Google Shape;513;p34"/>
          <p:cNvCxnSpPr>
            <a:stCxn id="507" idx="3"/>
            <a:endCxn id="506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4" name="Google Shape;514;p34"/>
          <p:cNvCxnSpPr>
            <a:stCxn id="510" idx="3"/>
            <a:endCxn id="515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6" name="Google Shape;516;p34"/>
          <p:cNvCxnSpPr>
            <a:stCxn id="515" idx="0"/>
            <a:endCxn id="506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517;p34"/>
          <p:cNvCxnSpPr>
            <a:stCxn id="515" idx="3"/>
            <a:endCxn id="518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34"/>
          <p:cNvCxnSpPr>
            <a:stCxn id="518" idx="3"/>
            <a:endCxn id="508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0" name="Google Shape;520;p34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4"/>
          <p:cNvCxnSpPr>
            <a:endCxn id="522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34"/>
          <p:cNvCxnSpPr>
            <a:stCxn id="521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34"/>
          <p:cNvCxnSpPr>
            <a:endCxn id="523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0" name="Google Shape;510;p34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28" name="Google Shape;528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Interior gateway protocol</a:t>
            </a:r>
            <a:r>
              <a:rPr lang="en"/>
              <a:t>: Between two routers in the </a:t>
            </a:r>
            <a:r>
              <a:rPr lang="en" i="1"/>
              <a:t>same </a:t>
            </a:r>
            <a:r>
              <a:rPr lang="en"/>
              <a:t>AS.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to find paths inside the AS (e.g. distance-vector, link-state).</a:t>
            </a:r>
            <a:endParaRPr/>
          </a:p>
        </p:txBody>
      </p:sp>
      <p:cxnSp>
        <p:nvCxnSpPr>
          <p:cNvPr id="529" name="Google Shape;529;p34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0" name="Google Shape;530;p34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1" name="Google Shape;531;p34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2" name="Google Shape;532;p34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3" name="Google Shape;533;p34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4" name="Google Shape;534;p34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5" name="Google Shape;535;p34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6" name="Google Shape;536;p34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7" name="Google Shape;537;p34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8" name="Google Shape;538;p34"/>
          <p:cNvCxnSpPr/>
          <p:nvPr/>
        </p:nvCxnSpPr>
        <p:spPr>
          <a:xfrm rot="10800000" flipH="1">
            <a:off x="26448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9" name="Google Shape;539;p34"/>
          <p:cNvCxnSpPr/>
          <p:nvPr/>
        </p:nvCxnSpPr>
        <p:spPr>
          <a:xfrm rot="10800000" flipH="1">
            <a:off x="3083400" y="34614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0" name="Google Shape;540;p34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1" name="Google Shape;541;p34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2" name="Google Shape;542;p34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3" name="Google Shape;543;p34"/>
          <p:cNvCxnSpPr/>
          <p:nvPr/>
        </p:nvCxnSpPr>
        <p:spPr>
          <a:xfrm rot="10800000" flipH="1">
            <a:off x="4703593" y="42386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4" name="Google Shape;544;p34"/>
          <p:cNvCxnSpPr/>
          <p:nvPr/>
        </p:nvCxnSpPr>
        <p:spPr>
          <a:xfrm rot="10800000" flipH="1">
            <a:off x="5603500" y="40958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5" name="Google Shape;545;p34"/>
          <p:cNvCxnSpPr>
            <a:stCxn id="546" idx="1"/>
            <a:endCxn id="50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4"/>
          <p:cNvCxnSpPr>
            <a:stCxn id="548" idx="3"/>
            <a:endCxn id="50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9" name="Google Shape;549;p34"/>
          <p:cNvCxnSpPr>
            <a:stCxn id="548" idx="2"/>
            <a:endCxn id="550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34"/>
          <p:cNvCxnSpPr>
            <a:stCxn id="550" idx="2"/>
            <a:endCxn id="507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34"/>
          <p:cNvCxnSpPr>
            <a:stCxn id="553" idx="4"/>
            <a:endCxn id="505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34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34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5" name="Google Shape;555;p34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6" name="Google Shape;556;p34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7" name="Google Shape;557;p34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8" name="Google Shape;558;p34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59" name="Google Shape;559;p34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A3632F-4A39-A14B-8AF9-0E2FF77F9D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External BGP, Internal BGP, and IGP</a:t>
            </a:r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5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Three types of communications between routers: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eBGP</a:t>
            </a:r>
            <a:r>
              <a:rPr lang="en"/>
              <a:t>: Routers in different ASes exchanging routes.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iBGP</a:t>
            </a:r>
            <a:r>
              <a:rPr lang="en"/>
              <a:t>: Router distributing externally-learned routes to interior routers.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IGP</a:t>
            </a:r>
            <a:r>
              <a:rPr lang="en"/>
              <a:t>: Intra-domain routing protocols for internal reachability.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 careful not to confuse iBGP and IGP.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are between interior routers.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iBGP is for external routes, and IGP is for internal routes.</a:t>
            </a:r>
            <a:endParaRPr/>
          </a:p>
        </p:txBody>
      </p:sp>
      <p:cxnSp>
        <p:nvCxnSpPr>
          <p:cNvPr id="566" name="Google Shape;566;p35"/>
          <p:cNvCxnSpPr>
            <a:stCxn id="567" idx="3"/>
            <a:endCxn id="568" idx="1"/>
          </p:cNvCxnSpPr>
          <p:nvPr/>
        </p:nvCxnSpPr>
        <p:spPr>
          <a:xfrm>
            <a:off x="5927575" y="3534163"/>
            <a:ext cx="1261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7" name="Google Shape;567;p35"/>
          <p:cNvSpPr/>
          <p:nvPr/>
        </p:nvSpPr>
        <p:spPr>
          <a:xfrm>
            <a:off x="5642575" y="339166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7188725" y="339166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35"/>
          <p:cNvCxnSpPr/>
          <p:nvPr/>
        </p:nvCxnSpPr>
        <p:spPr>
          <a:xfrm>
            <a:off x="6116950" y="3678563"/>
            <a:ext cx="8667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70" name="Google Shape;570;p35"/>
          <p:cNvSpPr txBox="1"/>
          <p:nvPr/>
        </p:nvSpPr>
        <p:spPr>
          <a:xfrm>
            <a:off x="717525" y="3265725"/>
            <a:ext cx="32433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Routing protocols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5"/>
          <p:cNvSpPr txBox="1"/>
          <p:nvPr/>
        </p:nvSpPr>
        <p:spPr>
          <a:xfrm>
            <a:off x="717525" y="3930275"/>
            <a:ext cx="1371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Inter-domain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5"/>
          <p:cNvSpPr txBox="1"/>
          <p:nvPr/>
        </p:nvSpPr>
        <p:spPr>
          <a:xfrm>
            <a:off x="2589900" y="3930275"/>
            <a:ext cx="1371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Intra-domain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35"/>
          <p:cNvSpPr txBox="1"/>
          <p:nvPr/>
        </p:nvSpPr>
        <p:spPr>
          <a:xfrm>
            <a:off x="717525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5"/>
          <p:cNvSpPr txBox="1"/>
          <p:nvPr/>
        </p:nvSpPr>
        <p:spPr>
          <a:xfrm>
            <a:off x="1454625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2958450" y="4594825"/>
            <a:ext cx="633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IGP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" name="Google Shape;576;p35"/>
          <p:cNvCxnSpPr/>
          <p:nvPr/>
        </p:nvCxnSpPr>
        <p:spPr>
          <a:xfrm>
            <a:off x="6116950" y="3830963"/>
            <a:ext cx="866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77" name="Google Shape;577;p35"/>
          <p:cNvCxnSpPr>
            <a:stCxn id="570" idx="2"/>
            <a:endCxn id="571" idx="0"/>
          </p:cNvCxnSpPr>
          <p:nvPr/>
        </p:nvCxnSpPr>
        <p:spPr>
          <a:xfrm flipH="1">
            <a:off x="1403175" y="3536625"/>
            <a:ext cx="93600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5"/>
          <p:cNvCxnSpPr>
            <a:stCxn id="570" idx="2"/>
            <a:endCxn id="572" idx="0"/>
          </p:cNvCxnSpPr>
          <p:nvPr/>
        </p:nvCxnSpPr>
        <p:spPr>
          <a:xfrm>
            <a:off x="2339175" y="3536625"/>
            <a:ext cx="93630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9" name="Google Shape;579;p35"/>
          <p:cNvCxnSpPr>
            <a:stCxn id="571" idx="2"/>
            <a:endCxn id="573" idx="0"/>
          </p:cNvCxnSpPr>
          <p:nvPr/>
        </p:nvCxnSpPr>
        <p:spPr>
          <a:xfrm flipH="1">
            <a:off x="1034625" y="4201175"/>
            <a:ext cx="36840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35"/>
          <p:cNvCxnSpPr>
            <a:stCxn id="571" idx="2"/>
            <a:endCxn id="574" idx="0"/>
          </p:cNvCxnSpPr>
          <p:nvPr/>
        </p:nvCxnSpPr>
        <p:spPr>
          <a:xfrm>
            <a:off x="1403025" y="4201175"/>
            <a:ext cx="36870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" name="Google Shape;581;p35"/>
          <p:cNvCxnSpPr>
            <a:stCxn id="572" idx="2"/>
            <a:endCxn id="575" idx="0"/>
          </p:cNvCxnSpPr>
          <p:nvPr/>
        </p:nvCxnSpPr>
        <p:spPr>
          <a:xfrm>
            <a:off x="3275400" y="4201175"/>
            <a:ext cx="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2" name="Google Shape;582;p35"/>
          <p:cNvSpPr txBox="1"/>
          <p:nvPr/>
        </p:nvSpPr>
        <p:spPr>
          <a:xfrm>
            <a:off x="4572000" y="4037788"/>
            <a:ext cx="3972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iBGP: "I can reach AS#5 via [AS#7, AS#9]."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IGP: "I can reach C with cost 3."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325145-6A04-63ED-212D-1B0421DAF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588" name="Google Shape;588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/>
              <a:t> to learn </a:t>
            </a:r>
            <a:r>
              <a:rPr lang="en" i="1"/>
              <a:t>internal</a:t>
            </a:r>
            <a:r>
              <a:rPr lang="en"/>
              <a:t> routes to others in the AS.</a:t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6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0" idx="3"/>
            <a:endCxn id="59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6" name="Google Shape;596;p36"/>
          <p:cNvCxnSpPr>
            <a:stCxn id="595" idx="3"/>
            <a:endCxn id="591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stCxn id="595" idx="0"/>
            <a:endCxn id="592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8" name="Google Shape;598;p36"/>
          <p:cNvCxnSpPr>
            <a:stCxn id="592" idx="3"/>
            <a:endCxn id="59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6"/>
          <p:cNvCxnSpPr>
            <a:stCxn id="595" idx="3"/>
            <a:endCxn id="60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6"/>
          <p:cNvCxnSpPr>
            <a:stCxn id="600" idx="0"/>
            <a:endCxn id="59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36"/>
          <p:cNvCxnSpPr>
            <a:stCxn id="600" idx="3"/>
            <a:endCxn id="603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4" name="Google Shape;604;p36"/>
          <p:cNvCxnSpPr>
            <a:stCxn id="603" idx="3"/>
            <a:endCxn id="593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36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6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>
            <a:endCxn id="607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36"/>
          <p:cNvCxnSpPr>
            <a:stCxn id="606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6"/>
          <p:cNvCxnSpPr>
            <a:endCxn id="608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6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6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2" name="Google Shape;612;p36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3" name="Google Shape;613;p36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4" name="Google Shape;614;p36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5" name="Google Shape;615;p36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6" name="Google Shape;616;p36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7" name="Google Shape;617;p36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8" name="Google Shape;618;p36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19" name="Google Shape;619;p36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0" name="Google Shape;620;p36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1" name="Google Shape;621;p36"/>
          <p:cNvCxnSpPr/>
          <p:nvPr/>
        </p:nvCxnSpPr>
        <p:spPr>
          <a:xfrm rot="10800000" flipH="1">
            <a:off x="26448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2" name="Google Shape;622;p36"/>
          <p:cNvCxnSpPr/>
          <p:nvPr/>
        </p:nvCxnSpPr>
        <p:spPr>
          <a:xfrm rot="10800000" flipH="1">
            <a:off x="3083400" y="34614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3" name="Google Shape;623;p36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4" name="Google Shape;624;p36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5" name="Google Shape;625;p36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6" name="Google Shape;626;p36"/>
          <p:cNvCxnSpPr/>
          <p:nvPr/>
        </p:nvCxnSpPr>
        <p:spPr>
          <a:xfrm rot="10800000" flipH="1">
            <a:off x="4703593" y="42386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7" name="Google Shape;627;p36"/>
          <p:cNvCxnSpPr/>
          <p:nvPr/>
        </p:nvCxnSpPr>
        <p:spPr>
          <a:xfrm rot="10800000" flipH="1">
            <a:off x="5603500" y="40958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8" name="Google Shape;628;p36"/>
          <p:cNvCxnSpPr>
            <a:stCxn id="629" idx="1"/>
            <a:endCxn id="59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36"/>
          <p:cNvCxnSpPr>
            <a:stCxn id="631" idx="3"/>
            <a:endCxn id="59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2" name="Google Shape;632;p36"/>
          <p:cNvCxnSpPr>
            <a:stCxn id="631" idx="2"/>
            <a:endCxn id="633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4" name="Google Shape;634;p36"/>
          <p:cNvCxnSpPr>
            <a:stCxn id="633" idx="2"/>
            <a:endCxn id="59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" name="Google Shape;635;p36"/>
          <p:cNvCxnSpPr>
            <a:stCxn id="636" idx="4"/>
            <a:endCxn id="59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9" name="Google Shape;629;p36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7" name="Google Shape;637;p36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8" name="Google Shape;638;p36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9" name="Google Shape;639;p36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40" name="Google Shape;640;p36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41" name="Google Shape;641;p36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42" name="Google Shape;642;p36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name="adj1" fmla="val -33046"/>
              <a:gd name="adj2" fmla="val -72098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FCFBF0-58CF-5397-EA6E-0D8612F53C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649" name="Google Shape;649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/>
              <a:t> to learn </a:t>
            </a:r>
            <a:r>
              <a:rPr lang="en" i="1"/>
              <a:t>internal</a:t>
            </a:r>
            <a:r>
              <a:rPr lang="en"/>
              <a:t> routes to others in the AS.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Use </a:t>
            </a:r>
            <a:r>
              <a:rPr lang="en">
                <a:solidFill>
                  <a:srgbClr val="0000FF"/>
                </a:solidFill>
              </a:rPr>
              <a:t>eBGP</a:t>
            </a:r>
            <a:r>
              <a:rPr lang="en"/>
              <a:t> to learn </a:t>
            </a:r>
            <a:r>
              <a:rPr lang="en" i="1"/>
              <a:t>external</a:t>
            </a:r>
            <a:r>
              <a:rPr lang="en"/>
              <a:t> routes to other ASes.</a:t>
            </a:r>
            <a:endParaRPr/>
          </a:p>
        </p:txBody>
      </p:sp>
      <p:sp>
        <p:nvSpPr>
          <p:cNvPr id="650" name="Google Shape;650;p37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37"/>
          <p:cNvCxnSpPr>
            <a:stCxn id="651" idx="3"/>
            <a:endCxn id="656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37"/>
          <p:cNvCxnSpPr>
            <a:stCxn id="656" idx="3"/>
            <a:endCxn id="652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37"/>
          <p:cNvCxnSpPr>
            <a:stCxn id="656" idx="0"/>
            <a:endCxn id="653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7"/>
          <p:cNvCxnSpPr>
            <a:stCxn id="653" idx="3"/>
            <a:endCxn id="652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0" name="Google Shape;660;p37"/>
          <p:cNvCxnSpPr>
            <a:stCxn id="656" idx="3"/>
            <a:endCxn id="661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2" name="Google Shape;662;p37"/>
          <p:cNvCxnSpPr>
            <a:stCxn id="661" idx="0"/>
            <a:endCxn id="652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37"/>
          <p:cNvCxnSpPr>
            <a:stCxn id="661" idx="3"/>
            <a:endCxn id="664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5" name="Google Shape;665;p37"/>
          <p:cNvCxnSpPr>
            <a:stCxn id="664" idx="3"/>
            <a:endCxn id="654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37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7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7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7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7"/>
          <p:cNvCxnSpPr>
            <a:endCxn id="668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1" name="Google Shape;671;p37"/>
          <p:cNvCxnSpPr>
            <a:stCxn id="667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2" name="Google Shape;672;p37"/>
          <p:cNvCxnSpPr>
            <a:endCxn id="669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6" name="Google Shape;656;p37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3" name="Google Shape;673;p37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4" name="Google Shape;674;p37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5" name="Google Shape;675;p37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6" name="Google Shape;676;p37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7" name="Google Shape;677;p37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8" name="Google Shape;678;p37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9" name="Google Shape;679;p37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80" name="Google Shape;680;p37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81" name="Google Shape;681;p37"/>
          <p:cNvCxnSpPr>
            <a:stCxn id="682" idx="1"/>
            <a:endCxn id="654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3" name="Google Shape;683;p37"/>
          <p:cNvCxnSpPr>
            <a:stCxn id="684" idx="3"/>
            <a:endCxn id="654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5" name="Google Shape;685;p37"/>
          <p:cNvCxnSpPr>
            <a:stCxn id="684" idx="2"/>
            <a:endCxn id="68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7" name="Google Shape;687;p37"/>
          <p:cNvCxnSpPr>
            <a:stCxn id="686" idx="2"/>
            <a:endCxn id="653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7"/>
          <p:cNvCxnSpPr>
            <a:stCxn id="689" idx="4"/>
            <a:endCxn id="651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2" name="Google Shape;682;p37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7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7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name="adj1" fmla="val -33046"/>
              <a:gd name="adj2" fmla="val -72098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7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name="adj1" fmla="val -66893"/>
              <a:gd name="adj2" fmla="val -435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7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3" name="Google Shape;693;p37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4" name="Google Shape;694;p37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5" name="Google Shape;695;p37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6" name="Google Shape;696;p37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7" name="Google Shape;697;p37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8" name="Google Shape;698;p37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99" name="Google Shape;699;p37"/>
          <p:cNvCxnSpPr/>
          <p:nvPr/>
        </p:nvCxnSpPr>
        <p:spPr>
          <a:xfrm rot="10800000" flipH="1">
            <a:off x="26448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0" name="Google Shape;700;p37"/>
          <p:cNvCxnSpPr/>
          <p:nvPr/>
        </p:nvCxnSpPr>
        <p:spPr>
          <a:xfrm rot="10800000" flipH="1">
            <a:off x="3083400" y="34614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1" name="Google Shape;701;p37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2" name="Google Shape;702;p37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3" name="Google Shape;703;p37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4" name="Google Shape;704;p37"/>
          <p:cNvCxnSpPr/>
          <p:nvPr/>
        </p:nvCxnSpPr>
        <p:spPr>
          <a:xfrm rot="10800000" flipH="1">
            <a:off x="4703593" y="42386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5" name="Google Shape;705;p37"/>
          <p:cNvCxnSpPr/>
          <p:nvPr/>
        </p:nvCxnSpPr>
        <p:spPr>
          <a:xfrm rot="10800000" flipH="1">
            <a:off x="5603500" y="40958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35E014-2026-45C3-4E8A-558EC7AE07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711" name="Google Shape;711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Use </a:t>
            </a:r>
            <a:r>
              <a:rPr lang="en">
                <a:solidFill>
                  <a:schemeClr val="accent2"/>
                </a:solidFill>
              </a:rPr>
              <a:t>IGP</a:t>
            </a:r>
            <a:r>
              <a:rPr lang="en">
                <a:solidFill>
                  <a:srgbClr val="000000"/>
                </a:solidFill>
              </a:rPr>
              <a:t> to learn </a:t>
            </a:r>
            <a:r>
              <a:rPr lang="en" i="1">
                <a:solidFill>
                  <a:srgbClr val="000000"/>
                </a:solidFill>
              </a:rPr>
              <a:t>internal</a:t>
            </a:r>
            <a:r>
              <a:rPr lang="en">
                <a:solidFill>
                  <a:srgbClr val="000000"/>
                </a:solidFill>
              </a:rPr>
              <a:t> routes to others in the AS.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2. Use </a:t>
            </a:r>
            <a:r>
              <a:rPr lang="en">
                <a:solidFill>
                  <a:srgbClr val="0000FF"/>
                </a:solidFill>
              </a:rPr>
              <a:t>eBGP</a:t>
            </a:r>
            <a:r>
              <a:rPr lang="en">
                <a:solidFill>
                  <a:srgbClr val="000000"/>
                </a:solidFill>
              </a:rPr>
              <a:t> to learn </a:t>
            </a:r>
            <a:r>
              <a:rPr lang="en" i="1">
                <a:solidFill>
                  <a:srgbClr val="000000"/>
                </a:solidFill>
              </a:rPr>
              <a:t>external</a:t>
            </a:r>
            <a:r>
              <a:rPr lang="en">
                <a:solidFill>
                  <a:srgbClr val="000000"/>
                </a:solidFill>
              </a:rPr>
              <a:t> routes to other ASes.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3. Use </a:t>
            </a:r>
            <a:r>
              <a:rPr lang="en">
                <a:solidFill>
                  <a:srgbClr val="0000FF"/>
                </a:solidFill>
              </a:rPr>
              <a:t>iBGP</a:t>
            </a:r>
            <a:r>
              <a:rPr lang="en">
                <a:solidFill>
                  <a:srgbClr val="000000"/>
                </a:solidFill>
              </a:rPr>
              <a:t> to distribute </a:t>
            </a:r>
            <a:r>
              <a:rPr lang="en" i="1">
                <a:solidFill>
                  <a:srgbClr val="000000"/>
                </a:solidFill>
              </a:rPr>
              <a:t>external</a:t>
            </a:r>
            <a:r>
              <a:rPr lang="en">
                <a:solidFill>
                  <a:srgbClr val="000000"/>
                </a:solidFill>
              </a:rPr>
              <a:t> routes to others in the AS.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2" name="Google Shape;712;p38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38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38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7" name="Google Shape;717;p38"/>
          <p:cNvCxnSpPr>
            <a:stCxn id="713" idx="3"/>
            <a:endCxn id="718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9" name="Google Shape;719;p38"/>
          <p:cNvCxnSpPr>
            <a:stCxn id="718" idx="3"/>
            <a:endCxn id="714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0" name="Google Shape;720;p38"/>
          <p:cNvCxnSpPr>
            <a:stCxn id="718" idx="0"/>
            <a:endCxn id="715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1" name="Google Shape;721;p38"/>
          <p:cNvCxnSpPr>
            <a:stCxn id="715" idx="3"/>
            <a:endCxn id="714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2" name="Google Shape;722;p38"/>
          <p:cNvCxnSpPr>
            <a:stCxn id="718" idx="3"/>
            <a:endCxn id="723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724;p38"/>
          <p:cNvCxnSpPr>
            <a:stCxn id="723" idx="0"/>
            <a:endCxn id="714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5" name="Google Shape;725;p38"/>
          <p:cNvCxnSpPr>
            <a:stCxn id="723" idx="3"/>
            <a:endCxn id="726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7" name="Google Shape;727;p38"/>
          <p:cNvCxnSpPr>
            <a:stCxn id="726" idx="3"/>
            <a:endCxn id="716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8" name="Google Shape;728;p38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38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8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2" name="Google Shape;732;p38"/>
          <p:cNvCxnSpPr>
            <a:endCxn id="730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38"/>
          <p:cNvCxnSpPr>
            <a:stCxn id="729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38"/>
          <p:cNvCxnSpPr>
            <a:endCxn id="731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8" name="Google Shape;718;p38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38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8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5" name="Google Shape;735;p38"/>
          <p:cNvCxnSpPr/>
          <p:nvPr/>
        </p:nvCxnSpPr>
        <p:spPr>
          <a:xfrm>
            <a:off x="1970873" y="40416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36" name="Google Shape;736;p38"/>
          <p:cNvCxnSpPr/>
          <p:nvPr/>
        </p:nvCxnSpPr>
        <p:spPr>
          <a:xfrm>
            <a:off x="3246925" y="4281919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37" name="Google Shape;737;p38"/>
          <p:cNvCxnSpPr/>
          <p:nvPr/>
        </p:nvCxnSpPr>
        <p:spPr>
          <a:xfrm rot="10800000" flipH="1">
            <a:off x="4703593" y="40862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38" name="Google Shape;738;p38"/>
          <p:cNvCxnSpPr/>
          <p:nvPr/>
        </p:nvCxnSpPr>
        <p:spPr>
          <a:xfrm rot="10800000" flipH="1">
            <a:off x="5603500" y="39434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39" name="Google Shape;739;p38"/>
          <p:cNvCxnSpPr/>
          <p:nvPr/>
        </p:nvCxnSpPr>
        <p:spPr>
          <a:xfrm rot="10800000">
            <a:off x="4121000" y="36128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0" name="Google Shape;740;p38"/>
          <p:cNvCxnSpPr/>
          <p:nvPr/>
        </p:nvCxnSpPr>
        <p:spPr>
          <a:xfrm rot="10800000" flipH="1">
            <a:off x="3083400" y="36138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1" name="Google Shape;741;p38"/>
          <p:cNvCxnSpPr/>
          <p:nvPr/>
        </p:nvCxnSpPr>
        <p:spPr>
          <a:xfrm rot="10800000" flipH="1">
            <a:off x="27972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2" name="Google Shape;742;p38"/>
          <p:cNvCxnSpPr/>
          <p:nvPr/>
        </p:nvCxnSpPr>
        <p:spPr>
          <a:xfrm>
            <a:off x="3473125" y="30678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3" name="Google Shape;743;p38"/>
          <p:cNvCxnSpPr/>
          <p:nvPr/>
        </p:nvCxnSpPr>
        <p:spPr>
          <a:xfrm>
            <a:off x="1970873" y="4194089"/>
            <a:ext cx="622200" cy="207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4" name="Google Shape;744;p38"/>
          <p:cNvCxnSpPr/>
          <p:nvPr/>
        </p:nvCxnSpPr>
        <p:spPr>
          <a:xfrm rot="10800000" flipH="1">
            <a:off x="2644850" y="3314625"/>
            <a:ext cx="191700" cy="528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5" name="Google Shape;745;p38"/>
          <p:cNvCxnSpPr/>
          <p:nvPr/>
        </p:nvCxnSpPr>
        <p:spPr>
          <a:xfrm rot="10800000" flipH="1">
            <a:off x="3083400" y="3461475"/>
            <a:ext cx="525900" cy="32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6" name="Google Shape;746;p38"/>
          <p:cNvCxnSpPr/>
          <p:nvPr/>
        </p:nvCxnSpPr>
        <p:spPr>
          <a:xfrm>
            <a:off x="3473125" y="2915475"/>
            <a:ext cx="378600" cy="347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7" name="Google Shape;747;p38"/>
          <p:cNvCxnSpPr/>
          <p:nvPr/>
        </p:nvCxnSpPr>
        <p:spPr>
          <a:xfrm rot="10800000">
            <a:off x="4121000" y="3460425"/>
            <a:ext cx="434400" cy="30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8" name="Google Shape;748;p38"/>
          <p:cNvCxnSpPr/>
          <p:nvPr/>
        </p:nvCxnSpPr>
        <p:spPr>
          <a:xfrm>
            <a:off x="3246925" y="4399572"/>
            <a:ext cx="867300" cy="30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9" name="Google Shape;749;p38"/>
          <p:cNvCxnSpPr/>
          <p:nvPr/>
        </p:nvCxnSpPr>
        <p:spPr>
          <a:xfrm rot="10800000" flipH="1">
            <a:off x="4703593" y="4238643"/>
            <a:ext cx="391200" cy="176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50" name="Google Shape;750;p38"/>
          <p:cNvCxnSpPr/>
          <p:nvPr/>
        </p:nvCxnSpPr>
        <p:spPr>
          <a:xfrm rot="10800000" flipH="1">
            <a:off x="5603500" y="4095825"/>
            <a:ext cx="496800" cy="10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51" name="Google Shape;751;p38"/>
          <p:cNvCxnSpPr>
            <a:stCxn id="752" idx="1"/>
            <a:endCxn id="716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3" name="Google Shape;753;p38"/>
          <p:cNvCxnSpPr>
            <a:stCxn id="754" idx="3"/>
            <a:endCxn id="716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5" name="Google Shape;755;p38"/>
          <p:cNvCxnSpPr>
            <a:stCxn id="754" idx="2"/>
            <a:endCxn id="756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7" name="Google Shape;757;p38"/>
          <p:cNvCxnSpPr>
            <a:stCxn id="756" idx="2"/>
            <a:endCxn id="715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8" name="Google Shape;758;p38"/>
          <p:cNvCxnSpPr>
            <a:stCxn id="759" idx="4"/>
            <a:endCxn id="713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2" name="Google Shape;752;p38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38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0" name="Google Shape;760;p38"/>
          <p:cNvCxnSpPr/>
          <p:nvPr/>
        </p:nvCxnSpPr>
        <p:spPr>
          <a:xfrm>
            <a:off x="780775" y="3660781"/>
            <a:ext cx="620400" cy="266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61" name="Google Shape;761;p38"/>
          <p:cNvCxnSpPr/>
          <p:nvPr/>
        </p:nvCxnSpPr>
        <p:spPr>
          <a:xfrm flipH="1">
            <a:off x="3285275" y="2387375"/>
            <a:ext cx="1115700" cy="34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62" name="Google Shape;762;p38"/>
          <p:cNvCxnSpPr/>
          <p:nvPr/>
        </p:nvCxnSpPr>
        <p:spPr>
          <a:xfrm rot="10800000">
            <a:off x="6063425" y="2346975"/>
            <a:ext cx="646800" cy="32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63" name="Google Shape;763;p38"/>
          <p:cNvCxnSpPr/>
          <p:nvPr/>
        </p:nvCxnSpPr>
        <p:spPr>
          <a:xfrm flipH="1">
            <a:off x="6754325" y="3289000"/>
            <a:ext cx="272400" cy="373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64" name="Google Shape;764;p38"/>
          <p:cNvCxnSpPr/>
          <p:nvPr/>
        </p:nvCxnSpPr>
        <p:spPr>
          <a:xfrm rot="10800000">
            <a:off x="6754328" y="3845349"/>
            <a:ext cx="339600" cy="288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65" name="Google Shape;765;p38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name="adj1" fmla="val -33046"/>
              <a:gd name="adj2" fmla="val -72098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3. To reach Z, exit via G.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38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name="adj1" fmla="val -66893"/>
              <a:gd name="adj2" fmla="val -435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8A3E7-9EC0-7476-37CC-4DE8D2AD29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Combining Intra-Domain and Inter-Domain Routing</a:t>
            </a:r>
            <a:endParaRPr/>
          </a:p>
        </p:txBody>
      </p:sp>
      <p:sp>
        <p:nvSpPr>
          <p:cNvPr id="773" name="Google Shape;773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 b="1"/>
              <a:t>egress router</a:t>
            </a:r>
            <a:r>
              <a:rPr lang="en"/>
              <a:t> for a destination is a border router who can reach that destination.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Inside AS#1, G is an egress router for Z.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uses iBGP to tell local routers: "If you have packets for Z, send them to me."</a:t>
            </a: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9" name="Google Shape;779;p39"/>
          <p:cNvCxnSpPr>
            <a:stCxn id="775" idx="3"/>
            <a:endCxn id="780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39"/>
          <p:cNvCxnSpPr>
            <a:stCxn id="780" idx="3"/>
            <a:endCxn id="776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2" name="Google Shape;782;p39"/>
          <p:cNvCxnSpPr>
            <a:stCxn id="780" idx="0"/>
            <a:endCxn id="777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3" name="Google Shape;783;p39"/>
          <p:cNvCxnSpPr>
            <a:stCxn id="777" idx="3"/>
            <a:endCxn id="776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4" name="Google Shape;784;p39"/>
          <p:cNvCxnSpPr>
            <a:stCxn id="780" idx="3"/>
            <a:endCxn id="785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6" name="Google Shape;786;p39"/>
          <p:cNvCxnSpPr>
            <a:stCxn id="785" idx="0"/>
            <a:endCxn id="776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7" name="Google Shape;787;p39"/>
          <p:cNvCxnSpPr>
            <a:stCxn id="785" idx="3"/>
            <a:endCxn id="788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9" name="Google Shape;789;p39"/>
          <p:cNvCxnSpPr>
            <a:stCxn id="788" idx="3"/>
            <a:endCxn id="778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0" name="Google Shape;790;p39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4" name="Google Shape;794;p39"/>
          <p:cNvCxnSpPr>
            <a:endCxn id="792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39"/>
          <p:cNvCxnSpPr>
            <a:stCxn id="791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39"/>
          <p:cNvCxnSpPr>
            <a:endCxn id="793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0" name="Google Shape;780;p39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39"/>
          <p:cNvCxnSpPr>
            <a:stCxn id="798" idx="1"/>
            <a:endCxn id="77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9" name="Google Shape;799;p39"/>
          <p:cNvCxnSpPr>
            <a:stCxn id="800" idx="3"/>
            <a:endCxn id="77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1" name="Google Shape;801;p39"/>
          <p:cNvCxnSpPr>
            <a:stCxn id="800" idx="2"/>
            <a:endCxn id="802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3" name="Google Shape;803;p39"/>
          <p:cNvCxnSpPr>
            <a:stCxn id="802" idx="2"/>
            <a:endCxn id="777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4" name="Google Shape;804;p39"/>
          <p:cNvCxnSpPr>
            <a:stCxn id="805" idx="4"/>
            <a:endCxn id="775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8" name="Google Shape;798;p39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4044050" y="4517225"/>
            <a:ext cx="2684400" cy="528000"/>
          </a:xfrm>
          <a:prstGeom prst="wedgeRoundRectCallout">
            <a:avLst>
              <a:gd name="adj1" fmla="val -33046"/>
              <a:gd name="adj2" fmla="val -72098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3. To reach Z, exit via G.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To reach G, my next-hop is F.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6944500" y="3613875"/>
            <a:ext cx="2047200" cy="324900"/>
          </a:xfrm>
          <a:prstGeom prst="wedgeRoundRectCallout">
            <a:avLst>
              <a:gd name="adj1" fmla="val -66893"/>
              <a:gd name="adj2" fmla="val -435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2. To reach Z, go via AS#5.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4570825" y="3875028"/>
            <a:ext cx="2752725" cy="732250"/>
          </a:xfrm>
          <a:custGeom>
            <a:avLst/>
            <a:gdLst/>
            <a:ahLst/>
            <a:cxnLst/>
            <a:rect l="l" t="t" r="r" b="b"/>
            <a:pathLst>
              <a:path w="110109" h="29290" extrusionOk="0">
                <a:moveTo>
                  <a:pt x="0" y="16337"/>
                </a:moveTo>
                <a:cubicBezTo>
                  <a:pt x="11642" y="13649"/>
                  <a:pt x="51499" y="-1951"/>
                  <a:pt x="69850" y="208"/>
                </a:cubicBezTo>
                <a:cubicBezTo>
                  <a:pt x="88202" y="2367"/>
                  <a:pt x="103399" y="24444"/>
                  <a:pt x="110109" y="29291"/>
                </a:cubicBezTo>
              </a:path>
            </a:pathLst>
          </a:cu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2B150-C219-2AF2-F741-691B093FD4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and IGP Routing Tables</a:t>
            </a:r>
            <a:endParaRPr/>
          </a:p>
        </p:txBody>
      </p:sp>
      <p:sp>
        <p:nvSpPr>
          <p:cNvPr id="815" name="Google Shape;815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router now has two routing tables: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IGP table: Maps each </a:t>
            </a:r>
            <a:r>
              <a:rPr lang="en" i="1"/>
              <a:t>internal</a:t>
            </a:r>
            <a:r>
              <a:rPr lang="en"/>
              <a:t> destination to a next-hop.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table: Maps each </a:t>
            </a:r>
            <a:r>
              <a:rPr lang="en" i="1"/>
              <a:t>external</a:t>
            </a:r>
            <a:r>
              <a:rPr lang="en"/>
              <a:t> destination to an egress router.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egress router is not necessarily a direct neighbor.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two tables can be used to find the next hop for any destination.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Internal destinations: Just use the IGP table to find the next 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destinations: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First, use the BGP table to find the egress router.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Then, use the IGP table to find the next-hop to the egress.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C31D4A-8A3A-8868-B62B-C29B02892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BGP and IGP Routing Tables</a:t>
            </a:r>
            <a:endParaRPr/>
          </a:p>
        </p:txBody>
      </p:sp>
      <p:sp>
        <p:nvSpPr>
          <p:cNvPr id="821" name="Google Shape;821;p41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41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1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41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41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41"/>
          <p:cNvCxnSpPr>
            <a:stCxn id="822" idx="3"/>
            <a:endCxn id="82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p41"/>
          <p:cNvCxnSpPr>
            <a:stCxn id="827" idx="3"/>
            <a:endCxn id="823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9" name="Google Shape;829;p41"/>
          <p:cNvCxnSpPr>
            <a:stCxn id="827" idx="0"/>
            <a:endCxn id="824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0" name="Google Shape;830;p41"/>
          <p:cNvCxnSpPr>
            <a:stCxn id="824" idx="3"/>
            <a:endCxn id="823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1" name="Google Shape;831;p41"/>
          <p:cNvCxnSpPr>
            <a:stCxn id="827" idx="3"/>
            <a:endCxn id="832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3" name="Google Shape;833;p41"/>
          <p:cNvCxnSpPr>
            <a:stCxn id="832" idx="0"/>
            <a:endCxn id="823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4" name="Google Shape;834;p41"/>
          <p:cNvCxnSpPr>
            <a:stCxn id="832" idx="3"/>
            <a:endCxn id="835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6" name="Google Shape;836;p41"/>
          <p:cNvCxnSpPr>
            <a:stCxn id="835" idx="3"/>
            <a:endCxn id="825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41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41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41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1" name="Google Shape;841;p41"/>
          <p:cNvCxnSpPr>
            <a:endCxn id="839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1"/>
          <p:cNvCxnSpPr>
            <a:stCxn id="838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41"/>
          <p:cNvCxnSpPr>
            <a:endCxn id="840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7" name="Google Shape;827;p41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1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1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1"/>
          <p:cNvCxnSpPr>
            <a:stCxn id="845" idx="1"/>
            <a:endCxn id="825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" name="Google Shape;846;p41"/>
          <p:cNvCxnSpPr>
            <a:stCxn id="847" idx="3"/>
            <a:endCxn id="825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8" name="Google Shape;848;p41"/>
          <p:cNvCxnSpPr>
            <a:stCxn id="847" idx="2"/>
            <a:endCxn id="849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0" name="Google Shape;850;p41"/>
          <p:cNvCxnSpPr>
            <a:stCxn id="849" idx="2"/>
            <a:endCxn id="824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1" name="Google Shape;851;p41"/>
          <p:cNvCxnSpPr>
            <a:stCxn id="852" idx="4"/>
            <a:endCxn id="822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5" name="Google Shape;845;p41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41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41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638263" y="3173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55" name="Google Shape;855;p41"/>
          <p:cNvGraphicFramePr/>
          <p:nvPr/>
        </p:nvGraphicFramePr>
        <p:xfrm>
          <a:off x="239725" y="590250"/>
          <a:ext cx="2047650" cy="190184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102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56" name="Google Shape;856;p41"/>
          <p:cNvGraphicFramePr/>
          <p:nvPr/>
        </p:nvGraphicFramePr>
        <p:xfrm>
          <a:off x="2463175" y="581563"/>
          <a:ext cx="2047650" cy="118865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102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Egress via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7" name="Google Shape;857;p41"/>
          <p:cNvSpPr/>
          <p:nvPr/>
        </p:nvSpPr>
        <p:spPr>
          <a:xfrm>
            <a:off x="5150763" y="24292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1"/>
          <p:cNvSpPr txBox="1">
            <a:spLocks noGrp="1"/>
          </p:cNvSpPr>
          <p:nvPr>
            <p:ph type="body" idx="1"/>
          </p:nvPr>
        </p:nvSpPr>
        <p:spPr>
          <a:xfrm>
            <a:off x="4768250" y="402200"/>
            <a:ext cx="4248600" cy="14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← D's two routing tables.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7ACB34-CF7C-99F1-FDD4-D5C37A1E6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BGP and IGP Routing Tables (in Router D)</a:t>
            </a:r>
            <a:endParaRPr dirty="0"/>
          </a:p>
        </p:txBody>
      </p:sp>
      <p:sp>
        <p:nvSpPr>
          <p:cNvPr id="864" name="Google Shape;864;p42"/>
          <p:cNvSpPr txBox="1">
            <a:spLocks noGrp="1"/>
          </p:cNvSpPr>
          <p:nvPr>
            <p:ph type="body" idx="1"/>
          </p:nvPr>
        </p:nvSpPr>
        <p:spPr>
          <a:xfrm>
            <a:off x="4768250" y="402200"/>
            <a:ext cx="4248600" cy="14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reach V, the egress router is B.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reach B, the next hop is C.</a:t>
            </a:r>
            <a:endParaRPr/>
          </a:p>
        </p:txBody>
      </p:sp>
      <p:graphicFrame>
        <p:nvGraphicFramePr>
          <p:cNvPr id="865" name="Google Shape;865;p42"/>
          <p:cNvGraphicFramePr/>
          <p:nvPr/>
        </p:nvGraphicFramePr>
        <p:xfrm>
          <a:off x="239725" y="590250"/>
          <a:ext cx="2047650" cy="190184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102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66" name="Google Shape;866;p42"/>
          <p:cNvGraphicFramePr/>
          <p:nvPr/>
        </p:nvGraphicFramePr>
        <p:xfrm>
          <a:off x="2463175" y="581563"/>
          <a:ext cx="2047650" cy="118865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102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Destinations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Egress via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27425" marB="27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7" name="Google Shape;867;p42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E59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42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42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42"/>
          <p:cNvCxnSpPr>
            <a:stCxn id="868" idx="3"/>
            <a:endCxn id="873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4" name="Google Shape;874;p42"/>
          <p:cNvCxnSpPr>
            <a:stCxn id="873" idx="3"/>
            <a:endCxn id="869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5" name="Google Shape;875;p42"/>
          <p:cNvCxnSpPr>
            <a:stCxn id="873" idx="0"/>
            <a:endCxn id="870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42"/>
          <p:cNvCxnSpPr>
            <a:stCxn id="870" idx="3"/>
            <a:endCxn id="869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42"/>
          <p:cNvCxnSpPr>
            <a:stCxn id="873" idx="3"/>
            <a:endCxn id="878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42"/>
          <p:cNvCxnSpPr>
            <a:stCxn id="878" idx="0"/>
            <a:endCxn id="869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42"/>
          <p:cNvCxnSpPr>
            <a:stCxn id="878" idx="3"/>
            <a:endCxn id="881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42"/>
          <p:cNvCxnSpPr>
            <a:stCxn id="881" idx="3"/>
            <a:endCxn id="871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3" name="Google Shape;883;p42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42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42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42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7" name="Google Shape;887;p42"/>
          <p:cNvCxnSpPr>
            <a:endCxn id="885" idx="1"/>
          </p:cNvCxnSpPr>
          <p:nvPr/>
        </p:nvCxnSpPr>
        <p:spPr>
          <a:xfrm>
            <a:off x="2873550" y="4279962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42"/>
          <p:cNvCxnSpPr>
            <a:stCxn id="884" idx="7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9" name="Google Shape;889;p42"/>
          <p:cNvCxnSpPr>
            <a:endCxn id="886" idx="4"/>
          </p:cNvCxnSpPr>
          <p:nvPr/>
        </p:nvCxnSpPr>
        <p:spPr>
          <a:xfrm rot="10800000">
            <a:off x="5293263" y="342650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42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42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42"/>
          <p:cNvCxnSpPr>
            <a:stCxn id="891" idx="1"/>
            <a:endCxn id="871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2" name="Google Shape;892;p42"/>
          <p:cNvCxnSpPr>
            <a:stCxn id="893" idx="3"/>
            <a:endCxn id="871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4" name="Google Shape;894;p42"/>
          <p:cNvCxnSpPr>
            <a:stCxn id="893" idx="2"/>
            <a:endCxn id="895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6" name="Google Shape;896;p42"/>
          <p:cNvCxnSpPr>
            <a:stCxn id="895" idx="2"/>
            <a:endCxn id="870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7" name="Google Shape;897;p42"/>
          <p:cNvCxnSpPr>
            <a:stCxn id="898" idx="4"/>
            <a:endCxn id="868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42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42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42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42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42"/>
          <p:cNvSpPr/>
          <p:nvPr/>
        </p:nvSpPr>
        <p:spPr>
          <a:xfrm>
            <a:off x="638263" y="3173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42"/>
          <p:cNvSpPr/>
          <p:nvPr/>
        </p:nvSpPr>
        <p:spPr>
          <a:xfrm>
            <a:off x="5150763" y="24292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42"/>
          <p:cNvSpPr/>
          <p:nvPr/>
        </p:nvSpPr>
        <p:spPr>
          <a:xfrm>
            <a:off x="805550" y="3412025"/>
            <a:ext cx="2966350" cy="842900"/>
          </a:xfrm>
          <a:custGeom>
            <a:avLst/>
            <a:gdLst/>
            <a:ahLst/>
            <a:cxnLst/>
            <a:rect l="l" t="t" r="r" b="b"/>
            <a:pathLst>
              <a:path w="118654" h="33716" extrusionOk="0">
                <a:moveTo>
                  <a:pt x="118654" y="14587"/>
                </a:moveTo>
                <a:cubicBezTo>
                  <a:pt x="112921" y="17744"/>
                  <a:pt x="98370" y="32258"/>
                  <a:pt x="84255" y="33528"/>
                </a:cubicBezTo>
                <a:cubicBezTo>
                  <a:pt x="70140" y="34798"/>
                  <a:pt x="48006" y="27795"/>
                  <a:pt x="33963" y="22207"/>
                </a:cubicBezTo>
                <a:cubicBezTo>
                  <a:pt x="19921" y="16619"/>
                  <a:pt x="5661" y="3701"/>
                  <a:pt x="0" y="0"/>
                </a:cubicBezTo>
              </a:path>
            </a:pathLst>
          </a:cu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1F1828-E5E9-DC1F-9746-64E4AD79F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iBGP</a:t>
            </a:r>
            <a:endParaRPr/>
          </a:p>
        </p:txBody>
      </p:sp>
      <p:sp>
        <p:nvSpPr>
          <p:cNvPr id="908" name="Google Shape;90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Border routers use iBGP to distribute the routes it discovers to everyone else in the AS.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is this actually implemented?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Many different approaches, though we'll assume a simple one.</a:t>
            </a:r>
            <a:endParaRPr/>
          </a:p>
        </p:txBody>
      </p:sp>
      <p:sp>
        <p:nvSpPr>
          <p:cNvPr id="909" name="Google Shape;909;p43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43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43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43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43"/>
          <p:cNvCxnSpPr>
            <a:stCxn id="910" idx="3"/>
            <a:endCxn id="915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43"/>
          <p:cNvCxnSpPr>
            <a:stCxn id="915" idx="3"/>
            <a:endCxn id="911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43"/>
          <p:cNvCxnSpPr>
            <a:stCxn id="915" idx="0"/>
            <a:endCxn id="912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43"/>
          <p:cNvCxnSpPr>
            <a:stCxn id="912" idx="3"/>
            <a:endCxn id="911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9" name="Google Shape;919;p43"/>
          <p:cNvCxnSpPr>
            <a:stCxn id="915" idx="3"/>
            <a:endCxn id="920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1" name="Google Shape;921;p43"/>
          <p:cNvCxnSpPr>
            <a:stCxn id="920" idx="0"/>
            <a:endCxn id="911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2" name="Google Shape;922;p43"/>
          <p:cNvCxnSpPr>
            <a:stCxn id="920" idx="3"/>
            <a:endCxn id="923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4" name="Google Shape;924;p43"/>
          <p:cNvCxnSpPr>
            <a:stCxn id="923" idx="3"/>
            <a:endCxn id="913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5" name="Google Shape;925;p43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43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43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43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9" name="Google Shape;929;p43"/>
          <p:cNvCxnSpPr>
            <a:stCxn id="915" idx="2"/>
            <a:endCxn id="927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0" name="Google Shape;930;p43"/>
          <p:cNvCxnSpPr>
            <a:stCxn id="926" idx="7"/>
            <a:endCxn id="920" idx="2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1" name="Google Shape;931;p43"/>
          <p:cNvCxnSpPr>
            <a:stCxn id="923" idx="0"/>
            <a:endCxn id="928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43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43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43"/>
          <p:cNvCxnSpPr>
            <a:stCxn id="933" idx="1"/>
            <a:endCxn id="913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4" name="Google Shape;934;p43"/>
          <p:cNvCxnSpPr>
            <a:stCxn id="935" idx="3"/>
            <a:endCxn id="913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6" name="Google Shape;936;p43"/>
          <p:cNvCxnSpPr>
            <a:stCxn id="935" idx="2"/>
            <a:endCxn id="937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8" name="Google Shape;938;p43"/>
          <p:cNvCxnSpPr>
            <a:stCxn id="937" idx="2"/>
            <a:endCxn id="912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9" name="Google Shape;939;p43"/>
          <p:cNvCxnSpPr>
            <a:stCxn id="940" idx="4"/>
            <a:endCxn id="910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3" name="Google Shape;933;p43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43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3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3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3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3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name="adj1" fmla="val 35053"/>
              <a:gd name="adj2" fmla="val -9593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B4E04C-2762-1152-143C-9293E0EBFF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4"/>
          <p:cNvSpPr/>
          <p:nvPr/>
        </p:nvSpPr>
        <p:spPr>
          <a:xfrm>
            <a:off x="1528600" y="2823975"/>
            <a:ext cx="5022900" cy="2055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4"/>
          <p:cNvSpPr/>
          <p:nvPr/>
        </p:nvSpPr>
        <p:spPr>
          <a:xfrm>
            <a:off x="5150763" y="3141500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44"/>
          <p:cNvCxnSpPr>
            <a:stCxn id="952" idx="0"/>
            <a:endCxn id="950" idx="4"/>
          </p:cNvCxnSpPr>
          <p:nvPr/>
        </p:nvCxnSpPr>
        <p:spPr>
          <a:xfrm rot="10800000">
            <a:off x="5293275" y="3426575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3" name="Google Shape;95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iBGP</a:t>
            </a:r>
            <a:endParaRPr/>
          </a:p>
        </p:txBody>
      </p:sp>
      <p:sp>
        <p:nvSpPr>
          <p:cNvPr id="954" name="Google Shape;954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simple approach: Run an iBGP session between every pair of routers.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 total routers and B border routers, requires ~ N × B sessions.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N = 7, B = 3 inside AS#1.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be a scaling issue on larger networks.</a:t>
            </a:r>
            <a:endParaRPr/>
          </a:p>
        </p:txBody>
      </p:sp>
      <p:cxnSp>
        <p:nvCxnSpPr>
          <p:cNvPr id="955" name="Google Shape;955;p44"/>
          <p:cNvCxnSpPr>
            <a:stCxn id="956" idx="3"/>
            <a:endCxn id="957" idx="1"/>
          </p:cNvCxnSpPr>
          <p:nvPr/>
        </p:nvCxnSpPr>
        <p:spPr>
          <a:xfrm>
            <a:off x="1863441" y="3851925"/>
            <a:ext cx="867600" cy="285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" name="Google Shape;958;p44"/>
          <p:cNvCxnSpPr>
            <a:stCxn id="957" idx="3"/>
            <a:endCxn id="959" idx="1"/>
          </p:cNvCxnSpPr>
          <p:nvPr/>
        </p:nvCxnSpPr>
        <p:spPr>
          <a:xfrm rot="10800000" flipH="1">
            <a:off x="3015950" y="3710025"/>
            <a:ext cx="693300" cy="427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0" name="Google Shape;960;p44"/>
          <p:cNvCxnSpPr>
            <a:stCxn id="957" idx="0"/>
            <a:endCxn id="961" idx="2"/>
          </p:cNvCxnSpPr>
          <p:nvPr/>
        </p:nvCxnSpPr>
        <p:spPr>
          <a:xfrm rot="10800000" flipH="1">
            <a:off x="2873450" y="3207825"/>
            <a:ext cx="285000" cy="787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2" name="Google Shape;962;p44"/>
          <p:cNvCxnSpPr>
            <a:stCxn id="961" idx="3"/>
            <a:endCxn id="959" idx="0"/>
          </p:cNvCxnSpPr>
          <p:nvPr/>
        </p:nvCxnSpPr>
        <p:spPr>
          <a:xfrm>
            <a:off x="3300950" y="3065298"/>
            <a:ext cx="550800" cy="502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3" name="Google Shape;963;p44"/>
          <p:cNvCxnSpPr>
            <a:stCxn id="957" idx="3"/>
            <a:endCxn id="964" idx="1"/>
          </p:cNvCxnSpPr>
          <p:nvPr/>
        </p:nvCxnSpPr>
        <p:spPr>
          <a:xfrm>
            <a:off x="3015950" y="4137525"/>
            <a:ext cx="1305000" cy="441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5" name="Google Shape;965;p44"/>
          <p:cNvCxnSpPr>
            <a:stCxn id="964" idx="0"/>
            <a:endCxn id="959" idx="3"/>
          </p:cNvCxnSpPr>
          <p:nvPr/>
        </p:nvCxnSpPr>
        <p:spPr>
          <a:xfrm rot="10800000">
            <a:off x="3994225" y="3710150"/>
            <a:ext cx="469200" cy="3291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6" name="Google Shape;966;p44"/>
          <p:cNvCxnSpPr>
            <a:stCxn id="964" idx="3"/>
            <a:endCxn id="952" idx="1"/>
          </p:cNvCxnSpPr>
          <p:nvPr/>
        </p:nvCxnSpPr>
        <p:spPr>
          <a:xfrm rot="10800000" flipH="1">
            <a:off x="4605925" y="3936950"/>
            <a:ext cx="544800" cy="244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7" name="Google Shape;967;p44"/>
          <p:cNvCxnSpPr>
            <a:stCxn id="952" idx="3"/>
            <a:endCxn id="968" idx="1"/>
          </p:cNvCxnSpPr>
          <p:nvPr/>
        </p:nvCxnSpPr>
        <p:spPr>
          <a:xfrm rot="10800000" flipH="1">
            <a:off x="5435775" y="3776375"/>
            <a:ext cx="771600" cy="160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9" name="Google Shape;969;p44"/>
          <p:cNvSpPr txBox="1"/>
          <p:nvPr/>
        </p:nvSpPr>
        <p:spPr>
          <a:xfrm>
            <a:off x="3932450" y="2888788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4"/>
          <p:cNvCxnSpPr>
            <a:stCxn id="971" idx="1"/>
            <a:endCxn id="968" idx="3"/>
          </p:cNvCxnSpPr>
          <p:nvPr/>
        </p:nvCxnSpPr>
        <p:spPr>
          <a:xfrm rot="10800000">
            <a:off x="6492428" y="3776349"/>
            <a:ext cx="601500" cy="51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2" name="Google Shape;972;p44"/>
          <p:cNvCxnSpPr>
            <a:stCxn id="973" idx="3"/>
            <a:endCxn id="968" idx="3"/>
          </p:cNvCxnSpPr>
          <p:nvPr/>
        </p:nvCxnSpPr>
        <p:spPr>
          <a:xfrm flipH="1">
            <a:off x="6492378" y="3107752"/>
            <a:ext cx="486900" cy="66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4" name="Google Shape;974;p44"/>
          <p:cNvCxnSpPr>
            <a:stCxn id="973" idx="2"/>
            <a:endCxn id="975" idx="6"/>
          </p:cNvCxnSpPr>
          <p:nvPr/>
        </p:nvCxnSpPr>
        <p:spPr>
          <a:xfrm rot="10800000">
            <a:off x="5967324" y="2450140"/>
            <a:ext cx="824400" cy="41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6" name="Google Shape;976;p44"/>
          <p:cNvCxnSpPr>
            <a:stCxn id="975" idx="2"/>
            <a:endCxn id="961" idx="0"/>
          </p:cNvCxnSpPr>
          <p:nvPr/>
        </p:nvCxnSpPr>
        <p:spPr>
          <a:xfrm flipH="1">
            <a:off x="3158424" y="2450075"/>
            <a:ext cx="1528200" cy="47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44"/>
          <p:cNvCxnSpPr>
            <a:stCxn id="978" idx="4"/>
            <a:endCxn id="956" idx="1"/>
          </p:cNvCxnSpPr>
          <p:nvPr/>
        </p:nvCxnSpPr>
        <p:spPr>
          <a:xfrm>
            <a:off x="780775" y="3508381"/>
            <a:ext cx="797700" cy="34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44"/>
          <p:cNvSpPr/>
          <p:nvPr/>
        </p:nvSpPr>
        <p:spPr>
          <a:xfrm>
            <a:off x="6906374" y="418631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44"/>
          <p:cNvSpPr/>
          <p:nvPr/>
        </p:nvSpPr>
        <p:spPr>
          <a:xfrm>
            <a:off x="6791724" y="2524690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44"/>
          <p:cNvSpPr/>
          <p:nvPr/>
        </p:nvSpPr>
        <p:spPr>
          <a:xfrm>
            <a:off x="4686624" y="2108525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44"/>
          <p:cNvSpPr/>
          <p:nvPr/>
        </p:nvSpPr>
        <p:spPr>
          <a:xfrm>
            <a:off x="140425" y="2825281"/>
            <a:ext cx="12807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44"/>
          <p:cNvSpPr/>
          <p:nvPr/>
        </p:nvSpPr>
        <p:spPr>
          <a:xfrm>
            <a:off x="7404213" y="4521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44"/>
          <p:cNvSpPr/>
          <p:nvPr/>
        </p:nvSpPr>
        <p:spPr>
          <a:xfrm>
            <a:off x="1578441" y="3709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44"/>
          <p:cNvSpPr/>
          <p:nvPr/>
        </p:nvSpPr>
        <p:spPr>
          <a:xfrm>
            <a:off x="3709150" y="3567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44"/>
          <p:cNvSpPr/>
          <p:nvPr/>
        </p:nvSpPr>
        <p:spPr>
          <a:xfrm>
            <a:off x="3015950" y="29227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44"/>
          <p:cNvSpPr/>
          <p:nvPr/>
        </p:nvSpPr>
        <p:spPr>
          <a:xfrm>
            <a:off x="6207500" y="36338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5150775" y="3794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0" name="Google Shape;980;p44"/>
          <p:cNvCxnSpPr>
            <a:stCxn id="968" idx="1"/>
            <a:endCxn id="952" idx="3"/>
          </p:cNvCxnSpPr>
          <p:nvPr/>
        </p:nvCxnSpPr>
        <p:spPr>
          <a:xfrm flipH="1">
            <a:off x="5435900" y="3776325"/>
            <a:ext cx="771600" cy="160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1" name="Google Shape;981;p44"/>
          <p:cNvCxnSpPr>
            <a:stCxn id="968" idx="1"/>
            <a:endCxn id="964" idx="3"/>
          </p:cNvCxnSpPr>
          <p:nvPr/>
        </p:nvCxnSpPr>
        <p:spPr>
          <a:xfrm flipH="1">
            <a:off x="4605800" y="3776325"/>
            <a:ext cx="1601700" cy="4053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2" name="Google Shape;982;p44"/>
          <p:cNvCxnSpPr>
            <a:stCxn id="968" idx="1"/>
            <a:endCxn id="959" idx="3"/>
          </p:cNvCxnSpPr>
          <p:nvPr/>
        </p:nvCxnSpPr>
        <p:spPr>
          <a:xfrm rot="10800000">
            <a:off x="3994100" y="3710025"/>
            <a:ext cx="2213400" cy="663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3" name="Google Shape;983;p44"/>
          <p:cNvCxnSpPr>
            <a:stCxn id="968" idx="1"/>
            <a:endCxn id="957" idx="3"/>
          </p:cNvCxnSpPr>
          <p:nvPr/>
        </p:nvCxnSpPr>
        <p:spPr>
          <a:xfrm flipH="1">
            <a:off x="3016100" y="3776325"/>
            <a:ext cx="3191400" cy="361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4" name="Google Shape;984;p44"/>
          <p:cNvCxnSpPr>
            <a:stCxn id="968" idx="1"/>
            <a:endCxn id="956" idx="3"/>
          </p:cNvCxnSpPr>
          <p:nvPr/>
        </p:nvCxnSpPr>
        <p:spPr>
          <a:xfrm flipH="1">
            <a:off x="1863500" y="3776325"/>
            <a:ext cx="4344000" cy="756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5" name="Google Shape;985;p44"/>
          <p:cNvCxnSpPr>
            <a:stCxn id="968" idx="1"/>
            <a:endCxn id="961" idx="3"/>
          </p:cNvCxnSpPr>
          <p:nvPr/>
        </p:nvCxnSpPr>
        <p:spPr>
          <a:xfrm rot="10800000">
            <a:off x="3300800" y="3065325"/>
            <a:ext cx="2906700" cy="711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6" name="Google Shape;986;p44"/>
          <p:cNvSpPr/>
          <p:nvPr/>
        </p:nvSpPr>
        <p:spPr>
          <a:xfrm>
            <a:off x="5210488" y="4286750"/>
            <a:ext cx="1341000" cy="624300"/>
          </a:xfrm>
          <a:prstGeom prst="wedgeRoundRectCallout">
            <a:avLst>
              <a:gd name="adj1" fmla="val 35053"/>
              <a:gd name="adj2" fmla="val -9593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Hey everyone, I just found a way to reach Z.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44"/>
          <p:cNvSpPr txBox="1"/>
          <p:nvPr/>
        </p:nvSpPr>
        <p:spPr>
          <a:xfrm>
            <a:off x="140425" y="2099900"/>
            <a:ext cx="3711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iBGP sessions are still forwarding packets across multiple hops  (we aren't building new links).</a:t>
            </a:r>
            <a:endParaRPr sz="1200"/>
          </a:p>
        </p:txBody>
      </p:sp>
      <p:sp>
        <p:nvSpPr>
          <p:cNvPr id="988" name="Google Shape;988;p44"/>
          <p:cNvSpPr/>
          <p:nvPr/>
        </p:nvSpPr>
        <p:spPr>
          <a:xfrm>
            <a:off x="3994138" y="452187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44"/>
          <p:cNvSpPr/>
          <p:nvPr/>
        </p:nvSpPr>
        <p:spPr>
          <a:xfrm>
            <a:off x="3116213" y="4476125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0" name="Google Shape;990;p44"/>
          <p:cNvCxnSpPr>
            <a:stCxn id="957" idx="2"/>
            <a:endCxn id="989" idx="1"/>
          </p:cNvCxnSpPr>
          <p:nvPr/>
        </p:nvCxnSpPr>
        <p:spPr>
          <a:xfrm>
            <a:off x="2873450" y="4280025"/>
            <a:ext cx="284400" cy="237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1" name="Google Shape;991;p44"/>
          <p:cNvCxnSpPr>
            <a:stCxn id="988" idx="7"/>
            <a:endCxn id="964" idx="2"/>
          </p:cNvCxnSpPr>
          <p:nvPr/>
        </p:nvCxnSpPr>
        <p:spPr>
          <a:xfrm rot="10800000" flipH="1">
            <a:off x="4237400" y="4324212"/>
            <a:ext cx="225900" cy="239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4" name="Google Shape;964;p44"/>
          <p:cNvSpPr/>
          <p:nvPr/>
        </p:nvSpPr>
        <p:spPr>
          <a:xfrm>
            <a:off x="4320925" y="4039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2730950" y="3995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14055B-E825-9DE3-0F09-73928B0FFB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Links Between ASes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97" name="Google Shape;997;p4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998" name="Google Shape;998;p4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0AFB0-BDF0-ABF3-94C3-EA12F906CB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38" y="1230125"/>
            <a:ext cx="7036124" cy="391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7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only a single link between AT&amp;T and Verizon, packets might travel long routes.</a:t>
            </a:r>
            <a:endParaRPr/>
          </a:p>
        </p:txBody>
      </p:sp>
      <p:sp>
        <p:nvSpPr>
          <p:cNvPr id="1005" name="Google Shape;1005;p46"/>
          <p:cNvSpPr/>
          <p:nvPr/>
        </p:nvSpPr>
        <p:spPr>
          <a:xfrm>
            <a:off x="1916013" y="3264026"/>
            <a:ext cx="4958700" cy="925200"/>
          </a:xfrm>
          <a:prstGeom prst="ellipse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07" name="Google Shape;1007;p46"/>
          <p:cNvSpPr/>
          <p:nvPr/>
        </p:nvSpPr>
        <p:spPr>
          <a:xfrm>
            <a:off x="1916013" y="1987075"/>
            <a:ext cx="4958700" cy="925200"/>
          </a:xfrm>
          <a:prstGeom prst="ellipse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218397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9" name="Google Shape;1009;p46"/>
          <p:cNvCxnSpPr>
            <a:stCxn id="1008" idx="3"/>
            <a:endCxn id="1010" idx="1"/>
          </p:cNvCxnSpPr>
          <p:nvPr/>
        </p:nvCxnSpPr>
        <p:spPr>
          <a:xfrm>
            <a:off x="246897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0" name="Google Shape;1010;p46"/>
          <p:cNvSpPr/>
          <p:nvPr/>
        </p:nvSpPr>
        <p:spPr>
          <a:xfrm>
            <a:off x="319792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421187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2" name="Google Shape;1012;p46"/>
          <p:cNvCxnSpPr>
            <a:stCxn id="1010" idx="3"/>
            <a:endCxn id="1011" idx="1"/>
          </p:cNvCxnSpPr>
          <p:nvPr/>
        </p:nvCxnSpPr>
        <p:spPr>
          <a:xfrm>
            <a:off x="348292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3" name="Google Shape;1013;p46"/>
          <p:cNvSpPr/>
          <p:nvPr/>
        </p:nvSpPr>
        <p:spPr>
          <a:xfrm>
            <a:off x="218397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46"/>
          <p:cNvCxnSpPr>
            <a:stCxn id="1013" idx="3"/>
            <a:endCxn id="1015" idx="1"/>
          </p:cNvCxnSpPr>
          <p:nvPr/>
        </p:nvCxnSpPr>
        <p:spPr>
          <a:xfrm>
            <a:off x="246897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5" name="Google Shape;1015;p46"/>
          <p:cNvSpPr/>
          <p:nvPr/>
        </p:nvSpPr>
        <p:spPr>
          <a:xfrm>
            <a:off x="319792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46"/>
          <p:cNvSpPr/>
          <p:nvPr/>
        </p:nvSpPr>
        <p:spPr>
          <a:xfrm>
            <a:off x="421187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46"/>
          <p:cNvCxnSpPr>
            <a:stCxn id="1015" idx="3"/>
            <a:endCxn id="1016" idx="1"/>
          </p:cNvCxnSpPr>
          <p:nvPr/>
        </p:nvCxnSpPr>
        <p:spPr>
          <a:xfrm>
            <a:off x="348292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8" name="Google Shape;1018;p46"/>
          <p:cNvSpPr/>
          <p:nvPr/>
        </p:nvSpPr>
        <p:spPr>
          <a:xfrm>
            <a:off x="522582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522582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0" name="Google Shape;1020;p46"/>
          <p:cNvCxnSpPr>
            <a:stCxn id="1011" idx="3"/>
            <a:endCxn id="1018" idx="1"/>
          </p:cNvCxnSpPr>
          <p:nvPr/>
        </p:nvCxnSpPr>
        <p:spPr>
          <a:xfrm>
            <a:off x="449687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1" name="Google Shape;1021;p46"/>
          <p:cNvCxnSpPr>
            <a:stCxn id="1016" idx="3"/>
            <a:endCxn id="1019" idx="1"/>
          </p:cNvCxnSpPr>
          <p:nvPr/>
        </p:nvCxnSpPr>
        <p:spPr>
          <a:xfrm>
            <a:off x="449687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2" name="Google Shape;1022;p46"/>
          <p:cNvCxnSpPr>
            <a:stCxn id="1008" idx="2"/>
            <a:endCxn id="1013" idx="0"/>
          </p:cNvCxnSpPr>
          <p:nvPr/>
        </p:nvCxnSpPr>
        <p:spPr>
          <a:xfrm>
            <a:off x="2326478" y="26255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3" name="Google Shape;1023;p46"/>
          <p:cNvSpPr/>
          <p:nvPr/>
        </p:nvSpPr>
        <p:spPr>
          <a:xfrm>
            <a:off x="623977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46"/>
          <p:cNvSpPr/>
          <p:nvPr/>
        </p:nvSpPr>
        <p:spPr>
          <a:xfrm>
            <a:off x="623977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5" name="Google Shape;1025;p46"/>
          <p:cNvCxnSpPr>
            <a:stCxn id="1018" idx="3"/>
            <a:endCxn id="1023" idx="1"/>
          </p:cNvCxnSpPr>
          <p:nvPr/>
        </p:nvCxnSpPr>
        <p:spPr>
          <a:xfrm>
            <a:off x="551082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46"/>
          <p:cNvCxnSpPr>
            <a:stCxn id="1019" idx="3"/>
            <a:endCxn id="1024" idx="1"/>
          </p:cNvCxnSpPr>
          <p:nvPr/>
        </p:nvCxnSpPr>
        <p:spPr>
          <a:xfrm>
            <a:off x="551082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7" name="Google Shape;1027;p46"/>
          <p:cNvSpPr/>
          <p:nvPr/>
        </p:nvSpPr>
        <p:spPr>
          <a:xfrm>
            <a:off x="2432525" y="2728325"/>
            <a:ext cx="3955900" cy="712550"/>
          </a:xfrm>
          <a:custGeom>
            <a:avLst/>
            <a:gdLst/>
            <a:ahLst/>
            <a:cxnLst/>
            <a:rect l="l" t="t" r="r" b="b"/>
            <a:pathLst>
              <a:path w="158236" h="28502" extrusionOk="0">
                <a:moveTo>
                  <a:pt x="158236" y="0"/>
                </a:moveTo>
                <a:lnTo>
                  <a:pt x="0" y="0"/>
                </a:lnTo>
                <a:lnTo>
                  <a:pt x="0" y="28502"/>
                </a:lnTo>
                <a:lnTo>
                  <a:pt x="157581" y="28502"/>
                </a:ln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Google Shape;1028;p46"/>
          <p:cNvSpPr txBox="1"/>
          <p:nvPr/>
        </p:nvSpPr>
        <p:spPr>
          <a:xfrm>
            <a:off x="1915925" y="2015774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46"/>
          <p:cNvSpPr txBox="1"/>
          <p:nvPr/>
        </p:nvSpPr>
        <p:spPr>
          <a:xfrm>
            <a:off x="1915925" y="3879822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4FE9FB-C6AD-2E9E-1CF9-444F87CB29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38" y="1230125"/>
            <a:ext cx="7036124" cy="391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7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Adding a second link between AT&amp;T and Verizon creates shorter routes.</a:t>
            </a:r>
            <a:endParaRPr/>
          </a:p>
        </p:txBody>
      </p:sp>
      <p:sp>
        <p:nvSpPr>
          <p:cNvPr id="1036" name="Google Shape;1036;p47"/>
          <p:cNvSpPr/>
          <p:nvPr/>
        </p:nvSpPr>
        <p:spPr>
          <a:xfrm>
            <a:off x="1916013" y="3264026"/>
            <a:ext cx="4958700" cy="925200"/>
          </a:xfrm>
          <a:prstGeom prst="ellipse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38" name="Google Shape;1038;p47"/>
          <p:cNvSpPr/>
          <p:nvPr/>
        </p:nvSpPr>
        <p:spPr>
          <a:xfrm>
            <a:off x="1916013" y="1987075"/>
            <a:ext cx="4958700" cy="925200"/>
          </a:xfrm>
          <a:prstGeom prst="ellipse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218397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0" name="Google Shape;1040;p47"/>
          <p:cNvCxnSpPr>
            <a:stCxn id="1039" idx="3"/>
            <a:endCxn id="1041" idx="1"/>
          </p:cNvCxnSpPr>
          <p:nvPr/>
        </p:nvCxnSpPr>
        <p:spPr>
          <a:xfrm>
            <a:off x="246897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1" name="Google Shape;1041;p47"/>
          <p:cNvSpPr/>
          <p:nvPr/>
        </p:nvSpPr>
        <p:spPr>
          <a:xfrm>
            <a:off x="319792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421187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3" name="Google Shape;1043;p47"/>
          <p:cNvCxnSpPr>
            <a:stCxn id="1041" idx="3"/>
            <a:endCxn id="1042" idx="1"/>
          </p:cNvCxnSpPr>
          <p:nvPr/>
        </p:nvCxnSpPr>
        <p:spPr>
          <a:xfrm>
            <a:off x="348292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4" name="Google Shape;1044;p47"/>
          <p:cNvSpPr/>
          <p:nvPr/>
        </p:nvSpPr>
        <p:spPr>
          <a:xfrm>
            <a:off x="218397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5" name="Google Shape;1045;p47"/>
          <p:cNvCxnSpPr>
            <a:stCxn id="1044" idx="3"/>
            <a:endCxn id="1046" idx="1"/>
          </p:cNvCxnSpPr>
          <p:nvPr/>
        </p:nvCxnSpPr>
        <p:spPr>
          <a:xfrm>
            <a:off x="246897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6" name="Google Shape;1046;p47"/>
          <p:cNvSpPr/>
          <p:nvPr/>
        </p:nvSpPr>
        <p:spPr>
          <a:xfrm>
            <a:off x="319792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47"/>
          <p:cNvSpPr/>
          <p:nvPr/>
        </p:nvSpPr>
        <p:spPr>
          <a:xfrm>
            <a:off x="421187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47"/>
          <p:cNvCxnSpPr>
            <a:stCxn id="1046" idx="3"/>
            <a:endCxn id="1047" idx="1"/>
          </p:cNvCxnSpPr>
          <p:nvPr/>
        </p:nvCxnSpPr>
        <p:spPr>
          <a:xfrm>
            <a:off x="348292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9" name="Google Shape;1049;p47"/>
          <p:cNvSpPr/>
          <p:nvPr/>
        </p:nvSpPr>
        <p:spPr>
          <a:xfrm>
            <a:off x="522582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47"/>
          <p:cNvSpPr/>
          <p:nvPr/>
        </p:nvSpPr>
        <p:spPr>
          <a:xfrm>
            <a:off x="522582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47"/>
          <p:cNvCxnSpPr>
            <a:stCxn id="1042" idx="3"/>
            <a:endCxn id="1049" idx="1"/>
          </p:cNvCxnSpPr>
          <p:nvPr/>
        </p:nvCxnSpPr>
        <p:spPr>
          <a:xfrm>
            <a:off x="449687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2" name="Google Shape;1052;p47"/>
          <p:cNvCxnSpPr>
            <a:stCxn id="1047" idx="3"/>
            <a:endCxn id="1050" idx="1"/>
          </p:cNvCxnSpPr>
          <p:nvPr/>
        </p:nvCxnSpPr>
        <p:spPr>
          <a:xfrm>
            <a:off x="449687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3" name="Google Shape;1053;p47"/>
          <p:cNvCxnSpPr>
            <a:stCxn id="1039" idx="2"/>
            <a:endCxn id="1044" idx="0"/>
          </p:cNvCxnSpPr>
          <p:nvPr/>
        </p:nvCxnSpPr>
        <p:spPr>
          <a:xfrm>
            <a:off x="2326478" y="26255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4" name="Google Shape;1054;p47"/>
          <p:cNvSpPr/>
          <p:nvPr/>
        </p:nvSpPr>
        <p:spPr>
          <a:xfrm>
            <a:off x="6239778" y="23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47"/>
          <p:cNvSpPr/>
          <p:nvPr/>
        </p:nvSpPr>
        <p:spPr>
          <a:xfrm>
            <a:off x="6239778" y="3559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6" name="Google Shape;1056;p47"/>
          <p:cNvCxnSpPr>
            <a:stCxn id="1049" idx="3"/>
            <a:endCxn id="1054" idx="1"/>
          </p:cNvCxnSpPr>
          <p:nvPr/>
        </p:nvCxnSpPr>
        <p:spPr>
          <a:xfrm>
            <a:off x="5510828" y="24830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7" name="Google Shape;1057;p47"/>
          <p:cNvCxnSpPr>
            <a:stCxn id="1050" idx="3"/>
            <a:endCxn id="1055" idx="1"/>
          </p:cNvCxnSpPr>
          <p:nvPr/>
        </p:nvCxnSpPr>
        <p:spPr>
          <a:xfrm>
            <a:off x="5510828" y="3702275"/>
            <a:ext cx="729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8" name="Google Shape;1058;p47"/>
          <p:cNvSpPr txBox="1"/>
          <p:nvPr/>
        </p:nvSpPr>
        <p:spPr>
          <a:xfrm>
            <a:off x="1915925" y="2015774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47"/>
          <p:cNvSpPr txBox="1"/>
          <p:nvPr/>
        </p:nvSpPr>
        <p:spPr>
          <a:xfrm>
            <a:off x="1915925" y="3879822"/>
            <a:ext cx="4958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0" name="Google Shape;1060;p47"/>
          <p:cNvCxnSpPr>
            <a:stCxn id="1054" idx="2"/>
            <a:endCxn id="1055" idx="0"/>
          </p:cNvCxnSpPr>
          <p:nvPr/>
        </p:nvCxnSpPr>
        <p:spPr>
          <a:xfrm>
            <a:off x="6382278" y="26255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1" name="Google Shape;1061;p47"/>
          <p:cNvCxnSpPr/>
          <p:nvPr/>
        </p:nvCxnSpPr>
        <p:spPr>
          <a:xfrm>
            <a:off x="6240928" y="2711918"/>
            <a:ext cx="0" cy="779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E29AC-065D-AD09-808F-D9846D32C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8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48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4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can be multiple paths between the same two ASes.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AS graph perspective, both routes are identical.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you're AT&amp;T, which route do you prefer?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Gao-Rexford rules won't help – the next AS is Verizon in both routes.</a:t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Links Between ASes</a:t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3" name="Google Shape;1073;p48"/>
          <p:cNvCxnSpPr>
            <a:stCxn id="1071" idx="3"/>
            <a:endCxn id="107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4" name="Google Shape;1074;p48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5" name="Google Shape;1075;p48"/>
          <p:cNvCxnSpPr>
            <a:stCxn id="1074" idx="3"/>
            <a:endCxn id="107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6" name="Google Shape;1076;p48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48"/>
          <p:cNvCxnSpPr>
            <a:stCxn id="1076" idx="3"/>
            <a:endCxn id="107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9" name="Google Shape;1079;p48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48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48"/>
          <p:cNvCxnSpPr>
            <a:stCxn id="1072" idx="3"/>
            <a:endCxn id="107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2" name="Google Shape;1082;p48"/>
          <p:cNvCxnSpPr>
            <a:stCxn id="1077" idx="3"/>
            <a:endCxn id="108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3" name="Google Shape;1083;p48"/>
          <p:cNvCxnSpPr>
            <a:stCxn id="1071" idx="2"/>
            <a:endCxn id="1076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4" name="Google Shape;1084;p48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48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48"/>
          <p:cNvCxnSpPr>
            <a:stCxn id="1079" idx="3"/>
            <a:endCxn id="1084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7" name="Google Shape;1087;p48"/>
          <p:cNvCxnSpPr>
            <a:stCxn id="1080" idx="3"/>
            <a:endCxn id="1085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8" name="Google Shape;1088;p48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9" name="Google Shape;1089;p48"/>
          <p:cNvCxnSpPr>
            <a:stCxn id="1084" idx="2"/>
            <a:endCxn id="1085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0" name="Google Shape;1090;p48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48"/>
          <p:cNvCxnSpPr>
            <a:stCxn id="1090" idx="6"/>
            <a:endCxn id="1074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48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3" name="Google Shape;1093;p48"/>
          <p:cNvCxnSpPr>
            <a:stCxn id="1084" idx="3"/>
            <a:endCxn id="1092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4" name="Google Shape;1094;p48"/>
          <p:cNvSpPr/>
          <p:nvPr/>
        </p:nvSpPr>
        <p:spPr>
          <a:xfrm>
            <a:off x="1962925" y="3101750"/>
            <a:ext cx="4942350" cy="1226400"/>
          </a:xfrm>
          <a:custGeom>
            <a:avLst/>
            <a:gdLst/>
            <a:ahLst/>
            <a:cxnLst/>
            <a:rect l="l" t="t" r="r" b="b"/>
            <a:pathLst>
              <a:path w="197694" h="49056" extrusionOk="0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Google Shape;1095;p48"/>
          <p:cNvSpPr/>
          <p:nvPr/>
        </p:nvSpPr>
        <p:spPr>
          <a:xfrm>
            <a:off x="1967875" y="2923650"/>
            <a:ext cx="4913775" cy="1222325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15AE16-8007-2161-1846-C2185F7C11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All else equal, an AS prefers the route that uses </a:t>
            </a:r>
            <a:r>
              <a:rPr lang="en" dirty="0">
                <a:solidFill>
                  <a:srgbClr val="C00000"/>
                </a:solidFill>
              </a:rPr>
              <a:t>the least of its own resources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AT&amp;T prefers the gold path, where the packet mostly travels on Verizon's AS.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Hot potato routing</a:t>
            </a:r>
            <a:r>
              <a:rPr lang="en" dirty="0"/>
              <a:t>: Get rid of the packet ASAP, and make someone else carry it the rest of the way.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As AS prefers </a:t>
            </a:r>
            <a:r>
              <a:rPr lang="en" dirty="0">
                <a:solidFill>
                  <a:srgbClr val="C00000"/>
                </a:solidFill>
              </a:rPr>
              <a:t>the nearest egress router </a:t>
            </a:r>
            <a:r>
              <a:rPr lang="en" dirty="0"/>
              <a:t>(if there are multiple).</a:t>
            </a:r>
            <a:endParaRPr dirty="0"/>
          </a:p>
        </p:txBody>
      </p:sp>
      <p:sp>
        <p:nvSpPr>
          <p:cNvPr id="1101" name="Google Shape;1101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</a:t>
            </a:r>
            <a:endParaRPr/>
          </a:p>
        </p:txBody>
      </p:sp>
      <p:sp>
        <p:nvSpPr>
          <p:cNvPr id="1102" name="Google Shape;1102;p49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49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49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7" name="Google Shape;1107;p49"/>
          <p:cNvCxnSpPr>
            <a:stCxn id="1105" idx="3"/>
            <a:endCxn id="1106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8" name="Google Shape;1108;p49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9" name="Google Shape;1109;p49"/>
          <p:cNvCxnSpPr>
            <a:stCxn id="1108" idx="3"/>
            <a:endCxn id="1110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0" name="Google Shape;1110;p49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49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49"/>
          <p:cNvCxnSpPr>
            <a:stCxn id="1110" idx="3"/>
            <a:endCxn id="1111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3" name="Google Shape;1113;p49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49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49"/>
          <p:cNvCxnSpPr>
            <a:stCxn id="1106" idx="3"/>
            <a:endCxn id="1113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6" name="Google Shape;1116;p49"/>
          <p:cNvCxnSpPr>
            <a:stCxn id="1111" idx="3"/>
            <a:endCxn id="1114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7" name="Google Shape;1117;p49"/>
          <p:cNvCxnSpPr>
            <a:stCxn id="1105" idx="2"/>
            <a:endCxn id="1110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8" name="Google Shape;1118;p49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0" name="Google Shape;1120;p49"/>
          <p:cNvCxnSpPr>
            <a:stCxn id="1113" idx="3"/>
            <a:endCxn id="1118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1" name="Google Shape;1121;p49"/>
          <p:cNvCxnSpPr>
            <a:stCxn id="1114" idx="3"/>
            <a:endCxn id="1119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2" name="Google Shape;1122;p49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3" name="Google Shape;1123;p49"/>
          <p:cNvCxnSpPr>
            <a:stCxn id="1118" idx="2"/>
            <a:endCxn id="1119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4" name="Google Shape;1124;p49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49"/>
          <p:cNvCxnSpPr>
            <a:stCxn id="1124" idx="6"/>
            <a:endCxn id="1108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6" name="Google Shape;1126;p49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7" name="Google Shape;1127;p49"/>
          <p:cNvCxnSpPr>
            <a:stCxn id="1118" idx="3"/>
            <a:endCxn id="1126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8" name="Google Shape;1128;p49"/>
          <p:cNvSpPr/>
          <p:nvPr/>
        </p:nvSpPr>
        <p:spPr>
          <a:xfrm>
            <a:off x="1962925" y="3101750"/>
            <a:ext cx="4942350" cy="1226400"/>
          </a:xfrm>
          <a:custGeom>
            <a:avLst/>
            <a:gdLst/>
            <a:ahLst/>
            <a:cxnLst/>
            <a:rect l="l" t="t" r="r" b="b"/>
            <a:pathLst>
              <a:path w="197694" h="49056" extrusionOk="0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9" name="Google Shape;1129;p49"/>
          <p:cNvSpPr/>
          <p:nvPr/>
        </p:nvSpPr>
        <p:spPr>
          <a:xfrm>
            <a:off x="1967875" y="2923650"/>
            <a:ext cx="4913775" cy="1222325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D65B0A-D885-A95B-BDA4-7CCE0321A4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All else equal, an AS prefers the route that uses </a:t>
            </a:r>
            <a:r>
              <a:rPr lang="en" dirty="0">
                <a:solidFill>
                  <a:srgbClr val="C00000"/>
                </a:solidFill>
              </a:rPr>
              <a:t>the least of its own resources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AT&amp;T prefers the gold path, where the packet mostly travels on Verizon's AS.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Hot potato routing</a:t>
            </a:r>
            <a:r>
              <a:rPr lang="en" dirty="0"/>
              <a:t>: Get rid of the packet ASAP, and make someone else carry it the rest of the way.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As AS prefers </a:t>
            </a:r>
            <a:r>
              <a:rPr lang="en" dirty="0">
                <a:solidFill>
                  <a:srgbClr val="C00000"/>
                </a:solidFill>
              </a:rPr>
              <a:t>the nearest egress router </a:t>
            </a:r>
            <a:r>
              <a:rPr lang="en" dirty="0"/>
              <a:t>(if there are multiple).</a:t>
            </a:r>
            <a:endParaRPr dirty="0"/>
          </a:p>
        </p:txBody>
      </p:sp>
      <p:sp>
        <p:nvSpPr>
          <p:cNvPr id="1135" name="Google Shape;113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136" name="Google Shape;1136;p50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50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50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50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50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50"/>
          <p:cNvCxnSpPr>
            <a:stCxn id="1139" idx="3"/>
            <a:endCxn id="1140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2" name="Google Shape;1142;p50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3" name="Google Shape;1143;p50"/>
          <p:cNvCxnSpPr>
            <a:stCxn id="1142" idx="3"/>
            <a:endCxn id="1144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4" name="Google Shape;1144;p50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50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6" name="Google Shape;1146;p50"/>
          <p:cNvCxnSpPr>
            <a:stCxn id="1144" idx="3"/>
            <a:endCxn id="1145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7" name="Google Shape;1147;p50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50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9" name="Google Shape;1149;p50"/>
          <p:cNvCxnSpPr>
            <a:stCxn id="1140" idx="3"/>
            <a:endCxn id="1147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50"/>
          <p:cNvCxnSpPr>
            <a:stCxn id="1145" idx="3"/>
            <a:endCxn id="1148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50"/>
          <p:cNvCxnSpPr>
            <a:stCxn id="1139" idx="2"/>
            <a:endCxn id="1144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2" name="Google Shape;1152;p50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50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4" name="Google Shape;1154;p50"/>
          <p:cNvCxnSpPr>
            <a:stCxn id="1147" idx="3"/>
            <a:endCxn id="1152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5" name="Google Shape;1155;p50"/>
          <p:cNvCxnSpPr>
            <a:stCxn id="1148" idx="3"/>
            <a:endCxn id="1153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6" name="Google Shape;1156;p50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50"/>
          <p:cNvCxnSpPr>
            <a:stCxn id="1152" idx="2"/>
            <a:endCxn id="1153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8" name="Google Shape;1158;p50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9" name="Google Shape;1159;p50"/>
          <p:cNvCxnSpPr>
            <a:stCxn id="1158" idx="6"/>
            <a:endCxn id="1142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0" name="Google Shape;1160;p50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1" name="Google Shape;1161;p50"/>
          <p:cNvCxnSpPr>
            <a:stCxn id="1152" idx="3"/>
            <a:endCxn id="1160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2" name="Google Shape;1162;p50"/>
          <p:cNvSpPr/>
          <p:nvPr/>
        </p:nvSpPr>
        <p:spPr>
          <a:xfrm>
            <a:off x="1563250" y="3110488"/>
            <a:ext cx="1611900" cy="333600"/>
          </a:xfrm>
          <a:prstGeom prst="wedgeRoundRectCallout">
            <a:avLst>
              <a:gd name="adj1" fmla="val 62361"/>
              <a:gd name="adj2" fmla="val -5898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50"/>
          <p:cNvSpPr/>
          <p:nvPr/>
        </p:nvSpPr>
        <p:spPr>
          <a:xfrm>
            <a:off x="6687025" y="3237250"/>
            <a:ext cx="1611900" cy="333600"/>
          </a:xfrm>
          <a:prstGeom prst="wedgeRoundRectCallout">
            <a:avLst>
              <a:gd name="adj1" fmla="val -63054"/>
              <a:gd name="adj2" fmla="val -5925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E948FA-F275-0B47-3CDF-F9DF2D321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1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51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51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51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51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3" name="Google Shape;1173;p51"/>
          <p:cNvCxnSpPr>
            <a:stCxn id="1171" idx="3"/>
            <a:endCxn id="117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4" name="Google Shape;1174;p51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5" name="Google Shape;1175;p51"/>
          <p:cNvCxnSpPr>
            <a:stCxn id="1174" idx="3"/>
            <a:endCxn id="117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6" name="Google Shape;1176;p51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51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51"/>
          <p:cNvCxnSpPr>
            <a:stCxn id="1176" idx="3"/>
            <a:endCxn id="117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9" name="Google Shape;1179;p51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51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1" name="Google Shape;1181;p51"/>
          <p:cNvCxnSpPr>
            <a:stCxn id="1172" idx="3"/>
            <a:endCxn id="117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51"/>
          <p:cNvCxnSpPr>
            <a:stCxn id="1177" idx="3"/>
            <a:endCxn id="118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51"/>
          <p:cNvCxnSpPr>
            <a:stCxn id="1171" idx="2"/>
            <a:endCxn id="1176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51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5" name="Google Shape;1185;p51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6" name="Google Shape;1186;p51"/>
          <p:cNvCxnSpPr>
            <a:stCxn id="1179" idx="3"/>
            <a:endCxn id="1184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7" name="Google Shape;1187;p51"/>
          <p:cNvCxnSpPr>
            <a:stCxn id="1180" idx="3"/>
            <a:endCxn id="1185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8" name="Google Shape;1188;p51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9" name="Google Shape;1189;p51"/>
          <p:cNvCxnSpPr>
            <a:stCxn id="1184" idx="2"/>
            <a:endCxn id="1185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0" name="Google Shape;1190;p51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51"/>
          <p:cNvCxnSpPr>
            <a:stCxn id="1190" idx="6"/>
            <a:endCxn id="1174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2" name="Google Shape;1192;p51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3" name="Google Shape;1193;p51"/>
          <p:cNvCxnSpPr>
            <a:stCxn id="1184" idx="3"/>
            <a:endCxn id="1192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4" name="Google Shape;1194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195" name="Google Shape;1195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196" name="Google Shape;1196;p51"/>
          <p:cNvSpPr/>
          <p:nvPr/>
        </p:nvSpPr>
        <p:spPr>
          <a:xfrm>
            <a:off x="2102175" y="4551300"/>
            <a:ext cx="1611900" cy="433500"/>
          </a:xfrm>
          <a:prstGeom prst="wedgeRoundRectCallout">
            <a:avLst>
              <a:gd name="adj1" fmla="val 41529"/>
              <a:gd name="adj2" fmla="val -75640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51"/>
          <p:cNvSpPr/>
          <p:nvPr/>
        </p:nvSpPr>
        <p:spPr>
          <a:xfrm>
            <a:off x="6349950" y="4551300"/>
            <a:ext cx="1611900" cy="433500"/>
          </a:xfrm>
          <a:prstGeom prst="wedgeRoundRectCallout">
            <a:avLst>
              <a:gd name="adj1" fmla="val -47072"/>
              <a:gd name="adj2" fmla="val -76897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F840E-D9B0-BA03-A8D1-F7DC7EC12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prefers the gold path, where the packet mostly travels on Verizon's AS.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Hot potato routing</a:t>
            </a:r>
            <a:r>
              <a:rPr lang="en"/>
              <a:t>: Get rid of the packet ASAP, and make someone else carry it the rest of the way.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AS prefers the nearest egress router (if there are multiple).</a:t>
            </a:r>
            <a:endParaRPr/>
          </a:p>
        </p:txBody>
      </p:sp>
      <p:sp>
        <p:nvSpPr>
          <p:cNvPr id="1203" name="Google Shape;1203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Hot Potato Routing</a:t>
            </a:r>
            <a:endParaRPr/>
          </a:p>
        </p:txBody>
      </p:sp>
      <p:sp>
        <p:nvSpPr>
          <p:cNvPr id="1204" name="Google Shape;1204;p52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2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2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2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52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9" name="Google Shape;1209;p52"/>
          <p:cNvCxnSpPr>
            <a:stCxn id="1207" idx="3"/>
            <a:endCxn id="120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0" name="Google Shape;1210;p52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1" name="Google Shape;1211;p52"/>
          <p:cNvCxnSpPr>
            <a:stCxn id="1210" idx="3"/>
            <a:endCxn id="121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2" name="Google Shape;1212;p52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52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4" name="Google Shape;1214;p52"/>
          <p:cNvCxnSpPr>
            <a:stCxn id="1212" idx="3"/>
            <a:endCxn id="121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5" name="Google Shape;1215;p52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52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7" name="Google Shape;1217;p52"/>
          <p:cNvCxnSpPr>
            <a:stCxn id="1208" idx="3"/>
            <a:endCxn id="121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Google Shape;1218;p52"/>
          <p:cNvCxnSpPr>
            <a:stCxn id="1213" idx="3"/>
            <a:endCxn id="121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52"/>
          <p:cNvCxnSpPr>
            <a:stCxn id="1207" idx="2"/>
            <a:endCxn id="1212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0" name="Google Shape;1220;p52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52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2" name="Google Shape;1222;p52"/>
          <p:cNvCxnSpPr>
            <a:stCxn id="1215" idx="3"/>
            <a:endCxn id="122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52"/>
          <p:cNvCxnSpPr>
            <a:stCxn id="1216" idx="3"/>
            <a:endCxn id="122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Google Shape;1224;p52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5" name="Google Shape;1225;p52"/>
          <p:cNvCxnSpPr>
            <a:stCxn id="1220" idx="2"/>
            <a:endCxn id="122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6" name="Google Shape;1226;p52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52"/>
          <p:cNvCxnSpPr>
            <a:stCxn id="1226" idx="6"/>
            <a:endCxn id="1210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52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52"/>
          <p:cNvCxnSpPr>
            <a:stCxn id="1220" idx="3"/>
            <a:endCxn id="1228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0" name="Google Shape;1230;p52"/>
          <p:cNvSpPr/>
          <p:nvPr/>
        </p:nvSpPr>
        <p:spPr>
          <a:xfrm>
            <a:off x="2199000" y="4551300"/>
            <a:ext cx="3542400" cy="433500"/>
          </a:xfrm>
          <a:prstGeom prst="wedgeRoundRectCallout">
            <a:avLst>
              <a:gd name="adj1" fmla="val -37641"/>
              <a:gd name="adj2" fmla="val -75652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and F can both reach Y using the same AS path.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I'll use F to exit since it's closer.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52"/>
          <p:cNvSpPr/>
          <p:nvPr/>
        </p:nvSpPr>
        <p:spPr>
          <a:xfrm>
            <a:off x="1967875" y="2923650"/>
            <a:ext cx="4913775" cy="1222325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56C1A-521E-788D-24F3-AC4A63386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3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53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two egress routers are equally close?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AT&amp;T is indifferent between the paths.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you're Verizon, which route do you prefer?</a:t>
            </a:r>
            <a:endParaRPr/>
          </a:p>
        </p:txBody>
      </p:sp>
      <p:sp>
        <p:nvSpPr>
          <p:cNvPr id="1239" name="Google Shape;1239;p53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Links Between ASes</a:t>
            </a:r>
            <a:endParaRPr/>
          </a:p>
        </p:txBody>
      </p:sp>
      <p:sp>
        <p:nvSpPr>
          <p:cNvPr id="1241" name="Google Shape;1241;p53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53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3" name="Google Shape;1243;p53"/>
          <p:cNvCxnSpPr>
            <a:stCxn id="1241" idx="3"/>
            <a:endCxn id="1242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4" name="Google Shape;1244;p53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53"/>
          <p:cNvCxnSpPr>
            <a:stCxn id="1244" idx="3"/>
            <a:endCxn id="1246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6" name="Google Shape;1246;p53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53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8" name="Google Shape;1248;p53"/>
          <p:cNvCxnSpPr>
            <a:stCxn id="1246" idx="3"/>
            <a:endCxn id="1247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9" name="Google Shape;1249;p53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53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53"/>
          <p:cNvCxnSpPr>
            <a:stCxn id="1242" idx="3"/>
            <a:endCxn id="1249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53"/>
          <p:cNvCxnSpPr>
            <a:stCxn id="1247" idx="3"/>
            <a:endCxn id="1250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3" name="Google Shape;1253;p53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53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5" name="Google Shape;1255;p53"/>
          <p:cNvCxnSpPr>
            <a:stCxn id="1249" idx="3"/>
            <a:endCxn id="1253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6" name="Google Shape;1256;p53"/>
          <p:cNvCxnSpPr>
            <a:stCxn id="1250" idx="3"/>
            <a:endCxn id="1254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7" name="Google Shape;1257;p53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53"/>
          <p:cNvCxnSpPr>
            <a:stCxn id="1253" idx="2"/>
            <a:endCxn id="1254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9" name="Google Shape;1259;p53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0" name="Google Shape;1260;p53"/>
          <p:cNvCxnSpPr>
            <a:stCxn id="1259" idx="0"/>
            <a:endCxn id="1247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1" name="Google Shape;1261;p53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2" name="Google Shape;1262;p53"/>
          <p:cNvCxnSpPr>
            <a:stCxn id="1253" idx="3"/>
            <a:endCxn id="1261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3" name="Google Shape;1263;p53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4" name="Google Shape;1264;p53"/>
          <p:cNvCxnSpPr>
            <a:stCxn id="1263" idx="3"/>
            <a:endCxn id="1241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5" name="Google Shape;1265;p53"/>
          <p:cNvCxnSpPr>
            <a:stCxn id="1263" idx="2"/>
            <a:endCxn id="1244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6" name="Google Shape;1266;p53"/>
          <p:cNvSpPr/>
          <p:nvPr/>
        </p:nvSpPr>
        <p:spPr>
          <a:xfrm>
            <a:off x="2530725" y="2918275"/>
            <a:ext cx="4365975" cy="1402175"/>
          </a:xfrm>
          <a:custGeom>
            <a:avLst/>
            <a:gdLst/>
            <a:ahLst/>
            <a:cxnLst/>
            <a:rect l="l" t="t" r="r" b="b"/>
            <a:pathLst>
              <a:path w="174639" h="56087" extrusionOk="0">
                <a:moveTo>
                  <a:pt x="75873" y="56087"/>
                </a:moveTo>
                <a:lnTo>
                  <a:pt x="0" y="56087"/>
                </a:lnTo>
                <a:lnTo>
                  <a:pt x="0" y="0"/>
                </a:lnTo>
                <a:lnTo>
                  <a:pt x="174639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67" name="Google Shape;1267;p53"/>
          <p:cNvSpPr/>
          <p:nvPr/>
        </p:nvSpPr>
        <p:spPr>
          <a:xfrm>
            <a:off x="4595175" y="3085875"/>
            <a:ext cx="2268825" cy="1238691"/>
          </a:xfrm>
          <a:custGeom>
            <a:avLst/>
            <a:gdLst/>
            <a:ahLst/>
            <a:cxnLst/>
            <a:rect l="l" t="t" r="r" b="b"/>
            <a:pathLst>
              <a:path w="90753" h="48729" extrusionOk="0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DE5F4E-BE57-FE4D-6E0C-05159C8255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4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54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5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lang="en" b="1"/>
              <a:t>Multi-Exit Discriminator (MED)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275" name="Google Shape;1275;p54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277" name="Google Shape;1277;p54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54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9" name="Google Shape;1279;p54"/>
          <p:cNvCxnSpPr>
            <a:stCxn id="1277" idx="3"/>
            <a:endCxn id="127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0" name="Google Shape;1280;p54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54"/>
          <p:cNvCxnSpPr>
            <a:stCxn id="1280" idx="3"/>
            <a:endCxn id="128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2" name="Google Shape;1282;p54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54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4" name="Google Shape;1284;p54"/>
          <p:cNvCxnSpPr>
            <a:stCxn id="1282" idx="3"/>
            <a:endCxn id="128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5" name="Google Shape;1285;p54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54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7" name="Google Shape;1287;p54"/>
          <p:cNvCxnSpPr>
            <a:stCxn id="1278" idx="3"/>
            <a:endCxn id="128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8" name="Google Shape;1288;p54"/>
          <p:cNvCxnSpPr>
            <a:stCxn id="1283" idx="3"/>
            <a:endCxn id="128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54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54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54"/>
          <p:cNvCxnSpPr>
            <a:stCxn id="1285" idx="3"/>
            <a:endCxn id="1289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54"/>
          <p:cNvCxnSpPr>
            <a:stCxn id="1286" idx="3"/>
            <a:endCxn id="1290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3" name="Google Shape;1293;p54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4" name="Google Shape;1294;p54"/>
          <p:cNvCxnSpPr>
            <a:stCxn id="1289" idx="2"/>
            <a:endCxn id="1290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5" name="Google Shape;1295;p54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6" name="Google Shape;1296;p54"/>
          <p:cNvCxnSpPr>
            <a:stCxn id="1295" idx="0"/>
            <a:endCxn id="1283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7" name="Google Shape;1297;p54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8" name="Google Shape;1298;p54"/>
          <p:cNvCxnSpPr>
            <a:stCxn id="1289" idx="3"/>
            <a:endCxn id="1297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9" name="Google Shape;1299;p54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0" name="Google Shape;1300;p54"/>
          <p:cNvCxnSpPr>
            <a:stCxn id="1299" idx="3"/>
            <a:endCxn id="1277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1" name="Google Shape;1301;p54"/>
          <p:cNvCxnSpPr>
            <a:stCxn id="1299" idx="2"/>
            <a:endCxn id="1280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2" name="Google Shape;1302;p54"/>
          <p:cNvSpPr/>
          <p:nvPr/>
        </p:nvSpPr>
        <p:spPr>
          <a:xfrm>
            <a:off x="2530725" y="2918275"/>
            <a:ext cx="4365975" cy="1402175"/>
          </a:xfrm>
          <a:custGeom>
            <a:avLst/>
            <a:gdLst/>
            <a:ahLst/>
            <a:cxnLst/>
            <a:rect l="l" t="t" r="r" b="b"/>
            <a:pathLst>
              <a:path w="174639" h="56087" extrusionOk="0">
                <a:moveTo>
                  <a:pt x="75873" y="56087"/>
                </a:moveTo>
                <a:lnTo>
                  <a:pt x="0" y="56087"/>
                </a:lnTo>
                <a:lnTo>
                  <a:pt x="0" y="0"/>
                </a:lnTo>
                <a:lnTo>
                  <a:pt x="174639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03" name="Google Shape;1303;p54"/>
          <p:cNvSpPr/>
          <p:nvPr/>
        </p:nvSpPr>
        <p:spPr>
          <a:xfrm>
            <a:off x="4595175" y="3085875"/>
            <a:ext cx="2268825" cy="1238691"/>
          </a:xfrm>
          <a:custGeom>
            <a:avLst/>
            <a:gdLst/>
            <a:ahLst/>
            <a:cxnLst/>
            <a:rect l="l" t="t" r="r" b="b"/>
            <a:pathLst>
              <a:path w="90753" h="48729" extrusionOk="0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FD0BF2-2617-6D05-2FB4-87928EC40D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55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55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lang="en" b="1"/>
              <a:t>Multi-Exit Discriminator (MED)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11" name="Google Shape;1311;p55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13" name="Google Shape;1313;p55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55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5" name="Google Shape;1315;p55"/>
          <p:cNvCxnSpPr>
            <a:stCxn id="1313" idx="3"/>
            <a:endCxn id="1314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6" name="Google Shape;1316;p55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7" name="Google Shape;1317;p55"/>
          <p:cNvCxnSpPr>
            <a:stCxn id="1316" idx="3"/>
            <a:endCxn id="1318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8" name="Google Shape;1318;p55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55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55"/>
          <p:cNvCxnSpPr>
            <a:stCxn id="1318" idx="3"/>
            <a:endCxn id="1319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1" name="Google Shape;1321;p55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55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3" name="Google Shape;1323;p55"/>
          <p:cNvCxnSpPr>
            <a:stCxn id="1314" idx="3"/>
            <a:endCxn id="1321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4" name="Google Shape;1324;p55"/>
          <p:cNvCxnSpPr>
            <a:stCxn id="1319" idx="3"/>
            <a:endCxn id="1322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5" name="Google Shape;1325;p55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55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7" name="Google Shape;1327;p55"/>
          <p:cNvCxnSpPr>
            <a:stCxn id="1321" idx="3"/>
            <a:endCxn id="1325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55"/>
          <p:cNvCxnSpPr>
            <a:stCxn id="1322" idx="3"/>
            <a:endCxn id="1326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9" name="Google Shape;1329;p55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55"/>
          <p:cNvCxnSpPr>
            <a:stCxn id="1325" idx="2"/>
            <a:endCxn id="1326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1" name="Google Shape;1331;p55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55"/>
          <p:cNvCxnSpPr>
            <a:stCxn id="1331" idx="0"/>
            <a:endCxn id="1319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3" name="Google Shape;1333;p55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4" name="Google Shape;1334;p55"/>
          <p:cNvCxnSpPr>
            <a:stCxn id="1325" idx="3"/>
            <a:endCxn id="1333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5" name="Google Shape;1335;p55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55"/>
          <p:cNvCxnSpPr>
            <a:stCxn id="1335" idx="3"/>
            <a:endCxn id="1313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7" name="Google Shape;1337;p55"/>
          <p:cNvCxnSpPr>
            <a:stCxn id="1335" idx="2"/>
            <a:endCxn id="1316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8" name="Google Shape;1338;p55"/>
          <p:cNvSpPr/>
          <p:nvPr/>
        </p:nvSpPr>
        <p:spPr>
          <a:xfrm>
            <a:off x="540575" y="3110350"/>
            <a:ext cx="1668000" cy="468300"/>
          </a:xfrm>
          <a:prstGeom prst="wedgeRoundRectCallout">
            <a:avLst>
              <a:gd name="adj1" fmla="val 62361"/>
              <a:gd name="adj2" fmla="val -5898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 It's 5 away from me.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9" name="Google Shape;1339;p55"/>
          <p:cNvSpPr/>
          <p:nvPr/>
        </p:nvSpPr>
        <p:spPr>
          <a:xfrm>
            <a:off x="6656975" y="3230513"/>
            <a:ext cx="1668000" cy="468300"/>
          </a:xfrm>
          <a:prstGeom prst="wedgeRoundRectCallout">
            <a:avLst>
              <a:gd name="adj1" fmla="val -58648"/>
              <a:gd name="adj2" fmla="val -55800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[eBGP] I can reach Y. It's 1 away from me.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AA88B-16C1-A218-BAC4-7D5D12E2B8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6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56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5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lang="en" b="1"/>
              <a:t>Multi-Exit Discriminator (MED)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47" name="Google Shape;1347;p56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49" name="Google Shape;1349;p56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56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1" name="Google Shape;1351;p56"/>
          <p:cNvCxnSpPr>
            <a:stCxn id="1349" idx="3"/>
            <a:endCxn id="1350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2" name="Google Shape;1352;p56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3" name="Google Shape;1353;p56"/>
          <p:cNvCxnSpPr>
            <a:stCxn id="1352" idx="3"/>
            <a:endCxn id="1354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4" name="Google Shape;1354;p56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56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56"/>
          <p:cNvCxnSpPr>
            <a:stCxn id="1354" idx="3"/>
            <a:endCxn id="1355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7" name="Google Shape;1357;p56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56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56"/>
          <p:cNvCxnSpPr>
            <a:stCxn id="1350" idx="3"/>
            <a:endCxn id="1357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56"/>
          <p:cNvCxnSpPr>
            <a:stCxn id="1355" idx="3"/>
            <a:endCxn id="1358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1" name="Google Shape;1361;p56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6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56"/>
          <p:cNvCxnSpPr>
            <a:stCxn id="1357" idx="3"/>
            <a:endCxn id="1361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4" name="Google Shape;1364;p56"/>
          <p:cNvCxnSpPr>
            <a:stCxn id="1358" idx="3"/>
            <a:endCxn id="1362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5" name="Google Shape;1365;p56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6" name="Google Shape;1366;p56"/>
          <p:cNvCxnSpPr>
            <a:stCxn id="1361" idx="2"/>
            <a:endCxn id="1362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7" name="Google Shape;1367;p56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6"/>
          <p:cNvCxnSpPr>
            <a:stCxn id="1367" idx="0"/>
            <a:endCxn id="1355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9" name="Google Shape;1369;p56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6"/>
          <p:cNvCxnSpPr>
            <a:stCxn id="1361" idx="3"/>
            <a:endCxn id="1369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1" name="Google Shape;1371;p56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2" name="Google Shape;1372;p56"/>
          <p:cNvCxnSpPr>
            <a:stCxn id="1371" idx="3"/>
            <a:endCxn id="1349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3" name="Google Shape;1373;p56"/>
          <p:cNvCxnSpPr>
            <a:stCxn id="1371" idx="2"/>
            <a:endCxn id="1352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4" name="Google Shape;1374;p56"/>
          <p:cNvSpPr/>
          <p:nvPr/>
        </p:nvSpPr>
        <p:spPr>
          <a:xfrm>
            <a:off x="739625" y="4551300"/>
            <a:ext cx="2913300" cy="433500"/>
          </a:xfrm>
          <a:prstGeom prst="wedgeRoundRectCallout">
            <a:avLst>
              <a:gd name="adj1" fmla="val 13362"/>
              <a:gd name="adj2" fmla="val -7943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The other AS said this path has MED=5.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56"/>
          <p:cNvSpPr/>
          <p:nvPr/>
        </p:nvSpPr>
        <p:spPr>
          <a:xfrm>
            <a:off x="5749725" y="4551300"/>
            <a:ext cx="2913300" cy="433500"/>
          </a:xfrm>
          <a:prstGeom prst="wedgeRoundRectCallout">
            <a:avLst>
              <a:gd name="adj1" fmla="val -26952"/>
              <a:gd name="adj2" fmla="val -7943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[iBGP] Hi everyone, I have a path to 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The other AS said this path has MED=1.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B952-15AE-8061-FC67-CC3FF3CA90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7"/>
          <p:cNvSpPr/>
          <p:nvPr/>
        </p:nvSpPr>
        <p:spPr>
          <a:xfrm>
            <a:off x="1901975" y="24749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1" name="Google Shape;1381;p57"/>
          <p:cNvSpPr txBox="1"/>
          <p:nvPr/>
        </p:nvSpPr>
        <p:spPr>
          <a:xfrm>
            <a:off x="1901975" y="25061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5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else equal, an AS prefers the route that uses the least of its own resources.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Verizon prefers the pink path, because E is closer to the destination than 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closer border router = Verizon uses less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announcing routes, include a </a:t>
            </a:r>
            <a:r>
              <a:rPr lang="en" b="1"/>
              <a:t>Multi-Exit Discriminator (MED)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 represents distance from router to destination. Lower number is preferred.</a:t>
            </a:r>
            <a:endParaRPr/>
          </a:p>
        </p:txBody>
      </p:sp>
      <p:sp>
        <p:nvSpPr>
          <p:cNvPr id="1383" name="Google Shape;1383;p57"/>
          <p:cNvSpPr/>
          <p:nvPr/>
        </p:nvSpPr>
        <p:spPr>
          <a:xfrm>
            <a:off x="15971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4" name="Google Shape;1384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Multi-Exit Discriminator (MED)</a:t>
            </a:r>
            <a:endParaRPr/>
          </a:p>
        </p:txBody>
      </p:sp>
      <p:sp>
        <p:nvSpPr>
          <p:cNvPr id="1385" name="Google Shape;1385;p57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57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7" name="Google Shape;1387;p57"/>
          <p:cNvCxnSpPr>
            <a:stCxn id="1385" idx="3"/>
            <a:endCxn id="1386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8" name="Google Shape;1388;p57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9" name="Google Shape;1389;p57"/>
          <p:cNvCxnSpPr>
            <a:stCxn id="1388" idx="3"/>
            <a:endCxn id="1390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0" name="Google Shape;1390;p57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57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2" name="Google Shape;1392;p57"/>
          <p:cNvCxnSpPr>
            <a:stCxn id="1390" idx="3"/>
            <a:endCxn id="1391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3" name="Google Shape;1393;p57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57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5" name="Google Shape;1395;p57"/>
          <p:cNvCxnSpPr>
            <a:stCxn id="1386" idx="3"/>
            <a:endCxn id="1393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6" name="Google Shape;1396;p57"/>
          <p:cNvCxnSpPr>
            <a:stCxn id="1391" idx="3"/>
            <a:endCxn id="1394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7" name="Google Shape;1397;p57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8" name="Google Shape;1398;p57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9" name="Google Shape;1399;p57"/>
          <p:cNvCxnSpPr>
            <a:stCxn id="1393" idx="3"/>
            <a:endCxn id="1397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0" name="Google Shape;1400;p57"/>
          <p:cNvCxnSpPr>
            <a:stCxn id="1394" idx="3"/>
            <a:endCxn id="1398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1" name="Google Shape;1401;p57"/>
          <p:cNvSpPr txBox="1"/>
          <p:nvPr/>
        </p:nvSpPr>
        <p:spPr>
          <a:xfrm>
            <a:off x="15971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2" name="Google Shape;1402;p57"/>
          <p:cNvCxnSpPr>
            <a:stCxn id="1397" idx="2"/>
            <a:endCxn id="1398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3" name="Google Shape;1403;p57"/>
          <p:cNvSpPr/>
          <p:nvPr/>
        </p:nvSpPr>
        <p:spPr>
          <a:xfrm>
            <a:off x="4364263" y="45584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4" name="Google Shape;1404;p57"/>
          <p:cNvCxnSpPr>
            <a:stCxn id="1403" idx="0"/>
            <a:endCxn id="1391" idx="2"/>
          </p:cNvCxnSpPr>
          <p:nvPr/>
        </p:nvCxnSpPr>
        <p:spPr>
          <a:xfrm rot="10800000">
            <a:off x="4506763" y="4378100"/>
            <a:ext cx="0" cy="18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5" name="Google Shape;1405;p57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6" name="Google Shape;1406;p57"/>
          <p:cNvCxnSpPr>
            <a:stCxn id="1397" idx="3"/>
            <a:endCxn id="1405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7" name="Google Shape;1407;p57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8" name="Google Shape;1408;p57"/>
          <p:cNvCxnSpPr>
            <a:stCxn id="1407" idx="3"/>
            <a:endCxn id="1385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9" name="Google Shape;1409;p57"/>
          <p:cNvCxnSpPr>
            <a:stCxn id="1407" idx="2"/>
            <a:endCxn id="1388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0" name="Google Shape;1410;p57"/>
          <p:cNvSpPr/>
          <p:nvPr/>
        </p:nvSpPr>
        <p:spPr>
          <a:xfrm>
            <a:off x="1394850" y="4558400"/>
            <a:ext cx="2643000" cy="433500"/>
          </a:xfrm>
          <a:prstGeom prst="wedgeRoundRectCallout">
            <a:avLst>
              <a:gd name="adj1" fmla="val 60845"/>
              <a:gd name="adj2" fmla="val -16834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 and J are equally far away.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I'll use J, since it's got a lower MED.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1" name="Google Shape;1411;p57"/>
          <p:cNvSpPr/>
          <p:nvPr/>
        </p:nvSpPr>
        <p:spPr>
          <a:xfrm>
            <a:off x="4595175" y="3085875"/>
            <a:ext cx="2268825" cy="1238691"/>
          </a:xfrm>
          <a:custGeom>
            <a:avLst/>
            <a:gdLst/>
            <a:ahLst/>
            <a:cxnLst/>
            <a:rect l="l" t="t" r="r" b="b"/>
            <a:pathLst>
              <a:path w="90753" h="48729" extrusionOk="0">
                <a:moveTo>
                  <a:pt x="0" y="48729"/>
                </a:moveTo>
                <a:lnTo>
                  <a:pt x="75546" y="48729"/>
                </a:lnTo>
                <a:lnTo>
                  <a:pt x="75546" y="0"/>
                </a:lnTo>
                <a:lnTo>
                  <a:pt x="90753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9E355-D7CD-AF78-BE75-53AE0A628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and Exporting with Tiebreaking Policies</a:t>
            </a:r>
            <a:endParaRPr/>
          </a:p>
        </p:txBody>
      </p:sp>
      <p:sp>
        <p:nvSpPr>
          <p:cNvPr id="1417" name="Google Shape;1417;p5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Exporting rules: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Gao-Rexford rules to decide which ASes hear about this route.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announcement, include the MED (distance from router to destination).</a:t>
            </a:r>
            <a:br>
              <a:rPr lang="en"/>
            </a:br>
            <a:r>
              <a:rPr lang="en"/>
              <a:t>Lower MED = Prefer to use this router.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Importing rules, in order of priority: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Gao-Rexford rules (customer &gt; peer &gt; provider).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Save money.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 tied: Pick the shorter path (the path passing through fewer ASes).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Maximize performance.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1-2 tied: Pick the path with the nearest egress router (hot potato routing).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Goal: Minimize use of my network bandwidth.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1-3 tied: Pick the path with the lower MED.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1-4 tied: Arbitrary tiebreaker (e.g. pick router with lower IP address).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36EBB1-FD3B-1CB4-CFC2-455CB25C53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23" name="Google Shape;1423;p59"/>
          <p:cNvSpPr txBox="1">
            <a:spLocks noGrp="1"/>
          </p:cNvSpPr>
          <p:nvPr>
            <p:ph type="body" idx="1"/>
          </p:nvPr>
        </p:nvSpPr>
        <p:spPr>
          <a:xfrm>
            <a:off x="107050" y="322514"/>
            <a:ext cx="9036950" cy="12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importing and exporting ASes </a:t>
            </a:r>
            <a:r>
              <a:rPr lang="en" i="1" dirty="0"/>
              <a:t>both</a:t>
            </a:r>
            <a:r>
              <a:rPr lang="en" dirty="0"/>
              <a:t> want to minimize their own link usage.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Importing AS (AT&amp;T) does this with hot potato routing: Pick the nearest egress.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Exporting AS (Verizon) does this with MED: Send me the packet on the closest router.</a:t>
            </a:r>
            <a:endParaRPr dirty="0"/>
          </a:p>
        </p:txBody>
      </p:sp>
      <p:sp>
        <p:nvSpPr>
          <p:cNvPr id="1424" name="Google Shape;1424;p59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5" name="Google Shape;1425;p59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59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59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59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9" name="Google Shape;1429;p59"/>
          <p:cNvCxnSpPr>
            <a:stCxn id="1427" idx="3"/>
            <a:endCxn id="1428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0" name="Google Shape;1430;p59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1" name="Google Shape;1431;p59"/>
          <p:cNvCxnSpPr>
            <a:stCxn id="1430" idx="3"/>
            <a:endCxn id="1432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2" name="Google Shape;1432;p59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59"/>
          <p:cNvCxnSpPr>
            <a:stCxn id="1432" idx="3"/>
            <a:endCxn id="1433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5" name="Google Shape;1435;p59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59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7" name="Google Shape;1437;p59"/>
          <p:cNvCxnSpPr>
            <a:stCxn id="1428" idx="3"/>
            <a:endCxn id="1435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8" name="Google Shape;1438;p59"/>
          <p:cNvCxnSpPr>
            <a:stCxn id="1433" idx="3"/>
            <a:endCxn id="1436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9" name="Google Shape;1439;p59"/>
          <p:cNvCxnSpPr>
            <a:stCxn id="1427" idx="2"/>
            <a:endCxn id="1432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0" name="Google Shape;1440;p59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1" name="Google Shape;1441;p59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59"/>
          <p:cNvCxnSpPr>
            <a:stCxn id="1435" idx="3"/>
            <a:endCxn id="144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3" name="Google Shape;1443;p59"/>
          <p:cNvCxnSpPr>
            <a:stCxn id="1436" idx="3"/>
            <a:endCxn id="144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4" name="Google Shape;1444;p59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5" name="Google Shape;1445;p59"/>
          <p:cNvCxnSpPr>
            <a:stCxn id="1440" idx="2"/>
            <a:endCxn id="144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6" name="Google Shape;1446;p59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7" name="Google Shape;1447;p59"/>
          <p:cNvCxnSpPr>
            <a:stCxn id="1446" idx="6"/>
            <a:endCxn id="1430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8" name="Google Shape;1448;p59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9" name="Google Shape;1449;p59"/>
          <p:cNvCxnSpPr>
            <a:stCxn id="1440" idx="3"/>
            <a:endCxn id="1448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0" name="Google Shape;1450;p59"/>
          <p:cNvSpPr/>
          <p:nvPr/>
        </p:nvSpPr>
        <p:spPr>
          <a:xfrm>
            <a:off x="1962925" y="3101750"/>
            <a:ext cx="4942350" cy="1226400"/>
          </a:xfrm>
          <a:custGeom>
            <a:avLst/>
            <a:gdLst/>
            <a:ahLst/>
            <a:cxnLst/>
            <a:rect l="l" t="t" r="r" b="b"/>
            <a:pathLst>
              <a:path w="197694" h="49056" extrusionOk="0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51" name="Google Shape;1451;p59"/>
          <p:cNvSpPr/>
          <p:nvPr/>
        </p:nvSpPr>
        <p:spPr>
          <a:xfrm>
            <a:off x="1967875" y="2923650"/>
            <a:ext cx="4913775" cy="1222325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52" name="Google Shape;1452;p59"/>
          <p:cNvSpPr txBox="1">
            <a:spLocks noGrp="1"/>
          </p:cNvSpPr>
          <p:nvPr>
            <p:ph type="body" idx="1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1C232"/>
                </a:solidFill>
              </a:rPr>
              <a:t>AT&amp;T prefers gold path.</a:t>
            </a:r>
            <a:endParaRPr sz="1400" dirty="0">
              <a:solidFill>
                <a:srgbClr val="F1C23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FF"/>
                </a:solidFill>
              </a:rPr>
              <a:t>Verizon prefers pink path.</a:t>
            </a:r>
            <a:endParaRPr sz="1400" dirty="0">
              <a:solidFill>
                <a:srgbClr val="FF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B9BE56-4C67-0FD0-AC9E-491ED37099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58" name="Google Shape;1458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importing and exporting ASes </a:t>
            </a:r>
            <a:r>
              <a:rPr lang="en" i="1" dirty="0"/>
              <a:t>both</a:t>
            </a:r>
            <a:r>
              <a:rPr lang="en" dirty="0"/>
              <a:t> want to minimize their own link usage.</a:t>
            </a:r>
            <a:endParaRPr dirty="0"/>
          </a:p>
          <a:p>
            <a:pPr lvl="0"/>
            <a:r>
              <a:rPr lang="en" dirty="0"/>
              <a:t>Importing AS (AT&amp;T) does this with hot potato routing: Pick the nearest egress.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Exporting AS (Verizon) does this with MED: Send me the packet on the closest router.</a:t>
            </a:r>
            <a:endParaRPr dirty="0"/>
          </a:p>
        </p:txBody>
      </p:sp>
      <p:sp>
        <p:nvSpPr>
          <p:cNvPr id="1459" name="Google Shape;1459;p60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0" name="Google Shape;1460;p60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60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2" name="Google Shape;1462;p60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60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4" name="Google Shape;1464;p60"/>
          <p:cNvCxnSpPr>
            <a:stCxn id="1462" idx="3"/>
            <a:endCxn id="1463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5" name="Google Shape;1465;p60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6" name="Google Shape;1466;p60"/>
          <p:cNvCxnSpPr>
            <a:stCxn id="1465" idx="3"/>
            <a:endCxn id="1467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7" name="Google Shape;1467;p60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8" name="Google Shape;1468;p60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60"/>
          <p:cNvCxnSpPr>
            <a:stCxn id="1467" idx="3"/>
            <a:endCxn id="1468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0" name="Google Shape;1470;p60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60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2" name="Google Shape;1472;p60"/>
          <p:cNvCxnSpPr>
            <a:stCxn id="1463" idx="3"/>
            <a:endCxn id="1470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3" name="Google Shape;1473;p60"/>
          <p:cNvCxnSpPr>
            <a:stCxn id="1468" idx="3"/>
            <a:endCxn id="1471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4" name="Google Shape;1474;p60"/>
          <p:cNvCxnSpPr>
            <a:stCxn id="1462" idx="2"/>
            <a:endCxn id="1467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5" name="Google Shape;1475;p60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6" name="Google Shape;1476;p60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7" name="Google Shape;1477;p60"/>
          <p:cNvCxnSpPr>
            <a:stCxn id="1470" idx="3"/>
            <a:endCxn id="1475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8" name="Google Shape;1478;p60"/>
          <p:cNvCxnSpPr>
            <a:stCxn id="1471" idx="3"/>
            <a:endCxn id="1476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9" name="Google Shape;1479;p60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60"/>
          <p:cNvCxnSpPr>
            <a:stCxn id="1475" idx="2"/>
            <a:endCxn id="1476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1" name="Google Shape;1481;p60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2" name="Google Shape;1482;p60"/>
          <p:cNvCxnSpPr>
            <a:stCxn id="1481" idx="6"/>
            <a:endCxn id="1465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3" name="Google Shape;1483;p60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4" name="Google Shape;1484;p60"/>
          <p:cNvCxnSpPr>
            <a:stCxn id="1475" idx="3"/>
            <a:endCxn id="1483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5" name="Google Shape;1485;p60"/>
          <p:cNvSpPr/>
          <p:nvPr/>
        </p:nvSpPr>
        <p:spPr>
          <a:xfrm>
            <a:off x="1417425" y="3091300"/>
            <a:ext cx="1756200" cy="468300"/>
          </a:xfrm>
          <a:prstGeom prst="wedgeRoundRectCallout">
            <a:avLst>
              <a:gd name="adj1" fmla="val 62361"/>
              <a:gd name="adj2" fmla="val -5898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5</a:t>
            </a:r>
            <a:b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Don't send it this 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6" name="Google Shape;1486;p60"/>
          <p:cNvSpPr/>
          <p:nvPr/>
        </p:nvSpPr>
        <p:spPr>
          <a:xfrm>
            <a:off x="1417425" y="4481950"/>
            <a:ext cx="1908600" cy="468300"/>
          </a:xfrm>
          <a:prstGeom prst="wedgeRoundRectCallout">
            <a:avLst>
              <a:gd name="adj1" fmla="val 62361"/>
              <a:gd name="adj2" fmla="val -58985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Closer egress router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 it this way please.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60"/>
          <p:cNvSpPr/>
          <p:nvPr/>
        </p:nvSpPr>
        <p:spPr>
          <a:xfrm>
            <a:off x="1967875" y="2923650"/>
            <a:ext cx="4913775" cy="1222325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88" name="Google Shape;1488;p60"/>
          <p:cNvSpPr txBox="1">
            <a:spLocks noGrp="1"/>
          </p:cNvSpPr>
          <p:nvPr>
            <p:ph type="body" idx="1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prefers gold path.</a:t>
            </a:r>
            <a:endParaRPr sz="1400">
              <a:solidFill>
                <a:srgbClr val="F1C23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8EA5A2-4580-E315-EE6B-B2BC24759A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494" name="Google Shape;1494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importing and exporting ASes </a:t>
            </a:r>
            <a:r>
              <a:rPr lang="en" i="1" dirty="0"/>
              <a:t>both</a:t>
            </a:r>
            <a:r>
              <a:rPr lang="en" dirty="0"/>
              <a:t> want to minimize their own link usage.</a:t>
            </a:r>
            <a:endParaRPr dirty="0"/>
          </a:p>
          <a:p>
            <a:pPr lvl="0"/>
            <a:r>
              <a:rPr lang="en" dirty="0"/>
              <a:t>Importing AS (AT&amp;T) does this with hot potato routing: Pick the nearest egress.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Exporting AS (Verizon) does this with MED: Send me the packet on the closest router.</a:t>
            </a:r>
            <a:endParaRPr dirty="0"/>
          </a:p>
        </p:txBody>
      </p:sp>
      <p:sp>
        <p:nvSpPr>
          <p:cNvPr id="1495" name="Google Shape;1495;p61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61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61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8" name="Google Shape;1498;p61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61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0" name="Google Shape;1500;p61"/>
          <p:cNvCxnSpPr>
            <a:stCxn id="1498" idx="3"/>
            <a:endCxn id="1499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1" name="Google Shape;1501;p61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2" name="Google Shape;1502;p61"/>
          <p:cNvCxnSpPr>
            <a:stCxn id="1501" idx="3"/>
            <a:endCxn id="1503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3" name="Google Shape;1503;p61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1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5" name="Google Shape;1505;p61"/>
          <p:cNvCxnSpPr>
            <a:stCxn id="1503" idx="3"/>
            <a:endCxn id="1504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6" name="Google Shape;1506;p61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61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8" name="Google Shape;1508;p61"/>
          <p:cNvCxnSpPr>
            <a:stCxn id="1499" idx="3"/>
            <a:endCxn id="1506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9" name="Google Shape;1509;p61"/>
          <p:cNvCxnSpPr>
            <a:stCxn id="1504" idx="3"/>
            <a:endCxn id="1507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0" name="Google Shape;1510;p61"/>
          <p:cNvCxnSpPr>
            <a:stCxn id="1498" idx="2"/>
            <a:endCxn id="1503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1" name="Google Shape;1511;p61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3" name="Google Shape;1513;p61"/>
          <p:cNvCxnSpPr>
            <a:stCxn id="1506" idx="3"/>
            <a:endCxn id="1511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4" name="Google Shape;1514;p61"/>
          <p:cNvCxnSpPr>
            <a:stCxn id="1507" idx="3"/>
            <a:endCxn id="1512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5" name="Google Shape;1515;p61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6" name="Google Shape;1516;p61"/>
          <p:cNvCxnSpPr>
            <a:stCxn id="1511" idx="2"/>
            <a:endCxn id="1512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7" name="Google Shape;1517;p61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8" name="Google Shape;1518;p61"/>
          <p:cNvCxnSpPr>
            <a:stCxn id="1517" idx="6"/>
            <a:endCxn id="1501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9" name="Google Shape;1519;p61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0" name="Google Shape;1520;p61"/>
          <p:cNvCxnSpPr>
            <a:stCxn id="1511" idx="3"/>
            <a:endCxn id="1519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1" name="Google Shape;1521;p61"/>
          <p:cNvSpPr/>
          <p:nvPr/>
        </p:nvSpPr>
        <p:spPr>
          <a:xfrm>
            <a:off x="6656975" y="3230525"/>
            <a:ext cx="1863600" cy="468300"/>
          </a:xfrm>
          <a:prstGeom prst="wedgeRoundRectCallout">
            <a:avLst>
              <a:gd name="adj1" fmla="val -58648"/>
              <a:gd name="adj2" fmla="val -55800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 it this way please.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61"/>
          <p:cNvSpPr/>
          <p:nvPr/>
        </p:nvSpPr>
        <p:spPr>
          <a:xfrm>
            <a:off x="6524775" y="4481950"/>
            <a:ext cx="1863600" cy="468300"/>
          </a:xfrm>
          <a:prstGeom prst="wedgeRoundRectCallout">
            <a:avLst>
              <a:gd name="adj1" fmla="val -58648"/>
              <a:gd name="adj2" fmla="val -55800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Further egress router</a:t>
            </a:r>
            <a:b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Don't send it this way.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61"/>
          <p:cNvSpPr txBox="1">
            <a:spLocks noGrp="1"/>
          </p:cNvSpPr>
          <p:nvPr>
            <p:ph type="body" idx="1"/>
          </p:nvPr>
        </p:nvSpPr>
        <p:spPr>
          <a:xfrm>
            <a:off x="192275" y="1698088"/>
            <a:ext cx="227670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1C232"/>
                </a:solidFill>
              </a:rPr>
              <a:t>AT&amp;T prefers gold path.</a:t>
            </a:r>
            <a:endParaRPr sz="1400">
              <a:solidFill>
                <a:srgbClr val="F1C23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FF"/>
                </a:solidFill>
              </a:rPr>
              <a:t>Verizon prefers pink path.</a:t>
            </a:r>
            <a:endParaRPr sz="1400">
              <a:solidFill>
                <a:srgbClr val="FF00FF"/>
              </a:solidFill>
            </a:endParaRPr>
          </a:p>
        </p:txBody>
      </p:sp>
      <p:sp>
        <p:nvSpPr>
          <p:cNvPr id="1524" name="Google Shape;1524;p61"/>
          <p:cNvSpPr/>
          <p:nvPr/>
        </p:nvSpPr>
        <p:spPr>
          <a:xfrm>
            <a:off x="1962925" y="3101750"/>
            <a:ext cx="4942350" cy="1226400"/>
          </a:xfrm>
          <a:custGeom>
            <a:avLst/>
            <a:gdLst/>
            <a:ahLst/>
            <a:cxnLst/>
            <a:rect l="l" t="t" r="r" b="b"/>
            <a:pathLst>
              <a:path w="197694" h="49056" extrusionOk="0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4FA152-F645-90A0-6B26-6ADAEC8815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Potato Routing and MED are Contradictory</a:t>
            </a:r>
            <a:endParaRPr/>
          </a:p>
        </p:txBody>
      </p:sp>
      <p:sp>
        <p:nvSpPr>
          <p:cNvPr id="1530" name="Google Shape;1530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Hot potato routing can lead to asymmetric paths.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→ Y traffic: AT&amp;T ditches packet quickly, Verizon carries it most of the way.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→ X traffic: Verizon ditches packet quickly, AT&amp;T carries it most of the way.</a:t>
            </a:r>
            <a:endParaRPr/>
          </a:p>
        </p:txBody>
      </p:sp>
      <p:sp>
        <p:nvSpPr>
          <p:cNvPr id="1531" name="Google Shape;1531;p62"/>
          <p:cNvSpPr/>
          <p:nvPr/>
        </p:nvSpPr>
        <p:spPr>
          <a:xfrm>
            <a:off x="3014025" y="2398750"/>
            <a:ext cx="46452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2" name="Google Shape;1532;p62"/>
          <p:cNvSpPr txBox="1"/>
          <p:nvPr/>
        </p:nvSpPr>
        <p:spPr>
          <a:xfrm>
            <a:off x="3014025" y="2429950"/>
            <a:ext cx="4715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3" name="Google Shape;1533;p62"/>
          <p:cNvSpPr/>
          <p:nvPr/>
        </p:nvSpPr>
        <p:spPr>
          <a:xfrm>
            <a:off x="1368575" y="3770350"/>
            <a:ext cx="5740500" cy="11037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62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5" name="Google Shape;1535;p62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6" name="Google Shape;1536;p62"/>
          <p:cNvCxnSpPr>
            <a:stCxn id="1534" idx="3"/>
            <a:endCxn id="1535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7" name="Google Shape;1537;p62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8" name="Google Shape;1538;p62"/>
          <p:cNvCxnSpPr>
            <a:stCxn id="1537" idx="3"/>
            <a:endCxn id="1539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9" name="Google Shape;1539;p62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62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1" name="Google Shape;1541;p62"/>
          <p:cNvCxnSpPr>
            <a:stCxn id="1539" idx="3"/>
            <a:endCxn id="1540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2" name="Google Shape;1542;p62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62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4" name="Google Shape;1544;p62"/>
          <p:cNvCxnSpPr>
            <a:stCxn id="1535" idx="3"/>
            <a:endCxn id="1542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5" name="Google Shape;1545;p62"/>
          <p:cNvCxnSpPr>
            <a:stCxn id="1540" idx="3"/>
            <a:endCxn id="1543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6" name="Google Shape;1546;p62"/>
          <p:cNvCxnSpPr>
            <a:stCxn id="1534" idx="2"/>
            <a:endCxn id="1539" idx="0"/>
          </p:cNvCxnSpPr>
          <p:nvPr/>
        </p:nvCxnSpPr>
        <p:spPr>
          <a:xfrm>
            <a:off x="356902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7" name="Google Shape;1547;p62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8" name="Google Shape;1548;p62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9" name="Google Shape;1549;p62"/>
          <p:cNvCxnSpPr>
            <a:stCxn id="1542" idx="3"/>
            <a:endCxn id="1547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0" name="Google Shape;1550;p62"/>
          <p:cNvCxnSpPr>
            <a:stCxn id="1543" idx="3"/>
            <a:endCxn id="1548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1" name="Google Shape;1551;p62"/>
          <p:cNvSpPr txBox="1"/>
          <p:nvPr/>
        </p:nvSpPr>
        <p:spPr>
          <a:xfrm>
            <a:off x="1368575" y="3801550"/>
            <a:ext cx="5827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62"/>
          <p:cNvCxnSpPr>
            <a:stCxn id="1547" idx="2"/>
            <a:endCxn id="1548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3" name="Google Shape;1553;p62"/>
          <p:cNvSpPr/>
          <p:nvPr/>
        </p:nvSpPr>
        <p:spPr>
          <a:xfrm>
            <a:off x="1817163" y="4093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62"/>
          <p:cNvCxnSpPr>
            <a:stCxn id="1553" idx="6"/>
            <a:endCxn id="1537" idx="1"/>
          </p:cNvCxnSpPr>
          <p:nvPr/>
        </p:nvCxnSpPr>
        <p:spPr>
          <a:xfrm>
            <a:off x="2102163" y="42356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5" name="Google Shape;1555;p62"/>
          <p:cNvSpPr/>
          <p:nvPr/>
        </p:nvSpPr>
        <p:spPr>
          <a:xfrm>
            <a:off x="6911463" y="28739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6" name="Google Shape;1556;p62"/>
          <p:cNvCxnSpPr>
            <a:stCxn id="1547" idx="3"/>
            <a:endCxn id="1555" idx="2"/>
          </p:cNvCxnSpPr>
          <p:nvPr/>
        </p:nvCxnSpPr>
        <p:spPr>
          <a:xfrm>
            <a:off x="6524778" y="3016475"/>
            <a:ext cx="38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7" name="Google Shape;1557;p62"/>
          <p:cNvSpPr/>
          <p:nvPr/>
        </p:nvSpPr>
        <p:spPr>
          <a:xfrm>
            <a:off x="1962925" y="3101750"/>
            <a:ext cx="4942350" cy="1226400"/>
          </a:xfrm>
          <a:custGeom>
            <a:avLst/>
            <a:gdLst/>
            <a:ahLst/>
            <a:cxnLst/>
            <a:rect l="l" t="t" r="r" b="b"/>
            <a:pathLst>
              <a:path w="197694" h="49056" extrusionOk="0">
                <a:moveTo>
                  <a:pt x="0" y="49056"/>
                </a:moveTo>
                <a:lnTo>
                  <a:pt x="180525" y="49056"/>
                </a:lnTo>
                <a:lnTo>
                  <a:pt x="180525" y="0"/>
                </a:lnTo>
                <a:lnTo>
                  <a:pt x="197694" y="0"/>
                </a:ln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58" name="Google Shape;1558;p62"/>
          <p:cNvSpPr/>
          <p:nvPr/>
        </p:nvSpPr>
        <p:spPr>
          <a:xfrm>
            <a:off x="1967875" y="2923650"/>
            <a:ext cx="4913775" cy="1222325"/>
          </a:xfrm>
          <a:custGeom>
            <a:avLst/>
            <a:gdLst/>
            <a:ahLst/>
            <a:cxnLst/>
            <a:rect l="l" t="t" r="r" b="b"/>
            <a:pathLst>
              <a:path w="196551" h="48893" extrusionOk="0">
                <a:moveTo>
                  <a:pt x="0" y="48893"/>
                </a:moveTo>
                <a:lnTo>
                  <a:pt x="61157" y="48893"/>
                </a:lnTo>
                <a:lnTo>
                  <a:pt x="61157" y="0"/>
                </a:lnTo>
                <a:lnTo>
                  <a:pt x="196551" y="0"/>
                </a:lnTo>
              </a:path>
            </a:pathLst>
          </a:custGeom>
          <a:noFill/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21C397-766D-AFEF-8E9E-FCB52D3BF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63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Message Types and</a:t>
            </a:r>
            <a:b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Route Attributes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64" name="Google Shape;1564;p6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Types, Route Attributes</a:t>
            </a:r>
            <a:endParaRPr/>
          </a:p>
        </p:txBody>
      </p:sp>
      <p:sp>
        <p:nvSpPr>
          <p:cNvPr id="1565" name="Google Shape;1565;p6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266D3-5FFE-31C0-625D-5FAC9E04B4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BGP: Message Types</a:t>
            </a:r>
            <a:endParaRPr/>
          </a:p>
        </p:txBody>
      </p:sp>
      <p:sp>
        <p:nvSpPr>
          <p:cNvPr id="1571" name="Google Shape;1571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To implement BGP, we need to specify: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Syntax: Format of BGP message.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Semantics: How to process BGP messages.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There are 4 BGP message types: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Open: Start a BGP session.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KeepAlive: I'm still here, don't close the BGP session.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Notification: An error occurred.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Update: Announce a route.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Could be a new route, an update to an old route, or withdrawing a route.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We'll focus on this one.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715D5-CCC7-276C-BD8E-E67EAC8AFB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Update Message Format</a:t>
            </a:r>
            <a:endParaRPr/>
          </a:p>
        </p:txBody>
      </p:sp>
      <p:sp>
        <p:nvSpPr>
          <p:cNvPr id="1577" name="Google Shape;1577;p6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Update message encodes an announcement using two values: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prefix.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more </a:t>
            </a:r>
            <a:r>
              <a:rPr lang="en" b="1"/>
              <a:t>route attributes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 attributes: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to express properties about routes.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in route import/export decisions.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Written as name-value pairs.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attributes are local: Only announced in iBGP.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attributes are global: Announced in eBGP.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many standardized attributes, but we'll look at 3.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8CA40B-3EDC-A3E1-198E-8D28D1B5A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#1: ASPATH</a:t>
            </a:r>
            <a:endParaRPr/>
          </a:p>
        </p:txBody>
      </p:sp>
      <p:sp>
        <p:nvSpPr>
          <p:cNvPr id="1583" name="Google Shape;1583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r>
              <a:rPr lang="en" b="1"/>
              <a:t>ASPATH</a:t>
            </a:r>
            <a:r>
              <a:rPr lang="en"/>
              <a:t>.     Value: List of all ASes in this route, in reverse order.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Scope: Global (included in both eBGP and iBGP announcements).</a:t>
            </a:r>
            <a:endParaRPr/>
          </a:p>
        </p:txBody>
      </p:sp>
      <p:cxnSp>
        <p:nvCxnSpPr>
          <p:cNvPr id="1584" name="Google Shape;1584;p66"/>
          <p:cNvCxnSpPr>
            <a:stCxn id="1585" idx="2"/>
            <a:endCxn id="1586" idx="6"/>
          </p:cNvCxnSpPr>
          <p:nvPr/>
        </p:nvCxnSpPr>
        <p:spPr>
          <a:xfrm rot="10800000">
            <a:off x="5178825" y="4326725"/>
            <a:ext cx="540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5" name="Google Shape;1585;p66"/>
          <p:cNvSpPr/>
          <p:nvPr/>
        </p:nvSpPr>
        <p:spPr>
          <a:xfrm>
            <a:off x="5719125" y="4032575"/>
            <a:ext cx="2034300" cy="588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66"/>
          <p:cNvSpPr/>
          <p:nvPr/>
        </p:nvSpPr>
        <p:spPr>
          <a:xfrm>
            <a:off x="4068475" y="4032575"/>
            <a:ext cx="1110300" cy="588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66"/>
          <p:cNvCxnSpPr>
            <a:stCxn id="1586" idx="2"/>
            <a:endCxn id="1588" idx="6"/>
          </p:cNvCxnSpPr>
          <p:nvPr/>
        </p:nvCxnSpPr>
        <p:spPr>
          <a:xfrm rot="10800000">
            <a:off x="3528175" y="4326725"/>
            <a:ext cx="540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8" name="Google Shape;1588;p66"/>
          <p:cNvSpPr/>
          <p:nvPr/>
        </p:nvSpPr>
        <p:spPr>
          <a:xfrm>
            <a:off x="2417825" y="4032575"/>
            <a:ext cx="1110300" cy="588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66"/>
          <p:cNvCxnSpPr>
            <a:stCxn id="1588" idx="2"/>
            <a:endCxn id="1590" idx="6"/>
          </p:cNvCxnSpPr>
          <p:nvPr/>
        </p:nvCxnSpPr>
        <p:spPr>
          <a:xfrm rot="10800000">
            <a:off x="1877525" y="4326725"/>
            <a:ext cx="540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0" name="Google Shape;1590;p66"/>
          <p:cNvSpPr/>
          <p:nvPr/>
        </p:nvSpPr>
        <p:spPr>
          <a:xfrm>
            <a:off x="767175" y="4032575"/>
            <a:ext cx="1110300" cy="588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AS#91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66"/>
          <p:cNvCxnSpPr/>
          <p:nvPr/>
        </p:nvCxnSpPr>
        <p:spPr>
          <a:xfrm rot="10800000">
            <a:off x="1396925" y="3913350"/>
            <a:ext cx="1501500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2" name="Google Shape;1592;p66"/>
          <p:cNvSpPr/>
          <p:nvPr/>
        </p:nvSpPr>
        <p:spPr>
          <a:xfrm>
            <a:off x="817625" y="2905225"/>
            <a:ext cx="2660100" cy="808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[3, 72, 25]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F3929E-A32C-D7BB-D246-FE6F89DAFC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67"/>
          <p:cNvSpPr/>
          <p:nvPr/>
        </p:nvSpPr>
        <p:spPr>
          <a:xfrm>
            <a:off x="741050" y="2860975"/>
            <a:ext cx="2526600" cy="11328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AS#91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8" name="Google Shape;1598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#2: LOCAL PREFERENCE</a:t>
            </a:r>
            <a:endParaRPr/>
          </a:p>
        </p:txBody>
      </p:sp>
      <p:sp>
        <p:nvSpPr>
          <p:cNvPr id="1599" name="Google Shape;1599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Name: </a:t>
            </a:r>
            <a:r>
              <a:rPr lang="en" b="1" dirty="0"/>
              <a:t>LOCAL PREFERENCE</a:t>
            </a:r>
            <a:r>
              <a:rPr lang="en" dirty="0"/>
              <a:t>. </a:t>
            </a:r>
            <a:r>
              <a:rPr lang="en" i="1" dirty="0"/>
              <a:t>higher</a:t>
            </a:r>
            <a:r>
              <a:rPr lang="en" dirty="0"/>
              <a:t> is more preferred.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Scope: Local (only included in iBGP announcements).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Used to encode policy preference between AS paths (e.g. Gao-Rexford rules).</a:t>
            </a:r>
            <a:endParaRPr dirty="0"/>
          </a:p>
        </p:txBody>
      </p:sp>
      <p:sp>
        <p:nvSpPr>
          <p:cNvPr id="1600" name="Google Shape;1600;p67"/>
          <p:cNvSpPr/>
          <p:nvPr/>
        </p:nvSpPr>
        <p:spPr>
          <a:xfrm>
            <a:off x="1861850" y="328387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67"/>
          <p:cNvSpPr/>
          <p:nvPr/>
        </p:nvSpPr>
        <p:spPr>
          <a:xfrm>
            <a:off x="4147175" y="2315350"/>
            <a:ext cx="15279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AS#79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2" name="Google Shape;1602;p67"/>
          <p:cNvCxnSpPr>
            <a:stCxn id="1603" idx="3"/>
            <a:endCxn id="1601" idx="2"/>
          </p:cNvCxnSpPr>
          <p:nvPr/>
        </p:nvCxnSpPr>
        <p:spPr>
          <a:xfrm rot="10800000" flipH="1">
            <a:off x="2861766" y="2656750"/>
            <a:ext cx="1285500" cy="48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04" name="Google Shape;1604;p67"/>
          <p:cNvSpPr/>
          <p:nvPr/>
        </p:nvSpPr>
        <p:spPr>
          <a:xfrm>
            <a:off x="1538725" y="1874475"/>
            <a:ext cx="2147400" cy="811500"/>
          </a:xfrm>
          <a:prstGeom prst="wedgeRoundRectCallout">
            <a:avLst>
              <a:gd name="adj1" fmla="val 5698"/>
              <a:gd name="adj2" fmla="val 80989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[79,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LOCAL PREF = 1000</a:t>
            </a:r>
            <a:endParaRPr sz="1200" b="1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67"/>
          <p:cNvSpPr/>
          <p:nvPr/>
        </p:nvSpPr>
        <p:spPr>
          <a:xfrm>
            <a:off x="2576766" y="2998450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p67"/>
          <p:cNvSpPr/>
          <p:nvPr/>
        </p:nvSpPr>
        <p:spPr>
          <a:xfrm>
            <a:off x="2576766" y="3556400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p67"/>
          <p:cNvSpPr/>
          <p:nvPr/>
        </p:nvSpPr>
        <p:spPr>
          <a:xfrm>
            <a:off x="1332375" y="299844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7"/>
          <p:cNvSpPr/>
          <p:nvPr/>
        </p:nvSpPr>
        <p:spPr>
          <a:xfrm>
            <a:off x="1146925" y="355639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8" name="Google Shape;1608;p67"/>
          <p:cNvCxnSpPr>
            <a:stCxn id="1606" idx="2"/>
            <a:endCxn id="1607" idx="0"/>
          </p:cNvCxnSpPr>
          <p:nvPr/>
        </p:nvCxnSpPr>
        <p:spPr>
          <a:xfrm flipH="1">
            <a:off x="1289475" y="3283448"/>
            <a:ext cx="185400" cy="27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9" name="Google Shape;1609;p67"/>
          <p:cNvCxnSpPr>
            <a:stCxn id="1600" idx="1"/>
            <a:endCxn id="1607" idx="3"/>
          </p:cNvCxnSpPr>
          <p:nvPr/>
        </p:nvCxnSpPr>
        <p:spPr>
          <a:xfrm flipH="1">
            <a:off x="1431950" y="3426373"/>
            <a:ext cx="429900" cy="27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67"/>
          <p:cNvCxnSpPr>
            <a:stCxn id="1606" idx="3"/>
            <a:endCxn id="1600" idx="0"/>
          </p:cNvCxnSpPr>
          <p:nvPr/>
        </p:nvCxnSpPr>
        <p:spPr>
          <a:xfrm>
            <a:off x="1617375" y="3140948"/>
            <a:ext cx="3870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1" name="Google Shape;1611;p67"/>
          <p:cNvCxnSpPr>
            <a:stCxn id="1600" idx="3"/>
            <a:endCxn id="1603" idx="1"/>
          </p:cNvCxnSpPr>
          <p:nvPr/>
        </p:nvCxnSpPr>
        <p:spPr>
          <a:xfrm rot="10800000" flipH="1">
            <a:off x="2146850" y="3141073"/>
            <a:ext cx="429900" cy="285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" name="Google Shape;1612;p67"/>
          <p:cNvCxnSpPr>
            <a:stCxn id="1600" idx="3"/>
            <a:endCxn id="1605" idx="1"/>
          </p:cNvCxnSpPr>
          <p:nvPr/>
        </p:nvCxnSpPr>
        <p:spPr>
          <a:xfrm>
            <a:off x="2146850" y="3426373"/>
            <a:ext cx="429900" cy="27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3" name="Google Shape;1613;p67"/>
          <p:cNvSpPr/>
          <p:nvPr/>
        </p:nvSpPr>
        <p:spPr>
          <a:xfrm>
            <a:off x="4147175" y="3840400"/>
            <a:ext cx="1527900" cy="683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AS#7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67"/>
          <p:cNvCxnSpPr>
            <a:stCxn id="1605" idx="3"/>
            <a:endCxn id="1613" idx="2"/>
          </p:cNvCxnSpPr>
          <p:nvPr/>
        </p:nvCxnSpPr>
        <p:spPr>
          <a:xfrm>
            <a:off x="2861766" y="3698900"/>
            <a:ext cx="1285500" cy="48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5" name="Google Shape;1615;p67"/>
          <p:cNvSpPr/>
          <p:nvPr/>
        </p:nvSpPr>
        <p:spPr>
          <a:xfrm>
            <a:off x="6368650" y="3132225"/>
            <a:ext cx="2034300" cy="588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67"/>
          <p:cNvCxnSpPr>
            <a:stCxn id="1601" idx="6"/>
            <a:endCxn id="1615" idx="1"/>
          </p:cNvCxnSpPr>
          <p:nvPr/>
        </p:nvCxnSpPr>
        <p:spPr>
          <a:xfrm>
            <a:off x="5675075" y="2656900"/>
            <a:ext cx="991500" cy="56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7" name="Google Shape;1617;p67"/>
          <p:cNvCxnSpPr>
            <a:stCxn id="1613" idx="6"/>
            <a:endCxn id="1615" idx="3"/>
          </p:cNvCxnSpPr>
          <p:nvPr/>
        </p:nvCxnSpPr>
        <p:spPr>
          <a:xfrm rot="10800000" flipH="1">
            <a:off x="5675075" y="3634450"/>
            <a:ext cx="991500" cy="54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8" name="Google Shape;1618;p67"/>
          <p:cNvSpPr/>
          <p:nvPr/>
        </p:nvSpPr>
        <p:spPr>
          <a:xfrm>
            <a:off x="871725" y="4080675"/>
            <a:ext cx="2147400" cy="811500"/>
          </a:xfrm>
          <a:prstGeom prst="wedgeRoundRectCallout">
            <a:avLst>
              <a:gd name="adj1" fmla="val 35895"/>
              <a:gd name="adj2" fmla="val -76830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LOCAL PREF = 3000</a:t>
            </a:r>
            <a:endParaRPr sz="1200" b="1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67"/>
          <p:cNvSpPr txBox="1"/>
          <p:nvPr/>
        </p:nvSpPr>
        <p:spPr>
          <a:xfrm>
            <a:off x="5765350" y="4276575"/>
            <a:ext cx="3240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and 300 would have worked, too. Only the relative ranking matters.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F9040C-DE69-6221-8650-D48975769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68"/>
          <p:cNvSpPr/>
          <p:nvPr/>
        </p:nvSpPr>
        <p:spPr>
          <a:xfrm>
            <a:off x="2348675" y="3777850"/>
            <a:ext cx="4352100" cy="937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5" name="Google Shape;1625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Attribute #3: MED</a:t>
            </a:r>
            <a:endParaRPr/>
          </a:p>
        </p:txBody>
      </p:sp>
      <p:sp>
        <p:nvSpPr>
          <p:cNvPr id="1626" name="Google Shape;1626;p6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Name: </a:t>
            </a:r>
            <a:r>
              <a:rPr lang="en" b="1" dirty="0"/>
              <a:t>MED</a:t>
            </a:r>
            <a:r>
              <a:rPr lang="en" dirty="0"/>
              <a:t>. </a:t>
            </a:r>
            <a:r>
              <a:rPr lang="en" i="1" dirty="0"/>
              <a:t>lower</a:t>
            </a:r>
            <a:r>
              <a:rPr lang="en" dirty="0"/>
              <a:t> is more preferred.</a:t>
            </a:r>
            <a:br>
              <a:rPr lang="en" dirty="0"/>
            </a:br>
            <a:r>
              <a:rPr lang="en" dirty="0"/>
              <a:t>Scope: Global (included in both eBGP and iBGP announcements).</a:t>
            </a:r>
            <a:br>
              <a:rPr lang="en" dirty="0"/>
            </a:br>
            <a:r>
              <a:rPr lang="en" dirty="0"/>
              <a:t>Used when there are multiple links between ASes.</a:t>
            </a:r>
            <a:br>
              <a:rPr lang="en" dirty="0"/>
            </a:br>
            <a:r>
              <a:rPr lang="en" dirty="0"/>
              <a:t>Specifies distance from announcing router to destination.</a:t>
            </a:r>
            <a:endParaRPr dirty="0"/>
          </a:p>
        </p:txBody>
      </p:sp>
      <p:sp>
        <p:nvSpPr>
          <p:cNvPr id="1627" name="Google Shape;1627;p68"/>
          <p:cNvSpPr/>
          <p:nvPr/>
        </p:nvSpPr>
        <p:spPr>
          <a:xfrm>
            <a:off x="2348675" y="2558650"/>
            <a:ext cx="4352100" cy="937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p68"/>
          <p:cNvSpPr/>
          <p:nvPr/>
        </p:nvSpPr>
        <p:spPr>
          <a:xfrm>
            <a:off x="34265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9" name="Google Shape;1629;p68"/>
          <p:cNvSpPr/>
          <p:nvPr/>
        </p:nvSpPr>
        <p:spPr>
          <a:xfrm>
            <a:off x="436427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0" name="Google Shape;1630;p68"/>
          <p:cNvCxnSpPr>
            <a:stCxn id="1628" idx="3"/>
            <a:endCxn id="1629" idx="1"/>
          </p:cNvCxnSpPr>
          <p:nvPr/>
        </p:nvCxnSpPr>
        <p:spPr>
          <a:xfrm>
            <a:off x="37115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1" name="Google Shape;1631;p68"/>
          <p:cNvSpPr/>
          <p:nvPr/>
        </p:nvSpPr>
        <p:spPr>
          <a:xfrm>
            <a:off x="2488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2" name="Google Shape;1632;p68"/>
          <p:cNvCxnSpPr>
            <a:stCxn id="1631" idx="3"/>
            <a:endCxn id="1633" idx="1"/>
          </p:cNvCxnSpPr>
          <p:nvPr/>
        </p:nvCxnSpPr>
        <p:spPr>
          <a:xfrm>
            <a:off x="27737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3" name="Google Shape;1633;p68"/>
          <p:cNvSpPr/>
          <p:nvPr/>
        </p:nvSpPr>
        <p:spPr>
          <a:xfrm>
            <a:off x="34265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4" name="Google Shape;1634;p68"/>
          <p:cNvSpPr/>
          <p:nvPr/>
        </p:nvSpPr>
        <p:spPr>
          <a:xfrm>
            <a:off x="43642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5" name="Google Shape;1635;p68"/>
          <p:cNvCxnSpPr>
            <a:stCxn id="1633" idx="3"/>
            <a:endCxn id="1634" idx="1"/>
          </p:cNvCxnSpPr>
          <p:nvPr/>
        </p:nvCxnSpPr>
        <p:spPr>
          <a:xfrm>
            <a:off x="37115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6" name="Google Shape;1636;p68"/>
          <p:cNvSpPr/>
          <p:nvPr/>
        </p:nvSpPr>
        <p:spPr>
          <a:xfrm>
            <a:off x="5302028" y="2873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68"/>
          <p:cNvSpPr/>
          <p:nvPr/>
        </p:nvSpPr>
        <p:spPr>
          <a:xfrm>
            <a:off x="530202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8" name="Google Shape;1638;p68"/>
          <p:cNvCxnSpPr>
            <a:stCxn id="1629" idx="3"/>
            <a:endCxn id="1636" idx="1"/>
          </p:cNvCxnSpPr>
          <p:nvPr/>
        </p:nvCxnSpPr>
        <p:spPr>
          <a:xfrm>
            <a:off x="464927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9" name="Google Shape;1639;p68"/>
          <p:cNvCxnSpPr>
            <a:stCxn id="1634" idx="3"/>
            <a:endCxn id="1637" idx="1"/>
          </p:cNvCxnSpPr>
          <p:nvPr/>
        </p:nvCxnSpPr>
        <p:spPr>
          <a:xfrm>
            <a:off x="464927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0" name="Google Shape;1640;p68"/>
          <p:cNvSpPr/>
          <p:nvPr/>
        </p:nvSpPr>
        <p:spPr>
          <a:xfrm>
            <a:off x="6239778" y="28739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p68"/>
          <p:cNvSpPr/>
          <p:nvPr/>
        </p:nvSpPr>
        <p:spPr>
          <a:xfrm>
            <a:off x="6239778" y="40931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2" name="Google Shape;1642;p68"/>
          <p:cNvCxnSpPr>
            <a:stCxn id="1636" idx="3"/>
            <a:endCxn id="1640" idx="1"/>
          </p:cNvCxnSpPr>
          <p:nvPr/>
        </p:nvCxnSpPr>
        <p:spPr>
          <a:xfrm>
            <a:off x="5587028" y="30164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3" name="Google Shape;1643;p68"/>
          <p:cNvCxnSpPr>
            <a:stCxn id="1637" idx="3"/>
            <a:endCxn id="1641" idx="1"/>
          </p:cNvCxnSpPr>
          <p:nvPr/>
        </p:nvCxnSpPr>
        <p:spPr>
          <a:xfrm>
            <a:off x="5587028" y="4235675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4" name="Google Shape;1644;p68"/>
          <p:cNvSpPr txBox="1"/>
          <p:nvPr/>
        </p:nvSpPr>
        <p:spPr>
          <a:xfrm>
            <a:off x="2348675" y="3801550"/>
            <a:ext cx="4352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AS#19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5" name="Google Shape;1645;p68"/>
          <p:cNvCxnSpPr>
            <a:stCxn id="1640" idx="2"/>
            <a:endCxn id="1641" idx="0"/>
          </p:cNvCxnSpPr>
          <p:nvPr/>
        </p:nvCxnSpPr>
        <p:spPr>
          <a:xfrm>
            <a:off x="6382278" y="3158975"/>
            <a:ext cx="0" cy="9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6" name="Google Shape;1646;p68"/>
          <p:cNvCxnSpPr>
            <a:stCxn id="1640" idx="3"/>
            <a:endCxn id="1647" idx="3"/>
          </p:cNvCxnSpPr>
          <p:nvPr/>
        </p:nvCxnSpPr>
        <p:spPr>
          <a:xfrm rot="10800000" flipH="1">
            <a:off x="6524778" y="2420075"/>
            <a:ext cx="849000" cy="596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8" name="Google Shape;1648;p68"/>
          <p:cNvSpPr/>
          <p:nvPr/>
        </p:nvSpPr>
        <p:spPr>
          <a:xfrm>
            <a:off x="2488778" y="2871075"/>
            <a:ext cx="285000" cy="2850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68"/>
          <p:cNvCxnSpPr>
            <a:stCxn id="1648" idx="3"/>
            <a:endCxn id="1628" idx="1"/>
          </p:cNvCxnSpPr>
          <p:nvPr/>
        </p:nvCxnSpPr>
        <p:spPr>
          <a:xfrm>
            <a:off x="2773778" y="3013575"/>
            <a:ext cx="652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0" name="Google Shape;1650;p68"/>
          <p:cNvCxnSpPr>
            <a:stCxn id="1648" idx="2"/>
            <a:endCxn id="1631" idx="0"/>
          </p:cNvCxnSpPr>
          <p:nvPr/>
        </p:nvCxnSpPr>
        <p:spPr>
          <a:xfrm>
            <a:off x="2631278" y="3156075"/>
            <a:ext cx="0" cy="93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1" name="Google Shape;1651;p68"/>
          <p:cNvSpPr txBox="1"/>
          <p:nvPr/>
        </p:nvSpPr>
        <p:spPr>
          <a:xfrm>
            <a:off x="2348675" y="2582350"/>
            <a:ext cx="4352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AS#72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68"/>
          <p:cNvSpPr/>
          <p:nvPr/>
        </p:nvSpPr>
        <p:spPr>
          <a:xfrm>
            <a:off x="7075775" y="1917850"/>
            <a:ext cx="2034300" cy="588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AS#25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128.112.0.0/16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68"/>
          <p:cNvSpPr/>
          <p:nvPr/>
        </p:nvSpPr>
        <p:spPr>
          <a:xfrm>
            <a:off x="107050" y="2966350"/>
            <a:ext cx="2147400" cy="811500"/>
          </a:xfrm>
          <a:prstGeom prst="wedgeRoundRectCallout">
            <a:avLst>
              <a:gd name="adj1" fmla="val 57412"/>
              <a:gd name="adj2" fmla="val -43432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91425" rIns="27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[72,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4</a:t>
            </a:r>
            <a:endParaRPr sz="1200" b="1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68"/>
          <p:cNvSpPr/>
          <p:nvPr/>
        </p:nvSpPr>
        <p:spPr>
          <a:xfrm>
            <a:off x="6795000" y="3059825"/>
            <a:ext cx="2147400" cy="811500"/>
          </a:xfrm>
          <a:prstGeom prst="wedgeRoundRectCallout">
            <a:avLst>
              <a:gd name="adj1" fmla="val -59480"/>
              <a:gd name="adj2" fmla="val -45188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91425" rIns="27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eBGP Announcement: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Destination = 128.112.0.0/16 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ASPATH = [72, 25]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MED = 1</a:t>
            </a:r>
            <a:endParaRPr sz="1200" b="1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1D156E-D0E9-CF0C-2EBE-6D79A76B8E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Policy with Attributes</a:t>
            </a:r>
            <a:endParaRPr/>
          </a:p>
        </p:txBody>
      </p:sp>
      <p:graphicFrame>
        <p:nvGraphicFramePr>
          <p:cNvPr id="1659" name="Google Shape;1659;p69"/>
          <p:cNvGraphicFramePr/>
          <p:nvPr/>
        </p:nvGraphicFramePr>
        <p:xfrm>
          <a:off x="505175" y="1169800"/>
          <a:ext cx="8133625" cy="280398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83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Priority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Rule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Implementation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Goal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Gao-Rexford rules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Highest LOCAL PREF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Make/save money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ASPATH length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Maximize performance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Hot potato routing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Nearest egress router (lowest IGP cost)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Minimize use of my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Multiple links: Send to router closer to 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Smallest MED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Minimize use of other AS's bandwidth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Arbitrary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Lowest router 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D4766-1EC9-5BF6-F60D-65B3DE017A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70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Issues with 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Header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65" name="Google Shape;1665;p7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BGP</a:t>
            </a:r>
            <a:endParaRPr/>
          </a:p>
        </p:txBody>
      </p:sp>
      <p:sp>
        <p:nvSpPr>
          <p:cNvPr id="1666" name="Google Shape;1666;p7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179341-B4C0-E4FE-6204-B4A470AEA7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BGP</a:t>
            </a:r>
            <a:endParaRPr/>
          </a:p>
        </p:txBody>
      </p:sp>
      <p:sp>
        <p:nvSpPr>
          <p:cNvPr id="1672" name="Google Shape;1672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Security: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an AS owns the prefixes it advertises.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an AS will follow the path it advertises.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Performance trade-offs: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Policy-based paths are not always least-cost.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path length can be misleading (path inside an AS could be 1 hop or 100 hops).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Complicated and prone to misconfiguration: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BGP attributes. Configuration is often manual and ad-hoc.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misconfiguration is a major source of Internet outages!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Invalid routes: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Reachability and convergence are not guaranteed without Gao-Rexford.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A3E04-F9D2-02E3-0657-F4D10AB80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72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IPv4 Header Fields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78" name="Google Shape;1678;p72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Header Fields</a:t>
            </a:r>
            <a:endParaRPr/>
          </a:p>
        </p:txBody>
      </p:sp>
      <p:sp>
        <p:nvSpPr>
          <p:cNvPr id="1679" name="Google Shape;1679;p72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0C190D-06F1-BD84-75AE-77703F13A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49</a:t>
            </a:fld>
            <a:endParaRPr lang="e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Header Design Goals</a:t>
            </a:r>
            <a:endParaRPr/>
          </a:p>
        </p:txBody>
      </p:sp>
      <p:sp>
        <p:nvSpPr>
          <p:cNvPr id="1692" name="Google Shape;1692;p74"/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26086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Think of the IP header as an interface.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Allows the source and intermediate routers to exchange information.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Allows the source and destination to exchange information.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Design goals: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Small. A larger IP header makes every single packet larger.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Simple. Routers have to process packets quickly.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What fields are in the IP header?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It depends on what tasks IP needs to perform.</a:t>
            </a:r>
            <a:endParaRPr dirty="0"/>
          </a:p>
        </p:txBody>
      </p:sp>
      <p:graphicFrame>
        <p:nvGraphicFramePr>
          <p:cNvPr id="1685" name="Google Shape;1685;p73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7CBD5-A2FA-DC57-59B8-F217C5AA4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50</a:t>
            </a:fld>
            <a:endParaRPr lang="e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Tasks</a:t>
            </a:r>
            <a:endParaRPr/>
          </a:p>
        </p:txBody>
      </p:sp>
      <p:sp>
        <p:nvSpPr>
          <p:cNvPr id="1698" name="Google Shape;1698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functionality can be classified into 6 tasks.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tasks are done by only routers or the destination host. Others are done by both.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Parse the packet.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Forward packet to the next hop. </a:t>
            </a:r>
            <a:r>
              <a:rPr lang="en" sz="1400">
                <a:solidFill>
                  <a:schemeClr val="accent3"/>
                </a:solidFill>
              </a:rPr>
              <a:t>(router only)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Tell the destination what to do next. </a:t>
            </a:r>
            <a:r>
              <a:rPr lang="en" sz="1400">
                <a:solidFill>
                  <a:schemeClr val="accent3"/>
                </a:solidFill>
              </a:rPr>
              <a:t>(destination only)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 responses back to the source. 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Handle errors.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Specify any special packet handling.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60DF85-1E3F-F868-CDAC-5BCBA281AB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51</a:t>
            </a:fld>
            <a:endParaRPr lang="e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#1: Parse the Packet</a:t>
            </a:r>
            <a:endParaRPr/>
          </a:p>
        </p:txBody>
      </p:sp>
      <p:sp>
        <p:nvSpPr>
          <p:cNvPr id="1704" name="Google Shape;1704;p7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Version: What version of IP?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 length (measured in 4-byte words): Where does the header end?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length (measured in bytes): Where does the packet end?</a:t>
            </a:r>
            <a:endParaRPr/>
          </a:p>
        </p:txBody>
      </p:sp>
      <p:graphicFrame>
        <p:nvGraphicFramePr>
          <p:cNvPr id="1705" name="Google Shape;1705;p76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E23D74-90F5-FB6C-264D-C9EA1B2EFF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52</a:t>
            </a:fld>
            <a:endParaRPr lang="e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#2: Forward Packet to Next Hop</a:t>
            </a:r>
            <a:endParaRPr/>
          </a:p>
        </p:txBody>
      </p:sp>
      <p:sp>
        <p:nvSpPr>
          <p:cNvPr id="1711" name="Google Shape;1711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Destination IP address.</a:t>
            </a:r>
            <a:endParaRPr/>
          </a:p>
        </p:txBody>
      </p:sp>
      <p:graphicFrame>
        <p:nvGraphicFramePr>
          <p:cNvPr id="1712" name="Google Shape;1712;p77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89E41B-590E-F536-0D75-E93DD3E000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#3: Tell Destination What to Do Next</a:t>
            </a:r>
            <a:endParaRPr/>
          </a:p>
        </p:txBody>
      </p:sp>
      <p:sp>
        <p:nvSpPr>
          <p:cNvPr id="1718" name="Google Shape;1718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Protocol field: Identify the Layer 4 protocol to pass the payload to.</a:t>
            </a:r>
            <a:endParaRPr/>
          </a:p>
        </p:txBody>
      </p:sp>
      <p:graphicFrame>
        <p:nvGraphicFramePr>
          <p:cNvPr id="1719" name="Google Shape;1719;p78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BC396A-229F-142A-83EF-4627E59DD4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54</a:t>
            </a:fld>
            <a:endParaRPr lang="e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#3: Tell Destination What to Do Next</a:t>
            </a:r>
            <a:endParaRPr/>
          </a:p>
        </p:txBody>
      </p:sp>
      <p:sp>
        <p:nvSpPr>
          <p:cNvPr id="1725" name="Google Shape;1725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6909900" cy="1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indicate which protocol should handle the packet next.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De-multiplexing: Picking one of several possible L4 protocols.</a:t>
            </a:r>
            <a:endParaRPr/>
          </a:p>
        </p:txBody>
      </p:sp>
      <p:sp>
        <p:nvSpPr>
          <p:cNvPr id="1726" name="Google Shape;1726;p79"/>
          <p:cNvSpPr/>
          <p:nvPr/>
        </p:nvSpPr>
        <p:spPr>
          <a:xfrm>
            <a:off x="788075" y="1453900"/>
            <a:ext cx="1683900" cy="77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79"/>
          <p:cNvSpPr/>
          <p:nvPr/>
        </p:nvSpPr>
        <p:spPr>
          <a:xfrm>
            <a:off x="788075" y="2230850"/>
            <a:ext cx="1683900" cy="1728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79"/>
          <p:cNvSpPr txBox="1"/>
          <p:nvPr/>
        </p:nvSpPr>
        <p:spPr>
          <a:xfrm>
            <a:off x="447875" y="4093625"/>
            <a:ext cx="23643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the protocol field, we have no idea what to do with the payload.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9"/>
          <p:cNvSpPr/>
          <p:nvPr/>
        </p:nvSpPr>
        <p:spPr>
          <a:xfrm>
            <a:off x="3418350" y="1453888"/>
            <a:ext cx="1683900" cy="77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=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79"/>
          <p:cNvSpPr/>
          <p:nvPr/>
        </p:nvSpPr>
        <p:spPr>
          <a:xfrm>
            <a:off x="3418350" y="2659797"/>
            <a:ext cx="1683900" cy="1299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1" name="Google Shape;1731;p79"/>
          <p:cNvSpPr txBox="1"/>
          <p:nvPr/>
        </p:nvSpPr>
        <p:spPr>
          <a:xfrm>
            <a:off x="2979300" y="4093625"/>
            <a:ext cx="25620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see protocol = 6: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 the payload to TCP code.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79"/>
          <p:cNvSpPr/>
          <p:nvPr/>
        </p:nvSpPr>
        <p:spPr>
          <a:xfrm>
            <a:off x="6388825" y="1453888"/>
            <a:ext cx="1683900" cy="77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= 17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79"/>
          <p:cNvSpPr/>
          <p:nvPr/>
        </p:nvSpPr>
        <p:spPr>
          <a:xfrm>
            <a:off x="6388825" y="2659797"/>
            <a:ext cx="1683900" cy="1299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79"/>
          <p:cNvSpPr/>
          <p:nvPr/>
        </p:nvSpPr>
        <p:spPr>
          <a:xfrm>
            <a:off x="3418350" y="2230898"/>
            <a:ext cx="1683900" cy="429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5" name="Google Shape;1735;p79"/>
          <p:cNvSpPr/>
          <p:nvPr/>
        </p:nvSpPr>
        <p:spPr>
          <a:xfrm>
            <a:off x="6388825" y="2230898"/>
            <a:ext cx="1683900" cy="429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6" name="Google Shape;1736;p79"/>
          <p:cNvSpPr txBox="1"/>
          <p:nvPr/>
        </p:nvSpPr>
        <p:spPr>
          <a:xfrm>
            <a:off x="5894725" y="4093625"/>
            <a:ext cx="2672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see protocol = 17: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payload 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UDP code.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413AFC-32C4-9C27-BC03-06EA688D7F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55</a:t>
            </a:fld>
            <a:endParaRPr lang="e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#4: Send Responses Back to Source</a:t>
            </a:r>
            <a:endParaRPr/>
          </a:p>
        </p:txBody>
      </p:sp>
      <p:sp>
        <p:nvSpPr>
          <p:cNvPr id="1742" name="Google Shape;1742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Source IP address.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We said both the router and destination might do this.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router might want to send a response back to the source too</a:t>
            </a:r>
            <a:br>
              <a:rPr lang="en"/>
            </a:br>
            <a:r>
              <a:rPr lang="en"/>
              <a:t>(e.g. if an error occurs).</a:t>
            </a:r>
            <a:endParaRPr/>
          </a:p>
        </p:txBody>
      </p:sp>
      <p:graphicFrame>
        <p:nvGraphicFramePr>
          <p:cNvPr id="1743" name="Google Shape;1743;p80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BDA392-9A64-9498-9040-5146CEB42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56</a:t>
            </a:fld>
            <a:endParaRPr lang="e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TTL</a:t>
            </a:r>
            <a:endParaRPr/>
          </a:p>
        </p:txBody>
      </p:sp>
      <p:sp>
        <p:nvSpPr>
          <p:cNvPr id="1749" name="Google Shape;1749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Forwarding loops cause packets to cycle indefinitely. Wastes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Time-to-live (TTL): Specifies maximum number of hops a packet can take.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 is decremented at every hop by the router.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router receives packet with TTL 1: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Discard packet.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a "time exceeded" message back to the source.</a:t>
            </a:r>
            <a:endParaRPr/>
          </a:p>
        </p:txBody>
      </p:sp>
      <p:graphicFrame>
        <p:nvGraphicFramePr>
          <p:cNvPr id="1750" name="Google Shape;1750;p81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8EC09E-13C1-5D6B-C0A8-B959C9DBA7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Checksum</a:t>
            </a:r>
            <a:endParaRPr/>
          </a:p>
        </p:txBody>
      </p:sp>
      <p:sp>
        <p:nvSpPr>
          <p:cNvPr id="1756" name="Google Shape;1756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could get corrupted in transit.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Checksum: Small number of bits used to verify that data hasn't been corrupted.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checksum is incorrect, router/destination discards packet.</a:t>
            </a:r>
            <a:endParaRPr/>
          </a:p>
        </p:txBody>
      </p:sp>
      <p:graphicFrame>
        <p:nvGraphicFramePr>
          <p:cNvPr id="1757" name="Google Shape;1757;p82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F5EF9-3411-F242-5E59-8F7DE4AAEC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58</a:t>
            </a:fld>
            <a:endParaRPr lang="e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Checksum</a:t>
            </a:r>
            <a:endParaRPr/>
          </a:p>
        </p:txBody>
      </p:sp>
      <p:sp>
        <p:nvSpPr>
          <p:cNvPr id="1763" name="Google Shape;1763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checksum is only computed on the IP header, not the payload.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header can't detect the payload being corrupted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this design? End-to-end principle.</a:t>
            </a:r>
            <a:br>
              <a:rPr lang="en"/>
            </a:br>
            <a:r>
              <a:rPr lang="en"/>
              <a:t>The payload should be checked by the end hosts, not intermediate routers.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checksum has to be updated at every router.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Because the TTL changes.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Alternate design: Don't include the TTL in the checksum.</a:t>
            </a:r>
            <a:br>
              <a:rPr lang="en"/>
            </a:br>
            <a:r>
              <a:rPr lang="en"/>
              <a:t>Now, routers don't have to recompute checksum (less work for routers).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B0AEEF-B191-48C5-3194-0116FF6095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59</a:t>
            </a:fld>
            <a:endParaRPr lang="e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69" name="Google Shape;1769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might be too large for a link.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link has a </a:t>
            </a:r>
            <a:r>
              <a:rPr lang="en" b="1"/>
              <a:t>Maximum Transmission Unit (MTU)</a:t>
            </a:r>
            <a:r>
              <a:rPr lang="en"/>
              <a:t>:</a:t>
            </a:r>
            <a:br>
              <a:rPr lang="en"/>
            </a:br>
            <a:r>
              <a:rPr lang="en"/>
              <a:t>Largest number of bits the link can carry as one unit.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size exceeds a link's MTU, the router must split the packet into multiple </a:t>
            </a:r>
            <a:r>
              <a:rPr lang="en" b="1"/>
              <a:t>fragments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host has to reassemble the fragments to recover the original packet.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35E27-0837-4EEE-C202-DA2DCB925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60</a:t>
            </a:fld>
            <a:endParaRPr lang="e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75" name="Google Shape;1775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packet might be too large for a link.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ID: Each fragment of the same packet has the same ID.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Flags (3 bits, 1 bit unused):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DF: Don't Fragment. If this packet is too large, just drop 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MF: More Fragments. There's more data after this fragment.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Offset: Identifies which bytes of the original packet are in this fragment.</a:t>
            </a:r>
            <a:endParaRPr/>
          </a:p>
        </p:txBody>
      </p:sp>
      <p:graphicFrame>
        <p:nvGraphicFramePr>
          <p:cNvPr id="1776" name="Google Shape;1776;p85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4D31BC-5F32-AD8A-7CA6-104A1478B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61</a:t>
            </a:fld>
            <a:endParaRPr lang="e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#5: Handle Errors: Fragmentation</a:t>
            </a:r>
            <a:endParaRPr/>
          </a:p>
        </p:txBody>
      </p:sp>
      <p:sp>
        <p:nvSpPr>
          <p:cNvPr id="1782" name="Google Shape;1782;p86"/>
          <p:cNvSpPr/>
          <p:nvPr/>
        </p:nvSpPr>
        <p:spPr>
          <a:xfrm>
            <a:off x="3146850" y="574700"/>
            <a:ext cx="13305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DF = F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MF = F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86"/>
          <p:cNvSpPr/>
          <p:nvPr/>
        </p:nvSpPr>
        <p:spPr>
          <a:xfrm>
            <a:off x="181051" y="1918200"/>
            <a:ext cx="13305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4" name="Google Shape;1784;p86"/>
          <p:cNvSpPr/>
          <p:nvPr/>
        </p:nvSpPr>
        <p:spPr>
          <a:xfrm>
            <a:off x="1511550" y="1918200"/>
            <a:ext cx="1495200" cy="1033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(Bytes 0~1000)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6"/>
          <p:cNvSpPr/>
          <p:nvPr/>
        </p:nvSpPr>
        <p:spPr>
          <a:xfrm>
            <a:off x="4489655" y="1918200"/>
            <a:ext cx="1495200" cy="1033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(Bytes 1000~2000)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86"/>
          <p:cNvSpPr/>
          <p:nvPr/>
        </p:nvSpPr>
        <p:spPr>
          <a:xfrm>
            <a:off x="3159151" y="1918200"/>
            <a:ext cx="13305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86"/>
          <p:cNvSpPr/>
          <p:nvPr/>
        </p:nvSpPr>
        <p:spPr>
          <a:xfrm>
            <a:off x="7467760" y="1918200"/>
            <a:ext cx="1495200" cy="1033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(Bytes 2000~3000)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6"/>
          <p:cNvSpPr/>
          <p:nvPr/>
        </p:nvSpPr>
        <p:spPr>
          <a:xfrm>
            <a:off x="6137251" y="1918200"/>
            <a:ext cx="13305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ID: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25930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DF = F, MF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F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Offset: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86"/>
          <p:cNvSpPr/>
          <p:nvPr/>
        </p:nvSpPr>
        <p:spPr>
          <a:xfrm>
            <a:off x="4477350" y="574700"/>
            <a:ext cx="4485600" cy="1033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(Bytes 0~3000)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0" name="Google Shape;1790;p86"/>
          <p:cNvCxnSpPr>
            <a:stCxn id="1791" idx="0"/>
          </p:cNvCxnSpPr>
          <p:nvPr/>
        </p:nvCxnSpPr>
        <p:spPr>
          <a:xfrm rot="10800000">
            <a:off x="1355200" y="2637925"/>
            <a:ext cx="1980000" cy="970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1" name="Google Shape;1791;p86"/>
          <p:cNvSpPr txBox="1"/>
          <p:nvPr/>
        </p:nvSpPr>
        <p:spPr>
          <a:xfrm>
            <a:off x="2098450" y="3608125"/>
            <a:ext cx="247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Fragments = True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 all but the last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2" name="Google Shape;1792;p86"/>
          <p:cNvCxnSpPr>
            <a:stCxn id="1791" idx="0"/>
          </p:cNvCxnSpPr>
          <p:nvPr/>
        </p:nvCxnSpPr>
        <p:spPr>
          <a:xfrm rot="10800000" flipH="1">
            <a:off x="3335200" y="2695225"/>
            <a:ext cx="942900" cy="912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3" name="Google Shape;1793;p86"/>
          <p:cNvSpPr txBox="1"/>
          <p:nvPr/>
        </p:nvSpPr>
        <p:spPr>
          <a:xfrm>
            <a:off x="297750" y="953050"/>
            <a:ext cx="2070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Fragment = False allows us to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86"/>
          <p:cNvCxnSpPr>
            <a:stCxn id="1793" idx="3"/>
          </p:cNvCxnSpPr>
          <p:nvPr/>
        </p:nvCxnSpPr>
        <p:spPr>
          <a:xfrm>
            <a:off x="2367750" y="1196200"/>
            <a:ext cx="779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5" name="Google Shape;1795;p86"/>
          <p:cNvSpPr txBox="1"/>
          <p:nvPr/>
        </p:nvSpPr>
        <p:spPr>
          <a:xfrm>
            <a:off x="6961125" y="3989125"/>
            <a:ext cx="201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Fragments = False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 the last fragment.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86"/>
          <p:cNvCxnSpPr>
            <a:stCxn id="1795" idx="0"/>
          </p:cNvCxnSpPr>
          <p:nvPr/>
        </p:nvCxnSpPr>
        <p:spPr>
          <a:xfrm rot="10800000">
            <a:off x="7274325" y="2678725"/>
            <a:ext cx="696600" cy="1310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7" name="Google Shape;1797;p86"/>
          <p:cNvSpPr txBox="1"/>
          <p:nvPr/>
        </p:nvSpPr>
        <p:spPr>
          <a:xfrm>
            <a:off x="4887675" y="3725150"/>
            <a:ext cx="17577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Offset measured in multiples of 8 bytes. 1000 / 8 = 125.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2000 / 8 = 250.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8" name="Google Shape;1798;p86"/>
          <p:cNvCxnSpPr>
            <a:stCxn id="1797" idx="0"/>
          </p:cNvCxnSpPr>
          <p:nvPr/>
        </p:nvCxnSpPr>
        <p:spPr>
          <a:xfrm rot="10800000">
            <a:off x="4115325" y="2901350"/>
            <a:ext cx="1651200" cy="823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9" name="Google Shape;1799;p86"/>
          <p:cNvCxnSpPr>
            <a:stCxn id="1797" idx="0"/>
          </p:cNvCxnSpPr>
          <p:nvPr/>
        </p:nvCxnSpPr>
        <p:spPr>
          <a:xfrm rot="10800000" flipH="1">
            <a:off x="5766525" y="2907350"/>
            <a:ext cx="805800" cy="817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00" name="Google Shape;1800;p86"/>
          <p:cNvSpPr txBox="1"/>
          <p:nvPr/>
        </p:nvSpPr>
        <p:spPr>
          <a:xfrm>
            <a:off x="181050" y="4329300"/>
            <a:ext cx="1896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IP header size = 20 bytes, payload size = 1000 bytes. Extremely not to scale.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86"/>
          <p:cNvSpPr txBox="1"/>
          <p:nvPr/>
        </p:nvSpPr>
        <p:spPr>
          <a:xfrm>
            <a:off x="181050" y="3278850"/>
            <a:ext cx="14601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Same ID on each fragment of this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86"/>
          <p:cNvCxnSpPr>
            <a:stCxn id="1801" idx="0"/>
          </p:cNvCxnSpPr>
          <p:nvPr/>
        </p:nvCxnSpPr>
        <p:spPr>
          <a:xfrm rot="10800000">
            <a:off x="795000" y="2432850"/>
            <a:ext cx="116100" cy="846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337E9D-C0B9-1E9A-6A10-BC6F92ECCA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62</a:t>
            </a:fld>
            <a:endParaRPr lang="e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08" name="Google Shape;1808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Type of Service: Treat packets differently depending on application/customer needs.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Options: Request advanced functionality for this packet.</a:t>
            </a:r>
            <a:endParaRPr/>
          </a:p>
        </p:txBody>
      </p:sp>
      <p:graphicFrame>
        <p:nvGraphicFramePr>
          <p:cNvPr id="1809" name="Google Shape;1809;p87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8FF6C-BC60-DF4E-47C9-D144505A3D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63</a:t>
            </a:fld>
            <a:endParaRPr lang="e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15" name="Google Shape;1815;p8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Type of Service: Treat packets differently depending on application/customer needs.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Original idea: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Request different forms of delivery depending on these bits.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priority, delay, throughput, reliability, cost,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bits were frequently re-defined and never fully deployed.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notion of priorities remained.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Modern usage: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Differentiated Services Code Point (DSCP): Defines "classes" of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Congestion Notification (ECN): Used in congestion control (coming soon).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BFC7DC-38DA-3847-C8B3-0EB24CCECE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64</a:t>
            </a:fld>
            <a:endParaRPr lang="e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Task #6: Specify Special Packet Handling</a:t>
            </a:r>
            <a:endParaRPr/>
          </a:p>
        </p:txBody>
      </p:sp>
      <p:sp>
        <p:nvSpPr>
          <p:cNvPr id="1821" name="Google Shape;1821;p8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Options: Request advanced functionality for this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Record Route: Tell me the path that this packet took (useful for diagnostics).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Route: Send the packet along the route I provide.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Timestamp: Record when each router processes this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Options lead to more complex implementation.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 are variable-length, so routers have to check header length.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processing overhead for routers.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 the modern Internet, we avoid options when possible.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ACDE1A-E38C-B213-B2CA-BA34D4D4FA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65</a:t>
            </a:fld>
            <a:endParaRPr lang="e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9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IP Header</a:t>
            </a:r>
            <a:endParaRPr/>
          </a:p>
        </p:txBody>
      </p:sp>
      <p:graphicFrame>
        <p:nvGraphicFramePr>
          <p:cNvPr id="1827" name="Google Shape;1827;p90"/>
          <p:cNvGraphicFramePr/>
          <p:nvPr/>
        </p:nvGraphicFramePr>
        <p:xfrm>
          <a:off x="750600" y="2945125"/>
          <a:ext cx="7622600" cy="20783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95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2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EAD1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2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28" name="Google Shape;1828;p9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4CCCC"/>
                </a:highlight>
              </a:rPr>
              <a:t>Parse the packet.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CE5CD"/>
                </a:highlight>
              </a:rPr>
              <a:t>Forward packet to the next hop.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(router only)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EAD3"/>
                </a:highlight>
              </a:rPr>
              <a:t>Tell the destination what to do next.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(destination only)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EAD1DC"/>
                </a:highlight>
              </a:rPr>
              <a:t>Send responses back to the source.</a:t>
            </a:r>
            <a:r>
              <a:rPr lang="en"/>
              <a:t> 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C9DAF8"/>
                </a:highlight>
              </a:rPr>
              <a:t>Handle errors.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D2E9"/>
                </a:highlight>
              </a:rPr>
              <a:t>Specify any special packet handling.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(both router and destination)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F089C-2355-F059-6BAB-C38E7855E5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66</a:t>
            </a:fld>
            <a:endParaRPr lang="e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91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IPv6 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Security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34" name="Google Shape;1834;p9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Changes</a:t>
            </a:r>
            <a:endParaRPr/>
          </a:p>
        </p:txBody>
      </p:sp>
      <p:sp>
        <p:nvSpPr>
          <p:cNvPr id="1835" name="Google Shape;1835;p9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4D0119-AF11-0324-BE00-F0FE3F1C7F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67</a:t>
            </a:fld>
            <a:endParaRPr lang="e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IPv6?</a:t>
            </a:r>
            <a:endParaRPr/>
          </a:p>
        </p:txBody>
      </p:sp>
      <p:sp>
        <p:nvSpPr>
          <p:cNvPr id="1841" name="Google Shape;1841;p9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Main motivation: IP address exhaustion.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IPv4 addresses are 32 bits long.</a:t>
            </a:r>
            <a:br>
              <a:rPr lang="en" dirty="0"/>
            </a:br>
            <a:r>
              <a:rPr lang="en" dirty="0"/>
              <a:t>There are 2</a:t>
            </a:r>
            <a:r>
              <a:rPr lang="en" baseline="30000" dirty="0"/>
              <a:t>32</a:t>
            </a:r>
            <a:r>
              <a:rPr lang="en" dirty="0"/>
              <a:t> ≈ 4.2 billion IPv4 addresses. We're running out of IPv4 addresses.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IPv6 addresses are 128 bits long.</a:t>
            </a:r>
            <a:br>
              <a:rPr lang="en" dirty="0"/>
            </a:br>
            <a:r>
              <a:rPr lang="en" dirty="0"/>
              <a:t>2</a:t>
            </a:r>
            <a:r>
              <a:rPr lang="en" baseline="30000" dirty="0"/>
              <a:t>128</a:t>
            </a:r>
            <a:r>
              <a:rPr lang="en" dirty="0"/>
              <a:t> &gt; number of atoms in the universe. We won't run out.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Took the opportunity to </a:t>
            </a:r>
            <a:r>
              <a:rPr lang="en-US" dirty="0"/>
              <a:t>modernize (update or remove) outdated fields.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C6AADC-25A5-3855-A74E-2FD150A0EB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68</a:t>
            </a:fld>
            <a:endParaRPr lang="e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#1: Eliminate Checksums</a:t>
            </a:r>
            <a:endParaRPr/>
          </a:p>
        </p:txBody>
      </p:sp>
      <p:sp>
        <p:nvSpPr>
          <p:cNvPr id="1847" name="Google Shape;1847;p9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checksums in the IP header.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checksum: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a packet is corrupted but not detected, we keep sending it, which wastes bandwidth.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Checksum lets us drop the packet early.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IPv6 made the change: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Today, bandwidth is less of a bottleneck.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It's okay if a few corrupt packets are sent through the network.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no checksum: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work for routers to do. Routers can process packets faster.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0397C-CC8F-1223-0877-24289659D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69</a:t>
            </a:fld>
            <a:endParaRPr lang="e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#2: Eliminate Fragmentation</a:t>
            </a:r>
            <a:endParaRPr/>
          </a:p>
        </p:txBody>
      </p:sp>
      <p:sp>
        <p:nvSpPr>
          <p:cNvPr id="1853" name="Google Shape;1853;p9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fragmentation.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is too large for a link: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Drop the packet.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an error back to the source with the maximum packet size (MTU).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It's the sender's job to split up data into smaller packets.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 of this change: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work for routers to do. Routers can process packets faster.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928700-CD90-848B-8AA3-1D27A4F1A4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70</a:t>
            </a:fld>
            <a:endParaRPr lang="e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#3: Eliminate Options</a:t>
            </a:r>
            <a:endParaRPr/>
          </a:p>
        </p:txBody>
      </p:sp>
      <p:sp>
        <p:nvSpPr>
          <p:cNvPr id="1859" name="Google Shape;1859;p9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9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eliminates options.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header is now fixed size.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Less work for routers to do. Routers can process packets faster.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Replacement mechanism: Next Header.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Generalization of the IPv4 Protocol field.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want extra processing, put the protocol ID in the Next Header field.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will pass the packet to the protocol for extra processing.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extra processing is done, the protocol passes the packet to Layer 4.</a:t>
            </a:r>
            <a:endParaRPr/>
          </a:p>
        </p:txBody>
      </p:sp>
      <p:sp>
        <p:nvSpPr>
          <p:cNvPr id="1860" name="Google Shape;1860;p95"/>
          <p:cNvSpPr/>
          <p:nvPr/>
        </p:nvSpPr>
        <p:spPr>
          <a:xfrm>
            <a:off x="1204200" y="3639288"/>
            <a:ext cx="1683900" cy="77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IPv6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 = 43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95"/>
          <p:cNvSpPr/>
          <p:nvPr/>
        </p:nvSpPr>
        <p:spPr>
          <a:xfrm>
            <a:off x="2888100" y="3639301"/>
            <a:ext cx="1683900" cy="7770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2" name="Google Shape;1862;p95"/>
          <p:cNvSpPr/>
          <p:nvPr/>
        </p:nvSpPr>
        <p:spPr>
          <a:xfrm>
            <a:off x="4572000" y="3639301"/>
            <a:ext cx="1683900" cy="777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95"/>
          <p:cNvSpPr/>
          <p:nvPr/>
        </p:nvSpPr>
        <p:spPr>
          <a:xfrm>
            <a:off x="6255900" y="3639301"/>
            <a:ext cx="1683900" cy="777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4" name="Google Shape;1864;p95"/>
          <p:cNvCxnSpPr>
            <a:stCxn id="1860" idx="2"/>
            <a:endCxn id="1861" idx="2"/>
          </p:cNvCxnSpPr>
          <p:nvPr/>
        </p:nvCxnSpPr>
        <p:spPr>
          <a:xfrm rot="-5400000" flipH="1">
            <a:off x="2887800" y="3574638"/>
            <a:ext cx="600" cy="1683900"/>
          </a:xfrm>
          <a:prstGeom prst="curvedConnector3">
            <a:avLst>
              <a:gd name="adj1" fmla="val 10271875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5" name="Google Shape;1865;p95"/>
          <p:cNvCxnSpPr/>
          <p:nvPr/>
        </p:nvCxnSpPr>
        <p:spPr>
          <a:xfrm rot="-5400000" flipH="1">
            <a:off x="4767875" y="3574638"/>
            <a:ext cx="600" cy="1683900"/>
          </a:xfrm>
          <a:prstGeom prst="curvedConnector3">
            <a:avLst>
              <a:gd name="adj1" fmla="val 10271875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60F9D3-DC79-3080-74C3-50F6E98FC3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71</a:t>
            </a:fld>
            <a:endParaRPr lang="e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#3: Eliminate Options</a:t>
            </a:r>
            <a:endParaRPr/>
          </a:p>
        </p:txBody>
      </p:sp>
      <p:sp>
        <p:nvSpPr>
          <p:cNvPr id="1871" name="Google Shape;1871;p9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9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Header can be generalized to multiple extra protocols in between Layer 3 and 4.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and the extra protocols all include a Next Header field to pass the packet to the appropriate next protocol.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someone's Next Header is a Layer 4 protocol (6 = TCP, 17 = UDP).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Future-proofing: Elegant way to support new protocols as they're invented.</a:t>
            </a:r>
            <a:endParaRPr/>
          </a:p>
        </p:txBody>
      </p:sp>
      <p:sp>
        <p:nvSpPr>
          <p:cNvPr id="1872" name="Google Shape;1872;p96"/>
          <p:cNvSpPr/>
          <p:nvPr/>
        </p:nvSpPr>
        <p:spPr>
          <a:xfrm>
            <a:off x="315925" y="3486888"/>
            <a:ext cx="1683900" cy="77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IPv6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 = 43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96"/>
          <p:cNvSpPr/>
          <p:nvPr/>
        </p:nvSpPr>
        <p:spPr>
          <a:xfrm>
            <a:off x="3683725" y="3486901"/>
            <a:ext cx="1683900" cy="7770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Header: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4" name="Google Shape;1874;p96"/>
          <p:cNvSpPr/>
          <p:nvPr/>
        </p:nvSpPr>
        <p:spPr>
          <a:xfrm>
            <a:off x="5367625" y="3486901"/>
            <a:ext cx="1683900" cy="777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p96"/>
          <p:cNvSpPr/>
          <p:nvPr/>
        </p:nvSpPr>
        <p:spPr>
          <a:xfrm>
            <a:off x="7051525" y="3486901"/>
            <a:ext cx="1683900" cy="777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96"/>
          <p:cNvCxnSpPr/>
          <p:nvPr/>
        </p:nvCxnSpPr>
        <p:spPr>
          <a:xfrm rot="-5400000" flipH="1">
            <a:off x="5563500" y="3422238"/>
            <a:ext cx="600" cy="1683900"/>
          </a:xfrm>
          <a:prstGeom prst="curvedConnector3">
            <a:avLst>
              <a:gd name="adj1" fmla="val 10271875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77" name="Google Shape;1877;p96"/>
          <p:cNvSpPr/>
          <p:nvPr/>
        </p:nvSpPr>
        <p:spPr>
          <a:xfrm>
            <a:off x="1999825" y="3486901"/>
            <a:ext cx="1683900" cy="777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Bonus Header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Header: 51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8" name="Google Shape;1878;p96"/>
          <p:cNvCxnSpPr/>
          <p:nvPr/>
        </p:nvCxnSpPr>
        <p:spPr>
          <a:xfrm rot="-5400000" flipH="1">
            <a:off x="3658500" y="3422238"/>
            <a:ext cx="600" cy="1683900"/>
          </a:xfrm>
          <a:prstGeom prst="curvedConnector3">
            <a:avLst>
              <a:gd name="adj1" fmla="val 10271875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9" name="Google Shape;1879;p96"/>
          <p:cNvCxnSpPr/>
          <p:nvPr/>
        </p:nvCxnSpPr>
        <p:spPr>
          <a:xfrm rot="-5400000" flipH="1">
            <a:off x="1753500" y="3422238"/>
            <a:ext cx="600" cy="1683900"/>
          </a:xfrm>
          <a:prstGeom prst="curvedConnector3">
            <a:avLst>
              <a:gd name="adj1" fmla="val 10271875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5AFFA5-B00F-06DC-3982-DC4895379D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72</a:t>
            </a:fld>
            <a:endParaRPr lang="e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Cleanup #4: Flow Label</a:t>
            </a:r>
            <a:endParaRPr/>
          </a:p>
        </p:txBody>
      </p:sp>
      <p:sp>
        <p:nvSpPr>
          <p:cNvPr id="1885" name="Google Shape;1885;p9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/>
              <a:t>flow label</a:t>
            </a:r>
            <a:r>
              <a:rPr lang="en"/>
              <a:t> field lets us denote when packets are related to each other.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Layer 3 design: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Every packet is sent independently.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higher layers need to think about grouping packets into flows.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IPv6 made the change: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Modern routers often install </a:t>
            </a:r>
            <a:r>
              <a:rPr lang="en" b="1"/>
              <a:t>middlebox</a:t>
            </a:r>
            <a:r>
              <a:rPr lang="en"/>
              <a:t> systems to peek at IP packets,</a:t>
            </a:r>
            <a:br>
              <a:rPr lang="en"/>
            </a:br>
            <a:r>
              <a:rPr lang="en"/>
              <a:t>even if the router is not the destination.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Firewall on the router peeks at packets to block malicious traffic.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Middleboxes might want to consider packets in a flow together.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Flow label gives us a way to tell middleboxes when packets are related.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F95093-5E00-8DBB-48F4-A28961D73F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73</a:t>
            </a:fld>
            <a:endParaRPr lang="e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→ IPv6 Header</a:t>
            </a:r>
            <a:endParaRPr/>
          </a:p>
        </p:txBody>
      </p:sp>
      <p:sp>
        <p:nvSpPr>
          <p:cNvPr id="1891" name="Google Shape;1891;p98"/>
          <p:cNvSpPr txBox="1">
            <a:spLocks noGrp="1"/>
          </p:cNvSpPr>
          <p:nvPr>
            <p:ph type="body" idx="1"/>
          </p:nvPr>
        </p:nvSpPr>
        <p:spPr>
          <a:xfrm>
            <a:off x="4798700" y="402200"/>
            <a:ext cx="4193100" cy="15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4CCCC"/>
                </a:highlight>
              </a:rPr>
              <a:t>Eliminate checksums.</a:t>
            </a:r>
            <a:endParaRPr sz="1400">
              <a:solidFill>
                <a:schemeClr val="accent3"/>
              </a:solidFill>
              <a:highlight>
                <a:srgbClr val="F4CCCC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D9EAD3"/>
                </a:highlight>
              </a:rPr>
              <a:t>Eliminate fragmentation.</a:t>
            </a:r>
            <a:endParaRPr sz="1400">
              <a:solidFill>
                <a:schemeClr val="accent3"/>
              </a:solidFill>
              <a:highlight>
                <a:srgbClr val="D9EAD3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CFE2F3"/>
                </a:highlight>
              </a:rPr>
              <a:t>Eliminate options, add next header.</a:t>
            </a:r>
            <a:endParaRPr sz="1400">
              <a:solidFill>
                <a:schemeClr val="accent3"/>
              </a:solidFill>
              <a:highlight>
                <a:srgbClr val="CFE2F3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CE5CD"/>
                </a:highlight>
              </a:rPr>
              <a:t>Add flow label.</a:t>
            </a:r>
            <a:endParaRPr>
              <a:highlight>
                <a:srgbClr val="FCE5CD"/>
              </a:highlight>
            </a:endParaRPr>
          </a:p>
        </p:txBody>
      </p:sp>
      <p:graphicFrame>
        <p:nvGraphicFramePr>
          <p:cNvPr id="1892" name="Google Shape;1892;p98"/>
          <p:cNvGraphicFramePr/>
          <p:nvPr/>
        </p:nvGraphicFramePr>
        <p:xfrm>
          <a:off x="246350" y="2949625"/>
          <a:ext cx="4552350" cy="220201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56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 strike="sng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93" name="Google Shape;1893;p98"/>
          <p:cNvGraphicFramePr/>
          <p:nvPr/>
        </p:nvGraphicFramePr>
        <p:xfrm>
          <a:off x="5172475" y="2058925"/>
          <a:ext cx="3678400" cy="29690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45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Traffic Class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Flow Label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 Length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Header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Hop Limit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rowSpan="4"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(128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rowSpan="4"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Address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(128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900"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900"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900"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94" name="Google Shape;1894;p98"/>
          <p:cNvSpPr txBox="1">
            <a:spLocks noGrp="1"/>
          </p:cNvSpPr>
          <p:nvPr>
            <p:ph type="body" idx="1"/>
          </p:nvPr>
        </p:nvSpPr>
        <p:spPr>
          <a:xfrm>
            <a:off x="246350" y="402200"/>
            <a:ext cx="4431300" cy="165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Renamed and moved:</a:t>
            </a:r>
            <a:endParaRPr>
              <a:highlight>
                <a:srgbClr val="D9D9D9"/>
              </a:highlight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of Service → Traffic Class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Length → Payload Length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 → Hop Limit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6E503-39DC-EA9F-4A04-C6366B07A4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74</a:t>
            </a:fld>
            <a:endParaRPr lang="en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9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Philosophy of IPv6 Changes</a:t>
            </a:r>
            <a:endParaRPr/>
          </a:p>
        </p:txBody>
      </p:sp>
      <p:sp>
        <p:nvSpPr>
          <p:cNvPr id="1900" name="Google Shape;1900;p9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Leave problems to end hosts.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fragmentation.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checksum.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we eliminate TTL and leave that to end hosts?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No, avoiding loops is fundamentally a router problem.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Simplify: Less work for routers.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Eliminated options.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Fixed-size header length.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Future-proof: Allow for extensibility.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Generalized next-header approach.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Generalized flow label for packets.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C98663-CAB7-8426-A221-67C553FDD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75</a:t>
            </a:fld>
            <a:endParaRPr lang="e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00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Implementation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External BGP and Internal BGP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Links Between ASes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Message Types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Route Attributes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Issues with BGP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Header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IPv4 Header Fields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6" name="Google Shape;1906;p10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Security</a:t>
            </a:r>
            <a:endParaRPr/>
          </a:p>
        </p:txBody>
      </p:sp>
      <p:sp>
        <p:nvSpPr>
          <p:cNvPr id="1907" name="Google Shape;1907;p10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9,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D408A7-A87E-560F-3010-FC5C9CCCDC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76</a:t>
            </a:fld>
            <a:endParaRPr lang="e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Source IP: Spoofing</a:t>
            </a:r>
            <a:endParaRPr/>
          </a:p>
        </p:txBody>
      </p:sp>
      <p:sp>
        <p:nvSpPr>
          <p:cNvPr id="1913" name="Google Shape;1913;p10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Spoofing</a:t>
            </a:r>
            <a:r>
              <a:rPr lang="en"/>
              <a:t>: Lie about the source address.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pretends to be somebody else and sends the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spoofing to attack a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Denial-of-service (DoS) attack: Overwhelm a service by flooding it with packets.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spoofing: The service can block your source address.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Spoofing makes DoS more effective: Server doesn't know which packets to block.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spoofing to attack the impersonated user: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pretends to be Bob and sends a virus.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Bob is wrongly blamed for sending the virus.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traffic (e.g. angry messages) goes to Bob instead.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3A9CE-7919-4D83-AFB9-9C604C5A80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77</a:t>
            </a:fld>
            <a:endParaRPr lang="en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Type of Service</a:t>
            </a:r>
            <a:endParaRPr/>
          </a:p>
        </p:txBody>
      </p:sp>
      <p:sp>
        <p:nvSpPr>
          <p:cNvPr id="1919" name="Google Shape;1919;p10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type of service (ToS): Bits indicating priority of the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Attack: Prioritize your own traffic.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anybody can set ToS bits, attackers can make their own packets high-priority.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prefers attacker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Today, ToS bits are mostly set/used by operators, not end hosts.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Attack: Use spoofing to make someone else pay for priority traffic.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the network charges for high-priority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sends a spoofed packet: "I am Bob and this packet is high-priority."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makes Bob pay for that packet.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4B0D51-9D90-F4A8-AC88-8ECDA0F4A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78</a:t>
            </a:fld>
            <a:endParaRPr lang="en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Fragmentation and Options</a:t>
            </a:r>
            <a:endParaRPr/>
          </a:p>
        </p:txBody>
      </p:sp>
      <p:sp>
        <p:nvSpPr>
          <p:cNvPr id="1925" name="Google Shape;1925;p10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Recall: Fragmentation and options are more work for the router.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Denial-of-service (DoS) attack: Overwhelm routers by making them do more work.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Fragmentation: Send large packets on purpose, causing many fragments.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Options: Send packets with complicated options on purpose.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Defense: Routers often ignore options, or drop packets with options.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5D695-3225-0DBE-2FCB-180DB1F5A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79</a:t>
            </a:fld>
            <a:endParaRPr lang="e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TTL: Traceroute</a:t>
            </a:r>
            <a:endParaRPr/>
          </a:p>
        </p:txBody>
      </p:sp>
      <p:sp>
        <p:nvSpPr>
          <p:cNvPr id="1931" name="Google Shape;1931;p104"/>
          <p:cNvSpPr txBox="1">
            <a:spLocks noGrp="1"/>
          </p:cNvSpPr>
          <p:nvPr>
            <p:ph type="body" idx="1"/>
          </p:nvPr>
        </p:nvSpPr>
        <p:spPr>
          <a:xfrm>
            <a:off x="99616" y="290654"/>
            <a:ext cx="4513349" cy="2459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Traceroute</a:t>
            </a:r>
            <a:r>
              <a:rPr lang="en" dirty="0"/>
              <a:t>: Exploiting the TTL to discover the path a packet travels along.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Key idea: When TTL expires, the router sends back a "TTL Exceeded" error.</a:t>
            </a:r>
            <a:br>
              <a:rPr lang="en" dirty="0"/>
            </a:br>
            <a:r>
              <a:rPr lang="en" dirty="0"/>
              <a:t>This allows you to learn the identity one of the routers on the path.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Basic approach: Send packets with TTL=1, TTL=2, TTL=3, etc.</a:t>
            </a:r>
            <a:endParaRPr dirty="0"/>
          </a:p>
        </p:txBody>
      </p:sp>
      <p:sp>
        <p:nvSpPr>
          <p:cNvPr id="1932" name="Google Shape;1932;p104"/>
          <p:cNvSpPr/>
          <p:nvPr/>
        </p:nvSpPr>
        <p:spPr>
          <a:xfrm>
            <a:off x="5903217" y="1376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04"/>
          <p:cNvSpPr/>
          <p:nvPr/>
        </p:nvSpPr>
        <p:spPr>
          <a:xfrm>
            <a:off x="6840967" y="1376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04"/>
          <p:cNvCxnSpPr>
            <a:stCxn id="1932" idx="3"/>
            <a:endCxn id="1933" idx="1"/>
          </p:cNvCxnSpPr>
          <p:nvPr/>
        </p:nvCxnSpPr>
        <p:spPr>
          <a:xfrm>
            <a:off x="6188217" y="1519150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5" name="Google Shape;1935;p104"/>
          <p:cNvCxnSpPr>
            <a:cxnSpLocks/>
            <a:stCxn id="1933" idx="3"/>
          </p:cNvCxnSpPr>
          <p:nvPr/>
        </p:nvCxnSpPr>
        <p:spPr>
          <a:xfrm>
            <a:off x="7125967" y="1519150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7" name="Google Shape;1937;p104"/>
          <p:cNvSpPr/>
          <p:nvPr/>
        </p:nvSpPr>
        <p:spPr>
          <a:xfrm>
            <a:off x="7778717" y="1376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8" name="Google Shape;1938;p104"/>
          <p:cNvSpPr/>
          <p:nvPr/>
        </p:nvSpPr>
        <p:spPr>
          <a:xfrm>
            <a:off x="4965452" y="1376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9" name="Google Shape;1939;p104"/>
          <p:cNvCxnSpPr>
            <a:stCxn id="1932" idx="1"/>
            <a:endCxn id="1938" idx="6"/>
          </p:cNvCxnSpPr>
          <p:nvPr/>
        </p:nvCxnSpPr>
        <p:spPr>
          <a:xfrm rot="10800000">
            <a:off x="5250417" y="1519150"/>
            <a:ext cx="6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0" name="Google Shape;1940;p104"/>
          <p:cNvCxnSpPr>
            <a:stCxn id="1941" idx="2"/>
            <a:endCxn id="1937" idx="3"/>
          </p:cNvCxnSpPr>
          <p:nvPr/>
        </p:nvCxnSpPr>
        <p:spPr>
          <a:xfrm rot="10800000">
            <a:off x="8063652" y="1519150"/>
            <a:ext cx="6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1" name="Google Shape;1941;p104"/>
          <p:cNvSpPr/>
          <p:nvPr/>
        </p:nvSpPr>
        <p:spPr>
          <a:xfrm>
            <a:off x="8716452" y="1376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104"/>
          <p:cNvSpPr/>
          <p:nvPr/>
        </p:nvSpPr>
        <p:spPr>
          <a:xfrm>
            <a:off x="4827264" y="451600"/>
            <a:ext cx="1499100" cy="592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3" name="Google Shape;1943;p104"/>
          <p:cNvCxnSpPr/>
          <p:nvPr/>
        </p:nvCxnSpPr>
        <p:spPr>
          <a:xfrm>
            <a:off x="5078664" y="1204725"/>
            <a:ext cx="996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4" name="Google Shape;1944;p104"/>
          <p:cNvCxnSpPr/>
          <p:nvPr/>
        </p:nvCxnSpPr>
        <p:spPr>
          <a:xfrm rot="10800000">
            <a:off x="5100864" y="1900800"/>
            <a:ext cx="951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5" name="Google Shape;1945;p104"/>
          <p:cNvSpPr/>
          <p:nvPr/>
        </p:nvSpPr>
        <p:spPr>
          <a:xfrm>
            <a:off x="4827264" y="2023750"/>
            <a:ext cx="1499100" cy="592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1" name="Google Shape;1951;p105"/>
          <p:cNvSpPr/>
          <p:nvPr/>
        </p:nvSpPr>
        <p:spPr>
          <a:xfrm>
            <a:off x="1473765" y="3675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2" name="Google Shape;1952;p105"/>
          <p:cNvSpPr/>
          <p:nvPr/>
        </p:nvSpPr>
        <p:spPr>
          <a:xfrm>
            <a:off x="2411515" y="3675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3" name="Google Shape;1953;p105"/>
          <p:cNvCxnSpPr>
            <a:stCxn id="1951" idx="3"/>
            <a:endCxn id="1952" idx="1"/>
          </p:cNvCxnSpPr>
          <p:nvPr/>
        </p:nvCxnSpPr>
        <p:spPr>
          <a:xfrm>
            <a:off x="1758765" y="3818150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4" name="Google Shape;1954;p105"/>
          <p:cNvCxnSpPr>
            <a:stCxn id="1952" idx="3"/>
          </p:cNvCxnSpPr>
          <p:nvPr/>
        </p:nvCxnSpPr>
        <p:spPr>
          <a:xfrm>
            <a:off x="2696515" y="3818150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6" name="Google Shape;1956;p105"/>
          <p:cNvSpPr/>
          <p:nvPr/>
        </p:nvSpPr>
        <p:spPr>
          <a:xfrm>
            <a:off x="3349265" y="3675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7" name="Google Shape;1957;p105"/>
          <p:cNvSpPr/>
          <p:nvPr/>
        </p:nvSpPr>
        <p:spPr>
          <a:xfrm>
            <a:off x="536000" y="3675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8" name="Google Shape;1958;p105"/>
          <p:cNvCxnSpPr>
            <a:stCxn id="1951" idx="1"/>
            <a:endCxn id="1957" idx="6"/>
          </p:cNvCxnSpPr>
          <p:nvPr/>
        </p:nvCxnSpPr>
        <p:spPr>
          <a:xfrm rot="10800000">
            <a:off x="820965" y="3818150"/>
            <a:ext cx="6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9" name="Google Shape;1959;p105"/>
          <p:cNvCxnSpPr>
            <a:stCxn id="1960" idx="2"/>
            <a:endCxn id="1956" idx="3"/>
          </p:cNvCxnSpPr>
          <p:nvPr/>
        </p:nvCxnSpPr>
        <p:spPr>
          <a:xfrm rot="10800000">
            <a:off x="3634200" y="3818150"/>
            <a:ext cx="6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0" name="Google Shape;1960;p105"/>
          <p:cNvSpPr/>
          <p:nvPr/>
        </p:nvSpPr>
        <p:spPr>
          <a:xfrm>
            <a:off x="4287000" y="3675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05"/>
          <p:cNvSpPr/>
          <p:nvPr/>
        </p:nvSpPr>
        <p:spPr>
          <a:xfrm>
            <a:off x="855012" y="2750600"/>
            <a:ext cx="1499100" cy="592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2" name="Google Shape;1962;p105"/>
          <p:cNvCxnSpPr/>
          <p:nvPr/>
        </p:nvCxnSpPr>
        <p:spPr>
          <a:xfrm>
            <a:off x="649212" y="3503725"/>
            <a:ext cx="1899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3" name="Google Shape;1963;p105"/>
          <p:cNvCxnSpPr/>
          <p:nvPr/>
        </p:nvCxnSpPr>
        <p:spPr>
          <a:xfrm rot="10800000">
            <a:off x="691515" y="4199800"/>
            <a:ext cx="1814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4" name="Google Shape;1964;p105"/>
          <p:cNvSpPr/>
          <p:nvPr/>
        </p:nvSpPr>
        <p:spPr>
          <a:xfrm>
            <a:off x="855012" y="4322750"/>
            <a:ext cx="1499100" cy="592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1" name="Google Shape;1971;p106"/>
          <p:cNvSpPr/>
          <p:nvPr/>
        </p:nvSpPr>
        <p:spPr>
          <a:xfrm>
            <a:off x="5903217" y="3657984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2" name="Google Shape;1972;p106"/>
          <p:cNvSpPr/>
          <p:nvPr/>
        </p:nvSpPr>
        <p:spPr>
          <a:xfrm>
            <a:off x="6840967" y="3657984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3" name="Google Shape;1973;p106"/>
          <p:cNvCxnSpPr>
            <a:stCxn id="1971" idx="3"/>
            <a:endCxn id="1972" idx="1"/>
          </p:cNvCxnSpPr>
          <p:nvPr/>
        </p:nvCxnSpPr>
        <p:spPr>
          <a:xfrm>
            <a:off x="6188217" y="3800484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4" name="Google Shape;1974;p106"/>
          <p:cNvCxnSpPr>
            <a:stCxn id="1972" idx="3"/>
          </p:cNvCxnSpPr>
          <p:nvPr/>
        </p:nvCxnSpPr>
        <p:spPr>
          <a:xfrm>
            <a:off x="7125967" y="3800484"/>
            <a:ext cx="65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6" name="Google Shape;1976;p106"/>
          <p:cNvSpPr/>
          <p:nvPr/>
        </p:nvSpPr>
        <p:spPr>
          <a:xfrm>
            <a:off x="7778717" y="3657984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7" name="Google Shape;1977;p106"/>
          <p:cNvSpPr/>
          <p:nvPr/>
        </p:nvSpPr>
        <p:spPr>
          <a:xfrm>
            <a:off x="4965452" y="365798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8" name="Google Shape;1978;p106"/>
          <p:cNvCxnSpPr>
            <a:stCxn id="1971" idx="1"/>
            <a:endCxn id="1977" idx="6"/>
          </p:cNvCxnSpPr>
          <p:nvPr/>
        </p:nvCxnSpPr>
        <p:spPr>
          <a:xfrm rot="10800000">
            <a:off x="5250417" y="3800484"/>
            <a:ext cx="6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9" name="Google Shape;1979;p106"/>
          <p:cNvCxnSpPr>
            <a:stCxn id="1980" idx="2"/>
            <a:endCxn id="1976" idx="3"/>
          </p:cNvCxnSpPr>
          <p:nvPr/>
        </p:nvCxnSpPr>
        <p:spPr>
          <a:xfrm rot="10800000">
            <a:off x="8063652" y="3800484"/>
            <a:ext cx="6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0" name="Google Shape;1980;p106"/>
          <p:cNvSpPr/>
          <p:nvPr/>
        </p:nvSpPr>
        <p:spPr>
          <a:xfrm>
            <a:off x="8716452" y="365798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1" name="Google Shape;1981;p106"/>
          <p:cNvSpPr/>
          <p:nvPr/>
        </p:nvSpPr>
        <p:spPr>
          <a:xfrm>
            <a:off x="5741664" y="2732934"/>
            <a:ext cx="1499100" cy="592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     To: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=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2" name="Google Shape;1982;p106"/>
          <p:cNvCxnSpPr/>
          <p:nvPr/>
        </p:nvCxnSpPr>
        <p:spPr>
          <a:xfrm>
            <a:off x="5078664" y="3486059"/>
            <a:ext cx="2832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3" name="Google Shape;1983;p106"/>
          <p:cNvCxnSpPr/>
          <p:nvPr/>
        </p:nvCxnSpPr>
        <p:spPr>
          <a:xfrm rot="10800000">
            <a:off x="5141852" y="4182134"/>
            <a:ext cx="2706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4" name="Google Shape;1984;p106"/>
          <p:cNvSpPr/>
          <p:nvPr/>
        </p:nvSpPr>
        <p:spPr>
          <a:xfrm>
            <a:off x="5741664" y="4305084"/>
            <a:ext cx="1499100" cy="592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    To: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TTL Exceeded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9084D5-3C0B-DB21-32FA-5BABCFE8E6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80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2" grpId="0" animBg="1"/>
      <p:bldP spid="1933" grpId="0" animBg="1"/>
      <p:bldP spid="1937" grpId="0" animBg="1"/>
      <p:bldP spid="1938" grpId="0" animBg="1"/>
      <p:bldP spid="1941" grpId="0" animBg="1"/>
      <p:bldP spid="1942" grpId="0" animBg="1"/>
      <p:bldP spid="1945" grpId="0" animBg="1"/>
      <p:bldP spid="1951" grpId="0" animBg="1"/>
      <p:bldP spid="1952" grpId="0" animBg="1"/>
      <p:bldP spid="1956" grpId="0" animBg="1"/>
      <p:bldP spid="1957" grpId="0" animBg="1"/>
      <p:bldP spid="1960" grpId="0" animBg="1"/>
      <p:bldP spid="1961" grpId="0" animBg="1"/>
      <p:bldP spid="1964" grpId="0" animBg="1"/>
      <p:bldP spid="1971" grpId="0" animBg="1"/>
      <p:bldP spid="1972" grpId="0" animBg="1"/>
      <p:bldP spid="1976" grpId="0" animBg="1"/>
      <p:bldP spid="1980" grpId="0" animBg="1"/>
      <p:bldP spid="1981" grpId="0" animBg="1"/>
      <p:bldP spid="198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Other Fields?</a:t>
            </a:r>
            <a:endParaRPr/>
          </a:p>
        </p:txBody>
      </p:sp>
      <p:sp>
        <p:nvSpPr>
          <p:cNvPr id="1991" name="Google Shape;1991;p10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Exploiting protocol field?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protocol is set incorrectly, the next layer will find the packet malformed.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Exploiting checksum?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bad checksum causes the network to drop the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are not effective attacks.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6F4DAC-E32D-1EE5-354D-6972C24822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81</a:t>
            </a:fld>
            <a:endParaRPr lang="en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0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IP Attacks</a:t>
            </a:r>
            <a:endParaRPr/>
          </a:p>
        </p:txBody>
      </p:sp>
      <p:sp>
        <p:nvSpPr>
          <p:cNvPr id="1997" name="Google Shape;1997;p10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Source IP address: Spoofing.</a:t>
            </a:r>
            <a:endParaRPr>
              <a:highlight>
                <a:srgbClr val="F4CCCC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CE5CD"/>
                </a:highlight>
              </a:rPr>
              <a:t>Type of service: Prioritize attacker traffic.</a:t>
            </a:r>
            <a:endParaRPr>
              <a:highlight>
                <a:srgbClr val="FCE5CD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EAD3"/>
                </a:highlight>
              </a:rPr>
              <a:t>Fragmentation, Options: Denial-of-service.</a:t>
            </a:r>
            <a:endParaRPr>
              <a:highlight>
                <a:srgbClr val="D9EAD3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9DAF8"/>
                </a:highlight>
              </a:rPr>
              <a:t>TTL: Traceroute.</a:t>
            </a:r>
            <a:endParaRPr>
              <a:highlight>
                <a:srgbClr val="C9DAF8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9D9"/>
                </a:highlight>
              </a:rPr>
              <a:t>Protocol, Checksum: No apparent problems.</a:t>
            </a:r>
            <a:endParaRPr>
              <a:highlight>
                <a:srgbClr val="D9D9D9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998" name="Google Shape;1998;p108"/>
          <p:cNvGraphicFramePr/>
          <p:nvPr/>
        </p:nvGraphicFramePr>
        <p:xfrm>
          <a:off x="1984125" y="285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{E86AB450-7094-4175-A4DD-E6209F6168E6}</a:tableStyleId>
              </a:tblPr>
              <a:tblGrid>
                <a:gridCol w="56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58BE8-EEAE-5DFE-D3E2-0DFF6EE92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82</a:t>
            </a:fld>
            <a:endParaRPr lang="e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IP Header Design</a:t>
            </a:r>
            <a:endParaRPr/>
          </a:p>
        </p:txBody>
      </p:sp>
      <p:sp>
        <p:nvSpPr>
          <p:cNvPr id="2004" name="Google Shape;2004;p10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 design is more nuanced than it first seems!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juggle multiple goals: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 implementation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needs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3A15B-7596-6ACC-99F5-58CC2D08B1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83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14381</Words>
  <Application>Microsoft Office PowerPoint</Application>
  <PresentationFormat>On-screen Show (16:9)</PresentationFormat>
  <Paragraphs>3161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8" baseType="lpstr">
      <vt:lpstr>Roboto</vt:lpstr>
      <vt:lpstr>Roboto Light</vt:lpstr>
      <vt:lpstr>Arial</vt:lpstr>
      <vt:lpstr>Roboto Medium</vt:lpstr>
      <vt:lpstr>Simple Lecture</vt:lpstr>
      <vt:lpstr>PowerPoint Presentation</vt:lpstr>
      <vt:lpstr>External BGP and Internal BGP</vt:lpstr>
      <vt:lpstr>Combining Intra-Domain and Inter-Domain Routing</vt:lpstr>
      <vt:lpstr>Combining Intra-Domain and Inter-Domain Routing</vt:lpstr>
      <vt:lpstr>Border Routers and Interior Routers</vt:lpstr>
      <vt:lpstr>Border Routers and Interior Routers</vt:lpstr>
      <vt:lpstr>Border Routers and Interior Routers</vt:lpstr>
      <vt:lpstr>External BGP, Internal BGP, and IGP</vt:lpstr>
      <vt:lpstr>External BGP, Internal BGP, and IGP</vt:lpstr>
      <vt:lpstr>External BGP, Internal BGP, and IGP</vt:lpstr>
      <vt:lpstr>External BGP, Internal BGP, and IGP</vt:lpstr>
      <vt:lpstr>External BGP, Internal BGP, and IGP</vt:lpstr>
      <vt:lpstr>Combining Intra-Domain and Inter-Domain Routing</vt:lpstr>
      <vt:lpstr>Combining Intra-Domain and Inter-Domain Routing</vt:lpstr>
      <vt:lpstr>Combining Intra-Domain and Inter-Domain Routing</vt:lpstr>
      <vt:lpstr>Combining Intra-Domain and Inter-Domain Routing</vt:lpstr>
      <vt:lpstr>BGP and IGP Routing Tables</vt:lpstr>
      <vt:lpstr>BGP and IGP Routing Tables</vt:lpstr>
      <vt:lpstr>BGP and IGP Routing Tables (in Router D)</vt:lpstr>
      <vt:lpstr>Implementing iBGP</vt:lpstr>
      <vt:lpstr>Implementing iBGP</vt:lpstr>
      <vt:lpstr>Multiple Links Between ASes</vt:lpstr>
      <vt:lpstr>Multiple Links Between ASes</vt:lpstr>
      <vt:lpstr>Multiple Links Between ASes</vt:lpstr>
      <vt:lpstr>Multiple Links Between ASes</vt:lpstr>
      <vt:lpstr>Hot Potato Routing</vt:lpstr>
      <vt:lpstr>Hot Potato Routing</vt:lpstr>
      <vt:lpstr>Hot Potato Routing</vt:lpstr>
      <vt:lpstr>Hot Potato Routing</vt:lpstr>
      <vt:lpstr>Multiple Links Between ASes</vt:lpstr>
      <vt:lpstr>Multi-Exit Discriminator (MED)</vt:lpstr>
      <vt:lpstr>Multi-Exit Discriminator (MED)</vt:lpstr>
      <vt:lpstr>Multi-Exit Discriminator (MED)</vt:lpstr>
      <vt:lpstr>Multi-Exit Discriminator (MED)</vt:lpstr>
      <vt:lpstr>Importing and Exporting with Tiebreaking Policies</vt:lpstr>
      <vt:lpstr>Hot Potato Routing and MED are Contradictory</vt:lpstr>
      <vt:lpstr>Hot Potato Routing and MED are Contradictory</vt:lpstr>
      <vt:lpstr>Hot Potato Routing and MED are Contradictory</vt:lpstr>
      <vt:lpstr>Hot Potato Routing and MED are Contradictory</vt:lpstr>
      <vt:lpstr>Message Types, Route Attributes</vt:lpstr>
      <vt:lpstr>Implementing BGP: Message Types</vt:lpstr>
      <vt:lpstr>BGP Update Message Format</vt:lpstr>
      <vt:lpstr>Route Attribute #1: ASPATH</vt:lpstr>
      <vt:lpstr>Route Attribute #2: LOCAL PREFERENCE</vt:lpstr>
      <vt:lpstr>Route Attribute #3: MED</vt:lpstr>
      <vt:lpstr>Import Policy with Attributes</vt:lpstr>
      <vt:lpstr>Issues with BGP</vt:lpstr>
      <vt:lpstr>Issues with BGP</vt:lpstr>
      <vt:lpstr>IPv4 Header Fields</vt:lpstr>
      <vt:lpstr>IP Header Design Goals</vt:lpstr>
      <vt:lpstr>IP Tasks</vt:lpstr>
      <vt:lpstr>Task #1: Parse the Packet</vt:lpstr>
      <vt:lpstr>Task #2: Forward Packet to Next Hop</vt:lpstr>
      <vt:lpstr>Task #3: Tell Destination What to Do Next</vt:lpstr>
      <vt:lpstr>Task #3: Tell Destination What to Do Next</vt:lpstr>
      <vt:lpstr>Task #4: Send Responses Back to Source</vt:lpstr>
      <vt:lpstr>Task #5: Handle Errors: TTL</vt:lpstr>
      <vt:lpstr>Task #5: Handle Errors: Checksum</vt:lpstr>
      <vt:lpstr>Task #5: Handle Errors: Checksum</vt:lpstr>
      <vt:lpstr>Task #5: Handle Errors: Fragmentation</vt:lpstr>
      <vt:lpstr>Task #5: Handle Errors: Fragmentation</vt:lpstr>
      <vt:lpstr>Task #5: Handle Errors: Fragmentation</vt:lpstr>
      <vt:lpstr>Task #6: Specify Special Packet Handling</vt:lpstr>
      <vt:lpstr>Task #6: Specify Special Packet Handling</vt:lpstr>
      <vt:lpstr>Task #6: Specify Special Packet Handling</vt:lpstr>
      <vt:lpstr>Introducing the IP Header</vt:lpstr>
      <vt:lpstr>IPv6 Changes</vt:lpstr>
      <vt:lpstr>Why IPv6?</vt:lpstr>
      <vt:lpstr>Cleanup #1: Eliminate Checksums</vt:lpstr>
      <vt:lpstr>Cleanup #2: Eliminate Fragmentation</vt:lpstr>
      <vt:lpstr>Cleanup #3: Eliminate Options</vt:lpstr>
      <vt:lpstr>Cleanup #3: Eliminate Options</vt:lpstr>
      <vt:lpstr>Cleanup #4: Flow Label</vt:lpstr>
      <vt:lpstr>IPv4 → IPv6 Header</vt:lpstr>
      <vt:lpstr>Philosophy of IPv6 Changes</vt:lpstr>
      <vt:lpstr>IP Security</vt:lpstr>
      <vt:lpstr>Exploiting Source IP: Spoofing</vt:lpstr>
      <vt:lpstr>Exploiting Type of Service</vt:lpstr>
      <vt:lpstr>Exploiting Fragmentation and Options</vt:lpstr>
      <vt:lpstr>Exploiting TTL: Traceroute</vt:lpstr>
      <vt:lpstr>Exploiting Other Fields?</vt:lpstr>
      <vt:lpstr>Summary of IP Attacks</vt:lpstr>
      <vt:lpstr>Recap: IP Header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2026-04-02T19:22:54Z</dcterms:modified>
</cp:coreProperties>
</file>