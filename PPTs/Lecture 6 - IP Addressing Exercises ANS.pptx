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7"/>
  </p:notesMasterIdLst>
  <p:sldIdLst>
    <p:sldId id="257" r:id="rId2"/>
    <p:sldId id="314" r:id="rId3"/>
    <p:sldId id="316" r:id="rId4"/>
    <p:sldId id="317" r:id="rId5"/>
    <p:sldId id="319" r:id="rId6"/>
  </p:sldIdLst>
  <p:sldSz cx="9144000" cy="5143500" type="screen16x9"/>
  <p:notesSz cx="6858000" cy="9144000"/>
  <p:embeddedFontLst>
    <p:embeddedFont>
      <p:font typeface="Roboto" panose="02000000000000000000" pitchFamily="2" charset="0"/>
      <p:regular r:id="rId8"/>
      <p:bold r:id="rId9"/>
      <p:italic r:id="rId10"/>
      <p:boldItalic r:id="rId11"/>
    </p:embeddedFont>
    <p:embeddedFont>
      <p:font typeface="Roboto Light" panose="02000000000000000000" pitchFamily="2" charset="0"/>
      <p:regular r:id="rId12"/>
      <p:bold r:id="rId13"/>
      <p:italic r:id="rId14"/>
      <p:boldItalic r:id="rId15"/>
    </p:embeddedFont>
    <p:embeddedFont>
      <p:font typeface="Roboto Medium" panose="020000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6CA6B4-EC95-4943-9B8B-4C15AE2946E9}" v="59" dt="2026-01-31T21:51:47.026"/>
    <p1510:client id="{F9F474EB-692B-48F6-8441-5B42F84C3E86}" v="8" dt="2026-01-31T05:22:58.139"/>
  </p1510:revLst>
</p1510:revInfo>
</file>

<file path=ppt/tableStyles.xml><?xml version="1.0" encoding="utf-8"?>
<a:tblStyleLst xmlns:a="http://schemas.openxmlformats.org/drawingml/2006/main" def="{27E6BCBA-AEE7-4C30-AAAD-D4F55D72C083}">
  <a:tblStyle styleId="{27E6BCBA-AEE7-4C30-AAAD-D4F55D72C08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8.fntdata"/><Relationship Id="rId23" Type="http://schemas.openxmlformats.org/officeDocument/2006/relationships/tableStyles" Target="tableStyles.xml"/><Relationship Id="rId10" Type="http://schemas.openxmlformats.org/officeDocument/2006/relationships/font" Target="fonts/font3.fntdata"/><Relationship Id="rId19"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7879dbf297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27879dbf297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so we will start with that first</a:t>
            </a:r>
            <a:r>
              <a:rPr lang="en-US" dirty="0"/>
              <a:t>Link-state is relatively simple. All the complexity is in the details!</a:t>
            </a:r>
          </a:p>
          <a:p>
            <a:pPr marL="457200" lvl="0" indent="-342900" algn="l" rtl="0">
              <a:spcBef>
                <a:spcPts val="600"/>
              </a:spcBef>
              <a:spcAft>
                <a:spcPts val="0"/>
              </a:spcAft>
              <a:buSzPts val="1800"/>
              <a:buChar char="●"/>
            </a:pPr>
            <a:r>
              <a:rPr lang="en-US" dirty="0"/>
              <a:t>Everyone floods link/destination information.</a:t>
            </a:r>
          </a:p>
          <a:p>
            <a:pPr marL="457200" lvl="0" indent="-342900" algn="l" rtl="0">
              <a:spcBef>
                <a:spcPts val="0"/>
              </a:spcBef>
              <a:spcAft>
                <a:spcPts val="0"/>
              </a:spcAft>
              <a:buSzPts val="1800"/>
              <a:buChar char="●"/>
            </a:pPr>
            <a:r>
              <a:rPr lang="en-US" dirty="0"/>
              <a:t>Everyone has a global map of the network.</a:t>
            </a:r>
          </a:p>
          <a:p>
            <a:pPr marL="457200" lvl="0" indent="-342900" algn="l" rtl="0">
              <a:spcBef>
                <a:spcPts val="0"/>
              </a:spcBef>
              <a:spcAft>
                <a:spcPts val="0"/>
              </a:spcAft>
              <a:buSzPts val="1800"/>
              <a:buChar char="●"/>
            </a:pPr>
            <a:r>
              <a:rPr lang="en-US" dirty="0"/>
              <a:t>Everyone independently computes next-hops.</a:t>
            </a:r>
          </a:p>
          <a:p>
            <a:pPr marL="0" lvl="0" indent="0" algn="l" rtl="0">
              <a:spcBef>
                <a:spcPts val="600"/>
              </a:spcBef>
              <a:spcAft>
                <a:spcPts val="0"/>
              </a:spcAft>
              <a:buNone/>
            </a:pPr>
            <a:r>
              <a:rPr lang="en-US" dirty="0"/>
              <a:t>Why might we want to use link-state over distance-vector?</a:t>
            </a:r>
          </a:p>
          <a:p>
            <a:pPr marL="457200" lvl="0" indent="-342900" algn="l" rtl="0">
              <a:spcBef>
                <a:spcPts val="600"/>
              </a:spcBef>
              <a:spcAft>
                <a:spcPts val="0"/>
              </a:spcAft>
              <a:buSzPts val="1800"/>
              <a:buChar char="●"/>
            </a:pPr>
            <a:r>
              <a:rPr lang="en-US" dirty="0"/>
              <a:t>Link-state gives routers more control over the path they choose.</a:t>
            </a:r>
          </a:p>
          <a:p>
            <a:pPr marL="914400" lvl="1" indent="-342900" algn="l" rtl="0">
              <a:spcBef>
                <a:spcPts val="0"/>
              </a:spcBef>
              <a:spcAft>
                <a:spcPts val="0"/>
              </a:spcAft>
              <a:buSzPts val="1800"/>
              <a:buChar char="○"/>
            </a:pPr>
            <a:r>
              <a:rPr lang="en-US" dirty="0"/>
              <a:t>Distance-vector: We have to trust what our neighbor says, and we don't know the path they're using.</a:t>
            </a:r>
          </a:p>
          <a:p>
            <a:pPr marL="457200" lvl="0" indent="-342900" algn="l" rtl="0">
              <a:spcBef>
                <a:spcPts val="0"/>
              </a:spcBef>
              <a:spcAft>
                <a:spcPts val="0"/>
              </a:spcAft>
              <a:buSzPts val="1800"/>
              <a:buChar char="●"/>
            </a:pPr>
            <a:r>
              <a:rPr lang="en-US" dirty="0"/>
              <a:t>Link-state might be better at converging.</a:t>
            </a:r>
          </a:p>
          <a:p>
            <a:pPr marL="914400" lvl="1" indent="-342900" algn="l" rtl="0">
              <a:spcBef>
                <a:spcPts val="0"/>
              </a:spcBef>
              <a:spcAft>
                <a:spcPts val="0"/>
              </a:spcAft>
              <a:buSzPts val="1800"/>
              <a:buChar char="○"/>
            </a:pPr>
            <a:r>
              <a:rPr lang="en-US" dirty="0"/>
              <a:t>Distance-vector: Wait for neighbor to recompute and re-advertise path.</a:t>
            </a:r>
          </a:p>
          <a:p>
            <a:pPr marL="914400" lvl="1" indent="-342900" algn="l" rtl="0">
              <a:spcBef>
                <a:spcPts val="0"/>
              </a:spcBef>
              <a:spcAft>
                <a:spcPts val="0"/>
              </a:spcAft>
              <a:buSzPts val="1800"/>
              <a:buChar char="○"/>
            </a:pPr>
            <a:r>
              <a:rPr lang="en-US" dirty="0"/>
              <a:t>Link-state: Flood information before recomputing.</a:t>
            </a:r>
          </a:p>
          <a:p>
            <a:pPr marL="0" lvl="0" indent="0" algn="l" rtl="0">
              <a:spcBef>
                <a:spcPts val="600"/>
              </a:spcBef>
              <a:spcAft>
                <a:spcPts val="0"/>
              </a:spcAft>
              <a:buNone/>
            </a:pPr>
            <a:r>
              <a:rPr lang="en-US" dirty="0"/>
              <a:t>Real networks often use a combination of path/distance-vector and link-state.</a:t>
            </a:r>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r>
              <a:rPr lang="en" dirty="0"/>
              <a:t>0:27</a:t>
            </a:r>
            <a:endParaRPr dirty="0"/>
          </a:p>
          <a:p>
            <a:pPr marL="0" lvl="0" indent="0" algn="l" rtl="0">
              <a:spcBef>
                <a:spcPts val="0"/>
              </a:spcBef>
              <a:spcAft>
                <a:spcPts val="0"/>
              </a:spcAft>
              <a:buNone/>
            </a:pPr>
            <a:r>
              <a:rPr lang="en" dirty="0"/>
              <a:t>half where we talk all about link State protocol </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6"/>
        <p:cNvGrpSpPr/>
        <p:nvPr/>
      </p:nvGrpSpPr>
      <p:grpSpPr>
        <a:xfrm>
          <a:off x="0" y="0"/>
          <a:ext cx="0" cy="0"/>
          <a:chOff x="0" y="0"/>
          <a:chExt cx="0" cy="0"/>
        </a:xfrm>
      </p:grpSpPr>
      <p:sp>
        <p:nvSpPr>
          <p:cNvPr id="1797" name="Google Shape;1797;g27886deaaff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8" name="Google Shape;1798;g27886deaaff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okay let me just quickly summarize for you</a:t>
            </a:r>
            <a:endParaRPr/>
          </a:p>
          <a:p>
            <a:pPr marL="0" lvl="0" indent="0" algn="l" rtl="0">
              <a:spcBef>
                <a:spcPts val="0"/>
              </a:spcBef>
              <a:spcAft>
                <a:spcPts val="0"/>
              </a:spcAft>
              <a:buClr>
                <a:schemeClr val="dk1"/>
              </a:buClr>
              <a:buSzPts val="1100"/>
              <a:buFont typeface="Arial"/>
              <a:buNone/>
            </a:pPr>
            <a:r>
              <a:rPr lang="en"/>
              <a:t>1:21:19</a:t>
            </a:r>
            <a:endParaRPr/>
          </a:p>
          <a:p>
            <a:pPr marL="0" lvl="0" indent="0" algn="l" rtl="0">
              <a:spcBef>
                <a:spcPts val="0"/>
              </a:spcBef>
              <a:spcAft>
                <a:spcPts val="0"/>
              </a:spcAft>
              <a:buClr>
                <a:schemeClr val="dk1"/>
              </a:buClr>
              <a:buSzPts val="1100"/>
              <a:buFont typeface="Arial"/>
              <a:buNone/>
            </a:pPr>
            <a:r>
              <a:rPr lang="en"/>
              <a:t>host on the internet have addresses ipv4 or IPv6 both of them use higher archical</a:t>
            </a:r>
            <a:endParaRPr/>
          </a:p>
          <a:p>
            <a:pPr marL="0" lvl="0" indent="0" algn="l" rtl="0">
              <a:spcBef>
                <a:spcPts val="0"/>
              </a:spcBef>
              <a:spcAft>
                <a:spcPts val="0"/>
              </a:spcAft>
              <a:buClr>
                <a:schemeClr val="dk1"/>
              </a:buClr>
              <a:buSzPts val="1100"/>
              <a:buFont typeface="Arial"/>
              <a:buNone/>
            </a:pPr>
            <a:r>
              <a:rPr lang="en"/>
              <a:t>1:21:25</a:t>
            </a:r>
            <a:endParaRPr/>
          </a:p>
          <a:p>
            <a:pPr marL="0" lvl="0" indent="0" algn="l" rtl="0">
              <a:spcBef>
                <a:spcPts val="0"/>
              </a:spcBef>
              <a:spcAft>
                <a:spcPts val="0"/>
              </a:spcAft>
              <a:buClr>
                <a:schemeClr val="dk1"/>
              </a:buClr>
              <a:buSzPts val="1100"/>
              <a:buFont typeface="Arial"/>
              <a:buNone/>
            </a:pPr>
            <a:r>
              <a:rPr lang="en"/>
              <a:t>addressing we saw three different approaches to doing so and we landed on the classless approach because it scales</a:t>
            </a:r>
            <a:endParaRPr/>
          </a:p>
          <a:p>
            <a:pPr marL="0" lvl="0" indent="0" algn="l" rtl="0">
              <a:spcBef>
                <a:spcPts val="0"/>
              </a:spcBef>
              <a:spcAft>
                <a:spcPts val="0"/>
              </a:spcAft>
              <a:buClr>
                <a:schemeClr val="dk1"/>
              </a:buClr>
              <a:buSzPts val="1100"/>
              <a:buFont typeface="Arial"/>
              <a:buNone/>
            </a:pPr>
            <a:r>
              <a:rPr lang="en"/>
              <a:t>1:21:31</a:t>
            </a:r>
            <a:endParaRPr/>
          </a:p>
          <a:p>
            <a:pPr marL="0" lvl="0" indent="0" algn="l" rtl="0">
              <a:spcBef>
                <a:spcPts val="0"/>
              </a:spcBef>
              <a:spcAft>
                <a:spcPts val="0"/>
              </a:spcAft>
              <a:buClr>
                <a:schemeClr val="dk1"/>
              </a:buClr>
              <a:buSzPts val="1100"/>
              <a:buFont typeface="Arial"/>
              <a:buNone/>
            </a:pPr>
            <a:r>
              <a:rPr lang="en"/>
              <a:t>the best and it matches hierarchies that we see in real life and because of these</a:t>
            </a:r>
            <a:endParaRPr/>
          </a:p>
          <a:p>
            <a:pPr marL="0" lvl="0" indent="0" algn="l" rtl="0">
              <a:spcBef>
                <a:spcPts val="0"/>
              </a:spcBef>
              <a:spcAft>
                <a:spcPts val="0"/>
              </a:spcAft>
              <a:buClr>
                <a:schemeClr val="dk1"/>
              </a:buClr>
              <a:buSzPts val="1100"/>
              <a:buFont typeface="Arial"/>
              <a:buNone/>
            </a:pPr>
            <a:r>
              <a:rPr lang="en"/>
              <a:t>1:21:36</a:t>
            </a:r>
            <a:endParaRPr/>
          </a:p>
          <a:p>
            <a:pPr marL="0" lvl="0" indent="0" algn="l" rtl="0">
              <a:spcBef>
                <a:spcPts val="0"/>
              </a:spcBef>
              <a:spcAft>
                <a:spcPts val="0"/>
              </a:spcAft>
              <a:buClr>
                <a:schemeClr val="dk1"/>
              </a:buClr>
              <a:buSzPts val="1100"/>
              <a:buFont typeface="Arial"/>
              <a:buNone/>
            </a:pPr>
            <a:r>
              <a:rPr lang="en"/>
              <a:t>hierarchical addressing schemes it allows us to write ranges in our forwarding tables as opposed to</a:t>
            </a:r>
            <a:endParaRPr/>
          </a:p>
          <a:p>
            <a:pPr marL="0" lvl="0" indent="0" algn="l" rtl="0">
              <a:spcBef>
                <a:spcPts val="0"/>
              </a:spcBef>
              <a:spcAft>
                <a:spcPts val="0"/>
              </a:spcAft>
              <a:buClr>
                <a:schemeClr val="dk1"/>
              </a:buClr>
              <a:buSzPts val="1100"/>
              <a:buFont typeface="Arial"/>
              <a:buNone/>
            </a:pPr>
            <a:r>
              <a:rPr lang="en"/>
              <a:t>1:21:42</a:t>
            </a:r>
            <a:endParaRPr/>
          </a:p>
          <a:p>
            <a:pPr marL="0" lvl="0" indent="0" algn="l" rtl="0">
              <a:spcBef>
                <a:spcPts val="0"/>
              </a:spcBef>
              <a:spcAft>
                <a:spcPts val="0"/>
              </a:spcAft>
              <a:buClr>
                <a:schemeClr val="dk1"/>
              </a:buClr>
              <a:buSzPts val="1100"/>
              <a:buFont typeface="Arial"/>
              <a:buNone/>
            </a:pPr>
            <a:r>
              <a:rPr lang="en"/>
              <a:t>individual addresses and we also saw that the wild card can help us aggregate even further</a:t>
            </a:r>
            <a:endParaRPr/>
          </a:p>
          <a:p>
            <a:pPr marL="0" lvl="0" indent="0" algn="l" rtl="0">
              <a:spcBef>
                <a:spcPts val="0"/>
              </a:spcBef>
              <a:spcAft>
                <a:spcPts val="0"/>
              </a:spcAft>
              <a:buClr>
                <a:schemeClr val="dk1"/>
              </a:buClr>
              <a:buSzPts val="1100"/>
              <a:buFont typeface="Arial"/>
              <a:buNone/>
            </a:pPr>
            <a:r>
              <a:rPr lang="en"/>
              <a:t>1:21:48</a:t>
            </a:r>
            <a:endParaRPr/>
          </a:p>
          <a:p>
            <a:pPr marL="0" lvl="0" indent="0" algn="l" rtl="0">
              <a:spcBef>
                <a:spcPts val="0"/>
              </a:spcBef>
              <a:spcAft>
                <a:spcPts val="0"/>
              </a:spcAft>
              <a:buClr>
                <a:schemeClr val="dk1"/>
              </a:buClr>
              <a:buSzPts val="1100"/>
              <a:buFont typeface="Arial"/>
              <a:buNone/>
            </a:pPr>
            <a:r>
              <a:rPr lang="en"/>
              <a:t>and more aggressively to get much more scalable tables so that's your a little preview of in domain routing if you come</a:t>
            </a:r>
            <a:endParaRPr/>
          </a:p>
          <a:p>
            <a:pPr marL="0" lvl="0" indent="0" algn="l" rtl="0">
              <a:spcBef>
                <a:spcPts val="0"/>
              </a:spcBef>
              <a:spcAft>
                <a:spcPts val="0"/>
              </a:spcAft>
              <a:buClr>
                <a:schemeClr val="dk1"/>
              </a:buClr>
              <a:buSzPts val="1100"/>
              <a:buFont typeface="Arial"/>
              <a:buNone/>
            </a:pPr>
            <a:r>
              <a:rPr lang="en"/>
              <a:t>1:21:54</a:t>
            </a:r>
            <a:endParaRPr/>
          </a:p>
          <a:p>
            <a:pPr marL="0" lvl="0" indent="0" algn="l" rtl="0">
              <a:spcBef>
                <a:spcPts val="0"/>
              </a:spcBef>
              <a:spcAft>
                <a:spcPts val="0"/>
              </a:spcAft>
              <a:buClr>
                <a:schemeClr val="dk1"/>
              </a:buClr>
              <a:buSzPts val="1100"/>
              <a:buFont typeface="Arial"/>
              <a:buNone/>
            </a:pPr>
            <a:r>
              <a:rPr lang="en"/>
              <a:t>back next we'll talk about inter domain so that’s that for today</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6" name="Google Shape;16;p3"/>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1" name="Google Shape;21;p4"/>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914400" lvl="1"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371600" lvl="2"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1828800" lvl="3"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2286000" lvl="4"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2743200" lvl="5"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3200400" lvl="6"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3657600" lvl="7"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4114800" lvl="8"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sp>
        <p:nvSpPr>
          <p:cNvPr id="26" name="Google Shape;26;p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7" name="Google Shape;27;p5"/>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28" name="Google Shape;28;p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6"/>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4" name="Google Shape;34;p6"/>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5" name="Google Shape;35;p6"/>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6" name="Google Shape;36;p6"/>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0" name="Google Shape;40;p7"/>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1" name="Google Shape;41;p7"/>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2" name="Google Shape;42;p7"/>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3" name="Google Shape;43;p7"/>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8"/>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9" name="Google Shape;49;p8"/>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0" name="Google Shape;50;p8"/>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1" name="Google Shape;51;p8"/>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a:t>
            </a:r>
            <a:endParaRPr sz="2500" b="1">
              <a:solidFill>
                <a:schemeClr val="accent3"/>
              </a:solidFill>
              <a:latin typeface="Roboto"/>
              <a:ea typeface="Roboto"/>
              <a:cs typeface="Roboto"/>
              <a:sym typeface="Robo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8" name="Google Shape;58;p9"/>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Compare</a:t>
            </a:r>
            <a:endParaRPr sz="2500" b="1">
              <a:solidFill>
                <a:schemeClr val="accent3"/>
              </a:solidFill>
              <a:latin typeface="Roboto"/>
              <a:ea typeface="Roboto"/>
              <a:cs typeface="Roboto"/>
              <a:sym typeface="Roboto"/>
            </a:endParaRPr>
          </a:p>
        </p:txBody>
      </p:sp>
      <p:sp>
        <p:nvSpPr>
          <p:cNvPr id="59" name="Google Shape;59;p9"/>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0" name="Google Shape;60;p9"/>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1" name="Google Shape;61;p9"/>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0"/>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7" name="Google Shape;67;p10"/>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Solution</a:t>
            </a:r>
            <a:endParaRPr sz="2500" b="1">
              <a:solidFill>
                <a:schemeClr val="accent3"/>
              </a:solidFill>
              <a:latin typeface="Roboto"/>
              <a:ea typeface="Roboto"/>
              <a:cs typeface="Roboto"/>
              <a:sym typeface="Roboto"/>
            </a:endParaRPr>
          </a:p>
        </p:txBody>
      </p:sp>
      <p:sp>
        <p:nvSpPr>
          <p:cNvPr id="68" name="Google Shape;68;p10"/>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9" name="Google Shape;69;p10"/>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0" name="Google Shape;70;p10"/>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1"/>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6" name="Google Shape;7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78" name="Google Shape;78;p11"/>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5" name="Google Shape;85;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9" name="Google Shape;89;p1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90" name="Google Shape;90;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1" name="Google Shape;91;p14"/>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5"/>
          <p:cNvSpPr txBox="1">
            <a:spLocks noGrp="1"/>
          </p:cNvSpPr>
          <p:nvPr>
            <p:ph type="title"/>
          </p:nvPr>
        </p:nvSpPr>
        <p:spPr>
          <a:xfrm>
            <a:off x="95425" y="4288400"/>
            <a:ext cx="8658900" cy="768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a:endParaRPr/>
          </a:p>
        </p:txBody>
      </p:sp>
      <p:cxnSp>
        <p:nvCxnSpPr>
          <p:cNvPr id="95" name="Google Shape;95;p15"/>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98"/>
        <p:cNvGrpSpPr/>
        <p:nvPr/>
      </p:nvGrpSpPr>
      <p:grpSpPr>
        <a:xfrm>
          <a:off x="0" y="0"/>
          <a:ext cx="0" cy="0"/>
          <a:chOff x="0" y="0"/>
          <a:chExt cx="0" cy="0"/>
        </a:xfrm>
      </p:grpSpPr>
      <p:sp>
        <p:nvSpPr>
          <p:cNvPr id="99" name="Google Shape;9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3" name="Google Shape;103;p1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106" name="Google Shape;106;p18"/>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07" name="Google Shape;107;p1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1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12" name="Google Shape;112;p1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3" name="Google Shape;113;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20"/>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8" name="Google Shape;118;p20"/>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9" name="Google Shape;119;p20"/>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2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5" name="Google Shape;125;p2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6" name="Google Shape;126;p21"/>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27" name="Google Shape;127;p21"/>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5" name="Google Shape;135;p23"/>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6" name="Google Shape;136;p23"/>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7" name="Google Shape;137;p23"/>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5"/>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buNone/>
            </a:pPr>
            <a:r>
              <a:rPr lang="en-US" b="1" dirty="0">
                <a:solidFill>
                  <a:schemeClr val="accent3"/>
                </a:solidFill>
                <a:latin typeface="Roboto"/>
                <a:ea typeface="Roboto"/>
                <a:cs typeface="Roboto"/>
                <a:sym typeface="Roboto"/>
              </a:rPr>
              <a:t>IP Addressing</a:t>
            </a:r>
          </a:p>
          <a:p>
            <a:pPr>
              <a:spcBef>
                <a:spcPts val="0"/>
              </a:spcBef>
              <a:buClr>
                <a:srgbClr val="B7B7B7"/>
              </a:buClr>
            </a:pPr>
            <a:r>
              <a:rPr lang="en-US" dirty="0">
                <a:solidFill>
                  <a:srgbClr val="B7B7B7"/>
                </a:solidFill>
                <a:sym typeface="Roboto"/>
              </a:rPr>
              <a:t>Hierarchical Addressing</a:t>
            </a:r>
          </a:p>
          <a:p>
            <a:pPr lvl="0">
              <a:spcBef>
                <a:spcPts val="0"/>
              </a:spcBef>
              <a:buClr>
                <a:srgbClr val="B7B7B7"/>
              </a:buClr>
            </a:pPr>
            <a:r>
              <a:rPr lang="en-US" dirty="0">
                <a:solidFill>
                  <a:srgbClr val="B7B7B7"/>
                </a:solidFill>
              </a:rPr>
              <a:t>Assigning Addresses</a:t>
            </a:r>
          </a:p>
          <a:p>
            <a:pPr lvl="0">
              <a:spcBef>
                <a:spcPts val="0"/>
              </a:spcBef>
              <a:buClr>
                <a:srgbClr val="B7B7B7"/>
              </a:buClr>
            </a:pPr>
            <a:r>
              <a:rPr lang="en-US" dirty="0">
                <a:solidFill>
                  <a:srgbClr val="B7B7B7"/>
                </a:solidFill>
              </a:rPr>
              <a:t>Writing Addresses</a:t>
            </a:r>
          </a:p>
          <a:p>
            <a:pPr lvl="0">
              <a:spcBef>
                <a:spcPts val="0"/>
              </a:spcBef>
              <a:buClr>
                <a:srgbClr val="B7B7B7"/>
              </a:buClr>
            </a:pPr>
            <a:r>
              <a:rPr lang="en-US" dirty="0">
                <a:solidFill>
                  <a:srgbClr val="B7B7B7"/>
                </a:solidFill>
              </a:rPr>
              <a:t>Aggregating Routes</a:t>
            </a:r>
          </a:p>
          <a:p>
            <a:pPr lvl="0">
              <a:spcBef>
                <a:spcPts val="0"/>
              </a:spcBef>
              <a:buClr>
                <a:srgbClr val="B7B7B7"/>
              </a:buClr>
            </a:pPr>
            <a:r>
              <a:rPr lang="en-US" dirty="0">
                <a:solidFill>
                  <a:srgbClr val="B7B7B7"/>
                </a:solidFill>
              </a:rPr>
              <a:t>IPv6 Changes</a:t>
            </a:r>
          </a:p>
        </p:txBody>
      </p:sp>
      <p:sp>
        <p:nvSpPr>
          <p:cNvPr id="179" name="Google Shape;179;p2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IP Addressing Exercises ANS</a:t>
            </a:r>
            <a:endParaRPr dirty="0"/>
          </a:p>
        </p:txBody>
      </p:sp>
      <p:sp>
        <p:nvSpPr>
          <p:cNvPr id="180" name="Google Shape;180;p2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6, Spring 2026</a:t>
            </a:r>
            <a:endParaRPr dirty="0"/>
          </a:p>
        </p:txBody>
      </p:sp>
      <p:sp>
        <p:nvSpPr>
          <p:cNvPr id="2" name="Slide Number Placeholder 1">
            <a:extLst>
              <a:ext uri="{FF2B5EF4-FFF2-40B4-BE49-F238E27FC236}">
                <a16:creationId xmlns:a16="http://schemas.microsoft.com/office/drawing/2014/main" id="{95047751-68D4-D506-BECC-3DE80EF226B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a:t>
            </a:fld>
            <a:endParaRPr lang="e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99"/>
        <p:cNvGrpSpPr/>
        <p:nvPr/>
      </p:nvGrpSpPr>
      <p:grpSpPr>
        <a:xfrm>
          <a:off x="0" y="0"/>
          <a:ext cx="0" cy="0"/>
          <a:chOff x="0" y="0"/>
          <a:chExt cx="0" cy="0"/>
        </a:xfrm>
      </p:grpSpPr>
      <p:sp>
        <p:nvSpPr>
          <p:cNvPr id="1800" name="Google Shape;1800;p82"/>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Q. IP Addressing</a:t>
            </a:r>
            <a:endParaRPr dirty="0"/>
          </a:p>
        </p:txBody>
      </p:sp>
      <p:sp>
        <p:nvSpPr>
          <p:cNvPr id="1801" name="Google Shape;1801;p82"/>
          <p:cNvSpPr txBox="1">
            <a:spLocks noGrp="1"/>
          </p:cNvSpPr>
          <p:nvPr>
            <p:ph type="body" idx="1"/>
          </p:nvPr>
        </p:nvSpPr>
        <p:spPr>
          <a:xfrm>
            <a:off x="111458" y="263108"/>
            <a:ext cx="8909700" cy="2847827"/>
          </a:xfrm>
          <a:prstGeom prst="rect">
            <a:avLst/>
          </a:prstGeom>
        </p:spPr>
        <p:txBody>
          <a:bodyPr spcFirstLastPara="1" wrap="square" lIns="91425" tIns="91425" rIns="91425" bIns="91425" anchor="t" anchorCtr="0">
            <a:normAutofit fontScale="85000" lnSpcReduction="20000"/>
          </a:bodyPr>
          <a:lstStyle/>
          <a:p>
            <a:pPr marL="114300" lvl="0" indent="0">
              <a:buNone/>
            </a:pPr>
            <a:r>
              <a:rPr lang="en-US" dirty="0"/>
              <a:t>Suppose hofstra.edu is the Provider AS for Engineering (Engr), CS, Math, and Chemistry, and needs to assign IPv4 addresses to them. Assume that the CIDR (Classless </a:t>
            </a:r>
            <a:r>
              <a:rPr lang="en-US" dirty="0" err="1"/>
              <a:t>InterDomain</a:t>
            </a:r>
            <a:r>
              <a:rPr lang="en-US" dirty="0"/>
              <a:t> Routing) addressing scheme is used, and that the domain hofstra.edu has the 123.100.0.0/16 prefix reserved.</a:t>
            </a:r>
          </a:p>
          <a:p>
            <a:pPr lvl="0">
              <a:buAutoNum type="arabicParenR"/>
            </a:pPr>
            <a:r>
              <a:rPr lang="en-US" dirty="0"/>
              <a:t>Which addresses are included in the Math department’s prefix? How many addresses are in this range?</a:t>
            </a:r>
          </a:p>
          <a:p>
            <a:pPr lvl="0">
              <a:buAutoNum type="arabicParenR"/>
            </a:pPr>
            <a:r>
              <a:rPr lang="en-US" dirty="0"/>
              <a:t>123.100.192.0/18 is reserved for Engr and CS. Assign equal halves of this address space to the two departments.</a:t>
            </a:r>
          </a:p>
          <a:p>
            <a:pPr lvl="0">
              <a:buAutoNum type="arabicParenR"/>
            </a:pPr>
            <a:r>
              <a:rPr lang="en-US" dirty="0"/>
              <a:t>You want to start a new department of AI, and assign it an unused address range. You foresee that no more than 50 people will enroll. Assuming one address per person, what prefix would you assign to it to minimize unused/wasted addresses?</a:t>
            </a:r>
            <a:endParaRPr dirty="0"/>
          </a:p>
        </p:txBody>
      </p:sp>
      <p:sp>
        <p:nvSpPr>
          <p:cNvPr id="2" name="Slide Number Placeholder 1">
            <a:extLst>
              <a:ext uri="{FF2B5EF4-FFF2-40B4-BE49-F238E27FC236}">
                <a16:creationId xmlns:a16="http://schemas.microsoft.com/office/drawing/2014/main" id="{E3ACBD84-5D5D-C4F8-9596-91722AFE53E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
        <p:nvSpPr>
          <p:cNvPr id="5" name="Oval 4">
            <a:extLst>
              <a:ext uri="{FF2B5EF4-FFF2-40B4-BE49-F238E27FC236}">
                <a16:creationId xmlns:a16="http://schemas.microsoft.com/office/drawing/2014/main" id="{6D72A6F2-3226-F110-5D87-7BDA2E1C948E}"/>
              </a:ext>
            </a:extLst>
          </p:cNvPr>
          <p:cNvSpPr/>
          <p:nvPr/>
        </p:nvSpPr>
        <p:spPr>
          <a:xfrm>
            <a:off x="3367669" y="3449658"/>
            <a:ext cx="1092820" cy="557561"/>
          </a:xfrm>
          <a:prstGeom prst="ellipse">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Hofstra.edu</a:t>
            </a:r>
          </a:p>
        </p:txBody>
      </p:sp>
      <p:sp>
        <p:nvSpPr>
          <p:cNvPr id="6" name="Oval 5">
            <a:extLst>
              <a:ext uri="{FF2B5EF4-FFF2-40B4-BE49-F238E27FC236}">
                <a16:creationId xmlns:a16="http://schemas.microsoft.com/office/drawing/2014/main" id="{EC4325FF-C3D8-2D5B-D486-41386973440B}"/>
              </a:ext>
            </a:extLst>
          </p:cNvPr>
          <p:cNvSpPr/>
          <p:nvPr/>
        </p:nvSpPr>
        <p:spPr>
          <a:xfrm>
            <a:off x="4966011" y="2672321"/>
            <a:ext cx="859684" cy="438614"/>
          </a:xfrm>
          <a:prstGeom prst="ellipse">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Engr</a:t>
            </a:r>
          </a:p>
        </p:txBody>
      </p:sp>
      <p:sp>
        <p:nvSpPr>
          <p:cNvPr id="7" name="Oval 6">
            <a:extLst>
              <a:ext uri="{FF2B5EF4-FFF2-40B4-BE49-F238E27FC236}">
                <a16:creationId xmlns:a16="http://schemas.microsoft.com/office/drawing/2014/main" id="{872B7942-470D-70D0-4457-3AAB90A3F34E}"/>
              </a:ext>
            </a:extLst>
          </p:cNvPr>
          <p:cNvSpPr/>
          <p:nvPr/>
        </p:nvSpPr>
        <p:spPr>
          <a:xfrm>
            <a:off x="4966011" y="3289825"/>
            <a:ext cx="859684" cy="438614"/>
          </a:xfrm>
          <a:prstGeom prst="ellipse">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CS</a:t>
            </a:r>
          </a:p>
        </p:txBody>
      </p:sp>
      <p:sp>
        <p:nvSpPr>
          <p:cNvPr id="8" name="Oval 7">
            <a:extLst>
              <a:ext uri="{FF2B5EF4-FFF2-40B4-BE49-F238E27FC236}">
                <a16:creationId xmlns:a16="http://schemas.microsoft.com/office/drawing/2014/main" id="{5A562CF0-46AA-9937-D14D-648132E2F7D0}"/>
              </a:ext>
            </a:extLst>
          </p:cNvPr>
          <p:cNvSpPr/>
          <p:nvPr/>
        </p:nvSpPr>
        <p:spPr>
          <a:xfrm>
            <a:off x="4966011" y="3907329"/>
            <a:ext cx="859684" cy="438614"/>
          </a:xfrm>
          <a:prstGeom prst="ellipse">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Math</a:t>
            </a:r>
          </a:p>
        </p:txBody>
      </p:sp>
      <p:sp>
        <p:nvSpPr>
          <p:cNvPr id="9" name="Oval 8">
            <a:extLst>
              <a:ext uri="{FF2B5EF4-FFF2-40B4-BE49-F238E27FC236}">
                <a16:creationId xmlns:a16="http://schemas.microsoft.com/office/drawing/2014/main" id="{82BCA5F8-2F0D-E1FA-BEC9-79B9DA92D037}"/>
              </a:ext>
            </a:extLst>
          </p:cNvPr>
          <p:cNvSpPr/>
          <p:nvPr/>
        </p:nvSpPr>
        <p:spPr>
          <a:xfrm>
            <a:off x="4890331" y="4524832"/>
            <a:ext cx="1011044" cy="438614"/>
          </a:xfrm>
          <a:prstGeom prst="ellipse">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Chemistry</a:t>
            </a:r>
          </a:p>
        </p:txBody>
      </p:sp>
      <p:cxnSp>
        <p:nvCxnSpPr>
          <p:cNvPr id="11" name="Straight Connector 10">
            <a:extLst>
              <a:ext uri="{FF2B5EF4-FFF2-40B4-BE49-F238E27FC236}">
                <a16:creationId xmlns:a16="http://schemas.microsoft.com/office/drawing/2014/main" id="{0C14EEEB-8175-23F5-2019-C219B4034C68}"/>
              </a:ext>
            </a:extLst>
          </p:cNvPr>
          <p:cNvCxnSpPr>
            <a:stCxn id="5" idx="7"/>
            <a:endCxn id="6" idx="3"/>
          </p:cNvCxnSpPr>
          <p:nvPr/>
        </p:nvCxnSpPr>
        <p:spPr>
          <a:xfrm flipV="1">
            <a:off x="4300449" y="3046701"/>
            <a:ext cx="791460" cy="48461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788A337-4979-3B78-9E4F-C53396D82D27}"/>
              </a:ext>
            </a:extLst>
          </p:cNvPr>
          <p:cNvCxnSpPr>
            <a:cxnSpLocks/>
            <a:stCxn id="5" idx="6"/>
            <a:endCxn id="7" idx="2"/>
          </p:cNvCxnSpPr>
          <p:nvPr/>
        </p:nvCxnSpPr>
        <p:spPr>
          <a:xfrm flipV="1">
            <a:off x="4460489" y="3509132"/>
            <a:ext cx="505522" cy="219307"/>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ACF28492-730E-7DE7-954A-5D6D0002BFE1}"/>
              </a:ext>
            </a:extLst>
          </p:cNvPr>
          <p:cNvCxnSpPr>
            <a:cxnSpLocks/>
            <a:stCxn id="5" idx="5"/>
            <a:endCxn id="8" idx="2"/>
          </p:cNvCxnSpPr>
          <p:nvPr/>
        </p:nvCxnSpPr>
        <p:spPr>
          <a:xfrm>
            <a:off x="4300449" y="3925566"/>
            <a:ext cx="665562" cy="20107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CD1711B7-F55D-8289-6C34-DEC0672735E5}"/>
              </a:ext>
            </a:extLst>
          </p:cNvPr>
          <p:cNvCxnSpPr>
            <a:cxnSpLocks/>
          </p:cNvCxnSpPr>
          <p:nvPr/>
        </p:nvCxnSpPr>
        <p:spPr>
          <a:xfrm>
            <a:off x="4163123" y="3993097"/>
            <a:ext cx="761726" cy="668738"/>
          </a:xfrm>
          <a:prstGeom prst="line">
            <a:avLst/>
          </a:prstGeom>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E244130B-0651-1EC4-CBBF-A99D4C7DAA04}"/>
              </a:ext>
            </a:extLst>
          </p:cNvPr>
          <p:cNvSpPr txBox="1"/>
          <p:nvPr/>
        </p:nvSpPr>
        <p:spPr>
          <a:xfrm>
            <a:off x="1865346" y="3568775"/>
            <a:ext cx="1561588" cy="338554"/>
          </a:xfrm>
          <a:prstGeom prst="rect">
            <a:avLst/>
          </a:prstGeom>
          <a:noFill/>
        </p:spPr>
        <p:txBody>
          <a:bodyPr wrap="square" rtlCol="0">
            <a:spAutoFit/>
          </a:bodyPr>
          <a:lstStyle/>
          <a:p>
            <a:r>
              <a:rPr lang="en-US" sz="1600" dirty="0"/>
              <a:t>123.100.0.0/16</a:t>
            </a:r>
          </a:p>
        </p:txBody>
      </p:sp>
      <p:sp>
        <p:nvSpPr>
          <p:cNvPr id="22" name="TextBox 21">
            <a:extLst>
              <a:ext uri="{FF2B5EF4-FFF2-40B4-BE49-F238E27FC236}">
                <a16:creationId xmlns:a16="http://schemas.microsoft.com/office/drawing/2014/main" id="{B9644645-EF9C-588D-EFEB-60C06E6E40D4}"/>
              </a:ext>
            </a:extLst>
          </p:cNvPr>
          <p:cNvSpPr txBox="1"/>
          <p:nvPr/>
        </p:nvSpPr>
        <p:spPr>
          <a:xfrm>
            <a:off x="5847997" y="3934982"/>
            <a:ext cx="1795991" cy="338554"/>
          </a:xfrm>
          <a:prstGeom prst="rect">
            <a:avLst/>
          </a:prstGeom>
          <a:noFill/>
        </p:spPr>
        <p:txBody>
          <a:bodyPr wrap="square" rtlCol="0">
            <a:spAutoFit/>
          </a:bodyPr>
          <a:lstStyle/>
          <a:p>
            <a:r>
              <a:rPr lang="en-US" sz="1600" dirty="0"/>
              <a:t>123.100.128.0/18</a:t>
            </a:r>
          </a:p>
        </p:txBody>
      </p:sp>
      <p:sp>
        <p:nvSpPr>
          <p:cNvPr id="23" name="TextBox 22">
            <a:extLst>
              <a:ext uri="{FF2B5EF4-FFF2-40B4-BE49-F238E27FC236}">
                <a16:creationId xmlns:a16="http://schemas.microsoft.com/office/drawing/2014/main" id="{26B85093-ECD9-A3D8-38B3-0C7E21E0876C}"/>
              </a:ext>
            </a:extLst>
          </p:cNvPr>
          <p:cNvSpPr txBox="1"/>
          <p:nvPr/>
        </p:nvSpPr>
        <p:spPr>
          <a:xfrm>
            <a:off x="5847997" y="4589730"/>
            <a:ext cx="1795991" cy="338554"/>
          </a:xfrm>
          <a:prstGeom prst="rect">
            <a:avLst/>
          </a:prstGeom>
          <a:noFill/>
        </p:spPr>
        <p:txBody>
          <a:bodyPr wrap="square" rtlCol="0">
            <a:spAutoFit/>
          </a:bodyPr>
          <a:lstStyle/>
          <a:p>
            <a:r>
              <a:rPr lang="en-US" sz="1600" dirty="0"/>
              <a:t>123.100.0.0/18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A2825-6DAE-6360-A350-E8DB71C849BF}"/>
              </a:ext>
            </a:extLst>
          </p:cNvPr>
          <p:cNvSpPr>
            <a:spLocks noGrp="1"/>
          </p:cNvSpPr>
          <p:nvPr>
            <p:ph type="title"/>
          </p:nvPr>
        </p:nvSpPr>
        <p:spPr/>
        <p:txBody>
          <a:bodyPr/>
          <a:lstStyle/>
          <a:p>
            <a:r>
              <a:rPr lang="en" dirty="0"/>
              <a:t>Q. IP Addressing ANS</a:t>
            </a:r>
            <a:endParaRPr lang="en-US" dirty="0"/>
          </a:p>
        </p:txBody>
      </p:sp>
      <p:sp>
        <p:nvSpPr>
          <p:cNvPr id="3" name="Text Placeholder 2">
            <a:extLst>
              <a:ext uri="{FF2B5EF4-FFF2-40B4-BE49-F238E27FC236}">
                <a16:creationId xmlns:a16="http://schemas.microsoft.com/office/drawing/2014/main" id="{AAF0665F-7F92-81C5-DD85-6F4D54F89B64}"/>
              </a:ext>
            </a:extLst>
          </p:cNvPr>
          <p:cNvSpPr>
            <a:spLocks noGrp="1"/>
          </p:cNvSpPr>
          <p:nvPr>
            <p:ph type="body" idx="1"/>
          </p:nvPr>
        </p:nvSpPr>
        <p:spPr/>
        <p:txBody>
          <a:bodyPr/>
          <a:lstStyle/>
          <a:p>
            <a:pPr marL="114300" lvl="0" indent="0">
              <a:buNone/>
            </a:pPr>
            <a:r>
              <a:rPr lang="en-US" dirty="0"/>
              <a:t>1) Which addresses are included in the Math department’s prefix 123.100.128.0/18? How many addresses are in this range?</a:t>
            </a:r>
          </a:p>
          <a:p>
            <a:pPr marL="114300" indent="0">
              <a:buNone/>
            </a:pPr>
            <a:r>
              <a:rPr lang="en-US" b="1" dirty="0"/>
              <a:t>ANS: </a:t>
            </a:r>
            <a:r>
              <a:rPr lang="en-US" dirty="0"/>
              <a:t>Math’s address prefix 123.100.128.0/18, in binary (with the prefix bolded), is:</a:t>
            </a:r>
          </a:p>
          <a:p>
            <a:pPr marL="114300" indent="0">
              <a:buNone/>
            </a:pPr>
            <a:r>
              <a:rPr lang="en-US" b="1" dirty="0"/>
              <a:t>01111011 . 01100100 . 10 </a:t>
            </a:r>
            <a:r>
              <a:rPr lang="en-US" dirty="0"/>
              <a:t>000000 . 00000000</a:t>
            </a:r>
          </a:p>
          <a:p>
            <a:pPr marL="114300" indent="0">
              <a:buNone/>
            </a:pPr>
            <a:r>
              <a:rPr lang="en-US" dirty="0"/>
              <a:t>The range of allowed addresses is thus:</a:t>
            </a:r>
          </a:p>
          <a:p>
            <a:pPr marL="114300" indent="0">
              <a:buNone/>
            </a:pPr>
            <a:r>
              <a:rPr lang="en-US" b="1" dirty="0"/>
              <a:t>01111011 . 01100100 . </a:t>
            </a:r>
            <a:r>
              <a:rPr lang="en-US" b="1" dirty="0">
                <a:solidFill>
                  <a:srgbClr val="C00000"/>
                </a:solidFill>
              </a:rPr>
              <a:t>10 </a:t>
            </a:r>
            <a:r>
              <a:rPr lang="en-US" dirty="0">
                <a:solidFill>
                  <a:srgbClr val="C00000"/>
                </a:solidFill>
              </a:rPr>
              <a:t>000000 </a:t>
            </a:r>
            <a:r>
              <a:rPr lang="en-US" dirty="0"/>
              <a:t>. 00000000 ... </a:t>
            </a:r>
          </a:p>
          <a:p>
            <a:pPr marL="114300" indent="0">
              <a:buNone/>
            </a:pPr>
            <a:r>
              <a:rPr lang="en-US" b="1" dirty="0"/>
              <a:t>01111011 . 01100100 . </a:t>
            </a:r>
            <a:r>
              <a:rPr lang="en-US" b="1" dirty="0">
                <a:solidFill>
                  <a:srgbClr val="C00000"/>
                </a:solidFill>
              </a:rPr>
              <a:t>10 </a:t>
            </a:r>
            <a:r>
              <a:rPr lang="en-US" dirty="0">
                <a:solidFill>
                  <a:srgbClr val="C00000"/>
                </a:solidFill>
              </a:rPr>
              <a:t>111111 </a:t>
            </a:r>
            <a:r>
              <a:rPr lang="en-US" dirty="0"/>
              <a:t>. 11111111</a:t>
            </a:r>
          </a:p>
          <a:p>
            <a:pPr marL="114300" indent="0">
              <a:buNone/>
            </a:pPr>
            <a:r>
              <a:rPr lang="en-US" dirty="0"/>
              <a:t>which in decimal is [123.100.</a:t>
            </a:r>
            <a:r>
              <a:rPr lang="en-US" dirty="0">
                <a:solidFill>
                  <a:srgbClr val="C00000"/>
                </a:solidFill>
              </a:rPr>
              <a:t>128</a:t>
            </a:r>
            <a:r>
              <a:rPr lang="en-US" dirty="0"/>
              <a:t>.0, 123.100.</a:t>
            </a:r>
            <a:r>
              <a:rPr lang="en-US" dirty="0">
                <a:solidFill>
                  <a:srgbClr val="C00000"/>
                </a:solidFill>
              </a:rPr>
              <a:t>191</a:t>
            </a:r>
            <a:r>
              <a:rPr lang="en-US" dirty="0"/>
              <a:t>.255].</a:t>
            </a:r>
          </a:p>
          <a:p>
            <a:pPr marL="114300" indent="0">
              <a:buNone/>
            </a:pPr>
            <a:r>
              <a:rPr lang="en-US" dirty="0"/>
              <a:t>If Math’s prefix is 18 bits long, and IPv4 addresses are 32 bits long, then there are 32 - 18 = 14 bits available to uniquely identify hosts, so this prefix contains 2¹⁴ addresses.</a:t>
            </a:r>
          </a:p>
        </p:txBody>
      </p:sp>
      <p:sp>
        <p:nvSpPr>
          <p:cNvPr id="4" name="Slide Number Placeholder 3">
            <a:extLst>
              <a:ext uri="{FF2B5EF4-FFF2-40B4-BE49-F238E27FC236}">
                <a16:creationId xmlns:a16="http://schemas.microsoft.com/office/drawing/2014/main" id="{774254FA-C585-D357-581B-1029F0F99C0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extLst>
      <p:ext uri="{BB962C8B-B14F-4D97-AF65-F5344CB8AC3E}">
        <p14:creationId xmlns:p14="http://schemas.microsoft.com/office/powerpoint/2010/main" val="3744383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B25F9-C36C-B867-C93E-91938FB0ACC1}"/>
              </a:ext>
            </a:extLst>
          </p:cNvPr>
          <p:cNvSpPr>
            <a:spLocks noGrp="1"/>
          </p:cNvSpPr>
          <p:nvPr>
            <p:ph type="title"/>
          </p:nvPr>
        </p:nvSpPr>
        <p:spPr/>
        <p:txBody>
          <a:bodyPr/>
          <a:lstStyle/>
          <a:p>
            <a:r>
              <a:rPr lang="en" dirty="0"/>
              <a:t>Q. IP Addressing ANS</a:t>
            </a:r>
            <a:endParaRPr lang="en-US" dirty="0"/>
          </a:p>
        </p:txBody>
      </p:sp>
      <p:sp>
        <p:nvSpPr>
          <p:cNvPr id="3" name="Text Placeholder 2">
            <a:extLst>
              <a:ext uri="{FF2B5EF4-FFF2-40B4-BE49-F238E27FC236}">
                <a16:creationId xmlns:a16="http://schemas.microsoft.com/office/drawing/2014/main" id="{B87BACED-F29F-D671-18D3-4361C40EC805}"/>
              </a:ext>
            </a:extLst>
          </p:cNvPr>
          <p:cNvSpPr>
            <a:spLocks noGrp="1"/>
          </p:cNvSpPr>
          <p:nvPr>
            <p:ph type="body" idx="1"/>
          </p:nvPr>
        </p:nvSpPr>
        <p:spPr/>
        <p:txBody>
          <a:bodyPr/>
          <a:lstStyle/>
          <a:p>
            <a:pPr marL="114300" indent="0">
              <a:buNone/>
            </a:pPr>
            <a:r>
              <a:rPr lang="en-US" dirty="0"/>
              <a:t>2) 123.100.192.0/18 is reserved for Engr and CS. Assign equal halves of this address space to the two departments.</a:t>
            </a:r>
          </a:p>
          <a:p>
            <a:pPr marL="114300" indent="0">
              <a:buNone/>
            </a:pPr>
            <a:r>
              <a:rPr lang="en-US" dirty="0"/>
              <a:t>ANS: This address space has the prefix: </a:t>
            </a:r>
          </a:p>
          <a:p>
            <a:pPr marL="114300" indent="0">
              <a:buNone/>
            </a:pPr>
            <a:r>
              <a:rPr lang="en-US" b="1" dirty="0"/>
              <a:t>01111011 . 01100100 . 11 </a:t>
            </a:r>
            <a:r>
              <a:rPr lang="en-US" dirty="0"/>
              <a:t>000000 . 00000000</a:t>
            </a:r>
          </a:p>
          <a:p>
            <a:pPr marL="114300" indent="0">
              <a:buNone/>
            </a:pPr>
            <a:r>
              <a:rPr lang="en-US" dirty="0"/>
              <a:t>To divide this /18 prefix in two, we can assign one /19 prefix to each department:</a:t>
            </a:r>
          </a:p>
          <a:p>
            <a:pPr marL="114300" indent="0">
              <a:buNone/>
            </a:pPr>
            <a:r>
              <a:rPr lang="en-US" dirty="0"/>
              <a:t>Engr: </a:t>
            </a:r>
            <a:r>
              <a:rPr lang="en-US" b="1" dirty="0"/>
              <a:t>01111011 . 01100100 . </a:t>
            </a:r>
            <a:r>
              <a:rPr lang="en-US" b="1" dirty="0">
                <a:solidFill>
                  <a:srgbClr val="C00000"/>
                </a:solidFill>
              </a:rPr>
              <a:t>110 </a:t>
            </a:r>
            <a:r>
              <a:rPr lang="en-US" dirty="0">
                <a:solidFill>
                  <a:srgbClr val="C00000"/>
                </a:solidFill>
              </a:rPr>
              <a:t>00000 </a:t>
            </a:r>
            <a:r>
              <a:rPr lang="en-US" dirty="0"/>
              <a:t>. 00000000 123.100.</a:t>
            </a:r>
            <a:r>
              <a:rPr lang="en-US" dirty="0">
                <a:solidFill>
                  <a:srgbClr val="C00000"/>
                </a:solidFill>
              </a:rPr>
              <a:t>192</a:t>
            </a:r>
            <a:r>
              <a:rPr lang="en-US" dirty="0"/>
              <a:t>.0/19</a:t>
            </a:r>
          </a:p>
          <a:p>
            <a:pPr marL="114300" indent="0">
              <a:buNone/>
            </a:pPr>
            <a:r>
              <a:rPr lang="en-US" dirty="0"/>
              <a:t>CS: </a:t>
            </a:r>
            <a:r>
              <a:rPr lang="en-US" b="1" dirty="0"/>
              <a:t>01111011 . 01100100 . </a:t>
            </a:r>
            <a:r>
              <a:rPr lang="en-US" b="1" dirty="0">
                <a:solidFill>
                  <a:srgbClr val="C00000"/>
                </a:solidFill>
              </a:rPr>
              <a:t>111</a:t>
            </a:r>
            <a:r>
              <a:rPr lang="en-US" dirty="0">
                <a:solidFill>
                  <a:srgbClr val="C00000"/>
                </a:solidFill>
              </a:rPr>
              <a:t> 00000 </a:t>
            </a:r>
            <a:r>
              <a:rPr lang="en-US" dirty="0"/>
              <a:t>. 00000000 123.100.</a:t>
            </a:r>
            <a:r>
              <a:rPr lang="en-US" dirty="0">
                <a:solidFill>
                  <a:srgbClr val="C00000"/>
                </a:solidFill>
              </a:rPr>
              <a:t>224</a:t>
            </a:r>
            <a:r>
              <a:rPr lang="en-US" dirty="0"/>
              <a:t>.0/19 (or vice versa)</a:t>
            </a:r>
          </a:p>
        </p:txBody>
      </p:sp>
      <p:sp>
        <p:nvSpPr>
          <p:cNvPr id="4" name="Slide Number Placeholder 3">
            <a:extLst>
              <a:ext uri="{FF2B5EF4-FFF2-40B4-BE49-F238E27FC236}">
                <a16:creationId xmlns:a16="http://schemas.microsoft.com/office/drawing/2014/main" id="{E5FA9F2B-A788-73D3-BA55-D0D05721FB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extLst>
      <p:ext uri="{BB962C8B-B14F-4D97-AF65-F5344CB8AC3E}">
        <p14:creationId xmlns:p14="http://schemas.microsoft.com/office/powerpoint/2010/main" val="1237959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6EE71-1E56-E6A6-B993-FD50A22D7919}"/>
              </a:ext>
            </a:extLst>
          </p:cNvPr>
          <p:cNvSpPr>
            <a:spLocks noGrp="1"/>
          </p:cNvSpPr>
          <p:nvPr>
            <p:ph type="title"/>
          </p:nvPr>
        </p:nvSpPr>
        <p:spPr/>
        <p:txBody>
          <a:bodyPr/>
          <a:lstStyle/>
          <a:p>
            <a:r>
              <a:rPr lang="en" dirty="0"/>
              <a:t>Q. IP Addressing ANS</a:t>
            </a:r>
            <a:endParaRPr lang="en-US" dirty="0"/>
          </a:p>
        </p:txBody>
      </p:sp>
      <p:sp>
        <p:nvSpPr>
          <p:cNvPr id="3" name="Text Placeholder 2">
            <a:extLst>
              <a:ext uri="{FF2B5EF4-FFF2-40B4-BE49-F238E27FC236}">
                <a16:creationId xmlns:a16="http://schemas.microsoft.com/office/drawing/2014/main" id="{88434284-FE2B-D592-6758-B3E8B5BC4877}"/>
              </a:ext>
            </a:extLst>
          </p:cNvPr>
          <p:cNvSpPr>
            <a:spLocks noGrp="1"/>
          </p:cNvSpPr>
          <p:nvPr>
            <p:ph type="body" idx="1"/>
          </p:nvPr>
        </p:nvSpPr>
        <p:spPr/>
        <p:txBody>
          <a:bodyPr/>
          <a:lstStyle/>
          <a:p>
            <a:pPr marL="114300" indent="0">
              <a:buNone/>
            </a:pPr>
            <a:r>
              <a:rPr lang="en-US" dirty="0"/>
              <a:t>3) You want to start a new department of AI, and assign it an unused address range. You foresee that no more than 50 people will enroll. Assuming one address per person, what prefix would you assign to it to minimize unused/wasted addresses?</a:t>
            </a:r>
          </a:p>
          <a:p>
            <a:pPr marL="114300" indent="0">
              <a:buNone/>
            </a:pPr>
            <a:r>
              <a:rPr lang="en-US" dirty="0"/>
              <a:t>ANS: A 64-address prefix will hold enough addresses for AI, which requires 6 bits for hosts with range of 2</a:t>
            </a:r>
            <a:r>
              <a:rPr lang="en-US" baseline="30000" dirty="0"/>
              <a:t>6</a:t>
            </a:r>
            <a:r>
              <a:rPr lang="en-US" dirty="0"/>
              <a:t> = 64 addresses. Thus, we need a (32 - 6) = /26 prefix. We have to assign a prefix that is currently unclaimed. If Math claimed 123.100.128.0/18, Engr/CS claimed 123.100.192.0/18, and Chemistry claimed 123.100.0.0/18, then only the 123.100.64.0/18 prefix is unclaimed. Hence AI should claim 123.100.64.0/26. In summary:</a:t>
            </a:r>
          </a:p>
          <a:p>
            <a:pPr marL="114300" indent="0">
              <a:buNone/>
            </a:pPr>
            <a:r>
              <a:rPr lang="en-US" dirty="0"/>
              <a:t>Math: 123.100.128.0/18 ==      </a:t>
            </a:r>
            <a:r>
              <a:rPr lang="en-US" b="1" dirty="0"/>
              <a:t>01111011 . 01100100 . 10 </a:t>
            </a:r>
            <a:r>
              <a:rPr lang="en-US" dirty="0"/>
              <a:t>000000 . 00000000</a:t>
            </a:r>
          </a:p>
          <a:p>
            <a:pPr marL="114300" indent="0">
              <a:buNone/>
            </a:pPr>
            <a:r>
              <a:rPr lang="en-US" dirty="0"/>
              <a:t>Engr/CS: 123.100.192.0/18 == </a:t>
            </a:r>
            <a:r>
              <a:rPr lang="en-US" b="1" dirty="0"/>
              <a:t>01111011 . 01100100 . 11 </a:t>
            </a:r>
            <a:r>
              <a:rPr lang="en-US" dirty="0"/>
              <a:t>000000 . 00000000</a:t>
            </a:r>
          </a:p>
          <a:p>
            <a:pPr marL="114300" indent="0">
              <a:buNone/>
            </a:pPr>
            <a:r>
              <a:rPr lang="en-US" dirty="0"/>
              <a:t>Chemistry: 123.100.0.0/18 ==  </a:t>
            </a:r>
            <a:r>
              <a:rPr lang="en-US" b="1" dirty="0"/>
              <a:t>01111011 . 01100100 . 00 </a:t>
            </a:r>
            <a:r>
              <a:rPr lang="en-US" dirty="0"/>
              <a:t>000000 . 00000000</a:t>
            </a:r>
          </a:p>
          <a:p>
            <a:pPr marL="114300" indent="0">
              <a:buNone/>
            </a:pPr>
            <a:r>
              <a:rPr lang="en-US" dirty="0"/>
              <a:t>AI: 123.100.64.0/26 ==              </a:t>
            </a:r>
            <a:r>
              <a:rPr lang="en-US" b="1" dirty="0"/>
              <a:t>01111011 . 01100100 . 01 000000 . 00</a:t>
            </a:r>
            <a:r>
              <a:rPr lang="en-US" dirty="0"/>
              <a:t>000000</a:t>
            </a:r>
          </a:p>
          <a:p>
            <a:pPr marL="114300" indent="0">
              <a:buNone/>
            </a:pPr>
            <a:endParaRPr lang="en-US" dirty="0"/>
          </a:p>
          <a:p>
            <a:pPr marL="114300" indent="0">
              <a:buNone/>
            </a:pPr>
            <a:endParaRPr lang="en-US" dirty="0"/>
          </a:p>
          <a:p>
            <a:pPr marL="114300" indent="0">
              <a:buNone/>
            </a:pPr>
            <a:endParaRPr lang="en-US" dirty="0"/>
          </a:p>
        </p:txBody>
      </p:sp>
      <p:sp>
        <p:nvSpPr>
          <p:cNvPr id="4" name="Slide Number Placeholder 3">
            <a:extLst>
              <a:ext uri="{FF2B5EF4-FFF2-40B4-BE49-F238E27FC236}">
                <a16:creationId xmlns:a16="http://schemas.microsoft.com/office/drawing/2014/main" id="{948EEE7B-A632-947F-3F82-504E4A1166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extLst>
      <p:ext uri="{BB962C8B-B14F-4D97-AF65-F5344CB8AC3E}">
        <p14:creationId xmlns:p14="http://schemas.microsoft.com/office/powerpoint/2010/main" val="3148153022"/>
      </p:ext>
    </p:extLst>
  </p:cSld>
  <p:clrMapOvr>
    <a:masterClrMapping/>
  </p:clrMapOvr>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850</Words>
  <Application>Microsoft Office PowerPoint</Application>
  <PresentationFormat>On-screen Show (16:9)</PresentationFormat>
  <Paragraphs>82</Paragraphs>
  <Slides>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Roboto</vt:lpstr>
      <vt:lpstr>Roboto Light</vt:lpstr>
      <vt:lpstr>Roboto Medium</vt:lpstr>
      <vt:lpstr>Arial</vt:lpstr>
      <vt:lpstr>Simple Lecture</vt:lpstr>
      <vt:lpstr>IP Addressing Exercises ANS</vt:lpstr>
      <vt:lpstr>Q. IP Addressing</vt:lpstr>
      <vt:lpstr>Q. IP Addressing ANS</vt:lpstr>
      <vt:lpstr>Q. IP Addressing ANS</vt:lpstr>
      <vt:lpstr>Q. IP Addressing ANS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Zonghua Gu</dc:creator>
  <cp:lastModifiedBy>Zonghua Gu</cp:lastModifiedBy>
  <cp:revision>2</cp:revision>
  <dcterms:modified xsi:type="dcterms:W3CDTF">2026-01-31T21:55:22Z</dcterms:modified>
</cp:coreProperties>
</file>