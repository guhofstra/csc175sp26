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68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9" r:id="rId11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4"/>
      <p:bold r:id="rId115"/>
      <p:italic r:id="rId116"/>
      <p:boldItalic r:id="rId117"/>
    </p:embeddedFont>
    <p:embeddedFont>
      <p:font typeface="Roboto" panose="02000000000000000000" pitchFamily="2" charset="0"/>
      <p:regular r:id="rId118"/>
      <p:bold r:id="rId119"/>
      <p:italic r:id="rId120"/>
      <p:boldItalic r:id="rId121"/>
    </p:embeddedFont>
    <p:embeddedFont>
      <p:font typeface="Roboto Light" panose="02000000000000000000" pitchFamily="2" charset="0"/>
      <p:regular r:id="rId122"/>
      <p:bold r:id="rId123"/>
      <p:italic r:id="rId124"/>
      <p:boldItalic r:id="rId125"/>
    </p:embeddedFont>
    <p:embeddedFont>
      <p:font typeface="Roboto Medium" panose="02000000000000000000" pitchFamily="2" charset="0"/>
      <p:regular r:id="rId126"/>
      <p:bold r:id="rId127"/>
      <p:italic r:id="rId128"/>
      <p:boldItalic r:id="rId1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1E5F90-31BD-494F-BFAE-8E850EED92B5}" v="24" dt="2026-01-31T04:50:09.227"/>
  </p1510:revLst>
</p1510:revInfo>
</file>

<file path=ppt/tableStyles.xml><?xml version="1.0" encoding="utf-8"?>
<a:tblStyleLst xmlns:a="http://schemas.openxmlformats.org/drawingml/2006/main" def="{9827013E-C202-4D27-A2D1-B1A861925892}">
  <a:tblStyle styleId="{9827013E-C202-4D27-A2D1-B1A8619258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4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0.fntdata"/><Relationship Id="rId128" Type="http://schemas.openxmlformats.org/officeDocument/2006/relationships/font" Target="fonts/font15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font" Target="fonts/font5.fntdata"/><Relationship Id="rId134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1.fntdata"/><Relationship Id="rId129" Type="http://schemas.openxmlformats.org/officeDocument/2006/relationships/font" Target="fonts/font16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.fntdata"/><Relationship Id="rId119" Type="http://schemas.openxmlformats.org/officeDocument/2006/relationships/font" Target="fonts/font6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5" Type="http://schemas.microsoft.com/office/2015/10/relationships/revisionInfo" Target="revisionInfo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7.fntdata"/><Relationship Id="rId125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2.fntdata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8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1-31T04:50:29.598" v="507" actId="20577"/>
      <pc:docMkLst>
        <pc:docMk/>
      </pc:docMkLst>
      <pc:sldChg chg="modSp mod">
        <pc:chgData name="Zonghua Gu" userId="9a7e1853e1951ef5" providerId="LiveId" clId="{CF1FAA12-072C-4ED5-BA76-0FFFAEFDB88A}" dt="2026-01-31T04:50:29.598" v="507" actId="20577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6-01-31T04:50:29.598" v="507" actId="20577"/>
          <ac:spMkLst>
            <pc:docMk/>
            <pc:sldMk cId="0" sldId="257"/>
            <ac:spMk id="160" creationId="{00000000-0000-0000-0000-000000000000}"/>
          </ac:spMkLst>
        </pc:spChg>
        <pc:spChg chg="mod">
          <ac:chgData name="Zonghua Gu" userId="9a7e1853e1951ef5" providerId="LiveId" clId="{CF1FAA12-072C-4ED5-BA76-0FFFAEFDB88A}" dt="2026-01-31T04:50:24.934" v="506" actId="20577"/>
          <ac:spMkLst>
            <pc:docMk/>
            <pc:sldMk cId="0" sldId="257"/>
            <ac:spMk id="161" creationId="{00000000-0000-0000-0000-000000000000}"/>
          </ac:spMkLst>
        </pc:spChg>
      </pc:sldChg>
      <pc:sldChg chg="modNotes">
        <pc:chgData name="Zonghua Gu" userId="9a7e1853e1951ef5" providerId="LiveId" clId="{CF1FAA12-072C-4ED5-BA76-0FFFAEFDB88A}" dt="2026-01-31T01:30:28.742" v="171"/>
        <pc:sldMkLst>
          <pc:docMk/>
          <pc:sldMk cId="0" sldId="270"/>
        </pc:sldMkLst>
      </pc:sldChg>
      <pc:sldChg chg="modNotes">
        <pc:chgData name="Zonghua Gu" userId="9a7e1853e1951ef5" providerId="LiveId" clId="{CF1FAA12-072C-4ED5-BA76-0FFFAEFDB88A}" dt="2026-01-31T01:30:28.742" v="171"/>
        <pc:sldMkLst>
          <pc:docMk/>
          <pc:sldMk cId="0" sldId="273"/>
        </pc:sldMkLst>
      </pc:sldChg>
      <pc:sldChg chg="modSp mod">
        <pc:chgData name="Zonghua Gu" userId="9a7e1853e1951ef5" providerId="LiveId" clId="{CF1FAA12-072C-4ED5-BA76-0FFFAEFDB88A}" dt="2026-01-30T04:06:51.017" v="170" actId="1076"/>
        <pc:sldMkLst>
          <pc:docMk/>
          <pc:sldMk cId="0" sldId="277"/>
        </pc:sldMkLst>
        <pc:spChg chg="mod">
          <ac:chgData name="Zonghua Gu" userId="9a7e1853e1951ef5" providerId="LiveId" clId="{CF1FAA12-072C-4ED5-BA76-0FFFAEFDB88A}" dt="2026-01-30T04:06:11.624" v="162" actId="20577"/>
          <ac:spMkLst>
            <pc:docMk/>
            <pc:sldMk cId="0" sldId="277"/>
            <ac:spMk id="740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1:36.194" v="47" actId="1038"/>
          <ac:spMkLst>
            <pc:docMk/>
            <pc:sldMk cId="0" sldId="277"/>
            <ac:spMk id="741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6:18.472" v="164" actId="1076"/>
          <ac:spMkLst>
            <pc:docMk/>
            <pc:sldMk cId="0" sldId="277"/>
            <ac:spMk id="742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5:52.766" v="146" actId="1076"/>
          <ac:spMkLst>
            <pc:docMk/>
            <pc:sldMk cId="0" sldId="277"/>
            <ac:spMk id="743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6:51.017" v="170" actId="1076"/>
          <ac:spMkLst>
            <pc:docMk/>
            <pc:sldMk cId="0" sldId="277"/>
            <ac:spMk id="744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5:40.925" v="144" actId="14100"/>
          <ac:spMkLst>
            <pc:docMk/>
            <pc:sldMk cId="0" sldId="277"/>
            <ac:spMk id="745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6:31.919" v="169" actId="20577"/>
          <ac:spMkLst>
            <pc:docMk/>
            <pc:sldMk cId="0" sldId="277"/>
            <ac:spMk id="746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31T01:30:28.742" v="171"/>
        <pc:sldMkLst>
          <pc:docMk/>
          <pc:sldMk cId="0" sldId="301"/>
        </pc:sldMkLst>
        <pc:spChg chg="mod">
          <ac:chgData name="Zonghua Gu" userId="9a7e1853e1951ef5" providerId="LiveId" clId="{CF1FAA12-072C-4ED5-BA76-0FFFAEFDB88A}" dt="2026-01-31T01:30:28.742" v="171"/>
          <ac:spMkLst>
            <pc:docMk/>
            <pc:sldMk cId="0" sldId="301"/>
            <ac:spMk id="1074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1:30:28.742" v="171"/>
          <ac:graphicFrameMkLst>
            <pc:docMk/>
            <pc:sldMk cId="0" sldId="301"/>
            <ac:graphicFrameMk id="1079" creationId="{00000000-0000-0000-0000-000000000000}"/>
          </ac:graphicFrameMkLst>
        </pc:graphicFrameChg>
        <pc:graphicFrameChg chg="mod">
          <ac:chgData name="Zonghua Gu" userId="9a7e1853e1951ef5" providerId="LiveId" clId="{CF1FAA12-072C-4ED5-BA76-0FFFAEFDB88A}" dt="2026-01-31T01:30:28.742" v="171"/>
          <ac:graphicFrameMkLst>
            <pc:docMk/>
            <pc:sldMk cId="0" sldId="301"/>
            <ac:graphicFrameMk id="1082" creationId="{00000000-0000-0000-0000-000000000000}"/>
          </ac:graphicFrameMkLst>
        </pc:graphicFrameChg>
      </pc:sldChg>
      <pc:sldChg chg="modSp">
        <pc:chgData name="Zonghua Gu" userId="9a7e1853e1951ef5" providerId="LiveId" clId="{CF1FAA12-072C-4ED5-BA76-0FFFAEFDB88A}" dt="2026-01-31T01:30:28.742" v="171"/>
        <pc:sldMkLst>
          <pc:docMk/>
          <pc:sldMk cId="0" sldId="302"/>
        </pc:sldMkLst>
        <pc:spChg chg="mod">
          <ac:chgData name="Zonghua Gu" userId="9a7e1853e1951ef5" providerId="LiveId" clId="{CF1FAA12-072C-4ED5-BA76-0FFFAEFDB88A}" dt="2026-01-31T01:30:28.742" v="171"/>
          <ac:spMkLst>
            <pc:docMk/>
            <pc:sldMk cId="0" sldId="302"/>
            <ac:spMk id="1092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1:30:28.742" v="171"/>
          <ac:graphicFrameMkLst>
            <pc:docMk/>
            <pc:sldMk cId="0" sldId="302"/>
            <ac:graphicFrameMk id="1093" creationId="{00000000-0000-0000-0000-000000000000}"/>
          </ac:graphicFrameMkLst>
        </pc:graphicFrameChg>
      </pc:sldChg>
      <pc:sldChg chg="modSp">
        <pc:chgData name="Zonghua Gu" userId="9a7e1853e1951ef5" providerId="LiveId" clId="{CF1FAA12-072C-4ED5-BA76-0FFFAEFDB88A}" dt="2026-01-31T01:30:28.742" v="171"/>
        <pc:sldMkLst>
          <pc:docMk/>
          <pc:sldMk cId="0" sldId="303"/>
        </pc:sldMkLst>
        <pc:spChg chg="mod">
          <ac:chgData name="Zonghua Gu" userId="9a7e1853e1951ef5" providerId="LiveId" clId="{CF1FAA12-072C-4ED5-BA76-0FFFAEFDB88A}" dt="2026-01-31T01:30:28.742" v="171"/>
          <ac:spMkLst>
            <pc:docMk/>
            <pc:sldMk cId="0" sldId="303"/>
            <ac:spMk id="1111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0:28.742" v="171"/>
          <ac:spMkLst>
            <pc:docMk/>
            <pc:sldMk cId="0" sldId="303"/>
            <ac:spMk id="1114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1:30:28.742" v="171"/>
          <ac:graphicFrameMkLst>
            <pc:docMk/>
            <pc:sldMk cId="0" sldId="303"/>
            <ac:graphicFrameMk id="1112" creationId="{00000000-0000-0000-0000-000000000000}"/>
          </ac:graphicFrameMkLst>
        </pc:graphicFrameChg>
      </pc:sldChg>
      <pc:sldChg chg="modSp">
        <pc:chgData name="Zonghua Gu" userId="9a7e1853e1951ef5" providerId="LiveId" clId="{CF1FAA12-072C-4ED5-BA76-0FFFAEFDB88A}" dt="2026-01-31T01:30:28.742" v="171"/>
        <pc:sldMkLst>
          <pc:docMk/>
          <pc:sldMk cId="0" sldId="304"/>
        </pc:sldMkLst>
        <pc:spChg chg="mod">
          <ac:chgData name="Zonghua Gu" userId="9a7e1853e1951ef5" providerId="LiveId" clId="{CF1FAA12-072C-4ED5-BA76-0FFFAEFDB88A}" dt="2026-01-31T01:30:28.742" v="171"/>
          <ac:spMkLst>
            <pc:docMk/>
            <pc:sldMk cId="0" sldId="304"/>
            <ac:spMk id="1127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1:30:28.742" v="171"/>
          <ac:graphicFrameMkLst>
            <pc:docMk/>
            <pc:sldMk cId="0" sldId="304"/>
            <ac:graphicFrameMk id="1128" creationId="{00000000-0000-0000-0000-000000000000}"/>
          </ac:graphicFrameMkLst>
        </pc:graphicFrameChg>
      </pc:sldChg>
      <pc:sldChg chg="modSp mod">
        <pc:chgData name="Zonghua Gu" userId="9a7e1853e1951ef5" providerId="LiveId" clId="{CF1FAA12-072C-4ED5-BA76-0FFFAEFDB88A}" dt="2026-01-31T01:32:41.529" v="199" actId="20577"/>
        <pc:sldMkLst>
          <pc:docMk/>
          <pc:sldMk cId="0" sldId="305"/>
        </pc:sldMkLst>
        <pc:spChg chg="mod">
          <ac:chgData name="Zonghua Gu" userId="9a7e1853e1951ef5" providerId="LiveId" clId="{CF1FAA12-072C-4ED5-BA76-0FFFAEFDB88A}" dt="2026-01-31T01:32:41.529" v="199" actId="20577"/>
          <ac:spMkLst>
            <pc:docMk/>
            <pc:sldMk cId="0" sldId="305"/>
            <ac:spMk id="1159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2:06.252" v="198" actId="1076"/>
          <ac:spMkLst>
            <pc:docMk/>
            <pc:sldMk cId="0" sldId="305"/>
            <ac:spMk id="1161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2:06.252" v="198" actId="1076"/>
          <ac:spMkLst>
            <pc:docMk/>
            <pc:sldMk cId="0" sldId="305"/>
            <ac:spMk id="1162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2:06.252" v="198" actId="1076"/>
          <ac:spMkLst>
            <pc:docMk/>
            <pc:sldMk cId="0" sldId="305"/>
            <ac:spMk id="1164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2:06.252" v="198" actId="1076"/>
          <ac:spMkLst>
            <pc:docMk/>
            <pc:sldMk cId="0" sldId="305"/>
            <ac:spMk id="1165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2:06.252" v="198" actId="1076"/>
          <ac:spMkLst>
            <pc:docMk/>
            <pc:sldMk cId="0" sldId="305"/>
            <ac:spMk id="1167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2:06.252" v="198" actId="1076"/>
          <ac:spMkLst>
            <pc:docMk/>
            <pc:sldMk cId="0" sldId="305"/>
            <ac:spMk id="1168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1:32:06.252" v="198" actId="1076"/>
          <ac:graphicFrameMkLst>
            <pc:docMk/>
            <pc:sldMk cId="0" sldId="305"/>
            <ac:graphicFrameMk id="1160" creationId="{00000000-0000-0000-0000-000000000000}"/>
          </ac:graphicFrameMkLst>
        </pc:graphicFrameChg>
        <pc:cxnChg chg="mod">
          <ac:chgData name="Zonghua Gu" userId="9a7e1853e1951ef5" providerId="LiveId" clId="{CF1FAA12-072C-4ED5-BA76-0FFFAEFDB88A}" dt="2026-01-31T01:32:06.252" v="198" actId="1076"/>
          <ac:cxnSpMkLst>
            <pc:docMk/>
            <pc:sldMk cId="0" sldId="305"/>
            <ac:cxnSpMk id="1163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01:32:06.252" v="198" actId="1076"/>
          <ac:cxnSpMkLst>
            <pc:docMk/>
            <pc:sldMk cId="0" sldId="305"/>
            <ac:cxnSpMk id="1166" creationId="{00000000-0000-0000-0000-000000000000}"/>
          </ac:cxnSpMkLst>
        </pc:cxnChg>
        <pc:cxnChg chg="mod">
          <ac:chgData name="Zonghua Gu" userId="9a7e1853e1951ef5" providerId="LiveId" clId="{CF1FAA12-072C-4ED5-BA76-0FFFAEFDB88A}" dt="2026-01-31T01:32:06.252" v="198" actId="1076"/>
          <ac:cxnSpMkLst>
            <pc:docMk/>
            <pc:sldMk cId="0" sldId="305"/>
            <ac:cxnSpMk id="1169" creationId="{00000000-0000-0000-0000-000000000000}"/>
          </ac:cxnSpMkLst>
        </pc:cxnChg>
      </pc:sldChg>
      <pc:sldChg chg="modSp del">
        <pc:chgData name="Zonghua Gu" userId="9a7e1853e1951ef5" providerId="LiveId" clId="{CF1FAA12-072C-4ED5-BA76-0FFFAEFDB88A}" dt="2026-01-31T01:32:47.648" v="200" actId="47"/>
        <pc:sldMkLst>
          <pc:docMk/>
          <pc:sldMk cId="0" sldId="306"/>
        </pc:sldMkLst>
        <pc:spChg chg="mod">
          <ac:chgData name="Zonghua Gu" userId="9a7e1853e1951ef5" providerId="LiveId" clId="{CF1FAA12-072C-4ED5-BA76-0FFFAEFDB88A}" dt="2026-01-31T01:30:28.742" v="171"/>
          <ac:spMkLst>
            <pc:docMk/>
            <pc:sldMk cId="0" sldId="306"/>
            <ac:spMk id="1175" creationId="{00000000-0000-0000-0000-000000000000}"/>
          </ac:spMkLst>
        </pc:spChg>
      </pc:sldChg>
      <pc:sldChg chg="modSp del mod modNotes modNotesTx">
        <pc:chgData name="Zonghua Gu" userId="9a7e1853e1951ef5" providerId="LiveId" clId="{CF1FAA12-072C-4ED5-BA76-0FFFAEFDB88A}" dt="2026-01-31T02:18:23.219" v="211" actId="47"/>
        <pc:sldMkLst>
          <pc:docMk/>
          <pc:sldMk cId="0" sldId="307"/>
        </pc:sldMkLst>
        <pc:spChg chg="mod">
          <ac:chgData name="Zonghua Gu" userId="9a7e1853e1951ef5" providerId="LiveId" clId="{CF1FAA12-072C-4ED5-BA76-0FFFAEFDB88A}" dt="2026-01-30T03:59:49.606" v="4" actId="20577"/>
          <ac:spMkLst>
            <pc:docMk/>
            <pc:sldMk cId="0" sldId="307"/>
            <ac:spMk id="1180" creationId="{00000000-0000-0000-0000-000000000000}"/>
          </ac:spMkLst>
        </pc:spChg>
        <pc:spChg chg="mod">
          <ac:chgData name="Zonghua Gu" userId="9a7e1853e1951ef5" providerId="LiveId" clId="{CF1FAA12-072C-4ED5-BA76-0FFFAEFDB88A}" dt="2026-01-31T01:30:28.742" v="171"/>
          <ac:spMkLst>
            <pc:docMk/>
            <pc:sldMk cId="0" sldId="307"/>
            <ac:spMk id="1181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08"/>
        </pc:sldMkLst>
      </pc:sldChg>
      <pc:sldChg chg="modSp add del">
        <pc:chgData name="Zonghua Gu" userId="9a7e1853e1951ef5" providerId="LiveId" clId="{CF1FAA12-072C-4ED5-BA76-0FFFAEFDB88A}" dt="2026-01-31T03:18:57.632" v="213"/>
        <pc:sldMkLst>
          <pc:docMk/>
          <pc:sldMk cId="0" sldId="309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09"/>
            <ac:spMk id="1194" creationId="{00000000-0000-0000-0000-000000000000}"/>
          </ac:spMkLst>
        </pc:spChg>
      </pc:sldChg>
      <pc:sldChg chg="modSp add del">
        <pc:chgData name="Zonghua Gu" userId="9a7e1853e1951ef5" providerId="LiveId" clId="{CF1FAA12-072C-4ED5-BA76-0FFFAEFDB88A}" dt="2026-01-31T03:18:57.632" v="213"/>
        <pc:sldMkLst>
          <pc:docMk/>
          <pc:sldMk cId="0" sldId="310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0"/>
            <ac:spMk id="1215" creationId="{00000000-0000-0000-0000-000000000000}"/>
          </ac:spMkLst>
        </pc:spChg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0"/>
            <ac:spMk id="1218" creationId="{00000000-0000-0000-0000-000000000000}"/>
          </ac:spMkLst>
        </pc:sp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1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1"/>
            <ac:spMk id="1244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1"/>
            <ac:graphicFrameMk id="1235" creationId="{00000000-0000-0000-0000-000000000000}"/>
          </ac:graphicFrameMkLst>
        </pc:graphicFrame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2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2"/>
            <ac:spMk id="1258" creationId="{00000000-0000-0000-0000-000000000000}"/>
          </ac:spMkLst>
        </pc:spChg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2"/>
            <ac:spMk id="1261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2"/>
            <ac:graphicFrameMk id="1259" creationId="{00000000-0000-0000-0000-000000000000}"/>
          </ac:graphicFrameMkLst>
        </pc:graphicFrame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3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3"/>
            <ac:spMk id="1286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3"/>
            <ac:graphicFrameMk id="1277" creationId="{00000000-0000-0000-0000-000000000000}"/>
          </ac:graphicFrameMkLst>
        </pc:graphicFrame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4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4"/>
            <ac:spMk id="1300" creationId="{00000000-0000-0000-0000-000000000000}"/>
          </ac:spMkLst>
        </pc:spChg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4"/>
            <ac:spMk id="1316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4"/>
            <ac:graphicFrameMk id="1301" creationId="{00000000-0000-0000-0000-000000000000}"/>
          </ac:graphicFrameMkLst>
        </pc:graphicFrame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5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5"/>
            <ac:spMk id="1322" creationId="{00000000-0000-0000-0000-000000000000}"/>
          </ac:spMkLst>
        </pc:sp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6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6"/>
            <ac:spMk id="1328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6"/>
            <ac:graphicFrameMk id="1329" creationId="{00000000-0000-0000-0000-000000000000}"/>
          </ac:graphicFrameMkLst>
        </pc:graphicFrame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7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7"/>
            <ac:spMk id="1350" creationId="{00000000-0000-0000-0000-000000000000}"/>
          </ac:spMkLst>
        </pc:spChg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7"/>
            <ac:spMk id="1352" creationId="{00000000-0000-0000-0000-000000000000}"/>
          </ac:spMkLst>
        </pc:spChg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7"/>
            <ac:spMk id="1354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7"/>
            <ac:graphicFrameMk id="1348" creationId="{00000000-0000-0000-0000-000000000000}"/>
          </ac:graphicFrameMkLst>
        </pc:graphicFrame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7"/>
            <ac:graphicFrameMk id="1365" creationId="{00000000-0000-0000-0000-000000000000}"/>
          </ac:graphicFrameMkLst>
        </pc:graphicFrame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18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18"/>
            <ac:spMk id="1373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8"/>
            <ac:graphicFrameMk id="1370" creationId="{00000000-0000-0000-0000-000000000000}"/>
          </ac:graphicFrameMkLst>
        </pc:graphicFrame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18"/>
            <ac:graphicFrameMk id="1371" creationId="{00000000-0000-0000-0000-000000000000}"/>
          </ac:graphicFrameMkLst>
        </pc:graphicFrameChg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19"/>
        </pc:sldMkLst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20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20"/>
            <ac:spMk id="1399" creationId="{00000000-0000-0000-0000-000000000000}"/>
          </ac:spMkLst>
        </pc:spChg>
        <pc:graphicFrameChg chg="mod">
          <ac:chgData name="Zonghua Gu" userId="9a7e1853e1951ef5" providerId="LiveId" clId="{CF1FAA12-072C-4ED5-BA76-0FFFAEFDB88A}" dt="2026-01-31T03:18:57.632" v="213"/>
          <ac:graphicFrameMkLst>
            <pc:docMk/>
            <pc:sldMk cId="0" sldId="320"/>
            <ac:graphicFrameMk id="1400" creationId="{00000000-0000-0000-0000-000000000000}"/>
          </ac:graphicFrameMkLst>
        </pc:graphicFrameChg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1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2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3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4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5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6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7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28"/>
        </pc:sldMkLst>
      </pc:sldChg>
      <pc:sldChg chg="modSp add del mod">
        <pc:chgData name="Zonghua Gu" userId="9a7e1853e1951ef5" providerId="LiveId" clId="{CF1FAA12-072C-4ED5-BA76-0FFFAEFDB88A}" dt="2026-01-31T03:48:02.017" v="399" actId="20577"/>
        <pc:sldMkLst>
          <pc:docMk/>
          <pc:sldMk cId="0" sldId="329"/>
        </pc:sldMkLst>
        <pc:spChg chg="mod">
          <ac:chgData name="Zonghua Gu" userId="9a7e1853e1951ef5" providerId="LiveId" clId="{CF1FAA12-072C-4ED5-BA76-0FFFAEFDB88A}" dt="2026-01-31T03:48:02.017" v="399" actId="20577"/>
          <ac:spMkLst>
            <pc:docMk/>
            <pc:sldMk cId="0" sldId="329"/>
            <ac:spMk id="1531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6-01-31T04:07:27.428" v="473" actId="20577"/>
        <pc:sldMkLst>
          <pc:docMk/>
          <pc:sldMk cId="0" sldId="330"/>
        </pc:sldMkLst>
        <pc:spChg chg="mod">
          <ac:chgData name="Zonghua Gu" userId="9a7e1853e1951ef5" providerId="LiveId" clId="{CF1FAA12-072C-4ED5-BA76-0FFFAEFDB88A}" dt="2026-01-31T04:07:27.428" v="473" actId="20577"/>
          <ac:spMkLst>
            <pc:docMk/>
            <pc:sldMk cId="0" sldId="330"/>
            <ac:spMk id="1537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31"/>
        </pc:sldMkLst>
      </pc:sldChg>
      <pc:sldChg chg="modSp add del mod">
        <pc:chgData name="Zonghua Gu" userId="9a7e1853e1951ef5" providerId="LiveId" clId="{CF1FAA12-072C-4ED5-BA76-0FFFAEFDB88A}" dt="2026-01-31T04:07:18.183" v="470" actId="20577"/>
        <pc:sldMkLst>
          <pc:docMk/>
          <pc:sldMk cId="0" sldId="332"/>
        </pc:sldMkLst>
        <pc:spChg chg="mod">
          <ac:chgData name="Zonghua Gu" userId="9a7e1853e1951ef5" providerId="LiveId" clId="{CF1FAA12-072C-4ED5-BA76-0FFFAEFDB88A}" dt="2026-01-31T04:07:18.183" v="470" actId="20577"/>
          <ac:spMkLst>
            <pc:docMk/>
            <pc:sldMk cId="0" sldId="332"/>
            <ac:spMk id="1550" creationId="{00000000-0000-0000-0000-000000000000}"/>
          </ac:spMkLst>
        </pc:spChg>
      </pc:sldChg>
      <pc:sldChg chg="addSp delSp modSp add del mod modNotes">
        <pc:chgData name="Zonghua Gu" userId="9a7e1853e1951ef5" providerId="LiveId" clId="{CF1FAA12-072C-4ED5-BA76-0FFFAEFDB88A}" dt="2026-01-31T04:05:44.235" v="436"/>
        <pc:sldMkLst>
          <pc:docMk/>
          <pc:sldMk cId="0" sldId="333"/>
        </pc:sldMkLst>
        <pc:spChg chg="mod">
          <ac:chgData name="Zonghua Gu" userId="9a7e1853e1951ef5" providerId="LiveId" clId="{CF1FAA12-072C-4ED5-BA76-0FFFAEFDB88A}" dt="2026-01-31T04:04:34.403" v="422" actId="1076"/>
          <ac:spMkLst>
            <pc:docMk/>
            <pc:sldMk cId="0" sldId="333"/>
            <ac:spMk id="1556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34.403" v="422" actId="1076"/>
          <ac:spMkLst>
            <pc:docMk/>
            <pc:sldMk cId="0" sldId="333"/>
            <ac:spMk id="1558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34.403" v="422" actId="1076"/>
          <ac:spMkLst>
            <pc:docMk/>
            <pc:sldMk cId="0" sldId="333"/>
            <ac:spMk id="1560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26.888" v="421" actId="1076"/>
          <ac:spMkLst>
            <pc:docMk/>
            <pc:sldMk cId="0" sldId="333"/>
            <ac:spMk id="1565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34.403" v="422" actId="1076"/>
          <ac:spMkLst>
            <pc:docMk/>
            <pc:sldMk cId="0" sldId="333"/>
            <ac:spMk id="1567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40.991" v="423" actId="1076"/>
          <ac:spMkLst>
            <pc:docMk/>
            <pc:sldMk cId="0" sldId="333"/>
            <ac:spMk id="1576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40.991" v="423" actId="1076"/>
          <ac:spMkLst>
            <pc:docMk/>
            <pc:sldMk cId="0" sldId="333"/>
            <ac:spMk id="1578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40.991" v="423" actId="1076"/>
          <ac:spMkLst>
            <pc:docMk/>
            <pc:sldMk cId="0" sldId="333"/>
            <ac:spMk id="1586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40.991" v="423" actId="1076"/>
          <ac:spMkLst>
            <pc:docMk/>
            <pc:sldMk cId="0" sldId="333"/>
            <ac:spMk id="1588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40.991" v="423" actId="1076"/>
          <ac:spMkLst>
            <pc:docMk/>
            <pc:sldMk cId="0" sldId="333"/>
            <ac:spMk id="1590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40.991" v="423" actId="1076"/>
          <ac:spMkLst>
            <pc:docMk/>
            <pc:sldMk cId="0" sldId="333"/>
            <ac:spMk id="1598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4:40.991" v="423" actId="1076"/>
          <ac:spMkLst>
            <pc:docMk/>
            <pc:sldMk cId="0" sldId="333"/>
            <ac:spMk id="1601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5:43.896" v="435" actId="20577"/>
          <ac:spMkLst>
            <pc:docMk/>
            <pc:sldMk cId="0" sldId="333"/>
            <ac:spMk id="1602" creationId="{00000000-0000-0000-0000-000000000000}"/>
          </ac:spMkLst>
        </pc:spChg>
        <pc:spChg chg="mod">
          <ac:chgData name="Zonghua Gu" userId="9a7e1853e1951ef5" providerId="LiveId" clId="{CF1FAA12-072C-4ED5-BA76-0FFFAEFDB88A}" dt="2026-01-31T04:05:06.071" v="430" actId="1076"/>
          <ac:spMkLst>
            <pc:docMk/>
            <pc:sldMk cId="0" sldId="333"/>
            <ac:spMk id="1603" creationId="{00000000-0000-0000-0000-000000000000}"/>
          </ac:spMkLst>
        </pc:spChg>
        <pc:graphicFrameChg chg="add del mod">
          <ac:chgData name="Zonghua Gu" userId="9a7e1853e1951ef5" providerId="LiveId" clId="{CF1FAA12-072C-4ED5-BA76-0FFFAEFDB88A}" dt="2026-01-31T04:02:52.623" v="416" actId="21"/>
          <ac:graphicFrameMkLst>
            <pc:docMk/>
            <pc:sldMk cId="0" sldId="333"/>
            <ac:graphicFrameMk id="2" creationId="{FDE34F05-6619-023D-7325-19F6D2E605D1}"/>
          </ac:graphicFrameMkLst>
        </pc:graphicFrameChg>
        <pc:graphicFrameChg chg="add mod modGraphic">
          <ac:chgData name="Zonghua Gu" userId="9a7e1853e1951ef5" providerId="LiveId" clId="{CF1FAA12-072C-4ED5-BA76-0FFFAEFDB88A}" dt="2026-01-31T04:05:12.022" v="431" actId="1076"/>
          <ac:graphicFrameMkLst>
            <pc:docMk/>
            <pc:sldMk cId="0" sldId="333"/>
            <ac:graphicFrameMk id="3" creationId="{FDE34F05-6619-023D-7325-19F6D2E605D1}"/>
          </ac:graphicFrameMkLst>
        </pc:graphicFrameChg>
        <pc:graphicFrameChg chg="add mod">
          <ac:chgData name="Zonghua Gu" userId="9a7e1853e1951ef5" providerId="LiveId" clId="{CF1FAA12-072C-4ED5-BA76-0FFFAEFDB88A}" dt="2026-01-31T04:05:44.235" v="436"/>
          <ac:graphicFrameMkLst>
            <pc:docMk/>
            <pc:sldMk cId="0" sldId="333"/>
            <ac:graphicFrameMk id="4" creationId="{E62261FD-EE50-5A78-BFB3-DF15AFB032CA}"/>
          </ac:graphicFrameMkLst>
        </pc:graphicFrameChg>
        <pc:cxnChg chg="mod">
          <ac:chgData name="Zonghua Gu" userId="9a7e1853e1951ef5" providerId="LiveId" clId="{CF1FAA12-072C-4ED5-BA76-0FFFAEFDB88A}" dt="2026-01-31T04:04:40.991" v="423" actId="1076"/>
          <ac:cxnSpMkLst>
            <pc:docMk/>
            <pc:sldMk cId="0" sldId="333"/>
            <ac:cxnSpMk id="1600" creationId="{00000000-0000-0000-0000-000000000000}"/>
          </ac:cxnSpMkLst>
        </pc:cxnChg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34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35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36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37"/>
        </pc:sldMkLst>
      </pc:sldChg>
      <pc:sldChg chg="addSp delSp modSp add del mod">
        <pc:chgData name="Zonghua Gu" userId="9a7e1853e1951ef5" providerId="LiveId" clId="{CF1FAA12-072C-4ED5-BA76-0FFFAEFDB88A}" dt="2026-01-31T04:02:09.699" v="413" actId="21"/>
        <pc:sldMkLst>
          <pc:docMk/>
          <pc:sldMk cId="0" sldId="338"/>
        </pc:sldMkLst>
        <pc:graphicFrameChg chg="add del mod modGraphic">
          <ac:chgData name="Zonghua Gu" userId="9a7e1853e1951ef5" providerId="LiveId" clId="{CF1FAA12-072C-4ED5-BA76-0FFFAEFDB88A}" dt="2026-01-31T04:02:09.699" v="413" actId="21"/>
          <ac:graphicFrameMkLst>
            <pc:docMk/>
            <pc:sldMk cId="0" sldId="338"/>
            <ac:graphicFrameMk id="2" creationId="{FDE34F05-6619-023D-7325-19F6D2E605D1}"/>
          </ac:graphicFrameMkLst>
        </pc:graphicFrameChg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39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0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1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2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3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4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5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6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7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8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49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0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1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2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3"/>
        </pc:sldMkLst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54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54"/>
            <ac:spMk id="1949" creationId="{00000000-0000-0000-0000-000000000000}"/>
          </ac:spMkLst>
        </pc:spChg>
      </pc:sldChg>
      <pc:sldChg chg="modSp add del modNotes">
        <pc:chgData name="Zonghua Gu" userId="9a7e1853e1951ef5" providerId="LiveId" clId="{CF1FAA12-072C-4ED5-BA76-0FFFAEFDB88A}" dt="2026-01-31T03:18:57.632" v="213"/>
        <pc:sldMkLst>
          <pc:docMk/>
          <pc:sldMk cId="0" sldId="355"/>
        </pc:sldMkLst>
        <pc:spChg chg="mod">
          <ac:chgData name="Zonghua Gu" userId="9a7e1853e1951ef5" providerId="LiveId" clId="{CF1FAA12-072C-4ED5-BA76-0FFFAEFDB88A}" dt="2026-01-31T03:18:57.632" v="213"/>
          <ac:spMkLst>
            <pc:docMk/>
            <pc:sldMk cId="0" sldId="355"/>
            <ac:spMk id="1973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6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7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8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59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60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61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62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63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64"/>
        </pc:sldMkLst>
      </pc:sldChg>
      <pc:sldChg chg="add del">
        <pc:chgData name="Zonghua Gu" userId="9a7e1853e1951ef5" providerId="LiveId" clId="{CF1FAA12-072C-4ED5-BA76-0FFFAEFDB88A}" dt="2026-01-31T03:18:06.542" v="212"/>
        <pc:sldMkLst>
          <pc:docMk/>
          <pc:sldMk cId="0" sldId="365"/>
        </pc:sldMkLst>
      </pc:sldChg>
      <pc:sldChg chg="modSp add del mod">
        <pc:chgData name="Zonghua Gu" userId="9a7e1853e1951ef5" providerId="LiveId" clId="{CF1FAA12-072C-4ED5-BA76-0FFFAEFDB88A}" dt="2026-01-31T04:14:56.990" v="502" actId="20577"/>
        <pc:sldMkLst>
          <pc:docMk/>
          <pc:sldMk cId="0" sldId="366"/>
        </pc:sldMkLst>
        <pc:spChg chg="mod">
          <ac:chgData name="Zonghua Gu" userId="9a7e1853e1951ef5" providerId="LiveId" clId="{CF1FAA12-072C-4ED5-BA76-0FFFAEFDB88A}" dt="2026-01-31T04:14:56.990" v="502" actId="20577"/>
          <ac:spMkLst>
            <pc:docMk/>
            <pc:sldMk cId="0" sldId="366"/>
            <ac:spMk id="2149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6-01-31T03:18:06.542" v="212"/>
        <pc:sldMkLst>
          <pc:docMk/>
          <pc:sldMk cId="0" sldId="367"/>
        </pc:sldMkLst>
        <pc:spChg chg="mod">
          <ac:chgData name="Zonghua Gu" userId="9a7e1853e1951ef5" providerId="LiveId" clId="{CF1FAA12-072C-4ED5-BA76-0FFFAEFDB88A}" dt="2026-01-30T04:00:00.110" v="6" actId="21"/>
          <ac:spMkLst>
            <pc:docMk/>
            <pc:sldMk cId="0" sldId="367"/>
            <ac:spMk id="215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02:18:02.235" v="210" actId="20577"/>
        <pc:sldMkLst>
          <pc:docMk/>
          <pc:sldMk cId="0" sldId="368"/>
        </pc:sldMkLst>
        <pc:spChg chg="mod">
          <ac:chgData name="Zonghua Gu" userId="9a7e1853e1951ef5" providerId="LiveId" clId="{CF1FAA12-072C-4ED5-BA76-0FFFAEFDB88A}" dt="2026-01-31T02:18:02.235" v="210" actId="20577"/>
          <ac:spMkLst>
            <pc:docMk/>
            <pc:sldMk cId="0" sldId="368"/>
            <ac:spMk id="2161" creationId="{00000000-0000-0000-0000-000000000000}"/>
          </ac:spMkLst>
        </pc:spChg>
      </pc:sldChg>
      <pc:sldChg chg="add">
        <pc:chgData name="Zonghua Gu" userId="9a7e1853e1951ef5" providerId="LiveId" clId="{CF1FAA12-072C-4ED5-BA76-0FFFAEFDB88A}" dt="2026-01-31T03:18:06.542" v="212"/>
        <pc:sldMkLst>
          <pc:docMk/>
          <pc:sldMk cId="0" sldId="369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0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1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2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3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4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5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6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7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8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79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0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1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2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3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4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5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6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7"/>
        </pc:sldMkLst>
      </pc:sldChg>
      <pc:sldChg chg="add del">
        <pc:chgData name="Zonghua Gu" userId="9a7e1853e1951ef5" providerId="LiveId" clId="{CF1FAA12-072C-4ED5-BA76-0FFFAEFDB88A}" dt="2026-01-31T04:50:09.227" v="504"/>
        <pc:sldMkLst>
          <pc:docMk/>
          <pc:sldMk cId="0" sldId="3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6d2d46cd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86d2d46cd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Welcome to week 2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Finally, we get to build a routing protocol. Today will be entirely focused on Distance-Vector approach and then we’ll talk about an alternative approach hopefully tomorrow.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 we're going to number them 1 through seven we'll come up with rules and when you put the seven rules together you get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29:30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 algorithm called the distance Vector protocol and it allows us to find shortest paths through the entire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network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12fc3e5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12fc3e5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so let's Jump Right In so before we talk about any rules let me just give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29:41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you a one slide one sentence version of this algorithm so all you have to do is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if you hear about a path to a destination tell all your neighbors that's the oneliner version of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algorithm we're then going to spend a lot of time making it good but at a high level this is what it looks like so what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does that mean let's say R1 wakes up one day and it sees that it has a hardcoded route to a so remember we said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static routes are the ones that are hardcoded if you're directly connected to a host then we will hardcode an entry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into r1's table saying that your next top to a is direct so R1 wakes up 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day with this hardcoded entry and says I know a way to get to a so you know what I should do I should spread the love 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should tell all of my neighbors that if they want to reach a they should come through me so R1 thinks I can reach a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let me go tell all of my neighbors so that if they want to reach a they can come through me as well so that's what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d56a414bf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d56a414bf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does R1 go goes ahead and tells all of its neighbors hey everyone I am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 can reach a so if you ever want to talk to a send it to me and I got it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I'll send it to a for you so R2 and R3 hear this and now they can update their forwarding tables therefore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say if I want to send a packet to a I should forward it to R1 because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told me that they can reach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d56a414b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d56a414b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likewise R3 thinks and says well I just heard this message from R1 saying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a so if I ever want to send packets to a I should just forward packets to R1 because they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reach a so R2 and R3 can now program their forwarding tables with a path to a and because R2 and R3 can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 they should also spread the love and tell their neighbors so R2 and R3 say we now know how to reach a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all of our neighbors how to reach a so that they can also join in on the fun and send packets to a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d56a414bf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d56a414bf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R2 and R3 send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all of their neighbors and they say I can reach a as well so if you ever want to send packets to a send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my way and R4 R5 R6 R7 they all hear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d56a414b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d56a414b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message saying R2 can reach a and R3 can reach a so now they can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entries into their forwork table so R4 says well R2 claims they can reach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so if I ever want to talk to a I should send packets that way and R5 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well R2 says they can reach a so if I ever want to send packets to a I will send them this way and the same 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d56a414bf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d56a414bf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should also spread the love and tell their neighbors so their neighbors can also reach a so they talk to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their neighbors saying I can reach a if you ever want to talk to a come through me and these routers can now program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through a as well and if you do this enough times that you spread the love all across the network eventually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should have a forwarding table entry that points toward a these blue arrows form a valid directed delivery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tree where all the arrows Point toward a and now regardless of who's sending packets anywhere all these routers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coordinate and send the packets toward a so at a very high level with a single line this is what you're supposed to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d56a414bf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d56a414bf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d56a414bf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ed56a414bf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there is a critical difference between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and remember routing is the process of all the routers talking to each other to form uh valid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tables and forwarding is the process of receiving a packet from a user and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table to forward packets so routing is building the tables forwarding is using the tables that you just built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something you'll notice if you look at the demo is that the direction of packets being sent in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are opposites and this always trips people up so notice that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sharing information with their friends about the fact that they can reach a that information propagated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outwards so it started at a and R1 at first these were the only two people who knew about a but slowly that information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radiated outwards and from a going F further and further and further away from a from the left side of your screen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the right side of your screen propagating outwards from a until everyone knew the information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when you are forwarding when you actually have the tables filled in and you're ready to use the tables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sends you a packet and says please forward this packet toward a then the packets travel inwards toward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d56a414bf_0_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d56a414bf_0_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d56a414bf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d56a414bf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 to see if anyone can think of multipath, or expiring issues or other issues with the sketch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d56a414bf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d56a414bf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picture we showed you earlier everything was nice there was only a single path so when you heard about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to reach a you just pointed your forwarding table in the direction toward a but that might not always be the 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sometimes there are multiple paths to reach a destination so in this example as before R1 is the only one that knows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a at the very beginning so it tells all its friends it tells R2 and R4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then R2 tells R3 and then R3 tells R5 and then R4 tells R5 so what happened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R3 and R4 both have a way to reach a so R5 is going to hear two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paths R3 is going to say I can reach a if you send packets to me I'll get to a but R4 will also say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me I will also re J so R5 now has a choice it can either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its forwarding table to go via R3 or to go via R4 the next top to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could either be R3 or R4 there's a choice and remember we said that both of these would be valid paths they would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a but one of them is better than the other in other words the cost is less and ultimately we want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cost path so what R5 should really do is prefer the path with less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812fc3e5d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812fc3e5d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d56a414bf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d56a414bf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one more problem is that you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might actually not hear about both of the paths at the same time so in the picture we had before everything was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42:10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nice R5 heard about two different paths and it got to pick the best one but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might not always happen what if the costs come in at different times for example you your R5 and you hear about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advertisement from R3 so R3 says I can reach a I'm 308 so what should R5 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42:30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at this point because R5 hasn't heard the second path yet it only knows about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 single path to a so what R5 has to do for now is say well is this the best 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42:41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don't know but it's what I have right now so I'm going to go ahead and use this one for now and if I hear a better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one later I can change my mind so routers are allowed to change their mind if they hear about something better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that means is because routers have to be able to change their minds when they hear better routes they should also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keep track of the routes so so far our forwarding tables just said a destination and a Next Top we are now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43:07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going to add a third column that used to not be there and the third column helps us keep track of the best known cost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destination so before </a:t>
            </a:r>
            <a:r>
              <a:rPr lang="en"/>
              <a:t>this little </a:t>
            </a:r>
            <a:r>
              <a:rPr lang="en" dirty="0"/>
              <a:t>packet came in R5 had no idea where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was or even that a existed but then it heard a message from R3 and R3 said I 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 three if you want to send packets to a send them through me I am cost three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away and R5 thinks well that's great if you're three away I must be four away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 will write down that I can pass packets to R3 and they will reach a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I'll also leave a note to myself that this best known path has cost four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maybe I'll get a better one later who knows but for now at least I have a path to a I don't know if it's the best 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maybe maybe better ones will come along maybe no other paths will come along but that's what I have right now and later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ed56a414bf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ed56a414bf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hear a different path so now later down the line R4 sends a message to R5 and says I'm R4 I can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send it to me I am two away from a so R5 now thinks and realizes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what the old path that I had which was cost four is not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one is better R4 is 2 away so I must be three away so so actually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has cost three that's better than four three is better than four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R5 can now do is R5 can change its mind it says actually I don't need that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via R3 anymore with cost 4 I really want the path via R4 with cost three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better so R5 says I like the new one better and it's okay to change your mind and abandon old ones so this is what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do because of the fact that there are multiple paths and they might not all be revealed to you at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ed56a414bf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ed56a414bf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actually already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build our algorithm so we'll piece it together and this slide will start from very empty to very full as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 in all the rules so these rules are repeated once per destination that's why it says for each destination we just did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for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ed56a414bf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ed56a414bf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47:57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not all link costs are one so so far we were just kind of being lazy and saying all the links were one so if someone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48:02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says I am five away from a then you must be six away because your buddy was five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48:08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away you must be six away that's true of all the link costs are one but if the link costs are not all one you have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48:15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</a:t>
            </a:r>
            <a:r>
              <a:rPr lang="en"/>
              <a:t>a little </a:t>
            </a:r>
            <a:r>
              <a:rPr lang="en" dirty="0"/>
              <a:t>bit of math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d56a414bf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d56a414bf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ed56a414bf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ed56a414bf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 take that rule that we just talked about and write it out that summation looks like this it's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advertised cost the cost that you received from your buddy plus the link cost to the neighbor that's what we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rule one look familiar from other classes or algorithms that you’ve encountered? Can you think of any?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ed56a414bf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ed56a414bf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this thing should hopefully look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familiar if you've taken a data structures class because this is exactly what you do to run a shortest paths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like dyra algorithm do people know Dyer's algorithm do they remember it kind of sort of okay I saw my hands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up that's good so this is the operation in dyra algorithm that actually makes it work if you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your stuff you might remember it's called relaxation although I don't really what it's called but that's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 that people use and basically to run dyra algorithm to get the shortest paths in a graph you just do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 over and over again so we could actually build a distance Vector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based on dyis algorithm but I'm actually going to do it based on Bellman Ford which is another shortest pass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that does the same relaxation and the reason why I use one over the other will become more clear as we keep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but if you remember either of these algorithms which you don't have to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if you don't remember exactly how they work Dyer's algorithm relaxes things in a very specific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relax all the edges radiating outwards from The Source in order to get the shortest paths whereas Bellman Ford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you've ever seen it you can relax the edges in any order that you want as long as you relax everybody enough times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the shortest path so the reason why I want to use Bellman Ford here instead of dstress is that b for doesn't impose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any order in which I visit all the edges I can relax all the edges in any order that I feel like whereas Dyas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impose an order but both of them are based on this relaxation operation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ed56a414bf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ed56a414bf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the centralized bellman-ford algorithm in pseudo code. Let’s step through each component and then we’ll talk about how it’s distributed.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distributed version have to take out this for loop. Routers can’t get in line or have a guarantee all will do this in order.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 the difference with our version is that our version is distributed so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a list of all the routers we don't have a list of all the links no one is telling us that stuff so instead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still going to do the same thing but we're going to do it in a distributed way so this blue section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exists but instead of initializing these dictionaries the way they did in their centralized version we'll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every router initialize their forwarding tables to for example empty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d56a414bf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d56a414bf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d56a414bf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d56a414bf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ed56a414b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ed56a414b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d56a414bf_0_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d56a414bf_0_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ed56a414bf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ed56a414bf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ed56a414bf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ed56a414bf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d56a414bf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d56a414bf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ed56a414b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ed56a414b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ed56a414bf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ed56a414bf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d56a414bf_0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d56a414bf_0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d56a414bf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d56a414bf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d56a414bf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d56a414bf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d56a414bf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d56a414bf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ed56a414bf_0_1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ed56a414bf_0_1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ed56a414bf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ed56a414bf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the topology might have changed maybe like a link went down or an operator changed the cost of one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so I know I said it's three earlier but I've actually changed my mind the graph itself has changed so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changed my mind and a should really be eight away so when you see a message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you're tempted to see it and say oh was a and nine that's worse than four reject but actually R2 might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trying to tell you something it's trying to tell you hey the path has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changed because the network topology itself changed so you should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listen to me because I'm trying to tell you new information so we need to change our rule to not just reject all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worse but we need to accept in a case like this so R3 really should 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well I currently am going via R2 but R2 has just come along and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changed their mind so this really shouldn't say four anymore what should it say this should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really say nine so I'm still forwarding via R2 to a but the new cost is nine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ed56a414bf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ed56a414bf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d56a414bf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d56a414bf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ed56a414bf_0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ed56a414bf_0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ed56a414bf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ed56a414bf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ed56a414bf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ed56a414bf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ed56a414bf_0_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ed56a414bf_0_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take care of another one another problem with the routing protocol and routing protocols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general is that they are running on layer three which is best effort and best effort means that packets can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so it could be the case that R1 has this new shiny path to a it's all great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it tries to tell R2 back it gets dropped R2 doesn't hear anything that's a problem R2 is not going to learn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to a that's a problem and we're going to solve it with probably the simplest dumbest solution to best effort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 is to resend the advertisements every so often so instead of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sending this advertisement once and saying saying I'm R1 I can reach a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cost one you're going to send that exact same advertisement once every few seconds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number of seconds is the advertisement interval I think in practice it's like every 10 seconds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one second order of seconds as opposed to milliseconds or something that' be too fast but roughly the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 couple seconds that's called the advertisement interval and you send it over and over and over again and even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doesn't work the first time the second time or the third time it should work eventually assuming that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gets through this packet or this link this should work eventually after some time if every single packet gets dropped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ask if that link even counts because it's dropping everything there a link that drops everything even count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link kind of philosophical not that important but basically that's 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to ensuring reliability is just sending the same thing over and over and over again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back to our favorite list of rule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ed56a414bf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ed56a414bf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2d5486c62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2d5486c62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ed56a414bf_0_1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ed56a414bf_0_1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ed56a414bf_0_1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ed56a414bf_0_1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ed56a414bf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ed56a414bf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d56a414bf_0_1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ed56a414bf_0_1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ed56a414bf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ed56a414bf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37c67ec3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37c67ec3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37c67ec3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37c67ec3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37c67ec3e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37c67ec3e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37c67ec3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37c67ec3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37c67ec3e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37c67ec3e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37c67ec3e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37c67ec3e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37c67ec3e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337c67ec3e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37c67ec3e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37c67ec3e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37c67ec3e1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37c67ec3e1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37c67ec3e1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337c67ec3e1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37c67ec3e1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37c67ec3e1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37c67ec3e1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37c67ec3e1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37c67ec3e1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37c67ec3e1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37c67ec3e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37c67ec3e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37c67ec3e1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37c67ec3e1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37c67ec3e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337c67ec3e1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37c67ec3e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37c67ec3e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37c67ec3e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37c67ec3e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37c67ec3e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37c67ec3e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37c67ec3e1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37c67ec3e1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37c67ec3e1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337c67ec3e1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37c67ec3e1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337c67ec3e1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More generally: Don't advertise paths back to the next-hop (the router that gave you the path), e.g., R3 should not advertise path to A back to R2.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37c67ec3e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37c67ec3e1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37c67ec3e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37c67ec3e1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37c67ec3e1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37c67ec3e1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37c67ec3e1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37c67ec3e1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37c67ec3e1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37c67ec3e1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37c67ec3e1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37c67ec3e1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37c67ec3e1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37c67ec3e1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37c67ec3e1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337c67ec3e1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37c67ec3e1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37c67ec3e1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37c67ec3e1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37c67ec3e1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337c67ec3e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337c67ec3e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37c67ec3e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337c67ec3e1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37c67ec3e1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37c67ec3e1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337c67ec3e1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337c67ec3e1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37c67ec3e1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337c67ec3e1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37c67ec3e1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37c67ec3e1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37c67ec3e1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37c67ec3e1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37c67ec3e1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37c67ec3e1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37c67ec3e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337c67ec3e1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37c67ec3e1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337c67ec3e1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337c67ec3e1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337c67ec3e1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37c67ec3e1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37c67ec3e1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337c67ec3e1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337c67ec3e1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37c67ec3e1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37c67ec3e1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337c67ec3e1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337c67ec3e1_0_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37c67ec3e1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37c67ec3e1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37c67ec3e1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337c67ec3e1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37c67ec3e1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37c67ec3e1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337c67ec3e1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337c67ec3e1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37c67ec3e1_0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37c67ec3e1_0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337c67ec3e1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337c67ec3e1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337c67ec3e1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337c67ec3e1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337c67ec3e1_0_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337c67ec3e1_0_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337c67ec3e1_0_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337c67ec3e1_0_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37c67ec3e1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3" name="Google Shape;2133;g337c67ec3e1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337c67ec3e1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337c67ec3e1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37c67ec3e1_0_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37c67ec3e1_0_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37c67ec3e1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37c67ec3e1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Algorithm Sketch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</a:t>
            </a:r>
            <a:endParaRPr dirty="0"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 5.1,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1645-895C-0046-F6C5-E295740C0B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168" name="Google Shape;168;p26"/>
          <p:cNvCxnSpPr>
            <a:stCxn id="169" idx="3"/>
            <a:endCxn id="17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6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6"/>
          <p:cNvCxnSpPr>
            <a:stCxn id="169" idx="3"/>
            <a:endCxn id="17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6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6"/>
          <p:cNvCxnSpPr>
            <a:stCxn id="171" idx="6"/>
            <a:endCxn id="16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6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6"/>
          <p:cNvCxnSpPr>
            <a:stCxn id="170" idx="3"/>
            <a:endCxn id="17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6"/>
          <p:cNvCxnSpPr>
            <a:stCxn id="170" idx="3"/>
            <a:endCxn id="17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6"/>
          <p:cNvCxnSpPr>
            <a:stCxn id="172" idx="3"/>
            <a:endCxn id="17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6"/>
          <p:cNvCxnSpPr>
            <a:stCxn id="172" idx="3"/>
            <a:endCxn id="17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6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6"/>
          <p:cNvCxnSpPr>
            <a:stCxn id="176" idx="3"/>
            <a:endCxn id="18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6"/>
          <p:cNvCxnSpPr>
            <a:stCxn id="176" idx="3"/>
            <a:endCxn id="18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6"/>
          <p:cNvCxnSpPr>
            <a:stCxn id="175" idx="3"/>
            <a:endCxn id="18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6"/>
          <p:cNvCxnSpPr>
            <a:stCxn id="175" idx="3"/>
            <a:endCxn id="18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>
            <a:stCxn id="177" idx="3"/>
            <a:endCxn id="18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>
            <a:stCxn id="177" idx="3"/>
            <a:endCxn id="18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>
            <a:stCxn id="178" idx="3"/>
            <a:endCxn id="18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>
            <a:stCxn id="178" idx="3"/>
            <a:endCxn id="19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6"/>
          <p:cNvSpPr/>
          <p:nvPr/>
        </p:nvSpPr>
        <p:spPr>
          <a:xfrm>
            <a:off x="1265650" y="2216525"/>
            <a:ext cx="1615500" cy="8682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is 1 away from me. I should tell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26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57824-BEB7-86D7-222C-708598692E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08" name="Google Shape;208;p27"/>
          <p:cNvCxnSpPr>
            <a:stCxn id="209" idx="3"/>
            <a:endCxn id="21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7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7"/>
          <p:cNvCxnSpPr>
            <a:stCxn id="209" idx="3"/>
            <a:endCxn id="21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7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7"/>
          <p:cNvCxnSpPr>
            <a:stCxn id="211" idx="6"/>
            <a:endCxn id="20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7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7"/>
          <p:cNvCxnSpPr>
            <a:stCxn id="210" idx="3"/>
            <a:endCxn id="21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7"/>
          <p:cNvCxnSpPr>
            <a:stCxn id="210" idx="3"/>
            <a:endCxn id="21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7"/>
          <p:cNvCxnSpPr>
            <a:stCxn id="212" idx="3"/>
            <a:endCxn id="21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7"/>
          <p:cNvCxnSpPr>
            <a:stCxn id="212" idx="3"/>
            <a:endCxn id="21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7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16" idx="3"/>
            <a:endCxn id="22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>
            <a:stCxn id="216" idx="3"/>
            <a:endCxn id="22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7"/>
          <p:cNvCxnSpPr>
            <a:stCxn id="215" idx="3"/>
            <a:endCxn id="22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7"/>
          <p:cNvCxnSpPr>
            <a:stCxn id="215" idx="3"/>
            <a:endCxn id="22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7"/>
          <p:cNvCxnSpPr>
            <a:stCxn id="217" idx="3"/>
            <a:endCxn id="22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7"/>
          <p:cNvCxnSpPr>
            <a:stCxn id="217" idx="3"/>
            <a:endCxn id="22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7"/>
          <p:cNvCxnSpPr>
            <a:stCxn id="218" idx="3"/>
            <a:endCxn id="22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7"/>
          <p:cNvCxnSpPr>
            <a:stCxn id="218" idx="3"/>
            <a:endCxn id="23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7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7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666800" y="24167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/>
          <p:nvPr/>
        </p:nvCxnSpPr>
        <p:spPr>
          <a:xfrm rot="10800000" flipH="1">
            <a:off x="3104200" y="2776179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p27"/>
          <p:cNvSpPr/>
          <p:nvPr/>
        </p:nvSpPr>
        <p:spPr>
          <a:xfrm>
            <a:off x="2666800" y="41693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>
            <a:off x="3104200" y="3750904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C34ED-35C9-B6A5-38A4-43E62386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4074550" y="2420500"/>
            <a:ext cx="517500" cy="206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52" name="Google Shape;252;p28"/>
          <p:cNvCxnSpPr>
            <a:stCxn id="253" idx="3"/>
            <a:endCxn id="254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8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28"/>
          <p:cNvCxnSpPr>
            <a:stCxn id="253" idx="3"/>
            <a:endCxn id="256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8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28"/>
          <p:cNvCxnSpPr>
            <a:stCxn id="255" idx="6"/>
            <a:endCxn id="253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8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8"/>
          <p:cNvCxnSpPr>
            <a:stCxn id="254" idx="3"/>
            <a:endCxn id="260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8"/>
          <p:cNvCxnSpPr>
            <a:stCxn id="254" idx="3"/>
            <a:endCxn id="259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8"/>
          <p:cNvCxnSpPr>
            <a:stCxn id="256" idx="3"/>
            <a:endCxn id="261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8"/>
          <p:cNvCxnSpPr>
            <a:stCxn id="256" idx="3"/>
            <a:endCxn id="262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8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28"/>
          <p:cNvCxnSpPr>
            <a:stCxn id="260" idx="3"/>
            <a:endCxn id="267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8"/>
          <p:cNvCxnSpPr>
            <a:stCxn id="260" idx="3"/>
            <a:endCxn id="268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8"/>
          <p:cNvCxnSpPr>
            <a:stCxn id="259" idx="3"/>
            <a:endCxn id="269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8"/>
          <p:cNvCxnSpPr>
            <a:stCxn id="259" idx="3"/>
            <a:endCxn id="270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8"/>
          <p:cNvCxnSpPr>
            <a:stCxn id="261" idx="3"/>
            <a:endCxn id="271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8"/>
          <p:cNvCxnSpPr>
            <a:stCxn id="261" idx="3"/>
            <a:endCxn id="272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8"/>
          <p:cNvCxnSpPr>
            <a:stCxn id="262" idx="3"/>
            <a:endCxn id="273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8"/>
          <p:cNvCxnSpPr>
            <a:stCxn id="262" idx="3"/>
            <a:endCxn id="274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8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4" name="Google Shape;284;p28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2009375" y="1531013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" name="Google Shape;286;p28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8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28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A3909-3CAC-5526-CA51-9D487AC550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95" name="Google Shape;295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96" name="Google Shape;296;p29"/>
          <p:cNvCxnSpPr>
            <a:stCxn id="297" idx="3"/>
            <a:endCxn id="298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9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29"/>
          <p:cNvCxnSpPr>
            <a:stCxn id="297" idx="3"/>
            <a:endCxn id="300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9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9"/>
          <p:cNvCxnSpPr>
            <a:stCxn id="299" idx="6"/>
            <a:endCxn id="297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9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9"/>
          <p:cNvCxnSpPr>
            <a:stCxn id="298" idx="3"/>
            <a:endCxn id="304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9"/>
          <p:cNvCxnSpPr>
            <a:stCxn id="298" idx="3"/>
            <a:endCxn id="303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9"/>
          <p:cNvCxnSpPr>
            <a:stCxn id="300" idx="3"/>
            <a:endCxn id="305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9"/>
          <p:cNvCxnSpPr>
            <a:stCxn id="300" idx="3"/>
            <a:endCxn id="306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9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stCxn id="304" idx="3"/>
            <a:endCxn id="311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9"/>
          <p:cNvCxnSpPr>
            <a:stCxn id="304" idx="3"/>
            <a:endCxn id="312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9"/>
          <p:cNvCxnSpPr>
            <a:stCxn id="303" idx="3"/>
            <a:endCxn id="313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9"/>
          <p:cNvCxnSpPr>
            <a:stCxn id="303" idx="3"/>
            <a:endCxn id="314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9"/>
          <p:cNvCxnSpPr>
            <a:stCxn id="305" idx="3"/>
            <a:endCxn id="315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9"/>
          <p:cNvCxnSpPr>
            <a:stCxn id="305" idx="3"/>
            <a:endCxn id="316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9"/>
          <p:cNvCxnSpPr>
            <a:stCxn id="306" idx="3"/>
            <a:endCxn id="317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9"/>
          <p:cNvCxnSpPr>
            <a:stCxn id="306" idx="3"/>
            <a:endCxn id="318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29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8" name="Google Shape;328;p29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4371650" y="1855038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29"/>
          <p:cNvCxnSpPr/>
          <p:nvPr/>
        </p:nvCxnSpPr>
        <p:spPr>
          <a:xfrm rot="10800000" flipH="1">
            <a:off x="4658750" y="22433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29"/>
          <p:cNvCxnSpPr/>
          <p:nvPr/>
        </p:nvCxnSpPr>
        <p:spPr>
          <a:xfrm>
            <a:off x="4658750" y="2929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9"/>
          <p:cNvSpPr/>
          <p:nvPr/>
        </p:nvSpPr>
        <p:spPr>
          <a:xfrm>
            <a:off x="4371650" y="3150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/>
          <p:nvPr/>
        </p:nvCxnSpPr>
        <p:spPr>
          <a:xfrm rot="10800000" flipH="1">
            <a:off x="4658750" y="382470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29"/>
          <p:cNvCxnSpPr/>
          <p:nvPr/>
        </p:nvCxnSpPr>
        <p:spPr>
          <a:xfrm>
            <a:off x="4658750" y="4453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5" name="Google Shape;335;p29"/>
          <p:cNvSpPr/>
          <p:nvPr/>
        </p:nvSpPr>
        <p:spPr>
          <a:xfrm>
            <a:off x="4371650" y="366502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4371650" y="4674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29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29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9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D06F5-6998-38EB-DAE6-E93AAD7274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/>
          <p:nvPr/>
        </p:nvSpPr>
        <p:spPr>
          <a:xfrm>
            <a:off x="5598550" y="2016500"/>
            <a:ext cx="517500" cy="3025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348" name="Google Shape;348;p30"/>
          <p:cNvCxnSpPr>
            <a:stCxn id="349" idx="3"/>
            <a:endCxn id="35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30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30"/>
          <p:cNvCxnSpPr>
            <a:stCxn id="349" idx="3"/>
            <a:endCxn id="35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30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30"/>
          <p:cNvCxnSpPr>
            <a:stCxn id="351" idx="6"/>
            <a:endCxn id="34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p30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0"/>
          <p:cNvCxnSpPr>
            <a:stCxn id="350" idx="3"/>
            <a:endCxn id="35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30"/>
          <p:cNvCxnSpPr>
            <a:stCxn id="350" idx="3"/>
            <a:endCxn id="35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30"/>
          <p:cNvCxnSpPr>
            <a:stCxn id="352" idx="3"/>
            <a:endCxn id="35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30"/>
          <p:cNvCxnSpPr>
            <a:stCxn id="352" idx="3"/>
            <a:endCxn id="35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30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30"/>
          <p:cNvCxnSpPr>
            <a:stCxn id="356" idx="3"/>
            <a:endCxn id="36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30"/>
          <p:cNvCxnSpPr>
            <a:stCxn id="356" idx="3"/>
            <a:endCxn id="36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30"/>
          <p:cNvCxnSpPr>
            <a:stCxn id="355" idx="3"/>
            <a:endCxn id="36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30"/>
          <p:cNvCxnSpPr>
            <a:stCxn id="355" idx="3"/>
            <a:endCxn id="36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30"/>
          <p:cNvCxnSpPr>
            <a:stCxn id="357" idx="3"/>
            <a:endCxn id="36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30"/>
          <p:cNvCxnSpPr>
            <a:stCxn id="357" idx="3"/>
            <a:endCxn id="36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30"/>
          <p:cNvCxnSpPr>
            <a:stCxn id="358" idx="3"/>
            <a:endCxn id="36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30"/>
          <p:cNvCxnSpPr>
            <a:stCxn id="358" idx="3"/>
            <a:endCxn id="37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30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30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3602450" y="1064688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0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3" name="Google Shape;383;p30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0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30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" name="Google Shape;386;p30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30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0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30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30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p30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30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" name="Google Shape;393;p30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73AA6-3BEA-67E3-C2C3-C04D169E9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99" name="Google Shape;399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00" name="Google Shape;400;p31"/>
          <p:cNvCxnSpPr>
            <a:stCxn id="401" idx="3"/>
            <a:endCxn id="402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2" name="Google Shape;402;p31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31"/>
          <p:cNvCxnSpPr>
            <a:stCxn id="401" idx="3"/>
            <a:endCxn id="404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1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1"/>
          <p:cNvCxnSpPr>
            <a:stCxn id="403" idx="6"/>
            <a:endCxn id="401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Google Shape;407;p31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31"/>
          <p:cNvCxnSpPr>
            <a:stCxn id="402" idx="3"/>
            <a:endCxn id="408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1"/>
          <p:cNvCxnSpPr>
            <a:stCxn id="402" idx="3"/>
            <a:endCxn id="407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1"/>
          <p:cNvCxnSpPr>
            <a:stCxn id="404" idx="3"/>
            <a:endCxn id="409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1"/>
          <p:cNvCxnSpPr>
            <a:stCxn id="404" idx="3"/>
            <a:endCxn id="410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5" name="Google Shape;415;p31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31"/>
          <p:cNvCxnSpPr>
            <a:stCxn id="408" idx="3"/>
            <a:endCxn id="415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4" name="Google Shape;424;p31"/>
          <p:cNvCxnSpPr>
            <a:stCxn id="408" idx="3"/>
            <a:endCxn id="416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31"/>
          <p:cNvCxnSpPr>
            <a:stCxn id="407" idx="3"/>
            <a:endCxn id="417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31"/>
          <p:cNvCxnSpPr>
            <a:stCxn id="407" idx="3"/>
            <a:endCxn id="418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7" name="Google Shape;427;p31"/>
          <p:cNvCxnSpPr>
            <a:stCxn id="409" idx="3"/>
            <a:endCxn id="419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31"/>
          <p:cNvCxnSpPr>
            <a:stCxn id="409" idx="3"/>
            <a:endCxn id="420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31"/>
          <p:cNvCxnSpPr>
            <a:stCxn id="410" idx="3"/>
            <a:endCxn id="421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31"/>
          <p:cNvCxnSpPr>
            <a:stCxn id="410" idx="3"/>
            <a:endCxn id="422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31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2" name="Google Shape;432;p31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31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31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" name="Google Shape;435;p31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6" name="Google Shape;436;p31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8" name="Google Shape;438;p31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31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31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1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442;p31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31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4" name="Google Shape;444;p31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" name="Google Shape;445;p31"/>
          <p:cNvCxnSpPr/>
          <p:nvPr/>
        </p:nvCxnSpPr>
        <p:spPr>
          <a:xfrm rot="10800000" flipH="1">
            <a:off x="6248875" y="2124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6248875" y="2454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p31"/>
          <p:cNvSpPr/>
          <p:nvPr/>
        </p:nvSpPr>
        <p:spPr>
          <a:xfrm>
            <a:off x="5929075" y="1725738"/>
            <a:ext cx="1043700" cy="323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146875" y="2556157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6146875" y="273938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31"/>
          <p:cNvCxnSpPr/>
          <p:nvPr/>
        </p:nvCxnSpPr>
        <p:spPr>
          <a:xfrm rot="10800000" flipH="1">
            <a:off x="6248875" y="2886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6248875" y="3216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" name="Google Shape;452;p31"/>
          <p:cNvSpPr/>
          <p:nvPr/>
        </p:nvSpPr>
        <p:spPr>
          <a:xfrm>
            <a:off x="6146875" y="33119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6146875" y="3541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1"/>
          <p:cNvCxnSpPr/>
          <p:nvPr/>
        </p:nvCxnSpPr>
        <p:spPr>
          <a:xfrm rot="10800000" flipH="1">
            <a:off x="6248875" y="3688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6248875" y="4018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6" name="Google Shape;456;p31"/>
          <p:cNvSpPr/>
          <p:nvPr/>
        </p:nvSpPr>
        <p:spPr>
          <a:xfrm>
            <a:off x="6146875" y="4113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6146875" y="4303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1"/>
          <p:cNvCxnSpPr/>
          <p:nvPr/>
        </p:nvCxnSpPr>
        <p:spPr>
          <a:xfrm rot="10800000" flipH="1">
            <a:off x="6248875" y="4450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6248875" y="4780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0" name="Google Shape;460;p31"/>
          <p:cNvSpPr/>
          <p:nvPr/>
        </p:nvSpPr>
        <p:spPr>
          <a:xfrm>
            <a:off x="6146875" y="4875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CDBD64-EB91-F9BC-7D8F-75486C4FAF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67" name="Google Shape;467;p32"/>
          <p:cNvCxnSpPr>
            <a:stCxn id="468" idx="3"/>
            <a:endCxn id="469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2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2"/>
          <p:cNvCxnSpPr>
            <a:stCxn id="468" idx="3"/>
            <a:endCxn id="471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32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2"/>
          <p:cNvCxnSpPr>
            <a:stCxn id="470" idx="6"/>
            <a:endCxn id="468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2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2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2"/>
          <p:cNvCxnSpPr>
            <a:stCxn id="469" idx="3"/>
            <a:endCxn id="475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2"/>
          <p:cNvCxnSpPr>
            <a:stCxn id="469" idx="3"/>
            <a:endCxn id="474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2"/>
          <p:cNvCxnSpPr>
            <a:stCxn id="471" idx="3"/>
            <a:endCxn id="476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2"/>
          <p:cNvCxnSpPr>
            <a:stCxn id="471" idx="3"/>
            <a:endCxn id="477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2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" name="Google Shape;490;p32"/>
          <p:cNvCxnSpPr>
            <a:stCxn id="475" idx="3"/>
            <a:endCxn id="482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2"/>
          <p:cNvCxnSpPr>
            <a:stCxn id="475" idx="3"/>
            <a:endCxn id="483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32"/>
          <p:cNvCxnSpPr>
            <a:stCxn id="474" idx="3"/>
            <a:endCxn id="484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" name="Google Shape;493;p32"/>
          <p:cNvCxnSpPr>
            <a:stCxn id="474" idx="3"/>
            <a:endCxn id="485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32"/>
          <p:cNvCxnSpPr>
            <a:stCxn id="476" idx="3"/>
            <a:endCxn id="486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32"/>
          <p:cNvCxnSpPr>
            <a:stCxn id="476" idx="3"/>
            <a:endCxn id="487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32"/>
          <p:cNvCxnSpPr>
            <a:stCxn id="477" idx="3"/>
            <a:endCxn id="488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32"/>
          <p:cNvCxnSpPr>
            <a:stCxn id="477" idx="3"/>
            <a:endCxn id="489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8" name="Google Shape;498;p32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9" name="Google Shape;499;p32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2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" name="Google Shape;501;p32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32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" name="Google Shape;503;p32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32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5" name="Google Shape;505;p32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" name="Google Shape;506;p32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2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32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32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" name="Google Shape;510;p32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1" name="Google Shape;511;p32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2"/>
          <p:cNvCxnSpPr/>
          <p:nvPr/>
        </p:nvCxnSpPr>
        <p:spPr>
          <a:xfrm flipH="1">
            <a:off x="6455775" y="2105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32"/>
          <p:cNvSpPr txBox="1"/>
          <p:nvPr/>
        </p:nvSpPr>
        <p:spPr>
          <a:xfrm rot="-505875">
            <a:off x="6544869" y="1986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2"/>
          <p:cNvCxnSpPr/>
          <p:nvPr/>
        </p:nvCxnSpPr>
        <p:spPr>
          <a:xfrm rot="10800000">
            <a:off x="6455775" y="2465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32"/>
          <p:cNvSpPr txBox="1"/>
          <p:nvPr/>
        </p:nvSpPr>
        <p:spPr>
          <a:xfrm rot="505875" flipH="1">
            <a:off x="6544869" y="2537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2"/>
          <p:cNvCxnSpPr/>
          <p:nvPr/>
        </p:nvCxnSpPr>
        <p:spPr>
          <a:xfrm flipH="1">
            <a:off x="6455775" y="2867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32"/>
          <p:cNvSpPr txBox="1"/>
          <p:nvPr/>
        </p:nvSpPr>
        <p:spPr>
          <a:xfrm rot="-505875">
            <a:off x="6544869" y="2748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2"/>
          <p:cNvCxnSpPr/>
          <p:nvPr/>
        </p:nvCxnSpPr>
        <p:spPr>
          <a:xfrm rot="10800000">
            <a:off x="6455775" y="3227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" name="Google Shape;519;p32"/>
          <p:cNvSpPr txBox="1"/>
          <p:nvPr/>
        </p:nvSpPr>
        <p:spPr>
          <a:xfrm rot="505875" flipH="1">
            <a:off x="6544869" y="3299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2"/>
          <p:cNvCxnSpPr/>
          <p:nvPr/>
        </p:nvCxnSpPr>
        <p:spPr>
          <a:xfrm flipH="1">
            <a:off x="6455775" y="3668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" name="Google Shape;521;p32"/>
          <p:cNvSpPr txBox="1"/>
          <p:nvPr/>
        </p:nvSpPr>
        <p:spPr>
          <a:xfrm rot="-505875">
            <a:off x="6544869" y="3549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2"/>
          <p:cNvCxnSpPr/>
          <p:nvPr/>
        </p:nvCxnSpPr>
        <p:spPr>
          <a:xfrm rot="10800000">
            <a:off x="6455775" y="4028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3" name="Google Shape;523;p32"/>
          <p:cNvSpPr txBox="1"/>
          <p:nvPr/>
        </p:nvSpPr>
        <p:spPr>
          <a:xfrm rot="505875" flipH="1">
            <a:off x="6544869" y="4099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2"/>
          <p:cNvCxnSpPr/>
          <p:nvPr/>
        </p:nvCxnSpPr>
        <p:spPr>
          <a:xfrm flipH="1">
            <a:off x="6455775" y="4430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5" name="Google Shape;525;p32"/>
          <p:cNvSpPr txBox="1"/>
          <p:nvPr/>
        </p:nvSpPr>
        <p:spPr>
          <a:xfrm rot="-505875">
            <a:off x="6544869" y="4311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2"/>
          <p:cNvCxnSpPr/>
          <p:nvPr/>
        </p:nvCxnSpPr>
        <p:spPr>
          <a:xfrm rot="10800000">
            <a:off x="6455775" y="4790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32"/>
          <p:cNvSpPr txBox="1"/>
          <p:nvPr/>
        </p:nvSpPr>
        <p:spPr>
          <a:xfrm rot="505875" flipH="1">
            <a:off x="6544869" y="4861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1371400" y="1429500"/>
            <a:ext cx="6152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did it! Everybody knows the next-hop to A now.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379179-2EF3-109E-68AD-72E79453C3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 – Routing vs. Forwarding</a:t>
            </a:r>
            <a:endParaRPr/>
          </a:p>
        </p:txBody>
      </p:sp>
      <p:cxnSp>
        <p:nvCxnSpPr>
          <p:cNvPr id="534" name="Google Shape;534;p33"/>
          <p:cNvCxnSpPr>
            <a:stCxn id="535" idx="3"/>
            <a:endCxn id="536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6" name="Google Shape;536;p33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33"/>
          <p:cNvCxnSpPr>
            <a:stCxn id="535" idx="3"/>
            <a:endCxn id="538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5" name="Google Shape;535;p33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3"/>
          <p:cNvCxnSpPr>
            <a:stCxn id="537" idx="6"/>
            <a:endCxn id="535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33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5" name="Google Shape;545;p33"/>
          <p:cNvCxnSpPr>
            <a:stCxn id="536" idx="3"/>
            <a:endCxn id="542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33"/>
          <p:cNvCxnSpPr>
            <a:stCxn id="536" idx="3"/>
            <a:endCxn id="541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3"/>
          <p:cNvCxnSpPr>
            <a:stCxn id="538" idx="3"/>
            <a:endCxn id="543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3"/>
          <p:cNvCxnSpPr>
            <a:stCxn id="538" idx="3"/>
            <a:endCxn id="544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33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3"/>
          <p:cNvCxnSpPr>
            <a:stCxn id="542" idx="3"/>
            <a:endCxn id="549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3"/>
          <p:cNvCxnSpPr>
            <a:stCxn id="542" idx="3"/>
            <a:endCxn id="550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33"/>
          <p:cNvCxnSpPr>
            <a:stCxn id="541" idx="3"/>
            <a:endCxn id="551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3"/>
          <p:cNvCxnSpPr>
            <a:stCxn id="541" idx="3"/>
            <a:endCxn id="552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33"/>
          <p:cNvCxnSpPr>
            <a:stCxn id="543" idx="3"/>
            <a:endCxn id="553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33"/>
          <p:cNvCxnSpPr>
            <a:stCxn id="543" idx="3"/>
            <a:endCxn id="554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33"/>
          <p:cNvCxnSpPr>
            <a:stCxn id="544" idx="3"/>
            <a:endCxn id="555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33"/>
          <p:cNvCxnSpPr>
            <a:stCxn id="544" idx="3"/>
            <a:endCxn id="556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33"/>
          <p:cNvCxnSpPr/>
          <p:nvPr/>
        </p:nvCxnSpPr>
        <p:spPr>
          <a:xfrm>
            <a:off x="1259851" y="1074500"/>
            <a:ext cx="6624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" name="Google Shape;566;p33"/>
          <p:cNvSpPr txBox="1"/>
          <p:nvPr/>
        </p:nvSpPr>
        <p:spPr>
          <a:xfrm>
            <a:off x="1259864" y="7545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announcements ("I can reach A") propagated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outward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away from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33"/>
          <p:cNvCxnSpPr/>
          <p:nvPr/>
        </p:nvCxnSpPr>
        <p:spPr>
          <a:xfrm>
            <a:off x="1259851" y="1684100"/>
            <a:ext cx="66243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68" name="Google Shape;568;p33"/>
          <p:cNvSpPr txBox="1"/>
          <p:nvPr/>
        </p:nvSpPr>
        <p:spPr>
          <a:xfrm>
            <a:off x="1259864" y="13641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When </a:t>
            </a:r>
            <a:r>
              <a:rPr lang="en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forwarding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packets toward A, packets travel </a:t>
            </a:r>
            <a:r>
              <a:rPr lang="en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inward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, toward A.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BBA292-C42A-1991-32E2-0A5CA9D8DC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Distance-Vector Algorithm Sketch – Multiple Destinations</a:t>
            </a:r>
            <a:endParaRPr/>
          </a:p>
        </p:txBody>
      </p:sp>
      <p:sp>
        <p:nvSpPr>
          <p:cNvPr id="574" name="Google Shape;574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multiple destinations?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same path propagation algorithm, once per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use </a:t>
            </a:r>
            <a:r>
              <a:rPr lang="en" b="1"/>
              <a:t>forwarding tables</a:t>
            </a:r>
            <a:r>
              <a:rPr lang="en"/>
              <a:t> to keep track of the next-hop of each destination.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focus on a single destination for simplicity.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protocol can extend to multiple destinations.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776D89-3924-F647-1B13-D2402A4E69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1: Bellman-Ford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0" name="Google Shape;580;p3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1: Bellman-Ford Updates</a:t>
            </a:r>
            <a:endParaRPr/>
          </a:p>
        </p:txBody>
      </p:sp>
      <p:sp>
        <p:nvSpPr>
          <p:cNvPr id="581" name="Google Shape;581;p3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66DFF8-3BFD-8E8B-A888-44B854CA5C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587" name="Google Shape;587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6"/>
          <p:cNvCxnSpPr>
            <a:endCxn id="588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Google Shape;590;p36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36"/>
          <p:cNvCxnSpPr>
            <a:stCxn id="590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endCxn id="588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3" name="Google Shape;593;p36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3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6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6"/>
          <p:cNvCxnSpPr>
            <a:stCxn id="595" idx="3"/>
            <a:endCxn id="590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endCxn id="598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6"/>
          <p:cNvCxnSpPr>
            <a:endCxn id="598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6"/>
          <p:cNvCxnSpPr>
            <a:endCxn id="595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6"/>
          <p:cNvCxnSpPr>
            <a:endCxn id="593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6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6"/>
          <p:cNvCxnSpPr>
            <a:stCxn id="602" idx="6"/>
            <a:endCxn id="598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p36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Google Shape;605;p36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Google Shape;606;p36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290725" y="2639600"/>
            <a:ext cx="1382100" cy="688500"/>
          </a:xfrm>
          <a:prstGeom prst="wedgeRoundRectCallout">
            <a:avLst>
              <a:gd name="adj1" fmla="val -60451"/>
              <a:gd name="adj2" fmla="val 59041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prefer what R4 is offering.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/>
          <p:nvPr/>
        </p:nvCxnSpPr>
        <p:spPr>
          <a:xfrm flipH="1">
            <a:off x="4317075" y="3392600"/>
            <a:ext cx="349500" cy="605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0" name="Google Shape;610;p36"/>
          <p:cNvSpPr txBox="1"/>
          <p:nvPr/>
        </p:nvSpPr>
        <p:spPr>
          <a:xfrm rot="-3604017">
            <a:off x="4139328" y="3518986"/>
            <a:ext cx="589193" cy="1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455CD9-05A0-0262-4393-2FB0A5E154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16" name="Google Shape;616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617" name="Google Shape;617;p37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37"/>
          <p:cNvCxnSpPr>
            <a:endCxn id="617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37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37"/>
          <p:cNvCxnSpPr>
            <a:stCxn id="619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7"/>
          <p:cNvCxnSpPr>
            <a:endCxn id="617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37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37"/>
          <p:cNvCxnSpPr>
            <a:stCxn id="622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4" name="Google Shape;624;p37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5" name="Google Shape;625;p37"/>
          <p:cNvCxnSpPr>
            <a:stCxn id="624" idx="3"/>
            <a:endCxn id="619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endCxn id="627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37"/>
          <p:cNvCxnSpPr>
            <a:endCxn id="627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endCxn id="624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37"/>
          <p:cNvCxnSpPr>
            <a:endCxn id="622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7" name="Google Shape;627;p37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7"/>
          <p:cNvCxnSpPr>
            <a:stCxn id="631" idx="6"/>
            <a:endCxn id="627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40784-9F10-3D1F-910D-F234E7A0E6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38" name="Google Shape;638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38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1" name="Google Shape;641;p38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2" name="Google Shape;642;p38"/>
          <p:cNvCxnSpPr>
            <a:stCxn id="641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38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p38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38"/>
          <p:cNvCxnSpPr>
            <a:stCxn id="644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38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6" idx="3"/>
            <a:endCxn id="641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8"/>
          <p:cNvCxnSpPr>
            <a:endCxn id="649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8"/>
          <p:cNvCxnSpPr>
            <a:endCxn id="649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38"/>
          <p:cNvCxnSpPr>
            <a:endCxn id="646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2" name="Google Shape;652;p38"/>
          <p:cNvCxnSpPr>
            <a:endCxn id="644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38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38"/>
          <p:cNvCxnSpPr>
            <a:stCxn id="653" idx="6"/>
            <a:endCxn id="649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8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6" name="Google Shape;656;p38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7" name="Google Shape;657;p38"/>
          <p:cNvGraphicFramePr/>
          <p:nvPr/>
        </p:nvGraphicFramePr>
        <p:xfrm>
          <a:off x="7110582" y="2687500"/>
          <a:ext cx="18887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7320E2-7BC7-B8C2-8A90-BBB8DD313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63" name="Google Shape;663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better path later, update the table (next-hop and cost).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5" name="Google Shape;665;p39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39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39"/>
          <p:cNvCxnSpPr>
            <a:stCxn id="666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8" name="Google Shape;668;p39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p39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9"/>
          <p:cNvCxnSpPr>
            <a:stCxn id="669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39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39"/>
          <p:cNvCxnSpPr>
            <a:stCxn id="671" idx="3"/>
            <a:endCxn id="666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39"/>
          <p:cNvCxnSpPr>
            <a:endCxn id="674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39"/>
          <p:cNvCxnSpPr>
            <a:endCxn id="674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39"/>
          <p:cNvCxnSpPr>
            <a:endCxn id="671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39"/>
          <p:cNvCxnSpPr>
            <a:endCxn id="669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39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39"/>
          <p:cNvCxnSpPr>
            <a:stCxn id="678" idx="6"/>
            <a:endCxn id="674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80" name="Google Shape;680;p39"/>
          <p:cNvGraphicFramePr/>
          <p:nvPr/>
        </p:nvGraphicFramePr>
        <p:xfrm>
          <a:off x="7110582" y="2687500"/>
          <a:ext cx="1888700" cy="90213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b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1" name="Google Shape;681;p39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2" name="Google Shape;682;p39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5366925" y="2281350"/>
            <a:ext cx="1351500" cy="1046700"/>
          </a:xfrm>
          <a:prstGeom prst="wedgeRoundRectCallout">
            <a:avLst>
              <a:gd name="adj1" fmla="val -68383"/>
              <a:gd name="adj2" fmla="val 5386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like this new path better. I'll abandon the old 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ECD8E1-84BF-B636-8AAA-FFA47FF4EC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689" name="Google Shape;689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destination isn't in the table.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advertised cost is better than best-known cost.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A9604F-2D26-272C-C3F0-27F9E2FDF4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695" name="Google Shape;695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696" name="Google Shape;696;p41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8" name="Google Shape;698;p41"/>
          <p:cNvCxnSpPr>
            <a:stCxn id="697" idx="3"/>
            <a:endCxn id="696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41"/>
          <p:cNvCxnSpPr>
            <a:stCxn id="700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41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1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921725" y="23630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5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1"/>
          <p:cNvCxnSpPr/>
          <p:nvPr/>
        </p:nvCxnSpPr>
        <p:spPr>
          <a:xfrm>
            <a:off x="2490050" y="26905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05" name="Google Shape;705;p41"/>
          <p:cNvGraphicFramePr/>
          <p:nvPr/>
        </p:nvGraphicFramePr>
        <p:xfrm>
          <a:off x="4780082" y="37996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FC2D57-D83F-73CF-636B-B980F0D52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42"/>
          <p:cNvCxnSpPr>
            <a:stCxn id="713" idx="3"/>
            <a:endCxn id="712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p42"/>
          <p:cNvCxnSpPr>
            <a:stCxn id="716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6" name="Google Shape;716;p42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19" name="Google Shape;719;p42"/>
          <p:cNvGraphicFramePr/>
          <p:nvPr/>
        </p:nvGraphicFramePr>
        <p:xfrm>
          <a:off x="4780082" y="37996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0" name="Google Shape;720;p42"/>
          <p:cNvSpPr/>
          <p:nvPr/>
        </p:nvSpPr>
        <p:spPr>
          <a:xfrm>
            <a:off x="2921725" y="41156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1" name="Google Shape;721;p42"/>
          <p:cNvCxnSpPr/>
          <p:nvPr/>
        </p:nvCxnSpPr>
        <p:spPr>
          <a:xfrm rot="10800000" flipH="1">
            <a:off x="2558725" y="37996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2" name="Google Shape;722;p42"/>
          <p:cNvSpPr/>
          <p:nvPr/>
        </p:nvSpPr>
        <p:spPr>
          <a:xfrm>
            <a:off x="4127725" y="2221300"/>
            <a:ext cx="2481000" cy="919500"/>
          </a:xfrm>
          <a:prstGeom prst="wedgeRoundRectCallout">
            <a:avLst>
              <a:gd name="adj1" fmla="val -64779"/>
              <a:gd name="adj2" fmla="val 5994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path actually costs 10+3=13. I'll keep using the cost 6 path and reject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76EFFA-547A-A6E5-D534-3619BCC499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28" name="Google Shape;72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</a:t>
            </a:r>
            <a:r>
              <a:rPr lang="en">
                <a:solidFill>
                  <a:schemeClr val="accent2"/>
                </a:solidFill>
              </a:rPr>
              <a:t>+ link cost to neighbor</a:t>
            </a:r>
            <a:r>
              <a:rPr lang="en"/>
              <a:t>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34745-E66E-4408-F9C0-2B4C1DCAE9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34" name="Google Shape;734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Careful viewers might have noticed this operation looks familiar.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"If cost to neighbor + cost from neighbor to destination &lt; best-known cost,</a:t>
            </a:r>
            <a:br>
              <a:rPr lang="en"/>
            </a:br>
            <a:r>
              <a:rPr lang="en"/>
              <a:t>accept update."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relaxation operation in Dijkstra's shortest path algorithm!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Bellman-Ford</a:t>
            </a:r>
            <a:r>
              <a:rPr lang="en"/>
              <a:t> is another relaxation-based shortest path algorithm.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 every edge repeatedly until we get shortest paths.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Dijkstra's, does not require relaxing the edges in any specific order.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algorithms are a </a:t>
            </a:r>
            <a:r>
              <a:rPr lang="en" i="1"/>
              <a:t>distributed</a:t>
            </a:r>
            <a:r>
              <a:rPr lang="en"/>
              <a:t>, </a:t>
            </a:r>
            <a:r>
              <a:rPr lang="en" i="1"/>
              <a:t>asynchronous</a:t>
            </a:r>
            <a:r>
              <a:rPr lang="en"/>
              <a:t> version of Bellman-Ford.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Distributed: Each router relaxes its own links. No global mastermind.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Asynchronous: Nobody is syncing when the routers do relaxations.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E76CA-08B6-F20B-CFEB-4EC2C8235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40" name="Google Shape;740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7301400" cy="541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centralized Bellman-Ford algorithm for a single destination: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def bellman_ford(dst, routers, links):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 = {};	nexthop  = {}</a:t>
            </a:r>
            <a:endParaRPr sz="1600" dirty="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accent3"/>
                </a:solidFill>
              </a:rPr>
              <a:t> 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for r in routers: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distance[r] = INFINITY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nexthop[r]  = None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distance[dst] = 0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for _ in range(len(routers)-1):</a:t>
            </a:r>
            <a:b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	for (r1, r2, linkcost) in links:</a:t>
            </a:r>
            <a:endParaRPr sz="1600" dirty="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if distance[r1] + linkcost &lt; distance[r2]:</a:t>
            </a:r>
            <a:b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      distance[r2] = distance[r1] + linkcost</a:t>
            </a:r>
            <a:b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      nexthop[r2] = r1</a:t>
            </a:r>
            <a:endParaRPr sz="16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	return distance, nexthop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964448" y="1338950"/>
            <a:ext cx="3600000" cy="14352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4896550" y="1169437"/>
            <a:ext cx="4020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Everyone starts infinity away from the destination, except for the destination itself (0 away).</a:t>
            </a:r>
            <a:endParaRPr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999150" y="3387510"/>
            <a:ext cx="4907400" cy="8244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6016322" y="3094295"/>
            <a:ext cx="2028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relaxation operation.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1099678" y="2818780"/>
            <a:ext cx="4490799" cy="5241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5"/>
          <p:cNvSpPr txBox="1"/>
          <p:nvPr/>
        </p:nvSpPr>
        <p:spPr>
          <a:xfrm>
            <a:off x="4896550" y="1728650"/>
            <a:ext cx="3915300" cy="82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oop through nodes and relaxes repeatedly. </a:t>
            </a:r>
            <a:endParaRPr dirty="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 distance-vector, each router relaxes in parallel, with both directions as links between routers.</a:t>
            </a:r>
            <a:endParaRPr dirty="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357E2E-290C-E42A-8430-735FCA13AB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Bellman-Ford Demo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52" name="Google Shape;752;p4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53" name="Google Shape;753;p4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C9227-B26D-F460-CDDA-DE12AA70F5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59" name="Google Shape;759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</a:t>
            </a:r>
            <a:r>
              <a:rPr lang="en">
                <a:solidFill>
                  <a:schemeClr val="accent2"/>
                </a:solidFill>
              </a:rPr>
              <a:t>an advertisement</a:t>
            </a:r>
            <a:r>
              <a:rPr lang="en">
                <a:solidFill>
                  <a:srgbClr val="000000"/>
                </a:solidFill>
              </a:rPr>
              <a:t>, update table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Terminology note: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Sending "I'm R1, and I can reach A with cost 5" is called </a:t>
            </a:r>
            <a:r>
              <a:rPr lang="en" b="1">
                <a:solidFill>
                  <a:srgbClr val="000000"/>
                </a:solidFill>
              </a:rPr>
              <a:t>announcing</a:t>
            </a:r>
            <a:r>
              <a:rPr lang="en">
                <a:solidFill>
                  <a:srgbClr val="000000"/>
                </a:solidFill>
              </a:rPr>
              <a:t> or</a:t>
            </a:r>
            <a:r>
              <a:rPr lang="en" b="1"/>
              <a:t> advertising</a:t>
            </a:r>
            <a:r>
              <a:rPr lang="en"/>
              <a:t> a route. 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5DD7F8-9B88-3A37-80D9-1E9F4A08D6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65" name="Google Shape;765;p4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7" name="Google Shape;767;p48"/>
          <p:cNvCxnSpPr>
            <a:stCxn id="766" idx="6"/>
            <a:endCxn id="765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8" name="Google Shape;768;p4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9" name="Google Shape;769;p48"/>
          <p:cNvCxnSpPr>
            <a:stCxn id="765" idx="3"/>
            <a:endCxn id="768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1" name="Google Shape;771;p48"/>
          <p:cNvCxnSpPr>
            <a:stCxn id="768" idx="3"/>
            <a:endCxn id="770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72" name="Google Shape;772;p48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3" name="Google Shape;773;p48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4" name="Google Shape;774;p48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53E33D-4F1F-C59E-45E1-6DD3E689B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9"/>
          <p:cNvCxnSpPr>
            <a:stCxn id="781" idx="6"/>
            <a:endCxn id="78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3" name="Google Shape;783;p49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4" name="Google Shape;784;p49"/>
          <p:cNvCxnSpPr>
            <a:stCxn id="780" idx="3"/>
            <a:endCxn id="78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5" name="Google Shape;785;p49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9"/>
          <p:cNvCxnSpPr>
            <a:stCxn id="783" idx="3"/>
            <a:endCxn id="78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87" name="Google Shape;787;p49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8" name="Google Shape;788;p49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9" name="Google Shape;789;p49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0" name="Google Shape;790;p49"/>
          <p:cNvSpPr txBox="1"/>
          <p:nvPr/>
        </p:nvSpPr>
        <p:spPr>
          <a:xfrm>
            <a:off x="1848600" y="4266375"/>
            <a:ext cx="2017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Static routing: Someone hard-codes R1's table to say it can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DDDF46-DDDD-1A04-88CE-8423D094A6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96" name="Google Shape;796;p50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8" name="Google Shape;798;p50"/>
          <p:cNvCxnSpPr>
            <a:stCxn id="797" idx="6"/>
            <a:endCxn id="79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9" name="Google Shape;799;p50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50"/>
          <p:cNvCxnSpPr>
            <a:stCxn id="796" idx="3"/>
            <a:endCxn id="79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p50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50"/>
          <p:cNvCxnSpPr>
            <a:stCxn id="799" idx="3"/>
            <a:endCxn id="80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03" name="Google Shape;803;p50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4" name="Google Shape;804;p50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5" name="Google Shape;805;p50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6" name="Google Shape;806;p50"/>
          <p:cNvSpPr/>
          <p:nvPr/>
        </p:nvSpPr>
        <p:spPr>
          <a:xfrm>
            <a:off x="3073800" y="2188525"/>
            <a:ext cx="2626800" cy="5676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found a way to reach A!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all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4248FE-791F-7E5A-13ED-DCBF4AD7EC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12" name="Google Shape;812;p51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1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1"/>
          <p:cNvCxnSpPr>
            <a:stCxn id="813" idx="6"/>
            <a:endCxn id="81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5" name="Google Shape;815;p51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1"/>
          <p:cNvCxnSpPr>
            <a:stCxn id="812" idx="3"/>
            <a:endCxn id="81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7" name="Google Shape;817;p51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8" name="Google Shape;818;p51"/>
          <p:cNvCxnSpPr>
            <a:stCxn id="815" idx="3"/>
            <a:endCxn id="81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19" name="Google Shape;819;p51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0" name="Google Shape;820;p51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1" name="Google Shape;821;p51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22" name="Google Shape;822;p51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3" name="Google Shape;823;p51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5150100" y="1848800"/>
            <a:ext cx="2293200" cy="9072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way to reach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25" name="Google Shape;825;p51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26" name="Google Shape;826;p51"/>
          <p:cNvSpPr txBox="1"/>
          <p:nvPr/>
        </p:nvSpPr>
        <p:spPr>
          <a:xfrm>
            <a:off x="39751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R1),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5DB6F-12DF-18AF-0824-7EAD808C0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32" name="Google Shape;832;p52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52"/>
          <p:cNvCxnSpPr>
            <a:stCxn id="833" idx="6"/>
            <a:endCxn id="83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5" name="Google Shape;835;p52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2" idx="3"/>
            <a:endCxn id="83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7" name="Google Shape;837;p52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52"/>
          <p:cNvCxnSpPr>
            <a:stCxn id="835" idx="3"/>
            <a:endCxn id="83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39" name="Google Shape;839;p52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40" name="Google Shape;840;p52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1" name="Google Shape;841;p52"/>
          <p:cNvSpPr/>
          <p:nvPr/>
        </p:nvSpPr>
        <p:spPr>
          <a:xfrm>
            <a:off x="5150100" y="2151975"/>
            <a:ext cx="2430000" cy="6039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everyone about my shiny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2" name="Google Shape;842;p52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714ED8-F4BE-A07A-5AF7-841953D234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0" name="Google Shape;850;p53"/>
          <p:cNvCxnSpPr>
            <a:stCxn id="849" idx="6"/>
            <a:endCxn id="84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1" name="Google Shape;851;p53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53"/>
          <p:cNvCxnSpPr>
            <a:stCxn id="848" idx="3"/>
            <a:endCxn id="85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3" name="Google Shape;853;p53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4" name="Google Shape;854;p53"/>
          <p:cNvCxnSpPr>
            <a:stCxn id="851" idx="3"/>
            <a:endCxn id="85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55" name="Google Shape;855;p53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6" name="Google Shape;856;p53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7" name="Google Shape;857;p53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58" name="Google Shape;858;p53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9" name="Google Shape;859;p53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1" name="Google Shape;861;p53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419800" y="4261775"/>
            <a:ext cx="4990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Notice: R2's announcement doesn't include the next-hop.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else cares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R2 reaches A, just that R2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39B98F-0352-4A6C-BCEC-40CF7DEDB4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68" name="Google Shape;868;p54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4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54"/>
          <p:cNvCxnSpPr>
            <a:stCxn id="869" idx="6"/>
            <a:endCxn id="86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54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54"/>
          <p:cNvCxnSpPr>
            <a:stCxn id="868" idx="3"/>
            <a:endCxn id="87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54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54"/>
          <p:cNvCxnSpPr>
            <a:stCxn id="871" idx="3"/>
            <a:endCxn id="87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75" name="Google Shape;875;p54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6" name="Google Shape;876;p54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7" name="Google Shape;877;p54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78" name="Google Shape;878;p54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79" name="Google Shape;879;p54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54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1" name="Google Shape;881;p54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54"/>
          <p:cNvSpPr/>
          <p:nvPr/>
        </p:nvSpPr>
        <p:spPr>
          <a:xfrm>
            <a:off x="621925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1+2=3.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1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FDC601-7D2F-42ED-CB14-3F0E13068F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88" name="Google Shape;888;p55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55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55"/>
          <p:cNvCxnSpPr>
            <a:stCxn id="889" idx="6"/>
            <a:endCxn id="88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p55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55"/>
          <p:cNvCxnSpPr>
            <a:stCxn id="888" idx="3"/>
            <a:endCxn id="89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3" name="Google Shape;893;p55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5"/>
          <p:cNvCxnSpPr>
            <a:stCxn id="891" idx="3"/>
            <a:endCxn id="89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95" name="Google Shape;895;p55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6" name="Google Shape;896;p55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7" name="Google Shape;897;p55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98" name="Google Shape;898;p55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99" name="Google Shape;899;p55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5"/>
          <p:cNvSpPr/>
          <p:nvPr/>
        </p:nvSpPr>
        <p:spPr>
          <a:xfrm>
            <a:off x="6829800" y="1663775"/>
            <a:ext cx="2093100" cy="818100"/>
          </a:xfrm>
          <a:prstGeom prst="wedgeRoundRectCallout">
            <a:avLst>
              <a:gd name="adj1" fmla="val -43228"/>
              <a:gd name="adj2" fmla="val 8511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path to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2" name="Google Shape;902;p55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03" name="Google Shape;903;p55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4" name="Google Shape;904;p55"/>
          <p:cNvSpPr txBox="1"/>
          <p:nvPr/>
        </p:nvSpPr>
        <p:spPr>
          <a:xfrm>
            <a:off x="60325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R2),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C5355-B77C-A82D-F9AB-223F100AD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56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2" name="Google Shape;912;p56"/>
          <p:cNvCxnSpPr>
            <a:stCxn id="911" idx="6"/>
            <a:endCxn id="91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3" name="Google Shape;913;p56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56"/>
          <p:cNvCxnSpPr>
            <a:stCxn id="910" idx="3"/>
            <a:endCxn id="91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56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6" name="Google Shape;916;p56"/>
          <p:cNvCxnSpPr>
            <a:stCxn id="913" idx="3"/>
            <a:endCxn id="91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17" name="Google Shape;917;p56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8" name="Google Shape;918;p56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9" name="Google Shape;919;p56"/>
          <p:cNvSpPr/>
          <p:nvPr/>
        </p:nvSpPr>
        <p:spPr>
          <a:xfrm>
            <a:off x="5104100" y="2007450"/>
            <a:ext cx="2093100" cy="564300"/>
          </a:xfrm>
          <a:prstGeom prst="wedgeRoundRectCallout">
            <a:avLst>
              <a:gd name="adj1" fmla="val 40754"/>
              <a:gd name="adj2" fmla="val 8503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advertise my exciting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0" name="Google Shape;920;p56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A5E249-E055-C0E7-AD5E-5D953F31F4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26" name="Google Shape;926;p57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57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57"/>
          <p:cNvCxnSpPr>
            <a:stCxn id="927" idx="6"/>
            <a:endCxn id="92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9" name="Google Shape;929;p57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0" name="Google Shape;930;p57"/>
          <p:cNvCxnSpPr>
            <a:stCxn id="926" idx="3"/>
            <a:endCxn id="92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1" name="Google Shape;931;p57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57"/>
          <p:cNvCxnSpPr>
            <a:stCxn id="929" idx="3"/>
            <a:endCxn id="93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33" name="Google Shape;933;p57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4" name="Google Shape;934;p57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5" name="Google Shape;935;p57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36" name="Google Shape;936;p57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7" name="Google Shape;937;p57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7"/>
          <p:cNvSpPr/>
          <p:nvPr/>
        </p:nvSpPr>
        <p:spPr>
          <a:xfrm>
            <a:off x="2715000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advertisement?!??!?!!!?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C226C7-EFF7-C7E7-7D2C-46DEC8692E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44" name="Google Shape;944;p5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58"/>
          <p:cNvCxnSpPr>
            <a:stCxn id="945" idx="6"/>
            <a:endCxn id="944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7" name="Google Shape;947;p5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8" name="Google Shape;948;p58"/>
          <p:cNvCxnSpPr>
            <a:stCxn id="944" idx="3"/>
            <a:endCxn id="947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9" name="Google Shape;949;p5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8"/>
          <p:cNvCxnSpPr>
            <a:stCxn id="947" idx="3"/>
            <a:endCxn id="949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51" name="Google Shape;951;p58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2" name="Google Shape;952;p58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3" name="Google Shape;953;p58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4" name="Google Shape;954;p58"/>
          <p:cNvSpPr txBox="1"/>
          <p:nvPr/>
        </p:nvSpPr>
        <p:spPr>
          <a:xfrm>
            <a:off x="2903100" y="2234500"/>
            <a:ext cx="40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did it! Everybody has a way to reach A now.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5" name="Google Shape;955;p58"/>
          <p:cNvCxnSpPr/>
          <p:nvPr/>
        </p:nvCxnSpPr>
        <p:spPr>
          <a:xfrm rot="10800000">
            <a:off x="20668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6" name="Google Shape;956;p58"/>
          <p:cNvSpPr txBox="1"/>
          <p:nvPr/>
        </p:nvSpPr>
        <p:spPr>
          <a:xfrm>
            <a:off x="20728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8"/>
          <p:cNvCxnSpPr/>
          <p:nvPr/>
        </p:nvCxnSpPr>
        <p:spPr>
          <a:xfrm rot="10800000">
            <a:off x="41242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8" name="Google Shape;958;p58"/>
          <p:cNvSpPr txBox="1"/>
          <p:nvPr/>
        </p:nvSpPr>
        <p:spPr>
          <a:xfrm>
            <a:off x="41302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58"/>
          <p:cNvCxnSpPr/>
          <p:nvPr/>
        </p:nvCxnSpPr>
        <p:spPr>
          <a:xfrm rot="10800000">
            <a:off x="61816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0" name="Google Shape;960;p58"/>
          <p:cNvSpPr txBox="1"/>
          <p:nvPr/>
        </p:nvSpPr>
        <p:spPr>
          <a:xfrm>
            <a:off x="61876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22C0A9-F309-91E0-6511-920C4A516C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2: Updates From Next-Hop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66" name="Google Shape;966;p5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2: Updates from Next-Hop</a:t>
            </a:r>
            <a:endParaRPr/>
          </a:p>
        </p:txBody>
      </p:sp>
      <p:sp>
        <p:nvSpPr>
          <p:cNvPr id="967" name="Google Shape;967;p5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DB9F41-81B7-CF1A-D9ED-E4464371DF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73" name="Google Shape;973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0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60"/>
          <p:cNvCxnSpPr>
            <a:stCxn id="975" idx="3"/>
            <a:endCxn id="974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60"/>
          <p:cNvCxnSpPr>
            <a:stCxn id="978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8" name="Google Shape;978;p60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9" name="Google Shape;979;p60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80" name="Google Shape;980;p60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981" name="Google Shape;981;p60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82" name="Google Shape;982;p60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wasn't in my table.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05186C-6C53-8DA0-9D9D-3E061F0168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89" name="Google Shape;989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61"/>
          <p:cNvCxnSpPr>
            <a:stCxn id="991" idx="3"/>
            <a:endCxn id="990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61"/>
          <p:cNvCxnSpPr>
            <a:stCxn id="994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4" name="Google Shape;994;p61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95" name="Google Shape;995;p61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6" name="Google Shape;996;p61"/>
          <p:cNvSpPr/>
          <p:nvPr/>
        </p:nvSpPr>
        <p:spPr>
          <a:xfrm>
            <a:off x="2996075" y="23572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1"/>
          <p:cNvSpPr/>
          <p:nvPr/>
        </p:nvSpPr>
        <p:spPr>
          <a:xfrm>
            <a:off x="4166625" y="3094950"/>
            <a:ext cx="20835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1+8=9 is worse than 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61"/>
          <p:cNvCxnSpPr/>
          <p:nvPr/>
        </p:nvCxnSpPr>
        <p:spPr>
          <a:xfrm>
            <a:off x="2490050" y="28429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1A5647-8E99-584C-5AB2-E8A22554B2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1004" name="Google Shape;1004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62"/>
          <p:cNvCxnSpPr>
            <a:stCxn id="1006" idx="3"/>
            <a:endCxn id="1005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62"/>
          <p:cNvCxnSpPr>
            <a:stCxn id="1009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62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62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1" name="Google Shape;1011;p62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R2 is the next-hop.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3" name="Google Shape;1013;p62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4" name="Google Shape;1014;p62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5" name="Google Shape;1015;p62"/>
          <p:cNvSpPr/>
          <p:nvPr/>
        </p:nvSpPr>
        <p:spPr>
          <a:xfrm>
            <a:off x="4074475" y="4449300"/>
            <a:ext cx="3921900" cy="535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Hi, it's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again. I know I said A is 3 away from me earlier, but that's changed. Now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62"/>
          <p:cNvSpPr txBox="1"/>
          <p:nvPr/>
        </p:nvSpPr>
        <p:spPr>
          <a:xfrm>
            <a:off x="4074475" y="4185575"/>
            <a:ext cx="3335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R2 is really saying: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88656-143B-368B-188F-B2D531D94E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Convergence</a:t>
            </a:r>
            <a:endParaRPr/>
          </a:p>
        </p:txBody>
      </p:sp>
      <p:sp>
        <p:nvSpPr>
          <p:cNvPr id="1022" name="Google Shape;1022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network never changes: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running this protocol for some time, it will </a:t>
            </a:r>
            <a:r>
              <a:rPr lang="en" b="1"/>
              <a:t>converge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Everyone's forwarding table has the least-cost next hop.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future announcements will be rejected.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change happens (e.g. a link goes down):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new announcements are sent.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forwarding tables are updated.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we converge again to the new routing state.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topology is constantly changing, so routers run the protocol </a:t>
            </a:r>
            <a:r>
              <a:rPr lang="en" i="1"/>
              <a:t>indefinitely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Steady-state</a:t>
            </a:r>
            <a:r>
              <a:rPr lang="en"/>
              <a:t> occurs when the network has converged.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steady-state, everything stays the same until the next topology change.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38B21-44B6-777D-A4AD-EBF7EBAB6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28" name="Google Shape;1028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5911-482C-1424-68FE-3B17A24047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34" name="Google Shape;1034;p6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3: Resending</a:t>
            </a:r>
            <a:endParaRPr/>
          </a:p>
        </p:txBody>
      </p:sp>
      <p:sp>
        <p:nvSpPr>
          <p:cNvPr id="1035" name="Google Shape;1035;p6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7E2F2-4FDA-B1B0-2AE5-903B51B9E3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Reliability</a:t>
            </a:r>
            <a:endParaRPr/>
          </a:p>
        </p:txBody>
      </p:sp>
      <p:sp>
        <p:nvSpPr>
          <p:cNvPr id="1041" name="Google Shape;1041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Packets can get dropped.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Resend advertisements every </a:t>
            </a:r>
            <a:r>
              <a:rPr lang="en" i="1"/>
              <a:t>X</a:t>
            </a:r>
            <a:r>
              <a:rPr lang="en"/>
              <a:t> seconds.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X</a:t>
            </a:r>
            <a:r>
              <a:rPr lang="en"/>
              <a:t> is the "advertisement interval."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eventually, assuming the link is functional (&gt;0% delivery rate).</a:t>
            </a:r>
            <a:endParaRPr/>
          </a:p>
        </p:txBody>
      </p:sp>
      <p:sp>
        <p:nvSpPr>
          <p:cNvPr id="1042" name="Google Shape;1042;p6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4" name="Google Shape;1044;p66"/>
          <p:cNvCxnSpPr>
            <a:stCxn id="1043" idx="6"/>
            <a:endCxn id="104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5" name="Google Shape;1045;p6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6" name="Google Shape;1046;p66"/>
          <p:cNvCxnSpPr>
            <a:stCxn id="1042" idx="3"/>
            <a:endCxn id="1045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7" name="Google Shape;1047;p6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6"/>
          <p:cNvCxnSpPr>
            <a:stCxn id="1045" idx="3"/>
            <a:endCxn id="104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049" name="Google Shape;1049;p66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0" name="Google Shape;1050;p66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1" name="Google Shape;1051;p66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52" name="Google Shape;1052;p66"/>
          <p:cNvCxnSpPr/>
          <p:nvPr/>
        </p:nvCxnSpPr>
        <p:spPr>
          <a:xfrm>
            <a:off x="31894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66"/>
          <p:cNvSpPr/>
          <p:nvPr/>
        </p:nvSpPr>
        <p:spPr>
          <a:xfrm>
            <a:off x="33360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5150100" y="3058513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Huh? Did someone say something?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6"/>
          <p:cNvSpPr txBox="1"/>
          <p:nvPr/>
        </p:nvSpPr>
        <p:spPr>
          <a:xfrm rot="-2700000">
            <a:off x="3433510" y="3136822"/>
            <a:ext cx="905380" cy="30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7DBA0-25F1-0432-2261-74289BBAB6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61" name="Google Shape;1061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</a:t>
            </a:r>
            <a:r>
              <a:rPr lang="en">
                <a:solidFill>
                  <a:schemeClr val="accent2"/>
                </a:solidFill>
              </a:rPr>
              <a:t>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C9C871-3ACA-5016-406F-98E1B18E13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7" name="Google Shape;1067;p6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4: Expiring</a:t>
            </a:r>
            <a:endParaRPr/>
          </a:p>
        </p:txBody>
      </p:sp>
      <p:sp>
        <p:nvSpPr>
          <p:cNvPr id="1068" name="Google Shape;1068;p6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5F820-F8BE-644D-EE63-F0CE606E0C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44</a:t>
            </a:fld>
            <a:endParaRPr lang="e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74" name="Google Shape;1074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Recall our routing challenges: Links and routers can fail.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Each route has a finite </a:t>
            </a:r>
            <a:r>
              <a:rPr lang="en" b="1" dirty="0"/>
              <a:t>time to </a:t>
            </a:r>
            <a:r>
              <a:rPr lang="en" b="1"/>
              <a:t>live (TTL)</a:t>
            </a:r>
            <a:r>
              <a:rPr lang="en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Periodic advertisements help us confirm that a route still exists.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we get an advertisement, reset ("recharge") </a:t>
            </a:r>
            <a:r>
              <a:rPr lang="en"/>
              <a:t>the TTL.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If a link goes down, we stop getting periodic updates, and </a:t>
            </a:r>
            <a:r>
              <a:rPr lang="en"/>
              <a:t>the TTL </a:t>
            </a:r>
            <a:r>
              <a:rPr lang="en" dirty="0"/>
              <a:t>will expire.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If </a:t>
            </a:r>
            <a:r>
              <a:rPr lang="en"/>
              <a:t>the TTL </a:t>
            </a:r>
            <a:r>
              <a:rPr lang="en" dirty="0"/>
              <a:t>expires, delete the entry from the table.</a:t>
            </a:r>
            <a:endParaRPr dirty="0"/>
          </a:p>
        </p:txBody>
      </p:sp>
      <p:sp>
        <p:nvSpPr>
          <p:cNvPr id="1075" name="Google Shape;1075;p6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69"/>
          <p:cNvCxnSpPr>
            <a:stCxn id="1077" idx="3"/>
            <a:endCxn id="107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6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9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Didn't have a path to A.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79" name="Google Shape;1079;p6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80" name="Google Shape;1080;p69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1" name="Google Shape;1081;p69"/>
          <p:cNvSpPr/>
          <p:nvPr/>
        </p:nvSpPr>
        <p:spPr>
          <a:xfrm>
            <a:off x="1270925" y="431330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2" name="Google Shape;1082;p6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3" name="Google Shape;1083;p6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69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Need another confirmation of this route in the next 11 seconds.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69"/>
          <p:cNvCxnSpPr>
            <a:stCxn id="1085" idx="6"/>
            <a:endCxn id="107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6E26FC-854F-F571-8708-D3263F89AD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92" name="Google Shape;1092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Recall our routing challenges: Links and routers can fail.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Each route has a finite </a:t>
            </a:r>
            <a:r>
              <a:rPr lang="en" b="1" dirty="0"/>
              <a:t>time to </a:t>
            </a:r>
            <a:r>
              <a:rPr lang="en" b="1"/>
              <a:t>live (TTL)</a:t>
            </a:r>
            <a:r>
              <a:rPr lang="en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Periodic advertisements help us confirm that a route still exists.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we get an advertisement, reset ("recharge") </a:t>
            </a:r>
            <a:r>
              <a:rPr lang="en"/>
              <a:t>the TTL.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If a link goes down, we stop getting periodic updates, and </a:t>
            </a:r>
            <a:r>
              <a:rPr lang="en"/>
              <a:t>the TTL </a:t>
            </a:r>
            <a:r>
              <a:rPr lang="en" dirty="0"/>
              <a:t>will expire.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If </a:t>
            </a:r>
            <a:r>
              <a:rPr lang="en"/>
              <a:t>the TTL </a:t>
            </a:r>
            <a:r>
              <a:rPr lang="en" dirty="0"/>
              <a:t>expires, delete the entry from the table.</a:t>
            </a:r>
            <a:endParaRPr dirty="0"/>
          </a:p>
        </p:txBody>
      </p:sp>
      <p:graphicFrame>
        <p:nvGraphicFramePr>
          <p:cNvPr id="1093" name="Google Shape;1093;p70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4" name="Google Shape;1094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0"/>
          <p:cNvCxnSpPr>
            <a:stCxn id="1103" idx="3"/>
            <a:endCxn id="1101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3" name="Google Shape;1103;p7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7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70"/>
          <p:cNvCxnSpPr>
            <a:stCxn id="1104" idx="6"/>
            <a:endCxn id="1103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7C602B-9DF1-6592-8F19-53F0786BC4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46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11" name="Google Shape;1111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Recall our routing challenges: Links and routers can fail.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Each route has a finite </a:t>
            </a:r>
            <a:r>
              <a:rPr lang="en" b="1" dirty="0"/>
              <a:t>time to </a:t>
            </a:r>
            <a:r>
              <a:rPr lang="en" b="1"/>
              <a:t>live (TTL)</a:t>
            </a:r>
            <a:r>
              <a:rPr lang="en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Periodic advertisements help us confirm that a route still exists.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we get an advertisement, reset ("recharge") </a:t>
            </a:r>
            <a:r>
              <a:rPr lang="en"/>
              <a:t>the TTL.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If a link goes down, we stop getting periodic updates, and </a:t>
            </a:r>
            <a:r>
              <a:rPr lang="en"/>
              <a:t>the TTL </a:t>
            </a:r>
            <a:r>
              <a:rPr lang="en" dirty="0"/>
              <a:t>will expire.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If </a:t>
            </a:r>
            <a:r>
              <a:rPr lang="en"/>
              <a:t>the TTL </a:t>
            </a:r>
            <a:r>
              <a:rPr lang="en" dirty="0"/>
              <a:t>expires, delete the entry from the table.</a:t>
            </a:r>
            <a:endParaRPr dirty="0"/>
          </a:p>
        </p:txBody>
      </p:sp>
      <p:graphicFrame>
        <p:nvGraphicFramePr>
          <p:cNvPr id="1112" name="Google Shape;1112;p71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13" name="Google Shape;1113;p7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71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We got a confirmation!</a:t>
            </a:r>
            <a:br>
              <a:rPr lang="en" dirty="0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Reset TTL 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back to 11.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1"/>
          <p:cNvSpPr/>
          <p:nvPr/>
        </p:nvSpPr>
        <p:spPr>
          <a:xfrm>
            <a:off x="1047875" y="4313300"/>
            <a:ext cx="19035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1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7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1"/>
          <p:cNvCxnSpPr>
            <a:stCxn id="1119" idx="3"/>
            <a:endCxn id="111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9" name="Google Shape;1119;p7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71"/>
          <p:cNvCxnSpPr>
            <a:stCxn id="1120" idx="6"/>
            <a:endCxn id="111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57112-2340-B591-17DE-E22E893121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27" name="Google Shape;1127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Recall our routing challenges: Links and routers can fail.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Each route has a finite </a:t>
            </a:r>
            <a:r>
              <a:rPr lang="en" b="1" dirty="0"/>
              <a:t>time to </a:t>
            </a:r>
            <a:r>
              <a:rPr lang="en" b="1"/>
              <a:t>live (TTL)</a:t>
            </a:r>
            <a:r>
              <a:rPr lang="en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Periodic advertisements help us confirm that a route still exists.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we get an advertisement, reset ("recharge") </a:t>
            </a:r>
            <a:r>
              <a:rPr lang="en"/>
              <a:t>the TTL.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If a link goes down, we stop getting periodic updates, and </a:t>
            </a:r>
            <a:r>
              <a:rPr lang="en"/>
              <a:t>the TTL </a:t>
            </a:r>
            <a:r>
              <a:rPr lang="en" dirty="0"/>
              <a:t>will expire.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If </a:t>
            </a:r>
            <a:r>
              <a:rPr lang="en"/>
              <a:t>the TTL </a:t>
            </a:r>
            <a:r>
              <a:rPr lang="en" dirty="0"/>
              <a:t>expires, delete the entry from the table.</a:t>
            </a:r>
            <a:endParaRPr dirty="0"/>
          </a:p>
        </p:txBody>
      </p:sp>
      <p:graphicFrame>
        <p:nvGraphicFramePr>
          <p:cNvPr id="1128" name="Google Shape;1128;p72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9" name="Google Shape;1129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72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0" name="Google Shape;1150;p72"/>
          <p:cNvCxnSpPr>
            <a:stCxn id="1151" idx="3"/>
            <a:endCxn id="1149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7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72"/>
          <p:cNvCxnSpPr>
            <a:stCxn id="1152" idx="6"/>
            <a:endCxn id="1151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ADB5FA-DA6D-2B1F-CF8D-17BA28A22D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48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59" name="Google Shape;1159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715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Recall our routing challenges: Links and routers can fail.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Solution: Each route has a finite </a:t>
            </a:r>
            <a:r>
              <a:rPr lang="en" sz="1400" b="1" dirty="0"/>
              <a:t>time to live (TTL)</a:t>
            </a:r>
            <a:r>
              <a:rPr lang="en" sz="1400" dirty="0"/>
              <a:t>.</a:t>
            </a:r>
            <a:endParaRPr sz="14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/>
              <a:t>Periodic advertisements help us confirm that a route still exists.</a:t>
            </a:r>
            <a:endParaRPr sz="1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400" dirty="0"/>
              <a:t>When we get an advertisement, reset ("recharge") the TTL.</a:t>
            </a:r>
            <a:endParaRPr sz="1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/>
              <a:t>If a link goes down, we stop getting periodic updates, and the TTL will expire.</a:t>
            </a:r>
            <a:endParaRPr sz="1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400" dirty="0"/>
              <a:t>If the TTL expires, delete the expired stale entry from the table.</a:t>
            </a:r>
          </a:p>
          <a:p>
            <a:pPr marL="0" lvl="0" indent="0">
              <a:buNone/>
            </a:pPr>
            <a:r>
              <a:rPr lang="en-US" sz="1400" dirty="0"/>
              <a:t>Routers maintain multiple timers:</a:t>
            </a:r>
          </a:p>
          <a:p>
            <a:pPr lvl="0"/>
            <a:r>
              <a:rPr lang="en-US" sz="1400" dirty="0"/>
              <a:t>Advertisement interval: How long before we advertise routes to neighbors.</a:t>
            </a:r>
          </a:p>
          <a:p>
            <a:pPr lvl="1">
              <a:spcBef>
                <a:spcPts val="0"/>
              </a:spcBef>
            </a:pPr>
            <a:r>
              <a:rPr lang="en-US" sz="1400" dirty="0"/>
              <a:t>One timer for all entries in the table.</a:t>
            </a:r>
          </a:p>
          <a:p>
            <a:pPr lvl="0">
              <a:spcBef>
                <a:spcPts val="0"/>
              </a:spcBef>
            </a:pPr>
            <a:r>
              <a:rPr lang="en-US" sz="1400" dirty="0"/>
              <a:t>TTL: How long before we expire a route.</a:t>
            </a:r>
          </a:p>
          <a:p>
            <a:pPr lvl="1">
              <a:spcBef>
                <a:spcPts val="0"/>
              </a:spcBef>
            </a:pPr>
            <a:r>
              <a:rPr lang="en-US" sz="1400" dirty="0"/>
              <a:t>Each table entry has its own TTL</a:t>
            </a:r>
          </a:p>
        </p:txBody>
      </p:sp>
      <p:graphicFrame>
        <p:nvGraphicFramePr>
          <p:cNvPr id="1160" name="Google Shape;1160;p73"/>
          <p:cNvGraphicFramePr/>
          <p:nvPr>
            <p:extLst>
              <p:ext uri="{D42A27DB-BD31-4B8C-83A1-F6EECF244321}">
                <p14:modId xmlns:p14="http://schemas.microsoft.com/office/powerpoint/2010/main" val="2078297602"/>
              </p:ext>
            </p:extLst>
          </p:nvPr>
        </p:nvGraphicFramePr>
        <p:xfrm>
          <a:off x="5779361" y="3575532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1" name="Google Shape;1161;p73"/>
          <p:cNvSpPr txBox="1"/>
          <p:nvPr/>
        </p:nvSpPr>
        <p:spPr>
          <a:xfrm>
            <a:off x="6622342" y="3236307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73"/>
          <p:cNvSpPr txBox="1"/>
          <p:nvPr/>
        </p:nvSpPr>
        <p:spPr>
          <a:xfrm>
            <a:off x="5528692" y="4332607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73"/>
          <p:cNvCxnSpPr/>
          <p:nvPr/>
        </p:nvCxnSpPr>
        <p:spPr>
          <a:xfrm>
            <a:off x="5718817" y="4146707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4" name="Google Shape;1164;p73"/>
          <p:cNvSpPr txBox="1"/>
          <p:nvPr/>
        </p:nvSpPr>
        <p:spPr>
          <a:xfrm>
            <a:off x="665717" y="4121832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2990505" y="3797682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6" name="Google Shape;1166;p73"/>
          <p:cNvCxnSpPr>
            <a:stCxn id="1167" idx="3"/>
            <a:endCxn id="1165" idx="1"/>
          </p:cNvCxnSpPr>
          <p:nvPr/>
        </p:nvCxnSpPr>
        <p:spPr>
          <a:xfrm rot="10800000" flipH="1">
            <a:off x="1439855" y="3940240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7" name="Google Shape;1167;p73"/>
          <p:cNvSpPr/>
          <p:nvPr/>
        </p:nvSpPr>
        <p:spPr>
          <a:xfrm>
            <a:off x="1154855" y="379864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469055" y="3798632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9" name="Google Shape;1169;p73"/>
          <p:cNvCxnSpPr>
            <a:stCxn id="1168" idx="6"/>
            <a:endCxn id="1167" idx="1"/>
          </p:cNvCxnSpPr>
          <p:nvPr/>
        </p:nvCxnSpPr>
        <p:spPr>
          <a:xfrm>
            <a:off x="754055" y="3941132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6F2525-2813-01E4-6866-2E41A70D90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49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1. Bellman-Ford Updates</a:t>
            </a:r>
            <a:r>
              <a:rPr lang="en" dirty="0"/>
              <a:t>: Accept if </a:t>
            </a:r>
            <a:r>
              <a:rPr lang="en" sz="1500" dirty="0"/>
              <a:t>advertised cost + link cost to neighbor &lt; best-known cost.</a:t>
            </a:r>
            <a:endParaRPr sz="15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2. Updates From Next-Hop</a:t>
            </a:r>
            <a:r>
              <a:rPr lang="en" dirty="0"/>
              <a:t>: Accept if advertisement is from next hop.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3. Resending</a:t>
            </a:r>
            <a:r>
              <a:rPr lang="en" dirty="0"/>
              <a:t>: Advertise periodically.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4. Expiring</a:t>
            </a:r>
            <a:r>
              <a:rPr lang="en" dirty="0"/>
              <a:t>: Expire an entry if TTL runs out.</a:t>
            </a:r>
          </a:p>
          <a:p>
            <a:pPr marL="0" lvl="0" indent="0">
              <a:buNone/>
            </a:pPr>
            <a:r>
              <a:rPr lang="en" b="1" dirty="0"/>
              <a:t>The Distance-Vector Algorithm</a:t>
            </a:r>
            <a:r>
              <a:rPr lang="en-US" b="1" dirty="0"/>
              <a:t>:</a:t>
            </a:r>
            <a:endParaRPr lang="en" b="1" dirty="0"/>
          </a:p>
          <a:p>
            <a:pPr marL="0" lvl="0" indent="0">
              <a:buSzPts val="1100"/>
              <a:buNone/>
            </a:pPr>
            <a:r>
              <a:rPr lang="en-US" dirty="0"/>
              <a:t>For each destination:</a:t>
            </a:r>
          </a:p>
          <a:p>
            <a:pPr lvl="0"/>
            <a:r>
              <a:rPr lang="en-US" dirty="0"/>
              <a:t>If you hear an advertisement, update table </a:t>
            </a:r>
            <a:r>
              <a:rPr lang="en-US" dirty="0">
                <a:solidFill>
                  <a:schemeClr val="accent2"/>
                </a:solidFill>
              </a:rPr>
              <a:t>and reset TTL </a:t>
            </a:r>
            <a:r>
              <a:rPr lang="en-US" dirty="0"/>
              <a:t>if: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destination isn't in the table.</a:t>
            </a:r>
          </a:p>
          <a:p>
            <a:pPr lvl="1">
              <a:spcBef>
                <a:spcPts val="0"/>
              </a:spcBef>
            </a:pPr>
            <a:r>
              <a:rPr lang="en-US" dirty="0"/>
              <a:t>Advertised cost + link cost to neighbor &lt; best-known cost. </a:t>
            </a:r>
            <a:r>
              <a:rPr lang="en-US" sz="1400" dirty="0">
                <a:solidFill>
                  <a:schemeClr val="accent3"/>
                </a:solidFill>
              </a:rPr>
              <a:t>(#1)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advertisement is from current next-hop. </a:t>
            </a:r>
            <a:r>
              <a:rPr lang="en-US" sz="1400" dirty="0">
                <a:solidFill>
                  <a:schemeClr val="accent3"/>
                </a:solidFill>
              </a:rPr>
              <a:t>(#2)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-US" sz="1400" dirty="0">
                <a:solidFill>
                  <a:schemeClr val="accent3"/>
                </a:solidFill>
              </a:rPr>
              <a:t>(#3)</a:t>
            </a:r>
          </a:p>
          <a:p>
            <a:pPr lvl="0">
              <a:spcBef>
                <a:spcPts val="0"/>
              </a:spcBef>
              <a:buClr>
                <a:schemeClr val="accent2"/>
              </a:buClr>
            </a:pPr>
            <a:r>
              <a:rPr lang="en-US" dirty="0">
                <a:solidFill>
                  <a:schemeClr val="accent2"/>
                </a:solidFill>
              </a:rPr>
              <a:t>If a table entry expires, delete it. </a:t>
            </a:r>
            <a:r>
              <a:rPr lang="en-US" sz="1400" dirty="0">
                <a:solidFill>
                  <a:schemeClr val="accent3"/>
                </a:solidFill>
              </a:rPr>
              <a:t>(#4)</a:t>
            </a:r>
            <a:endParaRPr lang="en-US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1DA91-4444-58D9-C417-E6C0E56EDA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50</a:t>
            </a:fld>
            <a:endParaRPr lang="e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7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5: Poison Expired Routes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87" name="Google Shape;1187;p7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5: Poison Expired Routes</a:t>
            </a:r>
            <a:endParaRPr/>
          </a:p>
        </p:txBody>
      </p:sp>
      <p:sp>
        <p:nvSpPr>
          <p:cNvPr id="1188" name="Google Shape;1188;p7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194" name="Google Shape;1194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195" name="Google Shape;1195;p77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96" name="Google Shape;1196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9" name="Google Shape;1199;p77"/>
          <p:cNvCxnSpPr>
            <a:stCxn id="1200" idx="3"/>
            <a:endCxn id="1198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0" name="Google Shape;1200;p77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7"/>
          <p:cNvCxnSpPr>
            <a:stCxn id="1201" idx="3"/>
            <a:endCxn id="1198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3" name="Google Shape;1203;p77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4" name="Google Shape;1204;p77"/>
          <p:cNvCxnSpPr>
            <a:stCxn id="1203" idx="6"/>
            <a:endCxn id="1200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1205;p77"/>
          <p:cNvCxnSpPr>
            <a:stCxn id="1203" idx="0"/>
            <a:endCxn id="1201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6" name="Google Shape;1206;p77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15" name="Google Shape;1215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216" name="Google Shape;1216;p78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17" name="Google Shape;1217;p78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78"/>
          <p:cNvSpPr txBox="1"/>
          <p:nvPr/>
        </p:nvSpPr>
        <p:spPr>
          <a:xfrm>
            <a:off x="4219450" y="1785000"/>
            <a:ext cx="4363500" cy="13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Pause right here.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At this point, we know the path via R2 is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But R3 won't know until the timeout 10s later.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If R3 knew now, it could accept the new path. Instead, R3 rejects the new path, thinking the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path is still valid.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78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1" name="Google Shape;1221;p78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2" name="Google Shape;1222;p78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8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78"/>
          <p:cNvCxnSpPr>
            <a:stCxn id="1225" idx="3"/>
            <a:endCxn id="1223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5" name="Google Shape;1225;p78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78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78"/>
          <p:cNvCxnSpPr>
            <a:stCxn id="1226" idx="3"/>
            <a:endCxn id="1223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8" name="Google Shape;1228;p78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78"/>
          <p:cNvCxnSpPr>
            <a:stCxn id="1228" idx="6"/>
            <a:endCxn id="1225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78"/>
          <p:cNvCxnSpPr>
            <a:stCxn id="1228" idx="0"/>
            <a:endCxn id="1226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5" name="Google Shape;1235;p7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6" name="Google Shape;1236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44" name="Google Shape;1244;p7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sp>
        <p:nvSpPr>
          <p:cNvPr id="1245" name="Google Shape;1245;p7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6" name="Google Shape;1246;p79"/>
          <p:cNvCxnSpPr>
            <a:stCxn id="1247" idx="3"/>
            <a:endCxn id="124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7" name="Google Shape;1247;p7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79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9" name="Google Shape;1249;p79"/>
          <p:cNvCxnSpPr>
            <a:stCxn id="1248" idx="3"/>
            <a:endCxn id="124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7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79"/>
          <p:cNvCxnSpPr>
            <a:stCxn id="1250" idx="6"/>
            <a:endCxn id="124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79"/>
          <p:cNvCxnSpPr>
            <a:stCxn id="1250" idx="0"/>
            <a:endCxn id="124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58" name="Google Shape;1258;p8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259" name="Google Shape;1259;p80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60" name="Google Shape;1260;p8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80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Again, R3 is forced to reject this new path, because it's still waiting for the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path to time out.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80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3" name="Google Shape;1263;p80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4" name="Google Shape;1264;p80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8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6" name="Google Shape;1266;p80"/>
          <p:cNvCxnSpPr>
            <a:stCxn id="1267" idx="3"/>
            <a:endCxn id="126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7" name="Google Shape;1267;p8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80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9" name="Google Shape;1269;p80"/>
          <p:cNvCxnSpPr>
            <a:stCxn id="1268" idx="3"/>
            <a:endCxn id="126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0" name="Google Shape;1270;p8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1" name="Google Shape;1271;p80"/>
          <p:cNvCxnSpPr>
            <a:stCxn id="1270" idx="6"/>
            <a:endCxn id="12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72" name="Google Shape;1272;p80"/>
          <p:cNvCxnSpPr>
            <a:stCxn id="1270" idx="0"/>
            <a:endCxn id="126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7" name="Google Shape;1277;p81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78" name="Google Shape;1278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1" name="Google Shape;1281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4" name="Google Shape;1284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86" name="Google Shape;1286;p8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sp>
        <p:nvSpPr>
          <p:cNvPr id="1287" name="Google Shape;1287;p8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8" name="Google Shape;1288;p81"/>
          <p:cNvCxnSpPr>
            <a:stCxn id="1289" idx="3"/>
            <a:endCxn id="128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9" name="Google Shape;1289;p8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1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81"/>
          <p:cNvCxnSpPr>
            <a:stCxn id="1290" idx="3"/>
            <a:endCxn id="1287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2" name="Google Shape;1292;p8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81"/>
          <p:cNvCxnSpPr>
            <a:stCxn id="1292" idx="6"/>
            <a:endCxn id="128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94" name="Google Shape;1294;p81"/>
          <p:cNvCxnSpPr>
            <a:stCxn id="1292" idx="0"/>
            <a:endCxn id="1290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300" name="Google Shape;1300;p8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301" name="Google Shape;1301;p82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2" name="Google Shape;1302;p8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82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82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5" name="Google Shape;1305;p8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6" name="Google Shape;1306;p82"/>
          <p:cNvCxnSpPr>
            <a:stCxn id="1307" idx="3"/>
            <a:endCxn id="130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7" name="Google Shape;1307;p8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2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9" name="Google Shape;1309;p82"/>
          <p:cNvCxnSpPr>
            <a:stCxn id="1308" idx="3"/>
            <a:endCxn id="130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0" name="Google Shape;1310;p8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1" name="Google Shape;1311;p82"/>
          <p:cNvCxnSpPr>
            <a:stCxn id="1310" idx="6"/>
            <a:endCxn id="130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12" name="Google Shape;1312;p82"/>
          <p:cNvCxnSpPr>
            <a:stCxn id="1310" idx="0"/>
            <a:endCxn id="130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3" name="Google Shape;1313;p82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my old path just expired.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4" name="Google Shape;1314;p82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5" name="Google Shape;1315;p82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82"/>
          <p:cNvSpPr txBox="1"/>
          <p:nvPr/>
        </p:nvSpPr>
        <p:spPr>
          <a:xfrm>
            <a:off x="4981450" y="2166000"/>
            <a:ext cx="3268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Can we alert R3 of the failure </a:t>
            </a:r>
            <a:r>
              <a:rPr lang="en" i="1" dirty="0">
                <a:latin typeface="Roboto"/>
                <a:ea typeface="Roboto"/>
                <a:cs typeface="Roboto"/>
                <a:sym typeface="Roboto"/>
              </a:rPr>
              <a:t>sooner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, so it can delete the old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path earlier (and start accepting new paths)?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2" name="Google Shape;1322;p8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 keep a </a:t>
            </a:r>
            <a:r>
              <a:rPr lang="en-US" dirty="0"/>
              <a:t>broken</a:t>
            </a:r>
            <a:r>
              <a:rPr lang="en" dirty="0"/>
              <a:t> path in the forwarding table for a long time.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Packets might get lost during this time.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You might advertise that </a:t>
            </a:r>
            <a:r>
              <a:rPr lang="en-US" dirty="0"/>
              <a:t>broken</a:t>
            </a:r>
            <a:r>
              <a:rPr lang="en" dirty="0"/>
              <a:t> route to other people.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 might reject new paths, thinking the </a:t>
            </a:r>
            <a:r>
              <a:rPr lang="en-US" dirty="0"/>
              <a:t>broken</a:t>
            </a:r>
            <a:r>
              <a:rPr lang="en" dirty="0"/>
              <a:t> path is still valid.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Could have converged on a better path earlier.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Key problem: When something fails, nobody's reporting it.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</a:t>
            </a:r>
            <a:r>
              <a:rPr lang="en" b="1" dirty="0"/>
              <a:t>Poison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Explicitly advertise that a path is </a:t>
            </a:r>
            <a:r>
              <a:rPr lang="en-US" dirty="0"/>
              <a:t>broken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 path with cost infinity represents a </a:t>
            </a:r>
            <a:r>
              <a:rPr lang="en-US" dirty="0"/>
              <a:t>broken</a:t>
            </a:r>
            <a:r>
              <a:rPr lang="en" dirty="0"/>
              <a:t> path.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This path propagates just like any other path.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Routers accept the poison path to invalidate the route.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Can be much faster than waiting for timeouts!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8" name="Google Shape;1328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lets us detect </a:t>
            </a:r>
            <a:r>
              <a:rPr lang="en-US" dirty="0"/>
              <a:t>broken</a:t>
            </a:r>
            <a:r>
              <a:rPr lang="en" dirty="0"/>
              <a:t> routes faster. Let's watch the demo again.</a:t>
            </a:r>
            <a:endParaRPr dirty="0"/>
          </a:p>
        </p:txBody>
      </p:sp>
      <p:graphicFrame>
        <p:nvGraphicFramePr>
          <p:cNvPr id="1329" name="Google Shape;1329;p84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0" name="Google Shape;1330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84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3" name="Google Shape;1333;p84"/>
          <p:cNvCxnSpPr>
            <a:stCxn id="1334" idx="3"/>
            <a:endCxn id="1332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4" name="Google Shape;1334;p84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84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84"/>
          <p:cNvCxnSpPr>
            <a:stCxn id="1335" idx="3"/>
            <a:endCxn id="1332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7" name="Google Shape;1337;p84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8" name="Google Shape;1338;p84"/>
          <p:cNvCxnSpPr>
            <a:stCxn id="1337" idx="6"/>
            <a:endCxn id="1334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84"/>
          <p:cNvCxnSpPr>
            <a:stCxn id="1337" idx="0"/>
            <a:endCxn id="1335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0" name="Google Shape;1340;p84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8" name="Google Shape;1348;p85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9" name="Google Shape;1349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50" name="Google Shape;1350;p8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lets us detect </a:t>
            </a:r>
            <a:r>
              <a:rPr lang="en-US" dirty="0"/>
              <a:t>broken</a:t>
            </a:r>
            <a:r>
              <a:rPr lang="en" dirty="0"/>
              <a:t> routes faster. Let's watch the demo again.</a:t>
            </a:r>
            <a:endParaRPr dirty="0"/>
          </a:p>
        </p:txBody>
      </p:sp>
      <p:sp>
        <p:nvSpPr>
          <p:cNvPr id="1351" name="Google Shape;1351;p85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85"/>
          <p:cNvSpPr txBox="1"/>
          <p:nvPr/>
        </p:nvSpPr>
        <p:spPr>
          <a:xfrm>
            <a:off x="4397500" y="4455575"/>
            <a:ext cx="4078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R3 updates the table to indicate the path is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 TTL recharges, just like any other update.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85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85"/>
          <p:cNvSpPr/>
          <p:nvPr/>
        </p:nvSpPr>
        <p:spPr>
          <a:xfrm>
            <a:off x="3350125" y="3491450"/>
            <a:ext cx="18057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Looks like the path via R2 is </a:t>
            </a:r>
            <a:r>
              <a:rPr lang="en-US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85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85"/>
          <p:cNvCxnSpPr>
            <a:stCxn id="1357" idx="3"/>
            <a:endCxn id="135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7" name="Google Shape;1357;p85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85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85"/>
          <p:cNvCxnSpPr>
            <a:stCxn id="1358" idx="3"/>
            <a:endCxn id="135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85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85"/>
          <p:cNvCxnSpPr>
            <a:stCxn id="1360" idx="6"/>
            <a:endCxn id="135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62" name="Google Shape;1362;p85"/>
          <p:cNvCxnSpPr>
            <a:stCxn id="1360" idx="0"/>
            <a:endCxn id="135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3" name="Google Shape;1363;p85"/>
          <p:cNvSpPr/>
          <p:nvPr/>
        </p:nvSpPr>
        <p:spPr>
          <a:xfrm>
            <a:off x="1224275" y="4313300"/>
            <a:ext cx="15507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4" name="Google Shape;1364;p85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365" name="Google Shape;1365;p85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0" name="Google Shape;1370;p86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71" name="Google Shape;1371;p86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2" name="Google Shape;1372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73" name="Google Shape;1373;p8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lets us detect </a:t>
            </a:r>
            <a:r>
              <a:rPr lang="en-US" dirty="0"/>
              <a:t>broken</a:t>
            </a:r>
            <a:r>
              <a:rPr lang="en" dirty="0"/>
              <a:t> routes faster. Let's watch the demo again.</a:t>
            </a:r>
            <a:endParaRPr dirty="0"/>
          </a:p>
        </p:txBody>
      </p:sp>
      <p:sp>
        <p:nvSpPr>
          <p:cNvPr id="1374" name="Google Shape;1374;p86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86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was able to accept the new route way earlier!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t=6 with poison, t=16 without poison.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86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86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that's better than infinity.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86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9" name="Google Shape;1379;p86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86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86"/>
          <p:cNvCxnSpPr>
            <a:stCxn id="1382" idx="3"/>
            <a:endCxn id="1380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2" name="Google Shape;1382;p86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86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86"/>
          <p:cNvCxnSpPr>
            <a:stCxn id="1383" idx="3"/>
            <a:endCxn id="1380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5" name="Google Shape;1385;p86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6" name="Google Shape;1386;p86"/>
          <p:cNvCxnSpPr>
            <a:stCxn id="1385" idx="6"/>
            <a:endCxn id="1382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87" name="Google Shape;1387;p86"/>
          <p:cNvCxnSpPr>
            <a:stCxn id="1385" idx="0"/>
            <a:endCxn id="1383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3" name="Google Shape;1393;p8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does poison come from?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your routes times 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notice a local failure, e.g. one of your links goes down.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one of those occurs: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the entry: Set cost to infinity, reset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9" name="Google Shape;1399;p8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When you get a poison advertisement from the current next-hop: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Accept it, even if you have a better path.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Because the next-hop is telling you that the route no longer exists.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Similar to Rule #2: accept worse paths from current next-hop.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When you update the table with a poison route: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Reset the TTL, just like any other table update.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Advertise the poison to your neighbors, so they also know about the </a:t>
            </a:r>
            <a:r>
              <a:rPr lang="en-US" dirty="0"/>
              <a:t>broken</a:t>
            </a:r>
            <a:r>
              <a:rPr lang="en" dirty="0"/>
              <a:t> route.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Don't forward packets along a poisoned route.</a:t>
            </a:r>
            <a:endParaRPr dirty="0"/>
          </a:p>
        </p:txBody>
      </p:sp>
      <p:graphicFrame>
        <p:nvGraphicFramePr>
          <p:cNvPr id="1400" name="Google Shape;1400;p88"/>
          <p:cNvGraphicFramePr/>
          <p:nvPr/>
        </p:nvGraphicFramePr>
        <p:xfrm>
          <a:off x="1288844" y="4274500"/>
          <a:ext cx="1835500" cy="4693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01" name="Google Shape;1401;p88"/>
          <p:cNvCxnSpPr/>
          <p:nvPr/>
        </p:nvCxnSpPr>
        <p:spPr>
          <a:xfrm rot="10800000">
            <a:off x="3293000" y="4493925"/>
            <a:ext cx="59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2" name="Google Shape;1402;p88"/>
          <p:cNvSpPr txBox="1"/>
          <p:nvPr/>
        </p:nvSpPr>
        <p:spPr>
          <a:xfrm>
            <a:off x="3927375" y="4358475"/>
            <a:ext cx="166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forward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408" name="Google Shape;1408;p8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>
                <a:solidFill>
                  <a:schemeClr val="accent2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</a:t>
            </a:r>
            <a:r>
              <a:rPr lang="en">
                <a:solidFill>
                  <a:schemeClr val="accent2"/>
                </a:solidFill>
              </a:rPr>
              <a:t>make the entry poison and advertise it</a:t>
            </a:r>
            <a:r>
              <a:rPr lang="en">
                <a:solidFill>
                  <a:srgbClr val="000000"/>
                </a:solidFill>
              </a:rPr>
              <a:t>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6A:</a:t>
            </a:r>
            <a:br>
              <a:rPr lang="en"/>
            </a:br>
            <a:r>
              <a:rPr lang="en"/>
              <a:t>Split Horizon</a:t>
            </a:r>
            <a:endParaRPr/>
          </a:p>
        </p:txBody>
      </p:sp>
      <p:sp>
        <p:nvSpPr>
          <p:cNvPr id="1414" name="Google Shape;1414;p90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6A: Split Horizon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15" name="Google Shape;1415;p9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21" name="Google Shape;1421;p91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91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91"/>
          <p:cNvCxnSpPr>
            <a:stCxn id="1422" idx="6"/>
            <a:endCxn id="142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4" name="Google Shape;1424;p91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5" name="Google Shape;1425;p91"/>
          <p:cNvCxnSpPr>
            <a:stCxn id="1421" idx="3"/>
            <a:endCxn id="142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91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91"/>
          <p:cNvCxnSpPr>
            <a:stCxn id="1424" idx="3"/>
            <a:endCxn id="142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28" name="Google Shape;1428;p91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29" name="Google Shape;1429;p91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30" name="Google Shape;1430;p91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1" name="Google Shape;1431;p91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ran the algorithm for some time, and we converged to this steady-state.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subsequent advertisements will be rejected.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37" name="Google Shape;1437;p9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9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92"/>
          <p:cNvCxnSpPr>
            <a:stCxn id="1438" idx="6"/>
            <a:endCxn id="143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0" name="Google Shape;1440;p9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1" name="Google Shape;1441;p92"/>
          <p:cNvCxnSpPr>
            <a:stCxn id="1437" idx="3"/>
            <a:endCxn id="1440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2" name="Google Shape;1442;p9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3" name="Google Shape;1443;p92"/>
          <p:cNvCxnSpPr>
            <a:stCxn id="1440" idx="3"/>
            <a:endCxn id="144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44" name="Google Shape;1444;p92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5" name="Google Shape;1445;p92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6" name="Google Shape;1446;p92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47" name="Google Shape;1447;p92"/>
          <p:cNvCxnSpPr/>
          <p:nvPr/>
        </p:nvCxnSpPr>
        <p:spPr>
          <a:xfrm>
            <a:off x="5246845" y="3680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48" name="Google Shape;1448;p92"/>
          <p:cNvSpPr/>
          <p:nvPr/>
        </p:nvSpPr>
        <p:spPr>
          <a:xfrm>
            <a:off x="5393400" y="2844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92"/>
          <p:cNvSpPr/>
          <p:nvPr/>
        </p:nvSpPr>
        <p:spPr>
          <a:xfrm>
            <a:off x="2888650" y="27802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Rejected. I have cost 2, and you're offering cost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" name="Google Shape;1454;p9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55" name="Google Shape;1455;p93"/>
          <p:cNvCxnSpPr>
            <a:stCxn id="1456" idx="3"/>
            <a:endCxn id="1457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58" name="Google Shape;1458;p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56" name="Google Shape;1456;p9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9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93"/>
          <p:cNvCxnSpPr>
            <a:stCxn id="1459" idx="6"/>
            <a:endCxn id="1456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7" name="Google Shape;1457;p9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9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2" name="Google Shape;1462;p93"/>
          <p:cNvCxnSpPr>
            <a:stCxn id="1457" idx="3"/>
            <a:endCxn id="1461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63" name="Google Shape;1463;p93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4" name="Google Shape;1464;p9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5" name="Google Shape;1465;p93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6" name="Google Shape;1466;p9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1" name="Google Shape;1471;p94"/>
          <p:cNvCxnSpPr>
            <a:stCxn id="1472" idx="3"/>
            <a:endCxn id="147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74" name="Google Shape;1474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72" name="Google Shape;1472;p9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9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6" name="Google Shape;1476;p94"/>
          <p:cNvCxnSpPr>
            <a:stCxn id="1475" idx="6"/>
            <a:endCxn id="147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3" name="Google Shape;1473;p9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9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8" name="Google Shape;1478;p94"/>
          <p:cNvCxnSpPr>
            <a:stCxn id="1473" idx="3"/>
            <a:endCxn id="147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79" name="Google Shape;1479;p94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0" name="Google Shape;1480;p9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1" name="Google Shape;1481;p94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82" name="Google Shape;1482;p9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83" name="Google Shape;1483;p9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4" name="Google Shape;1484;p9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5" name="Google Shape;1485;p9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0" name="Google Shape;1490;p95"/>
          <p:cNvCxnSpPr>
            <a:stCxn id="1491" idx="3"/>
            <a:endCxn id="149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1493" name="Google Shape;1493;p95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4" name="Google Shape;1494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91" name="Google Shape;1491;p95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95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6" name="Google Shape;1496;p95"/>
          <p:cNvCxnSpPr>
            <a:stCxn id="1495" idx="6"/>
            <a:endCxn id="149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2" name="Google Shape;1492;p95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95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8" name="Google Shape;1498;p95"/>
          <p:cNvCxnSpPr>
            <a:stCxn id="1492" idx="3"/>
            <a:endCxn id="149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99" name="Google Shape;1499;p95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0" name="Google Shape;1500;p95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01" name="Google Shape;1501;p95"/>
          <p:cNvCxnSpPr/>
          <p:nvPr/>
        </p:nvCxnSpPr>
        <p:spPr>
          <a:xfrm rot="10800000">
            <a:off x="51148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02" name="Google Shape;1502;p95"/>
          <p:cNvSpPr txBox="1"/>
          <p:nvPr/>
        </p:nvSpPr>
        <p:spPr>
          <a:xfrm>
            <a:off x="51208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95"/>
          <p:cNvCxnSpPr/>
          <p:nvPr/>
        </p:nvCxnSpPr>
        <p:spPr>
          <a:xfrm rot="10800000">
            <a:off x="61816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4" name="Google Shape;1504;p95"/>
          <p:cNvSpPr txBox="1"/>
          <p:nvPr/>
        </p:nvSpPr>
        <p:spPr>
          <a:xfrm>
            <a:off x="61876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95"/>
          <p:cNvSpPr txBox="1"/>
          <p:nvPr/>
        </p:nvSpPr>
        <p:spPr>
          <a:xfrm>
            <a:off x="4855650" y="3084450"/>
            <a:ext cx="217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made a routing loop!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0" name="Google Shape;1510;p96"/>
          <p:cNvCxnSpPr>
            <a:stCxn id="1511" idx="3"/>
            <a:endCxn id="151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13" name="Google Shape;1513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511" name="Google Shape;1511;p9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9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96"/>
          <p:cNvCxnSpPr>
            <a:stCxn id="1514" idx="6"/>
            <a:endCxn id="151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2" name="Google Shape;1512;p9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9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96"/>
          <p:cNvCxnSpPr>
            <a:stCxn id="1512" idx="3"/>
            <a:endCxn id="151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518" name="Google Shape;1518;p96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19" name="Google Shape;1519;p96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20" name="Google Shape;1520;p96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21" name="Google Shape;1521;p96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22" name="Google Shape;1522;p96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96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4" name="Google Shape;1524;p96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25" name="Google Shape;1525;p9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 ("me" = R2):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gave R3 a path via me, and R3 accepted.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R3 turned around and gave me that same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being offered a path that goes through myself!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Normally, I would never accept, because a path with a loop is longer.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route, I might accept and create a loop.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Split Horizon – The Problem</a:t>
            </a:r>
            <a:endParaRPr/>
          </a:p>
        </p:txBody>
      </p:sp>
      <p:sp>
        <p:nvSpPr>
          <p:cNvPr id="1531" name="Google Shape;1531;p9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split horizon problem: When I give someone a path, they advertise it back to me.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Path goes from me → them → me.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Path with extra loop is always longer, so I'd never accept.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But if I lost my earlier routes, I might accept, since I might not realize the path is going through me.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Don't advertise a path back to the router that gave it to you.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R2 advertises a path-to-A to R3.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" dirty="0"/>
              <a:t>R3 can advertise that path-to-A to everybody </a:t>
            </a:r>
            <a:r>
              <a:rPr lang="en" i="1" dirty="0"/>
              <a:t>except R2</a:t>
            </a:r>
            <a:r>
              <a:rPr lang="en" dirty="0"/>
              <a:t>, its next-hop on the path-to-A.</a:t>
            </a:r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537" name="Google Shape;1537;p9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For each destination: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If you hear an advertisement, update table and reset TTL if:</a:t>
            </a:r>
            <a:endParaRPr dirty="0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dirty="0">
                <a:solidFill>
                  <a:srgbClr val="000000"/>
                </a:solidFill>
              </a:rPr>
              <a:t>The destination isn't in the table.</a:t>
            </a:r>
            <a:endParaRPr dirty="0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dirty="0"/>
              <a:t>Advertised cost + link cost to neighbor &lt; best-known cost. </a:t>
            </a:r>
            <a:r>
              <a:rPr lang="en" sz="1400" dirty="0">
                <a:solidFill>
                  <a:schemeClr val="accent3"/>
                </a:solidFill>
              </a:rPr>
              <a:t>(#1)</a:t>
            </a:r>
            <a:endParaRPr sz="1400" dirty="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dirty="0">
                <a:solidFill>
                  <a:srgbClr val="000000"/>
                </a:solidFill>
              </a:rPr>
              <a:t>The advertisement is from current next-hop. </a:t>
            </a:r>
            <a:r>
              <a:rPr lang="en" sz="1400" dirty="0">
                <a:solidFill>
                  <a:schemeClr val="accent3"/>
                </a:solidFill>
              </a:rPr>
              <a:t>(#2)</a:t>
            </a:r>
            <a:br>
              <a:rPr lang="en" dirty="0">
                <a:solidFill>
                  <a:srgbClr val="000000"/>
                </a:solidFill>
              </a:rPr>
            </a:br>
            <a:r>
              <a:rPr lang="en" dirty="0">
                <a:solidFill>
                  <a:srgbClr val="000000"/>
                </a:solidFill>
              </a:rPr>
              <a:t>Includes poison advertisements. </a:t>
            </a:r>
            <a:r>
              <a:rPr lang="en" sz="1400" dirty="0">
                <a:solidFill>
                  <a:schemeClr val="accent3"/>
                </a:solidFill>
              </a:rPr>
              <a:t>(#5)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 dirty="0">
                <a:solidFill>
                  <a:schemeClr val="accent3"/>
                </a:solidFill>
              </a:rPr>
              <a:t>(#3)</a:t>
            </a:r>
            <a:endParaRPr sz="1400" dirty="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dirty="0">
                <a:solidFill>
                  <a:schemeClr val="accent2"/>
                </a:solidFill>
              </a:rPr>
              <a:t>But don't advertise it back to the next-hop. </a:t>
            </a:r>
            <a:r>
              <a:rPr lang="en" sz="1400" dirty="0">
                <a:solidFill>
                  <a:schemeClr val="accent3"/>
                </a:solidFill>
              </a:rPr>
              <a:t>(#6A)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If a table entry expires, make the entry poison and advertise it. </a:t>
            </a:r>
            <a:r>
              <a:rPr lang="en" sz="1400" dirty="0">
                <a:solidFill>
                  <a:schemeClr val="accent3"/>
                </a:solidFill>
              </a:rPr>
              <a:t>(#4, #5)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6B:</a:t>
            </a:r>
            <a:br>
              <a:rPr lang="en"/>
            </a:br>
            <a:r>
              <a:rPr lang="en"/>
              <a:t>Poison Reverse</a:t>
            </a:r>
            <a:endParaRPr/>
          </a:p>
        </p:txBody>
      </p:sp>
      <p:sp>
        <p:nvSpPr>
          <p:cNvPr id="1543" name="Google Shape;1543;p9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6B: Poison Reverse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44" name="Google Shape;1544;p9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550" name="Google Shape;1550;p10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Split horizon: If R1 gave me a route, don't advertise it to R1.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Don't tell R1 anything.</a:t>
            </a:r>
          </a:p>
          <a:p>
            <a:pPr lvl="0"/>
            <a:r>
              <a:rPr lang="en-US" dirty="0"/>
              <a:t>Never advertise a route back to the next-hop neighbor that you learned it from.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reverse: If R1 gave me a route, advertise poison back to R1.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Explicitly tell R1: "Do not forward packets to me.“</a:t>
            </a:r>
          </a:p>
          <a:p>
            <a:pPr lvl="0"/>
            <a:r>
              <a:rPr lang="en-US" dirty="0"/>
              <a:t>Advertise the route back to the next-hop neighbor, but with infinite cost.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reverse is an alternative way to avoid routing loops.</a:t>
            </a:r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556" name="Google Shape;1556;p101"/>
          <p:cNvSpPr/>
          <p:nvPr/>
        </p:nvSpPr>
        <p:spPr>
          <a:xfrm>
            <a:off x="19786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101"/>
          <p:cNvCxnSpPr>
            <a:stCxn id="1558" idx="3"/>
            <a:endCxn id="1556" idx="1"/>
          </p:cNvCxnSpPr>
          <p:nvPr/>
        </p:nvCxnSpPr>
        <p:spPr>
          <a:xfrm>
            <a:off x="613334" y="1521149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9" name="Google Shape;1559;p101"/>
          <p:cNvCxnSpPr/>
          <p:nvPr/>
        </p:nvCxnSpPr>
        <p:spPr>
          <a:xfrm>
            <a:off x="743884" y="1419224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0" name="Google Shape;1560;p101"/>
          <p:cNvSpPr/>
          <p:nvPr/>
        </p:nvSpPr>
        <p:spPr>
          <a:xfrm>
            <a:off x="841734" y="782399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1" name="Google Shape;1561;p101"/>
          <p:cNvCxnSpPr>
            <a:stCxn id="1556" idx="3"/>
          </p:cNvCxnSpPr>
          <p:nvPr/>
        </p:nvCxnSpPr>
        <p:spPr>
          <a:xfrm rot="10800000" flipH="1">
            <a:off x="2263634" y="865049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2" name="Google Shape;1562;p101"/>
          <p:cNvCxnSpPr>
            <a:stCxn id="1556" idx="3"/>
          </p:cNvCxnSpPr>
          <p:nvPr/>
        </p:nvCxnSpPr>
        <p:spPr>
          <a:xfrm rot="10800000" flipH="1">
            <a:off x="2263634" y="1308449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3" name="Google Shape;1563;p101"/>
          <p:cNvCxnSpPr>
            <a:stCxn id="1556" idx="3"/>
          </p:cNvCxnSpPr>
          <p:nvPr/>
        </p:nvCxnSpPr>
        <p:spPr>
          <a:xfrm>
            <a:off x="2263634" y="1521149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4" name="Google Shape;1564;p101"/>
          <p:cNvCxnSpPr>
            <a:stCxn id="1556" idx="3"/>
          </p:cNvCxnSpPr>
          <p:nvPr/>
        </p:nvCxnSpPr>
        <p:spPr>
          <a:xfrm>
            <a:off x="2263634" y="1521149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5" name="Google Shape;1565;p101"/>
          <p:cNvSpPr txBox="1"/>
          <p:nvPr/>
        </p:nvSpPr>
        <p:spPr>
          <a:xfrm>
            <a:off x="613409" y="388799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Split Horizon: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6" name="Google Shape;1566;p101"/>
          <p:cNvCxnSpPr>
            <a:stCxn id="1567" idx="3"/>
            <a:endCxn id="1568" idx="1"/>
          </p:cNvCxnSpPr>
          <p:nvPr/>
        </p:nvCxnSpPr>
        <p:spPr>
          <a:xfrm>
            <a:off x="5197434" y="1521149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9" name="Google Shape;1569;p101"/>
          <p:cNvCxnSpPr/>
          <p:nvPr/>
        </p:nvCxnSpPr>
        <p:spPr>
          <a:xfrm>
            <a:off x="5327984" y="1420424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0" name="Google Shape;1570;p101"/>
          <p:cNvSpPr/>
          <p:nvPr/>
        </p:nvSpPr>
        <p:spPr>
          <a:xfrm>
            <a:off x="5425834" y="783599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101"/>
          <p:cNvSpPr txBox="1"/>
          <p:nvPr/>
        </p:nvSpPr>
        <p:spPr>
          <a:xfrm>
            <a:off x="5197434" y="388799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Poison Reverse: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101"/>
          <p:cNvSpPr/>
          <p:nvPr/>
        </p:nvSpPr>
        <p:spPr>
          <a:xfrm>
            <a:off x="65627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101"/>
          <p:cNvCxnSpPr>
            <a:stCxn id="1568" idx="3"/>
          </p:cNvCxnSpPr>
          <p:nvPr/>
        </p:nvCxnSpPr>
        <p:spPr>
          <a:xfrm rot="10800000" flipH="1">
            <a:off x="6847734" y="865049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3" name="Google Shape;1573;p101"/>
          <p:cNvCxnSpPr>
            <a:stCxn id="1568" idx="3"/>
          </p:cNvCxnSpPr>
          <p:nvPr/>
        </p:nvCxnSpPr>
        <p:spPr>
          <a:xfrm rot="10800000" flipH="1">
            <a:off x="6847734" y="1308449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4" name="Google Shape;1574;p101"/>
          <p:cNvCxnSpPr>
            <a:stCxn id="1568" idx="3"/>
          </p:cNvCxnSpPr>
          <p:nvPr/>
        </p:nvCxnSpPr>
        <p:spPr>
          <a:xfrm>
            <a:off x="6847734" y="1521149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5" name="Google Shape;1575;p101"/>
          <p:cNvCxnSpPr>
            <a:stCxn id="1568" idx="3"/>
          </p:cNvCxnSpPr>
          <p:nvPr/>
        </p:nvCxnSpPr>
        <p:spPr>
          <a:xfrm>
            <a:off x="6847734" y="1521149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6" name="Google Shape;1576;p101"/>
          <p:cNvSpPr/>
          <p:nvPr/>
        </p:nvSpPr>
        <p:spPr>
          <a:xfrm>
            <a:off x="1978622" y="282372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7" name="Google Shape;1577;p101"/>
          <p:cNvCxnSpPr>
            <a:stCxn id="1578" idx="3"/>
            <a:endCxn id="1576" idx="1"/>
          </p:cNvCxnSpPr>
          <p:nvPr/>
        </p:nvCxnSpPr>
        <p:spPr>
          <a:xfrm>
            <a:off x="613322" y="2966226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9" name="Google Shape;1579;p101"/>
          <p:cNvCxnSpPr/>
          <p:nvPr/>
        </p:nvCxnSpPr>
        <p:spPr>
          <a:xfrm rot="10800000" flipH="1">
            <a:off x="2448884" y="2283851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0" name="Google Shape;1580;p101"/>
          <p:cNvCxnSpPr>
            <a:stCxn id="1576" idx="3"/>
          </p:cNvCxnSpPr>
          <p:nvPr/>
        </p:nvCxnSpPr>
        <p:spPr>
          <a:xfrm rot="10800000" flipH="1">
            <a:off x="2263622" y="2310126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1" name="Google Shape;1581;p101"/>
          <p:cNvCxnSpPr>
            <a:stCxn id="1576" idx="3"/>
          </p:cNvCxnSpPr>
          <p:nvPr/>
        </p:nvCxnSpPr>
        <p:spPr>
          <a:xfrm rot="10800000" flipH="1">
            <a:off x="2263622" y="2753526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2" name="Google Shape;1582;p101"/>
          <p:cNvCxnSpPr>
            <a:stCxn id="1576" idx="3"/>
          </p:cNvCxnSpPr>
          <p:nvPr/>
        </p:nvCxnSpPr>
        <p:spPr>
          <a:xfrm>
            <a:off x="2263622" y="2966226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3" name="Google Shape;1583;p101"/>
          <p:cNvCxnSpPr>
            <a:stCxn id="1576" idx="3"/>
          </p:cNvCxnSpPr>
          <p:nvPr/>
        </p:nvCxnSpPr>
        <p:spPr>
          <a:xfrm>
            <a:off x="2263622" y="2966226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101"/>
          <p:cNvCxnSpPr/>
          <p:nvPr/>
        </p:nvCxnSpPr>
        <p:spPr>
          <a:xfrm rot="10800000" flipH="1">
            <a:off x="2500672" y="2690826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5" name="Google Shape;1585;p101"/>
          <p:cNvCxnSpPr/>
          <p:nvPr/>
        </p:nvCxnSpPr>
        <p:spPr>
          <a:xfrm>
            <a:off x="2517922" y="2967426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6" name="Google Shape;1586;p101"/>
          <p:cNvSpPr/>
          <p:nvPr/>
        </p:nvSpPr>
        <p:spPr>
          <a:xfrm>
            <a:off x="3150722" y="2310126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101"/>
          <p:cNvCxnSpPr/>
          <p:nvPr/>
        </p:nvCxnSpPr>
        <p:spPr>
          <a:xfrm>
            <a:off x="2519084" y="3108726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8" name="Google Shape;1588;p101"/>
          <p:cNvSpPr/>
          <p:nvPr/>
        </p:nvSpPr>
        <p:spPr>
          <a:xfrm>
            <a:off x="6562722" y="284570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101"/>
          <p:cNvCxnSpPr>
            <a:stCxn id="1590" idx="3"/>
            <a:endCxn id="1588" idx="1"/>
          </p:cNvCxnSpPr>
          <p:nvPr/>
        </p:nvCxnSpPr>
        <p:spPr>
          <a:xfrm>
            <a:off x="5197422" y="2988201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1" name="Google Shape;1591;p101"/>
          <p:cNvCxnSpPr/>
          <p:nvPr/>
        </p:nvCxnSpPr>
        <p:spPr>
          <a:xfrm rot="10800000" flipH="1">
            <a:off x="7032984" y="2305826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2" name="Google Shape;1592;p101"/>
          <p:cNvCxnSpPr>
            <a:stCxn id="1588" idx="3"/>
          </p:cNvCxnSpPr>
          <p:nvPr/>
        </p:nvCxnSpPr>
        <p:spPr>
          <a:xfrm rot="10800000" flipH="1">
            <a:off x="6847722" y="2332101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3" name="Google Shape;1593;p101"/>
          <p:cNvCxnSpPr>
            <a:stCxn id="1588" idx="3"/>
          </p:cNvCxnSpPr>
          <p:nvPr/>
        </p:nvCxnSpPr>
        <p:spPr>
          <a:xfrm rot="10800000" flipH="1">
            <a:off x="6847722" y="2775501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4" name="Google Shape;1594;p101"/>
          <p:cNvCxnSpPr>
            <a:stCxn id="1588" idx="3"/>
          </p:cNvCxnSpPr>
          <p:nvPr/>
        </p:nvCxnSpPr>
        <p:spPr>
          <a:xfrm>
            <a:off x="6847722" y="2988201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5" name="Google Shape;1595;p101"/>
          <p:cNvCxnSpPr>
            <a:stCxn id="1588" idx="3"/>
          </p:cNvCxnSpPr>
          <p:nvPr/>
        </p:nvCxnSpPr>
        <p:spPr>
          <a:xfrm>
            <a:off x="6847722" y="2988201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6" name="Google Shape;1596;p101"/>
          <p:cNvCxnSpPr/>
          <p:nvPr/>
        </p:nvCxnSpPr>
        <p:spPr>
          <a:xfrm rot="10800000" flipH="1">
            <a:off x="7084772" y="2712801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7" name="Google Shape;1597;p101"/>
          <p:cNvCxnSpPr/>
          <p:nvPr/>
        </p:nvCxnSpPr>
        <p:spPr>
          <a:xfrm>
            <a:off x="7102022" y="2989401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8" name="Google Shape;1598;p101"/>
          <p:cNvSpPr/>
          <p:nvPr/>
        </p:nvSpPr>
        <p:spPr>
          <a:xfrm>
            <a:off x="7734822" y="2332101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101"/>
          <p:cNvCxnSpPr/>
          <p:nvPr/>
        </p:nvCxnSpPr>
        <p:spPr>
          <a:xfrm>
            <a:off x="7103184" y="3130701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0" name="Google Shape;1600;p101"/>
          <p:cNvCxnSpPr/>
          <p:nvPr/>
        </p:nvCxnSpPr>
        <p:spPr>
          <a:xfrm>
            <a:off x="5327972" y="2865501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01" name="Google Shape;1601;p101"/>
          <p:cNvSpPr/>
          <p:nvPr/>
        </p:nvSpPr>
        <p:spPr>
          <a:xfrm>
            <a:off x="5425822" y="2228676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cannot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101"/>
          <p:cNvSpPr txBox="1"/>
          <p:nvPr/>
        </p:nvSpPr>
        <p:spPr>
          <a:xfrm>
            <a:off x="536535" y="3535906"/>
            <a:ext cx="3318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advertise anything back to R1.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101"/>
          <p:cNvSpPr txBox="1"/>
          <p:nvPr/>
        </p:nvSpPr>
        <p:spPr>
          <a:xfrm>
            <a:off x="5151251" y="3611803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Explicitly advertise poison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101"/>
          <p:cNvSpPr/>
          <p:nvPr/>
        </p:nvSpPr>
        <p:spPr>
          <a:xfrm>
            <a:off x="3283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7" name="Google Shape;1567;p101"/>
          <p:cNvSpPr/>
          <p:nvPr/>
        </p:nvSpPr>
        <p:spPr>
          <a:xfrm>
            <a:off x="49124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8" name="Google Shape;1578;p101"/>
          <p:cNvSpPr/>
          <p:nvPr/>
        </p:nvSpPr>
        <p:spPr>
          <a:xfrm>
            <a:off x="328322" y="282372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0" name="Google Shape;1590;p101"/>
          <p:cNvSpPr/>
          <p:nvPr/>
        </p:nvSpPr>
        <p:spPr>
          <a:xfrm>
            <a:off x="4912422" y="284570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4" name="Google Shape;1604;p101"/>
          <p:cNvCxnSpPr/>
          <p:nvPr/>
        </p:nvCxnSpPr>
        <p:spPr>
          <a:xfrm>
            <a:off x="4376350" y="506275"/>
            <a:ext cx="0" cy="44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E34F05-6619-023D-7325-19F6D2E60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747251"/>
              </p:ext>
            </p:extLst>
          </p:nvPr>
        </p:nvGraphicFramePr>
        <p:xfrm>
          <a:off x="1818125" y="3985148"/>
          <a:ext cx="5116449" cy="1066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58079">
                  <a:extLst>
                    <a:ext uri="{9D8B030D-6E8A-4147-A177-3AD203B41FA5}">
                      <a16:colId xmlns:a16="http://schemas.microsoft.com/office/drawing/2014/main" val="2207423621"/>
                    </a:ext>
                  </a:extLst>
                </a:gridCol>
                <a:gridCol w="1808227">
                  <a:extLst>
                    <a:ext uri="{9D8B030D-6E8A-4147-A177-3AD203B41FA5}">
                      <a16:colId xmlns:a16="http://schemas.microsoft.com/office/drawing/2014/main" val="3800485958"/>
                    </a:ext>
                  </a:extLst>
                </a:gridCol>
                <a:gridCol w="1950143">
                  <a:extLst>
                    <a:ext uri="{9D8B030D-6E8A-4147-A177-3AD203B41FA5}">
                      <a16:colId xmlns:a16="http://schemas.microsoft.com/office/drawing/2014/main" val="54563128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Technique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What R2 tells R1 about 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Philosophy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1509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Split 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Says </a:t>
                      </a:r>
                      <a:r>
                        <a:rPr lang="en-US" sz="1200" b="1"/>
                        <a:t>nothing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Silence avoids confusion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2348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Poison Reverse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Says </a:t>
                      </a:r>
                      <a:r>
                        <a:rPr lang="en-US" sz="1200" b="1" dirty="0"/>
                        <a:t>∞ (unreachable)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Explicit warning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5625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610" name="Google Shape;1610;p10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1" name="Google Shape;1611;p10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2" name="Google Shape;1612;p102"/>
          <p:cNvCxnSpPr>
            <a:stCxn id="1611" idx="6"/>
            <a:endCxn id="1610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3" name="Google Shape;1613;p10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102"/>
          <p:cNvCxnSpPr>
            <a:stCxn id="1610" idx="3"/>
            <a:endCxn id="161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5" name="Google Shape;1615;p10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102"/>
          <p:cNvCxnSpPr>
            <a:stCxn id="1613" idx="3"/>
            <a:endCxn id="1615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17" name="Google Shape;1617;p102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8" name="Google Shape;1618;p102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9" name="Google Shape;1619;p102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20" name="Google Shape;1620;p102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Let's watch the demo again, but with poison reverse this time.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 before, we first reach steady state.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5" name="Google Shape;1625;p10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26" name="Google Shape;1626;p103"/>
          <p:cNvCxnSpPr>
            <a:stCxn id="1627" idx="3"/>
            <a:endCxn id="1628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29" name="Google Shape;1629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27" name="Google Shape;1627;p10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p10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1" name="Google Shape;1631;p103"/>
          <p:cNvCxnSpPr>
            <a:stCxn id="1630" idx="6"/>
            <a:endCxn id="162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8" name="Google Shape;1628;p10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10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3" name="Google Shape;1633;p103"/>
          <p:cNvCxnSpPr>
            <a:stCxn id="1628" idx="3"/>
            <a:endCxn id="163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34" name="Google Shape;1634;p103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5" name="Google Shape;1635;p10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6" name="Google Shape;1636;p103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37" name="Google Shape;1637;p10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2" name="Google Shape;1642;p104"/>
          <p:cNvCxnSpPr>
            <a:stCxn id="1643" idx="3"/>
            <a:endCxn id="164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45" name="Google Shape;1645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43" name="Google Shape;1643;p10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6" name="Google Shape;1646;p10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7" name="Google Shape;1647;p104"/>
          <p:cNvCxnSpPr>
            <a:stCxn id="1646" idx="6"/>
            <a:endCxn id="1643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4" name="Google Shape;1644;p10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10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104"/>
          <p:cNvCxnSpPr>
            <a:stCxn id="1644" idx="3"/>
            <a:endCxn id="1648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50" name="Google Shape;1650;p104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1" name="Google Shape;1651;p10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2" name="Google Shape;1652;p104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53" name="Google Shape;1653;p10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54" name="Google Shape;1654;p10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10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56" name="Google Shape;1656;p10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57" name="Google Shape;1657;p10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R2's table now explicitly says: Do not send packets to R3.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R3 would just send the packet back to R2.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63" name="Google Shape;1663;p10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No poison is sent.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stays until the routes expire.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64" name="Google Shape;1664;p105"/>
          <p:cNvGraphicFramePr/>
          <p:nvPr/>
        </p:nvGraphicFramePr>
        <p:xfrm>
          <a:off x="20439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5" name="Google Shape;1665;p105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105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7" name="Google Shape;1667;p105"/>
          <p:cNvCxnSpPr>
            <a:stCxn id="1665" idx="3"/>
            <a:endCxn id="1666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68" name="Google Shape;1668;p105"/>
          <p:cNvGraphicFramePr/>
          <p:nvPr/>
        </p:nvGraphicFramePr>
        <p:xfrm>
          <a:off x="52443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9" name="Google Shape;1669;p105"/>
          <p:cNvSpPr/>
          <p:nvPr/>
        </p:nvSpPr>
        <p:spPr>
          <a:xfrm>
            <a:off x="696600" y="2957025"/>
            <a:ext cx="2054400" cy="5529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R3, so don't send it to R3.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105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don't send it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0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76" name="Google Shape;1676;p10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reverse: R3 explicitly sends poison back to R2.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is immediately eliminated!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Faster than split horizon.</a:t>
            </a:r>
            <a:endParaRPr/>
          </a:p>
        </p:txBody>
      </p:sp>
      <p:graphicFrame>
        <p:nvGraphicFramePr>
          <p:cNvPr id="1677" name="Google Shape;1677;p106"/>
          <p:cNvGraphicFramePr/>
          <p:nvPr/>
        </p:nvGraphicFramePr>
        <p:xfrm>
          <a:off x="20439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8" name="Google Shape;1678;p106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106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106"/>
          <p:cNvCxnSpPr>
            <a:stCxn id="1678" idx="3"/>
            <a:endCxn id="1679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81" name="Google Shape;1681;p106"/>
          <p:cNvGraphicFramePr/>
          <p:nvPr/>
        </p:nvGraphicFramePr>
        <p:xfrm>
          <a:off x="52443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82" name="Google Shape;1682;p106"/>
          <p:cNvCxnSpPr/>
          <p:nvPr/>
        </p:nvCxnSpPr>
        <p:spPr>
          <a:xfrm>
            <a:off x="4561045" y="3658950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83" name="Google Shape;1683;p106"/>
          <p:cNvSpPr/>
          <p:nvPr/>
        </p:nvSpPr>
        <p:spPr>
          <a:xfrm>
            <a:off x="4707600" y="2823225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106"/>
          <p:cNvSpPr/>
          <p:nvPr/>
        </p:nvSpPr>
        <p:spPr>
          <a:xfrm>
            <a:off x="1026275" y="2955900"/>
            <a:ext cx="1724700" cy="5538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R3 is my next-hop, so I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85" name="Google Shape;1685;p106"/>
          <p:cNvGraphicFramePr/>
          <p:nvPr/>
        </p:nvGraphicFramePr>
        <p:xfrm>
          <a:off x="20439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86" name="Google Shape;1686;p106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send poison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0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692" name="Google Shape;1692;p10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0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7: Count to Infinity</a:t>
            </a:r>
            <a:endParaRPr/>
          </a:p>
        </p:txBody>
      </p:sp>
      <p:sp>
        <p:nvSpPr>
          <p:cNvPr id="1698" name="Google Shape;1698;p10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7: Count To Infinity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99" name="Google Shape;1699;p10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0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705" name="Google Shape;1705;p10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(or poison reverse) helps us avoid length-2 loops.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forwards to R2.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R2 forwards to R1.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we can still get routing loops with 3 or more routers.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11" name="Google Shape;1711;p11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the tables reach steady-state.</a:t>
            </a:r>
            <a:endParaRPr/>
          </a:p>
        </p:txBody>
      </p:sp>
      <p:sp>
        <p:nvSpPr>
          <p:cNvPr id="1712" name="Google Shape;1712;p11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3" name="Google Shape;1713;p110"/>
          <p:cNvCxnSpPr>
            <a:stCxn id="1714" idx="1"/>
            <a:endCxn id="1712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15" name="Google Shape;1715;p11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6" name="Google Shape;1716;p110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7" name="Google Shape;1717;p11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18" name="Google Shape;1718;p11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110"/>
          <p:cNvCxnSpPr>
            <a:stCxn id="1718" idx="2"/>
            <a:endCxn id="1720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0" name="Google Shape;1720;p11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11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1" name="Google Shape;1721;p110"/>
          <p:cNvCxnSpPr>
            <a:stCxn id="1718" idx="1"/>
            <a:endCxn id="1714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2" name="Google Shape;1722;p110"/>
          <p:cNvCxnSpPr>
            <a:stCxn id="1720" idx="1"/>
            <a:endCxn id="1714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1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8" name="Google Shape;1728;p111"/>
          <p:cNvCxnSpPr>
            <a:stCxn id="1729" idx="1"/>
            <a:endCxn id="17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31" name="Google Shape;1731;p1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32" name="Google Shape;1732;p11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 goes down! A now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updates table and sends poison.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reaches R2, but not R1!</a:t>
            </a:r>
            <a:endParaRPr/>
          </a:p>
        </p:txBody>
      </p:sp>
      <p:sp>
        <p:nvSpPr>
          <p:cNvPr id="1733" name="Google Shape;1733;p11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4" name="Google Shape;1734;p111"/>
          <p:cNvCxnSpPr>
            <a:stCxn id="1733" idx="2"/>
            <a:endCxn id="17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5" name="Google Shape;1735;p11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11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6" name="Google Shape;1736;p111"/>
          <p:cNvCxnSpPr>
            <a:stCxn id="1733" idx="1"/>
            <a:endCxn id="17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7" name="Google Shape;1737;p111"/>
          <p:cNvCxnSpPr>
            <a:stCxn id="1735" idx="1"/>
            <a:endCxn id="17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0" name="Google Shape;1730;p11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38" name="Google Shape;1738;p11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39" name="Google Shape;1739;p11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0" name="Google Shape;1740;p11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1" name="Google Shape;1741;p11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2" name="Google Shape;1742;p111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3" name="Google Shape;1743;p111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4" name="Google Shape;1744;p111"/>
          <p:cNvSpPr txBox="1"/>
          <p:nvPr/>
        </p:nvSpPr>
        <p:spPr>
          <a:xfrm rot="-899921">
            <a:off x="3320851" y="2695145"/>
            <a:ext cx="905343" cy="30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5" name="Google Shape;1745;p111"/>
          <p:cNvCxnSpPr/>
          <p:nvPr/>
        </p:nvCxnSpPr>
        <p:spPr>
          <a:xfrm rot="10800000" flipH="1">
            <a:off x="4115675" y="2842818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46" name="Google Shape;1746;p11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1" name="Google Shape;1751;p112"/>
          <p:cNvCxnSpPr>
            <a:stCxn id="1752" idx="1"/>
            <a:endCxn id="1753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54" name="Google Shape;1754;p1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55" name="Google Shape;1755;p11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this point, R3 and R2 know A is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R1 still thinks there's a path to A!</a:t>
            </a:r>
            <a:endParaRPr/>
          </a:p>
        </p:txBody>
      </p:sp>
      <p:sp>
        <p:nvSpPr>
          <p:cNvPr id="1753" name="Google Shape;1753;p112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11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7" name="Google Shape;1757;p112"/>
          <p:cNvCxnSpPr>
            <a:stCxn id="1756" idx="2"/>
            <a:endCxn id="1758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8" name="Google Shape;1758;p11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2" name="Google Shape;1752;p11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9" name="Google Shape;1759;p112"/>
          <p:cNvCxnSpPr>
            <a:stCxn id="1756" idx="1"/>
            <a:endCxn id="1752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112"/>
          <p:cNvCxnSpPr>
            <a:stCxn id="1758" idx="1"/>
            <a:endCxn id="1752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61" name="Google Shape;1761;p112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2" name="Google Shape;1762;p112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3" name="Google Shape;1763;p112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8" name="Google Shape;1768;p113"/>
          <p:cNvCxnSpPr>
            <a:stCxn id="1769" idx="1"/>
            <a:endCxn id="17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71" name="Google Shape;1771;p1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72" name="Google Shape;1772;p11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R1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R1's path came from R3, so don't tell R3.</a:t>
            </a:r>
            <a:endParaRPr/>
          </a:p>
        </p:txBody>
      </p:sp>
      <p:sp>
        <p:nvSpPr>
          <p:cNvPr id="1770" name="Google Shape;1770;p113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113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113"/>
          <p:cNvCxnSpPr>
            <a:stCxn id="1773" idx="2"/>
            <a:endCxn id="17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5" name="Google Shape;1775;p113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113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113"/>
          <p:cNvCxnSpPr>
            <a:stCxn id="1773" idx="1"/>
            <a:endCxn id="17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7" name="Google Shape;1777;p113"/>
          <p:cNvCxnSpPr>
            <a:stCxn id="1775" idx="1"/>
            <a:endCxn id="17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78" name="Google Shape;1778;p113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79" name="Google Shape;1779;p113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80" name="Google Shape;1780;p113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1" name="Google Shape;1781;p113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113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83" name="Google Shape;1783;p113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8" name="Google Shape;1788;p114"/>
          <p:cNvCxnSpPr>
            <a:stCxn id="1789" idx="1"/>
            <a:endCxn id="17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91" name="Google Shape;1791;p1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92" name="Google Shape;1792;p11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R2's path came from R1, so don't tell R1.</a:t>
            </a:r>
            <a:endParaRPr/>
          </a:p>
        </p:txBody>
      </p:sp>
      <p:sp>
        <p:nvSpPr>
          <p:cNvPr id="1790" name="Google Shape;1790;p11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11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114"/>
          <p:cNvCxnSpPr>
            <a:stCxn id="1793" idx="2"/>
            <a:endCxn id="17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5" name="Google Shape;1795;p11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11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114"/>
          <p:cNvCxnSpPr>
            <a:stCxn id="1793" idx="1"/>
            <a:endCxn id="17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7" name="Google Shape;1797;p114"/>
          <p:cNvCxnSpPr>
            <a:stCxn id="1795" idx="1"/>
            <a:endCxn id="17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98" name="Google Shape;1798;p114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99" name="Google Shape;1799;p114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00" name="Google Shape;1800;p114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01" name="Google Shape;1801;p114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114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03" name="Google Shape;1803;p114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8" name="Google Shape;1808;p115"/>
          <p:cNvCxnSpPr>
            <a:stCxn id="1809" idx="1"/>
            <a:endCxn id="18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11" name="Google Shape;1811;p1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12" name="Google Shape;1812;p11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R3's path came from R2, so don't tell R2.</a:t>
            </a:r>
            <a:endParaRPr/>
          </a:p>
        </p:txBody>
      </p:sp>
      <p:sp>
        <p:nvSpPr>
          <p:cNvPr id="1810" name="Google Shape;1810;p11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3" name="Google Shape;1813;p11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4" name="Google Shape;1814;p115"/>
          <p:cNvCxnSpPr>
            <a:stCxn id="1813" idx="2"/>
            <a:endCxn id="18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5" name="Google Shape;1815;p11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11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6" name="Google Shape;1816;p115"/>
          <p:cNvCxnSpPr>
            <a:stCxn id="1813" idx="1"/>
            <a:endCxn id="18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7" name="Google Shape;1817;p115"/>
          <p:cNvCxnSpPr>
            <a:stCxn id="1815" idx="1"/>
            <a:endCxn id="18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18" name="Google Shape;1818;p115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19" name="Google Shape;1819;p115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20" name="Google Shape;1820;p115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21" name="Google Shape;1821;p115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2" name="Google Shape;1822;p115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23" name="Google Shape;1823;p115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8" name="Google Shape;1828;p116"/>
          <p:cNvCxnSpPr>
            <a:stCxn id="1829" idx="1"/>
            <a:endCxn id="18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31" name="Google Shape;1831;p1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32" name="Google Shape;1832;p11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30" name="Google Shape;1830;p11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11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4" name="Google Shape;1834;p116"/>
          <p:cNvCxnSpPr>
            <a:stCxn id="1833" idx="2"/>
            <a:endCxn id="18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5" name="Google Shape;1835;p11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11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116"/>
          <p:cNvCxnSpPr>
            <a:stCxn id="1833" idx="1"/>
            <a:endCxn id="18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7" name="Google Shape;1837;p116"/>
          <p:cNvCxnSpPr>
            <a:stCxn id="1835" idx="1"/>
            <a:endCxn id="18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38" name="Google Shape;1838;p116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39" name="Google Shape;1839;p116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0" name="Google Shape;1840;p116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41" name="Google Shape;1841;p116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2" name="Google Shape;1842;p116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43" name="Google Shape;1843;p116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8" name="Google Shape;1848;p117"/>
          <p:cNvCxnSpPr>
            <a:stCxn id="1849" idx="1"/>
            <a:endCxn id="185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51" name="Google Shape;1851;p1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52" name="Google Shape;1852;p11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50" name="Google Shape;1850;p11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11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4" name="Google Shape;1854;p117"/>
          <p:cNvCxnSpPr>
            <a:stCxn id="1853" idx="2"/>
            <a:endCxn id="185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5" name="Google Shape;1855;p11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11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6" name="Google Shape;1856;p117"/>
          <p:cNvCxnSpPr>
            <a:stCxn id="1853" idx="1"/>
            <a:endCxn id="184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7" name="Google Shape;1857;p117"/>
          <p:cNvCxnSpPr>
            <a:stCxn id="1855" idx="1"/>
            <a:endCxn id="184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58" name="Google Shape;1858;p117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59" name="Google Shape;1859;p117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60" name="Google Shape;1860;p117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61" name="Google Shape;1861;p117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2" name="Google Shape;1862;p117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63" name="Google Shape;1863;p117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8" name="Google Shape;1868;p118"/>
          <p:cNvCxnSpPr>
            <a:stCxn id="1869" idx="1"/>
            <a:endCxn id="18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71" name="Google Shape;1871;p1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72" name="Google Shape;1872;p11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70" name="Google Shape;1870;p11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11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4" name="Google Shape;1874;p118"/>
          <p:cNvCxnSpPr>
            <a:stCxn id="1873" idx="2"/>
            <a:endCxn id="18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5" name="Google Shape;1875;p11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11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118"/>
          <p:cNvCxnSpPr>
            <a:stCxn id="1873" idx="1"/>
            <a:endCxn id="18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7" name="Google Shape;1877;p118"/>
          <p:cNvCxnSpPr>
            <a:stCxn id="1875" idx="1"/>
            <a:endCxn id="18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78" name="Google Shape;1878;p118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79" name="Google Shape;1879;p118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80" name="Google Shape;1880;p118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81" name="Google Shape;1881;p118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2" name="Google Shape;1882;p118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83" name="Google Shape;1883;p118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8" name="Google Shape;1888;p119"/>
          <p:cNvCxnSpPr>
            <a:stCxn id="1889" idx="1"/>
            <a:endCxn id="18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91" name="Google Shape;1891;p1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92" name="Google Shape;1892;p11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90" name="Google Shape;1890;p11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3" name="Google Shape;1893;p11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4" name="Google Shape;1894;p119"/>
          <p:cNvCxnSpPr>
            <a:stCxn id="1893" idx="2"/>
            <a:endCxn id="18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5" name="Google Shape;1895;p11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11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6" name="Google Shape;1896;p119"/>
          <p:cNvCxnSpPr>
            <a:stCxn id="1893" idx="1"/>
            <a:endCxn id="18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7" name="Google Shape;1897;p119"/>
          <p:cNvCxnSpPr>
            <a:stCxn id="1895" idx="1"/>
            <a:endCxn id="18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98" name="Google Shape;1898;p119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99" name="Google Shape;1899;p119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00" name="Google Shape;1900;p119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1" name="Google Shape;1901;p119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2" name="Google Shape;1902;p119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03" name="Google Shape;1903;p119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8" name="Google Shape;1908;p120"/>
          <p:cNvCxnSpPr>
            <a:stCxn id="1909" idx="1"/>
            <a:endCxn id="19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11" name="Google Shape;1911;p1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12" name="Google Shape;1912;p12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10" name="Google Shape;1910;p12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3" name="Google Shape;1913;p12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4" name="Google Shape;1914;p120"/>
          <p:cNvCxnSpPr>
            <a:stCxn id="1913" idx="2"/>
            <a:endCxn id="19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5" name="Google Shape;1915;p12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9" name="Google Shape;1909;p12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6" name="Google Shape;1916;p120"/>
          <p:cNvCxnSpPr>
            <a:stCxn id="1913" idx="1"/>
            <a:endCxn id="19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7" name="Google Shape;1917;p120"/>
          <p:cNvCxnSpPr>
            <a:stCxn id="1915" idx="1"/>
            <a:endCxn id="19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18" name="Google Shape;1918;p12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19" name="Google Shape;1919;p120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20" name="Google Shape;1920;p12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21" name="Google Shape;1921;p120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2" name="Google Shape;1922;p120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923" name="Google Shape;1923;p12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8" name="Google Shape;1928;p121"/>
          <p:cNvCxnSpPr>
            <a:stCxn id="1929" idx="1"/>
            <a:endCxn id="19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31" name="Google Shape;1931;p1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32" name="Google Shape;1932;p12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30" name="Google Shape;1930;p12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2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21"/>
          <p:cNvCxnSpPr>
            <a:stCxn id="1933" idx="2"/>
            <a:endCxn id="19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5" name="Google Shape;1935;p12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9" name="Google Shape;1929;p12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6" name="Google Shape;1936;p121"/>
          <p:cNvCxnSpPr>
            <a:stCxn id="1933" idx="1"/>
            <a:endCxn id="19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7" name="Google Shape;1937;p121"/>
          <p:cNvCxnSpPr>
            <a:stCxn id="1935" idx="1"/>
            <a:endCxn id="19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38" name="Google Shape;1938;p12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39" name="Google Shape;1939;p12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40" name="Google Shape;1940;p12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41" name="Google Shape;1941;p12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2" name="Google Shape;1942;p121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43" name="Google Shape;1943;p12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949" name="Google Shape;1949;p12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problem, restated: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Poison wasn't propagated properly. A router had a </a:t>
            </a:r>
            <a:r>
              <a:rPr lang="en-US" dirty="0"/>
              <a:t>broken</a:t>
            </a:r>
            <a:r>
              <a:rPr lang="en" dirty="0"/>
              <a:t> path.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broken</a:t>
            </a:r>
            <a:r>
              <a:rPr lang="en" dirty="0"/>
              <a:t> path is advertised in a loop.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Split horizon won't save us.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We're never advertising a path back to the next-hop.</a:t>
            </a:r>
            <a:endParaRPr dirty="0"/>
          </a:p>
        </p:txBody>
      </p:sp>
      <p:sp>
        <p:nvSpPr>
          <p:cNvPr id="1950" name="Google Shape;1950;p12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122"/>
          <p:cNvCxnSpPr>
            <a:stCxn id="1950" idx="2"/>
            <a:endCxn id="1952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2" name="Google Shape;1952;p12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12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4" name="Google Shape;1954;p122"/>
          <p:cNvCxnSpPr>
            <a:stCxn id="1950" idx="1"/>
            <a:endCxn id="1953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5" name="Google Shape;1955;p122"/>
          <p:cNvCxnSpPr>
            <a:stCxn id="1952" idx="1"/>
            <a:endCxn id="1953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6" name="Google Shape;1956;p122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7" name="Google Shape;1957;p122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58" name="Google Shape;1958;p122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9" name="Google Shape;1959;p122"/>
          <p:cNvSpPr/>
          <p:nvPr/>
        </p:nvSpPr>
        <p:spPr>
          <a:xfrm>
            <a:off x="5735475" y="32218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0" name="Google Shape;1960;p122"/>
          <p:cNvSpPr/>
          <p:nvPr/>
        </p:nvSpPr>
        <p:spPr>
          <a:xfrm>
            <a:off x="5735475" y="35266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22"/>
          <p:cNvSpPr/>
          <p:nvPr/>
        </p:nvSpPr>
        <p:spPr>
          <a:xfrm>
            <a:off x="5735475" y="38314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8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122"/>
          <p:cNvSpPr/>
          <p:nvPr/>
        </p:nvSpPr>
        <p:spPr>
          <a:xfrm>
            <a:off x="4643350" y="44136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3" name="Google Shape;1963;p122"/>
          <p:cNvSpPr/>
          <p:nvPr/>
        </p:nvSpPr>
        <p:spPr>
          <a:xfrm>
            <a:off x="4338550" y="42612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4" name="Google Shape;1964;p122"/>
          <p:cNvSpPr/>
          <p:nvPr/>
        </p:nvSpPr>
        <p:spPr>
          <a:xfrm>
            <a:off x="4033750" y="4108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9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122"/>
          <p:cNvSpPr/>
          <p:nvPr/>
        </p:nvSpPr>
        <p:spPr>
          <a:xfrm>
            <a:off x="4643350" y="26610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6" name="Google Shape;1966;p122"/>
          <p:cNvSpPr/>
          <p:nvPr/>
        </p:nvSpPr>
        <p:spPr>
          <a:xfrm>
            <a:off x="4338550" y="28134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122"/>
          <p:cNvSpPr/>
          <p:nvPr/>
        </p:nvSpPr>
        <p:spPr>
          <a:xfrm>
            <a:off x="4033750" y="2965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Solution</a:t>
            </a:r>
            <a:endParaRPr/>
          </a:p>
        </p:txBody>
      </p:sp>
      <p:sp>
        <p:nvSpPr>
          <p:cNvPr id="1973" name="Google Shape;1973;p12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Enforce a maximum cost.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15 is a common choice.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All numbers ≥ 16 are considered infinity.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Result: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Loop will stop when all costs reach 16.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broken</a:t>
            </a:r>
            <a:r>
              <a:rPr lang="en" dirty="0"/>
              <a:t> path will expire, or get replaced by another non-infinite-cost path.</a:t>
            </a:r>
            <a:endParaRPr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8" name="Google Shape;1978;p124"/>
          <p:cNvCxnSpPr>
            <a:stCxn id="1979" idx="1"/>
            <a:endCxn id="19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81" name="Google Shape;1981;p1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1982" name="Google Shape;1982;p12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1980" name="Google Shape;1980;p12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3" name="Google Shape;1983;p12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4" name="Google Shape;1984;p124"/>
          <p:cNvCxnSpPr>
            <a:stCxn id="1983" idx="2"/>
            <a:endCxn id="19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5" name="Google Shape;1985;p12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12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6" name="Google Shape;1986;p124"/>
          <p:cNvCxnSpPr>
            <a:stCxn id="1983" idx="1"/>
            <a:endCxn id="19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7" name="Google Shape;1987;p124"/>
          <p:cNvCxnSpPr>
            <a:stCxn id="1985" idx="1"/>
            <a:endCxn id="19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88" name="Google Shape;1988;p124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89" name="Google Shape;1989;p124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90" name="Google Shape;1990;p124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91" name="Google Shape;1991;p124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2" name="Google Shape;1992;p124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93" name="Google Shape;1993;p124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8" name="Google Shape;1998;p125"/>
          <p:cNvCxnSpPr>
            <a:stCxn id="1999" idx="1"/>
            <a:endCxn id="20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01" name="Google Shape;2001;p1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02" name="Google Shape;2002;p12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00" name="Google Shape;2000;p12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12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4" name="Google Shape;2004;p125"/>
          <p:cNvCxnSpPr>
            <a:stCxn id="2003" idx="2"/>
            <a:endCxn id="20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5" name="Google Shape;2005;p12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9" name="Google Shape;1999;p12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6" name="Google Shape;2006;p125"/>
          <p:cNvCxnSpPr>
            <a:stCxn id="2003" idx="1"/>
            <a:endCxn id="19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7" name="Google Shape;2007;p125"/>
          <p:cNvCxnSpPr>
            <a:stCxn id="2005" idx="1"/>
            <a:endCxn id="19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08" name="Google Shape;2008;p125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09" name="Google Shape;2009;p125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10" name="Google Shape;2010;p125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11" name="Google Shape;2011;p125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2" name="Google Shape;2012;p125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13" name="Google Shape;2013;p125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8" name="Google Shape;2018;p126"/>
          <p:cNvCxnSpPr>
            <a:stCxn id="2019" idx="1"/>
            <a:endCxn id="20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21" name="Google Shape;2021;p1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22" name="Google Shape;2022;p1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20" name="Google Shape;2020;p12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3" name="Google Shape;2023;p12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4" name="Google Shape;2024;p126"/>
          <p:cNvCxnSpPr>
            <a:stCxn id="2023" idx="2"/>
            <a:endCxn id="20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5" name="Google Shape;2025;p12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12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6" name="Google Shape;2026;p126"/>
          <p:cNvCxnSpPr>
            <a:stCxn id="2023" idx="1"/>
            <a:endCxn id="20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7" name="Google Shape;2027;p126"/>
          <p:cNvCxnSpPr>
            <a:stCxn id="2025" idx="1"/>
            <a:endCxn id="20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28" name="Google Shape;2028;p126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29" name="Google Shape;2029;p126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30" name="Google Shape;2030;p126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31" name="Google Shape;2031;p126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2" name="Google Shape;2032;p126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33" name="Google Shape;2033;p126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8" name="Google Shape;2038;p127"/>
          <p:cNvCxnSpPr>
            <a:stCxn id="2039" idx="1"/>
            <a:endCxn id="204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41" name="Google Shape;2041;p1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42" name="Google Shape;2042;p1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40" name="Google Shape;2040;p12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3" name="Google Shape;2043;p12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4" name="Google Shape;2044;p127"/>
          <p:cNvCxnSpPr>
            <a:stCxn id="2043" idx="2"/>
            <a:endCxn id="204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5" name="Google Shape;2045;p12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9" name="Google Shape;2039;p12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6" name="Google Shape;2046;p127"/>
          <p:cNvCxnSpPr>
            <a:stCxn id="2043" idx="1"/>
            <a:endCxn id="203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7" name="Google Shape;2047;p127"/>
          <p:cNvCxnSpPr>
            <a:stCxn id="2045" idx="1"/>
            <a:endCxn id="203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48" name="Google Shape;2048;p127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49" name="Google Shape;2049;p127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50" name="Google Shape;2050;p127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51" name="Google Shape;2051;p127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2" name="Google Shape;2052;p127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53" name="Google Shape;2053;p127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8" name="Google Shape;2058;p128"/>
          <p:cNvCxnSpPr>
            <a:stCxn id="2059" idx="1"/>
            <a:endCxn id="206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61" name="Google Shape;2061;p1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62" name="Google Shape;2062;p1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60" name="Google Shape;2060;p12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3" name="Google Shape;2063;p12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4" name="Google Shape;2064;p128"/>
          <p:cNvCxnSpPr>
            <a:stCxn id="2063" idx="2"/>
            <a:endCxn id="206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5" name="Google Shape;2065;p12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12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6" name="Google Shape;2066;p128"/>
          <p:cNvCxnSpPr>
            <a:stCxn id="2063" idx="1"/>
            <a:endCxn id="205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7" name="Google Shape;2067;p128"/>
          <p:cNvCxnSpPr>
            <a:stCxn id="2065" idx="1"/>
            <a:endCxn id="205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68" name="Google Shape;2068;p128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9" name="Google Shape;2069;p128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70" name="Google Shape;2070;p128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71" name="Google Shape;2071;p128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72" name="Google Shape;2072;p128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trike="sng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3" name="Google Shape;2073;p128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8" name="Google Shape;2078;p129"/>
          <p:cNvCxnSpPr>
            <a:stCxn id="2079" idx="1"/>
            <a:endCxn id="20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81" name="Google Shape;2081;p1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82" name="Google Shape;2082;p1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80" name="Google Shape;2080;p12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12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4" name="Google Shape;2084;p129"/>
          <p:cNvCxnSpPr>
            <a:stCxn id="2083" idx="2"/>
            <a:endCxn id="20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5" name="Google Shape;2085;p12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9" name="Google Shape;2079;p12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6" name="Google Shape;2086;p129"/>
          <p:cNvCxnSpPr>
            <a:stCxn id="2083" idx="1"/>
            <a:endCxn id="20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7" name="Google Shape;2087;p129"/>
          <p:cNvCxnSpPr>
            <a:stCxn id="2085" idx="1"/>
            <a:endCxn id="20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88" name="Google Shape;2088;p129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89" name="Google Shape;2089;p129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0" name="Google Shape;2090;p129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91" name="Google Shape;2091;p129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2" name="Google Shape;2092;p129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93" name="Google Shape;2093;p129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8" name="Google Shape;2098;p130"/>
          <p:cNvCxnSpPr>
            <a:stCxn id="2099" idx="1"/>
            <a:endCxn id="21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01" name="Google Shape;2101;p1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02" name="Google Shape;2102;p1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100" name="Google Shape;2100;p13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3" name="Google Shape;2103;p13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4" name="Google Shape;2104;p130"/>
          <p:cNvCxnSpPr>
            <a:stCxn id="2103" idx="2"/>
            <a:endCxn id="21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5" name="Google Shape;2105;p13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9" name="Google Shape;2099;p13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6" name="Google Shape;2106;p130"/>
          <p:cNvCxnSpPr>
            <a:stCxn id="2103" idx="1"/>
            <a:endCxn id="20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7" name="Google Shape;2107;p130"/>
          <p:cNvCxnSpPr>
            <a:stCxn id="2105" idx="1"/>
            <a:endCxn id="20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08" name="Google Shape;2108;p13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09" name="Google Shape;2109;p130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10" name="Google Shape;2110;p13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11" name="Google Shape;2111;p130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2" name="Google Shape;2112;p130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13" name="Google Shape;2113;p13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8" name="Google Shape;2118;p131"/>
          <p:cNvCxnSpPr>
            <a:stCxn id="2119" idx="1"/>
            <a:endCxn id="21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21" name="Google Shape;2121;p1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22" name="Google Shape;2122;p1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reached steady state!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advertisements won't change the tables.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for A will soon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Or, if another route to A appears, it'll replace the infinite-cost entry.</a:t>
            </a:r>
            <a:endParaRPr/>
          </a:p>
        </p:txBody>
      </p:sp>
      <p:sp>
        <p:nvSpPr>
          <p:cNvPr id="2120" name="Google Shape;2120;p13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3" name="Google Shape;2123;p13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4" name="Google Shape;2124;p131"/>
          <p:cNvCxnSpPr>
            <a:stCxn id="2123" idx="2"/>
            <a:endCxn id="21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5" name="Google Shape;2125;p13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9" name="Google Shape;2119;p13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6" name="Google Shape;2126;p131"/>
          <p:cNvCxnSpPr>
            <a:stCxn id="2123" idx="1"/>
            <a:endCxn id="21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7" name="Google Shape;2127;p131"/>
          <p:cNvCxnSpPr>
            <a:stCxn id="2125" idx="1"/>
            <a:endCxn id="21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28" name="Google Shape;2128;p13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29" name="Google Shape;2129;p13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30" name="Google Shape;2130;p13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2136" name="Google Shape;2136;p1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Any cost ≥ 16 is advertised as ∞.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3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2" name="Google Shape;2142;p13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Eventful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3" name="Google Shape;2143;p13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9" name="Google Shape;2149;p1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When do we send advertisements?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-US" dirty="0"/>
              <a:t>Periodically (once every "advertisement interval").</a:t>
            </a:r>
          </a:p>
          <a:p>
            <a:pPr lvl="0">
              <a:spcBef>
                <a:spcPts val="0"/>
              </a:spcBef>
            </a:pPr>
            <a:r>
              <a:rPr lang="en-US" dirty="0"/>
              <a:t>When a table entry expires.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When the table changes (</a:t>
            </a:r>
            <a:r>
              <a:rPr lang="en" b="1" dirty="0"/>
              <a:t>triggered updates</a:t>
            </a:r>
            <a:r>
              <a:rPr lang="en" dirty="0"/>
              <a:t>).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we accept a new advertisement.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a new link is added.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Add static routes and advertise them.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sz="1400" dirty="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a link goes down.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Poison routes and advertise poison.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sz="14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buNone/>
            </a:pPr>
            <a:r>
              <a:rPr lang="en" dirty="0"/>
              <a:t>Triggered updates are an optimization for faster convergence.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Instead of advertising when the table changes, we could just wait for the interval. Protocol is still correct.</a:t>
            </a:r>
            <a:endParaRPr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Completed Distance-Vector Algorithm</a:t>
            </a:r>
            <a:endParaRPr/>
          </a:p>
        </p:txBody>
      </p:sp>
      <p:sp>
        <p:nvSpPr>
          <p:cNvPr id="2155" name="Google Shape;2155;p1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Any cost ≥ 16 is advertised as ∞.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(#3, #5)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1. Bellman-Ford Updates</a:t>
            </a:r>
            <a:r>
              <a:rPr lang="en"/>
              <a:t>: Accept if </a:t>
            </a:r>
            <a:r>
              <a:rPr lang="en" sz="1500"/>
              <a:t>advertised cost + link cost to neighbor &lt; best-known cost.</a:t>
            </a:r>
            <a:endParaRPr sz="15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2. Updates From Next-Hop</a:t>
            </a:r>
            <a:r>
              <a:rPr lang="en"/>
              <a:t>: Accept if advertisement is from next hop.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3. Resending</a:t>
            </a:r>
            <a:r>
              <a:rPr lang="en"/>
              <a:t>: Advertise periodically.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4. Expiring</a:t>
            </a:r>
            <a:r>
              <a:rPr lang="en"/>
              <a:t>: Expire an entry if TTL runs 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5. Poison Expired Routes</a:t>
            </a:r>
            <a:r>
              <a:rPr lang="en"/>
              <a:t>: Send poison if an entry expires.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6A. Split Horizon</a:t>
            </a:r>
            <a:r>
              <a:rPr lang="en"/>
              <a:t>: Don't advertise path back to the person who gave it to you.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6B. Poison Reverse</a:t>
            </a:r>
            <a:r>
              <a:rPr lang="en"/>
              <a:t>: Send poison back to the person who gave you the path.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7. Count To Infinity</a:t>
            </a:r>
            <a:r>
              <a:rPr lang="en"/>
              <a:t>: Any cost ≥ 16 is advertised as ∞.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now a pretty good routing protocol!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12457</Words>
  <Application>Microsoft Office PowerPoint</Application>
  <PresentationFormat>On-screen Show (16:9)</PresentationFormat>
  <Paragraphs>2863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7" baseType="lpstr">
      <vt:lpstr>Consolas</vt:lpstr>
      <vt:lpstr>Roboto</vt:lpstr>
      <vt:lpstr>Roboto Light</vt:lpstr>
      <vt:lpstr>Arial</vt:lpstr>
      <vt:lpstr>Roboto Medium</vt:lpstr>
      <vt:lpstr>Simple Lecture</vt:lpstr>
      <vt:lpstr>Distance-Vector Algorithm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 – Routing vs. Forwarding</vt:lpstr>
      <vt:lpstr>Distance-Vector Algorithm Sketch – Multiple Destinations</vt:lpstr>
      <vt:lpstr>Rule 1: Bellman-Ford Updates</vt:lpstr>
      <vt:lpstr>Multiple Paths Advertised</vt:lpstr>
      <vt:lpstr>Multiple Paths Advertised</vt:lpstr>
      <vt:lpstr>Multiple Paths Advertised</vt:lpstr>
      <vt:lpstr>Multiple Paths Advertised</vt:lpstr>
      <vt:lpstr>The Distance-Vector Algorithm So Far</vt:lpstr>
      <vt:lpstr>Unequal Costs</vt:lpstr>
      <vt:lpstr>Unequal Costs</vt:lpstr>
      <vt:lpstr>The Distance-Vector Algorithm So Far</vt:lpstr>
      <vt:lpstr>Distributed Bellman-Ford Algorithm</vt:lpstr>
      <vt:lpstr>Distributed Bellman-Ford Algorithm</vt:lpstr>
      <vt:lpstr>Bellman-Ford Demo</vt:lpstr>
      <vt:lpstr>The Distance-Vector Algorithm So Far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Rule 2: Updates from Next-Hop</vt:lpstr>
      <vt:lpstr>Updates From the Current Next-Hop</vt:lpstr>
      <vt:lpstr>Updates From the Current Next-Hop</vt:lpstr>
      <vt:lpstr>Updates From the Current Next-Hop</vt:lpstr>
      <vt:lpstr>Convergence</vt:lpstr>
      <vt:lpstr>The Distance-Vector Algorithm So Far</vt:lpstr>
      <vt:lpstr>Rule 3: Resending</vt:lpstr>
      <vt:lpstr>Ensuring Reliability</vt:lpstr>
      <vt:lpstr>The Distance-Vector Algorithm So Far</vt:lpstr>
      <vt:lpstr>Rule 4: Expiring</vt:lpstr>
      <vt:lpstr>Handling Failures</vt:lpstr>
      <vt:lpstr>Handling Failures</vt:lpstr>
      <vt:lpstr>Handling Failures</vt:lpstr>
      <vt:lpstr>Handling Failures</vt:lpstr>
      <vt:lpstr>Handling Failures</vt:lpstr>
      <vt:lpstr>Summary: Distance-Vector Rules</vt:lpstr>
      <vt:lpstr>Rule 5: Poison Expired Routes</vt:lpstr>
      <vt:lpstr>Route Expiry is Slow</vt:lpstr>
      <vt:lpstr>Route Expiry is Slow</vt:lpstr>
      <vt:lpstr>Route Expiry is Slow</vt:lpstr>
      <vt:lpstr>Route Expiry is Slow</vt:lpstr>
      <vt:lpstr>Route Expiry is Slow</vt:lpstr>
      <vt:lpstr>Route Expiry is Slow</vt:lpstr>
      <vt:lpstr>Poison for Fast Route Expiry</vt:lpstr>
      <vt:lpstr>Poison for Fast Route Expiry</vt:lpstr>
      <vt:lpstr>Poison for Fast Route Expiry</vt:lpstr>
      <vt:lpstr>Poison for Fast Route Expiry</vt:lpstr>
      <vt:lpstr>Accepting and Advertising Poison</vt:lpstr>
      <vt:lpstr>Accepting and Advertising Poison</vt:lpstr>
      <vt:lpstr>The Distance-Vector Algorithm So Far</vt:lpstr>
      <vt:lpstr>Rule 6A: Split Horizon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The Distance-Vector Algorithm So Far</vt:lpstr>
      <vt:lpstr>Rule 6B: Poison Reverse</vt:lpstr>
      <vt:lpstr>Poison Reverse</vt:lpstr>
      <vt:lpstr>Poison Reverse vs. Split Horizon</vt:lpstr>
      <vt:lpstr>Poison Reverse</vt:lpstr>
      <vt:lpstr>Poison Reverse</vt:lpstr>
      <vt:lpstr>Poison Reverse</vt:lpstr>
      <vt:lpstr>Poison Reverse vs. Split Horizon</vt:lpstr>
      <vt:lpstr>Poison Reverse vs. Split Horizon</vt:lpstr>
      <vt:lpstr>The Distance-Vector Algorithm So Far</vt:lpstr>
      <vt:lpstr>Rule 7: Count to Infinity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The Distance-Vector Algorithm So Far</vt:lpstr>
      <vt:lpstr>Eventful Updates</vt:lpstr>
      <vt:lpstr>Eventful Updates</vt:lpstr>
      <vt:lpstr>Our Completed Distance-Vector Algorithm</vt:lpstr>
      <vt:lpstr>Summary: Distance-Vector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2026-01-31T04:50:34Z</dcterms:modified>
</cp:coreProperties>
</file>