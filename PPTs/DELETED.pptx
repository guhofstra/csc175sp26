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3"/>
  </p:notesMasterIdLst>
  <p:sldIdLst>
    <p:sldId id="283" r:id="rId2"/>
    <p:sldId id="284" r:id="rId3"/>
    <p:sldId id="285" r:id="rId4"/>
    <p:sldId id="286" r:id="rId5"/>
    <p:sldId id="1011" r:id="rId6"/>
    <p:sldId id="481" r:id="rId7"/>
    <p:sldId id="483" r:id="rId8"/>
    <p:sldId id="332" r:id="rId9"/>
    <p:sldId id="346" r:id="rId10"/>
    <p:sldId id="1012" r:id="rId11"/>
    <p:sldId id="318" r:id="rId12"/>
  </p:sldIdLst>
  <p:sldSz cx="9144000" cy="5143500" type="screen16x9"/>
  <p:notesSz cx="6858000" cy="9144000"/>
  <p:embeddedFontLst>
    <p:embeddedFont>
      <p:font typeface="Quattrocento Sans" panose="020B0502050000020003" pitchFamily="34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Roboto Light" panose="02000000000000000000" pitchFamily="2" charset="0"/>
      <p:regular r:id="rId22"/>
      <p:bold r:id="rId23"/>
      <p:italic r:id="rId24"/>
      <p:boldItalic r:id="rId25"/>
    </p:embeddedFont>
    <p:embeddedFont>
      <p:font typeface="Roboto Medium" panose="020000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A0D46A-D47A-4E7B-9939-043F29A538D5}" v="4" dt="2026-02-01T03:40:13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82092" autoAdjust="0"/>
  </p:normalViewPr>
  <p:slideViewPr>
    <p:cSldViewPr snapToGrid="0">
      <p:cViewPr varScale="1">
        <p:scale>
          <a:sx n="115" d="100"/>
          <a:sy n="115" d="100"/>
        </p:scale>
        <p:origin x="14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addSld delSld modSld">
      <pc:chgData name="Zonghua Gu" userId="9a7e1853e1951ef5" providerId="LiveId" clId="{CF1FAA12-072C-4ED5-BA76-0FFFAEFDB88A}" dt="2026-02-01T03:40:16.827" v="10" actId="1076"/>
      <pc:docMkLst>
        <pc:docMk/>
      </pc:docMkLst>
      <pc:sldChg chg="del">
        <pc:chgData name="Zonghua Gu" userId="9a7e1853e1951ef5" providerId="LiveId" clId="{CF1FAA12-072C-4ED5-BA76-0FFFAEFDB88A}" dt="2026-01-31T16:20:47.045" v="0" actId="47"/>
        <pc:sldMkLst>
          <pc:docMk/>
          <pc:sldMk cId="0" sldId="257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0" sldId="258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0" sldId="259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0" sldId="260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0" sldId="261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0" sldId="262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0" sldId="263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0" sldId="264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0" sldId="265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0" sldId="266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0" sldId="267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0" sldId="268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0" sldId="271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0" sldId="272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0" sldId="273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0" sldId="274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0" sldId="275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0" sldId="276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0" sldId="277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0" sldId="278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0" sldId="279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0" sldId="280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0" sldId="281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0" sldId="282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0" sldId="287"/>
        </pc:sldMkLst>
      </pc:sldChg>
      <pc:sldChg chg="add">
        <pc:chgData name="Zonghua Gu" userId="9a7e1853e1951ef5" providerId="LiveId" clId="{CF1FAA12-072C-4ED5-BA76-0FFFAEFDB88A}" dt="2026-02-01T00:01:54.249" v="3"/>
        <pc:sldMkLst>
          <pc:docMk/>
          <pc:sldMk cId="0" sldId="332"/>
        </pc:sldMkLst>
      </pc:sldChg>
      <pc:sldChg chg="add">
        <pc:chgData name="Zonghua Gu" userId="9a7e1853e1951ef5" providerId="LiveId" clId="{CF1FAA12-072C-4ED5-BA76-0FFFAEFDB88A}" dt="2026-02-01T00:01:54.249" v="3"/>
        <pc:sldMkLst>
          <pc:docMk/>
          <pc:sldMk cId="931306757" sldId="346"/>
        </pc:sldMkLst>
      </pc:sldChg>
      <pc:sldChg chg="add">
        <pc:chgData name="Zonghua Gu" userId="9a7e1853e1951ef5" providerId="LiveId" clId="{CF1FAA12-072C-4ED5-BA76-0FFFAEFDB88A}" dt="2026-01-31T23:28:44.217" v="2"/>
        <pc:sldMkLst>
          <pc:docMk/>
          <pc:sldMk cId="4249766174" sldId="481"/>
        </pc:sldMkLst>
      </pc:sldChg>
      <pc:sldChg chg="add">
        <pc:chgData name="Zonghua Gu" userId="9a7e1853e1951ef5" providerId="LiveId" clId="{CF1FAA12-072C-4ED5-BA76-0FFFAEFDB88A}" dt="2026-01-31T23:28:44.217" v="2"/>
        <pc:sldMkLst>
          <pc:docMk/>
          <pc:sldMk cId="3717419321" sldId="483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453457216" sldId="1004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90131839" sldId="1006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2333318130" sldId="1007"/>
        </pc:sldMkLst>
      </pc:sldChg>
      <pc:sldChg chg="del">
        <pc:chgData name="Zonghua Gu" userId="9a7e1853e1951ef5" providerId="LiveId" clId="{CF1FAA12-072C-4ED5-BA76-0FFFAEFDB88A}" dt="2026-01-31T16:20:47.045" v="0" actId="47"/>
        <pc:sldMkLst>
          <pc:docMk/>
          <pc:sldMk cId="3876751718" sldId="1008"/>
        </pc:sldMkLst>
      </pc:sldChg>
      <pc:sldChg chg="add">
        <pc:chgData name="Zonghua Gu" userId="9a7e1853e1951ef5" providerId="LiveId" clId="{CF1FAA12-072C-4ED5-BA76-0FFFAEFDB88A}" dt="2026-01-31T16:26:25.847" v="1"/>
        <pc:sldMkLst>
          <pc:docMk/>
          <pc:sldMk cId="0" sldId="1011"/>
        </pc:sldMkLst>
      </pc:sldChg>
      <pc:sldChg chg="addSp modSp new mod">
        <pc:chgData name="Zonghua Gu" userId="9a7e1853e1951ef5" providerId="LiveId" clId="{CF1FAA12-072C-4ED5-BA76-0FFFAEFDB88A}" dt="2026-02-01T03:40:16.827" v="10" actId="1076"/>
        <pc:sldMkLst>
          <pc:docMk/>
          <pc:sldMk cId="4237756104" sldId="1012"/>
        </pc:sldMkLst>
        <pc:picChg chg="add mod">
          <ac:chgData name="Zonghua Gu" userId="9a7e1853e1951ef5" providerId="LiveId" clId="{CF1FAA12-072C-4ED5-BA76-0FFFAEFDB88A}" dt="2026-02-01T03:40:15.777" v="8" actId="1076"/>
          <ac:picMkLst>
            <pc:docMk/>
            <pc:sldMk cId="4237756104" sldId="1012"/>
            <ac:picMk id="6" creationId="{8D30E0D9-3A72-7EF0-BA78-16AA8E6A775F}"/>
          </ac:picMkLst>
        </pc:picChg>
        <pc:picChg chg="add mod">
          <ac:chgData name="Zonghua Gu" userId="9a7e1853e1951ef5" providerId="LiveId" clId="{CF1FAA12-072C-4ED5-BA76-0FFFAEFDB88A}" dt="2026-02-01T03:40:16.827" v="10" actId="1076"/>
          <ac:picMkLst>
            <pc:docMk/>
            <pc:sldMk cId="4237756104" sldId="1012"/>
            <ac:picMk id="7" creationId="{053C25AF-7BDD-A295-9C70-D47F4AD81C8A}"/>
          </ac:picMkLst>
        </pc:picChg>
      </pc:sldChg>
      <pc:sldMasterChg chg="delSldLayout">
        <pc:chgData name="Zonghua Gu" userId="9a7e1853e1951ef5" providerId="LiveId" clId="{CF1FAA12-072C-4ED5-BA76-0FFFAEFDB88A}" dt="2026-01-31T16:20:47.045" v="0" actId="47"/>
        <pc:sldMasterMkLst>
          <pc:docMk/>
          <pc:sldMasterMk cId="0" sldId="2147483670"/>
        </pc:sldMasterMkLst>
        <pc:sldLayoutChg chg="del">
          <pc:chgData name="Zonghua Gu" userId="9a7e1853e1951ef5" providerId="LiveId" clId="{CF1FAA12-072C-4ED5-BA76-0FFFAEFDB88A}" dt="2026-01-31T16:20:47.045" v="0" actId="47"/>
          <pc:sldLayoutMkLst>
            <pc:docMk/>
            <pc:sldMasterMk cId="0" sldId="2147483670"/>
            <pc:sldLayoutMk cId="0" sldId="2147483658"/>
          </pc:sldLayoutMkLst>
        </pc:sldLayoutChg>
        <pc:sldLayoutChg chg="del">
          <pc:chgData name="Zonghua Gu" userId="9a7e1853e1951ef5" providerId="LiveId" clId="{CF1FAA12-072C-4ED5-BA76-0FFFAEFDB88A}" dt="2026-01-31T16:20:47.045" v="0" actId="47"/>
          <pc:sldLayoutMkLst>
            <pc:docMk/>
            <pc:sldMasterMk cId="0" sldId="2147483670"/>
            <pc:sldLayoutMk cId="1180794181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g2efee653596_1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6" name="Google Shape;1806;g2efee653596_1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okay so something I promised you last time which I didn't give to you so I'll give to you now is a brief preview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11:39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of all the things you're going to see so now that we've given you a highlevel overview of all the things you're going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11:45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see in the semester and some of the fundamental ideas behind networking how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11:50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network works why the network was designed the way that it is what a packet looks like when it travels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11:56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through the network we can now give you a whole preview of all all the things you're going to see it's basically just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12:01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little topics that you've already seen in these first three lectures but we'll dive into them in a lot more detail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g2efee653596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3" name="Google Shape;1813;g2efee653596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12:07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you've already done the first three lectures those were our basic networking principles we talked about the layers of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12:14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internet we talked about how packets get wrapped in headers as they work down the stack and unwrapped as they work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12:20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their way up we talked about all those design principles for why the internet is built the way that it is the end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12:26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end principle d multiplexing the narrow waist we talked about statistical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12:32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multiplexing and sharing of resources and last time we talked about what a link looks like how you measure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12:38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quality of a link and what a packet does when it travels through the network so once you have these three lectures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12:44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you're actually all set to start on Project one and project one really just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12:49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reminds you about all of these principles and asks you to build a neat little networking utility called trace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12:55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 so hope you're enjoying that so the next six lectures starting today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13:01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running for the next six lectures we are now going to zoom in on routing for a long time and this happens at layer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13:08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three so you can think about Layer Three is the one that connects all the routers and the hosts to each other on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13:14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entire global internet and we're going to answer a question about routing which is how do routers actually know how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13:20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forward packets when I receive a packet how do I know that okay this packet is for Bob and Bob is that way or this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13:27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 is for Alice and Al is that way how does the router know where everyone is that's the fundamental question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13:33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behind routing we're going to spend a lot of time answering that we'll also along the way see how you actually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13:39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assign addresses to end hosts turns out the network doesn't call them Alice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13:44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Bob we actually give them addresses and we'll talk about how you assign those and as a fun little Topic at the end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13:50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we'll see how you build an industrial strength router so we'll open up a router and see what all the hardware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13:56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components are and in this section you'll get a project to do which is all about routing so that's this entire unit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14:04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 think this is most of the stuff on the midterm but don't quote me 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14:09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that okay and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2efee653596_1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2efee653596_1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after that after the midterm maybe we switch into layer four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14:15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we start thinking about how do you actually build a reliable protocol so we showed you that little super simple Bob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14:21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sending 10 packets reliability protocol and some people pointed out there are some bugs in that that we didn't really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14:27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address and you're right a real solid state-of-the-art reli reliability protocol will take us four lectures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14:34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build so we're going to spend two lectures building TCP to ensure reliability and then we'll spend two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14:40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more lectures talking about congestion control so that we ensure that the NH host don't overload the links and these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14:47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are associated with the third project which is all about transport and implementing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14:52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TCP and then after that two lectures at layer seven so we're basically moving up the stack and at layer seven there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14:59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there's two applications that we'll talk about one of them is DNS one of them is HTTP I won't talk about them any further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15:05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here because you'll get them a lot later but there are examples of things that we can build on top of the network to make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15:12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everything work and once we've traveled across all the layers in lecture 16 and 17 we'll go back and clean up all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15:19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little missing pieces that we haven't really touched yet to form what we call the end to endend picture so by lecture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15:26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17 you will finally get the ultimate picture of what exactly happens when I send a packet from point A to point B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15:32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all of the missing pieces will get filled in we'll go through all these protocols that didn't really fit anywhere else but have to be covered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15:40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we'll also spend a little bit of time at Layer Two and everything will be connected up so we'll spend a lot of time at layers three four and seven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15:47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once we do that we'll Circle back and tie it all together in lectures 16 and 17 so that's the next part of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15:57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semester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g2efee653596_1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2efee653596_1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okay and then near the end we'll have some other topics that didn't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16:02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really fit in the networking stack but are still really important so in lectur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16:08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18 through 21 we're going to talk about data centers so this is a pretty new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16:13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topic it's pretty state-of-the-art and we're going to talk about building networks to connect up servers at a high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16:18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performance data center so to give you a little preview you can imagine I don't know Facebook or YouTube is probably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16:25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running this big building full of computers and those computers have to talk to each each other how do you build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16:30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networks in that special context lectures 18 19 20 and 21 will tell you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16:35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all about that that's pretty cool and then lectures 22 and 23 these are even newer additions to the class they're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16:42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called Beyond client server it's what we called it and basically we'll think about some newer applications at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16:48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internet such as like Google Docs where you want to communicate in a group and also how do you use networks to support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16:55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AI training that's pretty cool this I think is the newest lecture we've made apparently it's a Super Hot Topic in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17:00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research so look forward to that and then lectures 24 through 25 as a bit of a dessert will give you a quick tour of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17:08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Wireless so it turns out designing Wireless Communications comes with it comes with its own set of challenges so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17:15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we'll take a look at what it means If instead of thinking of links as wires we think of them as Wireless Communications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17:22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you get one lecture on wireless communication one lecture on cellular networks like how does your phone access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17:27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internet if even though it's not connected to anything we'll talk about that and we'll be all done so that's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17:34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overview of the semester a lot of the things that we're talk going to talk about you've already gotten a little preview of in the three lectures so far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17:43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but we'll just spend a lot of time digging into them and then at the end you get all these neat applications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17:49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things that are pretty hot now and active areas of research which is pretty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17:54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cool any thoughts on the brief preview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18:01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yeah data centers seem cool I hope uh I agree they're pretty cool I hope you think so as well when we get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18:10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 okay so to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a8a0962f5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36a8a0962f5_0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6a8a0962f5_0_3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2b2e9644b26_0_70:notes"/>
          <p:cNvSpPr txBox="1">
            <a:spLocks noGrp="1"/>
          </p:cNvSpPr>
          <p:nvPr>
            <p:ph type="body" idx="1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dirty="0"/>
              <a:t>Structure and Purpose</a:t>
            </a:r>
          </a:p>
          <a:p>
            <a:pPr indent="-3048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GB" dirty="0"/>
              <a:t>Trees: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indent="-3048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 to deal with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urier New"/>
              </a:rPr>
              <a:t>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urier New"/>
              </a:rPr>
              <a:t>awls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  <a:p>
            <a:pPr lvl="1" indent="-285750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 which nodes </a:t>
            </a:r>
            <a:r>
              <a:rPr lang="en-US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complete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string (shaded nodes)</a:t>
            </a:r>
          </a:p>
          <a:p>
            <a:pPr lvl="1"/>
            <a:endParaRPr lang="en-GB" dirty="0"/>
          </a:p>
          <a:p>
            <a:pPr lvl="2"/>
            <a:r>
              <a:rPr lang="en-GB" dirty="0"/>
              <a:t>General-purpose data structure for representing hierarchical relationships</a:t>
            </a:r>
          </a:p>
          <a:p>
            <a:pPr lvl="2"/>
            <a:r>
              <a:rPr lang="en-GB" dirty="0"/>
              <a:t>Each node can contain any type of data</a:t>
            </a:r>
          </a:p>
          <a:p>
            <a:pPr lvl="2"/>
            <a:r>
              <a:rPr lang="en-GB" dirty="0"/>
              <a:t>Nodes typically have a value and references to child nodes</a:t>
            </a:r>
          </a:p>
          <a:p>
            <a:pPr lvl="1"/>
            <a:r>
              <a:rPr lang="en-GB" dirty="0"/>
              <a:t>Tries:</a:t>
            </a:r>
          </a:p>
          <a:p>
            <a:pPr lvl="2"/>
            <a:r>
              <a:rPr lang="en-GB" dirty="0"/>
              <a:t>Specialized tree structure for storing and retrieving strings efficiently</a:t>
            </a:r>
          </a:p>
          <a:p>
            <a:pPr lvl="2"/>
            <a:r>
              <a:rPr lang="en-GB" dirty="0"/>
              <a:t>Also known as a prefix tree</a:t>
            </a:r>
          </a:p>
          <a:p>
            <a:pPr lvl="2"/>
            <a:r>
              <a:rPr lang="en-GB" dirty="0"/>
              <a:t>Optimized for operations on strings or sequences</a:t>
            </a:r>
          </a:p>
          <a:p>
            <a:r>
              <a:rPr lang="en-GB" dirty="0"/>
              <a:t>Node Content</a:t>
            </a:r>
          </a:p>
          <a:p>
            <a:pPr lvl="1"/>
            <a:r>
              <a:rPr lang="en-GB" dirty="0"/>
              <a:t>Trees:</a:t>
            </a:r>
          </a:p>
          <a:p>
            <a:pPr lvl="2"/>
            <a:r>
              <a:rPr lang="en-GB" dirty="0"/>
              <a:t>Each node stores a value directly</a:t>
            </a:r>
          </a:p>
          <a:p>
            <a:pPr lvl="1"/>
            <a:r>
              <a:rPr lang="en-GB" dirty="0"/>
              <a:t>Tries:</a:t>
            </a:r>
          </a:p>
          <a:p>
            <a:pPr lvl="2"/>
            <a:r>
              <a:rPr lang="en-GB" dirty="0"/>
              <a:t>Nodes typically do not store complete strings</a:t>
            </a:r>
          </a:p>
          <a:p>
            <a:pPr lvl="2"/>
            <a:r>
              <a:rPr lang="en-GB" dirty="0"/>
              <a:t>The path from the root to a node represents a string or prefix</a:t>
            </a:r>
          </a:p>
          <a:p>
            <a:pPr lvl="2"/>
            <a:r>
              <a:rPr lang="en-GB" dirty="0"/>
              <a:t>Characters are stored along the edges between nodes</a:t>
            </a:r>
            <a:endParaRPr lang="en-S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1" name="Google Shape;851;g2b2e9644b26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>
          <a:extLst>
            <a:ext uri="{FF2B5EF4-FFF2-40B4-BE49-F238E27FC236}">
              <a16:creationId xmlns:a16="http://schemas.microsoft.com/office/drawing/2014/main" id="{795FCD40-7DFF-73CC-621C-73318ACCE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2b2e9644b26_0_70:notes">
            <a:extLst>
              <a:ext uri="{FF2B5EF4-FFF2-40B4-BE49-F238E27FC236}">
                <a16:creationId xmlns:a16="http://schemas.microsoft.com/office/drawing/2014/main" id="{3B9FC5CD-EDA3-B2E3-447A-92B4250D9F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304800">
              <a:lnSpc>
                <a:spcPct val="100000"/>
              </a:lnSpc>
              <a:spcBef>
                <a:spcPts val="525"/>
              </a:spcBef>
              <a:buSzPts val="2800"/>
              <a:buFont typeface="Quattrocento Sans"/>
              <a:buChar char="●"/>
            </a:pPr>
            <a:r>
              <a:rPr lang="en-GB" dirty="0"/>
              <a:t>Structure and Purpose </a:t>
            </a:r>
            <a:r>
              <a:rPr lang="en-US" sz="2100" dirty="0"/>
              <a:t>A </a:t>
            </a:r>
            <a:r>
              <a:rPr lang="en-US" sz="2100" dirty="0" err="1"/>
              <a:t>trie</a:t>
            </a:r>
            <a:r>
              <a:rPr lang="en-US" sz="2100" dirty="0"/>
              <a:t> data structure implements the Dictionary and Set</a:t>
            </a:r>
          </a:p>
          <a:p>
            <a:pPr indent="-304800">
              <a:lnSpc>
                <a:spcPct val="100000"/>
              </a:lnSpc>
              <a:spcBef>
                <a:spcPts val="0"/>
              </a:spcBef>
              <a:buSzPts val="2800"/>
              <a:buFont typeface="Quattrocento Sans"/>
              <a:buChar char="●"/>
            </a:pPr>
            <a:r>
              <a:rPr lang="en-US" sz="2100" dirty="0"/>
              <a:t>Tries store sequential keys</a:t>
            </a:r>
          </a:p>
          <a:p>
            <a:pPr lvl="1" indent="-285750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n-US" dirty="0"/>
              <a:t>… which enables very efficient prefix operations like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findPrefix</a:t>
            </a:r>
            <a:endParaRPr lang="en-US" dirty="0"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>
              <a:lnSpc>
                <a:spcPct val="100000"/>
              </a:lnSpc>
              <a:spcBef>
                <a:spcPts val="0"/>
              </a:spcBef>
              <a:buSzPts val="2800"/>
              <a:buFont typeface="Quattrocento Sans"/>
              <a:buChar char="●"/>
            </a:pPr>
            <a:r>
              <a:rPr lang="en-US" sz="2100" dirty="0"/>
              <a:t>Tries have many different implementations</a:t>
            </a:r>
          </a:p>
          <a:p>
            <a:pPr lvl="1" indent="-285750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n-US" dirty="0"/>
              <a:t>Could store HashMap/</a:t>
            </a:r>
            <a:r>
              <a:rPr lang="en-US" dirty="0" err="1"/>
              <a:t>TreeMap</a:t>
            </a:r>
            <a:r>
              <a:rPr lang="en-US" dirty="0"/>
              <a:t>/any-dictionary within nodes</a:t>
            </a:r>
            <a:endParaRPr lang="en-US" sz="2175" dirty="0">
              <a:latin typeface="Courier New"/>
              <a:ea typeface="Courier New"/>
              <a:cs typeface="Courier New"/>
              <a:sym typeface="Courier New"/>
            </a:endParaRPr>
          </a:p>
          <a:p>
            <a:pPr indent="0">
              <a:buNone/>
            </a:pPr>
            <a:endParaRPr lang="en-US" sz="2100" dirty="0"/>
          </a:p>
          <a:p>
            <a:endParaRPr lang="en-GB" dirty="0"/>
          </a:p>
          <a:p>
            <a:pPr indent="-3048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GB" dirty="0"/>
              <a:t>Trees: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indent="-3048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 to deal with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urier New"/>
              </a:rPr>
              <a:t>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urier New"/>
              </a:rPr>
              <a:t>awls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  <a:p>
            <a:pPr lvl="1" indent="-285750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 which nodes </a:t>
            </a:r>
            <a:r>
              <a:rPr lang="en-US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complete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string (shaded nodes)</a:t>
            </a:r>
          </a:p>
          <a:p>
            <a:pPr lvl="1"/>
            <a:endParaRPr lang="en-GB" dirty="0"/>
          </a:p>
          <a:p>
            <a:pPr lvl="2"/>
            <a:r>
              <a:rPr lang="en-GB" dirty="0"/>
              <a:t>General-purpose data structure for representing hierarchical relationships</a:t>
            </a:r>
          </a:p>
          <a:p>
            <a:pPr lvl="2"/>
            <a:r>
              <a:rPr lang="en-GB" dirty="0"/>
              <a:t>Each node can contain any type of data</a:t>
            </a:r>
          </a:p>
          <a:p>
            <a:pPr lvl="2"/>
            <a:r>
              <a:rPr lang="en-GB" dirty="0"/>
              <a:t>Nodes typically have a value and references to child nodes</a:t>
            </a:r>
          </a:p>
          <a:p>
            <a:pPr lvl="1"/>
            <a:r>
              <a:rPr lang="en-GB" dirty="0"/>
              <a:t>Tries:</a:t>
            </a:r>
          </a:p>
          <a:p>
            <a:pPr lvl="2"/>
            <a:r>
              <a:rPr lang="en-GB" dirty="0"/>
              <a:t>Specialized tree structure for storing and retrieving strings efficiently</a:t>
            </a:r>
          </a:p>
          <a:p>
            <a:pPr lvl="2"/>
            <a:r>
              <a:rPr lang="en-GB" dirty="0"/>
              <a:t>Also known as a prefix tree</a:t>
            </a:r>
          </a:p>
          <a:p>
            <a:pPr lvl="2"/>
            <a:r>
              <a:rPr lang="en-GB" dirty="0"/>
              <a:t>Optimized for operations on strings or sequences</a:t>
            </a:r>
          </a:p>
          <a:p>
            <a:r>
              <a:rPr lang="en-GB" dirty="0"/>
              <a:t>Node Content</a:t>
            </a:r>
          </a:p>
          <a:p>
            <a:pPr lvl="1"/>
            <a:r>
              <a:rPr lang="en-GB" dirty="0"/>
              <a:t>Trees:</a:t>
            </a:r>
          </a:p>
          <a:p>
            <a:pPr lvl="2"/>
            <a:r>
              <a:rPr lang="en-GB" dirty="0"/>
              <a:t>Each node stores a value directly</a:t>
            </a:r>
          </a:p>
          <a:p>
            <a:pPr lvl="1"/>
            <a:r>
              <a:rPr lang="en-GB" dirty="0"/>
              <a:t>Tries:</a:t>
            </a:r>
          </a:p>
          <a:p>
            <a:pPr lvl="2"/>
            <a:r>
              <a:rPr lang="en-GB" dirty="0"/>
              <a:t>Nodes typically do not store complete strings</a:t>
            </a:r>
          </a:p>
          <a:p>
            <a:pPr lvl="2"/>
            <a:r>
              <a:rPr lang="en-GB" dirty="0"/>
              <a:t>The path from the root to a node represents a string or prefix</a:t>
            </a:r>
          </a:p>
          <a:p>
            <a:pPr lvl="2"/>
            <a:r>
              <a:rPr lang="en-GB" dirty="0"/>
              <a:t>Characters are stored along the edges between nodes</a:t>
            </a:r>
            <a:endParaRPr lang="en-S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1" name="Google Shape;851;g2b2e9644b26_0_70:notes">
            <a:extLst>
              <a:ext uri="{FF2B5EF4-FFF2-40B4-BE49-F238E27FC236}">
                <a16:creationId xmlns:a16="http://schemas.microsoft.com/office/drawing/2014/main" id="{98568C48-D2D8-104B-E754-3689FD933E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8008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2ea4bf034c0_0_20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2ea4bf034c0_0_20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fontAlgn="base">
              <a:buNone/>
            </a:pPr>
            <a:r>
              <a:rPr lang="nl-NL" altLang="zh-CN" dirty="0"/>
              <a:t>Example:</a:t>
            </a:r>
          </a:p>
          <a:p>
            <a:pPr marL="114300" indent="0" fontAlgn="base">
              <a:buNone/>
            </a:pPr>
            <a:r>
              <a:rPr lang="nl-NL" altLang="zh-CN" dirty="0"/>
              <a:t>Sender transmits</a:t>
            </a:r>
          </a:p>
          <a:p>
            <a:pPr lvl="1" fontAlgn="base"/>
            <a:r>
              <a:rPr lang="nl-NL" altLang="zh-CN" dirty="0"/>
              <a:t>Seq 1000</a:t>
            </a:r>
          </a:p>
          <a:p>
            <a:pPr lvl="1" fontAlgn="base"/>
            <a:r>
              <a:rPr lang="nl-NL" altLang="zh-CN" dirty="0"/>
              <a:t>Seq 2000</a:t>
            </a:r>
          </a:p>
          <a:p>
            <a:pPr lvl="1" fontAlgn="base"/>
            <a:r>
              <a:rPr lang="nl-NL" altLang="zh-CN" b="1" i="1" dirty="0"/>
              <a:t>Seq 3000 Dropped in flight</a:t>
            </a:r>
          </a:p>
          <a:p>
            <a:pPr lvl="1" fontAlgn="base"/>
            <a:r>
              <a:rPr lang="nl-NL" altLang="zh-CN" dirty="0"/>
              <a:t>Seq 4000</a:t>
            </a:r>
          </a:p>
          <a:p>
            <a:pPr lvl="1" fontAlgn="base"/>
            <a:r>
              <a:rPr lang="nl-NL" altLang="zh-CN" dirty="0"/>
              <a:t>Seq 5000</a:t>
            </a:r>
          </a:p>
          <a:p>
            <a:pPr lvl="1" fontAlgn="base"/>
            <a:r>
              <a:rPr lang="nl-NL" altLang="zh-CN" dirty="0"/>
              <a:t>Seq 6000</a:t>
            </a:r>
          </a:p>
          <a:p>
            <a:pPr marL="114300" indent="0" fontAlgn="base">
              <a:buNone/>
            </a:pPr>
            <a:r>
              <a:rPr lang="nl-NL" altLang="zh-CN" dirty="0"/>
              <a:t>Receiver acks:</a:t>
            </a:r>
          </a:p>
          <a:p>
            <a:pPr lvl="1" fontAlgn="base"/>
            <a:r>
              <a:rPr lang="nl-NL" altLang="zh-CN" dirty="0"/>
              <a:t>ACK 2000 (I have received up to Seq 1999, and am expecting Seq 2000)</a:t>
            </a:r>
          </a:p>
          <a:p>
            <a:pPr lvl="1" fontAlgn="base"/>
            <a:r>
              <a:rPr lang="nl-NL" altLang="zh-CN" dirty="0"/>
              <a:t>ACK 3000 (I have received up to Seq 2999, and am expecting Seq 2000)</a:t>
            </a:r>
          </a:p>
          <a:p>
            <a:pPr lvl="1" fontAlgn="base"/>
            <a:r>
              <a:rPr lang="nl-NL" altLang="zh-CN" dirty="0"/>
              <a:t>ACK 3000 (I have received up to Seq 2999, and am expecting Seq 2000)</a:t>
            </a:r>
          </a:p>
          <a:p>
            <a:pPr lvl="1" fontAlgn="base"/>
            <a:r>
              <a:rPr lang="nl-NL" altLang="zh-CN" dirty="0"/>
              <a:t>ACK 3000 (I have received up to Seq 2999, and am expecting Seq 2000)</a:t>
            </a:r>
          </a:p>
          <a:p>
            <a:pPr lvl="1" fontAlgn="base"/>
            <a:r>
              <a:rPr lang="nl-NL" altLang="zh-CN" dirty="0"/>
              <a:t>ACK 3000 (I have received up to Seq 2999, and am expecting Seq 2000)</a:t>
            </a:r>
          </a:p>
          <a:p>
            <a:pPr lvl="1" fontAlgn="base"/>
            <a:r>
              <a:rPr lang="nl-NL" altLang="zh-CN" dirty="0"/>
              <a:t>ACK 3000 (I have received up to Seq 2999, and am expecting Seq 2000)</a:t>
            </a:r>
          </a:p>
          <a:p>
            <a:pPr marL="114300" indent="0" fontAlgn="base">
              <a:buNone/>
            </a:pPr>
            <a:r>
              <a:rPr lang="nl-NL" altLang="zh-CN" dirty="0"/>
              <a:t>Duplicate ACKs indicate packet loss/reorder</a:t>
            </a:r>
          </a:p>
          <a:p>
            <a:pPr marL="114300" indent="0" fontAlgn="base">
              <a:buNone/>
            </a:pPr>
            <a:endParaRPr lang="nl-NL" altLang="zh-CN" dirty="0"/>
          </a:p>
          <a:p>
            <a:pPr marL="114300" indent="0" fontAlgn="base">
              <a:buNone/>
            </a:pPr>
            <a:endParaRPr lang="nl-NL" altLang="zh-CN" dirty="0"/>
          </a:p>
          <a:p>
            <a:pPr marL="114300" indent="0" fontAlgn="base">
              <a:buNone/>
            </a:pPr>
            <a:endParaRPr lang="nl-NL" altLang="zh-CN" dirty="0"/>
          </a:p>
          <a:p>
            <a:pPr marL="114300" indent="0" fontAlgn="base">
              <a:buNone/>
            </a:pPr>
            <a:endParaRPr lang="nl-NL" altLang="zh-CN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-US" altLang="zh-CN" dirty="0"/>
              <a:t>If we receive acks for 1, 2, 3, 4, 6, 7, 8, 9, we probably lost 5.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altLang="zh-CN" dirty="0"/>
              <a:t>Declare a packet lost if </a:t>
            </a:r>
            <a:r>
              <a:rPr lang="en-US" altLang="zh-CN" i="1" dirty="0"/>
              <a:t>k</a:t>
            </a:r>
            <a:r>
              <a:rPr lang="en-US" altLang="zh-CN" dirty="0"/>
              <a:t> subsequent packets are </a:t>
            </a:r>
            <a:r>
              <a:rPr lang="en-US" altLang="zh-CN" dirty="0" err="1"/>
              <a:t>acked</a:t>
            </a:r>
            <a:r>
              <a:rPr lang="en-US" altLang="zh-CN" dirty="0"/>
              <a:t>.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altLang="zh-CN" i="1" dirty="0"/>
              <a:t>k</a:t>
            </a:r>
            <a:r>
              <a:rPr lang="en-US" altLang="zh-CN" dirty="0"/>
              <a:t> = 3 is common.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/>
          </a:p>
          <a:p>
            <a:pPr marL="114300" indent="0" fontAlgn="base">
              <a:buNone/>
            </a:pPr>
            <a:endParaRPr lang="nl-NL" altLang="zh-CN" dirty="0"/>
          </a:p>
          <a:p>
            <a:endParaRPr lang="zh-CN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SECTION_TITLE_AND_DESCRIPTION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right">
  <p:cSld name="SECTION_TITLE_AND_DESCRIPTION_2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ubTitle" idx="1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left">
  <p:cSld name="SECTION_TITLE_AND_DESCRIPTION_2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">
  <p:cSld name="SECTION_TITLE_AND_DESCRIPTION_2_1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1">
  <p:cSld name="SECTION_TITLE_AND_DESCRIPTION_2_1_1_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Solution">
  <p:cSld name="SECTION_TITLE_AND_DESCRIPTION_2_1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_3">
  <p:cSld name="SECTION_TITLE_AND_DESCRIPTION_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2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lude">
  <p:cSld name="SECTION_TITLE_AND_DESCRIPTION_1_3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left">
  <p:cSld name="SECTION_TITLE_AND_DESCRIPTION_1_1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left, Heading">
  <p:cSld name="SECTION_TITLE_AND_DESCRIPTION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3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right">
  <p:cSld name="SECTION_TITLE_AND_DESCRIPTION_1_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2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6899595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1443-D73C-634A-A910-7320408C156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BE2B7-23DB-644D-89A2-CA3C2E8FE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68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1" r:id="rId21"/>
    <p:sldLayoutId id="2147483672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51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Links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Bandwidth and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Propagation Delay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Pipe Diagrams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Overloaded Links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Brief Preview of the Semester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9" name="Google Shape;1809;p51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Preview of the Semester</a:t>
            </a:r>
            <a:endParaRPr/>
          </a:p>
        </p:txBody>
      </p:sp>
      <p:sp>
        <p:nvSpPr>
          <p:cNvPr id="1810" name="Google Shape;1810;p51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3,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BA9653-4342-8C19-E6C1-B9A2184BB5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p5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Preview of the Semester</a:t>
            </a:r>
            <a:endParaRPr/>
          </a:p>
        </p:txBody>
      </p:sp>
      <p:sp>
        <p:nvSpPr>
          <p:cNvPr id="1816" name="Google Shape;1816;p5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Lectures 1–3: Networking Principles.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Layering and headers.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Design principles.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Links, life of a packet.</a:t>
            </a:r>
            <a:endParaRPr dirty="0">
              <a:solidFill>
                <a:schemeClr val="accent3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Lectures 4–9: Routing (Layer 3).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Routing: How do routers know where to forward packets?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Addressing: How do we address end hosts?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How do you build an industrial-strength router in </a:t>
            </a:r>
            <a:r>
              <a:rPr lang="en"/>
              <a:t>hardware?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54772D-03AC-7DC1-DB20-FD065FC1A4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5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Brief Preview of the Semester</a:t>
            </a:r>
            <a:endParaRPr/>
          </a:p>
        </p:txBody>
      </p:sp>
      <p:sp>
        <p:nvSpPr>
          <p:cNvPr id="1822" name="Google Shape;1822;p5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Lectures 10–13: Reliability (Layer 4).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TCP: How do end hosts communicate reliably?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Congestion control: How do we ensure end hosts don't overload the links?</a:t>
            </a:r>
            <a:endParaRPr dirty="0">
              <a:solidFill>
                <a:schemeClr val="accent3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Lectures 14–15: Applications (Layer 7).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DNS: How do we map names to addresses?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HTTP: How do we build applications on top of the network?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Lectures 16–17: End-to-End Picture.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ARP and DHCP: What happens when you join the network for the first time?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NAT: How do we make sure there's enough addresses for everybody?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TLS: How do we secure network connections against attackers?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DFB041-BB88-F60F-06EA-82433024A6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5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Brief Preview of the Semester</a:t>
            </a:r>
            <a:endParaRPr/>
          </a:p>
        </p:txBody>
      </p:sp>
      <p:sp>
        <p:nvSpPr>
          <p:cNvPr id="1828" name="Google Shape;1828;p5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Lectures 18–21: Datacenters.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build a network to connect servers in high-performance datacenters?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SDN: Can we centralize control to improve performance?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Host networking, RDMA: How can we optimize performance at the end hosts?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Lectures 22–23: Beyond Client-Server.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Multicast: How do we support group communication (e.g. Google Docs)?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Collectives: How do we design networks to support AI training?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Lectures 24–25: Wireless.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design wireless communication at Layers 1 and 2?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design cellular networks?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BA5E4F-72FD-8E87-821C-D117908127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g36a8a0962f5_0_3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8263" y="775191"/>
            <a:ext cx="6207473" cy="664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6a8a0962f5_0_39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2099" y="1473352"/>
            <a:ext cx="8452195" cy="90290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6a8a0962f5_0_39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Transmission Delay: Example</a:t>
            </a:r>
            <a:endParaRPr/>
          </a:p>
        </p:txBody>
      </p:sp>
      <p:sp>
        <p:nvSpPr>
          <p:cNvPr id="213" name="Google Shape;213;g36a8a0962f5_0_393"/>
          <p:cNvSpPr/>
          <p:nvPr/>
        </p:nvSpPr>
        <p:spPr>
          <a:xfrm rot="-5400000">
            <a:off x="4878325" y="1726513"/>
            <a:ext cx="580800" cy="3612900"/>
          </a:xfrm>
          <a:prstGeom prst="can">
            <a:avLst>
              <a:gd name="adj" fmla="val 25000"/>
            </a:avLst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14" name="Google Shape;214;g36a8a0962f5_0_393"/>
          <p:cNvGrpSpPr/>
          <p:nvPr/>
        </p:nvGrpSpPr>
        <p:grpSpPr>
          <a:xfrm>
            <a:off x="3048625" y="3242868"/>
            <a:ext cx="179700" cy="581004"/>
            <a:chOff x="2338450" y="3338450"/>
            <a:chExt cx="179700" cy="836700"/>
          </a:xfrm>
        </p:grpSpPr>
        <p:cxnSp>
          <p:nvCxnSpPr>
            <p:cNvPr id="215" name="Google Shape;215;g36a8a0962f5_0_393"/>
            <p:cNvCxnSpPr/>
            <p:nvPr/>
          </p:nvCxnSpPr>
          <p:spPr>
            <a:xfrm>
              <a:off x="2338450" y="33384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" name="Google Shape;216;g36a8a0962f5_0_393"/>
            <p:cNvCxnSpPr/>
            <p:nvPr/>
          </p:nvCxnSpPr>
          <p:spPr>
            <a:xfrm>
              <a:off x="2338450" y="41751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7" name="Google Shape;217;g36a8a0962f5_0_393"/>
            <p:cNvCxnSpPr/>
            <p:nvPr/>
          </p:nvCxnSpPr>
          <p:spPr>
            <a:xfrm rot="10800000">
              <a:off x="2428500" y="3338450"/>
              <a:ext cx="0" cy="8367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8" name="Google Shape;218;g36a8a0962f5_0_393"/>
          <p:cNvSpPr txBox="1"/>
          <p:nvPr/>
        </p:nvSpPr>
        <p:spPr>
          <a:xfrm>
            <a:off x="1870375" y="3289825"/>
            <a:ext cx="11070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Bandwidth = 4Mbps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19" name="Google Shape;219;g36a8a0962f5_0_393"/>
          <p:cNvGrpSpPr/>
          <p:nvPr/>
        </p:nvGrpSpPr>
        <p:grpSpPr>
          <a:xfrm rot="5400000">
            <a:off x="5105323" y="1322922"/>
            <a:ext cx="204624" cy="3473309"/>
            <a:chOff x="2338450" y="3338450"/>
            <a:chExt cx="179700" cy="836700"/>
          </a:xfrm>
        </p:grpSpPr>
        <p:cxnSp>
          <p:nvCxnSpPr>
            <p:cNvPr id="220" name="Google Shape;220;g36a8a0962f5_0_393"/>
            <p:cNvCxnSpPr/>
            <p:nvPr/>
          </p:nvCxnSpPr>
          <p:spPr>
            <a:xfrm>
              <a:off x="2338450" y="33384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" name="Google Shape;221;g36a8a0962f5_0_393"/>
            <p:cNvCxnSpPr/>
            <p:nvPr/>
          </p:nvCxnSpPr>
          <p:spPr>
            <a:xfrm>
              <a:off x="2338450" y="41751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" name="Google Shape;222;g36a8a0962f5_0_393"/>
            <p:cNvCxnSpPr/>
            <p:nvPr/>
          </p:nvCxnSpPr>
          <p:spPr>
            <a:xfrm rot="10800000">
              <a:off x="2428500" y="3338450"/>
              <a:ext cx="0" cy="8367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3" name="Google Shape;223;g36a8a0962f5_0_393"/>
          <p:cNvSpPr txBox="1"/>
          <p:nvPr/>
        </p:nvSpPr>
        <p:spPr>
          <a:xfrm>
            <a:off x="4425088" y="2757848"/>
            <a:ext cx="1565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Propagation Delay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g36a8a0962f5_0_393"/>
          <p:cNvSpPr txBox="1"/>
          <p:nvPr/>
        </p:nvSpPr>
        <p:spPr>
          <a:xfrm>
            <a:off x="3970375" y="3397923"/>
            <a:ext cx="23967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Capacity = Delay × Bandwidth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0920D3-DDC4-5A05-A1FE-31A2AA4ED4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830B7-A807-332F-F40E-81D85422D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Q. Link-State Routing 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B8DC3-AB3D-C99A-48EF-04207C68A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430" y="852158"/>
            <a:ext cx="4688690" cy="4014144"/>
          </a:xfrm>
        </p:spPr>
        <p:txBody>
          <a:bodyPr/>
          <a:lstStyle/>
          <a:p>
            <a:pPr marL="47625" indent="0">
              <a:buNone/>
            </a:pPr>
            <a:r>
              <a:rPr lang="en-US" sz="1500" dirty="0"/>
              <a:t>1.1 After convergence, what route does R7 think its packet will take to Host B?</a:t>
            </a:r>
          </a:p>
          <a:p>
            <a:pPr marL="47625" indent="0">
              <a:buNone/>
            </a:pPr>
            <a:r>
              <a:rPr lang="en-US" sz="1500" dirty="0"/>
              <a:t>ANS: R7 → R8 → R9 → R5 → B</a:t>
            </a:r>
          </a:p>
          <a:p>
            <a:pPr marL="47625" indent="0">
              <a:buNone/>
            </a:pPr>
            <a:r>
              <a:rPr lang="en-US" sz="1500" dirty="0"/>
              <a:t>EVENT: The R8-to-R9 link goes down.</a:t>
            </a:r>
          </a:p>
          <a:p>
            <a:pPr marL="47625" indent="0">
              <a:buNone/>
            </a:pPr>
            <a:r>
              <a:rPr lang="en-US" sz="1500" dirty="0"/>
              <a:t>1.2 R8 and R9 have recomputed their routes but have not yet sent updates to other routers. What route does R7 think its packet will take to Host B?</a:t>
            </a:r>
          </a:p>
          <a:p>
            <a:pPr marL="47625" indent="0">
              <a:buNone/>
            </a:pPr>
            <a:r>
              <a:rPr lang="en-US" sz="1500" dirty="0"/>
              <a:t>ANS: Same, R7 → R8 → R9 → R5 → B</a:t>
            </a:r>
          </a:p>
          <a:p>
            <a:pPr marL="47625" indent="0">
              <a:buNone/>
            </a:pPr>
            <a:r>
              <a:rPr lang="en-US" sz="1500" dirty="0"/>
              <a:t>1.3 What route does it actually take?</a:t>
            </a:r>
          </a:p>
          <a:p>
            <a:pPr marL="47625" indent="0">
              <a:buNone/>
            </a:pPr>
            <a:r>
              <a:rPr lang="en-US" sz="1500" dirty="0"/>
              <a:t>ANS: R7 → R8 → R4 → R5 → B</a:t>
            </a:r>
          </a:p>
          <a:p>
            <a:pPr marL="47625" indent="0">
              <a:buNone/>
            </a:pPr>
            <a:r>
              <a:rPr lang="en-US" sz="1500" dirty="0"/>
              <a:t>1.4 Assume all nodes are now aware of the new network state and have recomputed their routes. What route does a packet take from R3 to Host A?</a:t>
            </a:r>
          </a:p>
          <a:p>
            <a:pPr marL="47625" indent="0">
              <a:buNone/>
            </a:pPr>
            <a:r>
              <a:rPr lang="en-US" sz="1500" dirty="0"/>
              <a:t>ANS: R3 → R7 → R6 → R2 → R1 → 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99BF82-B920-E30E-ABFC-D5EE89455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639" y="1328414"/>
            <a:ext cx="3849809" cy="29462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1DC15B-FC73-3CBE-0F98-37D05B030825}"/>
              </a:ext>
            </a:extLst>
          </p:cNvPr>
          <p:cNvSpPr txBox="1"/>
          <p:nvPr/>
        </p:nvSpPr>
        <p:spPr>
          <a:xfrm>
            <a:off x="7536007" y="3805471"/>
            <a:ext cx="41549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249766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8791D-45BC-C1E5-671C-FC3606270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CE5F9-3115-B831-A7A6-42678D842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Q. Link-State Routing 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A4113-6553-7A32-25E4-E8BBD4374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430" y="852159"/>
            <a:ext cx="4688690" cy="4221893"/>
          </a:xfrm>
        </p:spPr>
        <p:txBody>
          <a:bodyPr/>
          <a:lstStyle/>
          <a:p>
            <a:pPr marL="47625" indent="0">
              <a:buNone/>
            </a:pPr>
            <a:r>
              <a:rPr lang="en-US" sz="1500" dirty="0"/>
              <a:t>EVENT: The cost of the R1-to-R2 link increases to 100.</a:t>
            </a:r>
          </a:p>
          <a:p>
            <a:pPr marL="47625" indent="0">
              <a:buNone/>
            </a:pPr>
            <a:r>
              <a:rPr lang="en-US" sz="1500" dirty="0"/>
              <a:t>1.5 R2 and R1 recompute their routes but have not yet sent updates to other routers. What route does R2 think its packet will take to Host A?</a:t>
            </a:r>
          </a:p>
          <a:p>
            <a:pPr marL="47625" indent="0">
              <a:buNone/>
            </a:pPr>
            <a:r>
              <a:rPr lang="en-US" sz="1500" dirty="0"/>
              <a:t>ANS: R2 → R6 → R7 → R3 → R1 → A</a:t>
            </a:r>
          </a:p>
          <a:p>
            <a:pPr marL="47625" indent="0">
              <a:buNone/>
            </a:pPr>
            <a:r>
              <a:rPr lang="en-US" sz="1500" dirty="0"/>
              <a:t>1.6 What route does it actually take?</a:t>
            </a:r>
          </a:p>
          <a:p>
            <a:pPr marL="47625" indent="0">
              <a:buNone/>
            </a:pPr>
            <a:r>
              <a:rPr lang="en-US" sz="1500" dirty="0"/>
              <a:t>ANS; R2 → R6 → R2 (loop)</a:t>
            </a:r>
          </a:p>
          <a:p>
            <a:pPr marL="47625" indent="0">
              <a:buNone/>
            </a:pPr>
            <a:r>
              <a:rPr lang="en-US" sz="1500" dirty="0"/>
              <a:t>1.7 Which additional routers must receive the routing updates and recompute their routes for all routers to be able to successfully send packets to Host A?</a:t>
            </a:r>
          </a:p>
          <a:p>
            <a:pPr marL="47625" indent="0">
              <a:buNone/>
            </a:pPr>
            <a:r>
              <a:rPr lang="en-US" sz="1500" dirty="0"/>
              <a:t>ANS; R3, R6, R7</a:t>
            </a:r>
          </a:p>
          <a:p>
            <a:pPr marL="47625" indent="0">
              <a:buNone/>
            </a:pPr>
            <a:r>
              <a:rPr lang="en-US" sz="1500" dirty="0"/>
              <a:t>1.8 All routers except R3 have received the routing updates and recomputed their routes. Which routers can successfully send packets to Host A?</a:t>
            </a:r>
          </a:p>
          <a:p>
            <a:pPr marL="47625" indent="0">
              <a:buNone/>
            </a:pPr>
            <a:r>
              <a:rPr lang="en-US" sz="1500" dirty="0"/>
              <a:t>ANS: None of the routers (except R1)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384A18-C52B-02CA-8393-EF64F921B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639" y="1328414"/>
            <a:ext cx="3849809" cy="29462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36DDA3-0454-6F22-8532-356FB99EBC01}"/>
              </a:ext>
            </a:extLst>
          </p:cNvPr>
          <p:cNvSpPr txBox="1"/>
          <p:nvPr/>
        </p:nvSpPr>
        <p:spPr>
          <a:xfrm>
            <a:off x="7536007" y="3805471"/>
            <a:ext cx="41549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335CA4-6DAB-93FB-4D6F-C39CEEC76A0C}"/>
              </a:ext>
            </a:extLst>
          </p:cNvPr>
          <p:cNvSpPr txBox="1"/>
          <p:nvPr/>
        </p:nvSpPr>
        <p:spPr>
          <a:xfrm>
            <a:off x="5431849" y="2370141"/>
            <a:ext cx="506870" cy="3231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C00000"/>
                </a:solidFill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3717419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56"/>
          <p:cNvSpPr txBox="1"/>
          <p:nvPr/>
        </p:nvSpPr>
        <p:spPr>
          <a:xfrm>
            <a:off x="3674872" y="1"/>
            <a:ext cx="1793925" cy="199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19" rIns="0" bIns="0" anchor="t" anchorCtr="0">
            <a:spAutoFit/>
          </a:bodyPr>
          <a:lstStyle/>
          <a:p>
            <a:pPr marL="19050"/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L02: Dictionary ADT, Tries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56"/>
          <p:cNvSpPr txBox="1">
            <a:spLocks noGrp="1"/>
          </p:cNvSpPr>
          <p:nvPr>
            <p:ph type="title"/>
          </p:nvPr>
        </p:nvSpPr>
        <p:spPr>
          <a:xfrm>
            <a:off x="431429" y="197458"/>
            <a:ext cx="8390250" cy="261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525" rIns="0" bIns="0" anchor="t" anchorCtr="0">
            <a:spAutoFit/>
          </a:bodyPr>
          <a:lstStyle/>
          <a:p>
            <a:pPr marL="19050">
              <a:lnSpc>
                <a:spcPct val="100000"/>
              </a:lnSpc>
            </a:pPr>
            <a:r>
              <a:rPr lang="en-US"/>
              <a:t>Trie: An Introduction</a:t>
            </a:r>
            <a:endParaRPr/>
          </a:p>
        </p:txBody>
      </p:sp>
      <p:sp>
        <p:nvSpPr>
          <p:cNvPr id="856" name="Google Shape;856;p56"/>
          <p:cNvSpPr txBox="1">
            <a:spLocks noGrp="1"/>
          </p:cNvSpPr>
          <p:nvPr>
            <p:ph type="body" idx="1"/>
          </p:nvPr>
        </p:nvSpPr>
        <p:spPr>
          <a:xfrm>
            <a:off x="152520" y="576931"/>
            <a:ext cx="8732120" cy="2615299"/>
          </a:xfrm>
          <a:prstGeom prst="rect">
            <a:avLst/>
          </a:prstGeom>
        </p:spPr>
        <p:txBody>
          <a:bodyPr spcFirstLastPara="1" wrap="square" lIns="33131" tIns="33131" rIns="33131" bIns="33131" anchor="t" anchorCtr="0">
            <a:spAutoFit/>
          </a:bodyPr>
          <a:lstStyle/>
          <a:p>
            <a:pPr indent="-309563">
              <a:spcBef>
                <a:spcPts val="0"/>
              </a:spcBef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 sz="1600" dirty="0"/>
              <a:t>Tries view its keys as:</a:t>
            </a:r>
          </a:p>
          <a:p>
            <a:pPr lvl="1" indent="-295275">
              <a:spcBef>
                <a:spcPts val="0"/>
              </a:spcBef>
              <a:buSzPts val="1800"/>
            </a:pPr>
            <a:r>
              <a:rPr lang="en-US" sz="1600" dirty="0"/>
              <a:t>Strings (a sequence of characters)</a:t>
            </a:r>
          </a:p>
          <a:p>
            <a:pPr lvl="1" indent="-295275">
              <a:spcBef>
                <a:spcPts val="0"/>
              </a:spcBef>
              <a:buSzPts val="1800"/>
            </a:pPr>
            <a:r>
              <a:rPr lang="en-US" sz="1600" dirty="0"/>
              <a:t>Many sequences share common prefixes</a:t>
            </a:r>
          </a:p>
          <a:p>
            <a:pPr indent="-304800">
              <a:spcBef>
                <a:spcPts val="0"/>
              </a:spcBef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 sz="1600" dirty="0"/>
              <a:t>Each level of the tree represents an index in the string</a:t>
            </a:r>
          </a:p>
          <a:p>
            <a:pPr lvl="1" indent="-285750">
              <a:spcBef>
                <a:spcPts val="0"/>
              </a:spcBef>
              <a:buSzPts val="1800"/>
            </a:pPr>
            <a:r>
              <a:rPr lang="en-US" sz="1600" dirty="0"/>
              <a:t>Children at that level represent possible characters at that index</a:t>
            </a:r>
          </a:p>
          <a:p>
            <a:pPr indent="-304800"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n-US" sz="1600" dirty="0"/>
              <a:t>This </a:t>
            </a:r>
            <a:r>
              <a:rPr lang="en-US" sz="1600" dirty="0" err="1"/>
              <a:t>trie</a:t>
            </a:r>
            <a:r>
              <a:rPr lang="en-US" sz="1600" dirty="0"/>
              <a:t> stores the set of strings: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awls, a, sad, same, sap,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sam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</a:t>
            </a:r>
          </a:p>
          <a:p>
            <a:pPr lvl="1" indent="-304800">
              <a:spcBef>
                <a:spcPts val="0"/>
              </a:spcBef>
              <a:buSzPts val="1800"/>
            </a:pPr>
            <a:r>
              <a:rPr lang="en-US" sz="1600" dirty="0"/>
              <a:t>Nodes that </a:t>
            </a:r>
            <a:r>
              <a:rPr lang="en-US" sz="1600" i="1" dirty="0"/>
              <a:t>complete </a:t>
            </a:r>
            <a:r>
              <a:rPr lang="en-US" sz="1600" dirty="0"/>
              <a:t>a string are marked in purple</a:t>
            </a:r>
            <a:endParaRPr lang="en-US" sz="1600" dirty="0">
              <a:sym typeface="Courier New"/>
            </a:endParaRPr>
          </a:p>
          <a:p>
            <a:pPr indent="-304800"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n-US" sz="1600" dirty="0"/>
              <a:t>Two ways to fail a contains() check: </a:t>
            </a:r>
          </a:p>
          <a:p>
            <a:pPr lvl="1" indent="-304800">
              <a:spcBef>
                <a:spcPts val="0"/>
              </a:spcBef>
              <a:buSzPts val="1800"/>
            </a:pPr>
            <a:r>
              <a:rPr lang="en-US" sz="1600" dirty="0"/>
              <a:t>If we fall off the tree, or if the final node isn’t purple (not a key)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857" name="Google Shape;857;p56"/>
          <p:cNvGrpSpPr/>
          <p:nvPr/>
        </p:nvGrpSpPr>
        <p:grpSpPr>
          <a:xfrm>
            <a:off x="6873496" y="1851776"/>
            <a:ext cx="2011144" cy="2551574"/>
            <a:chOff x="8139948" y="2636947"/>
            <a:chExt cx="2680721" cy="3402098"/>
          </a:xfrm>
        </p:grpSpPr>
        <p:sp>
          <p:nvSpPr>
            <p:cNvPr id="858" name="Google Shape;858;p56"/>
            <p:cNvSpPr/>
            <p:nvPr/>
          </p:nvSpPr>
          <p:spPr>
            <a:xfrm>
              <a:off x="9628017" y="4163465"/>
              <a:ext cx="486054" cy="476301"/>
            </a:xfrm>
            <a:custGeom>
              <a:avLst/>
              <a:gdLst/>
              <a:ahLst/>
              <a:cxnLst/>
              <a:rect l="l" t="t" r="r" b="b"/>
              <a:pathLst>
                <a:path w="325120" h="325120" extrusionOk="0">
                  <a:moveTo>
                    <a:pt x="0" y="162306"/>
                  </a:moveTo>
                  <a:lnTo>
                    <a:pt x="5796" y="119150"/>
                  </a:lnTo>
                  <a:lnTo>
                    <a:pt x="22154" y="80376"/>
                  </a:lnTo>
                  <a:lnTo>
                    <a:pt x="47529" y="47529"/>
                  </a:lnTo>
                  <a:lnTo>
                    <a:pt x="80376" y="22154"/>
                  </a:lnTo>
                  <a:lnTo>
                    <a:pt x="119150" y="5796"/>
                  </a:lnTo>
                  <a:lnTo>
                    <a:pt x="162306" y="0"/>
                  </a:lnTo>
                  <a:lnTo>
                    <a:pt x="205461" y="5796"/>
                  </a:lnTo>
                  <a:lnTo>
                    <a:pt x="244235" y="22154"/>
                  </a:lnTo>
                  <a:lnTo>
                    <a:pt x="277082" y="47529"/>
                  </a:lnTo>
                  <a:lnTo>
                    <a:pt x="302457" y="80376"/>
                  </a:lnTo>
                  <a:lnTo>
                    <a:pt x="318815" y="119150"/>
                  </a:lnTo>
                  <a:lnTo>
                    <a:pt x="324612" y="162306"/>
                  </a:lnTo>
                  <a:lnTo>
                    <a:pt x="318815" y="205461"/>
                  </a:lnTo>
                  <a:lnTo>
                    <a:pt x="302457" y="244235"/>
                  </a:lnTo>
                  <a:lnTo>
                    <a:pt x="277082" y="277082"/>
                  </a:lnTo>
                  <a:lnTo>
                    <a:pt x="244235" y="302457"/>
                  </a:lnTo>
                  <a:lnTo>
                    <a:pt x="205461" y="318815"/>
                  </a:lnTo>
                  <a:lnTo>
                    <a:pt x="162306" y="324612"/>
                  </a:lnTo>
                  <a:lnTo>
                    <a:pt x="119150" y="318815"/>
                  </a:lnTo>
                  <a:lnTo>
                    <a:pt x="80376" y="302457"/>
                  </a:lnTo>
                  <a:lnTo>
                    <a:pt x="47529" y="277082"/>
                  </a:lnTo>
                  <a:lnTo>
                    <a:pt x="22154" y="244235"/>
                  </a:lnTo>
                  <a:lnTo>
                    <a:pt x="5796" y="205461"/>
                  </a:lnTo>
                  <a:lnTo>
                    <a:pt x="0" y="162306"/>
                  </a:lnTo>
                  <a:close/>
                </a:path>
              </a:pathLst>
            </a:custGeom>
            <a:noFill/>
            <a:ln w="198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175"/>
            </a:p>
          </p:txBody>
        </p:sp>
        <p:sp>
          <p:nvSpPr>
            <p:cNvPr id="859" name="Google Shape;859;p56"/>
            <p:cNvSpPr txBox="1"/>
            <p:nvPr/>
          </p:nvSpPr>
          <p:spPr>
            <a:xfrm>
              <a:off x="9782406" y="4201384"/>
              <a:ext cx="193801" cy="360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6275" rIns="0" bIns="0" anchor="t" anchorCtr="0">
              <a:spAutoFit/>
            </a:bodyPr>
            <a:lstStyle/>
            <a:p>
              <a:pPr marL="19050"/>
              <a:r>
                <a:rPr lang="en-US" sz="1650"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sz="165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860" name="Google Shape;860;p56"/>
            <p:cNvGrpSpPr/>
            <p:nvPr/>
          </p:nvGrpSpPr>
          <p:grpSpPr>
            <a:xfrm>
              <a:off x="9628076" y="4862801"/>
              <a:ext cx="486152" cy="476756"/>
              <a:chOff x="5290565" y="3637025"/>
              <a:chExt cx="325120" cy="325120"/>
            </a:xfrm>
          </p:grpSpPr>
          <p:sp>
            <p:nvSpPr>
              <p:cNvPr id="861" name="Google Shape;861;p56"/>
              <p:cNvSpPr/>
              <p:nvPr/>
            </p:nvSpPr>
            <p:spPr>
              <a:xfrm>
                <a:off x="5290565" y="3637025"/>
                <a:ext cx="325120" cy="325120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20" extrusionOk="0">
                    <a:moveTo>
                      <a:pt x="162306" y="0"/>
                    </a:moveTo>
                    <a:lnTo>
                      <a:pt x="119150" y="5796"/>
                    </a:lnTo>
                    <a:lnTo>
                      <a:pt x="80376" y="22154"/>
                    </a:lnTo>
                    <a:lnTo>
                      <a:pt x="47529" y="47529"/>
                    </a:lnTo>
                    <a:lnTo>
                      <a:pt x="22154" y="80376"/>
                    </a:lnTo>
                    <a:lnTo>
                      <a:pt x="5796" y="119150"/>
                    </a:lnTo>
                    <a:lnTo>
                      <a:pt x="0" y="162306"/>
                    </a:lnTo>
                    <a:lnTo>
                      <a:pt x="5796" y="205452"/>
                    </a:lnTo>
                    <a:lnTo>
                      <a:pt x="22154" y="244223"/>
                    </a:lnTo>
                    <a:lnTo>
                      <a:pt x="47529" y="277071"/>
                    </a:lnTo>
                    <a:lnTo>
                      <a:pt x="80376" y="302450"/>
                    </a:lnTo>
                    <a:lnTo>
                      <a:pt x="119150" y="318811"/>
                    </a:lnTo>
                    <a:lnTo>
                      <a:pt x="162306" y="324609"/>
                    </a:lnTo>
                    <a:lnTo>
                      <a:pt x="205461" y="318811"/>
                    </a:lnTo>
                    <a:lnTo>
                      <a:pt x="244235" y="302450"/>
                    </a:lnTo>
                    <a:lnTo>
                      <a:pt x="277082" y="277071"/>
                    </a:lnTo>
                    <a:lnTo>
                      <a:pt x="302457" y="244223"/>
                    </a:lnTo>
                    <a:lnTo>
                      <a:pt x="318815" y="205452"/>
                    </a:lnTo>
                    <a:lnTo>
                      <a:pt x="324612" y="162306"/>
                    </a:lnTo>
                    <a:lnTo>
                      <a:pt x="318815" y="119150"/>
                    </a:lnTo>
                    <a:lnTo>
                      <a:pt x="302457" y="80376"/>
                    </a:lnTo>
                    <a:lnTo>
                      <a:pt x="277082" y="47529"/>
                    </a:lnTo>
                    <a:lnTo>
                      <a:pt x="244235" y="22154"/>
                    </a:lnTo>
                    <a:lnTo>
                      <a:pt x="205461" y="5796"/>
                    </a:lnTo>
                    <a:lnTo>
                      <a:pt x="162306" y="0"/>
                    </a:lnTo>
                    <a:close/>
                  </a:path>
                </a:pathLst>
              </a:custGeom>
              <a:solidFill>
                <a:srgbClr val="D6D6F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  <p:sp>
            <p:nvSpPr>
              <p:cNvPr id="862" name="Google Shape;862;p56"/>
              <p:cNvSpPr/>
              <p:nvPr/>
            </p:nvSpPr>
            <p:spPr>
              <a:xfrm>
                <a:off x="5290565" y="3637025"/>
                <a:ext cx="325120" cy="325120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20" extrusionOk="0">
                    <a:moveTo>
                      <a:pt x="0" y="162306"/>
                    </a:moveTo>
                    <a:lnTo>
                      <a:pt x="5796" y="119150"/>
                    </a:lnTo>
                    <a:lnTo>
                      <a:pt x="22154" y="80376"/>
                    </a:lnTo>
                    <a:lnTo>
                      <a:pt x="47529" y="47529"/>
                    </a:lnTo>
                    <a:lnTo>
                      <a:pt x="80376" y="22154"/>
                    </a:lnTo>
                    <a:lnTo>
                      <a:pt x="119150" y="5796"/>
                    </a:lnTo>
                    <a:lnTo>
                      <a:pt x="162306" y="0"/>
                    </a:lnTo>
                    <a:lnTo>
                      <a:pt x="205461" y="5796"/>
                    </a:lnTo>
                    <a:lnTo>
                      <a:pt x="244235" y="22154"/>
                    </a:lnTo>
                    <a:lnTo>
                      <a:pt x="277082" y="47529"/>
                    </a:lnTo>
                    <a:lnTo>
                      <a:pt x="302457" y="80376"/>
                    </a:lnTo>
                    <a:lnTo>
                      <a:pt x="318815" y="119150"/>
                    </a:lnTo>
                    <a:lnTo>
                      <a:pt x="324612" y="162306"/>
                    </a:lnTo>
                    <a:lnTo>
                      <a:pt x="318815" y="205452"/>
                    </a:lnTo>
                    <a:lnTo>
                      <a:pt x="302457" y="244223"/>
                    </a:lnTo>
                    <a:lnTo>
                      <a:pt x="277082" y="277071"/>
                    </a:lnTo>
                    <a:lnTo>
                      <a:pt x="244235" y="302450"/>
                    </a:lnTo>
                    <a:lnTo>
                      <a:pt x="205461" y="318811"/>
                    </a:lnTo>
                    <a:lnTo>
                      <a:pt x="162306" y="324609"/>
                    </a:lnTo>
                    <a:lnTo>
                      <a:pt x="119150" y="318811"/>
                    </a:lnTo>
                    <a:lnTo>
                      <a:pt x="80376" y="302450"/>
                    </a:lnTo>
                    <a:lnTo>
                      <a:pt x="47529" y="277071"/>
                    </a:lnTo>
                    <a:lnTo>
                      <a:pt x="22154" y="244223"/>
                    </a:lnTo>
                    <a:lnTo>
                      <a:pt x="5796" y="205452"/>
                    </a:lnTo>
                    <a:lnTo>
                      <a:pt x="0" y="162306"/>
                    </a:lnTo>
                    <a:close/>
                  </a:path>
                </a:pathLst>
              </a:custGeom>
              <a:noFill/>
              <a:ln w="198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</p:grpSp>
        <p:sp>
          <p:nvSpPr>
            <p:cNvPr id="863" name="Google Shape;863;p56"/>
            <p:cNvSpPr txBox="1"/>
            <p:nvPr/>
          </p:nvSpPr>
          <p:spPr>
            <a:xfrm>
              <a:off x="9782406" y="4900973"/>
              <a:ext cx="192899" cy="360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6275" rIns="0" bIns="0" anchor="t" anchorCtr="0">
              <a:spAutoFit/>
            </a:bodyPr>
            <a:lstStyle/>
            <a:p>
              <a:pPr marL="19050"/>
              <a:r>
                <a:rPr lang="en-US" sz="1650">
                  <a:latin typeface="Courier New"/>
                  <a:ea typeface="Courier New"/>
                  <a:cs typeface="Courier New"/>
                  <a:sym typeface="Courier New"/>
                </a:rPr>
                <a:t>m</a:t>
              </a:r>
              <a:endParaRPr sz="165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864" name="Google Shape;864;p56"/>
            <p:cNvGrpSpPr/>
            <p:nvPr/>
          </p:nvGrpSpPr>
          <p:grpSpPr>
            <a:xfrm>
              <a:off x="8921638" y="4862801"/>
              <a:ext cx="486152" cy="476756"/>
              <a:chOff x="4818126" y="3637025"/>
              <a:chExt cx="325120" cy="325120"/>
            </a:xfrm>
          </p:grpSpPr>
          <p:sp>
            <p:nvSpPr>
              <p:cNvPr id="865" name="Google Shape;865;p56"/>
              <p:cNvSpPr/>
              <p:nvPr/>
            </p:nvSpPr>
            <p:spPr>
              <a:xfrm>
                <a:off x="4818126" y="3637025"/>
                <a:ext cx="325120" cy="325120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20" extrusionOk="0">
                    <a:moveTo>
                      <a:pt x="162306" y="0"/>
                    </a:moveTo>
                    <a:lnTo>
                      <a:pt x="119150" y="5796"/>
                    </a:lnTo>
                    <a:lnTo>
                      <a:pt x="80376" y="22154"/>
                    </a:lnTo>
                    <a:lnTo>
                      <a:pt x="47529" y="47529"/>
                    </a:lnTo>
                    <a:lnTo>
                      <a:pt x="22154" y="80376"/>
                    </a:lnTo>
                    <a:lnTo>
                      <a:pt x="5796" y="119150"/>
                    </a:lnTo>
                    <a:lnTo>
                      <a:pt x="0" y="162306"/>
                    </a:lnTo>
                    <a:lnTo>
                      <a:pt x="5796" y="205452"/>
                    </a:lnTo>
                    <a:lnTo>
                      <a:pt x="22154" y="244223"/>
                    </a:lnTo>
                    <a:lnTo>
                      <a:pt x="47529" y="277071"/>
                    </a:lnTo>
                    <a:lnTo>
                      <a:pt x="80376" y="302450"/>
                    </a:lnTo>
                    <a:lnTo>
                      <a:pt x="119150" y="318811"/>
                    </a:lnTo>
                    <a:lnTo>
                      <a:pt x="162306" y="324609"/>
                    </a:lnTo>
                    <a:lnTo>
                      <a:pt x="205461" y="318811"/>
                    </a:lnTo>
                    <a:lnTo>
                      <a:pt x="244235" y="302450"/>
                    </a:lnTo>
                    <a:lnTo>
                      <a:pt x="277082" y="277071"/>
                    </a:lnTo>
                    <a:lnTo>
                      <a:pt x="302457" y="244223"/>
                    </a:lnTo>
                    <a:lnTo>
                      <a:pt x="318815" y="205452"/>
                    </a:lnTo>
                    <a:lnTo>
                      <a:pt x="324612" y="162306"/>
                    </a:lnTo>
                    <a:lnTo>
                      <a:pt x="318815" y="119150"/>
                    </a:lnTo>
                    <a:lnTo>
                      <a:pt x="302457" y="80376"/>
                    </a:lnTo>
                    <a:lnTo>
                      <a:pt x="277082" y="47529"/>
                    </a:lnTo>
                    <a:lnTo>
                      <a:pt x="244235" y="22154"/>
                    </a:lnTo>
                    <a:lnTo>
                      <a:pt x="205461" y="5796"/>
                    </a:lnTo>
                    <a:lnTo>
                      <a:pt x="162306" y="0"/>
                    </a:lnTo>
                    <a:close/>
                  </a:path>
                </a:pathLst>
              </a:custGeom>
              <a:solidFill>
                <a:srgbClr val="D6D6F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  <p:sp>
            <p:nvSpPr>
              <p:cNvPr id="866" name="Google Shape;866;p56"/>
              <p:cNvSpPr/>
              <p:nvPr/>
            </p:nvSpPr>
            <p:spPr>
              <a:xfrm>
                <a:off x="4818126" y="3637025"/>
                <a:ext cx="325120" cy="325120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20" extrusionOk="0">
                    <a:moveTo>
                      <a:pt x="0" y="162306"/>
                    </a:moveTo>
                    <a:lnTo>
                      <a:pt x="5796" y="119150"/>
                    </a:lnTo>
                    <a:lnTo>
                      <a:pt x="22154" y="80376"/>
                    </a:lnTo>
                    <a:lnTo>
                      <a:pt x="47529" y="47529"/>
                    </a:lnTo>
                    <a:lnTo>
                      <a:pt x="80376" y="22154"/>
                    </a:lnTo>
                    <a:lnTo>
                      <a:pt x="119150" y="5796"/>
                    </a:lnTo>
                    <a:lnTo>
                      <a:pt x="162306" y="0"/>
                    </a:lnTo>
                    <a:lnTo>
                      <a:pt x="205461" y="5796"/>
                    </a:lnTo>
                    <a:lnTo>
                      <a:pt x="244235" y="22154"/>
                    </a:lnTo>
                    <a:lnTo>
                      <a:pt x="277082" y="47529"/>
                    </a:lnTo>
                    <a:lnTo>
                      <a:pt x="302457" y="80376"/>
                    </a:lnTo>
                    <a:lnTo>
                      <a:pt x="318815" y="119150"/>
                    </a:lnTo>
                    <a:lnTo>
                      <a:pt x="324612" y="162306"/>
                    </a:lnTo>
                    <a:lnTo>
                      <a:pt x="318815" y="205452"/>
                    </a:lnTo>
                    <a:lnTo>
                      <a:pt x="302457" y="244223"/>
                    </a:lnTo>
                    <a:lnTo>
                      <a:pt x="277082" y="277071"/>
                    </a:lnTo>
                    <a:lnTo>
                      <a:pt x="244235" y="302450"/>
                    </a:lnTo>
                    <a:lnTo>
                      <a:pt x="205461" y="318811"/>
                    </a:lnTo>
                    <a:lnTo>
                      <a:pt x="162306" y="324609"/>
                    </a:lnTo>
                    <a:lnTo>
                      <a:pt x="119150" y="318811"/>
                    </a:lnTo>
                    <a:lnTo>
                      <a:pt x="80376" y="302450"/>
                    </a:lnTo>
                    <a:lnTo>
                      <a:pt x="47529" y="277071"/>
                    </a:lnTo>
                    <a:lnTo>
                      <a:pt x="22154" y="244223"/>
                    </a:lnTo>
                    <a:lnTo>
                      <a:pt x="5796" y="205452"/>
                    </a:lnTo>
                    <a:lnTo>
                      <a:pt x="0" y="162306"/>
                    </a:lnTo>
                    <a:close/>
                  </a:path>
                </a:pathLst>
              </a:custGeom>
              <a:noFill/>
              <a:ln w="198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</p:grpSp>
        <p:sp>
          <p:nvSpPr>
            <p:cNvPr id="867" name="Google Shape;867;p56"/>
            <p:cNvSpPr txBox="1"/>
            <p:nvPr/>
          </p:nvSpPr>
          <p:spPr>
            <a:xfrm>
              <a:off x="9076543" y="4900973"/>
              <a:ext cx="192899" cy="360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6275" rIns="0" bIns="0" anchor="t" anchorCtr="0">
              <a:spAutoFit/>
            </a:bodyPr>
            <a:lstStyle/>
            <a:p>
              <a:pPr marL="19050"/>
              <a:r>
                <a:rPr lang="en-US" sz="1650">
                  <a:latin typeface="Courier New"/>
                  <a:ea typeface="Courier New"/>
                  <a:cs typeface="Courier New"/>
                  <a:sym typeface="Courier New"/>
                </a:rPr>
                <a:t>d</a:t>
              </a:r>
              <a:endParaRPr sz="165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868" name="Google Shape;868;p56"/>
            <p:cNvGrpSpPr/>
            <p:nvPr/>
          </p:nvGrpSpPr>
          <p:grpSpPr>
            <a:xfrm>
              <a:off x="10334517" y="4862801"/>
              <a:ext cx="486152" cy="476756"/>
              <a:chOff x="5763006" y="3637025"/>
              <a:chExt cx="325120" cy="325120"/>
            </a:xfrm>
          </p:grpSpPr>
          <p:sp>
            <p:nvSpPr>
              <p:cNvPr id="869" name="Google Shape;869;p56"/>
              <p:cNvSpPr/>
              <p:nvPr/>
            </p:nvSpPr>
            <p:spPr>
              <a:xfrm>
                <a:off x="5763006" y="3637025"/>
                <a:ext cx="325120" cy="325120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20" extrusionOk="0">
                    <a:moveTo>
                      <a:pt x="162306" y="0"/>
                    </a:moveTo>
                    <a:lnTo>
                      <a:pt x="119150" y="5796"/>
                    </a:lnTo>
                    <a:lnTo>
                      <a:pt x="80376" y="22154"/>
                    </a:lnTo>
                    <a:lnTo>
                      <a:pt x="47529" y="47529"/>
                    </a:lnTo>
                    <a:lnTo>
                      <a:pt x="22154" y="80376"/>
                    </a:lnTo>
                    <a:lnTo>
                      <a:pt x="5796" y="119150"/>
                    </a:lnTo>
                    <a:lnTo>
                      <a:pt x="0" y="162306"/>
                    </a:lnTo>
                    <a:lnTo>
                      <a:pt x="5796" y="205452"/>
                    </a:lnTo>
                    <a:lnTo>
                      <a:pt x="22154" y="244223"/>
                    </a:lnTo>
                    <a:lnTo>
                      <a:pt x="47529" y="277071"/>
                    </a:lnTo>
                    <a:lnTo>
                      <a:pt x="80376" y="302450"/>
                    </a:lnTo>
                    <a:lnTo>
                      <a:pt x="119150" y="318811"/>
                    </a:lnTo>
                    <a:lnTo>
                      <a:pt x="162306" y="324609"/>
                    </a:lnTo>
                    <a:lnTo>
                      <a:pt x="205461" y="318811"/>
                    </a:lnTo>
                    <a:lnTo>
                      <a:pt x="244235" y="302450"/>
                    </a:lnTo>
                    <a:lnTo>
                      <a:pt x="277082" y="277071"/>
                    </a:lnTo>
                    <a:lnTo>
                      <a:pt x="302457" y="244223"/>
                    </a:lnTo>
                    <a:lnTo>
                      <a:pt x="318815" y="205452"/>
                    </a:lnTo>
                    <a:lnTo>
                      <a:pt x="324612" y="162306"/>
                    </a:lnTo>
                    <a:lnTo>
                      <a:pt x="318815" y="119150"/>
                    </a:lnTo>
                    <a:lnTo>
                      <a:pt x="302457" y="80376"/>
                    </a:lnTo>
                    <a:lnTo>
                      <a:pt x="277082" y="47529"/>
                    </a:lnTo>
                    <a:lnTo>
                      <a:pt x="244235" y="22154"/>
                    </a:lnTo>
                    <a:lnTo>
                      <a:pt x="205461" y="5796"/>
                    </a:lnTo>
                    <a:lnTo>
                      <a:pt x="162306" y="0"/>
                    </a:lnTo>
                    <a:close/>
                  </a:path>
                </a:pathLst>
              </a:custGeom>
              <a:solidFill>
                <a:srgbClr val="D6D6F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  <p:sp>
            <p:nvSpPr>
              <p:cNvPr id="870" name="Google Shape;870;p56"/>
              <p:cNvSpPr/>
              <p:nvPr/>
            </p:nvSpPr>
            <p:spPr>
              <a:xfrm>
                <a:off x="5763006" y="3637025"/>
                <a:ext cx="325120" cy="325120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20" extrusionOk="0">
                    <a:moveTo>
                      <a:pt x="0" y="162306"/>
                    </a:moveTo>
                    <a:lnTo>
                      <a:pt x="5796" y="119150"/>
                    </a:lnTo>
                    <a:lnTo>
                      <a:pt x="22154" y="80376"/>
                    </a:lnTo>
                    <a:lnTo>
                      <a:pt x="47529" y="47529"/>
                    </a:lnTo>
                    <a:lnTo>
                      <a:pt x="80376" y="22154"/>
                    </a:lnTo>
                    <a:lnTo>
                      <a:pt x="119150" y="5796"/>
                    </a:lnTo>
                    <a:lnTo>
                      <a:pt x="162306" y="0"/>
                    </a:lnTo>
                    <a:lnTo>
                      <a:pt x="205461" y="5796"/>
                    </a:lnTo>
                    <a:lnTo>
                      <a:pt x="244235" y="22154"/>
                    </a:lnTo>
                    <a:lnTo>
                      <a:pt x="277082" y="47529"/>
                    </a:lnTo>
                    <a:lnTo>
                      <a:pt x="302457" y="80376"/>
                    </a:lnTo>
                    <a:lnTo>
                      <a:pt x="318815" y="119150"/>
                    </a:lnTo>
                    <a:lnTo>
                      <a:pt x="324612" y="162306"/>
                    </a:lnTo>
                    <a:lnTo>
                      <a:pt x="318815" y="205452"/>
                    </a:lnTo>
                    <a:lnTo>
                      <a:pt x="302457" y="244223"/>
                    </a:lnTo>
                    <a:lnTo>
                      <a:pt x="277082" y="277071"/>
                    </a:lnTo>
                    <a:lnTo>
                      <a:pt x="244235" y="302450"/>
                    </a:lnTo>
                    <a:lnTo>
                      <a:pt x="205461" y="318811"/>
                    </a:lnTo>
                    <a:lnTo>
                      <a:pt x="162306" y="324609"/>
                    </a:lnTo>
                    <a:lnTo>
                      <a:pt x="119150" y="318811"/>
                    </a:lnTo>
                    <a:lnTo>
                      <a:pt x="80376" y="302450"/>
                    </a:lnTo>
                    <a:lnTo>
                      <a:pt x="47529" y="277071"/>
                    </a:lnTo>
                    <a:lnTo>
                      <a:pt x="22154" y="244223"/>
                    </a:lnTo>
                    <a:lnTo>
                      <a:pt x="5796" y="205452"/>
                    </a:lnTo>
                    <a:lnTo>
                      <a:pt x="0" y="162306"/>
                    </a:lnTo>
                    <a:close/>
                  </a:path>
                </a:pathLst>
              </a:custGeom>
              <a:noFill/>
              <a:ln w="198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</p:grpSp>
        <p:sp>
          <p:nvSpPr>
            <p:cNvPr id="871" name="Google Shape;871;p56"/>
            <p:cNvSpPr txBox="1"/>
            <p:nvPr/>
          </p:nvSpPr>
          <p:spPr>
            <a:xfrm>
              <a:off x="10488842" y="4900973"/>
              <a:ext cx="192899" cy="360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6275" rIns="0" bIns="0" anchor="t" anchorCtr="0">
              <a:spAutoFit/>
            </a:bodyPr>
            <a:lstStyle/>
            <a:p>
              <a:pPr marL="19050"/>
              <a:r>
                <a:rPr lang="en-US" sz="1650">
                  <a:latin typeface="Courier New"/>
                  <a:ea typeface="Courier New"/>
                  <a:cs typeface="Courier New"/>
                  <a:sym typeface="Courier New"/>
                </a:rPr>
                <a:t>p</a:t>
              </a:r>
              <a:endParaRPr sz="165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872" name="Google Shape;872;p56"/>
            <p:cNvGrpSpPr/>
            <p:nvPr/>
          </p:nvGrpSpPr>
          <p:grpSpPr>
            <a:xfrm>
              <a:off x="9628076" y="5562289"/>
              <a:ext cx="486152" cy="476756"/>
              <a:chOff x="5290565" y="4114035"/>
              <a:chExt cx="325120" cy="325120"/>
            </a:xfrm>
          </p:grpSpPr>
          <p:sp>
            <p:nvSpPr>
              <p:cNvPr id="873" name="Google Shape;873;p56"/>
              <p:cNvSpPr/>
              <p:nvPr/>
            </p:nvSpPr>
            <p:spPr>
              <a:xfrm>
                <a:off x="5290565" y="4114035"/>
                <a:ext cx="325120" cy="325120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20" extrusionOk="0">
                    <a:moveTo>
                      <a:pt x="162306" y="0"/>
                    </a:moveTo>
                    <a:lnTo>
                      <a:pt x="119150" y="5798"/>
                    </a:lnTo>
                    <a:lnTo>
                      <a:pt x="80376" y="22160"/>
                    </a:lnTo>
                    <a:lnTo>
                      <a:pt x="47529" y="47540"/>
                    </a:lnTo>
                    <a:lnTo>
                      <a:pt x="22154" y="80390"/>
                    </a:lnTo>
                    <a:lnTo>
                      <a:pt x="5796" y="119161"/>
                    </a:lnTo>
                    <a:lnTo>
                      <a:pt x="0" y="162307"/>
                    </a:lnTo>
                    <a:lnTo>
                      <a:pt x="5796" y="205454"/>
                    </a:lnTo>
                    <a:lnTo>
                      <a:pt x="22154" y="244226"/>
                    </a:lnTo>
                    <a:lnTo>
                      <a:pt x="47529" y="277075"/>
                    </a:lnTo>
                    <a:lnTo>
                      <a:pt x="80376" y="302454"/>
                    </a:lnTo>
                    <a:lnTo>
                      <a:pt x="119150" y="318816"/>
                    </a:lnTo>
                    <a:lnTo>
                      <a:pt x="162306" y="324614"/>
                    </a:lnTo>
                    <a:lnTo>
                      <a:pt x="205461" y="318816"/>
                    </a:lnTo>
                    <a:lnTo>
                      <a:pt x="244235" y="302454"/>
                    </a:lnTo>
                    <a:lnTo>
                      <a:pt x="277082" y="277075"/>
                    </a:lnTo>
                    <a:lnTo>
                      <a:pt x="302457" y="244226"/>
                    </a:lnTo>
                    <a:lnTo>
                      <a:pt x="318815" y="205454"/>
                    </a:lnTo>
                    <a:lnTo>
                      <a:pt x="324612" y="162307"/>
                    </a:lnTo>
                    <a:lnTo>
                      <a:pt x="318815" y="119161"/>
                    </a:lnTo>
                    <a:lnTo>
                      <a:pt x="302457" y="80390"/>
                    </a:lnTo>
                    <a:lnTo>
                      <a:pt x="277082" y="47540"/>
                    </a:lnTo>
                    <a:lnTo>
                      <a:pt x="244235" y="22160"/>
                    </a:lnTo>
                    <a:lnTo>
                      <a:pt x="205461" y="5798"/>
                    </a:lnTo>
                    <a:lnTo>
                      <a:pt x="162306" y="0"/>
                    </a:lnTo>
                    <a:close/>
                  </a:path>
                </a:pathLst>
              </a:custGeom>
              <a:solidFill>
                <a:srgbClr val="D6D6F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  <p:sp>
            <p:nvSpPr>
              <p:cNvPr id="874" name="Google Shape;874;p56"/>
              <p:cNvSpPr/>
              <p:nvPr/>
            </p:nvSpPr>
            <p:spPr>
              <a:xfrm>
                <a:off x="5290565" y="4114035"/>
                <a:ext cx="325120" cy="325120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20" extrusionOk="0">
                    <a:moveTo>
                      <a:pt x="0" y="162307"/>
                    </a:moveTo>
                    <a:lnTo>
                      <a:pt x="5796" y="119161"/>
                    </a:lnTo>
                    <a:lnTo>
                      <a:pt x="22154" y="80390"/>
                    </a:lnTo>
                    <a:lnTo>
                      <a:pt x="47529" y="47540"/>
                    </a:lnTo>
                    <a:lnTo>
                      <a:pt x="80376" y="22160"/>
                    </a:lnTo>
                    <a:lnTo>
                      <a:pt x="119150" y="5798"/>
                    </a:lnTo>
                    <a:lnTo>
                      <a:pt x="162306" y="0"/>
                    </a:lnTo>
                    <a:lnTo>
                      <a:pt x="205461" y="5798"/>
                    </a:lnTo>
                    <a:lnTo>
                      <a:pt x="244235" y="22160"/>
                    </a:lnTo>
                    <a:lnTo>
                      <a:pt x="277082" y="47540"/>
                    </a:lnTo>
                    <a:lnTo>
                      <a:pt x="302457" y="80390"/>
                    </a:lnTo>
                    <a:lnTo>
                      <a:pt x="318815" y="119161"/>
                    </a:lnTo>
                    <a:lnTo>
                      <a:pt x="324612" y="162307"/>
                    </a:lnTo>
                    <a:lnTo>
                      <a:pt x="318815" y="205454"/>
                    </a:lnTo>
                    <a:lnTo>
                      <a:pt x="302457" y="244226"/>
                    </a:lnTo>
                    <a:lnTo>
                      <a:pt x="277082" y="277075"/>
                    </a:lnTo>
                    <a:lnTo>
                      <a:pt x="244235" y="302454"/>
                    </a:lnTo>
                    <a:lnTo>
                      <a:pt x="205461" y="318816"/>
                    </a:lnTo>
                    <a:lnTo>
                      <a:pt x="162306" y="324614"/>
                    </a:lnTo>
                    <a:lnTo>
                      <a:pt x="119150" y="318816"/>
                    </a:lnTo>
                    <a:lnTo>
                      <a:pt x="80376" y="302454"/>
                    </a:lnTo>
                    <a:lnTo>
                      <a:pt x="47529" y="277075"/>
                    </a:lnTo>
                    <a:lnTo>
                      <a:pt x="22154" y="244226"/>
                    </a:lnTo>
                    <a:lnTo>
                      <a:pt x="5796" y="205454"/>
                    </a:lnTo>
                    <a:lnTo>
                      <a:pt x="0" y="162307"/>
                    </a:lnTo>
                    <a:close/>
                  </a:path>
                </a:pathLst>
              </a:custGeom>
              <a:noFill/>
              <a:ln w="198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</p:grpSp>
        <p:sp>
          <p:nvSpPr>
            <p:cNvPr id="875" name="Google Shape;875;p56"/>
            <p:cNvSpPr txBox="1"/>
            <p:nvPr/>
          </p:nvSpPr>
          <p:spPr>
            <a:xfrm>
              <a:off x="9782406" y="5599966"/>
              <a:ext cx="192899" cy="360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6275" rIns="0" bIns="0" anchor="t" anchorCtr="0">
              <a:spAutoFit/>
            </a:bodyPr>
            <a:lstStyle/>
            <a:p>
              <a:pPr marL="19050"/>
              <a:r>
                <a:rPr lang="en-US" sz="1650">
                  <a:latin typeface="Courier New"/>
                  <a:ea typeface="Courier New"/>
                  <a:cs typeface="Courier New"/>
                  <a:sym typeface="Courier New"/>
                </a:rPr>
                <a:t>e</a:t>
              </a:r>
              <a:endParaRPr sz="165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876" name="Google Shape;876;p56"/>
            <p:cNvSpPr/>
            <p:nvPr/>
          </p:nvSpPr>
          <p:spPr>
            <a:xfrm>
              <a:off x="8139948" y="4163465"/>
              <a:ext cx="486054" cy="476301"/>
            </a:xfrm>
            <a:custGeom>
              <a:avLst/>
              <a:gdLst/>
              <a:ahLst/>
              <a:cxnLst/>
              <a:rect l="l" t="t" r="r" b="b"/>
              <a:pathLst>
                <a:path w="325120" h="325120" extrusionOk="0">
                  <a:moveTo>
                    <a:pt x="0" y="162306"/>
                  </a:moveTo>
                  <a:lnTo>
                    <a:pt x="5796" y="119150"/>
                  </a:lnTo>
                  <a:lnTo>
                    <a:pt x="22154" y="80376"/>
                  </a:lnTo>
                  <a:lnTo>
                    <a:pt x="47529" y="47529"/>
                  </a:lnTo>
                  <a:lnTo>
                    <a:pt x="80376" y="22154"/>
                  </a:lnTo>
                  <a:lnTo>
                    <a:pt x="119150" y="5796"/>
                  </a:lnTo>
                  <a:lnTo>
                    <a:pt x="162306" y="0"/>
                  </a:lnTo>
                  <a:lnTo>
                    <a:pt x="205461" y="5796"/>
                  </a:lnTo>
                  <a:lnTo>
                    <a:pt x="244235" y="22154"/>
                  </a:lnTo>
                  <a:lnTo>
                    <a:pt x="277082" y="47529"/>
                  </a:lnTo>
                  <a:lnTo>
                    <a:pt x="302457" y="80376"/>
                  </a:lnTo>
                  <a:lnTo>
                    <a:pt x="318815" y="119150"/>
                  </a:lnTo>
                  <a:lnTo>
                    <a:pt x="324612" y="162306"/>
                  </a:lnTo>
                  <a:lnTo>
                    <a:pt x="318815" y="205461"/>
                  </a:lnTo>
                  <a:lnTo>
                    <a:pt x="302457" y="244235"/>
                  </a:lnTo>
                  <a:lnTo>
                    <a:pt x="277082" y="277082"/>
                  </a:lnTo>
                  <a:lnTo>
                    <a:pt x="244235" y="302457"/>
                  </a:lnTo>
                  <a:lnTo>
                    <a:pt x="205461" y="318815"/>
                  </a:lnTo>
                  <a:lnTo>
                    <a:pt x="162306" y="324612"/>
                  </a:lnTo>
                  <a:lnTo>
                    <a:pt x="119150" y="318815"/>
                  </a:lnTo>
                  <a:lnTo>
                    <a:pt x="80376" y="302457"/>
                  </a:lnTo>
                  <a:lnTo>
                    <a:pt x="47529" y="277082"/>
                  </a:lnTo>
                  <a:lnTo>
                    <a:pt x="22154" y="244235"/>
                  </a:lnTo>
                  <a:lnTo>
                    <a:pt x="5796" y="205461"/>
                  </a:lnTo>
                  <a:lnTo>
                    <a:pt x="0" y="162306"/>
                  </a:lnTo>
                  <a:close/>
                </a:path>
              </a:pathLst>
            </a:custGeom>
            <a:noFill/>
            <a:ln w="198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175"/>
            </a:p>
          </p:txBody>
        </p:sp>
        <p:sp>
          <p:nvSpPr>
            <p:cNvPr id="877" name="Google Shape;877;p56"/>
            <p:cNvSpPr txBox="1"/>
            <p:nvPr/>
          </p:nvSpPr>
          <p:spPr>
            <a:xfrm>
              <a:off x="8295667" y="4201384"/>
              <a:ext cx="193801" cy="360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6275" rIns="0" bIns="0" anchor="t" anchorCtr="0">
              <a:spAutoFit/>
            </a:bodyPr>
            <a:lstStyle/>
            <a:p>
              <a:pPr marL="19050"/>
              <a:r>
                <a:rPr lang="en-US" sz="1650">
                  <a:latin typeface="Courier New"/>
                  <a:ea typeface="Courier New"/>
                  <a:cs typeface="Courier New"/>
                  <a:sym typeface="Courier New"/>
                </a:rPr>
                <a:t>w</a:t>
              </a:r>
              <a:endParaRPr sz="165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878" name="Google Shape;878;p56"/>
            <p:cNvSpPr/>
            <p:nvPr/>
          </p:nvSpPr>
          <p:spPr>
            <a:xfrm>
              <a:off x="8139948" y="4862980"/>
              <a:ext cx="486054" cy="476301"/>
            </a:xfrm>
            <a:custGeom>
              <a:avLst/>
              <a:gdLst/>
              <a:ahLst/>
              <a:cxnLst/>
              <a:rect l="l" t="t" r="r" b="b"/>
              <a:pathLst>
                <a:path w="325120" h="325120" extrusionOk="0">
                  <a:moveTo>
                    <a:pt x="0" y="162306"/>
                  </a:moveTo>
                  <a:lnTo>
                    <a:pt x="5796" y="119150"/>
                  </a:lnTo>
                  <a:lnTo>
                    <a:pt x="22154" y="80376"/>
                  </a:lnTo>
                  <a:lnTo>
                    <a:pt x="47529" y="47529"/>
                  </a:lnTo>
                  <a:lnTo>
                    <a:pt x="80376" y="22154"/>
                  </a:lnTo>
                  <a:lnTo>
                    <a:pt x="119150" y="5796"/>
                  </a:lnTo>
                  <a:lnTo>
                    <a:pt x="162306" y="0"/>
                  </a:lnTo>
                  <a:lnTo>
                    <a:pt x="205461" y="5796"/>
                  </a:lnTo>
                  <a:lnTo>
                    <a:pt x="244235" y="22154"/>
                  </a:lnTo>
                  <a:lnTo>
                    <a:pt x="277082" y="47529"/>
                  </a:lnTo>
                  <a:lnTo>
                    <a:pt x="302457" y="80376"/>
                  </a:lnTo>
                  <a:lnTo>
                    <a:pt x="318815" y="119150"/>
                  </a:lnTo>
                  <a:lnTo>
                    <a:pt x="324612" y="162306"/>
                  </a:lnTo>
                  <a:lnTo>
                    <a:pt x="318815" y="205452"/>
                  </a:lnTo>
                  <a:lnTo>
                    <a:pt x="302457" y="244223"/>
                  </a:lnTo>
                  <a:lnTo>
                    <a:pt x="277082" y="277071"/>
                  </a:lnTo>
                  <a:lnTo>
                    <a:pt x="244235" y="302450"/>
                  </a:lnTo>
                  <a:lnTo>
                    <a:pt x="205461" y="318811"/>
                  </a:lnTo>
                  <a:lnTo>
                    <a:pt x="162306" y="324609"/>
                  </a:lnTo>
                  <a:lnTo>
                    <a:pt x="119150" y="318811"/>
                  </a:lnTo>
                  <a:lnTo>
                    <a:pt x="80376" y="302450"/>
                  </a:lnTo>
                  <a:lnTo>
                    <a:pt x="47529" y="277071"/>
                  </a:lnTo>
                  <a:lnTo>
                    <a:pt x="22154" y="244223"/>
                  </a:lnTo>
                  <a:lnTo>
                    <a:pt x="5796" y="205452"/>
                  </a:lnTo>
                  <a:lnTo>
                    <a:pt x="0" y="162306"/>
                  </a:lnTo>
                  <a:close/>
                </a:path>
              </a:pathLst>
            </a:custGeom>
            <a:noFill/>
            <a:ln w="198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175"/>
            </a:p>
          </p:txBody>
        </p:sp>
        <p:sp>
          <p:nvSpPr>
            <p:cNvPr id="879" name="Google Shape;879;p56"/>
            <p:cNvSpPr txBox="1"/>
            <p:nvPr/>
          </p:nvSpPr>
          <p:spPr>
            <a:xfrm>
              <a:off x="8295667" y="4900973"/>
              <a:ext cx="192899" cy="360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6275" rIns="0" bIns="0" anchor="t" anchorCtr="0">
              <a:spAutoFit/>
            </a:bodyPr>
            <a:lstStyle/>
            <a:p>
              <a:pPr marL="19050"/>
              <a:r>
                <a:rPr lang="en-US" sz="1650">
                  <a:latin typeface="Courier New"/>
                  <a:ea typeface="Courier New"/>
                  <a:cs typeface="Courier New"/>
                  <a:sym typeface="Courier New"/>
                </a:rPr>
                <a:t>l</a:t>
              </a:r>
              <a:endParaRPr sz="165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880" name="Google Shape;880;p56"/>
            <p:cNvGrpSpPr/>
            <p:nvPr/>
          </p:nvGrpSpPr>
          <p:grpSpPr>
            <a:xfrm>
              <a:off x="8139997" y="3942066"/>
              <a:ext cx="2437216" cy="2096978"/>
              <a:chOff x="4295394" y="3009137"/>
              <a:chExt cx="1629918" cy="1430018"/>
            </a:xfrm>
          </p:grpSpPr>
          <p:sp>
            <p:nvSpPr>
              <p:cNvPr id="881" name="Google Shape;881;p56"/>
              <p:cNvSpPr/>
              <p:nvPr/>
            </p:nvSpPr>
            <p:spPr>
              <a:xfrm>
                <a:off x="5452110" y="3009137"/>
                <a:ext cx="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52400" extrusionOk="0">
                    <a:moveTo>
                      <a:pt x="0" y="0"/>
                    </a:moveTo>
                    <a:lnTo>
                      <a:pt x="0" y="151892"/>
                    </a:lnTo>
                  </a:path>
                </a:pathLst>
              </a:custGeom>
              <a:noFill/>
              <a:ln w="289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  <p:sp>
            <p:nvSpPr>
              <p:cNvPr id="882" name="Google Shape;882;p56"/>
              <p:cNvSpPr/>
              <p:nvPr/>
            </p:nvSpPr>
            <p:spPr>
              <a:xfrm>
                <a:off x="5442204" y="3951729"/>
                <a:ext cx="20320" cy="20320"/>
              </a:xfrm>
              <a:custGeom>
                <a:avLst/>
                <a:gdLst/>
                <a:ahLst/>
                <a:cxnLst/>
                <a:rect l="l" t="t" r="r" b="b"/>
                <a:pathLst>
                  <a:path w="20320" h="20320" extrusionOk="0">
                    <a:moveTo>
                      <a:pt x="0" y="9905"/>
                    </a:moveTo>
                    <a:lnTo>
                      <a:pt x="2901" y="2901"/>
                    </a:lnTo>
                    <a:lnTo>
                      <a:pt x="9906" y="0"/>
                    </a:lnTo>
                    <a:lnTo>
                      <a:pt x="16910" y="2901"/>
                    </a:lnTo>
                    <a:lnTo>
                      <a:pt x="19812" y="9905"/>
                    </a:lnTo>
                    <a:lnTo>
                      <a:pt x="16910" y="16910"/>
                    </a:lnTo>
                    <a:lnTo>
                      <a:pt x="9906" y="19811"/>
                    </a:lnTo>
                    <a:lnTo>
                      <a:pt x="2901" y="16910"/>
                    </a:lnTo>
                    <a:lnTo>
                      <a:pt x="0" y="990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  <p:sp>
            <p:nvSpPr>
              <p:cNvPr id="883" name="Google Shape;883;p56"/>
              <p:cNvSpPr/>
              <p:nvPr/>
            </p:nvSpPr>
            <p:spPr>
              <a:xfrm>
                <a:off x="4458462" y="3009137"/>
                <a:ext cx="1466850" cy="11049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1104900" extrusionOk="0">
                    <a:moveTo>
                      <a:pt x="993648" y="475488"/>
                    </a:moveTo>
                    <a:lnTo>
                      <a:pt x="993648" y="627380"/>
                    </a:lnTo>
                  </a:path>
                  <a:path w="1466850" h="1104900" extrusionOk="0">
                    <a:moveTo>
                      <a:pt x="879983" y="428244"/>
                    </a:moveTo>
                    <a:lnTo>
                      <a:pt x="522732" y="627634"/>
                    </a:lnTo>
                  </a:path>
                  <a:path w="1466850" h="1104900" extrusionOk="0">
                    <a:moveTo>
                      <a:pt x="1109472" y="428244"/>
                    </a:moveTo>
                    <a:lnTo>
                      <a:pt x="1466723" y="627634"/>
                    </a:lnTo>
                  </a:path>
                  <a:path w="1466850" h="1104900" extrusionOk="0">
                    <a:moveTo>
                      <a:pt x="993648" y="952497"/>
                    </a:moveTo>
                    <a:lnTo>
                      <a:pt x="993648" y="1104376"/>
                    </a:lnTo>
                  </a:path>
                  <a:path w="1466850" h="1104900" extrusionOk="0">
                    <a:moveTo>
                      <a:pt x="0" y="0"/>
                    </a:moveTo>
                    <a:lnTo>
                      <a:pt x="0" y="151892"/>
                    </a:lnTo>
                  </a:path>
                  <a:path w="1466850" h="1104900" extrusionOk="0">
                    <a:moveTo>
                      <a:pt x="0" y="475488"/>
                    </a:moveTo>
                    <a:lnTo>
                      <a:pt x="0" y="627380"/>
                    </a:lnTo>
                  </a:path>
                </a:pathLst>
              </a:custGeom>
              <a:noFill/>
              <a:ln w="289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  <p:sp>
            <p:nvSpPr>
              <p:cNvPr id="884" name="Google Shape;884;p56"/>
              <p:cNvSpPr/>
              <p:nvPr/>
            </p:nvSpPr>
            <p:spPr>
              <a:xfrm>
                <a:off x="4295394" y="4114035"/>
                <a:ext cx="325120" cy="325120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20" extrusionOk="0">
                    <a:moveTo>
                      <a:pt x="162306" y="0"/>
                    </a:moveTo>
                    <a:lnTo>
                      <a:pt x="119150" y="5798"/>
                    </a:lnTo>
                    <a:lnTo>
                      <a:pt x="80376" y="22160"/>
                    </a:lnTo>
                    <a:lnTo>
                      <a:pt x="47529" y="47540"/>
                    </a:lnTo>
                    <a:lnTo>
                      <a:pt x="22154" y="80390"/>
                    </a:lnTo>
                    <a:lnTo>
                      <a:pt x="5796" y="119161"/>
                    </a:lnTo>
                    <a:lnTo>
                      <a:pt x="0" y="162307"/>
                    </a:lnTo>
                    <a:lnTo>
                      <a:pt x="5796" y="205454"/>
                    </a:lnTo>
                    <a:lnTo>
                      <a:pt x="22154" y="244226"/>
                    </a:lnTo>
                    <a:lnTo>
                      <a:pt x="47529" y="277075"/>
                    </a:lnTo>
                    <a:lnTo>
                      <a:pt x="80376" y="302454"/>
                    </a:lnTo>
                    <a:lnTo>
                      <a:pt x="119150" y="318816"/>
                    </a:lnTo>
                    <a:lnTo>
                      <a:pt x="162306" y="324614"/>
                    </a:lnTo>
                    <a:lnTo>
                      <a:pt x="205461" y="318816"/>
                    </a:lnTo>
                    <a:lnTo>
                      <a:pt x="244235" y="302454"/>
                    </a:lnTo>
                    <a:lnTo>
                      <a:pt x="277082" y="277075"/>
                    </a:lnTo>
                    <a:lnTo>
                      <a:pt x="302457" y="244226"/>
                    </a:lnTo>
                    <a:lnTo>
                      <a:pt x="318815" y="205454"/>
                    </a:lnTo>
                    <a:lnTo>
                      <a:pt x="324612" y="162307"/>
                    </a:lnTo>
                    <a:lnTo>
                      <a:pt x="318815" y="119161"/>
                    </a:lnTo>
                    <a:lnTo>
                      <a:pt x="302457" y="80390"/>
                    </a:lnTo>
                    <a:lnTo>
                      <a:pt x="277082" y="47540"/>
                    </a:lnTo>
                    <a:lnTo>
                      <a:pt x="244235" y="22160"/>
                    </a:lnTo>
                    <a:lnTo>
                      <a:pt x="205461" y="5798"/>
                    </a:lnTo>
                    <a:lnTo>
                      <a:pt x="162306" y="0"/>
                    </a:lnTo>
                    <a:close/>
                  </a:path>
                </a:pathLst>
              </a:custGeom>
              <a:solidFill>
                <a:srgbClr val="D6D6F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  <p:sp>
            <p:nvSpPr>
              <p:cNvPr id="885" name="Google Shape;885;p56"/>
              <p:cNvSpPr/>
              <p:nvPr/>
            </p:nvSpPr>
            <p:spPr>
              <a:xfrm>
                <a:off x="4295394" y="4114035"/>
                <a:ext cx="325120" cy="325120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20" extrusionOk="0">
                    <a:moveTo>
                      <a:pt x="0" y="162307"/>
                    </a:moveTo>
                    <a:lnTo>
                      <a:pt x="5796" y="119161"/>
                    </a:lnTo>
                    <a:lnTo>
                      <a:pt x="22154" y="80390"/>
                    </a:lnTo>
                    <a:lnTo>
                      <a:pt x="47529" y="47540"/>
                    </a:lnTo>
                    <a:lnTo>
                      <a:pt x="80376" y="22160"/>
                    </a:lnTo>
                    <a:lnTo>
                      <a:pt x="119150" y="5798"/>
                    </a:lnTo>
                    <a:lnTo>
                      <a:pt x="162306" y="0"/>
                    </a:lnTo>
                    <a:lnTo>
                      <a:pt x="205461" y="5798"/>
                    </a:lnTo>
                    <a:lnTo>
                      <a:pt x="244235" y="22160"/>
                    </a:lnTo>
                    <a:lnTo>
                      <a:pt x="277082" y="47540"/>
                    </a:lnTo>
                    <a:lnTo>
                      <a:pt x="302457" y="80390"/>
                    </a:lnTo>
                    <a:lnTo>
                      <a:pt x="318815" y="119161"/>
                    </a:lnTo>
                    <a:lnTo>
                      <a:pt x="324612" y="162307"/>
                    </a:lnTo>
                    <a:lnTo>
                      <a:pt x="318815" y="205454"/>
                    </a:lnTo>
                    <a:lnTo>
                      <a:pt x="302457" y="244226"/>
                    </a:lnTo>
                    <a:lnTo>
                      <a:pt x="277082" y="277075"/>
                    </a:lnTo>
                    <a:lnTo>
                      <a:pt x="244235" y="302454"/>
                    </a:lnTo>
                    <a:lnTo>
                      <a:pt x="205461" y="318816"/>
                    </a:lnTo>
                    <a:lnTo>
                      <a:pt x="162306" y="324614"/>
                    </a:lnTo>
                    <a:lnTo>
                      <a:pt x="119150" y="318816"/>
                    </a:lnTo>
                    <a:lnTo>
                      <a:pt x="80376" y="302454"/>
                    </a:lnTo>
                    <a:lnTo>
                      <a:pt x="47529" y="277075"/>
                    </a:lnTo>
                    <a:lnTo>
                      <a:pt x="22154" y="244226"/>
                    </a:lnTo>
                    <a:lnTo>
                      <a:pt x="5796" y="205454"/>
                    </a:lnTo>
                    <a:lnTo>
                      <a:pt x="0" y="162307"/>
                    </a:lnTo>
                    <a:close/>
                  </a:path>
                </a:pathLst>
              </a:custGeom>
              <a:noFill/>
              <a:ln w="198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</p:grpSp>
        <p:sp>
          <p:nvSpPr>
            <p:cNvPr id="886" name="Google Shape;886;p56"/>
            <p:cNvSpPr txBox="1"/>
            <p:nvPr/>
          </p:nvSpPr>
          <p:spPr>
            <a:xfrm>
              <a:off x="8295667" y="5599966"/>
              <a:ext cx="192899" cy="360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6275" rIns="0" bIns="0" anchor="t" anchorCtr="0">
              <a:spAutoFit/>
            </a:bodyPr>
            <a:lstStyle/>
            <a:p>
              <a:pPr marL="19050"/>
              <a:r>
                <a:rPr lang="en-US" sz="1650">
                  <a:latin typeface="Courier New"/>
                  <a:ea typeface="Courier New"/>
                  <a:cs typeface="Courier New"/>
                  <a:sym typeface="Courier New"/>
                </a:rPr>
                <a:t>s</a:t>
              </a:r>
              <a:endParaRPr sz="165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887" name="Google Shape;887;p56"/>
            <p:cNvGrpSpPr/>
            <p:nvPr/>
          </p:nvGrpSpPr>
          <p:grpSpPr>
            <a:xfrm>
              <a:off x="8383832" y="2636947"/>
              <a:ext cx="1741030" cy="2925342"/>
              <a:chOff x="4458462" y="2119121"/>
              <a:chExt cx="1164335" cy="1994914"/>
            </a:xfrm>
          </p:grpSpPr>
          <p:sp>
            <p:nvSpPr>
              <p:cNvPr id="888" name="Google Shape;888;p56"/>
              <p:cNvSpPr/>
              <p:nvPr/>
            </p:nvSpPr>
            <p:spPr>
              <a:xfrm>
                <a:off x="4792218" y="2119121"/>
                <a:ext cx="830579" cy="890269"/>
              </a:xfrm>
              <a:custGeom>
                <a:avLst/>
                <a:gdLst/>
                <a:ahLst/>
                <a:cxnLst/>
                <a:rect l="l" t="t" r="r" b="b"/>
                <a:pathLst>
                  <a:path w="830579" h="890269" extrusionOk="0">
                    <a:moveTo>
                      <a:pt x="505968" y="727710"/>
                    </a:moveTo>
                    <a:lnTo>
                      <a:pt x="511764" y="684554"/>
                    </a:lnTo>
                    <a:lnTo>
                      <a:pt x="528122" y="645780"/>
                    </a:lnTo>
                    <a:lnTo>
                      <a:pt x="553497" y="612933"/>
                    </a:lnTo>
                    <a:lnTo>
                      <a:pt x="586344" y="587558"/>
                    </a:lnTo>
                    <a:lnTo>
                      <a:pt x="625118" y="571200"/>
                    </a:lnTo>
                    <a:lnTo>
                      <a:pt x="668274" y="565404"/>
                    </a:lnTo>
                    <a:lnTo>
                      <a:pt x="711429" y="571200"/>
                    </a:lnTo>
                    <a:lnTo>
                      <a:pt x="750203" y="587558"/>
                    </a:lnTo>
                    <a:lnTo>
                      <a:pt x="783050" y="612933"/>
                    </a:lnTo>
                    <a:lnTo>
                      <a:pt x="808425" y="645780"/>
                    </a:lnTo>
                    <a:lnTo>
                      <a:pt x="824783" y="684554"/>
                    </a:lnTo>
                    <a:lnTo>
                      <a:pt x="830580" y="727710"/>
                    </a:lnTo>
                    <a:lnTo>
                      <a:pt x="824783" y="770865"/>
                    </a:lnTo>
                    <a:lnTo>
                      <a:pt x="808425" y="809639"/>
                    </a:lnTo>
                    <a:lnTo>
                      <a:pt x="783050" y="842486"/>
                    </a:lnTo>
                    <a:lnTo>
                      <a:pt x="750203" y="867861"/>
                    </a:lnTo>
                    <a:lnTo>
                      <a:pt x="711429" y="884219"/>
                    </a:lnTo>
                    <a:lnTo>
                      <a:pt x="668274" y="890016"/>
                    </a:lnTo>
                    <a:lnTo>
                      <a:pt x="625118" y="884219"/>
                    </a:lnTo>
                    <a:lnTo>
                      <a:pt x="586344" y="867861"/>
                    </a:lnTo>
                    <a:lnTo>
                      <a:pt x="553497" y="842486"/>
                    </a:lnTo>
                    <a:lnTo>
                      <a:pt x="528122" y="809639"/>
                    </a:lnTo>
                    <a:lnTo>
                      <a:pt x="511764" y="770865"/>
                    </a:lnTo>
                    <a:lnTo>
                      <a:pt x="505968" y="727710"/>
                    </a:lnTo>
                    <a:close/>
                  </a:path>
                  <a:path w="830579" h="890269" extrusionOk="0">
                    <a:moveTo>
                      <a:pt x="0" y="162306"/>
                    </a:moveTo>
                    <a:lnTo>
                      <a:pt x="5796" y="119150"/>
                    </a:lnTo>
                    <a:lnTo>
                      <a:pt x="22154" y="80376"/>
                    </a:lnTo>
                    <a:lnTo>
                      <a:pt x="47529" y="47529"/>
                    </a:lnTo>
                    <a:lnTo>
                      <a:pt x="80376" y="22154"/>
                    </a:lnTo>
                    <a:lnTo>
                      <a:pt x="119150" y="5796"/>
                    </a:lnTo>
                    <a:lnTo>
                      <a:pt x="162306" y="0"/>
                    </a:lnTo>
                    <a:lnTo>
                      <a:pt x="205461" y="5796"/>
                    </a:lnTo>
                    <a:lnTo>
                      <a:pt x="244235" y="22154"/>
                    </a:lnTo>
                    <a:lnTo>
                      <a:pt x="277082" y="47529"/>
                    </a:lnTo>
                    <a:lnTo>
                      <a:pt x="302457" y="80376"/>
                    </a:lnTo>
                    <a:lnTo>
                      <a:pt x="318815" y="119150"/>
                    </a:lnTo>
                    <a:lnTo>
                      <a:pt x="324612" y="162306"/>
                    </a:lnTo>
                    <a:lnTo>
                      <a:pt x="318815" y="205461"/>
                    </a:lnTo>
                    <a:lnTo>
                      <a:pt x="302457" y="244235"/>
                    </a:lnTo>
                    <a:lnTo>
                      <a:pt x="277082" y="277082"/>
                    </a:lnTo>
                    <a:lnTo>
                      <a:pt x="244235" y="302457"/>
                    </a:lnTo>
                    <a:lnTo>
                      <a:pt x="205461" y="318815"/>
                    </a:lnTo>
                    <a:lnTo>
                      <a:pt x="162306" y="324612"/>
                    </a:lnTo>
                    <a:lnTo>
                      <a:pt x="119150" y="318815"/>
                    </a:lnTo>
                    <a:lnTo>
                      <a:pt x="80376" y="302457"/>
                    </a:lnTo>
                    <a:lnTo>
                      <a:pt x="47529" y="277082"/>
                    </a:lnTo>
                    <a:lnTo>
                      <a:pt x="22154" y="244235"/>
                    </a:lnTo>
                    <a:lnTo>
                      <a:pt x="5796" y="205461"/>
                    </a:lnTo>
                    <a:lnTo>
                      <a:pt x="0" y="162306"/>
                    </a:lnTo>
                    <a:close/>
                  </a:path>
                </a:pathLst>
              </a:custGeom>
              <a:noFill/>
              <a:ln w="198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  <p:sp>
            <p:nvSpPr>
              <p:cNvPr id="889" name="Google Shape;889;p56"/>
              <p:cNvSpPr/>
              <p:nvPr/>
            </p:nvSpPr>
            <p:spPr>
              <a:xfrm>
                <a:off x="4458462" y="3961635"/>
                <a:ext cx="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52400" extrusionOk="0">
                    <a:moveTo>
                      <a:pt x="0" y="0"/>
                    </a:moveTo>
                    <a:lnTo>
                      <a:pt x="0" y="151879"/>
                    </a:lnTo>
                  </a:path>
                </a:pathLst>
              </a:custGeom>
              <a:noFill/>
              <a:ln w="289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</p:grpSp>
        <p:sp>
          <p:nvSpPr>
            <p:cNvPr id="890" name="Google Shape;890;p56"/>
            <p:cNvSpPr txBox="1"/>
            <p:nvPr/>
          </p:nvSpPr>
          <p:spPr>
            <a:xfrm>
              <a:off x="9794750" y="3503247"/>
              <a:ext cx="192899" cy="360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6275" rIns="0" bIns="0" anchor="t" anchorCtr="0">
              <a:spAutoFit/>
            </a:bodyPr>
            <a:lstStyle/>
            <a:p>
              <a:pPr marL="19050"/>
              <a:r>
                <a:rPr lang="en-US" sz="1650">
                  <a:latin typeface="Courier New"/>
                  <a:ea typeface="Courier New"/>
                  <a:cs typeface="Courier New"/>
                  <a:sym typeface="Courier New"/>
                </a:rPr>
                <a:t>s</a:t>
              </a:r>
              <a:endParaRPr sz="165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891" name="Google Shape;891;p56"/>
            <p:cNvGrpSpPr/>
            <p:nvPr/>
          </p:nvGrpSpPr>
          <p:grpSpPr>
            <a:xfrm>
              <a:off x="8153670" y="3466057"/>
              <a:ext cx="486152" cy="476755"/>
              <a:chOff x="4304538" y="2684526"/>
              <a:chExt cx="325120" cy="325119"/>
            </a:xfrm>
          </p:grpSpPr>
          <p:sp>
            <p:nvSpPr>
              <p:cNvPr id="892" name="Google Shape;892;p56"/>
              <p:cNvSpPr/>
              <p:nvPr/>
            </p:nvSpPr>
            <p:spPr>
              <a:xfrm>
                <a:off x="4304538" y="2684526"/>
                <a:ext cx="325120" cy="325119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19" extrusionOk="0">
                    <a:moveTo>
                      <a:pt x="162306" y="0"/>
                    </a:moveTo>
                    <a:lnTo>
                      <a:pt x="119150" y="5796"/>
                    </a:lnTo>
                    <a:lnTo>
                      <a:pt x="80376" y="22154"/>
                    </a:lnTo>
                    <a:lnTo>
                      <a:pt x="47529" y="47529"/>
                    </a:lnTo>
                    <a:lnTo>
                      <a:pt x="22154" y="80376"/>
                    </a:lnTo>
                    <a:lnTo>
                      <a:pt x="5796" y="119150"/>
                    </a:lnTo>
                    <a:lnTo>
                      <a:pt x="0" y="162306"/>
                    </a:lnTo>
                    <a:lnTo>
                      <a:pt x="5796" y="205461"/>
                    </a:lnTo>
                    <a:lnTo>
                      <a:pt x="22154" y="244235"/>
                    </a:lnTo>
                    <a:lnTo>
                      <a:pt x="47529" y="277082"/>
                    </a:lnTo>
                    <a:lnTo>
                      <a:pt x="80376" y="302457"/>
                    </a:lnTo>
                    <a:lnTo>
                      <a:pt x="119150" y="318815"/>
                    </a:lnTo>
                    <a:lnTo>
                      <a:pt x="162306" y="324612"/>
                    </a:lnTo>
                    <a:lnTo>
                      <a:pt x="205461" y="318815"/>
                    </a:lnTo>
                    <a:lnTo>
                      <a:pt x="244235" y="302457"/>
                    </a:lnTo>
                    <a:lnTo>
                      <a:pt x="277082" y="277082"/>
                    </a:lnTo>
                    <a:lnTo>
                      <a:pt x="302457" y="244235"/>
                    </a:lnTo>
                    <a:lnTo>
                      <a:pt x="318815" y="205461"/>
                    </a:lnTo>
                    <a:lnTo>
                      <a:pt x="324612" y="162306"/>
                    </a:lnTo>
                    <a:lnTo>
                      <a:pt x="318815" y="119150"/>
                    </a:lnTo>
                    <a:lnTo>
                      <a:pt x="302457" y="80376"/>
                    </a:lnTo>
                    <a:lnTo>
                      <a:pt x="277082" y="47529"/>
                    </a:lnTo>
                    <a:lnTo>
                      <a:pt x="244235" y="22154"/>
                    </a:lnTo>
                    <a:lnTo>
                      <a:pt x="205461" y="5796"/>
                    </a:lnTo>
                    <a:lnTo>
                      <a:pt x="162306" y="0"/>
                    </a:lnTo>
                    <a:close/>
                  </a:path>
                </a:pathLst>
              </a:custGeom>
              <a:solidFill>
                <a:srgbClr val="D6D6F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  <p:sp>
            <p:nvSpPr>
              <p:cNvPr id="893" name="Google Shape;893;p56"/>
              <p:cNvSpPr/>
              <p:nvPr/>
            </p:nvSpPr>
            <p:spPr>
              <a:xfrm>
                <a:off x="4304538" y="2684526"/>
                <a:ext cx="325120" cy="325119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19" extrusionOk="0">
                    <a:moveTo>
                      <a:pt x="0" y="162306"/>
                    </a:moveTo>
                    <a:lnTo>
                      <a:pt x="5796" y="119150"/>
                    </a:lnTo>
                    <a:lnTo>
                      <a:pt x="22154" y="80376"/>
                    </a:lnTo>
                    <a:lnTo>
                      <a:pt x="47529" y="47529"/>
                    </a:lnTo>
                    <a:lnTo>
                      <a:pt x="80376" y="22154"/>
                    </a:lnTo>
                    <a:lnTo>
                      <a:pt x="119150" y="5796"/>
                    </a:lnTo>
                    <a:lnTo>
                      <a:pt x="162306" y="0"/>
                    </a:lnTo>
                    <a:lnTo>
                      <a:pt x="205461" y="5796"/>
                    </a:lnTo>
                    <a:lnTo>
                      <a:pt x="244235" y="22154"/>
                    </a:lnTo>
                    <a:lnTo>
                      <a:pt x="277082" y="47529"/>
                    </a:lnTo>
                    <a:lnTo>
                      <a:pt x="302457" y="80376"/>
                    </a:lnTo>
                    <a:lnTo>
                      <a:pt x="318815" y="119150"/>
                    </a:lnTo>
                    <a:lnTo>
                      <a:pt x="324612" y="162306"/>
                    </a:lnTo>
                    <a:lnTo>
                      <a:pt x="318815" y="205461"/>
                    </a:lnTo>
                    <a:lnTo>
                      <a:pt x="302457" y="244235"/>
                    </a:lnTo>
                    <a:lnTo>
                      <a:pt x="277082" y="277082"/>
                    </a:lnTo>
                    <a:lnTo>
                      <a:pt x="244235" y="302457"/>
                    </a:lnTo>
                    <a:lnTo>
                      <a:pt x="205461" y="318815"/>
                    </a:lnTo>
                    <a:lnTo>
                      <a:pt x="162306" y="324612"/>
                    </a:lnTo>
                    <a:lnTo>
                      <a:pt x="119150" y="318815"/>
                    </a:lnTo>
                    <a:lnTo>
                      <a:pt x="80376" y="302457"/>
                    </a:lnTo>
                    <a:lnTo>
                      <a:pt x="47529" y="277082"/>
                    </a:lnTo>
                    <a:lnTo>
                      <a:pt x="22154" y="244235"/>
                    </a:lnTo>
                    <a:lnTo>
                      <a:pt x="5796" y="205461"/>
                    </a:lnTo>
                    <a:lnTo>
                      <a:pt x="0" y="162306"/>
                    </a:lnTo>
                    <a:close/>
                  </a:path>
                </a:pathLst>
              </a:custGeom>
              <a:noFill/>
              <a:ln w="198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</p:grpSp>
        <p:sp>
          <p:nvSpPr>
            <p:cNvPr id="894" name="Google Shape;894;p56"/>
            <p:cNvSpPr txBox="1"/>
            <p:nvPr/>
          </p:nvSpPr>
          <p:spPr>
            <a:xfrm>
              <a:off x="8308011" y="3503247"/>
              <a:ext cx="192899" cy="360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6275" rIns="0" bIns="0" anchor="t" anchorCtr="0">
              <a:spAutoFit/>
            </a:bodyPr>
            <a:lstStyle/>
            <a:p>
              <a:pPr marL="19050"/>
              <a:r>
                <a:rPr lang="en-US" sz="1650"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sz="165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895" name="Google Shape;895;p56"/>
            <p:cNvSpPr/>
            <p:nvPr/>
          </p:nvSpPr>
          <p:spPr>
            <a:xfrm>
              <a:off x="8395176" y="3043796"/>
              <a:ext cx="1488540" cy="421415"/>
            </a:xfrm>
            <a:custGeom>
              <a:avLst/>
              <a:gdLst/>
              <a:ahLst/>
              <a:cxnLst/>
              <a:rect l="l" t="t" r="r" b="b"/>
              <a:pathLst>
                <a:path w="995679" h="287655" extrusionOk="0">
                  <a:moveTo>
                    <a:pt x="603504" y="0"/>
                  </a:moveTo>
                  <a:lnTo>
                    <a:pt x="995426" y="287528"/>
                  </a:lnTo>
                </a:path>
                <a:path w="995679" h="287655" extrusionOk="0">
                  <a:moveTo>
                    <a:pt x="372872" y="0"/>
                  </a:moveTo>
                  <a:lnTo>
                    <a:pt x="0" y="287528"/>
                  </a:lnTo>
                </a:path>
              </a:pathLst>
            </a:custGeom>
            <a:noFill/>
            <a:ln w="289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175"/>
            </a:p>
          </p:txBody>
        </p:sp>
      </p:grpSp>
      <p:graphicFrame>
        <p:nvGraphicFramePr>
          <p:cNvPr id="2" name="Google Shape;903;p57">
            <a:extLst>
              <a:ext uri="{FF2B5EF4-FFF2-40B4-BE49-F238E27FC236}">
                <a16:creationId xmlns:a16="http://schemas.microsoft.com/office/drawing/2014/main" id="{C200BD5C-94BA-1D28-05C4-A64333E58539}"/>
              </a:ext>
            </a:extLst>
          </p:cNvPr>
          <p:cNvGraphicFramePr/>
          <p:nvPr/>
        </p:nvGraphicFramePr>
        <p:xfrm>
          <a:off x="1065072" y="3175278"/>
          <a:ext cx="5344125" cy="18542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2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3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0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6">
                <a:tc>
                  <a:txBody>
                    <a:bodyPr/>
                    <a:lstStyle/>
                    <a:p>
                      <a:pPr marL="3429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1" u="none" strike="noStrik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Input String</a:t>
                      </a:r>
                      <a:endParaRPr sz="1600" u="none" strike="noStrike" cap="non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0" marR="0" marT="33656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C3282"/>
                    </a:solidFill>
                  </a:tcPr>
                </a:tc>
                <a:tc>
                  <a:txBody>
                    <a:bodyPr/>
                    <a:lstStyle/>
                    <a:p>
                      <a:pPr marL="203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Fall Off? / Is Key?</a:t>
                      </a:r>
                      <a:endParaRPr sz="1600" u="none" strike="noStrike" cap="non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0" marR="0" marT="33656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C3282"/>
                    </a:solidFill>
                  </a:tcPr>
                </a:tc>
                <a:tc>
                  <a:txBody>
                    <a:bodyPr/>
                    <a:lstStyle/>
                    <a:p>
                      <a:pPr marL="139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Result</a:t>
                      </a:r>
                      <a:endParaRPr sz="1600" u="none" strike="noStrike" cap="none" dirty="0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0" marR="0" marT="33656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C3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6">
                <a:tc>
                  <a:txBody>
                    <a:bodyPr/>
                    <a:lstStyle/>
                    <a:p>
                      <a:pPr marL="127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contains(“</a:t>
                      </a:r>
                      <a:r>
                        <a:rPr lang="en-US" sz="1600" u="none" strike="noStrike" cap="none" dirty="0" err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sam</a:t>
                      </a:r>
                      <a:r>
                        <a:rPr lang="en-US" sz="16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”)</a:t>
                      </a:r>
                      <a:endParaRPr sz="1600" u="none" strike="noStrike" cap="none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0" marR="0" marT="33656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hit / purple</a:t>
                      </a:r>
                      <a:endParaRPr sz="16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3656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3656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6">
                <a:tc>
                  <a:txBody>
                    <a:bodyPr/>
                    <a:lstStyle/>
                    <a:p>
                      <a:pPr marL="127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contains(“sa”)</a:t>
                      </a:r>
                      <a:endParaRPr sz="1600" u="none" strike="noStrike" cap="non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0" marR="0" marT="34294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hit / white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4294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4294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6">
                <a:tc>
                  <a:txBody>
                    <a:bodyPr/>
                    <a:lstStyle/>
                    <a:p>
                      <a:pPr marL="127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contains(“a”)</a:t>
                      </a:r>
                      <a:endParaRPr sz="1600" u="none" strike="noStrike" cap="non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0" marR="0" marT="34294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hit / purple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4294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4294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6">
                <a:tc>
                  <a:txBody>
                    <a:bodyPr/>
                    <a:lstStyle/>
                    <a:p>
                      <a:pPr marL="127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contains(“saq”)</a:t>
                      </a:r>
                      <a:endParaRPr sz="1600" u="none" strike="noStrike" cap="non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0" marR="0" marT="34294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fell off / n/a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4294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 sz="16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4294" marB="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>
          <a:extLst>
            <a:ext uri="{FF2B5EF4-FFF2-40B4-BE49-F238E27FC236}">
              <a16:creationId xmlns:a16="http://schemas.microsoft.com/office/drawing/2014/main" id="{0E05C634-714A-BE8E-4651-B44E0E495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56">
            <a:extLst>
              <a:ext uri="{FF2B5EF4-FFF2-40B4-BE49-F238E27FC236}">
                <a16:creationId xmlns:a16="http://schemas.microsoft.com/office/drawing/2014/main" id="{B627811B-5051-5167-0D95-7D42FB896F17}"/>
              </a:ext>
            </a:extLst>
          </p:cNvPr>
          <p:cNvSpPr txBox="1"/>
          <p:nvPr/>
        </p:nvSpPr>
        <p:spPr>
          <a:xfrm>
            <a:off x="3674872" y="1"/>
            <a:ext cx="1793925" cy="199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19" rIns="0" bIns="0" anchor="t" anchorCtr="0">
            <a:spAutoFit/>
          </a:bodyPr>
          <a:lstStyle/>
          <a:p>
            <a:pPr marL="19050"/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L02: Dictionary ADT, Tries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56">
            <a:extLst>
              <a:ext uri="{FF2B5EF4-FFF2-40B4-BE49-F238E27FC236}">
                <a16:creationId xmlns:a16="http://schemas.microsoft.com/office/drawing/2014/main" id="{AEF2F730-343D-5865-E82B-E89BE42248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1429" y="197458"/>
            <a:ext cx="8390250" cy="261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525" rIns="0" bIns="0" anchor="t" anchorCtr="0">
            <a:spAutoFit/>
          </a:bodyPr>
          <a:lstStyle/>
          <a:p>
            <a:pPr marL="19050">
              <a:lnSpc>
                <a:spcPct val="100000"/>
              </a:lnSpc>
            </a:pPr>
            <a:r>
              <a:rPr lang="en-US" dirty="0"/>
              <a:t>Trie Operations</a:t>
            </a:r>
            <a:endParaRPr dirty="0"/>
          </a:p>
        </p:txBody>
      </p:sp>
      <p:sp>
        <p:nvSpPr>
          <p:cNvPr id="856" name="Google Shape;856;p56">
            <a:extLst>
              <a:ext uri="{FF2B5EF4-FFF2-40B4-BE49-F238E27FC236}">
                <a16:creationId xmlns:a16="http://schemas.microsoft.com/office/drawing/2014/main" id="{67C14D07-1306-2C42-190B-92F87ED5FA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520" y="576931"/>
            <a:ext cx="8732120" cy="3723295"/>
          </a:xfrm>
          <a:prstGeom prst="rect">
            <a:avLst/>
          </a:prstGeom>
        </p:spPr>
        <p:txBody>
          <a:bodyPr spcFirstLastPara="1" wrap="square" lIns="33131" tIns="33131" rIns="33131" bIns="33131" anchor="t" anchorCtr="0">
            <a:spAutoFit/>
          </a:bodyPr>
          <a:lstStyle/>
          <a:p>
            <a:pPr indent="-304800">
              <a:lnSpc>
                <a:spcPct val="100000"/>
              </a:lnSpc>
              <a:spcBef>
                <a:spcPts val="0"/>
              </a:spcBef>
              <a:buSzPts val="2800"/>
              <a:buFont typeface="Quattrocento Sans"/>
              <a:buChar char="●"/>
            </a:pPr>
            <a:r>
              <a:rPr lang="en-GB" dirty="0"/>
              <a:t>Tries are defined by 3 types:</a:t>
            </a:r>
          </a:p>
          <a:p>
            <a:pPr lvl="1" indent="-295275">
              <a:spcBef>
                <a:spcPts val="0"/>
              </a:spcBef>
              <a:buSzPts val="1800"/>
            </a:pPr>
            <a:r>
              <a:rPr lang="en-GB" dirty="0"/>
              <a:t>An “alphabet”: the domain of the characters</a:t>
            </a:r>
          </a:p>
          <a:p>
            <a:pPr lvl="1" indent="-295275">
              <a:spcBef>
                <a:spcPts val="0"/>
              </a:spcBef>
              <a:buSzPts val="1800"/>
            </a:pPr>
            <a:r>
              <a:rPr lang="en-GB" dirty="0"/>
              <a:t>A “key”: a sequence of “characters” from the alphabet</a:t>
            </a:r>
          </a:p>
          <a:p>
            <a:pPr lvl="1" indent="-295275">
              <a:spcBef>
                <a:spcPts val="0"/>
              </a:spcBef>
              <a:buSzPts val="1800"/>
            </a:pPr>
            <a:r>
              <a:rPr lang="en-GB" dirty="0"/>
              <a:t>A “value”: the usual Dictionary value</a:t>
            </a:r>
          </a:p>
          <a:p>
            <a:pPr indent="-304800">
              <a:lnSpc>
                <a:spcPct val="100000"/>
              </a:lnSpc>
              <a:spcBef>
                <a:spcPts val="0"/>
              </a:spcBef>
              <a:buSzPts val="2800"/>
              <a:buFont typeface="Quattrocento Sans"/>
              <a:buChar char="●"/>
            </a:pPr>
            <a:r>
              <a:rPr lang="en-US" dirty="0"/>
              <a:t>Tries Prefix matching</a:t>
            </a:r>
          </a:p>
          <a:p>
            <a:pPr lvl="1" indent="-295275">
              <a:spcBef>
                <a:spcPts val="0"/>
              </a:spcBef>
              <a:buSzPts val="1800"/>
            </a:pPr>
            <a:r>
              <a:rPr lang="en-US" dirty="0"/>
              <a:t>Keys are sequences that can have prefixes</a:t>
            </a:r>
          </a:p>
          <a:p>
            <a:pPr indent="-304800">
              <a:lnSpc>
                <a:spcPct val="100000"/>
              </a:lnSpc>
              <a:spcBef>
                <a:spcPts val="0"/>
              </a:spcBef>
              <a:buClr>
                <a:srgbClr val="4A2A84"/>
              </a:buClr>
              <a:buSzPts val="2800"/>
              <a:buFont typeface="Quattrocento Sans"/>
              <a:buChar char="●"/>
            </a:pPr>
            <a:r>
              <a:rPr lang="en-US" dirty="0"/>
              <a:t>Longest prefix</a:t>
            </a:r>
          </a:p>
          <a:p>
            <a:pPr lvl="1" indent="-295275">
              <a:spcBef>
                <a:spcPts val="0"/>
              </a:spcBef>
              <a:buSzPts val="1800"/>
            </a:pPr>
            <a:r>
              <a:rPr lang="en-US" dirty="0" err="1">
                <a:sym typeface="Courier New"/>
              </a:rPr>
              <a:t>longestPrefixOf</a:t>
            </a:r>
            <a:r>
              <a:rPr lang="en-US" dirty="0">
                <a:sym typeface="Courier New"/>
              </a:rPr>
              <a:t>("sample")</a:t>
            </a:r>
          </a:p>
          <a:p>
            <a:pPr lvl="1" indent="-295275">
              <a:spcBef>
                <a:spcPts val="0"/>
              </a:spcBef>
              <a:buSzPts val="1800"/>
            </a:pPr>
            <a:r>
              <a:rPr lang="en-US" dirty="0"/>
              <a:t>Want: </a:t>
            </a:r>
            <a:r>
              <a:rPr lang="en-US" dirty="0">
                <a:sym typeface="Courier New"/>
              </a:rPr>
              <a:t>{"</a:t>
            </a:r>
            <a:r>
              <a:rPr lang="en-US" dirty="0" err="1">
                <a:sym typeface="Courier New"/>
              </a:rPr>
              <a:t>sam</a:t>
            </a:r>
            <a:r>
              <a:rPr lang="en-US" dirty="0">
                <a:sym typeface="Courier New"/>
              </a:rPr>
              <a:t>"}</a:t>
            </a:r>
          </a:p>
          <a:p>
            <a:pPr indent="-304800">
              <a:lnSpc>
                <a:spcPct val="100000"/>
              </a:lnSpc>
              <a:spcBef>
                <a:spcPts val="0"/>
              </a:spcBef>
              <a:buClr>
                <a:srgbClr val="4A2A84"/>
              </a:buClr>
              <a:buSzPts val="2800"/>
              <a:buFont typeface="Quattrocento Sans"/>
              <a:buChar char="●"/>
            </a:pPr>
            <a:r>
              <a:rPr lang="en-US" dirty="0"/>
              <a:t>Prefix match</a:t>
            </a:r>
          </a:p>
          <a:p>
            <a:pPr lvl="1" indent="-295275">
              <a:spcBef>
                <a:spcPts val="0"/>
              </a:spcBef>
              <a:buSzPts val="1800"/>
            </a:pPr>
            <a:r>
              <a:rPr lang="en-US" dirty="0" err="1">
                <a:sym typeface="Courier New"/>
              </a:rPr>
              <a:t>findPrefix</a:t>
            </a:r>
            <a:r>
              <a:rPr lang="en-US" dirty="0">
                <a:sym typeface="Courier New"/>
              </a:rPr>
              <a:t>("</a:t>
            </a:r>
            <a:r>
              <a:rPr lang="en-US" dirty="0" err="1">
                <a:sym typeface="Courier New"/>
              </a:rPr>
              <a:t>sa</a:t>
            </a:r>
            <a:r>
              <a:rPr lang="en-US" dirty="0">
                <a:sym typeface="Courier New"/>
              </a:rPr>
              <a:t>")</a:t>
            </a:r>
          </a:p>
          <a:p>
            <a:pPr lvl="1" indent="-295275">
              <a:spcBef>
                <a:spcPts val="0"/>
              </a:spcBef>
              <a:buSzPts val="1800"/>
            </a:pPr>
            <a:r>
              <a:rPr lang="en-US" dirty="0"/>
              <a:t>Want: </a:t>
            </a:r>
            <a:r>
              <a:rPr lang="en-US" dirty="0">
                <a:sym typeface="Courier New"/>
              </a:rPr>
              <a:t>{"sad", "</a:t>
            </a:r>
            <a:r>
              <a:rPr lang="en-US" dirty="0" err="1">
                <a:sym typeface="Courier New"/>
              </a:rPr>
              <a:t>sam</a:t>
            </a:r>
            <a:r>
              <a:rPr lang="en-US" dirty="0">
                <a:sym typeface="Courier New"/>
              </a:rPr>
              <a:t>", "same", "sap"}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857" name="Google Shape;857;p56">
            <a:extLst>
              <a:ext uri="{FF2B5EF4-FFF2-40B4-BE49-F238E27FC236}">
                <a16:creationId xmlns:a16="http://schemas.microsoft.com/office/drawing/2014/main" id="{8831E183-6542-1D88-09AD-DC98E34A2C42}"/>
              </a:ext>
            </a:extLst>
          </p:cNvPr>
          <p:cNvGrpSpPr/>
          <p:nvPr/>
        </p:nvGrpSpPr>
        <p:grpSpPr>
          <a:xfrm>
            <a:off x="6873496" y="1851776"/>
            <a:ext cx="2011144" cy="2551574"/>
            <a:chOff x="8139948" y="2636947"/>
            <a:chExt cx="2680721" cy="3402098"/>
          </a:xfrm>
        </p:grpSpPr>
        <p:sp>
          <p:nvSpPr>
            <p:cNvPr id="858" name="Google Shape;858;p56">
              <a:extLst>
                <a:ext uri="{FF2B5EF4-FFF2-40B4-BE49-F238E27FC236}">
                  <a16:creationId xmlns:a16="http://schemas.microsoft.com/office/drawing/2014/main" id="{566AB5E0-C038-191B-0417-A83B135AA911}"/>
                </a:ext>
              </a:extLst>
            </p:cNvPr>
            <p:cNvSpPr/>
            <p:nvPr/>
          </p:nvSpPr>
          <p:spPr>
            <a:xfrm>
              <a:off x="9628017" y="4163465"/>
              <a:ext cx="486054" cy="476301"/>
            </a:xfrm>
            <a:custGeom>
              <a:avLst/>
              <a:gdLst/>
              <a:ahLst/>
              <a:cxnLst/>
              <a:rect l="l" t="t" r="r" b="b"/>
              <a:pathLst>
                <a:path w="325120" h="325120" extrusionOk="0">
                  <a:moveTo>
                    <a:pt x="0" y="162306"/>
                  </a:moveTo>
                  <a:lnTo>
                    <a:pt x="5796" y="119150"/>
                  </a:lnTo>
                  <a:lnTo>
                    <a:pt x="22154" y="80376"/>
                  </a:lnTo>
                  <a:lnTo>
                    <a:pt x="47529" y="47529"/>
                  </a:lnTo>
                  <a:lnTo>
                    <a:pt x="80376" y="22154"/>
                  </a:lnTo>
                  <a:lnTo>
                    <a:pt x="119150" y="5796"/>
                  </a:lnTo>
                  <a:lnTo>
                    <a:pt x="162306" y="0"/>
                  </a:lnTo>
                  <a:lnTo>
                    <a:pt x="205461" y="5796"/>
                  </a:lnTo>
                  <a:lnTo>
                    <a:pt x="244235" y="22154"/>
                  </a:lnTo>
                  <a:lnTo>
                    <a:pt x="277082" y="47529"/>
                  </a:lnTo>
                  <a:lnTo>
                    <a:pt x="302457" y="80376"/>
                  </a:lnTo>
                  <a:lnTo>
                    <a:pt x="318815" y="119150"/>
                  </a:lnTo>
                  <a:lnTo>
                    <a:pt x="324612" y="162306"/>
                  </a:lnTo>
                  <a:lnTo>
                    <a:pt x="318815" y="205461"/>
                  </a:lnTo>
                  <a:lnTo>
                    <a:pt x="302457" y="244235"/>
                  </a:lnTo>
                  <a:lnTo>
                    <a:pt x="277082" y="277082"/>
                  </a:lnTo>
                  <a:lnTo>
                    <a:pt x="244235" y="302457"/>
                  </a:lnTo>
                  <a:lnTo>
                    <a:pt x="205461" y="318815"/>
                  </a:lnTo>
                  <a:lnTo>
                    <a:pt x="162306" y="324612"/>
                  </a:lnTo>
                  <a:lnTo>
                    <a:pt x="119150" y="318815"/>
                  </a:lnTo>
                  <a:lnTo>
                    <a:pt x="80376" y="302457"/>
                  </a:lnTo>
                  <a:lnTo>
                    <a:pt x="47529" y="277082"/>
                  </a:lnTo>
                  <a:lnTo>
                    <a:pt x="22154" y="244235"/>
                  </a:lnTo>
                  <a:lnTo>
                    <a:pt x="5796" y="205461"/>
                  </a:lnTo>
                  <a:lnTo>
                    <a:pt x="0" y="162306"/>
                  </a:lnTo>
                  <a:close/>
                </a:path>
              </a:pathLst>
            </a:custGeom>
            <a:noFill/>
            <a:ln w="198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175"/>
            </a:p>
          </p:txBody>
        </p:sp>
        <p:sp>
          <p:nvSpPr>
            <p:cNvPr id="859" name="Google Shape;859;p56">
              <a:extLst>
                <a:ext uri="{FF2B5EF4-FFF2-40B4-BE49-F238E27FC236}">
                  <a16:creationId xmlns:a16="http://schemas.microsoft.com/office/drawing/2014/main" id="{D85C13B0-FD27-4082-19CC-211D0EA8883F}"/>
                </a:ext>
              </a:extLst>
            </p:cNvPr>
            <p:cNvSpPr txBox="1"/>
            <p:nvPr/>
          </p:nvSpPr>
          <p:spPr>
            <a:xfrm>
              <a:off x="9782406" y="4201384"/>
              <a:ext cx="193801" cy="360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6275" rIns="0" bIns="0" anchor="t" anchorCtr="0">
              <a:spAutoFit/>
            </a:bodyPr>
            <a:lstStyle/>
            <a:p>
              <a:pPr marL="19050"/>
              <a:r>
                <a:rPr lang="en-US" sz="1650"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sz="165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860" name="Google Shape;860;p56">
              <a:extLst>
                <a:ext uri="{FF2B5EF4-FFF2-40B4-BE49-F238E27FC236}">
                  <a16:creationId xmlns:a16="http://schemas.microsoft.com/office/drawing/2014/main" id="{211FA577-C5A1-B6E4-8F32-CA60D2E4D7A3}"/>
                </a:ext>
              </a:extLst>
            </p:cNvPr>
            <p:cNvGrpSpPr/>
            <p:nvPr/>
          </p:nvGrpSpPr>
          <p:grpSpPr>
            <a:xfrm>
              <a:off x="9628076" y="4862801"/>
              <a:ext cx="486152" cy="476756"/>
              <a:chOff x="5290565" y="3637025"/>
              <a:chExt cx="325120" cy="325120"/>
            </a:xfrm>
          </p:grpSpPr>
          <p:sp>
            <p:nvSpPr>
              <p:cNvPr id="861" name="Google Shape;861;p56">
                <a:extLst>
                  <a:ext uri="{FF2B5EF4-FFF2-40B4-BE49-F238E27FC236}">
                    <a16:creationId xmlns:a16="http://schemas.microsoft.com/office/drawing/2014/main" id="{1F2AD8FE-E0F1-5F71-9A0E-282DFF5B0063}"/>
                  </a:ext>
                </a:extLst>
              </p:cNvPr>
              <p:cNvSpPr/>
              <p:nvPr/>
            </p:nvSpPr>
            <p:spPr>
              <a:xfrm>
                <a:off x="5290565" y="3637025"/>
                <a:ext cx="325120" cy="325120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20" extrusionOk="0">
                    <a:moveTo>
                      <a:pt x="162306" y="0"/>
                    </a:moveTo>
                    <a:lnTo>
                      <a:pt x="119150" y="5796"/>
                    </a:lnTo>
                    <a:lnTo>
                      <a:pt x="80376" y="22154"/>
                    </a:lnTo>
                    <a:lnTo>
                      <a:pt x="47529" y="47529"/>
                    </a:lnTo>
                    <a:lnTo>
                      <a:pt x="22154" y="80376"/>
                    </a:lnTo>
                    <a:lnTo>
                      <a:pt x="5796" y="119150"/>
                    </a:lnTo>
                    <a:lnTo>
                      <a:pt x="0" y="162306"/>
                    </a:lnTo>
                    <a:lnTo>
                      <a:pt x="5796" y="205452"/>
                    </a:lnTo>
                    <a:lnTo>
                      <a:pt x="22154" y="244223"/>
                    </a:lnTo>
                    <a:lnTo>
                      <a:pt x="47529" y="277071"/>
                    </a:lnTo>
                    <a:lnTo>
                      <a:pt x="80376" y="302450"/>
                    </a:lnTo>
                    <a:lnTo>
                      <a:pt x="119150" y="318811"/>
                    </a:lnTo>
                    <a:lnTo>
                      <a:pt x="162306" y="324609"/>
                    </a:lnTo>
                    <a:lnTo>
                      <a:pt x="205461" y="318811"/>
                    </a:lnTo>
                    <a:lnTo>
                      <a:pt x="244235" y="302450"/>
                    </a:lnTo>
                    <a:lnTo>
                      <a:pt x="277082" y="277071"/>
                    </a:lnTo>
                    <a:lnTo>
                      <a:pt x="302457" y="244223"/>
                    </a:lnTo>
                    <a:lnTo>
                      <a:pt x="318815" y="205452"/>
                    </a:lnTo>
                    <a:lnTo>
                      <a:pt x="324612" y="162306"/>
                    </a:lnTo>
                    <a:lnTo>
                      <a:pt x="318815" y="119150"/>
                    </a:lnTo>
                    <a:lnTo>
                      <a:pt x="302457" y="80376"/>
                    </a:lnTo>
                    <a:lnTo>
                      <a:pt x="277082" y="47529"/>
                    </a:lnTo>
                    <a:lnTo>
                      <a:pt x="244235" y="22154"/>
                    </a:lnTo>
                    <a:lnTo>
                      <a:pt x="205461" y="5796"/>
                    </a:lnTo>
                    <a:lnTo>
                      <a:pt x="162306" y="0"/>
                    </a:lnTo>
                    <a:close/>
                  </a:path>
                </a:pathLst>
              </a:custGeom>
              <a:solidFill>
                <a:srgbClr val="D6D6F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  <p:sp>
            <p:nvSpPr>
              <p:cNvPr id="862" name="Google Shape;862;p56">
                <a:extLst>
                  <a:ext uri="{FF2B5EF4-FFF2-40B4-BE49-F238E27FC236}">
                    <a16:creationId xmlns:a16="http://schemas.microsoft.com/office/drawing/2014/main" id="{C21340E5-A91B-667A-B054-BD37AE7063E9}"/>
                  </a:ext>
                </a:extLst>
              </p:cNvPr>
              <p:cNvSpPr/>
              <p:nvPr/>
            </p:nvSpPr>
            <p:spPr>
              <a:xfrm>
                <a:off x="5290565" y="3637025"/>
                <a:ext cx="325120" cy="325120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20" extrusionOk="0">
                    <a:moveTo>
                      <a:pt x="0" y="162306"/>
                    </a:moveTo>
                    <a:lnTo>
                      <a:pt x="5796" y="119150"/>
                    </a:lnTo>
                    <a:lnTo>
                      <a:pt x="22154" y="80376"/>
                    </a:lnTo>
                    <a:lnTo>
                      <a:pt x="47529" y="47529"/>
                    </a:lnTo>
                    <a:lnTo>
                      <a:pt x="80376" y="22154"/>
                    </a:lnTo>
                    <a:lnTo>
                      <a:pt x="119150" y="5796"/>
                    </a:lnTo>
                    <a:lnTo>
                      <a:pt x="162306" y="0"/>
                    </a:lnTo>
                    <a:lnTo>
                      <a:pt x="205461" y="5796"/>
                    </a:lnTo>
                    <a:lnTo>
                      <a:pt x="244235" y="22154"/>
                    </a:lnTo>
                    <a:lnTo>
                      <a:pt x="277082" y="47529"/>
                    </a:lnTo>
                    <a:lnTo>
                      <a:pt x="302457" y="80376"/>
                    </a:lnTo>
                    <a:lnTo>
                      <a:pt x="318815" y="119150"/>
                    </a:lnTo>
                    <a:lnTo>
                      <a:pt x="324612" y="162306"/>
                    </a:lnTo>
                    <a:lnTo>
                      <a:pt x="318815" y="205452"/>
                    </a:lnTo>
                    <a:lnTo>
                      <a:pt x="302457" y="244223"/>
                    </a:lnTo>
                    <a:lnTo>
                      <a:pt x="277082" y="277071"/>
                    </a:lnTo>
                    <a:lnTo>
                      <a:pt x="244235" y="302450"/>
                    </a:lnTo>
                    <a:lnTo>
                      <a:pt x="205461" y="318811"/>
                    </a:lnTo>
                    <a:lnTo>
                      <a:pt x="162306" y="324609"/>
                    </a:lnTo>
                    <a:lnTo>
                      <a:pt x="119150" y="318811"/>
                    </a:lnTo>
                    <a:lnTo>
                      <a:pt x="80376" y="302450"/>
                    </a:lnTo>
                    <a:lnTo>
                      <a:pt x="47529" y="277071"/>
                    </a:lnTo>
                    <a:lnTo>
                      <a:pt x="22154" y="244223"/>
                    </a:lnTo>
                    <a:lnTo>
                      <a:pt x="5796" y="205452"/>
                    </a:lnTo>
                    <a:lnTo>
                      <a:pt x="0" y="162306"/>
                    </a:lnTo>
                    <a:close/>
                  </a:path>
                </a:pathLst>
              </a:custGeom>
              <a:noFill/>
              <a:ln w="198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</p:grpSp>
        <p:sp>
          <p:nvSpPr>
            <p:cNvPr id="863" name="Google Shape;863;p56">
              <a:extLst>
                <a:ext uri="{FF2B5EF4-FFF2-40B4-BE49-F238E27FC236}">
                  <a16:creationId xmlns:a16="http://schemas.microsoft.com/office/drawing/2014/main" id="{E0AB040E-D46F-52A3-882A-F31AF21CC081}"/>
                </a:ext>
              </a:extLst>
            </p:cNvPr>
            <p:cNvSpPr txBox="1"/>
            <p:nvPr/>
          </p:nvSpPr>
          <p:spPr>
            <a:xfrm>
              <a:off x="9782406" y="4900973"/>
              <a:ext cx="192899" cy="360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6275" rIns="0" bIns="0" anchor="t" anchorCtr="0">
              <a:spAutoFit/>
            </a:bodyPr>
            <a:lstStyle/>
            <a:p>
              <a:pPr marL="19050"/>
              <a:r>
                <a:rPr lang="en-US" sz="1650">
                  <a:latin typeface="Courier New"/>
                  <a:ea typeface="Courier New"/>
                  <a:cs typeface="Courier New"/>
                  <a:sym typeface="Courier New"/>
                </a:rPr>
                <a:t>m</a:t>
              </a:r>
              <a:endParaRPr sz="165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864" name="Google Shape;864;p56">
              <a:extLst>
                <a:ext uri="{FF2B5EF4-FFF2-40B4-BE49-F238E27FC236}">
                  <a16:creationId xmlns:a16="http://schemas.microsoft.com/office/drawing/2014/main" id="{2CF96FAF-0177-82A7-D5F3-51A72AADAB89}"/>
                </a:ext>
              </a:extLst>
            </p:cNvPr>
            <p:cNvGrpSpPr/>
            <p:nvPr/>
          </p:nvGrpSpPr>
          <p:grpSpPr>
            <a:xfrm>
              <a:off x="8921638" y="4862801"/>
              <a:ext cx="486152" cy="476756"/>
              <a:chOff x="4818126" y="3637025"/>
              <a:chExt cx="325120" cy="325120"/>
            </a:xfrm>
          </p:grpSpPr>
          <p:sp>
            <p:nvSpPr>
              <p:cNvPr id="865" name="Google Shape;865;p56">
                <a:extLst>
                  <a:ext uri="{FF2B5EF4-FFF2-40B4-BE49-F238E27FC236}">
                    <a16:creationId xmlns:a16="http://schemas.microsoft.com/office/drawing/2014/main" id="{5FBDCA86-0565-36AA-3625-50439FFFF120}"/>
                  </a:ext>
                </a:extLst>
              </p:cNvPr>
              <p:cNvSpPr/>
              <p:nvPr/>
            </p:nvSpPr>
            <p:spPr>
              <a:xfrm>
                <a:off x="4818126" y="3637025"/>
                <a:ext cx="325120" cy="325120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20" extrusionOk="0">
                    <a:moveTo>
                      <a:pt x="162306" y="0"/>
                    </a:moveTo>
                    <a:lnTo>
                      <a:pt x="119150" y="5796"/>
                    </a:lnTo>
                    <a:lnTo>
                      <a:pt x="80376" y="22154"/>
                    </a:lnTo>
                    <a:lnTo>
                      <a:pt x="47529" y="47529"/>
                    </a:lnTo>
                    <a:lnTo>
                      <a:pt x="22154" y="80376"/>
                    </a:lnTo>
                    <a:lnTo>
                      <a:pt x="5796" y="119150"/>
                    </a:lnTo>
                    <a:lnTo>
                      <a:pt x="0" y="162306"/>
                    </a:lnTo>
                    <a:lnTo>
                      <a:pt x="5796" y="205452"/>
                    </a:lnTo>
                    <a:lnTo>
                      <a:pt x="22154" y="244223"/>
                    </a:lnTo>
                    <a:lnTo>
                      <a:pt x="47529" y="277071"/>
                    </a:lnTo>
                    <a:lnTo>
                      <a:pt x="80376" y="302450"/>
                    </a:lnTo>
                    <a:lnTo>
                      <a:pt x="119150" y="318811"/>
                    </a:lnTo>
                    <a:lnTo>
                      <a:pt x="162306" y="324609"/>
                    </a:lnTo>
                    <a:lnTo>
                      <a:pt x="205461" y="318811"/>
                    </a:lnTo>
                    <a:lnTo>
                      <a:pt x="244235" y="302450"/>
                    </a:lnTo>
                    <a:lnTo>
                      <a:pt x="277082" y="277071"/>
                    </a:lnTo>
                    <a:lnTo>
                      <a:pt x="302457" y="244223"/>
                    </a:lnTo>
                    <a:lnTo>
                      <a:pt x="318815" y="205452"/>
                    </a:lnTo>
                    <a:lnTo>
                      <a:pt x="324612" y="162306"/>
                    </a:lnTo>
                    <a:lnTo>
                      <a:pt x="318815" y="119150"/>
                    </a:lnTo>
                    <a:lnTo>
                      <a:pt x="302457" y="80376"/>
                    </a:lnTo>
                    <a:lnTo>
                      <a:pt x="277082" y="47529"/>
                    </a:lnTo>
                    <a:lnTo>
                      <a:pt x="244235" y="22154"/>
                    </a:lnTo>
                    <a:lnTo>
                      <a:pt x="205461" y="5796"/>
                    </a:lnTo>
                    <a:lnTo>
                      <a:pt x="162306" y="0"/>
                    </a:lnTo>
                    <a:close/>
                  </a:path>
                </a:pathLst>
              </a:custGeom>
              <a:solidFill>
                <a:srgbClr val="D6D6F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  <p:sp>
            <p:nvSpPr>
              <p:cNvPr id="866" name="Google Shape;866;p56">
                <a:extLst>
                  <a:ext uri="{FF2B5EF4-FFF2-40B4-BE49-F238E27FC236}">
                    <a16:creationId xmlns:a16="http://schemas.microsoft.com/office/drawing/2014/main" id="{7CBF9F08-B590-8CDF-4F71-49226C583916}"/>
                  </a:ext>
                </a:extLst>
              </p:cNvPr>
              <p:cNvSpPr/>
              <p:nvPr/>
            </p:nvSpPr>
            <p:spPr>
              <a:xfrm>
                <a:off x="4818126" y="3637025"/>
                <a:ext cx="325120" cy="325120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20" extrusionOk="0">
                    <a:moveTo>
                      <a:pt x="0" y="162306"/>
                    </a:moveTo>
                    <a:lnTo>
                      <a:pt x="5796" y="119150"/>
                    </a:lnTo>
                    <a:lnTo>
                      <a:pt x="22154" y="80376"/>
                    </a:lnTo>
                    <a:lnTo>
                      <a:pt x="47529" y="47529"/>
                    </a:lnTo>
                    <a:lnTo>
                      <a:pt x="80376" y="22154"/>
                    </a:lnTo>
                    <a:lnTo>
                      <a:pt x="119150" y="5796"/>
                    </a:lnTo>
                    <a:lnTo>
                      <a:pt x="162306" y="0"/>
                    </a:lnTo>
                    <a:lnTo>
                      <a:pt x="205461" y="5796"/>
                    </a:lnTo>
                    <a:lnTo>
                      <a:pt x="244235" y="22154"/>
                    </a:lnTo>
                    <a:lnTo>
                      <a:pt x="277082" y="47529"/>
                    </a:lnTo>
                    <a:lnTo>
                      <a:pt x="302457" y="80376"/>
                    </a:lnTo>
                    <a:lnTo>
                      <a:pt x="318815" y="119150"/>
                    </a:lnTo>
                    <a:lnTo>
                      <a:pt x="324612" y="162306"/>
                    </a:lnTo>
                    <a:lnTo>
                      <a:pt x="318815" y="205452"/>
                    </a:lnTo>
                    <a:lnTo>
                      <a:pt x="302457" y="244223"/>
                    </a:lnTo>
                    <a:lnTo>
                      <a:pt x="277082" y="277071"/>
                    </a:lnTo>
                    <a:lnTo>
                      <a:pt x="244235" y="302450"/>
                    </a:lnTo>
                    <a:lnTo>
                      <a:pt x="205461" y="318811"/>
                    </a:lnTo>
                    <a:lnTo>
                      <a:pt x="162306" y="324609"/>
                    </a:lnTo>
                    <a:lnTo>
                      <a:pt x="119150" y="318811"/>
                    </a:lnTo>
                    <a:lnTo>
                      <a:pt x="80376" y="302450"/>
                    </a:lnTo>
                    <a:lnTo>
                      <a:pt x="47529" y="277071"/>
                    </a:lnTo>
                    <a:lnTo>
                      <a:pt x="22154" y="244223"/>
                    </a:lnTo>
                    <a:lnTo>
                      <a:pt x="5796" y="205452"/>
                    </a:lnTo>
                    <a:lnTo>
                      <a:pt x="0" y="162306"/>
                    </a:lnTo>
                    <a:close/>
                  </a:path>
                </a:pathLst>
              </a:custGeom>
              <a:noFill/>
              <a:ln w="198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</p:grpSp>
        <p:sp>
          <p:nvSpPr>
            <p:cNvPr id="867" name="Google Shape;867;p56">
              <a:extLst>
                <a:ext uri="{FF2B5EF4-FFF2-40B4-BE49-F238E27FC236}">
                  <a16:creationId xmlns:a16="http://schemas.microsoft.com/office/drawing/2014/main" id="{C1D74DA3-A331-BB00-6AD8-640240FC8E8A}"/>
                </a:ext>
              </a:extLst>
            </p:cNvPr>
            <p:cNvSpPr txBox="1"/>
            <p:nvPr/>
          </p:nvSpPr>
          <p:spPr>
            <a:xfrm>
              <a:off x="9076543" y="4900973"/>
              <a:ext cx="192899" cy="360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6275" rIns="0" bIns="0" anchor="t" anchorCtr="0">
              <a:spAutoFit/>
            </a:bodyPr>
            <a:lstStyle/>
            <a:p>
              <a:pPr marL="19050"/>
              <a:r>
                <a:rPr lang="en-US" sz="1650">
                  <a:latin typeface="Courier New"/>
                  <a:ea typeface="Courier New"/>
                  <a:cs typeface="Courier New"/>
                  <a:sym typeface="Courier New"/>
                </a:rPr>
                <a:t>d</a:t>
              </a:r>
              <a:endParaRPr sz="165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868" name="Google Shape;868;p56">
              <a:extLst>
                <a:ext uri="{FF2B5EF4-FFF2-40B4-BE49-F238E27FC236}">
                  <a16:creationId xmlns:a16="http://schemas.microsoft.com/office/drawing/2014/main" id="{8E1922B3-78B0-FC6A-5082-B8B5C079464F}"/>
                </a:ext>
              </a:extLst>
            </p:cNvPr>
            <p:cNvGrpSpPr/>
            <p:nvPr/>
          </p:nvGrpSpPr>
          <p:grpSpPr>
            <a:xfrm>
              <a:off x="10334517" y="4862801"/>
              <a:ext cx="486152" cy="476756"/>
              <a:chOff x="5763006" y="3637025"/>
              <a:chExt cx="325120" cy="325120"/>
            </a:xfrm>
          </p:grpSpPr>
          <p:sp>
            <p:nvSpPr>
              <p:cNvPr id="869" name="Google Shape;869;p56">
                <a:extLst>
                  <a:ext uri="{FF2B5EF4-FFF2-40B4-BE49-F238E27FC236}">
                    <a16:creationId xmlns:a16="http://schemas.microsoft.com/office/drawing/2014/main" id="{4CDB7388-95DE-E98B-1B82-56C3B5C06FA5}"/>
                  </a:ext>
                </a:extLst>
              </p:cNvPr>
              <p:cNvSpPr/>
              <p:nvPr/>
            </p:nvSpPr>
            <p:spPr>
              <a:xfrm>
                <a:off x="5763006" y="3637025"/>
                <a:ext cx="325120" cy="325120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20" extrusionOk="0">
                    <a:moveTo>
                      <a:pt x="162306" y="0"/>
                    </a:moveTo>
                    <a:lnTo>
                      <a:pt x="119150" y="5796"/>
                    </a:lnTo>
                    <a:lnTo>
                      <a:pt x="80376" y="22154"/>
                    </a:lnTo>
                    <a:lnTo>
                      <a:pt x="47529" y="47529"/>
                    </a:lnTo>
                    <a:lnTo>
                      <a:pt x="22154" y="80376"/>
                    </a:lnTo>
                    <a:lnTo>
                      <a:pt x="5796" y="119150"/>
                    </a:lnTo>
                    <a:lnTo>
                      <a:pt x="0" y="162306"/>
                    </a:lnTo>
                    <a:lnTo>
                      <a:pt x="5796" y="205452"/>
                    </a:lnTo>
                    <a:lnTo>
                      <a:pt x="22154" y="244223"/>
                    </a:lnTo>
                    <a:lnTo>
                      <a:pt x="47529" y="277071"/>
                    </a:lnTo>
                    <a:lnTo>
                      <a:pt x="80376" y="302450"/>
                    </a:lnTo>
                    <a:lnTo>
                      <a:pt x="119150" y="318811"/>
                    </a:lnTo>
                    <a:lnTo>
                      <a:pt x="162306" y="324609"/>
                    </a:lnTo>
                    <a:lnTo>
                      <a:pt x="205461" y="318811"/>
                    </a:lnTo>
                    <a:lnTo>
                      <a:pt x="244235" y="302450"/>
                    </a:lnTo>
                    <a:lnTo>
                      <a:pt x="277082" y="277071"/>
                    </a:lnTo>
                    <a:lnTo>
                      <a:pt x="302457" y="244223"/>
                    </a:lnTo>
                    <a:lnTo>
                      <a:pt x="318815" y="205452"/>
                    </a:lnTo>
                    <a:lnTo>
                      <a:pt x="324612" y="162306"/>
                    </a:lnTo>
                    <a:lnTo>
                      <a:pt x="318815" y="119150"/>
                    </a:lnTo>
                    <a:lnTo>
                      <a:pt x="302457" y="80376"/>
                    </a:lnTo>
                    <a:lnTo>
                      <a:pt x="277082" y="47529"/>
                    </a:lnTo>
                    <a:lnTo>
                      <a:pt x="244235" y="22154"/>
                    </a:lnTo>
                    <a:lnTo>
                      <a:pt x="205461" y="5796"/>
                    </a:lnTo>
                    <a:lnTo>
                      <a:pt x="162306" y="0"/>
                    </a:lnTo>
                    <a:close/>
                  </a:path>
                </a:pathLst>
              </a:custGeom>
              <a:solidFill>
                <a:srgbClr val="D6D6F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  <p:sp>
            <p:nvSpPr>
              <p:cNvPr id="870" name="Google Shape;870;p56">
                <a:extLst>
                  <a:ext uri="{FF2B5EF4-FFF2-40B4-BE49-F238E27FC236}">
                    <a16:creationId xmlns:a16="http://schemas.microsoft.com/office/drawing/2014/main" id="{77052CBD-817E-4B69-8A76-7F676741306F}"/>
                  </a:ext>
                </a:extLst>
              </p:cNvPr>
              <p:cNvSpPr/>
              <p:nvPr/>
            </p:nvSpPr>
            <p:spPr>
              <a:xfrm>
                <a:off x="5763006" y="3637025"/>
                <a:ext cx="325120" cy="325120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20" extrusionOk="0">
                    <a:moveTo>
                      <a:pt x="0" y="162306"/>
                    </a:moveTo>
                    <a:lnTo>
                      <a:pt x="5796" y="119150"/>
                    </a:lnTo>
                    <a:lnTo>
                      <a:pt x="22154" y="80376"/>
                    </a:lnTo>
                    <a:lnTo>
                      <a:pt x="47529" y="47529"/>
                    </a:lnTo>
                    <a:lnTo>
                      <a:pt x="80376" y="22154"/>
                    </a:lnTo>
                    <a:lnTo>
                      <a:pt x="119150" y="5796"/>
                    </a:lnTo>
                    <a:lnTo>
                      <a:pt x="162306" y="0"/>
                    </a:lnTo>
                    <a:lnTo>
                      <a:pt x="205461" y="5796"/>
                    </a:lnTo>
                    <a:lnTo>
                      <a:pt x="244235" y="22154"/>
                    </a:lnTo>
                    <a:lnTo>
                      <a:pt x="277082" y="47529"/>
                    </a:lnTo>
                    <a:lnTo>
                      <a:pt x="302457" y="80376"/>
                    </a:lnTo>
                    <a:lnTo>
                      <a:pt x="318815" y="119150"/>
                    </a:lnTo>
                    <a:lnTo>
                      <a:pt x="324612" y="162306"/>
                    </a:lnTo>
                    <a:lnTo>
                      <a:pt x="318815" y="205452"/>
                    </a:lnTo>
                    <a:lnTo>
                      <a:pt x="302457" y="244223"/>
                    </a:lnTo>
                    <a:lnTo>
                      <a:pt x="277082" y="277071"/>
                    </a:lnTo>
                    <a:lnTo>
                      <a:pt x="244235" y="302450"/>
                    </a:lnTo>
                    <a:lnTo>
                      <a:pt x="205461" y="318811"/>
                    </a:lnTo>
                    <a:lnTo>
                      <a:pt x="162306" y="324609"/>
                    </a:lnTo>
                    <a:lnTo>
                      <a:pt x="119150" y="318811"/>
                    </a:lnTo>
                    <a:lnTo>
                      <a:pt x="80376" y="302450"/>
                    </a:lnTo>
                    <a:lnTo>
                      <a:pt x="47529" y="277071"/>
                    </a:lnTo>
                    <a:lnTo>
                      <a:pt x="22154" y="244223"/>
                    </a:lnTo>
                    <a:lnTo>
                      <a:pt x="5796" y="205452"/>
                    </a:lnTo>
                    <a:lnTo>
                      <a:pt x="0" y="162306"/>
                    </a:lnTo>
                    <a:close/>
                  </a:path>
                </a:pathLst>
              </a:custGeom>
              <a:noFill/>
              <a:ln w="198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</p:grpSp>
        <p:sp>
          <p:nvSpPr>
            <p:cNvPr id="871" name="Google Shape;871;p56">
              <a:extLst>
                <a:ext uri="{FF2B5EF4-FFF2-40B4-BE49-F238E27FC236}">
                  <a16:creationId xmlns:a16="http://schemas.microsoft.com/office/drawing/2014/main" id="{76BEC850-3FF0-DB0A-ECF7-034BEB9A0F33}"/>
                </a:ext>
              </a:extLst>
            </p:cNvPr>
            <p:cNvSpPr txBox="1"/>
            <p:nvPr/>
          </p:nvSpPr>
          <p:spPr>
            <a:xfrm>
              <a:off x="10488842" y="4900973"/>
              <a:ext cx="192899" cy="360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6275" rIns="0" bIns="0" anchor="t" anchorCtr="0">
              <a:spAutoFit/>
            </a:bodyPr>
            <a:lstStyle/>
            <a:p>
              <a:pPr marL="19050"/>
              <a:r>
                <a:rPr lang="en-US" sz="1650">
                  <a:latin typeface="Courier New"/>
                  <a:ea typeface="Courier New"/>
                  <a:cs typeface="Courier New"/>
                  <a:sym typeface="Courier New"/>
                </a:rPr>
                <a:t>p</a:t>
              </a:r>
              <a:endParaRPr sz="165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872" name="Google Shape;872;p56">
              <a:extLst>
                <a:ext uri="{FF2B5EF4-FFF2-40B4-BE49-F238E27FC236}">
                  <a16:creationId xmlns:a16="http://schemas.microsoft.com/office/drawing/2014/main" id="{BFB2211E-2003-C211-9049-35CDD2E98A07}"/>
                </a:ext>
              </a:extLst>
            </p:cNvPr>
            <p:cNvGrpSpPr/>
            <p:nvPr/>
          </p:nvGrpSpPr>
          <p:grpSpPr>
            <a:xfrm>
              <a:off x="9628076" y="5562289"/>
              <a:ext cx="486152" cy="476756"/>
              <a:chOff x="5290565" y="4114035"/>
              <a:chExt cx="325120" cy="325120"/>
            </a:xfrm>
          </p:grpSpPr>
          <p:sp>
            <p:nvSpPr>
              <p:cNvPr id="873" name="Google Shape;873;p56">
                <a:extLst>
                  <a:ext uri="{FF2B5EF4-FFF2-40B4-BE49-F238E27FC236}">
                    <a16:creationId xmlns:a16="http://schemas.microsoft.com/office/drawing/2014/main" id="{502F204E-6B5E-7E21-37B7-DB8DD2289A3C}"/>
                  </a:ext>
                </a:extLst>
              </p:cNvPr>
              <p:cNvSpPr/>
              <p:nvPr/>
            </p:nvSpPr>
            <p:spPr>
              <a:xfrm>
                <a:off x="5290565" y="4114035"/>
                <a:ext cx="325120" cy="325120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20" extrusionOk="0">
                    <a:moveTo>
                      <a:pt x="162306" y="0"/>
                    </a:moveTo>
                    <a:lnTo>
                      <a:pt x="119150" y="5798"/>
                    </a:lnTo>
                    <a:lnTo>
                      <a:pt x="80376" y="22160"/>
                    </a:lnTo>
                    <a:lnTo>
                      <a:pt x="47529" y="47540"/>
                    </a:lnTo>
                    <a:lnTo>
                      <a:pt x="22154" y="80390"/>
                    </a:lnTo>
                    <a:lnTo>
                      <a:pt x="5796" y="119161"/>
                    </a:lnTo>
                    <a:lnTo>
                      <a:pt x="0" y="162307"/>
                    </a:lnTo>
                    <a:lnTo>
                      <a:pt x="5796" y="205454"/>
                    </a:lnTo>
                    <a:lnTo>
                      <a:pt x="22154" y="244226"/>
                    </a:lnTo>
                    <a:lnTo>
                      <a:pt x="47529" y="277075"/>
                    </a:lnTo>
                    <a:lnTo>
                      <a:pt x="80376" y="302454"/>
                    </a:lnTo>
                    <a:lnTo>
                      <a:pt x="119150" y="318816"/>
                    </a:lnTo>
                    <a:lnTo>
                      <a:pt x="162306" y="324614"/>
                    </a:lnTo>
                    <a:lnTo>
                      <a:pt x="205461" y="318816"/>
                    </a:lnTo>
                    <a:lnTo>
                      <a:pt x="244235" y="302454"/>
                    </a:lnTo>
                    <a:lnTo>
                      <a:pt x="277082" y="277075"/>
                    </a:lnTo>
                    <a:lnTo>
                      <a:pt x="302457" y="244226"/>
                    </a:lnTo>
                    <a:lnTo>
                      <a:pt x="318815" y="205454"/>
                    </a:lnTo>
                    <a:lnTo>
                      <a:pt x="324612" y="162307"/>
                    </a:lnTo>
                    <a:lnTo>
                      <a:pt x="318815" y="119161"/>
                    </a:lnTo>
                    <a:lnTo>
                      <a:pt x="302457" y="80390"/>
                    </a:lnTo>
                    <a:lnTo>
                      <a:pt x="277082" y="47540"/>
                    </a:lnTo>
                    <a:lnTo>
                      <a:pt x="244235" y="22160"/>
                    </a:lnTo>
                    <a:lnTo>
                      <a:pt x="205461" y="5798"/>
                    </a:lnTo>
                    <a:lnTo>
                      <a:pt x="162306" y="0"/>
                    </a:lnTo>
                    <a:close/>
                  </a:path>
                </a:pathLst>
              </a:custGeom>
              <a:solidFill>
                <a:srgbClr val="D6D6F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  <p:sp>
            <p:nvSpPr>
              <p:cNvPr id="874" name="Google Shape;874;p56">
                <a:extLst>
                  <a:ext uri="{FF2B5EF4-FFF2-40B4-BE49-F238E27FC236}">
                    <a16:creationId xmlns:a16="http://schemas.microsoft.com/office/drawing/2014/main" id="{E0ED4885-CE80-6CF4-5350-A1FCE3D2D571}"/>
                  </a:ext>
                </a:extLst>
              </p:cNvPr>
              <p:cNvSpPr/>
              <p:nvPr/>
            </p:nvSpPr>
            <p:spPr>
              <a:xfrm>
                <a:off x="5290565" y="4114035"/>
                <a:ext cx="325120" cy="325120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20" extrusionOk="0">
                    <a:moveTo>
                      <a:pt x="0" y="162307"/>
                    </a:moveTo>
                    <a:lnTo>
                      <a:pt x="5796" y="119161"/>
                    </a:lnTo>
                    <a:lnTo>
                      <a:pt x="22154" y="80390"/>
                    </a:lnTo>
                    <a:lnTo>
                      <a:pt x="47529" y="47540"/>
                    </a:lnTo>
                    <a:lnTo>
                      <a:pt x="80376" y="22160"/>
                    </a:lnTo>
                    <a:lnTo>
                      <a:pt x="119150" y="5798"/>
                    </a:lnTo>
                    <a:lnTo>
                      <a:pt x="162306" y="0"/>
                    </a:lnTo>
                    <a:lnTo>
                      <a:pt x="205461" y="5798"/>
                    </a:lnTo>
                    <a:lnTo>
                      <a:pt x="244235" y="22160"/>
                    </a:lnTo>
                    <a:lnTo>
                      <a:pt x="277082" y="47540"/>
                    </a:lnTo>
                    <a:lnTo>
                      <a:pt x="302457" y="80390"/>
                    </a:lnTo>
                    <a:lnTo>
                      <a:pt x="318815" y="119161"/>
                    </a:lnTo>
                    <a:lnTo>
                      <a:pt x="324612" y="162307"/>
                    </a:lnTo>
                    <a:lnTo>
                      <a:pt x="318815" y="205454"/>
                    </a:lnTo>
                    <a:lnTo>
                      <a:pt x="302457" y="244226"/>
                    </a:lnTo>
                    <a:lnTo>
                      <a:pt x="277082" y="277075"/>
                    </a:lnTo>
                    <a:lnTo>
                      <a:pt x="244235" y="302454"/>
                    </a:lnTo>
                    <a:lnTo>
                      <a:pt x="205461" y="318816"/>
                    </a:lnTo>
                    <a:lnTo>
                      <a:pt x="162306" y="324614"/>
                    </a:lnTo>
                    <a:lnTo>
                      <a:pt x="119150" y="318816"/>
                    </a:lnTo>
                    <a:lnTo>
                      <a:pt x="80376" y="302454"/>
                    </a:lnTo>
                    <a:lnTo>
                      <a:pt x="47529" y="277075"/>
                    </a:lnTo>
                    <a:lnTo>
                      <a:pt x="22154" y="244226"/>
                    </a:lnTo>
                    <a:lnTo>
                      <a:pt x="5796" y="205454"/>
                    </a:lnTo>
                    <a:lnTo>
                      <a:pt x="0" y="162307"/>
                    </a:lnTo>
                    <a:close/>
                  </a:path>
                </a:pathLst>
              </a:custGeom>
              <a:noFill/>
              <a:ln w="198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</p:grpSp>
        <p:sp>
          <p:nvSpPr>
            <p:cNvPr id="875" name="Google Shape;875;p56">
              <a:extLst>
                <a:ext uri="{FF2B5EF4-FFF2-40B4-BE49-F238E27FC236}">
                  <a16:creationId xmlns:a16="http://schemas.microsoft.com/office/drawing/2014/main" id="{CEC0C376-76E3-B06D-DBE9-D06A0551016B}"/>
                </a:ext>
              </a:extLst>
            </p:cNvPr>
            <p:cNvSpPr txBox="1"/>
            <p:nvPr/>
          </p:nvSpPr>
          <p:spPr>
            <a:xfrm>
              <a:off x="9782406" y="5599966"/>
              <a:ext cx="192899" cy="360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6275" rIns="0" bIns="0" anchor="t" anchorCtr="0">
              <a:spAutoFit/>
            </a:bodyPr>
            <a:lstStyle/>
            <a:p>
              <a:pPr marL="19050"/>
              <a:r>
                <a:rPr lang="en-US" sz="1650">
                  <a:latin typeface="Courier New"/>
                  <a:ea typeface="Courier New"/>
                  <a:cs typeface="Courier New"/>
                  <a:sym typeface="Courier New"/>
                </a:rPr>
                <a:t>e</a:t>
              </a:r>
              <a:endParaRPr sz="165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876" name="Google Shape;876;p56">
              <a:extLst>
                <a:ext uri="{FF2B5EF4-FFF2-40B4-BE49-F238E27FC236}">
                  <a16:creationId xmlns:a16="http://schemas.microsoft.com/office/drawing/2014/main" id="{75415029-0002-2D8E-F4BE-3C45FD7A95A2}"/>
                </a:ext>
              </a:extLst>
            </p:cNvPr>
            <p:cNvSpPr/>
            <p:nvPr/>
          </p:nvSpPr>
          <p:spPr>
            <a:xfrm>
              <a:off x="8139948" y="4163465"/>
              <a:ext cx="486054" cy="476301"/>
            </a:xfrm>
            <a:custGeom>
              <a:avLst/>
              <a:gdLst/>
              <a:ahLst/>
              <a:cxnLst/>
              <a:rect l="l" t="t" r="r" b="b"/>
              <a:pathLst>
                <a:path w="325120" h="325120" extrusionOk="0">
                  <a:moveTo>
                    <a:pt x="0" y="162306"/>
                  </a:moveTo>
                  <a:lnTo>
                    <a:pt x="5796" y="119150"/>
                  </a:lnTo>
                  <a:lnTo>
                    <a:pt x="22154" y="80376"/>
                  </a:lnTo>
                  <a:lnTo>
                    <a:pt x="47529" y="47529"/>
                  </a:lnTo>
                  <a:lnTo>
                    <a:pt x="80376" y="22154"/>
                  </a:lnTo>
                  <a:lnTo>
                    <a:pt x="119150" y="5796"/>
                  </a:lnTo>
                  <a:lnTo>
                    <a:pt x="162306" y="0"/>
                  </a:lnTo>
                  <a:lnTo>
                    <a:pt x="205461" y="5796"/>
                  </a:lnTo>
                  <a:lnTo>
                    <a:pt x="244235" y="22154"/>
                  </a:lnTo>
                  <a:lnTo>
                    <a:pt x="277082" y="47529"/>
                  </a:lnTo>
                  <a:lnTo>
                    <a:pt x="302457" y="80376"/>
                  </a:lnTo>
                  <a:lnTo>
                    <a:pt x="318815" y="119150"/>
                  </a:lnTo>
                  <a:lnTo>
                    <a:pt x="324612" y="162306"/>
                  </a:lnTo>
                  <a:lnTo>
                    <a:pt x="318815" y="205461"/>
                  </a:lnTo>
                  <a:lnTo>
                    <a:pt x="302457" y="244235"/>
                  </a:lnTo>
                  <a:lnTo>
                    <a:pt x="277082" y="277082"/>
                  </a:lnTo>
                  <a:lnTo>
                    <a:pt x="244235" y="302457"/>
                  </a:lnTo>
                  <a:lnTo>
                    <a:pt x="205461" y="318815"/>
                  </a:lnTo>
                  <a:lnTo>
                    <a:pt x="162306" y="324612"/>
                  </a:lnTo>
                  <a:lnTo>
                    <a:pt x="119150" y="318815"/>
                  </a:lnTo>
                  <a:lnTo>
                    <a:pt x="80376" y="302457"/>
                  </a:lnTo>
                  <a:lnTo>
                    <a:pt x="47529" y="277082"/>
                  </a:lnTo>
                  <a:lnTo>
                    <a:pt x="22154" y="244235"/>
                  </a:lnTo>
                  <a:lnTo>
                    <a:pt x="5796" y="205461"/>
                  </a:lnTo>
                  <a:lnTo>
                    <a:pt x="0" y="162306"/>
                  </a:lnTo>
                  <a:close/>
                </a:path>
              </a:pathLst>
            </a:custGeom>
            <a:noFill/>
            <a:ln w="198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175"/>
            </a:p>
          </p:txBody>
        </p:sp>
        <p:sp>
          <p:nvSpPr>
            <p:cNvPr id="877" name="Google Shape;877;p56">
              <a:extLst>
                <a:ext uri="{FF2B5EF4-FFF2-40B4-BE49-F238E27FC236}">
                  <a16:creationId xmlns:a16="http://schemas.microsoft.com/office/drawing/2014/main" id="{6E7F959A-A7F2-9F18-6884-6964C026FB39}"/>
                </a:ext>
              </a:extLst>
            </p:cNvPr>
            <p:cNvSpPr txBox="1"/>
            <p:nvPr/>
          </p:nvSpPr>
          <p:spPr>
            <a:xfrm>
              <a:off x="8295667" y="4201384"/>
              <a:ext cx="193801" cy="360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6275" rIns="0" bIns="0" anchor="t" anchorCtr="0">
              <a:spAutoFit/>
            </a:bodyPr>
            <a:lstStyle/>
            <a:p>
              <a:pPr marL="19050"/>
              <a:r>
                <a:rPr lang="en-US" sz="1650">
                  <a:latin typeface="Courier New"/>
                  <a:ea typeface="Courier New"/>
                  <a:cs typeface="Courier New"/>
                  <a:sym typeface="Courier New"/>
                </a:rPr>
                <a:t>w</a:t>
              </a:r>
              <a:endParaRPr sz="165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878" name="Google Shape;878;p56">
              <a:extLst>
                <a:ext uri="{FF2B5EF4-FFF2-40B4-BE49-F238E27FC236}">
                  <a16:creationId xmlns:a16="http://schemas.microsoft.com/office/drawing/2014/main" id="{74EA2DD7-B768-64FA-FFA4-14089C082266}"/>
                </a:ext>
              </a:extLst>
            </p:cNvPr>
            <p:cNvSpPr/>
            <p:nvPr/>
          </p:nvSpPr>
          <p:spPr>
            <a:xfrm>
              <a:off x="8139948" y="4862980"/>
              <a:ext cx="486054" cy="476301"/>
            </a:xfrm>
            <a:custGeom>
              <a:avLst/>
              <a:gdLst/>
              <a:ahLst/>
              <a:cxnLst/>
              <a:rect l="l" t="t" r="r" b="b"/>
              <a:pathLst>
                <a:path w="325120" h="325120" extrusionOk="0">
                  <a:moveTo>
                    <a:pt x="0" y="162306"/>
                  </a:moveTo>
                  <a:lnTo>
                    <a:pt x="5796" y="119150"/>
                  </a:lnTo>
                  <a:lnTo>
                    <a:pt x="22154" y="80376"/>
                  </a:lnTo>
                  <a:lnTo>
                    <a:pt x="47529" y="47529"/>
                  </a:lnTo>
                  <a:lnTo>
                    <a:pt x="80376" y="22154"/>
                  </a:lnTo>
                  <a:lnTo>
                    <a:pt x="119150" y="5796"/>
                  </a:lnTo>
                  <a:lnTo>
                    <a:pt x="162306" y="0"/>
                  </a:lnTo>
                  <a:lnTo>
                    <a:pt x="205461" y="5796"/>
                  </a:lnTo>
                  <a:lnTo>
                    <a:pt x="244235" y="22154"/>
                  </a:lnTo>
                  <a:lnTo>
                    <a:pt x="277082" y="47529"/>
                  </a:lnTo>
                  <a:lnTo>
                    <a:pt x="302457" y="80376"/>
                  </a:lnTo>
                  <a:lnTo>
                    <a:pt x="318815" y="119150"/>
                  </a:lnTo>
                  <a:lnTo>
                    <a:pt x="324612" y="162306"/>
                  </a:lnTo>
                  <a:lnTo>
                    <a:pt x="318815" y="205452"/>
                  </a:lnTo>
                  <a:lnTo>
                    <a:pt x="302457" y="244223"/>
                  </a:lnTo>
                  <a:lnTo>
                    <a:pt x="277082" y="277071"/>
                  </a:lnTo>
                  <a:lnTo>
                    <a:pt x="244235" y="302450"/>
                  </a:lnTo>
                  <a:lnTo>
                    <a:pt x="205461" y="318811"/>
                  </a:lnTo>
                  <a:lnTo>
                    <a:pt x="162306" y="324609"/>
                  </a:lnTo>
                  <a:lnTo>
                    <a:pt x="119150" y="318811"/>
                  </a:lnTo>
                  <a:lnTo>
                    <a:pt x="80376" y="302450"/>
                  </a:lnTo>
                  <a:lnTo>
                    <a:pt x="47529" y="277071"/>
                  </a:lnTo>
                  <a:lnTo>
                    <a:pt x="22154" y="244223"/>
                  </a:lnTo>
                  <a:lnTo>
                    <a:pt x="5796" y="205452"/>
                  </a:lnTo>
                  <a:lnTo>
                    <a:pt x="0" y="162306"/>
                  </a:lnTo>
                  <a:close/>
                </a:path>
              </a:pathLst>
            </a:custGeom>
            <a:noFill/>
            <a:ln w="198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175"/>
            </a:p>
          </p:txBody>
        </p:sp>
        <p:sp>
          <p:nvSpPr>
            <p:cNvPr id="879" name="Google Shape;879;p56">
              <a:extLst>
                <a:ext uri="{FF2B5EF4-FFF2-40B4-BE49-F238E27FC236}">
                  <a16:creationId xmlns:a16="http://schemas.microsoft.com/office/drawing/2014/main" id="{08B4E074-50D2-A0FA-201A-8F3786249852}"/>
                </a:ext>
              </a:extLst>
            </p:cNvPr>
            <p:cNvSpPr txBox="1"/>
            <p:nvPr/>
          </p:nvSpPr>
          <p:spPr>
            <a:xfrm>
              <a:off x="8295667" y="4900973"/>
              <a:ext cx="192899" cy="360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6275" rIns="0" bIns="0" anchor="t" anchorCtr="0">
              <a:spAutoFit/>
            </a:bodyPr>
            <a:lstStyle/>
            <a:p>
              <a:pPr marL="19050"/>
              <a:r>
                <a:rPr lang="en-US" sz="1650">
                  <a:latin typeface="Courier New"/>
                  <a:ea typeface="Courier New"/>
                  <a:cs typeface="Courier New"/>
                  <a:sym typeface="Courier New"/>
                </a:rPr>
                <a:t>l</a:t>
              </a:r>
              <a:endParaRPr sz="165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880" name="Google Shape;880;p56">
              <a:extLst>
                <a:ext uri="{FF2B5EF4-FFF2-40B4-BE49-F238E27FC236}">
                  <a16:creationId xmlns:a16="http://schemas.microsoft.com/office/drawing/2014/main" id="{4765E2C8-E6F4-CB29-AA22-92B393022BE0}"/>
                </a:ext>
              </a:extLst>
            </p:cNvPr>
            <p:cNvGrpSpPr/>
            <p:nvPr/>
          </p:nvGrpSpPr>
          <p:grpSpPr>
            <a:xfrm>
              <a:off x="8139997" y="3942066"/>
              <a:ext cx="2437216" cy="2096978"/>
              <a:chOff x="4295394" y="3009137"/>
              <a:chExt cx="1629918" cy="1430018"/>
            </a:xfrm>
          </p:grpSpPr>
          <p:sp>
            <p:nvSpPr>
              <p:cNvPr id="881" name="Google Shape;881;p56">
                <a:extLst>
                  <a:ext uri="{FF2B5EF4-FFF2-40B4-BE49-F238E27FC236}">
                    <a16:creationId xmlns:a16="http://schemas.microsoft.com/office/drawing/2014/main" id="{DD9B2023-C56D-547A-B03A-18F59C3B4FDA}"/>
                  </a:ext>
                </a:extLst>
              </p:cNvPr>
              <p:cNvSpPr/>
              <p:nvPr/>
            </p:nvSpPr>
            <p:spPr>
              <a:xfrm>
                <a:off x="5452110" y="3009137"/>
                <a:ext cx="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52400" extrusionOk="0">
                    <a:moveTo>
                      <a:pt x="0" y="0"/>
                    </a:moveTo>
                    <a:lnTo>
                      <a:pt x="0" y="151892"/>
                    </a:lnTo>
                  </a:path>
                </a:pathLst>
              </a:custGeom>
              <a:noFill/>
              <a:ln w="289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  <p:sp>
            <p:nvSpPr>
              <p:cNvPr id="882" name="Google Shape;882;p56">
                <a:extLst>
                  <a:ext uri="{FF2B5EF4-FFF2-40B4-BE49-F238E27FC236}">
                    <a16:creationId xmlns:a16="http://schemas.microsoft.com/office/drawing/2014/main" id="{6D8EAED1-E6E0-BA1F-AAF9-92430BFC227B}"/>
                  </a:ext>
                </a:extLst>
              </p:cNvPr>
              <p:cNvSpPr/>
              <p:nvPr/>
            </p:nvSpPr>
            <p:spPr>
              <a:xfrm>
                <a:off x="5442204" y="3951729"/>
                <a:ext cx="20320" cy="20320"/>
              </a:xfrm>
              <a:custGeom>
                <a:avLst/>
                <a:gdLst/>
                <a:ahLst/>
                <a:cxnLst/>
                <a:rect l="l" t="t" r="r" b="b"/>
                <a:pathLst>
                  <a:path w="20320" h="20320" extrusionOk="0">
                    <a:moveTo>
                      <a:pt x="0" y="9905"/>
                    </a:moveTo>
                    <a:lnTo>
                      <a:pt x="2901" y="2901"/>
                    </a:lnTo>
                    <a:lnTo>
                      <a:pt x="9906" y="0"/>
                    </a:lnTo>
                    <a:lnTo>
                      <a:pt x="16910" y="2901"/>
                    </a:lnTo>
                    <a:lnTo>
                      <a:pt x="19812" y="9905"/>
                    </a:lnTo>
                    <a:lnTo>
                      <a:pt x="16910" y="16910"/>
                    </a:lnTo>
                    <a:lnTo>
                      <a:pt x="9906" y="19811"/>
                    </a:lnTo>
                    <a:lnTo>
                      <a:pt x="2901" y="16910"/>
                    </a:lnTo>
                    <a:lnTo>
                      <a:pt x="0" y="990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  <p:sp>
            <p:nvSpPr>
              <p:cNvPr id="883" name="Google Shape;883;p56">
                <a:extLst>
                  <a:ext uri="{FF2B5EF4-FFF2-40B4-BE49-F238E27FC236}">
                    <a16:creationId xmlns:a16="http://schemas.microsoft.com/office/drawing/2014/main" id="{06498CAA-2CB2-927D-1FF2-8D1FDFB9D4B4}"/>
                  </a:ext>
                </a:extLst>
              </p:cNvPr>
              <p:cNvSpPr/>
              <p:nvPr/>
            </p:nvSpPr>
            <p:spPr>
              <a:xfrm>
                <a:off x="4458462" y="3009137"/>
                <a:ext cx="1466850" cy="11049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1104900" extrusionOk="0">
                    <a:moveTo>
                      <a:pt x="993648" y="475488"/>
                    </a:moveTo>
                    <a:lnTo>
                      <a:pt x="993648" y="627380"/>
                    </a:lnTo>
                  </a:path>
                  <a:path w="1466850" h="1104900" extrusionOk="0">
                    <a:moveTo>
                      <a:pt x="879983" y="428244"/>
                    </a:moveTo>
                    <a:lnTo>
                      <a:pt x="522732" y="627634"/>
                    </a:lnTo>
                  </a:path>
                  <a:path w="1466850" h="1104900" extrusionOk="0">
                    <a:moveTo>
                      <a:pt x="1109472" y="428244"/>
                    </a:moveTo>
                    <a:lnTo>
                      <a:pt x="1466723" y="627634"/>
                    </a:lnTo>
                  </a:path>
                  <a:path w="1466850" h="1104900" extrusionOk="0">
                    <a:moveTo>
                      <a:pt x="993648" y="952497"/>
                    </a:moveTo>
                    <a:lnTo>
                      <a:pt x="993648" y="1104376"/>
                    </a:lnTo>
                  </a:path>
                  <a:path w="1466850" h="1104900" extrusionOk="0">
                    <a:moveTo>
                      <a:pt x="0" y="0"/>
                    </a:moveTo>
                    <a:lnTo>
                      <a:pt x="0" y="151892"/>
                    </a:lnTo>
                  </a:path>
                  <a:path w="1466850" h="1104900" extrusionOk="0">
                    <a:moveTo>
                      <a:pt x="0" y="475488"/>
                    </a:moveTo>
                    <a:lnTo>
                      <a:pt x="0" y="627380"/>
                    </a:lnTo>
                  </a:path>
                </a:pathLst>
              </a:custGeom>
              <a:noFill/>
              <a:ln w="289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  <p:sp>
            <p:nvSpPr>
              <p:cNvPr id="884" name="Google Shape;884;p56">
                <a:extLst>
                  <a:ext uri="{FF2B5EF4-FFF2-40B4-BE49-F238E27FC236}">
                    <a16:creationId xmlns:a16="http://schemas.microsoft.com/office/drawing/2014/main" id="{9C8E2A6C-BD3D-83CF-87A6-FF983A5E7725}"/>
                  </a:ext>
                </a:extLst>
              </p:cNvPr>
              <p:cNvSpPr/>
              <p:nvPr/>
            </p:nvSpPr>
            <p:spPr>
              <a:xfrm>
                <a:off x="4295394" y="4114035"/>
                <a:ext cx="325120" cy="325120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20" extrusionOk="0">
                    <a:moveTo>
                      <a:pt x="162306" y="0"/>
                    </a:moveTo>
                    <a:lnTo>
                      <a:pt x="119150" y="5798"/>
                    </a:lnTo>
                    <a:lnTo>
                      <a:pt x="80376" y="22160"/>
                    </a:lnTo>
                    <a:lnTo>
                      <a:pt x="47529" y="47540"/>
                    </a:lnTo>
                    <a:lnTo>
                      <a:pt x="22154" y="80390"/>
                    </a:lnTo>
                    <a:lnTo>
                      <a:pt x="5796" y="119161"/>
                    </a:lnTo>
                    <a:lnTo>
                      <a:pt x="0" y="162307"/>
                    </a:lnTo>
                    <a:lnTo>
                      <a:pt x="5796" y="205454"/>
                    </a:lnTo>
                    <a:lnTo>
                      <a:pt x="22154" y="244226"/>
                    </a:lnTo>
                    <a:lnTo>
                      <a:pt x="47529" y="277075"/>
                    </a:lnTo>
                    <a:lnTo>
                      <a:pt x="80376" y="302454"/>
                    </a:lnTo>
                    <a:lnTo>
                      <a:pt x="119150" y="318816"/>
                    </a:lnTo>
                    <a:lnTo>
                      <a:pt x="162306" y="324614"/>
                    </a:lnTo>
                    <a:lnTo>
                      <a:pt x="205461" y="318816"/>
                    </a:lnTo>
                    <a:lnTo>
                      <a:pt x="244235" y="302454"/>
                    </a:lnTo>
                    <a:lnTo>
                      <a:pt x="277082" y="277075"/>
                    </a:lnTo>
                    <a:lnTo>
                      <a:pt x="302457" y="244226"/>
                    </a:lnTo>
                    <a:lnTo>
                      <a:pt x="318815" y="205454"/>
                    </a:lnTo>
                    <a:lnTo>
                      <a:pt x="324612" y="162307"/>
                    </a:lnTo>
                    <a:lnTo>
                      <a:pt x="318815" y="119161"/>
                    </a:lnTo>
                    <a:lnTo>
                      <a:pt x="302457" y="80390"/>
                    </a:lnTo>
                    <a:lnTo>
                      <a:pt x="277082" y="47540"/>
                    </a:lnTo>
                    <a:lnTo>
                      <a:pt x="244235" y="22160"/>
                    </a:lnTo>
                    <a:lnTo>
                      <a:pt x="205461" y="5798"/>
                    </a:lnTo>
                    <a:lnTo>
                      <a:pt x="162306" y="0"/>
                    </a:lnTo>
                    <a:close/>
                  </a:path>
                </a:pathLst>
              </a:custGeom>
              <a:solidFill>
                <a:srgbClr val="D6D6F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  <p:sp>
            <p:nvSpPr>
              <p:cNvPr id="885" name="Google Shape;885;p56">
                <a:extLst>
                  <a:ext uri="{FF2B5EF4-FFF2-40B4-BE49-F238E27FC236}">
                    <a16:creationId xmlns:a16="http://schemas.microsoft.com/office/drawing/2014/main" id="{DA6272B1-904A-2873-A148-AF34850A34C4}"/>
                  </a:ext>
                </a:extLst>
              </p:cNvPr>
              <p:cNvSpPr/>
              <p:nvPr/>
            </p:nvSpPr>
            <p:spPr>
              <a:xfrm>
                <a:off x="4295394" y="4114035"/>
                <a:ext cx="325120" cy="325120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20" extrusionOk="0">
                    <a:moveTo>
                      <a:pt x="0" y="162307"/>
                    </a:moveTo>
                    <a:lnTo>
                      <a:pt x="5796" y="119161"/>
                    </a:lnTo>
                    <a:lnTo>
                      <a:pt x="22154" y="80390"/>
                    </a:lnTo>
                    <a:lnTo>
                      <a:pt x="47529" y="47540"/>
                    </a:lnTo>
                    <a:lnTo>
                      <a:pt x="80376" y="22160"/>
                    </a:lnTo>
                    <a:lnTo>
                      <a:pt x="119150" y="5798"/>
                    </a:lnTo>
                    <a:lnTo>
                      <a:pt x="162306" y="0"/>
                    </a:lnTo>
                    <a:lnTo>
                      <a:pt x="205461" y="5798"/>
                    </a:lnTo>
                    <a:lnTo>
                      <a:pt x="244235" y="22160"/>
                    </a:lnTo>
                    <a:lnTo>
                      <a:pt x="277082" y="47540"/>
                    </a:lnTo>
                    <a:lnTo>
                      <a:pt x="302457" y="80390"/>
                    </a:lnTo>
                    <a:lnTo>
                      <a:pt x="318815" y="119161"/>
                    </a:lnTo>
                    <a:lnTo>
                      <a:pt x="324612" y="162307"/>
                    </a:lnTo>
                    <a:lnTo>
                      <a:pt x="318815" y="205454"/>
                    </a:lnTo>
                    <a:lnTo>
                      <a:pt x="302457" y="244226"/>
                    </a:lnTo>
                    <a:lnTo>
                      <a:pt x="277082" y="277075"/>
                    </a:lnTo>
                    <a:lnTo>
                      <a:pt x="244235" y="302454"/>
                    </a:lnTo>
                    <a:lnTo>
                      <a:pt x="205461" y="318816"/>
                    </a:lnTo>
                    <a:lnTo>
                      <a:pt x="162306" y="324614"/>
                    </a:lnTo>
                    <a:lnTo>
                      <a:pt x="119150" y="318816"/>
                    </a:lnTo>
                    <a:lnTo>
                      <a:pt x="80376" y="302454"/>
                    </a:lnTo>
                    <a:lnTo>
                      <a:pt x="47529" y="277075"/>
                    </a:lnTo>
                    <a:lnTo>
                      <a:pt x="22154" y="244226"/>
                    </a:lnTo>
                    <a:lnTo>
                      <a:pt x="5796" y="205454"/>
                    </a:lnTo>
                    <a:lnTo>
                      <a:pt x="0" y="162307"/>
                    </a:lnTo>
                    <a:close/>
                  </a:path>
                </a:pathLst>
              </a:custGeom>
              <a:noFill/>
              <a:ln w="198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</p:grpSp>
        <p:sp>
          <p:nvSpPr>
            <p:cNvPr id="886" name="Google Shape;886;p56">
              <a:extLst>
                <a:ext uri="{FF2B5EF4-FFF2-40B4-BE49-F238E27FC236}">
                  <a16:creationId xmlns:a16="http://schemas.microsoft.com/office/drawing/2014/main" id="{8C50D27A-E969-BD41-0D19-E924862BC912}"/>
                </a:ext>
              </a:extLst>
            </p:cNvPr>
            <p:cNvSpPr txBox="1"/>
            <p:nvPr/>
          </p:nvSpPr>
          <p:spPr>
            <a:xfrm>
              <a:off x="8295667" y="5599966"/>
              <a:ext cx="192899" cy="360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6275" rIns="0" bIns="0" anchor="t" anchorCtr="0">
              <a:spAutoFit/>
            </a:bodyPr>
            <a:lstStyle/>
            <a:p>
              <a:pPr marL="19050"/>
              <a:r>
                <a:rPr lang="en-US" sz="1650">
                  <a:latin typeface="Courier New"/>
                  <a:ea typeface="Courier New"/>
                  <a:cs typeface="Courier New"/>
                  <a:sym typeface="Courier New"/>
                </a:rPr>
                <a:t>s</a:t>
              </a:r>
              <a:endParaRPr sz="165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887" name="Google Shape;887;p56">
              <a:extLst>
                <a:ext uri="{FF2B5EF4-FFF2-40B4-BE49-F238E27FC236}">
                  <a16:creationId xmlns:a16="http://schemas.microsoft.com/office/drawing/2014/main" id="{DEFDCBC2-933D-624A-765B-AEC2F04A2ED3}"/>
                </a:ext>
              </a:extLst>
            </p:cNvPr>
            <p:cNvGrpSpPr/>
            <p:nvPr/>
          </p:nvGrpSpPr>
          <p:grpSpPr>
            <a:xfrm>
              <a:off x="8383832" y="2636947"/>
              <a:ext cx="1741030" cy="2925342"/>
              <a:chOff x="4458462" y="2119121"/>
              <a:chExt cx="1164335" cy="1994914"/>
            </a:xfrm>
          </p:grpSpPr>
          <p:sp>
            <p:nvSpPr>
              <p:cNvPr id="888" name="Google Shape;888;p56">
                <a:extLst>
                  <a:ext uri="{FF2B5EF4-FFF2-40B4-BE49-F238E27FC236}">
                    <a16:creationId xmlns:a16="http://schemas.microsoft.com/office/drawing/2014/main" id="{8BACA910-F766-726E-3763-6FD25FCE93CB}"/>
                  </a:ext>
                </a:extLst>
              </p:cNvPr>
              <p:cNvSpPr/>
              <p:nvPr/>
            </p:nvSpPr>
            <p:spPr>
              <a:xfrm>
                <a:off x="4792218" y="2119121"/>
                <a:ext cx="830579" cy="890269"/>
              </a:xfrm>
              <a:custGeom>
                <a:avLst/>
                <a:gdLst/>
                <a:ahLst/>
                <a:cxnLst/>
                <a:rect l="l" t="t" r="r" b="b"/>
                <a:pathLst>
                  <a:path w="830579" h="890269" extrusionOk="0">
                    <a:moveTo>
                      <a:pt x="505968" y="727710"/>
                    </a:moveTo>
                    <a:lnTo>
                      <a:pt x="511764" y="684554"/>
                    </a:lnTo>
                    <a:lnTo>
                      <a:pt x="528122" y="645780"/>
                    </a:lnTo>
                    <a:lnTo>
                      <a:pt x="553497" y="612933"/>
                    </a:lnTo>
                    <a:lnTo>
                      <a:pt x="586344" y="587558"/>
                    </a:lnTo>
                    <a:lnTo>
                      <a:pt x="625118" y="571200"/>
                    </a:lnTo>
                    <a:lnTo>
                      <a:pt x="668274" y="565404"/>
                    </a:lnTo>
                    <a:lnTo>
                      <a:pt x="711429" y="571200"/>
                    </a:lnTo>
                    <a:lnTo>
                      <a:pt x="750203" y="587558"/>
                    </a:lnTo>
                    <a:lnTo>
                      <a:pt x="783050" y="612933"/>
                    </a:lnTo>
                    <a:lnTo>
                      <a:pt x="808425" y="645780"/>
                    </a:lnTo>
                    <a:lnTo>
                      <a:pt x="824783" y="684554"/>
                    </a:lnTo>
                    <a:lnTo>
                      <a:pt x="830580" y="727710"/>
                    </a:lnTo>
                    <a:lnTo>
                      <a:pt x="824783" y="770865"/>
                    </a:lnTo>
                    <a:lnTo>
                      <a:pt x="808425" y="809639"/>
                    </a:lnTo>
                    <a:lnTo>
                      <a:pt x="783050" y="842486"/>
                    </a:lnTo>
                    <a:lnTo>
                      <a:pt x="750203" y="867861"/>
                    </a:lnTo>
                    <a:lnTo>
                      <a:pt x="711429" y="884219"/>
                    </a:lnTo>
                    <a:lnTo>
                      <a:pt x="668274" y="890016"/>
                    </a:lnTo>
                    <a:lnTo>
                      <a:pt x="625118" y="884219"/>
                    </a:lnTo>
                    <a:lnTo>
                      <a:pt x="586344" y="867861"/>
                    </a:lnTo>
                    <a:lnTo>
                      <a:pt x="553497" y="842486"/>
                    </a:lnTo>
                    <a:lnTo>
                      <a:pt x="528122" y="809639"/>
                    </a:lnTo>
                    <a:lnTo>
                      <a:pt x="511764" y="770865"/>
                    </a:lnTo>
                    <a:lnTo>
                      <a:pt x="505968" y="727710"/>
                    </a:lnTo>
                    <a:close/>
                  </a:path>
                  <a:path w="830579" h="890269" extrusionOk="0">
                    <a:moveTo>
                      <a:pt x="0" y="162306"/>
                    </a:moveTo>
                    <a:lnTo>
                      <a:pt x="5796" y="119150"/>
                    </a:lnTo>
                    <a:lnTo>
                      <a:pt x="22154" y="80376"/>
                    </a:lnTo>
                    <a:lnTo>
                      <a:pt x="47529" y="47529"/>
                    </a:lnTo>
                    <a:lnTo>
                      <a:pt x="80376" y="22154"/>
                    </a:lnTo>
                    <a:lnTo>
                      <a:pt x="119150" y="5796"/>
                    </a:lnTo>
                    <a:lnTo>
                      <a:pt x="162306" y="0"/>
                    </a:lnTo>
                    <a:lnTo>
                      <a:pt x="205461" y="5796"/>
                    </a:lnTo>
                    <a:lnTo>
                      <a:pt x="244235" y="22154"/>
                    </a:lnTo>
                    <a:lnTo>
                      <a:pt x="277082" y="47529"/>
                    </a:lnTo>
                    <a:lnTo>
                      <a:pt x="302457" y="80376"/>
                    </a:lnTo>
                    <a:lnTo>
                      <a:pt x="318815" y="119150"/>
                    </a:lnTo>
                    <a:lnTo>
                      <a:pt x="324612" y="162306"/>
                    </a:lnTo>
                    <a:lnTo>
                      <a:pt x="318815" y="205461"/>
                    </a:lnTo>
                    <a:lnTo>
                      <a:pt x="302457" y="244235"/>
                    </a:lnTo>
                    <a:lnTo>
                      <a:pt x="277082" y="277082"/>
                    </a:lnTo>
                    <a:lnTo>
                      <a:pt x="244235" y="302457"/>
                    </a:lnTo>
                    <a:lnTo>
                      <a:pt x="205461" y="318815"/>
                    </a:lnTo>
                    <a:lnTo>
                      <a:pt x="162306" y="324612"/>
                    </a:lnTo>
                    <a:lnTo>
                      <a:pt x="119150" y="318815"/>
                    </a:lnTo>
                    <a:lnTo>
                      <a:pt x="80376" y="302457"/>
                    </a:lnTo>
                    <a:lnTo>
                      <a:pt x="47529" y="277082"/>
                    </a:lnTo>
                    <a:lnTo>
                      <a:pt x="22154" y="244235"/>
                    </a:lnTo>
                    <a:lnTo>
                      <a:pt x="5796" y="205461"/>
                    </a:lnTo>
                    <a:lnTo>
                      <a:pt x="0" y="162306"/>
                    </a:lnTo>
                    <a:close/>
                  </a:path>
                </a:pathLst>
              </a:custGeom>
              <a:noFill/>
              <a:ln w="198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  <p:sp>
            <p:nvSpPr>
              <p:cNvPr id="889" name="Google Shape;889;p56">
                <a:extLst>
                  <a:ext uri="{FF2B5EF4-FFF2-40B4-BE49-F238E27FC236}">
                    <a16:creationId xmlns:a16="http://schemas.microsoft.com/office/drawing/2014/main" id="{0C986A3A-AB90-A849-CCAA-9072F60DDCF6}"/>
                  </a:ext>
                </a:extLst>
              </p:cNvPr>
              <p:cNvSpPr/>
              <p:nvPr/>
            </p:nvSpPr>
            <p:spPr>
              <a:xfrm>
                <a:off x="4458462" y="3961635"/>
                <a:ext cx="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52400" extrusionOk="0">
                    <a:moveTo>
                      <a:pt x="0" y="0"/>
                    </a:moveTo>
                    <a:lnTo>
                      <a:pt x="0" y="151879"/>
                    </a:lnTo>
                  </a:path>
                </a:pathLst>
              </a:custGeom>
              <a:noFill/>
              <a:ln w="289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</p:grpSp>
        <p:sp>
          <p:nvSpPr>
            <p:cNvPr id="890" name="Google Shape;890;p56">
              <a:extLst>
                <a:ext uri="{FF2B5EF4-FFF2-40B4-BE49-F238E27FC236}">
                  <a16:creationId xmlns:a16="http://schemas.microsoft.com/office/drawing/2014/main" id="{05955CD6-60EC-F274-6DC0-36445DD43286}"/>
                </a:ext>
              </a:extLst>
            </p:cNvPr>
            <p:cNvSpPr txBox="1"/>
            <p:nvPr/>
          </p:nvSpPr>
          <p:spPr>
            <a:xfrm>
              <a:off x="9794750" y="3503247"/>
              <a:ext cx="192899" cy="360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6275" rIns="0" bIns="0" anchor="t" anchorCtr="0">
              <a:spAutoFit/>
            </a:bodyPr>
            <a:lstStyle/>
            <a:p>
              <a:pPr marL="19050"/>
              <a:r>
                <a:rPr lang="en-US" sz="1650">
                  <a:latin typeface="Courier New"/>
                  <a:ea typeface="Courier New"/>
                  <a:cs typeface="Courier New"/>
                  <a:sym typeface="Courier New"/>
                </a:rPr>
                <a:t>s</a:t>
              </a:r>
              <a:endParaRPr sz="165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891" name="Google Shape;891;p56">
              <a:extLst>
                <a:ext uri="{FF2B5EF4-FFF2-40B4-BE49-F238E27FC236}">
                  <a16:creationId xmlns:a16="http://schemas.microsoft.com/office/drawing/2014/main" id="{0E116D80-5B98-C35C-8D95-D6D02A7F46FD}"/>
                </a:ext>
              </a:extLst>
            </p:cNvPr>
            <p:cNvGrpSpPr/>
            <p:nvPr/>
          </p:nvGrpSpPr>
          <p:grpSpPr>
            <a:xfrm>
              <a:off x="8153670" y="3466057"/>
              <a:ext cx="486152" cy="476755"/>
              <a:chOff x="4304538" y="2684526"/>
              <a:chExt cx="325120" cy="325119"/>
            </a:xfrm>
          </p:grpSpPr>
          <p:sp>
            <p:nvSpPr>
              <p:cNvPr id="892" name="Google Shape;892;p56">
                <a:extLst>
                  <a:ext uri="{FF2B5EF4-FFF2-40B4-BE49-F238E27FC236}">
                    <a16:creationId xmlns:a16="http://schemas.microsoft.com/office/drawing/2014/main" id="{32E98FA8-0718-ADB5-4DB1-353BB2C50A0A}"/>
                  </a:ext>
                </a:extLst>
              </p:cNvPr>
              <p:cNvSpPr/>
              <p:nvPr/>
            </p:nvSpPr>
            <p:spPr>
              <a:xfrm>
                <a:off x="4304538" y="2684526"/>
                <a:ext cx="325120" cy="325119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19" extrusionOk="0">
                    <a:moveTo>
                      <a:pt x="162306" y="0"/>
                    </a:moveTo>
                    <a:lnTo>
                      <a:pt x="119150" y="5796"/>
                    </a:lnTo>
                    <a:lnTo>
                      <a:pt x="80376" y="22154"/>
                    </a:lnTo>
                    <a:lnTo>
                      <a:pt x="47529" y="47529"/>
                    </a:lnTo>
                    <a:lnTo>
                      <a:pt x="22154" y="80376"/>
                    </a:lnTo>
                    <a:lnTo>
                      <a:pt x="5796" y="119150"/>
                    </a:lnTo>
                    <a:lnTo>
                      <a:pt x="0" y="162306"/>
                    </a:lnTo>
                    <a:lnTo>
                      <a:pt x="5796" y="205461"/>
                    </a:lnTo>
                    <a:lnTo>
                      <a:pt x="22154" y="244235"/>
                    </a:lnTo>
                    <a:lnTo>
                      <a:pt x="47529" y="277082"/>
                    </a:lnTo>
                    <a:lnTo>
                      <a:pt x="80376" y="302457"/>
                    </a:lnTo>
                    <a:lnTo>
                      <a:pt x="119150" y="318815"/>
                    </a:lnTo>
                    <a:lnTo>
                      <a:pt x="162306" y="324612"/>
                    </a:lnTo>
                    <a:lnTo>
                      <a:pt x="205461" y="318815"/>
                    </a:lnTo>
                    <a:lnTo>
                      <a:pt x="244235" y="302457"/>
                    </a:lnTo>
                    <a:lnTo>
                      <a:pt x="277082" y="277082"/>
                    </a:lnTo>
                    <a:lnTo>
                      <a:pt x="302457" y="244235"/>
                    </a:lnTo>
                    <a:lnTo>
                      <a:pt x="318815" y="205461"/>
                    </a:lnTo>
                    <a:lnTo>
                      <a:pt x="324612" y="162306"/>
                    </a:lnTo>
                    <a:lnTo>
                      <a:pt x="318815" y="119150"/>
                    </a:lnTo>
                    <a:lnTo>
                      <a:pt x="302457" y="80376"/>
                    </a:lnTo>
                    <a:lnTo>
                      <a:pt x="277082" y="47529"/>
                    </a:lnTo>
                    <a:lnTo>
                      <a:pt x="244235" y="22154"/>
                    </a:lnTo>
                    <a:lnTo>
                      <a:pt x="205461" y="5796"/>
                    </a:lnTo>
                    <a:lnTo>
                      <a:pt x="162306" y="0"/>
                    </a:lnTo>
                    <a:close/>
                  </a:path>
                </a:pathLst>
              </a:custGeom>
              <a:solidFill>
                <a:srgbClr val="D6D6F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  <p:sp>
            <p:nvSpPr>
              <p:cNvPr id="893" name="Google Shape;893;p56">
                <a:extLst>
                  <a:ext uri="{FF2B5EF4-FFF2-40B4-BE49-F238E27FC236}">
                    <a16:creationId xmlns:a16="http://schemas.microsoft.com/office/drawing/2014/main" id="{5B4954CF-57F6-C8B8-875B-013170C9DFCC}"/>
                  </a:ext>
                </a:extLst>
              </p:cNvPr>
              <p:cNvSpPr/>
              <p:nvPr/>
            </p:nvSpPr>
            <p:spPr>
              <a:xfrm>
                <a:off x="4304538" y="2684526"/>
                <a:ext cx="325120" cy="325119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19" extrusionOk="0">
                    <a:moveTo>
                      <a:pt x="0" y="162306"/>
                    </a:moveTo>
                    <a:lnTo>
                      <a:pt x="5796" y="119150"/>
                    </a:lnTo>
                    <a:lnTo>
                      <a:pt x="22154" y="80376"/>
                    </a:lnTo>
                    <a:lnTo>
                      <a:pt x="47529" y="47529"/>
                    </a:lnTo>
                    <a:lnTo>
                      <a:pt x="80376" y="22154"/>
                    </a:lnTo>
                    <a:lnTo>
                      <a:pt x="119150" y="5796"/>
                    </a:lnTo>
                    <a:lnTo>
                      <a:pt x="162306" y="0"/>
                    </a:lnTo>
                    <a:lnTo>
                      <a:pt x="205461" y="5796"/>
                    </a:lnTo>
                    <a:lnTo>
                      <a:pt x="244235" y="22154"/>
                    </a:lnTo>
                    <a:lnTo>
                      <a:pt x="277082" y="47529"/>
                    </a:lnTo>
                    <a:lnTo>
                      <a:pt x="302457" y="80376"/>
                    </a:lnTo>
                    <a:lnTo>
                      <a:pt x="318815" y="119150"/>
                    </a:lnTo>
                    <a:lnTo>
                      <a:pt x="324612" y="162306"/>
                    </a:lnTo>
                    <a:lnTo>
                      <a:pt x="318815" y="205461"/>
                    </a:lnTo>
                    <a:lnTo>
                      <a:pt x="302457" y="244235"/>
                    </a:lnTo>
                    <a:lnTo>
                      <a:pt x="277082" y="277082"/>
                    </a:lnTo>
                    <a:lnTo>
                      <a:pt x="244235" y="302457"/>
                    </a:lnTo>
                    <a:lnTo>
                      <a:pt x="205461" y="318815"/>
                    </a:lnTo>
                    <a:lnTo>
                      <a:pt x="162306" y="324612"/>
                    </a:lnTo>
                    <a:lnTo>
                      <a:pt x="119150" y="318815"/>
                    </a:lnTo>
                    <a:lnTo>
                      <a:pt x="80376" y="302457"/>
                    </a:lnTo>
                    <a:lnTo>
                      <a:pt x="47529" y="277082"/>
                    </a:lnTo>
                    <a:lnTo>
                      <a:pt x="22154" y="244235"/>
                    </a:lnTo>
                    <a:lnTo>
                      <a:pt x="5796" y="205461"/>
                    </a:lnTo>
                    <a:lnTo>
                      <a:pt x="0" y="162306"/>
                    </a:lnTo>
                    <a:close/>
                  </a:path>
                </a:pathLst>
              </a:custGeom>
              <a:noFill/>
              <a:ln w="198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2175"/>
              </a:p>
            </p:txBody>
          </p:sp>
        </p:grpSp>
        <p:sp>
          <p:nvSpPr>
            <p:cNvPr id="894" name="Google Shape;894;p56">
              <a:extLst>
                <a:ext uri="{FF2B5EF4-FFF2-40B4-BE49-F238E27FC236}">
                  <a16:creationId xmlns:a16="http://schemas.microsoft.com/office/drawing/2014/main" id="{AEFBD524-BBC8-165F-D7AC-DA2DFAA10BA0}"/>
                </a:ext>
              </a:extLst>
            </p:cNvPr>
            <p:cNvSpPr txBox="1"/>
            <p:nvPr/>
          </p:nvSpPr>
          <p:spPr>
            <a:xfrm>
              <a:off x="8308011" y="3503247"/>
              <a:ext cx="192899" cy="360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6275" rIns="0" bIns="0" anchor="t" anchorCtr="0">
              <a:spAutoFit/>
            </a:bodyPr>
            <a:lstStyle/>
            <a:p>
              <a:pPr marL="19050"/>
              <a:r>
                <a:rPr lang="en-US" sz="1650"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sz="165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895" name="Google Shape;895;p56">
              <a:extLst>
                <a:ext uri="{FF2B5EF4-FFF2-40B4-BE49-F238E27FC236}">
                  <a16:creationId xmlns:a16="http://schemas.microsoft.com/office/drawing/2014/main" id="{0426A10A-B3B9-1396-1D2C-B29F5CB03D6E}"/>
                </a:ext>
              </a:extLst>
            </p:cNvPr>
            <p:cNvSpPr/>
            <p:nvPr/>
          </p:nvSpPr>
          <p:spPr>
            <a:xfrm>
              <a:off x="8395176" y="3043796"/>
              <a:ext cx="1488540" cy="421415"/>
            </a:xfrm>
            <a:custGeom>
              <a:avLst/>
              <a:gdLst/>
              <a:ahLst/>
              <a:cxnLst/>
              <a:rect l="l" t="t" r="r" b="b"/>
              <a:pathLst>
                <a:path w="995679" h="287655" extrusionOk="0">
                  <a:moveTo>
                    <a:pt x="603504" y="0"/>
                  </a:moveTo>
                  <a:lnTo>
                    <a:pt x="995426" y="287528"/>
                  </a:lnTo>
                </a:path>
                <a:path w="995679" h="287655" extrusionOk="0">
                  <a:moveTo>
                    <a:pt x="372872" y="0"/>
                  </a:moveTo>
                  <a:lnTo>
                    <a:pt x="0" y="287528"/>
                  </a:lnTo>
                </a:path>
              </a:pathLst>
            </a:custGeom>
            <a:noFill/>
            <a:ln w="289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2175"/>
            </a:p>
          </p:txBody>
        </p:sp>
      </p:grpSp>
    </p:spTree>
    <p:extLst>
      <p:ext uri="{BB962C8B-B14F-4D97-AF65-F5344CB8AC3E}">
        <p14:creationId xmlns:p14="http://schemas.microsoft.com/office/powerpoint/2010/main" val="931306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9E34-A81F-3F67-F4A7-B8FD43985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04EE5-4A55-2163-DB32-B5584DBB7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0B611-A520-EAA0-9D37-B9E3594F3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BE2B7-23DB-644D-89A2-CA3C2E8FEF83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30E0D9-3A72-7EF0-BA78-16AA8E6A7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0"/>
            <a:ext cx="5045744" cy="5143500"/>
          </a:xfrm>
          <a:prstGeom prst="rect">
            <a:avLst/>
          </a:prstGeom>
        </p:spPr>
      </p:pic>
      <p:pic>
        <p:nvPicPr>
          <p:cNvPr id="7" name="Image 214">
            <a:extLst>
              <a:ext uri="{FF2B5EF4-FFF2-40B4-BE49-F238E27FC236}">
                <a16:creationId xmlns:a16="http://schemas.microsoft.com/office/drawing/2014/main" id="{053C25AF-7BDD-A295-9C70-D47F4AD81C8A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15501" y="2110776"/>
            <a:ext cx="3980815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756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8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Ack-Based Loss Detection: Cumulative Acks</a:t>
            </a:r>
            <a:endParaRPr dirty="0"/>
          </a:p>
        </p:txBody>
      </p:sp>
      <p:sp>
        <p:nvSpPr>
          <p:cNvPr id="1317" name="Google Shape;1317;p8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7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Cumulative acks: Declare loss if </a:t>
            </a:r>
            <a:r>
              <a:rPr lang="en" i="1" dirty="0"/>
              <a:t>k</a:t>
            </a:r>
            <a:r>
              <a:rPr lang="en" dirty="0"/>
              <a:t> </a:t>
            </a:r>
            <a:r>
              <a:rPr lang="en" b="1" dirty="0"/>
              <a:t>duplicate acks</a:t>
            </a:r>
            <a:r>
              <a:rPr lang="en" dirty="0"/>
              <a:t> are received. </a:t>
            </a:r>
            <a:endParaRPr lang="en-US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C00000"/>
                </a:solidFill>
              </a:rPr>
              <a:t>k = 3 </a:t>
            </a:r>
            <a:r>
              <a:rPr lang="en-US" dirty="0"/>
              <a:t>was chosen historically (empirical compromise between reordering and loss).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Example: Later packets (6, 7, 8) received, but there's a gap, so the "up to 4" cumulative ack cannot increase.</a:t>
            </a:r>
          </a:p>
        </p:txBody>
      </p:sp>
      <p:sp>
        <p:nvSpPr>
          <p:cNvPr id="1318" name="Google Shape;1318;p86"/>
          <p:cNvSpPr/>
          <p:nvPr/>
        </p:nvSpPr>
        <p:spPr>
          <a:xfrm>
            <a:off x="287400" y="2199950"/>
            <a:ext cx="4848000" cy="1948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Sender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9" name="Google Shape;1319;p86"/>
          <p:cNvSpPr/>
          <p:nvPr/>
        </p:nvSpPr>
        <p:spPr>
          <a:xfrm>
            <a:off x="484501" y="3078050"/>
            <a:ext cx="961800" cy="334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0" name="Google Shape;1320;p86"/>
          <p:cNvSpPr/>
          <p:nvPr/>
        </p:nvSpPr>
        <p:spPr>
          <a:xfrm>
            <a:off x="1648501" y="3078050"/>
            <a:ext cx="961800" cy="334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1" name="Google Shape;1321;p86"/>
          <p:cNvSpPr/>
          <p:nvPr/>
        </p:nvSpPr>
        <p:spPr>
          <a:xfrm>
            <a:off x="2812501" y="3078050"/>
            <a:ext cx="961800" cy="334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2" name="Google Shape;1322;p86"/>
          <p:cNvSpPr/>
          <p:nvPr/>
        </p:nvSpPr>
        <p:spPr>
          <a:xfrm>
            <a:off x="3976501" y="3078050"/>
            <a:ext cx="961800" cy="334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3" name="Google Shape;1323;p86"/>
          <p:cNvSpPr/>
          <p:nvPr/>
        </p:nvSpPr>
        <p:spPr>
          <a:xfrm>
            <a:off x="1648501" y="3611450"/>
            <a:ext cx="961800" cy="334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4" name="Google Shape;1324;p86"/>
          <p:cNvSpPr/>
          <p:nvPr/>
        </p:nvSpPr>
        <p:spPr>
          <a:xfrm>
            <a:off x="2812501" y="3611450"/>
            <a:ext cx="961800" cy="334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5" name="Google Shape;1325;p86"/>
          <p:cNvSpPr/>
          <p:nvPr/>
        </p:nvSpPr>
        <p:spPr>
          <a:xfrm>
            <a:off x="3976501" y="3611450"/>
            <a:ext cx="961800" cy="334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up to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6" name="Google Shape;1326;p86"/>
          <p:cNvSpPr/>
          <p:nvPr/>
        </p:nvSpPr>
        <p:spPr>
          <a:xfrm>
            <a:off x="5572200" y="2495550"/>
            <a:ext cx="3235800" cy="1907100"/>
          </a:xfrm>
          <a:prstGeom prst="wedgeRoundRectCallout">
            <a:avLst>
              <a:gd name="adj1" fmla="val -59537"/>
              <a:gd name="adj2" fmla="val -44670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received 3 copies of "up to 4" (plus the original).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That means 3 extra packets were received (and none of them are 5).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I'll assume 5 is lost and resend it.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7" name="Google Shape;1327;p86"/>
          <p:cNvSpPr txBox="1"/>
          <p:nvPr/>
        </p:nvSpPr>
        <p:spPr>
          <a:xfrm>
            <a:off x="1753500" y="4295513"/>
            <a:ext cx="7518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ack for 6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dup #1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8" name="Google Shape;1328;p86"/>
          <p:cNvCxnSpPr>
            <a:stCxn id="1327" idx="0"/>
            <a:endCxn id="1323" idx="2"/>
          </p:cNvCxnSpPr>
          <p:nvPr/>
        </p:nvCxnSpPr>
        <p:spPr>
          <a:xfrm rot="10800000">
            <a:off x="2129400" y="3946313"/>
            <a:ext cx="0" cy="349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29" name="Google Shape;1329;p86"/>
          <p:cNvSpPr txBox="1"/>
          <p:nvPr/>
        </p:nvSpPr>
        <p:spPr>
          <a:xfrm>
            <a:off x="2917500" y="4295513"/>
            <a:ext cx="7518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ack for 7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dup #2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0" name="Google Shape;1330;p86"/>
          <p:cNvCxnSpPr>
            <a:stCxn id="1329" idx="0"/>
            <a:endCxn id="1324" idx="2"/>
          </p:cNvCxnSpPr>
          <p:nvPr/>
        </p:nvCxnSpPr>
        <p:spPr>
          <a:xfrm rot="10800000">
            <a:off x="3293400" y="3946313"/>
            <a:ext cx="0" cy="349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31" name="Google Shape;1331;p86"/>
          <p:cNvSpPr txBox="1"/>
          <p:nvPr/>
        </p:nvSpPr>
        <p:spPr>
          <a:xfrm>
            <a:off x="4081500" y="4295438"/>
            <a:ext cx="7518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ack for 8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dup #3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2" name="Google Shape;1332;p86"/>
          <p:cNvCxnSpPr>
            <a:stCxn id="1331" idx="0"/>
            <a:endCxn id="1325" idx="2"/>
          </p:cNvCxnSpPr>
          <p:nvPr/>
        </p:nvCxnSpPr>
        <p:spPr>
          <a:xfrm rot="10800000">
            <a:off x="4457400" y="3946238"/>
            <a:ext cx="0" cy="349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2805</Words>
  <Application>Microsoft Office PowerPoint</Application>
  <PresentationFormat>On-screen Show (16:9)</PresentationFormat>
  <Paragraphs>351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Roboto</vt:lpstr>
      <vt:lpstr>Arial</vt:lpstr>
      <vt:lpstr>Roboto Light</vt:lpstr>
      <vt:lpstr>Quattrocento Sans</vt:lpstr>
      <vt:lpstr>Courier New</vt:lpstr>
      <vt:lpstr>Roboto Medium</vt:lpstr>
      <vt:lpstr>Calibri</vt:lpstr>
      <vt:lpstr>Simple Lecture</vt:lpstr>
      <vt:lpstr>Brief Preview of the Semester</vt:lpstr>
      <vt:lpstr>Brief Preview of the Semester</vt:lpstr>
      <vt:lpstr>Brief Preview of the Semester</vt:lpstr>
      <vt:lpstr>Brief Preview of the Semester</vt:lpstr>
      <vt:lpstr>Transmission Delay: Example</vt:lpstr>
      <vt:lpstr>Q. Link-State Routing ANS</vt:lpstr>
      <vt:lpstr>Q. Link-State Routing ANS</vt:lpstr>
      <vt:lpstr>Trie: An Introduction</vt:lpstr>
      <vt:lpstr>Trie Operations</vt:lpstr>
      <vt:lpstr>PowerPoint Presentation</vt:lpstr>
      <vt:lpstr>Ack-Based Loss Detection: Cumulative Acks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Zonghua Gu</dc:creator>
  <cp:lastModifiedBy>Zonghua Gu</cp:lastModifiedBy>
  <cp:revision>3</cp:revision>
  <dcterms:modified xsi:type="dcterms:W3CDTF">2026-04-16T22:23:30Z</dcterms:modified>
</cp:coreProperties>
</file>