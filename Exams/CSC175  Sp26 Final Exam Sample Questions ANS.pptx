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22"/>
  </p:notesMasterIdLst>
  <p:sldIdLst>
    <p:sldId id="256" r:id="rId3"/>
    <p:sldId id="271" r:id="rId4"/>
    <p:sldId id="277" r:id="rId5"/>
    <p:sldId id="294" r:id="rId6"/>
    <p:sldId id="291" r:id="rId7"/>
    <p:sldId id="295" r:id="rId8"/>
    <p:sldId id="290" r:id="rId9"/>
    <p:sldId id="301" r:id="rId10"/>
    <p:sldId id="302" r:id="rId11"/>
    <p:sldId id="303" r:id="rId12"/>
    <p:sldId id="304" r:id="rId13"/>
    <p:sldId id="305" r:id="rId14"/>
    <p:sldId id="306" r:id="rId15"/>
    <p:sldId id="307" r:id="rId16"/>
    <p:sldId id="299" r:id="rId17"/>
    <p:sldId id="300" r:id="rId18"/>
    <p:sldId id="296" r:id="rId19"/>
    <p:sldId id="298" r:id="rId20"/>
    <p:sldId id="297" r:id="rId21"/>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84867" autoAdjust="0"/>
  </p:normalViewPr>
  <p:slideViewPr>
    <p:cSldViewPr>
      <p:cViewPr varScale="1">
        <p:scale>
          <a:sx n="90" d="100"/>
          <a:sy n="90" d="100"/>
        </p:scale>
        <p:origin x="708" y="90"/>
      </p:cViewPr>
      <p:guideLst>
        <p:guide orient="horz" pos="2160"/>
        <p:guide pos="3840"/>
      </p:guideLst>
    </p:cSldViewPr>
  </p:slideViewPr>
  <p:notesTextViewPr>
    <p:cViewPr>
      <p:scale>
        <a:sx n="1" d="1"/>
        <a:sy n="1" d="1"/>
      </p:scale>
      <p:origin x="0" y="0"/>
    </p:cViewPr>
  </p:notesTextViewPr>
  <p:sorterViewPr>
    <p:cViewPr varScale="1">
      <p:scale>
        <a:sx n="1" d="1"/>
        <a:sy n="1" d="1"/>
      </p:scale>
      <p:origin x="0" y="-77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5/6/2026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2efe69fe1a6_0_2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0" name="Google Shape;1340;g2efe69fe1a6_0_2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okay so this is the picture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really care about at the very end so ultimately when people draw these again they don't draw the dots but they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draw things like this they'll draw a blue rectangle to represent the link and then they will draw these orange squares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represent the packets themselves and so these are actually the same packets these are three packets each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is 20 dots these are also three packets each packet is also 20 dots or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20 bits but notice that because the link itself changed in particular the link</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itself received more bandwidth so we're switching to will link with more bandwidth the packets got taller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narrower they shifted their shape to fit in the new pipe and so something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1:15:04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 is really confusing to people when they see these diagrams is that wait a minute when I change the link that I'm</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using the packets themselves also change shape and yes that's true they change shapes because they fit in the pipe in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different way in particular more dots can be stacked and so they get taller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and they get narrower because it takes less time to send them through the pipe the other thing that I think is not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totally intuitive is the transmission delay is the width of the packet so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width of this packet tells me the transmission delay that is how long does it take to shove this packet into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pipe and what this picture is showing you is that if you increase the bandwidth now that they can March in 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instead of stacks of five the transmission delay got shorter and that's represented by the fact that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got less wide I know I just said a lot of words at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this will probably take a little bit of playing around with the demos and watching the animations to make sense if</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 dots don't make sense I really just care about the shape of these rectangles but maybe they helped maybe they didn't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complain at me in the comments if you didn't like this but you can't say I didn't try I drew</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1:16:15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all the diagrams any questions on this by the way it is kind of a funky topic when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saw this I had for the first time I had no idea what the pipes look like when I drew the dots in they made a little bit more sense to me but maybe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not but the key idea I think is really confusing is really just the fact that transmission delay is actually the width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1:16:33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of the packet not immediately obvious and the fact that it gets uh shorter as the packet gets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taller okay an attempt was made but let me know on ad or elsewhere if you find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1:16:46</a:t>
            </a:r>
            <a:endParaRPr dirty="0">
              <a:solidFill>
                <a:schemeClr val="dk1"/>
              </a:solidFill>
            </a:endParaRPr>
          </a:p>
          <a:p>
            <a:pPr marL="0" lvl="0" indent="0" algn="l" rtl="0">
              <a:spcBef>
                <a:spcPts val="0"/>
              </a:spcBef>
              <a:spcAft>
                <a:spcPts val="0"/>
              </a:spcAft>
              <a:buNone/>
            </a:pPr>
            <a:r>
              <a:rPr lang="en" dirty="0">
                <a:solidFill>
                  <a:schemeClr val="dk1"/>
                </a:solidFill>
              </a:rPr>
              <a:t>this confusing we can talk about it somewhere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1659353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p>
          <a:p>
            <a:r>
              <a:rPr lang="en-US" altLang="zh-CN" dirty="0"/>
              <a:t>Start sending at </a:t>
            </a:r>
            <a:r>
              <a:rPr lang="en-US" altLang="zh-CN" b="1" dirty="0"/>
              <a:t>t = 3</a:t>
            </a:r>
            <a:r>
              <a:rPr lang="en-US" altLang="zh-CN" dirty="0"/>
              <a:t> Finish sending at </a:t>
            </a:r>
            <a:r>
              <a:rPr lang="en-US" altLang="zh-CN" b="1" dirty="0"/>
              <a:t>t = 5</a:t>
            </a:r>
            <a:r>
              <a:rPr lang="en-US" altLang="zh-CN" dirty="0"/>
              <a:t> Then propagate 10 s → arrive at </a:t>
            </a:r>
            <a:r>
              <a:rPr lang="en-US" altLang="zh-CN" b="1" dirty="0"/>
              <a:t>t = 15</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225540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14:m>
                  <m:oMath xmlns:m="http://schemas.openxmlformats.org/officeDocument/2006/math">
                    <m:r>
                      <m:rPr>
                        <m:sty m:val="p"/>
                      </m:rPr>
                      <a:rPr lang="nl-NL" altLang="zh-CN" sz="1200" kern="1200">
                        <a:solidFill>
                          <a:schemeClr val="tx1"/>
                        </a:solidFill>
                        <a:latin typeface="Cambria Math" panose="02040503050406030204" pitchFamily="18" charset="0"/>
                        <a:ea typeface="+mn-ea"/>
                        <a:cs typeface="+mn-cs"/>
                      </a:rPr>
                      <m:t>min</m:t>
                    </m:r>
                    <m:r>
                      <a:rPr lang="nl-NL" altLang="zh-CN" sz="1200" i="0" kern="1200">
                        <a:solidFill>
                          <a:schemeClr val="tx1"/>
                        </a:solidFill>
                        <a:latin typeface="Cambria Math" panose="02040503050406030204" pitchFamily="18" charset="0"/>
                        <a:ea typeface="+mn-ea"/>
                        <a:cs typeface="+mn-cs"/>
                      </a:rPr>
                      <m:t>⁡</m:t>
                    </m:r>
                    <m:d>
                      <m:dPr>
                        <m:sepChr m:val=","/>
                        <m:ctrlPr>
                          <a:rPr lang="ar-AE" altLang="zh-CN" sz="1200" i="1" kern="1200">
                            <a:solidFill>
                              <a:schemeClr val="tx1"/>
                            </a:solidFill>
                            <a:latin typeface="Cambria Math" panose="02040503050406030204" pitchFamily="18" charset="0"/>
                            <a:ea typeface="+mn-ea"/>
                            <a:cs typeface="+mn-cs"/>
                          </a:rPr>
                        </m:ctrlPr>
                      </m:dPr>
                      <m:e>
                        <m:r>
                          <m:rPr>
                            <m:nor/>
                          </m:rPr>
                          <a:rPr lang="nl-NL" altLang="zh-CN" sz="1200" b="0" i="1" kern="1200">
                            <a:solidFill>
                              <a:schemeClr val="tx1"/>
                            </a:solidFill>
                            <a:latin typeface="+mn-lt"/>
                            <a:ea typeface="+mn-ea"/>
                            <a:cs typeface="+mn-cs"/>
                          </a:rPr>
                          <m:t>arrival</m:t>
                        </m:r>
                        <m:r>
                          <m:rPr>
                            <m:nor/>
                          </m:rPr>
                          <a:rPr lang="nl-NL" altLang="zh-CN" sz="1200" b="0" i="1" kern="1200">
                            <a:solidFill>
                              <a:schemeClr val="tx1"/>
                            </a:solidFill>
                            <a:latin typeface="+mn-lt"/>
                            <a:ea typeface="+mn-ea"/>
                            <a:cs typeface="+mn-cs"/>
                          </a:rPr>
                          <m:t> </m:t>
                        </m:r>
                        <m:r>
                          <m:rPr>
                            <m:nor/>
                          </m:rPr>
                          <a:rPr lang="nl-NL" altLang="zh-CN" sz="1200" b="0" i="1" kern="1200">
                            <a:solidFill>
                              <a:schemeClr val="tx1"/>
                            </a:solidFill>
                            <a:latin typeface="+mn-lt"/>
                            <a:ea typeface="+mn-ea"/>
                            <a:cs typeface="+mn-cs"/>
                          </a:rPr>
                          <m:t>rate</m:t>
                        </m:r>
                      </m:e>
                      <m:e>
                        <m:r>
                          <m:rPr>
                            <m:nor/>
                          </m:rPr>
                          <a:rPr lang="nl-NL" altLang="zh-CN" sz="1200" b="0" i="1" kern="1200">
                            <a:solidFill>
                              <a:schemeClr val="tx1"/>
                            </a:solidFill>
                            <a:latin typeface="+mn-lt"/>
                            <a:ea typeface="+mn-ea"/>
                            <a:cs typeface="+mn-cs"/>
                          </a:rPr>
                          <m:t>bandwidth</m:t>
                        </m:r>
                      </m:e>
                    </m:d>
                  </m:oMath>
                </a14:m>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Choice>
        <mc:Fallback xmlns="">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r>
                  <a:rPr lang="nl-NL" altLang="zh-CN" sz="1200" i="0" kern="1200">
                    <a:solidFill>
                      <a:schemeClr val="tx1"/>
                    </a:solidFill>
                    <a:latin typeface="+mn-lt"/>
                    <a:ea typeface="+mn-ea"/>
                    <a:cs typeface="+mn-cs"/>
                  </a:rPr>
                  <a:t>min⁡</a:t>
                </a:r>
                <a:r>
                  <a:rPr lang="ar-AE" altLang="zh-CN" sz="1200" i="0" kern="1200">
                    <a:solidFill>
                      <a:schemeClr val="tx1"/>
                    </a:solidFill>
                    <a:latin typeface="+mn-lt"/>
                    <a:ea typeface="+mn-ea"/>
                    <a:cs typeface="+mn-cs"/>
                  </a:rPr>
                  <a:t>(</a:t>
                </a:r>
                <a:r>
                  <a:rPr lang="nl-NL" altLang="zh-CN" sz="1200" b="0" i="0" kern="1200">
                    <a:solidFill>
                      <a:schemeClr val="tx1"/>
                    </a:solidFill>
                    <a:latin typeface="+mn-lt"/>
                    <a:ea typeface="+mn-ea"/>
                    <a:cs typeface="+mn-cs"/>
                  </a:rPr>
                  <a:t>"arrival rate</a:t>
                </a:r>
                <a:r>
                  <a:rPr lang="ar-AE" altLang="zh-CN" sz="1200" b="0" i="0" kern="1200">
                    <a:solidFill>
                      <a:schemeClr val="tx1"/>
                    </a:solidFill>
                    <a:latin typeface="+mn-lt"/>
                    <a:ea typeface="+mn-ea"/>
                    <a:cs typeface="+mn-cs"/>
                  </a:rPr>
                  <a:t>" ⓜ,</a:t>
                </a:r>
                <a:r>
                  <a:rPr lang="nl-NL" altLang="zh-CN" sz="1200" b="0" i="0" kern="1200">
                    <a:solidFill>
                      <a:schemeClr val="tx1"/>
                    </a:solidFill>
                    <a:latin typeface="+mn-lt"/>
                    <a:ea typeface="+mn-ea"/>
                    <a:cs typeface="+mn-cs"/>
                  </a:rPr>
                  <a:t>"bandwidth</a:t>
                </a:r>
                <a:r>
                  <a:rPr lang="ar-AE" altLang="zh-CN" sz="1200" b="0" i="0" kern="1200">
                    <a:solidFill>
                      <a:schemeClr val="tx1"/>
                    </a:solidFill>
                    <a:latin typeface="+mn-lt"/>
                    <a:ea typeface="+mn-ea"/>
                    <a:cs typeface="+mn-cs"/>
                  </a:rPr>
                  <a:t>" )</a:t>
                </a:r>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1464909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Because the exam is using </a:t>
            </a:r>
            <a:r>
              <a:rPr lang="en-US" altLang="zh-CN" b="1" dirty="0"/>
              <a:t>two different transmission models</a:t>
            </a:r>
            <a:r>
              <a:rPr lang="en-US" altLang="zh-CN" dirty="0"/>
              <a:t>.</a:t>
            </a:r>
          </a:p>
          <a:p>
            <a:r>
              <a:rPr lang="en-US" altLang="zh-CN" dirty="0"/>
              <a:t>In </a:t>
            </a:r>
            <a:r>
              <a:rPr lang="en-US" altLang="zh-CN" b="1" dirty="0"/>
              <a:t>Q2.1–Q2.6</a:t>
            </a:r>
            <a:r>
              <a:rPr lang="en-US" altLang="zh-CN" dirty="0"/>
              <a:t>, the problem explicitly says: </a:t>
            </a:r>
            <a:r>
              <a:rPr lang="en-US" altLang="zh-CN" b="1" dirty="0"/>
              <a:t>“E must receive all bits of a payload before sending that payload along the next link.”</a:t>
            </a:r>
            <a:r>
              <a:rPr lang="en-US" altLang="zh-CN" dirty="0"/>
              <a:t> That is classic </a:t>
            </a:r>
            <a:r>
              <a:rPr lang="en-US" altLang="zh-CN" b="1" dirty="0"/>
              <a:t>store-and-forward</a:t>
            </a:r>
            <a:r>
              <a:rPr lang="en-US" altLang="zh-CN" dirty="0"/>
              <a:t> behavior, so a whole 20 Gbit payload must finish arriving at (E) before (E) starts transmitting it onward.</a:t>
            </a:r>
          </a:p>
          <a:p>
            <a:r>
              <a:rPr lang="en-US" altLang="zh-CN" dirty="0"/>
              <a:t>In </a:t>
            </a:r>
            <a:r>
              <a:rPr lang="en-US" altLang="zh-CN" b="1" dirty="0"/>
              <a:t>Q2.7–Q2.9</a:t>
            </a:r>
            <a:r>
              <a:rPr lang="en-US" altLang="zh-CN" dirty="0"/>
              <a:t>, the setup changes to: </a:t>
            </a:r>
            <a:r>
              <a:rPr lang="en-US" altLang="zh-CN" b="1" dirty="0"/>
              <a:t>“At E, each bit can be forwarded independently of other bits.”</a:t>
            </a:r>
            <a:r>
              <a:rPr lang="en-US" altLang="zh-CN" dirty="0"/>
              <a:t> That is a </a:t>
            </a:r>
            <a:r>
              <a:rPr lang="en-US" altLang="zh-CN" b="1" dirty="0"/>
              <a:t>bit-by-bit / fluid</a:t>
            </a:r>
            <a:r>
              <a:rPr lang="en-US" altLang="zh-CN" dirty="0"/>
              <a:t> model, so (E) can start forwarding as soon as the first bit arrives, without waiting for the whole payload.</a:t>
            </a:r>
          </a:p>
          <a:p>
            <a:r>
              <a:rPr lang="en-US" altLang="zh-CN" dirty="0"/>
              <a:t>So the exam is not being inconsistent; it is switching models on purpose.</a:t>
            </a:r>
          </a:p>
          <a:p>
            <a:r>
              <a:rPr lang="en-US" altLang="zh-CN" dirty="0"/>
              <a:t>Under the bit-by-bit model, Q2.1 would look like this:</a:t>
            </a:r>
          </a:p>
          <a:p>
            <a:r>
              <a:rPr lang="en-US" altLang="zh-CN" sz="1200" kern="1200" dirty="0">
                <a:solidFill>
                  <a:schemeClr val="tx1"/>
                </a:solidFill>
                <a:latin typeface="+mn-lt"/>
                <a:ea typeface="+mn-ea"/>
                <a:cs typeface="+mn-cs"/>
              </a:rPr>
              <a:t>H -&gt; E -&gt; T</a:t>
            </a:r>
          </a:p>
          <a:p>
            <a:r>
              <a:rPr lang="en-US" altLang="zh-CN" sz="1200" kern="1200" dirty="0">
                <a:solidFill>
                  <a:schemeClr val="tx1"/>
                </a:solidFill>
                <a:latin typeface="+mn-lt"/>
                <a:ea typeface="+mn-ea"/>
                <a:cs typeface="+mn-cs"/>
              </a:rPr>
              <a:t>Link 1: 20 Gbps, 2 s propagation</a:t>
            </a:r>
          </a:p>
          <a:p>
            <a:r>
              <a:rPr lang="en-US" altLang="zh-CN" sz="1200" kern="1200" dirty="0">
                <a:solidFill>
                  <a:schemeClr val="tx1"/>
                </a:solidFill>
                <a:latin typeface="+mn-lt"/>
                <a:ea typeface="+mn-ea"/>
                <a:cs typeface="+mn-cs"/>
              </a:rPr>
              <a:t>Link 2: 10 Gbps, 10 s propagation</a:t>
            </a:r>
          </a:p>
          <a:p>
            <a:endParaRPr lang="en-US" altLang="zh-CN" sz="1200" kern="1200" dirty="0">
              <a:solidFill>
                <a:schemeClr val="tx1"/>
              </a:solidFill>
              <a:latin typeface="+mn-lt"/>
              <a:ea typeface="+mn-ea"/>
              <a:cs typeface="+mn-cs"/>
            </a:endParaRPr>
          </a:p>
          <a:p>
            <a:r>
              <a:rPr lang="en-US" altLang="zh-CN" sz="1200" kern="1200" dirty="0">
                <a:solidFill>
                  <a:schemeClr val="tx1"/>
                </a:solidFill>
                <a:latin typeface="+mn-lt"/>
                <a:ea typeface="+mn-ea"/>
                <a:cs typeface="+mn-cs"/>
              </a:rPr>
              <a:t>Payload 1:</a:t>
            </a:r>
          </a:p>
          <a:p>
            <a:r>
              <a:rPr lang="en-US" altLang="zh-CN" sz="1200" kern="1200" dirty="0">
                <a:solidFill>
                  <a:schemeClr val="tx1"/>
                </a:solidFill>
                <a:latin typeface="+mn-lt"/>
                <a:ea typeface="+mn-ea"/>
                <a:cs typeface="+mn-cs"/>
              </a:rPr>
              <a:t>H sends bits during [0,1]</a:t>
            </a:r>
          </a:p>
          <a:p>
            <a:r>
              <a:rPr lang="en-US" altLang="zh-CN" sz="1200" kern="1200" dirty="0">
                <a:solidFill>
                  <a:schemeClr val="tx1"/>
                </a:solidFill>
                <a:latin typeface="+mn-lt"/>
                <a:ea typeface="+mn-ea"/>
                <a:cs typeface="+mn-cs"/>
              </a:rPr>
              <a:t>E receives bits during [2,3]</a:t>
            </a:r>
          </a:p>
          <a:p>
            <a:r>
              <a:rPr lang="en-US" altLang="zh-CN" sz="1200" kern="1200" dirty="0">
                <a:solidFill>
                  <a:schemeClr val="tx1"/>
                </a:solidFill>
                <a:latin typeface="+mn-lt"/>
                <a:ea typeface="+mn-ea"/>
                <a:cs typeface="+mn-cs"/>
              </a:rPr>
              <a:t>E starts forwarding immediately at t = 2</a:t>
            </a:r>
          </a:p>
          <a:p>
            <a:r>
              <a:rPr lang="en-US" altLang="zh-CN" sz="1200" kern="1200" dirty="0">
                <a:solidFill>
                  <a:schemeClr val="tx1"/>
                </a:solidFill>
                <a:latin typeface="+mn-lt"/>
                <a:ea typeface="+mn-ea"/>
                <a:cs typeface="+mn-cs"/>
              </a:rPr>
              <a:t>E finishes sending payload 1 at t = 4</a:t>
            </a:r>
          </a:p>
          <a:p>
            <a:r>
              <a:rPr lang="en-US" altLang="zh-CN" sz="1200" kern="1200" dirty="0">
                <a:solidFill>
                  <a:schemeClr val="tx1"/>
                </a:solidFill>
                <a:latin typeface="+mn-lt"/>
                <a:ea typeface="+mn-ea"/>
                <a:cs typeface="+mn-cs"/>
              </a:rPr>
              <a:t>T receives the last bit at t = 14</a:t>
            </a:r>
          </a:p>
          <a:p>
            <a:r>
              <a:rPr lang="en-US" altLang="zh-CN" dirty="0"/>
              <a:t>So compared with the store-and-forward answer:</a:t>
            </a:r>
          </a:p>
          <a:p>
            <a:r>
              <a:rPr lang="en-US" altLang="zh-CN" dirty="0"/>
              <a:t>first bit can leave (E) at </a:t>
            </a:r>
            <a:r>
              <a:rPr lang="en-US" altLang="zh-CN" b="1" dirty="0"/>
              <a:t>t = 2</a:t>
            </a:r>
            <a:r>
              <a:rPr lang="en-US" altLang="zh-CN" dirty="0"/>
              <a:t> instead of </a:t>
            </a:r>
            <a:r>
              <a:rPr lang="en-US" altLang="zh-CN" b="1" dirty="0"/>
              <a:t>t = 3</a:t>
            </a:r>
            <a:endParaRPr lang="en-US" altLang="zh-CN" dirty="0"/>
          </a:p>
          <a:p>
            <a:r>
              <a:rPr lang="en-US" altLang="zh-CN" dirty="0"/>
              <a:t>the last bit of payload 1 reaches (T) at </a:t>
            </a:r>
            <a:r>
              <a:rPr lang="en-US" altLang="zh-CN" b="1" dirty="0"/>
              <a:t>t = 14</a:t>
            </a:r>
            <a:r>
              <a:rPr lang="en-US" altLang="zh-CN" dirty="0"/>
              <a:t> instead of </a:t>
            </a:r>
            <a:r>
              <a:rPr lang="en-US" altLang="zh-CN" b="1" dirty="0"/>
              <a:t>t = 15</a:t>
            </a:r>
            <a:endParaRPr lang="en-US" altLang="zh-CN" dirty="0"/>
          </a:p>
          <a:p>
            <a:r>
              <a:rPr lang="en-US" altLang="zh-CN" dirty="0"/>
              <a:t>And the later payloads would finish at (T) every 2 seconds after that:</a:t>
            </a:r>
            <a:br>
              <a:rPr lang="en-US" altLang="zh-CN" dirty="0"/>
            </a:br>
            <a:r>
              <a:rPr lang="en-US" altLang="zh-CN" dirty="0"/>
              <a:t>[</a:t>
            </a:r>
            <a:br>
              <a:rPr lang="en-US" altLang="zh-CN" dirty="0"/>
            </a:br>
            <a:r>
              <a:rPr lang="en-US" altLang="zh-CN" dirty="0"/>
              <a:t>14, 16, 18, \dots, 32</a:t>
            </a:r>
            <a:br>
              <a:rPr lang="en-US" altLang="zh-CN" dirty="0"/>
            </a:br>
            <a:r>
              <a:rPr lang="en-US" altLang="zh-CN" dirty="0"/>
              <a:t>]</a:t>
            </a:r>
          </a:p>
          <a:p>
            <a:r>
              <a:rPr lang="en-US" altLang="zh-CN"/>
              <a:t>That is why the later subparts use queue </a:t>
            </a:r>
            <a:r>
              <a:rPr lang="en-US" altLang="zh-CN" b="1"/>
              <a:t>size in Gbit</a:t>
            </a:r>
            <a:r>
              <a:rPr lang="en-US" altLang="zh-CN"/>
              <a:t> and </a:t>
            </a:r>
            <a:r>
              <a:rPr lang="en-US" altLang="zh-CN" b="1"/>
              <a:t>slope/rate</a:t>
            </a:r>
            <a:r>
              <a:rPr lang="en-US" altLang="zh-CN"/>
              <a:t>, instead of whole-packet waiting times.</a:t>
            </a:r>
          </a:p>
          <a:p>
            <a:endParaRPr lang="zh-CN" altLang="en-US"/>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3494257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middle router can lose its direct route to  D, while each outer router may still hear a finite route from the other outer router, because poisoned reverse only hides the route from the neighbor being used as next hop.  As a result, the false route can circulate around the triangle and the metric can increase repeatedly, so B still has count-to-infinity. For C, removing D still leaves a triangle among the three non-destination routers. That creates the same problem as in B:</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41813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5/6/2026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5/6/2026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5/6/2026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5/6/2026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5/6/2026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5/6/2026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6" name="Google Shape;16;p3"/>
          <p:cNvSpPr txBox="1">
            <a:spLocks noGrp="1"/>
          </p:cNvSpPr>
          <p:nvPr>
            <p:ph type="subTitle" idx="1"/>
          </p:nvPr>
        </p:nvSpPr>
        <p:spPr>
          <a:xfrm>
            <a:off x="415600" y="3778833"/>
            <a:ext cx="11360800" cy="20484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1pPr>
            <a:lvl2pPr lvl="1"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2pPr>
            <a:lvl3pPr lvl="2"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3pPr>
            <a:lvl4pPr lvl="3"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4pPr>
            <a:lvl5pPr lvl="4"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5pPr>
            <a:lvl6pPr lvl="5"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6pPr>
            <a:lvl7pPr lvl="6"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7pPr>
            <a:lvl8pPr lvl="7"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8pPr>
            <a:lvl9pPr lvl="8"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978317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42733" y="536267"/>
            <a:ext cx="11879600" cy="6040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21" name="Google Shape;21;p4"/>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1318385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42661213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mo slide right">
  <p:cSld name="Demo slide right">
    <p:spTree>
      <p:nvGrpSpPr>
        <p:cNvPr id="1" name="Shape 29"/>
        <p:cNvGrpSpPr/>
        <p:nvPr/>
      </p:nvGrpSpPr>
      <p:grpSpPr>
        <a:xfrm>
          <a:off x="0" y="0"/>
          <a:ext cx="0" cy="0"/>
          <a:chOff x="0" y="0"/>
          <a:chExt cx="0" cy="0"/>
        </a:xfrm>
      </p:grpSpPr>
      <p:sp>
        <p:nvSpPr>
          <p:cNvPr id="30" name="Google Shape;30;p6"/>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6"/>
          <p:cNvSpPr txBox="1">
            <a:spLocks noGrp="1"/>
          </p:cNvSpPr>
          <p:nvPr>
            <p:ph type="subTitle" idx="1"/>
          </p:nvPr>
        </p:nvSpPr>
        <p:spPr>
          <a:xfrm>
            <a:off x="6447200" y="5597700"/>
            <a:ext cx="5393600" cy="620000"/>
          </a:xfrm>
          <a:prstGeom prst="rect">
            <a:avLst/>
          </a:prstGeom>
        </p:spPr>
        <p:txBody>
          <a:bodyPr spcFirstLastPara="1" wrap="square" lIns="91425" tIns="91425" rIns="91425" bIns="91425" anchor="t" anchorCtr="0">
            <a:noAutofit/>
          </a:bodyPr>
          <a:lstStyle>
            <a:lvl1pPr lvl="0" algn="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33" name="Google Shape;33;p6"/>
          <p:cNvSpPr txBox="1"/>
          <p:nvPr/>
        </p:nvSpPr>
        <p:spPr>
          <a:xfrm>
            <a:off x="8487867" y="4966501"/>
            <a:ext cx="3454800" cy="759078"/>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127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127241" y="536280"/>
            <a:ext cx="58028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0790521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mo slide left">
  <p:cSld name="Demo slide left">
    <p:spTree>
      <p:nvGrpSpPr>
        <p:cNvPr id="1" name="Shape 37"/>
        <p:cNvGrpSpPr/>
        <p:nvPr/>
      </p:nvGrpSpPr>
      <p:grpSpPr>
        <a:xfrm>
          <a:off x="0" y="0"/>
          <a:ext cx="0" cy="0"/>
          <a:chOff x="0" y="0"/>
          <a:chExt cx="0" cy="0"/>
        </a:xfrm>
      </p:grpSpPr>
      <p:sp>
        <p:nvSpPr>
          <p:cNvPr id="38" name="Google Shape;38;p7"/>
          <p:cNvSpPr/>
          <p:nvPr/>
        </p:nvSpPr>
        <p:spPr>
          <a:xfrm>
            <a:off x="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7"/>
          <p:cNvSpPr txBox="1">
            <a:spLocks noGrp="1"/>
          </p:cNvSpPr>
          <p:nvPr>
            <p:ph type="subTitle" idx="1"/>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0" name="Google Shape;40;p7"/>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6223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6096000" y="0"/>
            <a:ext cx="6096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6223241" y="536280"/>
            <a:ext cx="58028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45" name="Google Shape;4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8388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ide Puzzle">
  <p:cSld name="Wide Puzzle">
    <p:spTree>
      <p:nvGrpSpPr>
        <p:cNvPr id="1" name="Shape 46"/>
        <p:cNvGrpSpPr/>
        <p:nvPr/>
      </p:nvGrpSpPr>
      <p:grpSpPr>
        <a:xfrm>
          <a:off x="0" y="0"/>
          <a:ext cx="0" cy="0"/>
          <a:chOff x="0" y="0"/>
          <a:chExt cx="0" cy="0"/>
        </a:xfrm>
      </p:grpSpPr>
      <p:sp>
        <p:nvSpPr>
          <p:cNvPr id="47" name="Google Shape;47;p8"/>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 name="Google Shape;48;p8"/>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9" name="Google Shape;49;p8"/>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53" name="Google Shape;53;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54" name="Google Shape;54;p8"/>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a:t>
            </a:r>
            <a:endParaRPr sz="3333" b="1">
              <a:solidFill>
                <a:schemeClr val="accent3"/>
              </a:solidFill>
              <a:latin typeface="Roboto"/>
              <a:ea typeface="Roboto"/>
              <a:cs typeface="Roboto"/>
              <a:sym typeface="Roboto"/>
            </a:endParaRPr>
          </a:p>
        </p:txBody>
      </p:sp>
    </p:spTree>
    <p:extLst>
      <p:ext uri="{BB962C8B-B14F-4D97-AF65-F5344CB8AC3E}">
        <p14:creationId xmlns:p14="http://schemas.microsoft.com/office/powerpoint/2010/main" val="41074807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Wide Puzzle 1">
  <p:cSld name="Wide Puzzle 1">
    <p:spTree>
      <p:nvGrpSpPr>
        <p:cNvPr id="1" name="Shape 55"/>
        <p:cNvGrpSpPr/>
        <p:nvPr/>
      </p:nvGrpSpPr>
      <p:grpSpPr>
        <a:xfrm>
          <a:off x="0" y="0"/>
          <a:ext cx="0" cy="0"/>
          <a:chOff x="0" y="0"/>
          <a:chExt cx="0" cy="0"/>
        </a:xfrm>
      </p:grpSpPr>
      <p:sp>
        <p:nvSpPr>
          <p:cNvPr id="56" name="Google Shape;56;p9"/>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9"/>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58" name="Google Shape;58;p9"/>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Compare</a:t>
            </a:r>
            <a:endParaRPr sz="3333"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63" name="Google Shape;63;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824407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ide Puzzle Solution">
  <p:cSld name="Wide Puzzle Solution">
    <p:spTree>
      <p:nvGrpSpPr>
        <p:cNvPr id="1" name="Shape 64"/>
        <p:cNvGrpSpPr/>
        <p:nvPr/>
      </p:nvGrpSpPr>
      <p:grpSpPr>
        <a:xfrm>
          <a:off x="0" y="0"/>
          <a:ext cx="0" cy="0"/>
          <a:chOff x="0" y="0"/>
          <a:chExt cx="0" cy="0"/>
        </a:xfrm>
      </p:grpSpPr>
      <p:sp>
        <p:nvSpPr>
          <p:cNvPr id="65" name="Google Shape;65;p10"/>
          <p:cNvSpPr/>
          <p:nvPr/>
        </p:nvSpPr>
        <p:spPr>
          <a:xfrm>
            <a:off x="0" y="-167"/>
            <a:ext cx="3702000" cy="6858000"/>
          </a:xfrm>
          <a:prstGeom prst="rect">
            <a:avLst/>
          </a:prstGeom>
          <a:solidFill>
            <a:srgbClr val="F3F3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 name="Google Shape;66;p10"/>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67" name="Google Shape;67;p10"/>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Solution</a:t>
            </a:r>
            <a:endParaRPr sz="3333"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72" name="Google Shape;72;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227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77" name="Google Shape;77;p11"/>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127241"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6353406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82" name="Google Shape;82;p12"/>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901500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85" name="Google Shape;85;p1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086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 name="Google Shape;88;p14"/>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89" name="Google Shape;89;p14"/>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90" name="Google Shape;90;p1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1" name="Google Shape;91;p14"/>
          <p:cNvSpPr txBox="1">
            <a:spLocks noGrp="1"/>
          </p:cNvSpPr>
          <p:nvPr>
            <p:ph type="body" idx="2"/>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1449627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4" name="Google Shape;94;p15"/>
          <p:cNvSpPr txBox="1">
            <a:spLocks noGrp="1"/>
          </p:cNvSpPr>
          <p:nvPr>
            <p:ph type="title"/>
          </p:nvPr>
        </p:nvSpPr>
        <p:spPr>
          <a:xfrm>
            <a:off x="127233" y="5717867"/>
            <a:ext cx="11545200" cy="1024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2400">
                <a:solidFill>
                  <a:schemeClr val="dk1"/>
                </a:solidFill>
                <a:latin typeface="Roboto"/>
                <a:ea typeface="Roboto"/>
                <a:cs typeface="Roboto"/>
                <a:sym typeface="Roboto"/>
              </a:defRPr>
            </a:lvl1pPr>
            <a:lvl2pPr lvl="1" rtl="0">
              <a:spcBef>
                <a:spcPts val="0"/>
              </a:spcBef>
              <a:spcAft>
                <a:spcPts val="0"/>
              </a:spcAft>
              <a:buSzPts val="2400"/>
              <a:buFont typeface="Roboto"/>
              <a:buNone/>
              <a:defRPr sz="3200">
                <a:latin typeface="Roboto"/>
                <a:ea typeface="Roboto"/>
                <a:cs typeface="Roboto"/>
                <a:sym typeface="Roboto"/>
              </a:defRPr>
            </a:lvl2pPr>
            <a:lvl3pPr lvl="2" rtl="0">
              <a:spcBef>
                <a:spcPts val="0"/>
              </a:spcBef>
              <a:spcAft>
                <a:spcPts val="0"/>
              </a:spcAft>
              <a:buSzPts val="2400"/>
              <a:buFont typeface="Roboto"/>
              <a:buNone/>
              <a:defRPr sz="3200">
                <a:latin typeface="Roboto"/>
                <a:ea typeface="Roboto"/>
                <a:cs typeface="Roboto"/>
                <a:sym typeface="Roboto"/>
              </a:defRPr>
            </a:lvl3pPr>
            <a:lvl4pPr lvl="3" rtl="0">
              <a:spcBef>
                <a:spcPts val="0"/>
              </a:spcBef>
              <a:spcAft>
                <a:spcPts val="0"/>
              </a:spcAft>
              <a:buSzPts val="2400"/>
              <a:buFont typeface="Roboto"/>
              <a:buNone/>
              <a:defRPr sz="3200">
                <a:latin typeface="Roboto"/>
                <a:ea typeface="Roboto"/>
                <a:cs typeface="Roboto"/>
                <a:sym typeface="Roboto"/>
              </a:defRPr>
            </a:lvl4pPr>
            <a:lvl5pPr lvl="4" rtl="0">
              <a:spcBef>
                <a:spcPts val="0"/>
              </a:spcBef>
              <a:spcAft>
                <a:spcPts val="0"/>
              </a:spcAft>
              <a:buSzPts val="2400"/>
              <a:buFont typeface="Roboto"/>
              <a:buNone/>
              <a:defRPr sz="3200">
                <a:latin typeface="Roboto"/>
                <a:ea typeface="Roboto"/>
                <a:cs typeface="Roboto"/>
                <a:sym typeface="Roboto"/>
              </a:defRPr>
            </a:lvl5pPr>
            <a:lvl6pPr lvl="5" rtl="0">
              <a:spcBef>
                <a:spcPts val="0"/>
              </a:spcBef>
              <a:spcAft>
                <a:spcPts val="0"/>
              </a:spcAft>
              <a:buSzPts val="2400"/>
              <a:buFont typeface="Roboto"/>
              <a:buNone/>
              <a:defRPr sz="3200">
                <a:latin typeface="Roboto"/>
                <a:ea typeface="Roboto"/>
                <a:cs typeface="Roboto"/>
                <a:sym typeface="Roboto"/>
              </a:defRPr>
            </a:lvl6pPr>
            <a:lvl7pPr lvl="6" rtl="0">
              <a:spcBef>
                <a:spcPts val="0"/>
              </a:spcBef>
              <a:spcAft>
                <a:spcPts val="0"/>
              </a:spcAft>
              <a:buSzPts val="2400"/>
              <a:buFont typeface="Roboto"/>
              <a:buNone/>
              <a:defRPr sz="3200">
                <a:latin typeface="Roboto"/>
                <a:ea typeface="Roboto"/>
                <a:cs typeface="Roboto"/>
                <a:sym typeface="Roboto"/>
              </a:defRPr>
            </a:lvl7pPr>
            <a:lvl8pPr lvl="7" rtl="0">
              <a:spcBef>
                <a:spcPts val="0"/>
              </a:spcBef>
              <a:spcAft>
                <a:spcPts val="0"/>
              </a:spcAft>
              <a:buSzPts val="2400"/>
              <a:buFont typeface="Roboto"/>
              <a:buNone/>
              <a:defRPr sz="3200">
                <a:latin typeface="Roboto"/>
                <a:ea typeface="Roboto"/>
                <a:cs typeface="Roboto"/>
                <a:sym typeface="Roboto"/>
              </a:defRPr>
            </a:lvl8pPr>
            <a:lvl9pPr lvl="8" rtl="0">
              <a:spcBef>
                <a:spcPts val="0"/>
              </a:spcBef>
              <a:spcAft>
                <a:spcPts val="0"/>
              </a:spcAft>
              <a:buSzPts val="2400"/>
              <a:buFont typeface="Roboto"/>
              <a:buNone/>
              <a:defRPr sz="3200">
                <a:latin typeface="Roboto"/>
                <a:ea typeface="Roboto"/>
                <a:cs typeface="Roboto"/>
                <a:sym typeface="Roboto"/>
              </a:defRPr>
            </a:lvl9pPr>
          </a:lstStyle>
          <a:p>
            <a:endParaRPr/>
          </a:p>
        </p:txBody>
      </p:sp>
      <p:cxnSp>
        <p:nvCxnSpPr>
          <p:cNvPr id="95" name="Google Shape;95;p15"/>
          <p:cNvCxnSpPr/>
          <p:nvPr/>
        </p:nvCxnSpPr>
        <p:spPr>
          <a:xfrm>
            <a:off x="224333" y="5717867"/>
            <a:ext cx="116760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07413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117883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dark">
  <p:cSld name="Blank dark">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158127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Interlude">
  <p:cSld name="Interlude">
    <p:spTree>
      <p:nvGrpSpPr>
        <p:cNvPr id="1" name="Shape 100"/>
        <p:cNvGrpSpPr/>
        <p:nvPr/>
      </p:nvGrpSpPr>
      <p:grpSpPr>
        <a:xfrm>
          <a:off x="0" y="0"/>
          <a:ext cx="0" cy="0"/>
          <a:chOff x="0" y="0"/>
          <a:chExt cx="0" cy="0"/>
        </a:xfrm>
      </p:grpSpPr>
      <p:sp>
        <p:nvSpPr>
          <p:cNvPr id="101" name="Google Shape;101;p18"/>
          <p:cNvSpPr/>
          <p:nvPr/>
        </p:nvSpPr>
        <p:spPr>
          <a:xfrm>
            <a:off x="0" y="-167"/>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 name="Google Shape;102;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03" name="Google Shape;103;p18"/>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105" name="Google Shape;105;p18"/>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4800">
                <a:solidFill>
                  <a:schemeClr val="lt1"/>
                </a:solidFill>
              </a:defRPr>
            </a:lvl1pPr>
            <a:lvl2pPr lvl="1" rtl="0">
              <a:spcBef>
                <a:spcPts val="0"/>
              </a:spcBef>
              <a:spcAft>
                <a:spcPts val="0"/>
              </a:spcAft>
              <a:buClr>
                <a:schemeClr val="lt1"/>
              </a:buClr>
              <a:buSzPts val="3600"/>
              <a:buNone/>
              <a:defRPr sz="4800">
                <a:solidFill>
                  <a:schemeClr val="lt1"/>
                </a:solidFill>
              </a:defRPr>
            </a:lvl2pPr>
            <a:lvl3pPr lvl="2" rtl="0">
              <a:spcBef>
                <a:spcPts val="0"/>
              </a:spcBef>
              <a:spcAft>
                <a:spcPts val="0"/>
              </a:spcAft>
              <a:buClr>
                <a:schemeClr val="lt1"/>
              </a:buClr>
              <a:buSzPts val="3600"/>
              <a:buNone/>
              <a:defRPr sz="4800">
                <a:solidFill>
                  <a:schemeClr val="lt1"/>
                </a:solidFill>
              </a:defRPr>
            </a:lvl3pPr>
            <a:lvl4pPr lvl="3" rtl="0">
              <a:spcBef>
                <a:spcPts val="0"/>
              </a:spcBef>
              <a:spcAft>
                <a:spcPts val="0"/>
              </a:spcAft>
              <a:buClr>
                <a:schemeClr val="lt1"/>
              </a:buClr>
              <a:buSzPts val="3600"/>
              <a:buNone/>
              <a:defRPr sz="4800">
                <a:solidFill>
                  <a:schemeClr val="lt1"/>
                </a:solidFill>
              </a:defRPr>
            </a:lvl4pPr>
            <a:lvl5pPr lvl="4" rtl="0">
              <a:spcBef>
                <a:spcPts val="0"/>
              </a:spcBef>
              <a:spcAft>
                <a:spcPts val="0"/>
              </a:spcAft>
              <a:buClr>
                <a:schemeClr val="lt1"/>
              </a:buClr>
              <a:buSzPts val="3600"/>
              <a:buNone/>
              <a:defRPr sz="4800">
                <a:solidFill>
                  <a:schemeClr val="lt1"/>
                </a:solidFill>
              </a:defRPr>
            </a:lvl5pPr>
            <a:lvl6pPr lvl="5" rtl="0">
              <a:spcBef>
                <a:spcPts val="0"/>
              </a:spcBef>
              <a:spcAft>
                <a:spcPts val="0"/>
              </a:spcAft>
              <a:buClr>
                <a:schemeClr val="lt1"/>
              </a:buClr>
              <a:buSzPts val="3600"/>
              <a:buNone/>
              <a:defRPr sz="4800">
                <a:solidFill>
                  <a:schemeClr val="lt1"/>
                </a:solidFill>
              </a:defRPr>
            </a:lvl6pPr>
            <a:lvl7pPr lvl="6" rtl="0">
              <a:spcBef>
                <a:spcPts val="0"/>
              </a:spcBef>
              <a:spcAft>
                <a:spcPts val="0"/>
              </a:spcAft>
              <a:buClr>
                <a:schemeClr val="lt1"/>
              </a:buClr>
              <a:buSzPts val="3600"/>
              <a:buNone/>
              <a:defRPr sz="4800">
                <a:solidFill>
                  <a:schemeClr val="lt1"/>
                </a:solidFill>
              </a:defRPr>
            </a:lvl7pPr>
            <a:lvl8pPr lvl="7" rtl="0">
              <a:spcBef>
                <a:spcPts val="0"/>
              </a:spcBef>
              <a:spcAft>
                <a:spcPts val="0"/>
              </a:spcAft>
              <a:buClr>
                <a:schemeClr val="lt1"/>
              </a:buClr>
              <a:buSzPts val="3600"/>
              <a:buNone/>
              <a:defRPr sz="4800">
                <a:solidFill>
                  <a:schemeClr val="lt1"/>
                </a:solidFill>
              </a:defRPr>
            </a:lvl8pPr>
            <a:lvl9pPr lvl="8" rtl="0">
              <a:spcBef>
                <a:spcPts val="0"/>
              </a:spcBef>
              <a:spcAft>
                <a:spcPts val="0"/>
              </a:spcAft>
              <a:buClr>
                <a:schemeClr val="lt1"/>
              </a:buClr>
              <a:buSzPts val="3600"/>
              <a:buNone/>
              <a:defRPr sz="4800">
                <a:solidFill>
                  <a:schemeClr val="lt1"/>
                </a:solidFill>
              </a:defRPr>
            </a:lvl9pPr>
          </a:lstStyle>
          <a:p>
            <a:endParaRPr/>
          </a:p>
        </p:txBody>
      </p:sp>
      <p:cxnSp>
        <p:nvCxnSpPr>
          <p:cNvPr id="106" name="Google Shape;106;p18"/>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Clr>
                <a:schemeClr val="lt1"/>
              </a:buClr>
              <a:buSzPts val="1800"/>
              <a:buNone/>
              <a:defRPr>
                <a:solidFill>
                  <a:schemeClr val="lt1"/>
                </a:solidFill>
              </a:defRPr>
            </a:lvl1pPr>
            <a:lvl2pPr lvl="1" rtl="0">
              <a:lnSpc>
                <a:spcPct val="100000"/>
              </a:lnSpc>
              <a:spcBef>
                <a:spcPts val="800"/>
              </a:spcBef>
              <a:spcAft>
                <a:spcPts val="0"/>
              </a:spcAft>
              <a:buClr>
                <a:schemeClr val="lt1"/>
              </a:buClr>
              <a:buSzPts val="2100"/>
              <a:buNone/>
              <a:defRPr sz="2800">
                <a:solidFill>
                  <a:schemeClr val="lt1"/>
                </a:solidFill>
              </a:defRPr>
            </a:lvl2pPr>
            <a:lvl3pPr lvl="2" rtl="0">
              <a:lnSpc>
                <a:spcPct val="100000"/>
              </a:lnSpc>
              <a:spcBef>
                <a:spcPts val="800"/>
              </a:spcBef>
              <a:spcAft>
                <a:spcPts val="0"/>
              </a:spcAft>
              <a:buClr>
                <a:schemeClr val="lt1"/>
              </a:buClr>
              <a:buSzPts val="2100"/>
              <a:buNone/>
              <a:defRPr sz="2800">
                <a:solidFill>
                  <a:schemeClr val="lt1"/>
                </a:solidFill>
              </a:defRPr>
            </a:lvl3pPr>
            <a:lvl4pPr lvl="3" rtl="0">
              <a:lnSpc>
                <a:spcPct val="100000"/>
              </a:lnSpc>
              <a:spcBef>
                <a:spcPts val="800"/>
              </a:spcBef>
              <a:spcAft>
                <a:spcPts val="0"/>
              </a:spcAft>
              <a:buClr>
                <a:schemeClr val="lt1"/>
              </a:buClr>
              <a:buSzPts val="2100"/>
              <a:buNone/>
              <a:defRPr sz="2800">
                <a:solidFill>
                  <a:schemeClr val="lt1"/>
                </a:solidFill>
              </a:defRPr>
            </a:lvl4pPr>
            <a:lvl5pPr lvl="4" rtl="0">
              <a:lnSpc>
                <a:spcPct val="100000"/>
              </a:lnSpc>
              <a:spcBef>
                <a:spcPts val="800"/>
              </a:spcBef>
              <a:spcAft>
                <a:spcPts val="0"/>
              </a:spcAft>
              <a:buClr>
                <a:schemeClr val="lt1"/>
              </a:buClr>
              <a:buSzPts val="2100"/>
              <a:buNone/>
              <a:defRPr sz="2800">
                <a:solidFill>
                  <a:schemeClr val="lt1"/>
                </a:solidFill>
              </a:defRPr>
            </a:lvl5pPr>
            <a:lvl6pPr lvl="5" rtl="0">
              <a:lnSpc>
                <a:spcPct val="100000"/>
              </a:lnSpc>
              <a:spcBef>
                <a:spcPts val="800"/>
              </a:spcBef>
              <a:spcAft>
                <a:spcPts val="0"/>
              </a:spcAft>
              <a:buClr>
                <a:schemeClr val="lt1"/>
              </a:buClr>
              <a:buSzPts val="2100"/>
              <a:buNone/>
              <a:defRPr sz="2800">
                <a:solidFill>
                  <a:schemeClr val="lt1"/>
                </a:solidFill>
              </a:defRPr>
            </a:lvl6pPr>
            <a:lvl7pPr lvl="6" rtl="0">
              <a:lnSpc>
                <a:spcPct val="100000"/>
              </a:lnSpc>
              <a:spcBef>
                <a:spcPts val="800"/>
              </a:spcBef>
              <a:spcAft>
                <a:spcPts val="0"/>
              </a:spcAft>
              <a:buClr>
                <a:schemeClr val="lt1"/>
              </a:buClr>
              <a:buSzPts val="2100"/>
              <a:buNone/>
              <a:defRPr sz="2800">
                <a:solidFill>
                  <a:schemeClr val="lt1"/>
                </a:solidFill>
              </a:defRPr>
            </a:lvl7pPr>
            <a:lvl8pPr lvl="7" rtl="0">
              <a:lnSpc>
                <a:spcPct val="100000"/>
              </a:lnSpc>
              <a:spcBef>
                <a:spcPts val="800"/>
              </a:spcBef>
              <a:spcAft>
                <a:spcPts val="0"/>
              </a:spcAft>
              <a:buClr>
                <a:schemeClr val="lt1"/>
              </a:buClr>
              <a:buSzPts val="2100"/>
              <a:buNone/>
              <a:defRPr sz="2800">
                <a:solidFill>
                  <a:schemeClr val="lt1"/>
                </a:solidFill>
              </a:defRPr>
            </a:lvl8pPr>
            <a:lvl9pPr lvl="8" rtl="0">
              <a:lnSpc>
                <a:spcPct val="100000"/>
              </a:lnSpc>
              <a:spcBef>
                <a:spcPts val="800"/>
              </a:spcBef>
              <a:spcAft>
                <a:spcPts val="0"/>
              </a:spcAft>
              <a:buClr>
                <a:schemeClr val="lt1"/>
              </a:buClr>
              <a:buSzPts val="2100"/>
              <a:buNone/>
              <a:defRPr sz="2800">
                <a:solidFill>
                  <a:schemeClr val="lt1"/>
                </a:solidFill>
              </a:defRPr>
            </a:lvl9pPr>
          </a:lstStyle>
          <a:p>
            <a:endParaRPr/>
          </a:p>
        </p:txBody>
      </p:sp>
    </p:spTree>
    <p:extLst>
      <p:ext uri="{BB962C8B-B14F-4D97-AF65-F5344CB8AC3E}">
        <p14:creationId xmlns:p14="http://schemas.microsoft.com/office/powerpoint/2010/main" val="39511520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1">
    <p:spTree>
      <p:nvGrpSpPr>
        <p:cNvPr id="1" name="Shape 108"/>
        <p:cNvGrpSpPr/>
        <p:nvPr/>
      </p:nvGrpSpPr>
      <p:grpSpPr>
        <a:xfrm>
          <a:off x="0" y="0"/>
          <a:ext cx="0" cy="0"/>
          <a:chOff x="0" y="0"/>
          <a:chExt cx="0" cy="0"/>
        </a:xfrm>
      </p:grpSpPr>
      <p:sp>
        <p:nvSpPr>
          <p:cNvPr id="109" name="Google Shape;109;p19"/>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1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1" name="Google Shape;111;p1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12" name="Google Shape;112;p1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3" name="Google Shape;113;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13489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de on left">
  <p:cSld name="Code on left">
    <p:spTree>
      <p:nvGrpSpPr>
        <p:cNvPr id="1" name="Shape 114"/>
        <p:cNvGrpSpPr/>
        <p:nvPr/>
      </p:nvGrpSpPr>
      <p:grpSpPr>
        <a:xfrm>
          <a:off x="0" y="0"/>
          <a:ext cx="0" cy="0"/>
          <a:chOff x="0" y="0"/>
          <a:chExt cx="0" cy="0"/>
        </a:xfrm>
      </p:grpSpPr>
      <p:sp>
        <p:nvSpPr>
          <p:cNvPr id="115" name="Google Shape;115;p20"/>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2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17" name="Google Shape;117;p20"/>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8" name="Google Shape;118;p20"/>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9" name="Google Shape;119;p20"/>
          <p:cNvSpPr txBox="1">
            <a:spLocks noGrp="1"/>
          </p:cNvSpPr>
          <p:nvPr>
            <p:ph type="title"/>
          </p:nvPr>
        </p:nvSpPr>
        <p:spPr>
          <a:xfrm>
            <a:off x="6510533"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157365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de left, Heading">
  <p:cSld name="Code left, Heading">
    <p:spTree>
      <p:nvGrpSpPr>
        <p:cNvPr id="1" name="Shape 121"/>
        <p:cNvGrpSpPr/>
        <p:nvPr/>
      </p:nvGrpSpPr>
      <p:grpSpPr>
        <a:xfrm>
          <a:off x="0" y="0"/>
          <a:ext cx="0" cy="0"/>
          <a:chOff x="0" y="0"/>
          <a:chExt cx="0" cy="0"/>
        </a:xfrm>
      </p:grpSpPr>
      <p:sp>
        <p:nvSpPr>
          <p:cNvPr id="122" name="Google Shape;122;p21"/>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2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4" name="Google Shape;124;p21"/>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5" name="Google Shape;125;p21"/>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6" name="Google Shape;126;p21"/>
          <p:cNvSpPr txBox="1">
            <a:spLocks noGrp="1"/>
          </p:cNvSpPr>
          <p:nvPr>
            <p:ph type="subTitle" idx="3"/>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27" name="Google Shape;127;p21"/>
          <p:cNvSpPr txBox="1">
            <a:spLocks noGrp="1"/>
          </p:cNvSpPr>
          <p:nvPr>
            <p:ph type="title"/>
          </p:nvPr>
        </p:nvSpPr>
        <p:spPr>
          <a:xfrm>
            <a:off x="277933" y="4557900"/>
            <a:ext cx="52668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3333"/>
            </a:lvl1pPr>
            <a:lvl2pPr lvl="1" rtl="0">
              <a:spcBef>
                <a:spcPts val="0"/>
              </a:spcBef>
              <a:spcAft>
                <a:spcPts val="0"/>
              </a:spcAft>
              <a:buSzPts val="2500"/>
              <a:buNone/>
              <a:defRPr sz="3333"/>
            </a:lvl2pPr>
            <a:lvl3pPr lvl="2" rtl="0">
              <a:spcBef>
                <a:spcPts val="0"/>
              </a:spcBef>
              <a:spcAft>
                <a:spcPts val="0"/>
              </a:spcAft>
              <a:buSzPts val="2500"/>
              <a:buNone/>
              <a:defRPr sz="3333"/>
            </a:lvl3pPr>
            <a:lvl4pPr lvl="3" rtl="0">
              <a:spcBef>
                <a:spcPts val="0"/>
              </a:spcBef>
              <a:spcAft>
                <a:spcPts val="0"/>
              </a:spcAft>
              <a:buSzPts val="2500"/>
              <a:buNone/>
              <a:defRPr sz="3333"/>
            </a:lvl4pPr>
            <a:lvl5pPr lvl="4" rtl="0">
              <a:spcBef>
                <a:spcPts val="0"/>
              </a:spcBef>
              <a:spcAft>
                <a:spcPts val="0"/>
              </a:spcAft>
              <a:buSzPts val="2500"/>
              <a:buNone/>
              <a:defRPr sz="3333"/>
            </a:lvl5pPr>
            <a:lvl6pPr lvl="5" rtl="0">
              <a:spcBef>
                <a:spcPts val="0"/>
              </a:spcBef>
              <a:spcAft>
                <a:spcPts val="0"/>
              </a:spcAft>
              <a:buSzPts val="2500"/>
              <a:buNone/>
              <a:defRPr sz="3333"/>
            </a:lvl6pPr>
            <a:lvl7pPr lvl="6" rtl="0">
              <a:spcBef>
                <a:spcPts val="0"/>
              </a:spcBef>
              <a:spcAft>
                <a:spcPts val="0"/>
              </a:spcAft>
              <a:buSzPts val="2500"/>
              <a:buNone/>
              <a:defRPr sz="3333"/>
            </a:lvl7pPr>
            <a:lvl8pPr lvl="7" rtl="0">
              <a:spcBef>
                <a:spcPts val="0"/>
              </a:spcBef>
              <a:spcAft>
                <a:spcPts val="0"/>
              </a:spcAft>
              <a:buSzPts val="2500"/>
              <a:buNone/>
              <a:defRPr sz="3333"/>
            </a:lvl8pPr>
            <a:lvl9pPr lvl="8" rtl="0">
              <a:spcBef>
                <a:spcPts val="0"/>
              </a:spcBef>
              <a:spcAft>
                <a:spcPts val="0"/>
              </a:spcAft>
              <a:buSzPts val="2500"/>
              <a:buNone/>
              <a:defRPr sz="3333"/>
            </a:lvl9pPr>
          </a:lstStyle>
          <a:p>
            <a:endParaRPr/>
          </a:p>
        </p:txBody>
      </p:sp>
      <p:pic>
        <p:nvPicPr>
          <p:cNvPr id="128" name="Google Shape;128;p21"/>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0255396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31" name="Google Shape;131;p2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581061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de on right">
  <p:cSld name="Code on right">
    <p:spTree>
      <p:nvGrpSpPr>
        <p:cNvPr id="1" name="Shape 132"/>
        <p:cNvGrpSpPr/>
        <p:nvPr/>
      </p:nvGrpSpPr>
      <p:grpSpPr>
        <a:xfrm>
          <a:off x="0" y="0"/>
          <a:ext cx="0" cy="0"/>
          <a:chOff x="0" y="0"/>
          <a:chExt cx="0" cy="0"/>
        </a:xfrm>
      </p:grpSpPr>
      <p:sp>
        <p:nvSpPr>
          <p:cNvPr id="133" name="Google Shape;133;p23"/>
          <p:cNvSpPr/>
          <p:nvPr/>
        </p:nvSpPr>
        <p:spPr>
          <a:xfrm>
            <a:off x="609600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 name="Google Shape;134;p2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35" name="Google Shape;135;p23"/>
          <p:cNvSpPr txBox="1">
            <a:spLocks noGrp="1"/>
          </p:cNvSpPr>
          <p:nvPr>
            <p:ph type="body" idx="1"/>
          </p:nvPr>
        </p:nvSpPr>
        <p:spPr>
          <a:xfrm>
            <a:off x="415600"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6" name="Google Shape;136;p23"/>
          <p:cNvSpPr txBox="1">
            <a:spLocks noGrp="1"/>
          </p:cNvSpPr>
          <p:nvPr>
            <p:ph type="body" idx="2"/>
          </p:nvPr>
        </p:nvSpPr>
        <p:spPr>
          <a:xfrm>
            <a:off x="6510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7" name="Google Shape;137;p23"/>
          <p:cNvSpPr txBox="1">
            <a:spLocks noGrp="1"/>
          </p:cNvSpPr>
          <p:nvPr>
            <p:ph type="title"/>
          </p:nvPr>
        </p:nvSpPr>
        <p:spPr>
          <a:xfrm>
            <a:off x="415600"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03707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90"/>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426206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5/6/2026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12192000" cy="524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415600" y="763600"/>
            <a:ext cx="1136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1"/>
                </a:solidFill>
                <a:latin typeface="Roboto"/>
                <a:ea typeface="Roboto"/>
                <a:cs typeface="Roboto"/>
                <a:sym typeface="Roboto"/>
              </a:defRPr>
            </a:lvl1pPr>
            <a:lvl2pPr lvl="1" algn="r" rtl="0">
              <a:buNone/>
              <a:defRPr sz="1333">
                <a:solidFill>
                  <a:schemeClr val="dk1"/>
                </a:solidFill>
                <a:latin typeface="Roboto"/>
                <a:ea typeface="Roboto"/>
                <a:cs typeface="Roboto"/>
                <a:sym typeface="Roboto"/>
              </a:defRPr>
            </a:lvl2pPr>
            <a:lvl3pPr lvl="2" algn="r" rtl="0">
              <a:buNone/>
              <a:defRPr sz="1333">
                <a:solidFill>
                  <a:schemeClr val="dk1"/>
                </a:solidFill>
                <a:latin typeface="Roboto"/>
                <a:ea typeface="Roboto"/>
                <a:cs typeface="Roboto"/>
                <a:sym typeface="Roboto"/>
              </a:defRPr>
            </a:lvl3pPr>
            <a:lvl4pPr lvl="3" algn="r" rtl="0">
              <a:buNone/>
              <a:defRPr sz="1333">
                <a:solidFill>
                  <a:schemeClr val="dk1"/>
                </a:solidFill>
                <a:latin typeface="Roboto"/>
                <a:ea typeface="Roboto"/>
                <a:cs typeface="Roboto"/>
                <a:sym typeface="Roboto"/>
              </a:defRPr>
            </a:lvl4pPr>
            <a:lvl5pPr lvl="4" algn="r" rtl="0">
              <a:buNone/>
              <a:defRPr sz="1333">
                <a:solidFill>
                  <a:schemeClr val="dk1"/>
                </a:solidFill>
                <a:latin typeface="Roboto"/>
                <a:ea typeface="Roboto"/>
                <a:cs typeface="Roboto"/>
                <a:sym typeface="Roboto"/>
              </a:defRPr>
            </a:lvl5pPr>
            <a:lvl6pPr lvl="5" algn="r" rtl="0">
              <a:buNone/>
              <a:defRPr sz="1333">
                <a:solidFill>
                  <a:schemeClr val="dk1"/>
                </a:solidFill>
                <a:latin typeface="Roboto"/>
                <a:ea typeface="Roboto"/>
                <a:cs typeface="Roboto"/>
                <a:sym typeface="Roboto"/>
              </a:defRPr>
            </a:lvl6pPr>
            <a:lvl7pPr lvl="6" algn="r" rtl="0">
              <a:buNone/>
              <a:defRPr sz="1333">
                <a:solidFill>
                  <a:schemeClr val="dk1"/>
                </a:solidFill>
                <a:latin typeface="Roboto"/>
                <a:ea typeface="Roboto"/>
                <a:cs typeface="Roboto"/>
                <a:sym typeface="Roboto"/>
              </a:defRPr>
            </a:lvl7pPr>
            <a:lvl8pPr lvl="7" algn="r" rtl="0">
              <a:buNone/>
              <a:defRPr sz="1333">
                <a:solidFill>
                  <a:schemeClr val="dk1"/>
                </a:solidFill>
                <a:latin typeface="Roboto"/>
                <a:ea typeface="Roboto"/>
                <a:cs typeface="Roboto"/>
                <a:sym typeface="Roboto"/>
              </a:defRPr>
            </a:lvl8pPr>
            <a:lvl9pPr lvl="8" algn="r" rtl="0">
              <a:buNone/>
              <a:defRPr sz="1333">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1167551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457200" y="2604195"/>
            <a:ext cx="10954217" cy="584775"/>
          </a:xfrm>
          <a:prstGeom prst="rect">
            <a:avLst/>
          </a:prstGeom>
          <a:noFill/>
        </p:spPr>
        <p:txBody>
          <a:bodyPr wrap="none" rtlCol="0">
            <a:spAutoFit/>
          </a:bodyPr>
          <a:lstStyle/>
          <a:p>
            <a:pPr algn="r"/>
            <a:r>
              <a:rPr lang="pt-BR" sz="3200" b="1" dirty="0">
                <a:solidFill>
                  <a:srgbClr val="C00000"/>
                </a:solidFill>
              </a:rPr>
              <a:t>CSC175 Spring 2026 </a:t>
            </a:r>
            <a:r>
              <a:rPr lang="en-US" altLang="zh-CN" sz="3200" b="1" dirty="0">
                <a:solidFill>
                  <a:srgbClr val="C00000"/>
                </a:solidFill>
              </a:rPr>
              <a:t>Final</a:t>
            </a:r>
            <a:r>
              <a:rPr lang="pt-BR" sz="3200" b="1" dirty="0">
                <a:solidFill>
                  <a:srgbClr val="C00000"/>
                </a:solidFill>
              </a:rPr>
              <a:t> Exam Sample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9"/>
          <p:cNvSpPr txBox="1">
            <a:spLocks noGrp="1"/>
          </p:cNvSpPr>
          <p:nvPr>
            <p:ph type="title"/>
          </p:nvPr>
        </p:nvSpPr>
        <p:spPr>
          <a:xfrm>
            <a:off x="0" y="0"/>
            <a:ext cx="12192000" cy="524800"/>
          </a:xfrm>
          <a:prstGeom prst="rect">
            <a:avLst/>
          </a:prstGeom>
        </p:spPr>
        <p:txBody>
          <a:bodyPr spcFirstLastPara="1" wrap="square" lIns="121900" tIns="121900" rIns="121900" bIns="121900" anchor="t" anchorCtr="0">
            <a:noAutofit/>
          </a:bodyPr>
          <a:lstStyle/>
          <a:p>
            <a:pPr>
              <a:buClr>
                <a:schemeClr val="dk1"/>
              </a:buClr>
              <a:buSzPts val="1100"/>
            </a:pPr>
            <a:r>
              <a:rPr lang="en" dirty="0">
                <a:solidFill>
                  <a:schemeClr val="accent3"/>
                </a:solidFill>
              </a:rPr>
              <a:t>Pipe Diagrams – Packet Transmission Delay</a:t>
            </a:r>
            <a:endParaRPr dirty="0"/>
          </a:p>
        </p:txBody>
      </p:sp>
      <p:sp>
        <p:nvSpPr>
          <p:cNvPr id="1344" name="Google Shape;1344;p39"/>
          <p:cNvSpPr/>
          <p:nvPr/>
        </p:nvSpPr>
        <p:spPr>
          <a:xfrm>
            <a:off x="2074867" y="5096844"/>
            <a:ext cx="3656800" cy="1136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5" name="Google Shape;1345;p39"/>
          <p:cNvSpPr/>
          <p:nvPr/>
        </p:nvSpPr>
        <p:spPr>
          <a:xfrm>
            <a:off x="23956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46" name="Google Shape;1346;p39"/>
          <p:cNvGrpSpPr/>
          <p:nvPr/>
        </p:nvGrpSpPr>
        <p:grpSpPr>
          <a:xfrm>
            <a:off x="2457325" y="5202041"/>
            <a:ext cx="722800" cy="926000"/>
            <a:chOff x="2107969" y="3180898"/>
            <a:chExt cx="542100" cy="694500"/>
          </a:xfrm>
        </p:grpSpPr>
        <p:sp>
          <p:nvSpPr>
            <p:cNvPr id="1347" name="Google Shape;1347;p39"/>
            <p:cNvSpPr/>
            <p:nvPr/>
          </p:nvSpPr>
          <p:spPr>
            <a:xfrm>
              <a:off x="21079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8" name="Google Shape;1348;p39"/>
            <p:cNvSpPr/>
            <p:nvPr/>
          </p:nvSpPr>
          <p:spPr>
            <a:xfrm>
              <a:off x="21079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9" name="Google Shape;1349;p39"/>
            <p:cNvSpPr/>
            <p:nvPr/>
          </p:nvSpPr>
          <p:spPr>
            <a:xfrm>
              <a:off x="21079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0" name="Google Shape;1350;p39"/>
            <p:cNvSpPr/>
            <p:nvPr/>
          </p:nvSpPr>
          <p:spPr>
            <a:xfrm>
              <a:off x="21079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1" name="Google Shape;1351;p39"/>
            <p:cNvSpPr/>
            <p:nvPr/>
          </p:nvSpPr>
          <p:spPr>
            <a:xfrm>
              <a:off x="21079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2" name="Google Shape;1352;p39"/>
            <p:cNvSpPr/>
            <p:nvPr/>
          </p:nvSpPr>
          <p:spPr>
            <a:xfrm>
              <a:off x="22603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3" name="Google Shape;1353;p39"/>
            <p:cNvSpPr/>
            <p:nvPr/>
          </p:nvSpPr>
          <p:spPr>
            <a:xfrm>
              <a:off x="22603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4" name="Google Shape;1354;p39"/>
            <p:cNvSpPr/>
            <p:nvPr/>
          </p:nvSpPr>
          <p:spPr>
            <a:xfrm>
              <a:off x="22603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5" name="Google Shape;1355;p39"/>
            <p:cNvSpPr/>
            <p:nvPr/>
          </p:nvSpPr>
          <p:spPr>
            <a:xfrm>
              <a:off x="22603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6" name="Google Shape;1356;p39"/>
            <p:cNvSpPr/>
            <p:nvPr/>
          </p:nvSpPr>
          <p:spPr>
            <a:xfrm>
              <a:off x="22603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7" name="Google Shape;1357;p39"/>
            <p:cNvSpPr/>
            <p:nvPr/>
          </p:nvSpPr>
          <p:spPr>
            <a:xfrm>
              <a:off x="24127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8" name="Google Shape;1358;p39"/>
            <p:cNvSpPr/>
            <p:nvPr/>
          </p:nvSpPr>
          <p:spPr>
            <a:xfrm>
              <a:off x="24127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9" name="Google Shape;1359;p39"/>
            <p:cNvSpPr/>
            <p:nvPr/>
          </p:nvSpPr>
          <p:spPr>
            <a:xfrm>
              <a:off x="24127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0" name="Google Shape;1360;p39"/>
            <p:cNvSpPr/>
            <p:nvPr/>
          </p:nvSpPr>
          <p:spPr>
            <a:xfrm>
              <a:off x="24127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1" name="Google Shape;1361;p39"/>
            <p:cNvSpPr/>
            <p:nvPr/>
          </p:nvSpPr>
          <p:spPr>
            <a:xfrm>
              <a:off x="24127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2" name="Google Shape;1362;p39"/>
            <p:cNvSpPr/>
            <p:nvPr/>
          </p:nvSpPr>
          <p:spPr>
            <a:xfrm>
              <a:off x="25651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3" name="Google Shape;1363;p39"/>
            <p:cNvSpPr/>
            <p:nvPr/>
          </p:nvSpPr>
          <p:spPr>
            <a:xfrm>
              <a:off x="25651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4" name="Google Shape;1364;p39"/>
            <p:cNvSpPr/>
            <p:nvPr/>
          </p:nvSpPr>
          <p:spPr>
            <a:xfrm>
              <a:off x="25651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5" name="Google Shape;1365;p39"/>
            <p:cNvSpPr/>
            <p:nvPr/>
          </p:nvSpPr>
          <p:spPr>
            <a:xfrm>
              <a:off x="25651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6" name="Google Shape;1366;p39"/>
            <p:cNvSpPr/>
            <p:nvPr/>
          </p:nvSpPr>
          <p:spPr>
            <a:xfrm>
              <a:off x="25651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sp>
        <p:nvSpPr>
          <p:cNvPr id="1367" name="Google Shape;1367;p39"/>
          <p:cNvSpPr/>
          <p:nvPr/>
        </p:nvSpPr>
        <p:spPr>
          <a:xfrm>
            <a:off x="32504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8" name="Google Shape;1368;p39"/>
          <p:cNvSpPr/>
          <p:nvPr/>
        </p:nvSpPr>
        <p:spPr>
          <a:xfrm>
            <a:off x="41052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9" name="Google Shape;1369;p39"/>
          <p:cNvSpPr/>
          <p:nvPr/>
        </p:nvSpPr>
        <p:spPr>
          <a:xfrm>
            <a:off x="7024655" y="3960444"/>
            <a:ext cx="3656800" cy="22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0" name="Google Shape;1370;p39"/>
          <p:cNvSpPr/>
          <p:nvPr/>
        </p:nvSpPr>
        <p:spPr>
          <a:xfrm>
            <a:off x="73769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1" name="Google Shape;1371;p39"/>
          <p:cNvSpPr/>
          <p:nvPr/>
        </p:nvSpPr>
        <p:spPr>
          <a:xfrm>
            <a:off x="78057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2" name="Google Shape;1372;p39"/>
          <p:cNvSpPr/>
          <p:nvPr/>
        </p:nvSpPr>
        <p:spPr>
          <a:xfrm>
            <a:off x="82345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73" name="Google Shape;1373;p39"/>
          <p:cNvGrpSpPr/>
          <p:nvPr/>
        </p:nvGrpSpPr>
        <p:grpSpPr>
          <a:xfrm>
            <a:off x="7433180" y="4125841"/>
            <a:ext cx="316400" cy="1942000"/>
            <a:chOff x="4040319" y="2979898"/>
            <a:chExt cx="237300" cy="1456500"/>
          </a:xfrm>
        </p:grpSpPr>
        <p:sp>
          <p:nvSpPr>
            <p:cNvPr id="1374" name="Google Shape;1374;p39"/>
            <p:cNvSpPr/>
            <p:nvPr/>
          </p:nvSpPr>
          <p:spPr>
            <a:xfrm>
              <a:off x="40403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5" name="Google Shape;1375;p39"/>
            <p:cNvSpPr/>
            <p:nvPr/>
          </p:nvSpPr>
          <p:spPr>
            <a:xfrm>
              <a:off x="40403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6" name="Google Shape;1376;p39"/>
            <p:cNvSpPr/>
            <p:nvPr/>
          </p:nvSpPr>
          <p:spPr>
            <a:xfrm>
              <a:off x="40403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7" name="Google Shape;1377;p39"/>
            <p:cNvSpPr/>
            <p:nvPr/>
          </p:nvSpPr>
          <p:spPr>
            <a:xfrm>
              <a:off x="40403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8" name="Google Shape;1378;p39"/>
            <p:cNvSpPr/>
            <p:nvPr/>
          </p:nvSpPr>
          <p:spPr>
            <a:xfrm>
              <a:off x="40403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9" name="Google Shape;1379;p39"/>
            <p:cNvSpPr/>
            <p:nvPr/>
          </p:nvSpPr>
          <p:spPr>
            <a:xfrm>
              <a:off x="41927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0" name="Google Shape;1380;p39"/>
            <p:cNvSpPr/>
            <p:nvPr/>
          </p:nvSpPr>
          <p:spPr>
            <a:xfrm>
              <a:off x="41927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1" name="Google Shape;1381;p39"/>
            <p:cNvSpPr/>
            <p:nvPr/>
          </p:nvSpPr>
          <p:spPr>
            <a:xfrm>
              <a:off x="41927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2" name="Google Shape;1382;p39"/>
            <p:cNvSpPr/>
            <p:nvPr/>
          </p:nvSpPr>
          <p:spPr>
            <a:xfrm>
              <a:off x="41927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3" name="Google Shape;1383;p39"/>
            <p:cNvSpPr/>
            <p:nvPr/>
          </p:nvSpPr>
          <p:spPr>
            <a:xfrm>
              <a:off x="41927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4" name="Google Shape;1384;p39"/>
            <p:cNvSpPr/>
            <p:nvPr/>
          </p:nvSpPr>
          <p:spPr>
            <a:xfrm>
              <a:off x="40403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5" name="Google Shape;1385;p39"/>
            <p:cNvSpPr/>
            <p:nvPr/>
          </p:nvSpPr>
          <p:spPr>
            <a:xfrm>
              <a:off x="40403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6" name="Google Shape;1386;p39"/>
            <p:cNvSpPr/>
            <p:nvPr/>
          </p:nvSpPr>
          <p:spPr>
            <a:xfrm>
              <a:off x="40403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7" name="Google Shape;1387;p39"/>
            <p:cNvSpPr/>
            <p:nvPr/>
          </p:nvSpPr>
          <p:spPr>
            <a:xfrm>
              <a:off x="40403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8" name="Google Shape;1388;p39"/>
            <p:cNvSpPr/>
            <p:nvPr/>
          </p:nvSpPr>
          <p:spPr>
            <a:xfrm>
              <a:off x="40403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9" name="Google Shape;1389;p39"/>
            <p:cNvSpPr/>
            <p:nvPr/>
          </p:nvSpPr>
          <p:spPr>
            <a:xfrm>
              <a:off x="41927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0" name="Google Shape;1390;p39"/>
            <p:cNvSpPr/>
            <p:nvPr/>
          </p:nvSpPr>
          <p:spPr>
            <a:xfrm>
              <a:off x="41927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1" name="Google Shape;1391;p39"/>
            <p:cNvSpPr/>
            <p:nvPr/>
          </p:nvSpPr>
          <p:spPr>
            <a:xfrm>
              <a:off x="41927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2" name="Google Shape;1392;p39"/>
            <p:cNvSpPr/>
            <p:nvPr/>
          </p:nvSpPr>
          <p:spPr>
            <a:xfrm>
              <a:off x="41927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3" name="Google Shape;1393;p39"/>
            <p:cNvSpPr/>
            <p:nvPr/>
          </p:nvSpPr>
          <p:spPr>
            <a:xfrm>
              <a:off x="41927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grpSp>
        <p:nvGrpSpPr>
          <p:cNvPr id="1394" name="Google Shape;1394;p39"/>
          <p:cNvGrpSpPr/>
          <p:nvPr/>
        </p:nvGrpSpPr>
        <p:grpSpPr>
          <a:xfrm rot="5400000">
            <a:off x="2701340" y="4450122"/>
            <a:ext cx="239600" cy="850645"/>
            <a:chOff x="2338450" y="3338450"/>
            <a:chExt cx="179700" cy="836700"/>
          </a:xfrm>
        </p:grpSpPr>
        <p:cxnSp>
          <p:nvCxnSpPr>
            <p:cNvPr id="1395" name="Google Shape;1395;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6" name="Google Shape;1396;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7" name="Google Shape;1397;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398" name="Google Shape;1398;p39"/>
          <p:cNvSpPr txBox="1"/>
          <p:nvPr/>
        </p:nvSpPr>
        <p:spPr>
          <a:xfrm>
            <a:off x="2072091" y="4162365"/>
            <a:ext cx="1574800" cy="648493"/>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grpSp>
        <p:nvGrpSpPr>
          <p:cNvPr id="1399" name="Google Shape;1399;p39"/>
          <p:cNvGrpSpPr/>
          <p:nvPr/>
        </p:nvGrpSpPr>
        <p:grpSpPr>
          <a:xfrm rot="5400000">
            <a:off x="7471576" y="3524347"/>
            <a:ext cx="239600" cy="429395"/>
            <a:chOff x="2338450" y="3338450"/>
            <a:chExt cx="179700" cy="836700"/>
          </a:xfrm>
        </p:grpSpPr>
        <p:cxnSp>
          <p:nvCxnSpPr>
            <p:cNvPr id="1400" name="Google Shape;1400;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1" name="Google Shape;1401;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2" name="Google Shape;1402;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403" name="Google Shape;1403;p39"/>
          <p:cNvSpPr txBox="1"/>
          <p:nvPr/>
        </p:nvSpPr>
        <p:spPr>
          <a:xfrm>
            <a:off x="6416634" y="3305133"/>
            <a:ext cx="2259492"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sp>
        <p:nvSpPr>
          <p:cNvPr id="4" name="Google Shape;1189;p38">
            <a:extLst>
              <a:ext uri="{FF2B5EF4-FFF2-40B4-BE49-F238E27FC236}">
                <a16:creationId xmlns:a16="http://schemas.microsoft.com/office/drawing/2014/main" id="{C3C090EE-F007-890C-75CE-7557A76071E3}"/>
              </a:ext>
            </a:extLst>
          </p:cNvPr>
          <p:cNvSpPr txBox="1">
            <a:spLocks noGrp="1"/>
          </p:cNvSpPr>
          <p:nvPr>
            <p:ph type="body" idx="1"/>
          </p:nvPr>
        </p:nvSpPr>
        <p:spPr>
          <a:xfrm>
            <a:off x="126520" y="398282"/>
            <a:ext cx="11879600" cy="3144189"/>
          </a:xfrm>
          <a:prstGeom prst="rect">
            <a:avLst/>
          </a:prstGeom>
        </p:spPr>
        <p:txBody>
          <a:bodyPr spcFirstLastPara="1" wrap="square" lIns="121900" tIns="121900" rIns="121900" bIns="121900" anchor="t" anchorCtr="0">
            <a:normAutofit/>
          </a:bodyPr>
          <a:lstStyle/>
          <a:p>
            <a:pPr marL="0" indent="0">
              <a:buSzPts val="1100"/>
              <a:buNone/>
            </a:pPr>
            <a:r>
              <a:rPr lang="en" sz="2133" dirty="0"/>
              <a:t>The </a:t>
            </a:r>
            <a:r>
              <a:rPr lang="en" sz="2133" b="1" dirty="0"/>
              <a:t>width of the packet </a:t>
            </a:r>
            <a:r>
              <a:rPr lang="en" sz="2133" dirty="0"/>
              <a:t>in the pipe represents the transmission delay.</a:t>
            </a:r>
            <a:endParaRPr sz="2133" dirty="0"/>
          </a:p>
          <a:p>
            <a:r>
              <a:rPr lang="en" sz="2133" dirty="0"/>
              <a:t>How long it takes to push all the bits onto the link.</a:t>
            </a:r>
          </a:p>
          <a:p>
            <a:r>
              <a:rPr lang="en-US" sz="2133" b="1" dirty="0"/>
              <a:t>Link capacity = Propagation Delay × Bandwidth</a:t>
            </a:r>
          </a:p>
          <a:p>
            <a:r>
              <a:rPr lang="en-US" sz="2133" b="1" dirty="0"/>
              <a:t>Packet size = Transmission Delay × Bandwidth</a:t>
            </a:r>
          </a:p>
          <a:p>
            <a:pPr lvl="1"/>
            <a:r>
              <a:rPr lang="en" sz="2133" dirty="0"/>
              <a:t>For </a:t>
            </a:r>
            <a:r>
              <a:rPr lang="en" sz="2133" b="1" dirty="0"/>
              <a:t>a packet of given size</a:t>
            </a:r>
            <a:r>
              <a:rPr lang="en" sz="2133" dirty="0"/>
              <a:t>: </a:t>
            </a:r>
            <a:r>
              <a:rPr lang="en-US" sz="2133" dirty="0"/>
              <a:t>higher bandwidth </a:t>
            </a:r>
            <a:r>
              <a:rPr lang="en-US" sz="2133" dirty="0">
                <a:sym typeface="Wingdings" panose="05000000000000000000" pitchFamily="2" charset="2"/>
              </a:rPr>
              <a:t> shorter transmission delay (</a:t>
            </a:r>
            <a:r>
              <a:rPr lang="en" sz="2133" dirty="0"/>
              <a:t>higher bandwidth </a:t>
            </a:r>
            <a:r>
              <a:rPr lang="en" sz="2133"/>
              <a:t>= fatter </a:t>
            </a:r>
            <a:r>
              <a:rPr lang="en" sz="2133" dirty="0"/>
              <a:t>pipe = more bits in pipe per unit time = narrower packet in pipe).</a:t>
            </a:r>
          </a:p>
        </p:txBody>
      </p:sp>
      <p:sp>
        <p:nvSpPr>
          <p:cNvPr id="2" name="Slide Number Placeholder 1">
            <a:extLst>
              <a:ext uri="{FF2B5EF4-FFF2-40B4-BE49-F238E27FC236}">
                <a16:creationId xmlns:a16="http://schemas.microsoft.com/office/drawing/2014/main" id="{014342AF-3652-A472-6A3C-C1D95221A873}"/>
              </a:ext>
            </a:extLst>
          </p:cNvPr>
          <p:cNvSpPr>
            <a:spLocks noGrp="1"/>
          </p:cNvSpPr>
          <p:nvPr>
            <p:ph type="sldNum" idx="12"/>
          </p:nvPr>
        </p:nvSpPr>
        <p:spPr/>
        <p:txBody>
          <a:bodyPr/>
          <a:lstStyle/>
          <a:p>
            <a:pPr defTabSz="1219170">
              <a:buClr>
                <a:srgbClr val="000000"/>
              </a:buClr>
            </a:pPr>
            <a:fld id="{00000000-1234-1234-1234-123412341234}" type="slidenum">
              <a:rPr lang="en" kern="0">
                <a:solidFill>
                  <a:srgbClr val="000000"/>
                </a:solidFill>
              </a:rPr>
              <a:pPr defTabSz="1219170">
                <a:buClr>
                  <a:srgbClr val="000000"/>
                </a:buClr>
              </a:pPr>
              <a:t>2</a:t>
            </a:fld>
            <a:endParaRPr lang="en" kern="0">
              <a:solidFill>
                <a:srgbClr val="000000"/>
              </a:solidFill>
            </a:endParaRPr>
          </a:p>
        </p:txBody>
      </p:sp>
      <p:grpSp>
        <p:nvGrpSpPr>
          <p:cNvPr id="33" name="Google Shape;1867;p55">
            <a:extLst>
              <a:ext uri="{FF2B5EF4-FFF2-40B4-BE49-F238E27FC236}">
                <a16:creationId xmlns:a16="http://schemas.microsoft.com/office/drawing/2014/main" id="{064777F1-8BAC-97C1-4FC6-6E2C6032099C}"/>
              </a:ext>
            </a:extLst>
          </p:cNvPr>
          <p:cNvGrpSpPr/>
          <p:nvPr/>
        </p:nvGrpSpPr>
        <p:grpSpPr>
          <a:xfrm>
            <a:off x="6741695" y="3960428"/>
            <a:ext cx="264000" cy="2272800"/>
            <a:chOff x="2338450" y="3338450"/>
            <a:chExt cx="179700" cy="836700"/>
          </a:xfrm>
        </p:grpSpPr>
        <p:cxnSp>
          <p:nvCxnSpPr>
            <p:cNvPr id="34" name="Google Shape;1868;p55">
              <a:extLst>
                <a:ext uri="{FF2B5EF4-FFF2-40B4-BE49-F238E27FC236}">
                  <a16:creationId xmlns:a16="http://schemas.microsoft.com/office/drawing/2014/main" id="{C715F699-0B08-4B56-0352-AC5135056E70}"/>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5" name="Google Shape;1869;p55">
              <a:extLst>
                <a:ext uri="{FF2B5EF4-FFF2-40B4-BE49-F238E27FC236}">
                  <a16:creationId xmlns:a16="http://schemas.microsoft.com/office/drawing/2014/main" id="{5157E6B9-8C41-61F0-C184-75B94E02602F}"/>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6" name="Google Shape;1870;p55">
              <a:extLst>
                <a:ext uri="{FF2B5EF4-FFF2-40B4-BE49-F238E27FC236}">
                  <a16:creationId xmlns:a16="http://schemas.microsoft.com/office/drawing/2014/main" id="{68B21B7A-81A2-73C7-ED55-5E97F5F0E77A}"/>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37" name="Google Shape;1871;p55">
            <a:extLst>
              <a:ext uri="{FF2B5EF4-FFF2-40B4-BE49-F238E27FC236}">
                <a16:creationId xmlns:a16="http://schemas.microsoft.com/office/drawing/2014/main" id="{78ED1D61-8AF4-FB24-3E84-B6A5CACC3307}"/>
              </a:ext>
            </a:extLst>
          </p:cNvPr>
          <p:cNvSpPr txBox="1"/>
          <p:nvPr/>
        </p:nvSpPr>
        <p:spPr>
          <a:xfrm rot="-5400000">
            <a:off x="6045761" y="4925410"/>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sp>
        <p:nvSpPr>
          <p:cNvPr id="54" name="Google Shape;1876;p55">
            <a:extLst>
              <a:ext uri="{FF2B5EF4-FFF2-40B4-BE49-F238E27FC236}">
                <a16:creationId xmlns:a16="http://schemas.microsoft.com/office/drawing/2014/main" id="{3EF74E1E-73F3-9415-8645-071EEE11CA62}"/>
              </a:ext>
            </a:extLst>
          </p:cNvPr>
          <p:cNvSpPr txBox="1"/>
          <p:nvPr/>
        </p:nvSpPr>
        <p:spPr>
          <a:xfrm>
            <a:off x="7845985"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55" name="Google Shape;1872;p55">
            <a:extLst>
              <a:ext uri="{FF2B5EF4-FFF2-40B4-BE49-F238E27FC236}">
                <a16:creationId xmlns:a16="http://schemas.microsoft.com/office/drawing/2014/main" id="{40D7D310-5E18-E0EB-14CD-1A53F33C93AB}"/>
              </a:ext>
            </a:extLst>
          </p:cNvPr>
          <p:cNvGrpSpPr/>
          <p:nvPr/>
        </p:nvGrpSpPr>
        <p:grpSpPr>
          <a:xfrm rot="5400000">
            <a:off x="3779518" y="4622295"/>
            <a:ext cx="267709" cy="3636592"/>
            <a:chOff x="2338450" y="3338450"/>
            <a:chExt cx="179700" cy="836700"/>
          </a:xfrm>
        </p:grpSpPr>
        <p:cxnSp>
          <p:nvCxnSpPr>
            <p:cNvPr id="56" name="Google Shape;1873;p55">
              <a:extLst>
                <a:ext uri="{FF2B5EF4-FFF2-40B4-BE49-F238E27FC236}">
                  <a16:creationId xmlns:a16="http://schemas.microsoft.com/office/drawing/2014/main" id="{C737AFC9-3A4D-0CDB-C829-ABC2F3671A9A}"/>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7" name="Google Shape;1874;p55">
              <a:extLst>
                <a:ext uri="{FF2B5EF4-FFF2-40B4-BE49-F238E27FC236}">
                  <a16:creationId xmlns:a16="http://schemas.microsoft.com/office/drawing/2014/main" id="{D36DB63B-C8D6-9281-FA5C-31E9575E7B09}"/>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8" name="Google Shape;1875;p55">
              <a:extLst>
                <a:ext uri="{FF2B5EF4-FFF2-40B4-BE49-F238E27FC236}">
                  <a16:creationId xmlns:a16="http://schemas.microsoft.com/office/drawing/2014/main" id="{1C47587D-05B2-D5A7-6D8B-B4ACB392A350}"/>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59" name="Google Shape;1876;p55">
            <a:extLst>
              <a:ext uri="{FF2B5EF4-FFF2-40B4-BE49-F238E27FC236}">
                <a16:creationId xmlns:a16="http://schemas.microsoft.com/office/drawing/2014/main" id="{F6AA2716-C3FF-077F-EF96-CF8D919F2248}"/>
              </a:ext>
            </a:extLst>
          </p:cNvPr>
          <p:cNvSpPr txBox="1"/>
          <p:nvPr/>
        </p:nvSpPr>
        <p:spPr>
          <a:xfrm>
            <a:off x="2919329"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60" name="Google Shape;1867;p55">
            <a:extLst>
              <a:ext uri="{FF2B5EF4-FFF2-40B4-BE49-F238E27FC236}">
                <a16:creationId xmlns:a16="http://schemas.microsoft.com/office/drawing/2014/main" id="{1011A79E-A46E-6AB9-D530-FC93D4FA1684}"/>
              </a:ext>
            </a:extLst>
          </p:cNvPr>
          <p:cNvGrpSpPr/>
          <p:nvPr/>
        </p:nvGrpSpPr>
        <p:grpSpPr>
          <a:xfrm>
            <a:off x="1793783" y="5096844"/>
            <a:ext cx="263684" cy="1120779"/>
            <a:chOff x="2338450" y="3338450"/>
            <a:chExt cx="179700" cy="836700"/>
          </a:xfrm>
        </p:grpSpPr>
        <p:cxnSp>
          <p:nvCxnSpPr>
            <p:cNvPr id="61" name="Google Shape;1868;p55">
              <a:extLst>
                <a:ext uri="{FF2B5EF4-FFF2-40B4-BE49-F238E27FC236}">
                  <a16:creationId xmlns:a16="http://schemas.microsoft.com/office/drawing/2014/main" id="{395F53D5-3B46-6A80-39EC-BFBAB97E0FAF}"/>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2" name="Google Shape;1869;p55">
              <a:extLst>
                <a:ext uri="{FF2B5EF4-FFF2-40B4-BE49-F238E27FC236}">
                  <a16:creationId xmlns:a16="http://schemas.microsoft.com/office/drawing/2014/main" id="{32B786D0-D4CE-0861-26A0-26535B26870E}"/>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3" name="Google Shape;1870;p55">
              <a:extLst>
                <a:ext uri="{FF2B5EF4-FFF2-40B4-BE49-F238E27FC236}">
                  <a16:creationId xmlns:a16="http://schemas.microsoft.com/office/drawing/2014/main" id="{57873537-EFD9-CEAB-B1B9-D2F253704A34}"/>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1404" name="Google Shape;1871;p55">
            <a:extLst>
              <a:ext uri="{FF2B5EF4-FFF2-40B4-BE49-F238E27FC236}">
                <a16:creationId xmlns:a16="http://schemas.microsoft.com/office/drawing/2014/main" id="{9FCE603D-C44D-FC9B-EB54-BBAFE86595C3}"/>
              </a:ext>
            </a:extLst>
          </p:cNvPr>
          <p:cNvSpPr txBox="1"/>
          <p:nvPr/>
        </p:nvSpPr>
        <p:spPr>
          <a:xfrm rot="-5400000">
            <a:off x="1049968" y="5506211"/>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grpSp>
        <p:nvGrpSpPr>
          <p:cNvPr id="1405" name="Google Shape;1872;p55">
            <a:extLst>
              <a:ext uri="{FF2B5EF4-FFF2-40B4-BE49-F238E27FC236}">
                <a16:creationId xmlns:a16="http://schemas.microsoft.com/office/drawing/2014/main" id="{5F8651C0-3681-5788-ED17-3C0773780867}"/>
              </a:ext>
            </a:extLst>
          </p:cNvPr>
          <p:cNvGrpSpPr/>
          <p:nvPr/>
        </p:nvGrpSpPr>
        <p:grpSpPr>
          <a:xfrm rot="5400000">
            <a:off x="8729304" y="4609956"/>
            <a:ext cx="267709" cy="3636592"/>
            <a:chOff x="2338450" y="3338450"/>
            <a:chExt cx="179700" cy="836700"/>
          </a:xfrm>
        </p:grpSpPr>
        <p:cxnSp>
          <p:nvCxnSpPr>
            <p:cNvPr id="1406" name="Google Shape;1873;p55">
              <a:extLst>
                <a:ext uri="{FF2B5EF4-FFF2-40B4-BE49-F238E27FC236}">
                  <a16:creationId xmlns:a16="http://schemas.microsoft.com/office/drawing/2014/main" id="{56B0AA38-9CDD-C010-600A-9F8F74D5DBE6}"/>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407" name="Google Shape;1874;p55">
              <a:extLst>
                <a:ext uri="{FF2B5EF4-FFF2-40B4-BE49-F238E27FC236}">
                  <a16:creationId xmlns:a16="http://schemas.microsoft.com/office/drawing/2014/main" id="{C86ABE4D-2DB5-F343-168C-5B664F0F0B7B}"/>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280" name="Google Shape;1875;p55">
              <a:extLst>
                <a:ext uri="{FF2B5EF4-FFF2-40B4-BE49-F238E27FC236}">
                  <a16:creationId xmlns:a16="http://schemas.microsoft.com/office/drawing/2014/main" id="{679FAD2A-28DB-248F-DBC8-F06D27C973A6}"/>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1281" name="TextBox 1280">
            <a:extLst>
              <a:ext uri="{FF2B5EF4-FFF2-40B4-BE49-F238E27FC236}">
                <a16:creationId xmlns:a16="http://schemas.microsoft.com/office/drawing/2014/main" id="{19D7F4E8-3E0D-750D-F693-7A022A5CEF22}"/>
              </a:ext>
            </a:extLst>
          </p:cNvPr>
          <p:cNvSpPr txBox="1"/>
          <p:nvPr/>
        </p:nvSpPr>
        <p:spPr>
          <a:xfrm>
            <a:off x="9807027" y="75733"/>
            <a:ext cx="2213235" cy="58477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defTabSz="1219170">
              <a:defRPr/>
            </a:pPr>
            <a:r>
              <a:rPr lang="en-US" sz="3200" dirty="0">
                <a:solidFill>
                  <a:prstClr val="white"/>
                </a:solidFill>
                <a:latin typeface="Calibri" panose="020F0502020204030204"/>
                <a:cs typeface="Arial"/>
                <a:sym typeface="Arial"/>
              </a:rPr>
              <a:t>IMPORTANT</a:t>
            </a:r>
            <a:endParaRPr lang="en-SE" sz="3200" dirty="0">
              <a:solidFill>
                <a:prstClr val="white"/>
              </a:solidFill>
              <a:latin typeface="Calibri" panose="020F0502020204030204"/>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a:xfrm>
            <a:off x="609600" y="1219200"/>
            <a:ext cx="10972800" cy="4114800"/>
          </a:xfrm>
        </p:spPr>
        <p:txBody>
          <a:bodyPr>
            <a:normAutofit fontScale="92500"/>
          </a:bodyPr>
          <a:lstStyle/>
          <a:p>
            <a:r>
              <a:rPr lang="en-US" altLang="zh-CN" dirty="0"/>
              <a:t>Consider the pipe diagram below, with a single packet in the pipe:</a:t>
            </a:r>
          </a:p>
          <a:p>
            <a:r>
              <a:rPr lang="en-US" altLang="zh-CN" dirty="0"/>
              <a:t>Q1 What is the size of this packet? </a:t>
            </a:r>
          </a:p>
          <a:p>
            <a:r>
              <a:rPr lang="en-US" altLang="zh-CN" dirty="0"/>
              <a:t>Q2 How long does it take to send a packet of the same size as the packet shown? (Count from the time the first byte is sent, to the time the last byte is received.)</a:t>
            </a:r>
          </a:p>
          <a:p>
            <a:r>
              <a:rPr lang="en-US" altLang="zh-CN" dirty="0"/>
              <a:t>Q3 How long does it take to send 7 packets, all of the same size as the packet shown? (Count from the time the first byte of the first packet is sent, to the time the last byte of the last packet is received.)</a:t>
            </a:r>
          </a:p>
          <a:p>
            <a:r>
              <a:rPr lang="en-US" altLang="zh-CN" dirty="0"/>
              <a:t>Q4 (2 points) What is the maximum number of packets that could be in the process of being sent along this link, at any given moment?</a:t>
            </a:r>
            <a:br>
              <a:rPr lang="en-US" altLang="zh-CN" dirty="0"/>
            </a:br>
            <a:endParaRPr lang="en-US" altLang="zh-CN" dirty="0"/>
          </a:p>
          <a:p>
            <a:endParaRPr lang="nl-NL" altLang="zh-CN" dirty="0"/>
          </a:p>
        </p:txBody>
      </p:sp>
      <p:pic>
        <p:nvPicPr>
          <p:cNvPr id="6" name="Picture 5">
            <a:extLst>
              <a:ext uri="{FF2B5EF4-FFF2-40B4-BE49-F238E27FC236}">
                <a16:creationId xmlns:a16="http://schemas.microsoft.com/office/drawing/2014/main" id="{E68E0D54-6A30-5EC9-97B3-EACA2CDC512D}"/>
              </a:ext>
            </a:extLst>
          </p:cNvPr>
          <p:cNvPicPr>
            <a:picLocks noChangeAspect="1"/>
          </p:cNvPicPr>
          <p:nvPr/>
        </p:nvPicPr>
        <p:blipFill>
          <a:blip r:embed="rId2"/>
          <a:stretch>
            <a:fillRect/>
          </a:stretch>
        </p:blipFill>
        <p:spPr>
          <a:xfrm>
            <a:off x="4191000" y="5103388"/>
            <a:ext cx="3296110" cy="1619476"/>
          </a:xfrm>
          <a:prstGeom prst="rect">
            <a:avLst/>
          </a:prstGeom>
        </p:spPr>
      </p:pic>
    </p:spTree>
    <p:extLst>
      <p:ext uri="{BB962C8B-B14F-4D97-AF65-F5344CB8AC3E}">
        <p14:creationId xmlns:p14="http://schemas.microsoft.com/office/powerpoint/2010/main" val="3337951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2CE-1ACA-8C28-0995-BEF9D9F7A9B2}"/>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2A3478E2-F441-CF3E-7E2D-EAC80345465D}"/>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B2CE121-B51A-A099-3569-ABC9B9571010}"/>
              </a:ext>
            </a:extLst>
          </p:cNvPr>
          <p:cNvSpPr>
            <a:spLocks noGrp="1"/>
          </p:cNvSpPr>
          <p:nvPr>
            <p:ph sz="quarter" idx="1"/>
          </p:nvPr>
        </p:nvSpPr>
        <p:spPr>
          <a:xfrm>
            <a:off x="609600" y="1219200"/>
            <a:ext cx="10972800" cy="4191000"/>
          </a:xfrm>
        </p:spPr>
        <p:txBody>
          <a:bodyPr>
            <a:normAutofit fontScale="62500" lnSpcReduction="20000"/>
          </a:bodyPr>
          <a:lstStyle/>
          <a:p>
            <a:r>
              <a:rPr lang="en-US" altLang="zh-CN" dirty="0"/>
              <a:t>Q1 What is the size of this packet? </a:t>
            </a:r>
          </a:p>
          <a:p>
            <a:pPr lvl="1"/>
            <a:r>
              <a:rPr lang="en-US" altLang="zh-CN" dirty="0"/>
              <a:t>ANS: </a:t>
            </a:r>
            <a:r>
              <a:rPr lang="zh-CN" altLang="en-US" dirty="0"/>
              <a:t>𝑥𝑦</a:t>
            </a:r>
            <a:endParaRPr lang="en-US" altLang="zh-CN" dirty="0"/>
          </a:p>
          <a:p>
            <a:pPr lvl="1"/>
            <a:r>
              <a:rPr lang="en-US" altLang="zh-CN" dirty="0"/>
              <a:t>Explanation: </a:t>
            </a:r>
            <a:r>
              <a:rPr lang="zh-CN" altLang="en-US" dirty="0"/>
              <a:t>𝑥 </a:t>
            </a:r>
            <a:r>
              <a:rPr lang="en-US" altLang="zh-CN" dirty="0"/>
              <a:t>is Transmission Delay (how many seconds it takes to transmit the packet). </a:t>
            </a:r>
            <a:r>
              <a:rPr lang="zh-CN" altLang="en-US" dirty="0"/>
              <a:t>𝑦 </a:t>
            </a:r>
            <a:r>
              <a:rPr lang="en-US" altLang="zh-CN" dirty="0"/>
              <a:t>is link bandwidth (how many bytes can be sent per second). Multiplying </a:t>
            </a:r>
            <a:r>
              <a:rPr lang="zh-CN" altLang="en-US" dirty="0"/>
              <a:t>𝑥 </a:t>
            </a:r>
            <a:r>
              <a:rPr lang="en-US" altLang="zh-CN" dirty="0"/>
              <a:t>(seconds) and </a:t>
            </a:r>
            <a:r>
              <a:rPr lang="zh-CN" altLang="en-US" dirty="0"/>
              <a:t>𝑦 </a:t>
            </a:r>
            <a:r>
              <a:rPr lang="en-US" altLang="zh-CN" dirty="0"/>
              <a:t>(bytes/second) gives the overall size of this packet. </a:t>
            </a:r>
          </a:p>
          <a:p>
            <a:r>
              <a:rPr lang="en-US" altLang="zh-CN" dirty="0"/>
              <a:t>Q2 How long does it take to send a packet of the same size as the packet shown? (Count from the time the first byte is sent, to the time the last byte is received.)</a:t>
            </a:r>
          </a:p>
          <a:p>
            <a:pPr lvl="1"/>
            <a:r>
              <a:rPr lang="en-US" altLang="zh-CN" dirty="0"/>
              <a:t>ANS: </a:t>
            </a:r>
            <a:r>
              <a:rPr lang="zh-CN" altLang="en-US" dirty="0"/>
              <a:t>𝑥 </a:t>
            </a:r>
            <a:r>
              <a:rPr lang="en-US" altLang="zh-CN" dirty="0"/>
              <a:t>+ </a:t>
            </a:r>
            <a:r>
              <a:rPr lang="zh-CN" altLang="en-US" dirty="0"/>
              <a:t>𝑧</a:t>
            </a:r>
            <a:endParaRPr lang="en-US" altLang="zh-CN" dirty="0"/>
          </a:p>
          <a:p>
            <a:pPr lvl="1"/>
            <a:r>
              <a:rPr lang="en-US" altLang="zh-CN" dirty="0"/>
              <a:t>Explanation: </a:t>
            </a:r>
            <a:r>
              <a:rPr lang="zh-CN" altLang="en-US" dirty="0"/>
              <a:t>𝑥 </a:t>
            </a:r>
            <a:r>
              <a:rPr lang="en-US" altLang="zh-CN" dirty="0"/>
              <a:t>is Transmission Delay, </a:t>
            </a:r>
            <a:r>
              <a:rPr lang="zh-CN" altLang="en-US" dirty="0"/>
              <a:t>𝑧 </a:t>
            </a:r>
            <a:r>
              <a:rPr lang="en-US" altLang="zh-CN" dirty="0"/>
              <a:t>is Propagation Delay.  Adding them gives the total delay for this packet.</a:t>
            </a:r>
          </a:p>
          <a:p>
            <a:r>
              <a:rPr lang="en-US" altLang="zh-CN" dirty="0"/>
              <a:t>Q3 How long does it take to send 7 packets, all of the same size as the packet shown? (Count from the time the first byte of the first packet is sent, to the time the last byte of the last packet is received.) </a:t>
            </a:r>
          </a:p>
          <a:p>
            <a:pPr lvl="1"/>
            <a:r>
              <a:rPr lang="en-US" altLang="zh-CN" dirty="0"/>
              <a:t>ANS: 7</a:t>
            </a:r>
            <a:r>
              <a:rPr lang="zh-CN" altLang="en-US" dirty="0"/>
              <a:t>𝑥 </a:t>
            </a:r>
            <a:r>
              <a:rPr lang="en-US" altLang="zh-CN" dirty="0"/>
              <a:t>+ </a:t>
            </a:r>
            <a:r>
              <a:rPr lang="zh-CN" altLang="en-US" dirty="0"/>
              <a:t>𝑧</a:t>
            </a:r>
            <a:endParaRPr lang="en-US" altLang="zh-CN" dirty="0"/>
          </a:p>
          <a:p>
            <a:pPr lvl="1"/>
            <a:r>
              <a:rPr lang="en-US" altLang="zh-CN" dirty="0"/>
              <a:t>Explanation: It takes 7</a:t>
            </a:r>
            <a:r>
              <a:rPr lang="zh-CN" altLang="en-US" dirty="0"/>
              <a:t>𝑥 </a:t>
            </a:r>
            <a:r>
              <a:rPr lang="en-US" altLang="zh-CN" dirty="0"/>
              <a:t>seconds to transmit all 7 packets. </a:t>
            </a:r>
            <a:r>
              <a:rPr lang="zh-CN" altLang="en-US" dirty="0"/>
              <a:t>𝑧 </a:t>
            </a:r>
            <a:r>
              <a:rPr lang="en-US" altLang="zh-CN" dirty="0"/>
              <a:t>is the propagation delay.  Adding them gives the total delay for 7 packets.</a:t>
            </a:r>
          </a:p>
          <a:p>
            <a:r>
              <a:rPr lang="en-US" altLang="zh-CN" dirty="0"/>
              <a:t>Q4 (2 points) What is the maximum number of packets that could be in the process of being sent along this link, at any given moment?</a:t>
            </a:r>
          </a:p>
          <a:p>
            <a:pPr lvl="1"/>
            <a:r>
              <a:rPr lang="en-US" altLang="zh-CN" dirty="0"/>
              <a:t>ANS: </a:t>
            </a:r>
            <a:r>
              <a:rPr lang="zh-CN" altLang="en-US" dirty="0"/>
              <a:t>𝑧</a:t>
            </a:r>
            <a:r>
              <a:rPr lang="en-US" altLang="zh-CN" dirty="0"/>
              <a:t>/</a:t>
            </a:r>
            <a:r>
              <a:rPr lang="zh-CN" altLang="en-US" dirty="0"/>
              <a:t>𝑥</a:t>
            </a:r>
            <a:endParaRPr lang="en-US" altLang="zh-CN" dirty="0"/>
          </a:p>
          <a:p>
            <a:pPr lvl="1"/>
            <a:r>
              <a:rPr lang="en-US" altLang="zh-CN" dirty="0"/>
              <a:t>Explanation:</a:t>
            </a:r>
            <a:r>
              <a:rPr lang="zh-CN" altLang="en-US" dirty="0"/>
              <a:t>𝑥 </a:t>
            </a:r>
            <a:r>
              <a:rPr lang="en-US" altLang="zh-CN" dirty="0"/>
              <a:t>is Transmission Delay, </a:t>
            </a:r>
            <a:r>
              <a:rPr lang="zh-CN" altLang="en-US" dirty="0"/>
              <a:t>𝑧 </a:t>
            </a:r>
            <a:r>
              <a:rPr lang="en-US" altLang="zh-CN" dirty="0"/>
              <a:t>is Propagation Delay.  The maximum number of packets that can be in flight therefore is </a:t>
            </a:r>
            <a:r>
              <a:rPr lang="zh-CN" altLang="en-US" dirty="0"/>
              <a:t>𝑧</a:t>
            </a:r>
            <a:r>
              <a:rPr lang="en-US" altLang="zh-CN" dirty="0"/>
              <a:t>/</a:t>
            </a:r>
            <a:r>
              <a:rPr lang="zh-CN" altLang="en-US" dirty="0"/>
              <a:t>𝑥</a:t>
            </a:r>
            <a:r>
              <a:rPr lang="en-US" altLang="zh-CN" dirty="0"/>
              <a:t>.</a:t>
            </a:r>
            <a:endParaRPr lang="zh-CN" altLang="en-US" dirty="0"/>
          </a:p>
        </p:txBody>
      </p:sp>
      <p:pic>
        <p:nvPicPr>
          <p:cNvPr id="5" name="Picture 4">
            <a:extLst>
              <a:ext uri="{FF2B5EF4-FFF2-40B4-BE49-F238E27FC236}">
                <a16:creationId xmlns:a16="http://schemas.microsoft.com/office/drawing/2014/main" id="{533F8305-48EA-EC58-55AC-A5320AB6B058}"/>
              </a:ext>
            </a:extLst>
          </p:cNvPr>
          <p:cNvPicPr>
            <a:picLocks noChangeAspect="1"/>
          </p:cNvPicPr>
          <p:nvPr/>
        </p:nvPicPr>
        <p:blipFill>
          <a:blip r:embed="rId2"/>
          <a:stretch>
            <a:fillRect/>
          </a:stretch>
        </p:blipFill>
        <p:spPr>
          <a:xfrm>
            <a:off x="4343400" y="5102634"/>
            <a:ext cx="3296110" cy="1619476"/>
          </a:xfrm>
          <a:prstGeom prst="rect">
            <a:avLst/>
          </a:prstGeom>
        </p:spPr>
      </p:pic>
    </p:spTree>
    <p:extLst>
      <p:ext uri="{BB962C8B-B14F-4D97-AF65-F5344CB8AC3E}">
        <p14:creationId xmlns:p14="http://schemas.microsoft.com/office/powerpoint/2010/main" val="921544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E51D-118A-C61E-8DB7-8AB51276F71B}"/>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AAB34CD3-4B77-8266-2F34-0745A0ABA7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AE22AB-E212-1B35-C413-A21DB63B6D87}"/>
              </a:ext>
            </a:extLst>
          </p:cNvPr>
          <p:cNvSpPr>
            <a:spLocks noGrp="1"/>
          </p:cNvSpPr>
          <p:nvPr>
            <p:ph sz="quarter" idx="1"/>
          </p:nvPr>
        </p:nvSpPr>
        <p:spPr>
          <a:xfrm>
            <a:off x="609600" y="1219200"/>
            <a:ext cx="10972800" cy="4038600"/>
          </a:xfrm>
        </p:spPr>
        <p:txBody>
          <a:bodyPr>
            <a:normAutofit fontScale="70000" lnSpcReduction="20000"/>
          </a:bodyPr>
          <a:lstStyle/>
          <a:p>
            <a:r>
              <a:rPr lang="en-US" altLang="zh-CN" dirty="0"/>
              <a:t>Now, consider the topology below. R1 has an infinite-size queue, and R1 continually processes packets in its queue in FIFO order. R1 can only start transmitting a packet once it has received the entire packet. All packets in the question are the same size as the packet shown in the diagram below. A wants to send a packet to B. No other packets are being sent along the links (i.e. suppose the packet in the diagram is not there). In the next two subparts, select how long it takes to send the packet from A to B. Count from the time the first byte of the packet is sent at A, to the time the last byte of the packet is received at B. </a:t>
            </a:r>
          </a:p>
          <a:p>
            <a:r>
              <a:rPr lang="en-US" altLang="zh-CN" dirty="0"/>
              <a:t>Q5 In this subpart, suppose R1 has 1 other packet in its queue when A sends the packet. How long does it take to send a single packet from A to B?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br>
              <a:rPr lang="en-US" altLang="zh-CN" dirty="0"/>
            </a:br>
            <a:br>
              <a:rPr lang="en-US" altLang="zh-CN" dirty="0"/>
            </a:br>
            <a:endParaRPr lang="zh-CN" altLang="en-US" dirty="0"/>
          </a:p>
        </p:txBody>
      </p:sp>
      <p:pic>
        <p:nvPicPr>
          <p:cNvPr id="6" name="Picture 5">
            <a:extLst>
              <a:ext uri="{FF2B5EF4-FFF2-40B4-BE49-F238E27FC236}">
                <a16:creationId xmlns:a16="http://schemas.microsoft.com/office/drawing/2014/main" id="{5CFE8262-F2D3-9F6C-548B-BDCB688AD511}"/>
              </a:ext>
            </a:extLst>
          </p:cNvPr>
          <p:cNvPicPr>
            <a:picLocks noChangeAspect="1"/>
          </p:cNvPicPr>
          <p:nvPr/>
        </p:nvPicPr>
        <p:blipFill>
          <a:blip r:embed="rId2"/>
          <a:stretch>
            <a:fillRect/>
          </a:stretch>
        </p:blipFill>
        <p:spPr>
          <a:xfrm>
            <a:off x="3407161" y="5124612"/>
            <a:ext cx="5268060" cy="1543265"/>
          </a:xfrm>
          <a:prstGeom prst="rect">
            <a:avLst/>
          </a:prstGeom>
        </p:spPr>
      </p:pic>
    </p:spTree>
    <p:extLst>
      <p:ext uri="{BB962C8B-B14F-4D97-AF65-F5344CB8AC3E}">
        <p14:creationId xmlns:p14="http://schemas.microsoft.com/office/powerpoint/2010/main" val="3419814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0B76-629B-E0BA-D005-DBF83FEE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9B503-6B1F-2BE0-F242-313BEB1A87E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1F5770EC-871A-A212-E7D5-9620B6883132}"/>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ECF4008D-3C5B-259B-86CA-898136193E72}"/>
              </a:ext>
            </a:extLst>
          </p:cNvPr>
          <p:cNvSpPr>
            <a:spLocks noGrp="1"/>
          </p:cNvSpPr>
          <p:nvPr>
            <p:ph sz="quarter" idx="1"/>
          </p:nvPr>
        </p:nvSpPr>
        <p:spPr>
          <a:xfrm>
            <a:off x="609600" y="1143000"/>
            <a:ext cx="10972800" cy="4032564"/>
          </a:xfrm>
        </p:spPr>
        <p:txBody>
          <a:bodyPr>
            <a:normAutofit fontScale="70000" lnSpcReduction="20000"/>
          </a:bodyPr>
          <a:lstStyle/>
          <a:p>
            <a:r>
              <a:rPr lang="en-US" altLang="zh-CN" dirty="0"/>
              <a:t>Q5 In this subpart, suppose R1 has 1 other packet in its queue when A sends the packet. How long does it take to send a single packet from A to B? </a:t>
            </a:r>
          </a:p>
          <a:p>
            <a:pPr lvl="1"/>
            <a:r>
              <a:rPr lang="en-US" altLang="zh-CN" dirty="0"/>
              <a:t>ANS: 2</a:t>
            </a:r>
            <a:r>
              <a:rPr lang="zh-CN" altLang="en-US" dirty="0"/>
              <a:t>𝑥 </a:t>
            </a:r>
            <a:r>
              <a:rPr lang="en-US" altLang="zh-CN" dirty="0"/>
              <a:t>+ 2</a:t>
            </a:r>
            <a:r>
              <a:rPr lang="zh-CN" altLang="en-US" dirty="0"/>
              <a:t>𝑧</a:t>
            </a:r>
            <a:endParaRPr lang="en-US" altLang="zh-CN" dirty="0"/>
          </a:p>
          <a:p>
            <a:pPr lvl="1"/>
            <a:r>
              <a:rPr lang="en-US" altLang="zh-CN" dirty="0"/>
              <a:t>Explanation:</a:t>
            </a:r>
            <a:r>
              <a:rPr lang="zh-CN" altLang="en-US" dirty="0"/>
              <a:t> </a:t>
            </a:r>
            <a:r>
              <a:rPr lang="en-US" altLang="zh-CN" dirty="0"/>
              <a:t>Since all packets are the same size, by the time A transmits the packet onto the A-to-R1 link, R1 has finished clearing out its queue. Therefore, there will be no queuing delay at R1. The packet takes </a:t>
            </a:r>
            <a:r>
              <a:rPr lang="zh-CN" altLang="en-US" dirty="0"/>
              <a:t>𝑥 </a:t>
            </a:r>
            <a:r>
              <a:rPr lang="en-US" altLang="zh-CN" dirty="0"/>
              <a:t>+ </a:t>
            </a:r>
            <a:r>
              <a:rPr lang="zh-CN" altLang="en-US" dirty="0"/>
              <a:t>𝑧 </a:t>
            </a:r>
            <a:r>
              <a:rPr lang="en-US" altLang="zh-CN" dirty="0"/>
              <a:t>time to travel from A to R1 (transmission delay </a:t>
            </a:r>
            <a:r>
              <a:rPr lang="zh-CN" altLang="en-US" dirty="0"/>
              <a:t>𝑥 </a:t>
            </a:r>
            <a:r>
              <a:rPr lang="en-US" altLang="zh-CN" dirty="0"/>
              <a:t>and propagation delay </a:t>
            </a:r>
            <a:r>
              <a:rPr lang="zh-CN" altLang="en-US" dirty="0"/>
              <a:t>𝑧</a:t>
            </a:r>
            <a:r>
              <a:rPr lang="en-US" altLang="zh-CN" dirty="0"/>
              <a:t>).  At time </a:t>
            </a:r>
            <a:r>
              <a:rPr lang="zh-CN" altLang="en-US" dirty="0"/>
              <a:t>𝑥 </a:t>
            </a:r>
            <a:r>
              <a:rPr lang="en-US" altLang="zh-CN" dirty="0"/>
              <a:t>+ </a:t>
            </a:r>
            <a:r>
              <a:rPr lang="zh-CN" altLang="en-US" dirty="0"/>
              <a:t>𝑧</a:t>
            </a:r>
            <a:r>
              <a:rPr lang="en-US" altLang="zh-CN" dirty="0"/>
              <a:t>, R1 has received the entire packet. R1 then must send the packet along the R1-to-B link, which takes </a:t>
            </a:r>
            <a:r>
              <a:rPr lang="zh-CN" altLang="en-US" dirty="0"/>
              <a:t>𝑥 </a:t>
            </a:r>
            <a:r>
              <a:rPr lang="en-US" altLang="zh-CN" dirty="0"/>
              <a:t>+ </a:t>
            </a:r>
            <a:r>
              <a:rPr lang="zh-CN" altLang="en-US" dirty="0"/>
              <a:t>𝑧 </a:t>
            </a:r>
            <a:r>
              <a:rPr lang="en-US" altLang="zh-CN" dirty="0"/>
              <a:t>time again. The total time to transmit the packet from A to B is 2(</a:t>
            </a:r>
            <a:r>
              <a:rPr lang="zh-CN" altLang="en-US" dirty="0"/>
              <a:t>𝑥 </a:t>
            </a:r>
            <a:r>
              <a:rPr lang="en-US" altLang="zh-CN" dirty="0"/>
              <a:t>+ </a:t>
            </a:r>
            <a:r>
              <a:rPr lang="zh-CN" altLang="en-US" dirty="0"/>
              <a:t>𝑧</a:t>
            </a:r>
            <a:r>
              <a:rPr lang="en-US" altLang="zh-CN" dirty="0"/>
              <a:t>) = 2</a:t>
            </a:r>
            <a:r>
              <a:rPr lang="zh-CN" altLang="en-US" dirty="0"/>
              <a:t>𝑥 </a:t>
            </a:r>
            <a:r>
              <a:rPr lang="en-US" altLang="zh-CN" dirty="0"/>
              <a:t>+ 2</a:t>
            </a:r>
            <a:r>
              <a:rPr lang="zh-CN" altLang="en-US" dirty="0"/>
              <a:t>𝑧</a:t>
            </a:r>
            <a:r>
              <a:rPr lang="en-US" altLang="zh-CN" dirty="0"/>
              <a:t>.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pPr lvl="1"/>
            <a:r>
              <a:rPr lang="en-US" altLang="zh-CN" dirty="0"/>
              <a:t>ANS: 21</a:t>
            </a:r>
            <a:r>
              <a:rPr lang="zh-CN" altLang="en-US" dirty="0"/>
              <a:t>𝑥 </a:t>
            </a:r>
            <a:r>
              <a:rPr lang="en-US" altLang="zh-CN" dirty="0"/>
              <a:t>+ </a:t>
            </a:r>
            <a:r>
              <a:rPr lang="zh-CN" altLang="en-US" dirty="0"/>
              <a:t>𝑧</a:t>
            </a:r>
            <a:endParaRPr lang="en-US" altLang="zh-CN" dirty="0"/>
          </a:p>
          <a:p>
            <a:pPr lvl="1"/>
            <a:r>
              <a:rPr lang="en-US" altLang="zh-CN" dirty="0"/>
              <a:t>Explanation: By the time the A-to-B packet arrives at R1, the queue is not empty (per the assumption). Therefore, we have to account for queuing delay.  We have to wait for R1 to finish sending all 20 packets, and then it can send the A-to-B packet. The time it takes for R1 to transmit 21 packets (the 20 in the queue, plus the A-to-B packet) is 21</a:t>
            </a:r>
            <a:r>
              <a:rPr lang="zh-CN" altLang="en-US" dirty="0"/>
              <a:t>𝑥</a:t>
            </a:r>
            <a:r>
              <a:rPr lang="en-US" altLang="zh-CN" dirty="0"/>
              <a:t>.</a:t>
            </a:r>
          </a:p>
          <a:p>
            <a:pPr lvl="1"/>
            <a:r>
              <a:rPr lang="en-US" altLang="zh-CN" dirty="0"/>
              <a:t>Then, the time it takes for the A-to-B packet to propagate along the R1-to-B link is </a:t>
            </a:r>
            <a:r>
              <a:rPr lang="zh-CN" altLang="en-US" dirty="0"/>
              <a:t>𝑧</a:t>
            </a:r>
            <a:r>
              <a:rPr lang="en-US" altLang="zh-CN" dirty="0"/>
              <a:t>. Thus, the total packet delay is 21</a:t>
            </a:r>
            <a:r>
              <a:rPr lang="zh-CN" altLang="en-US" dirty="0"/>
              <a:t>𝑥 </a:t>
            </a:r>
            <a:r>
              <a:rPr lang="en-US" altLang="zh-CN" dirty="0"/>
              <a:t>+ </a:t>
            </a:r>
            <a:r>
              <a:rPr lang="zh-CN" altLang="en-US" dirty="0"/>
              <a:t>𝑧</a:t>
            </a:r>
            <a:r>
              <a:rPr lang="en-US" altLang="zh-CN" dirty="0"/>
              <a:t>. Note that we don’t need to consider the propagation delay on the A-to-R1 link, since it overlaps with the transmission delay 21</a:t>
            </a:r>
            <a:r>
              <a:rPr lang="zh-CN" altLang="en-US" dirty="0"/>
              <a:t>𝑥 </a:t>
            </a:r>
            <a:r>
              <a:rPr lang="en-US" altLang="zh-CN" dirty="0"/>
              <a:t>(i.e. the packet was sent from A to R1 while R1 was clearing out its queue). </a:t>
            </a:r>
            <a:endParaRPr lang="zh-CN" altLang="en-US" dirty="0"/>
          </a:p>
        </p:txBody>
      </p:sp>
      <p:pic>
        <p:nvPicPr>
          <p:cNvPr id="6" name="Picture 5">
            <a:extLst>
              <a:ext uri="{FF2B5EF4-FFF2-40B4-BE49-F238E27FC236}">
                <a16:creationId xmlns:a16="http://schemas.microsoft.com/office/drawing/2014/main" id="{DFA315F0-F8FD-7979-8A50-EB63005FF16D}"/>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4186938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821C3-5FA2-B0A4-D005-6264D6E0DCB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7F3808B6-0310-8EFD-CACE-5935384E25F2}"/>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8819AD79-A568-11A3-B70C-A6F07F836925}"/>
              </a:ext>
            </a:extLst>
          </p:cNvPr>
          <p:cNvSpPr>
            <a:spLocks noGrp="1"/>
          </p:cNvSpPr>
          <p:nvPr>
            <p:ph sz="quarter" idx="1"/>
          </p:nvPr>
        </p:nvSpPr>
        <p:spPr>
          <a:xfrm>
            <a:off x="609600" y="1219200"/>
            <a:ext cx="10972800" cy="4038600"/>
          </a:xfrm>
        </p:spPr>
        <p:txBody>
          <a:bodyPr>
            <a:normAutofit fontScale="92500" lnSpcReduction="10000"/>
          </a:bodyPr>
          <a:lstStyle/>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r>
              <a:rPr lang="en-US" altLang="zh-CN" dirty="0"/>
              <a:t>ANS:</a:t>
            </a:r>
            <a:r>
              <a:rPr lang="zh-CN" altLang="en-US" dirty="0"/>
              <a:t> </a:t>
            </a:r>
            <a:r>
              <a:rPr lang="en-US" altLang="zh-CN" dirty="0"/>
              <a:t>(</a:t>
            </a:r>
            <a:r>
              <a:rPr lang="zh-CN" altLang="en-US" dirty="0"/>
              <a:t>𝑥</a:t>
            </a:r>
            <a:r>
              <a:rPr lang="en-US" altLang="zh-CN" dirty="0"/>
              <a:t>+</a:t>
            </a:r>
            <a:r>
              <a:rPr lang="zh-CN" altLang="en-US" dirty="0"/>
              <a:t>𝑧</a:t>
            </a:r>
            <a:r>
              <a:rPr lang="en-US" altLang="zh-CN" dirty="0"/>
              <a:t>)/</a:t>
            </a:r>
            <a:r>
              <a:rPr lang="zh-CN" altLang="en-US" dirty="0"/>
              <a:t>𝑥</a:t>
            </a:r>
            <a:endParaRPr lang="en-US" altLang="zh-CN" dirty="0"/>
          </a:p>
          <a:p>
            <a:r>
              <a:rPr lang="en-US" altLang="zh-CN" dirty="0"/>
              <a:t>Explanation: The time it takes to send the packet from A to R1 is </a:t>
            </a:r>
            <a:r>
              <a:rPr lang="zh-CN" altLang="en-US" dirty="0"/>
              <a:t>𝑥 </a:t>
            </a:r>
            <a:r>
              <a:rPr lang="en-US" altLang="zh-CN" dirty="0"/>
              <a:t>+ </a:t>
            </a:r>
            <a:r>
              <a:rPr lang="zh-CN" altLang="en-US" dirty="0"/>
              <a:t>𝑧</a:t>
            </a:r>
            <a:r>
              <a:rPr lang="en-US" altLang="zh-CN" dirty="0"/>
              <a:t>. R1 needs </a:t>
            </a:r>
            <a:r>
              <a:rPr lang="zh-CN" altLang="en-US" dirty="0"/>
              <a:t>𝑥 </a:t>
            </a:r>
            <a:r>
              <a:rPr lang="en-US" altLang="zh-CN" dirty="0"/>
              <a:t>seconds to send out each packet. Therefore, in </a:t>
            </a:r>
            <a:r>
              <a:rPr lang="zh-CN" altLang="en-US" dirty="0"/>
              <a:t>𝑥 </a:t>
            </a:r>
            <a:r>
              <a:rPr lang="en-US" altLang="zh-CN" dirty="0"/>
              <a:t>+ </a:t>
            </a:r>
            <a:r>
              <a:rPr lang="zh-CN" altLang="en-US" dirty="0"/>
              <a:t>𝑧 </a:t>
            </a:r>
            <a:r>
              <a:rPr lang="en-US" altLang="zh-CN" dirty="0"/>
              <a:t>seconds, R1 is able to send out (</a:t>
            </a:r>
            <a:r>
              <a:rPr lang="zh-CN" altLang="en-US" dirty="0"/>
              <a:t>𝑥</a:t>
            </a:r>
            <a:r>
              <a:rPr lang="en-US" altLang="zh-CN" dirty="0"/>
              <a:t>+</a:t>
            </a:r>
            <a:r>
              <a:rPr lang="zh-CN" altLang="en-US" dirty="0"/>
              <a:t>𝑧</a:t>
            </a:r>
            <a:r>
              <a:rPr lang="en-US" altLang="zh-CN" dirty="0"/>
              <a:t>)/</a:t>
            </a:r>
            <a:r>
              <a:rPr lang="zh-CN" altLang="en-US" dirty="0"/>
              <a:t>𝑥 </a:t>
            </a:r>
            <a:r>
              <a:rPr lang="en-US" altLang="zh-CN" dirty="0"/>
              <a:t>packets. Therefore, R1 can have at most (</a:t>
            </a:r>
            <a:r>
              <a:rPr lang="zh-CN" altLang="en-US" dirty="0"/>
              <a:t>𝑥</a:t>
            </a:r>
            <a:r>
              <a:rPr lang="en-US" altLang="zh-CN" dirty="0"/>
              <a:t>+</a:t>
            </a:r>
            <a:r>
              <a:rPr lang="zh-CN" altLang="en-US" dirty="0"/>
              <a:t>𝑧</a:t>
            </a:r>
            <a:r>
              <a:rPr lang="en-US" altLang="zh-CN" dirty="0"/>
              <a:t>)/</a:t>
            </a:r>
            <a:r>
              <a:rPr lang="zh-CN" altLang="en-US" dirty="0"/>
              <a:t>𝑥</a:t>
            </a:r>
            <a:r>
              <a:rPr lang="en-US" altLang="zh-CN" dirty="0"/>
              <a:t> packets in its queue, and all of those packets will be sent out by the time the last byte of the A-to-B packet reaches R1. </a:t>
            </a:r>
            <a:br>
              <a:rPr lang="en-US" altLang="zh-CN" dirty="0"/>
            </a:br>
            <a:endParaRPr lang="zh-CN" altLang="en-US" dirty="0"/>
          </a:p>
        </p:txBody>
      </p:sp>
      <p:pic>
        <p:nvPicPr>
          <p:cNvPr id="5" name="Picture 4">
            <a:extLst>
              <a:ext uri="{FF2B5EF4-FFF2-40B4-BE49-F238E27FC236}">
                <a16:creationId xmlns:a16="http://schemas.microsoft.com/office/drawing/2014/main" id="{C7C84C26-D4C0-9582-8A0D-871CA8D1F392}"/>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3409397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06331-FAD2-C37C-4D5B-E040EFCF0952}"/>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04D1E93B-35C8-FF88-B5DA-7083BD3BE3B9}"/>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7DDF39FB-0476-ECF4-DF79-B77C4F4C7DB7}"/>
              </a:ext>
            </a:extLst>
          </p:cNvPr>
          <p:cNvSpPr>
            <a:spLocks noGrp="1"/>
          </p:cNvSpPr>
          <p:nvPr>
            <p:ph sz="quarter" idx="1"/>
          </p:nvPr>
        </p:nvSpPr>
        <p:spPr/>
        <p:txBody>
          <a:bodyPr>
            <a:normAutofit fontScale="77500" lnSpcReduction="20000"/>
          </a:bodyPr>
          <a:lstStyle/>
          <a:p>
            <a:r>
              <a:rPr lang="en-US" altLang="zh-CN" dirty="0"/>
              <a:t>Starting at </a:t>
            </a:r>
            <a:r>
              <a:rPr lang="zh-CN" altLang="en-US" dirty="0"/>
              <a:t>𝑡 </a:t>
            </a:r>
            <a:r>
              <a:rPr lang="en-US" altLang="zh-CN" dirty="0"/>
              <a:t>= 0, </a:t>
            </a:r>
            <a:r>
              <a:rPr lang="zh-CN" altLang="en-US" dirty="0"/>
              <a:t>𝐻 </a:t>
            </a:r>
            <a:r>
              <a:rPr lang="en-US" altLang="zh-CN" dirty="0"/>
              <a:t>sends 10 payloads to </a:t>
            </a:r>
            <a:r>
              <a:rPr lang="zh-CN" altLang="en-US" dirty="0"/>
              <a:t>𝑇</a:t>
            </a:r>
            <a:r>
              <a:rPr lang="en-US" altLang="zh-CN" dirty="0"/>
              <a:t>, one after the other. Each payload is 20 </a:t>
            </a:r>
            <a:r>
              <a:rPr lang="en-US" altLang="zh-CN" dirty="0" err="1"/>
              <a:t>Gbits</a:t>
            </a:r>
            <a:r>
              <a:rPr lang="en-US" altLang="zh-CN" dirty="0"/>
              <a:t>. </a:t>
            </a:r>
            <a:r>
              <a:rPr lang="zh-CN" altLang="en-US" dirty="0"/>
              <a:t>𝐸 </a:t>
            </a:r>
            <a:r>
              <a:rPr lang="en-US" altLang="zh-CN" dirty="0"/>
              <a:t>uses store and forward, i.e., it must receive all bits of a payload before sending that payload along the next link ().</a:t>
            </a:r>
          </a:p>
          <a:p>
            <a:r>
              <a:rPr lang="en-US" altLang="zh-CN" dirty="0"/>
              <a:t>Q1 What is the queuing delay of the first payload? Note: For all queuing delay questions, count from the time the last bit of the payload arrives at </a:t>
            </a:r>
            <a:r>
              <a:rPr lang="zh-CN" altLang="en-US" dirty="0"/>
              <a:t>𝐸</a:t>
            </a:r>
            <a:r>
              <a:rPr lang="en-US" altLang="zh-CN" dirty="0"/>
              <a:t>, to the time the first bit of the payload is sent out of </a:t>
            </a:r>
            <a:r>
              <a:rPr lang="zh-CN" altLang="en-US" dirty="0"/>
              <a:t>𝐸</a:t>
            </a:r>
            <a:r>
              <a:rPr lang="en-US" altLang="zh-CN" dirty="0"/>
              <a:t>.</a:t>
            </a:r>
          </a:p>
          <a:p>
            <a:pPr lvl="1"/>
            <a:r>
              <a:rPr lang="en-US" altLang="zh-CN" dirty="0"/>
              <a:t>ANS: 0 sec</a:t>
            </a:r>
          </a:p>
          <a:p>
            <a:r>
              <a:rPr lang="en-US" altLang="zh-CN" dirty="0"/>
              <a:t>Q2 (1 point) At what time does </a:t>
            </a:r>
            <a:r>
              <a:rPr lang="zh-CN" altLang="en-US" dirty="0"/>
              <a:t>𝑇 </a:t>
            </a:r>
            <a:r>
              <a:rPr lang="en-US" altLang="zh-CN" dirty="0"/>
              <a:t>receive the last bit of the first payload?</a:t>
            </a:r>
          </a:p>
          <a:p>
            <a:pPr lvl="1"/>
            <a:r>
              <a:rPr lang="en-US" altLang="zh-CN" dirty="0"/>
              <a:t>ANS: </a:t>
            </a:r>
            <a:r>
              <a:rPr lang="zh-CN" altLang="en-US" dirty="0"/>
              <a:t>𝑡 </a:t>
            </a:r>
            <a:r>
              <a:rPr lang="en-US" altLang="zh-CN" dirty="0"/>
              <a:t>= 15 sec</a:t>
            </a:r>
          </a:p>
          <a:p>
            <a:r>
              <a:rPr lang="en-US" altLang="zh-CN" dirty="0"/>
              <a:t>Q3 (2 points) What is the queuing delay of the second payload?</a:t>
            </a:r>
          </a:p>
          <a:p>
            <a:pPr lvl="1"/>
            <a:r>
              <a:rPr lang="en-US" altLang="zh-CN" dirty="0"/>
              <a:t>ANS: 1 sec</a:t>
            </a:r>
          </a:p>
          <a:p>
            <a:r>
              <a:rPr lang="en-US" altLang="zh-CN" dirty="0"/>
              <a:t>Q4 (2 points) At what time does </a:t>
            </a:r>
            <a:r>
              <a:rPr lang="zh-CN" altLang="en-US" dirty="0"/>
              <a:t>𝑇 </a:t>
            </a:r>
            <a:r>
              <a:rPr lang="en-US" altLang="zh-CN" dirty="0"/>
              <a:t>receive the last bit of the second payload?</a:t>
            </a:r>
          </a:p>
          <a:p>
            <a:pPr lvl="1"/>
            <a:r>
              <a:rPr lang="en-US" altLang="zh-CN" dirty="0"/>
              <a:t>ANS: </a:t>
            </a:r>
            <a:r>
              <a:rPr lang="zh-CN" altLang="en-US" dirty="0"/>
              <a:t>𝑡 </a:t>
            </a:r>
            <a:r>
              <a:rPr lang="en-US" altLang="zh-CN" dirty="0"/>
              <a:t>= 17 sec</a:t>
            </a:r>
          </a:p>
          <a:p>
            <a:r>
              <a:rPr lang="en-US" altLang="zh-CN" dirty="0"/>
              <a:t>Q5 (2 points) What is the queuing delay of the 10th payload?</a:t>
            </a:r>
          </a:p>
          <a:p>
            <a:pPr lvl="1"/>
            <a:r>
              <a:rPr lang="en-US" altLang="zh-CN" dirty="0"/>
              <a:t>ANS: 9 sec</a:t>
            </a:r>
          </a:p>
          <a:p>
            <a:r>
              <a:rPr lang="en-US" altLang="zh-CN" dirty="0"/>
              <a:t>Q6 (2 points) At what time does </a:t>
            </a:r>
            <a:r>
              <a:rPr lang="zh-CN" altLang="en-US" dirty="0"/>
              <a:t>𝑇 </a:t>
            </a:r>
            <a:r>
              <a:rPr lang="en-US" altLang="zh-CN" dirty="0"/>
              <a:t>receive the last bit of the 10th payload?</a:t>
            </a:r>
          </a:p>
          <a:p>
            <a:pPr lvl="1"/>
            <a:r>
              <a:rPr lang="en-US" altLang="zh-CN" dirty="0"/>
              <a:t>ANS: </a:t>
            </a:r>
            <a:r>
              <a:rPr lang="zh-CN" altLang="en-US" dirty="0"/>
              <a:t>𝑡 </a:t>
            </a:r>
            <a:r>
              <a:rPr lang="en-US" altLang="zh-CN" dirty="0"/>
              <a:t>= 33 sec</a:t>
            </a:r>
            <a:endParaRPr lang="zh-CN" altLang="en-US" dirty="0"/>
          </a:p>
        </p:txBody>
      </p:sp>
      <p:pic>
        <p:nvPicPr>
          <p:cNvPr id="6" name="Picture 5" descr="The image depicts a network diagram illustrating two links with propagation delays of 2 and 10 seconds, and bandwidths of 20 Gbps and 10 Gbps respectively.&#10;&#10;AI-generated content may be incorrect.">
            <a:extLst>
              <a:ext uri="{FF2B5EF4-FFF2-40B4-BE49-F238E27FC236}">
                <a16:creationId xmlns:a16="http://schemas.microsoft.com/office/drawing/2014/main" id="{11A44FD7-3CB6-BCEC-A980-859BB5D17566}"/>
              </a:ext>
            </a:extLst>
          </p:cNvPr>
          <p:cNvPicPr>
            <a:picLocks noChangeAspect="1"/>
          </p:cNvPicPr>
          <p:nvPr/>
        </p:nvPicPr>
        <p:blipFill>
          <a:blip r:embed="rId3"/>
          <a:stretch>
            <a:fillRect/>
          </a:stretch>
        </p:blipFill>
        <p:spPr>
          <a:xfrm>
            <a:off x="3048000" y="5694933"/>
            <a:ext cx="6697010" cy="924054"/>
          </a:xfrm>
          <a:prstGeom prst="rect">
            <a:avLst/>
          </a:prstGeom>
        </p:spPr>
      </p:pic>
    </p:spTree>
    <p:extLst>
      <p:ext uri="{BB962C8B-B14F-4D97-AF65-F5344CB8AC3E}">
        <p14:creationId xmlns:p14="http://schemas.microsoft.com/office/powerpoint/2010/main" val="124229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7CA1F7-19B5-EB8E-6348-0AE5C3EEAAA2}"/>
              </a:ext>
            </a:extLst>
          </p:cNvPr>
          <p:cNvPicPr>
            <a:picLocks noChangeAspect="1"/>
          </p:cNvPicPr>
          <p:nvPr/>
        </p:nvPicPr>
        <p:blipFill>
          <a:blip r:embed="rId3"/>
          <a:stretch>
            <a:fillRect/>
          </a:stretch>
        </p:blipFill>
        <p:spPr>
          <a:xfrm>
            <a:off x="5430635" y="5798056"/>
            <a:ext cx="6697010" cy="924054"/>
          </a:xfrm>
          <a:prstGeom prst="rect">
            <a:avLst/>
          </a:prstGeom>
        </p:spPr>
      </p:pic>
      <p:sp>
        <p:nvSpPr>
          <p:cNvPr id="2" name="Title 1">
            <a:extLst>
              <a:ext uri="{FF2B5EF4-FFF2-40B4-BE49-F238E27FC236}">
                <a16:creationId xmlns:a16="http://schemas.microsoft.com/office/drawing/2014/main" id="{9ADF8C37-068B-2C7B-0271-17BC51A1C58A}"/>
              </a:ext>
            </a:extLst>
          </p:cNvPr>
          <p:cNvSpPr>
            <a:spLocks noGrp="1"/>
          </p:cNvSpPr>
          <p:nvPr>
            <p:ph type="title"/>
          </p:nvPr>
        </p:nvSpPr>
        <p:spPr>
          <a:xfrm>
            <a:off x="609600" y="152400"/>
            <a:ext cx="7010400" cy="990600"/>
          </a:xfrm>
        </p:spPr>
        <p:txBody>
          <a:bodyPr>
            <a:normAutofit fontScale="90000"/>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83E516CE-6AD8-5DCD-2FBD-50750649CFF2}"/>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14244A22-B278-B662-A536-5B5167AFA778}"/>
              </a:ext>
            </a:extLst>
          </p:cNvPr>
          <p:cNvSpPr>
            <a:spLocks noGrp="1"/>
          </p:cNvSpPr>
          <p:nvPr>
            <p:ph sz="quarter" idx="1"/>
          </p:nvPr>
        </p:nvSpPr>
        <p:spPr>
          <a:xfrm>
            <a:off x="609600" y="1219200"/>
            <a:ext cx="7086600" cy="5638800"/>
          </a:xfrm>
        </p:spPr>
        <p:txBody>
          <a:bodyPr>
            <a:normAutofit fontScale="55000" lnSpcReduction="20000"/>
          </a:bodyPr>
          <a:lstStyle/>
          <a:p>
            <a:r>
              <a:rPr lang="en-US" altLang="zh-CN" dirty="0"/>
              <a:t>Q1-5 ANS. This table shows the time each payload arrives at </a:t>
            </a:r>
            <a:r>
              <a:rPr lang="zh-CN" altLang="en-US" dirty="0"/>
              <a:t>𝐸 </a:t>
            </a:r>
            <a:r>
              <a:rPr lang="en-US" altLang="zh-CN" dirty="0"/>
              <a:t>(time of last bit arriving), the time each payload is sent from </a:t>
            </a:r>
            <a:r>
              <a:rPr lang="zh-CN" altLang="en-US" dirty="0"/>
              <a:t>𝐸 </a:t>
            </a:r>
            <a:r>
              <a:rPr lang="en-US" altLang="zh-CN" dirty="0"/>
              <a:t>(time of first bit sent out), and the queuing delay of payload.</a:t>
            </a:r>
          </a:p>
          <a:p>
            <a:r>
              <a:rPr lang="en-US" altLang="zh-CN" dirty="0"/>
              <a:t>Link 1: H -&gt; E.  Bandwidth = 20 Gbps, Transmission Delay for each 20 Gbit payload is 1s. Propagation Delay = 2s</a:t>
            </a:r>
            <a:br>
              <a:rPr lang="en-US" altLang="zh-CN" dirty="0"/>
            </a:br>
            <a:r>
              <a:rPr lang="en-US" altLang="zh-CN" dirty="0"/>
              <a:t>Link 2: H -&gt; ET. Bandwidth = 10 Gbps, Transmission Delay for each 20 Gbit payload is 2s (service time). Propagation Delay = 10s</a:t>
            </a:r>
          </a:p>
          <a:p>
            <a:r>
              <a:rPr lang="en-US" altLang="zh-CN" dirty="0"/>
              <a:t>To derive the </a:t>
            </a:r>
            <a:r>
              <a:rPr lang="en-US" altLang="zh-CN" dirty="0">
                <a:solidFill>
                  <a:srgbClr val="C00000"/>
                </a:solidFill>
              </a:rPr>
              <a:t>time of arrival of the last bit of each payload at E</a:t>
            </a:r>
            <a:r>
              <a:rPr lang="en-US" altLang="zh-CN" dirty="0"/>
              <a:t> column, we consider Link 1:</a:t>
            </a:r>
          </a:p>
          <a:p>
            <a:pPr lvl="1"/>
            <a:r>
              <a:rPr lang="en-US" altLang="zh-CN" dirty="0"/>
              <a:t>The first payload of 20 Gbps: First bit is transmitted from </a:t>
            </a:r>
            <a:r>
              <a:rPr lang="zh-CN" altLang="en-US" dirty="0"/>
              <a:t>𝐻 </a:t>
            </a:r>
            <a:r>
              <a:rPr lang="en-US" altLang="zh-CN" dirty="0"/>
              <a:t>at </a:t>
            </a:r>
            <a:r>
              <a:rPr lang="zh-CN" altLang="en-US" dirty="0"/>
              <a:t>𝑡 </a:t>
            </a:r>
            <a:r>
              <a:rPr lang="en-US" altLang="zh-CN" dirty="0"/>
              <a:t>= 0; the last bit is transmitted from </a:t>
            </a:r>
            <a:r>
              <a:rPr lang="zh-CN" altLang="en-US" dirty="0"/>
              <a:t>𝐻 </a:t>
            </a:r>
            <a:r>
              <a:rPr lang="en-US" altLang="zh-CN" dirty="0"/>
              <a:t>at </a:t>
            </a:r>
            <a:r>
              <a:rPr lang="zh-CN" altLang="en-US" dirty="0"/>
              <a:t>𝑡 </a:t>
            </a:r>
            <a:r>
              <a:rPr lang="en-US" altLang="zh-CN" dirty="0"/>
              <a:t>= 1, and arrives at </a:t>
            </a:r>
            <a:r>
              <a:rPr lang="zh-CN" altLang="en-US" dirty="0"/>
              <a:t>𝐸 </a:t>
            </a:r>
            <a:r>
              <a:rPr lang="en-US" altLang="zh-CN" dirty="0"/>
              <a:t>at </a:t>
            </a:r>
            <a:r>
              <a:rPr lang="zh-CN" altLang="en-US" dirty="0"/>
              <a:t>𝑡 </a:t>
            </a:r>
            <a:r>
              <a:rPr lang="en-US" altLang="zh-CN" dirty="0"/>
              <a:t>= 1 + Prop Delay (2) = 3.</a:t>
            </a:r>
          </a:p>
          <a:p>
            <a:pPr lvl="1"/>
            <a:r>
              <a:rPr lang="en-US" altLang="zh-CN" dirty="0"/>
              <a:t>At this point, a constant stream of payloads is sent from </a:t>
            </a:r>
            <a:r>
              <a:rPr lang="zh-CN" altLang="en-US" dirty="0"/>
              <a:t>𝐻 </a:t>
            </a:r>
            <a:r>
              <a:rPr lang="en-US" altLang="zh-CN" dirty="0"/>
              <a:t>to </a:t>
            </a:r>
            <a:r>
              <a:rPr lang="zh-CN" altLang="en-US" dirty="0"/>
              <a:t>𝐸 </a:t>
            </a:r>
            <a:r>
              <a:rPr lang="en-US" altLang="zh-CN" dirty="0"/>
              <a:t>back-to-back. Each payload takes 1 second to transmit, so the times of arrivals are 3, 4, 5, … (1 second per packet).</a:t>
            </a:r>
          </a:p>
          <a:p>
            <a:r>
              <a:rPr lang="en-US" altLang="zh-CN" dirty="0"/>
              <a:t>To derive the </a:t>
            </a:r>
            <a:r>
              <a:rPr lang="en-US" altLang="zh-CN" dirty="0">
                <a:solidFill>
                  <a:srgbClr val="C00000"/>
                </a:solidFill>
              </a:rPr>
              <a:t>time of sending of the first bit of each payload from E</a:t>
            </a:r>
            <a:r>
              <a:rPr lang="en-US" altLang="zh-CN" dirty="0"/>
              <a:t> column, we consider Link 2:</a:t>
            </a:r>
          </a:p>
          <a:p>
            <a:pPr lvl="1"/>
            <a:r>
              <a:rPr lang="en-US" altLang="zh-CN" dirty="0"/>
              <a:t>Payload 1′s last bit arrives at </a:t>
            </a:r>
            <a:r>
              <a:rPr lang="zh-CN" altLang="en-US" dirty="0"/>
              <a:t>𝑡 </a:t>
            </a:r>
            <a:r>
              <a:rPr lang="en-US" altLang="zh-CN" dirty="0"/>
              <a:t>= 3, so its first bit can be forwarded from E starting at </a:t>
            </a:r>
            <a:r>
              <a:rPr lang="zh-CN" altLang="en-US" dirty="0"/>
              <a:t>𝑡 </a:t>
            </a:r>
            <a:r>
              <a:rPr lang="en-US" altLang="zh-CN" dirty="0"/>
              <a:t>= 3, , with queuing delay of 3-3 = 0.  The last bit is transmitted from E</a:t>
            </a:r>
            <a:r>
              <a:rPr lang="zh-CN" altLang="en-US" dirty="0"/>
              <a:t> </a:t>
            </a:r>
            <a:r>
              <a:rPr lang="en-US" altLang="zh-CN" dirty="0"/>
              <a:t>at </a:t>
            </a:r>
            <a:r>
              <a:rPr lang="zh-CN" altLang="en-US" dirty="0"/>
              <a:t>𝑡 </a:t>
            </a:r>
            <a:r>
              <a:rPr lang="en-US" altLang="zh-CN" dirty="0"/>
              <a:t>= 5, and arrives at T</a:t>
            </a:r>
            <a:r>
              <a:rPr lang="zh-CN" altLang="en-US" dirty="0"/>
              <a:t> </a:t>
            </a:r>
            <a:r>
              <a:rPr lang="en-US" altLang="zh-CN" dirty="0"/>
              <a:t>at </a:t>
            </a:r>
            <a:r>
              <a:rPr lang="zh-CN" altLang="en-US" dirty="0"/>
              <a:t>𝑡 </a:t>
            </a:r>
            <a:r>
              <a:rPr lang="en-US" altLang="zh-CN" dirty="0"/>
              <a:t>= 5 + Prop Delay (10) = 15. </a:t>
            </a:r>
          </a:p>
          <a:p>
            <a:pPr lvl="1"/>
            <a:r>
              <a:rPr lang="en-US" altLang="zh-CN" dirty="0"/>
              <a:t>Payload 2′s last bit arrives at </a:t>
            </a:r>
            <a:r>
              <a:rPr lang="zh-CN" altLang="en-US" dirty="0"/>
              <a:t>𝑡 </a:t>
            </a:r>
            <a:r>
              <a:rPr lang="en-US" altLang="zh-CN" dirty="0"/>
              <a:t>= 4, so its first bit can be forwarded from E starting at </a:t>
            </a:r>
            <a:r>
              <a:rPr lang="zh-CN" altLang="en-US" dirty="0"/>
              <a:t>𝑡 </a:t>
            </a:r>
            <a:r>
              <a:rPr lang="en-US" altLang="zh-CN" dirty="0"/>
              <a:t>= 5, with queuing delay of 5-4 = 1.  The last bit is transmitted from E</a:t>
            </a:r>
            <a:r>
              <a:rPr lang="zh-CN" altLang="en-US" dirty="0"/>
              <a:t> </a:t>
            </a:r>
            <a:r>
              <a:rPr lang="en-US" altLang="zh-CN" dirty="0"/>
              <a:t>at </a:t>
            </a:r>
            <a:r>
              <a:rPr lang="zh-CN" altLang="en-US" dirty="0"/>
              <a:t>𝑡 </a:t>
            </a:r>
            <a:r>
              <a:rPr lang="en-US" altLang="zh-CN" dirty="0"/>
              <a:t>= 7, and arrives at T</a:t>
            </a:r>
            <a:r>
              <a:rPr lang="zh-CN" altLang="en-US" dirty="0"/>
              <a:t> </a:t>
            </a:r>
            <a:r>
              <a:rPr lang="en-US" altLang="zh-CN" dirty="0"/>
              <a:t>at </a:t>
            </a:r>
            <a:r>
              <a:rPr lang="zh-CN" altLang="en-US" dirty="0"/>
              <a:t>𝑡 </a:t>
            </a:r>
            <a:r>
              <a:rPr lang="en-US" altLang="zh-CN" dirty="0"/>
              <a:t>= 7+10 =17.</a:t>
            </a:r>
          </a:p>
          <a:p>
            <a:pPr lvl="1"/>
            <a:r>
              <a:rPr lang="en-US" altLang="zh-CN" dirty="0"/>
              <a:t>Time of sending of the first bit of each payload from E: 3, 5, 7,…</a:t>
            </a:r>
          </a:p>
          <a:p>
            <a:r>
              <a:rPr lang="en-US" altLang="zh-CN" dirty="0"/>
              <a:t>The queuing delay is the difference between the time of last bit arriving, and the time of first bit sending. It increases with each payload, since the queue builds up in size gradually, as Link 2 has a lower bandwidth than Link 1. Every second, backlog increases steadily → queue builds → delay grows</a:t>
            </a:r>
          </a:p>
          <a:p>
            <a:pPr lvl="1"/>
            <a:r>
              <a:rPr lang="en-US" altLang="zh-CN" dirty="0"/>
              <a:t>1 payload arrives (20 Gbps link)</a:t>
            </a:r>
          </a:p>
          <a:p>
            <a:pPr lvl="1"/>
            <a:r>
              <a:rPr lang="en-US" altLang="zh-CN" dirty="0"/>
              <a:t>But only 0.5 payload leaves (10 Gbps link)</a:t>
            </a:r>
            <a:endParaRPr lang="zh-CN" altLang="en-US" dirty="0"/>
          </a:p>
        </p:txBody>
      </p:sp>
      <p:pic>
        <p:nvPicPr>
          <p:cNvPr id="6" name="Picture 5" descr="The provided text appears to be a tabulated list of numbers, which could be interpreted as a sequence of events or values associated with a queuing system, such as delays, arrival times, or processing times, but without an accompanying image, it's not possible to describe any visual content.&#10;&#10;AI-generated content may be incorrect.">
            <a:extLst>
              <a:ext uri="{FF2B5EF4-FFF2-40B4-BE49-F238E27FC236}">
                <a16:creationId xmlns:a16="http://schemas.microsoft.com/office/drawing/2014/main" id="{995AF2CD-460E-D89C-CC78-B3B6252F2981}"/>
              </a:ext>
            </a:extLst>
          </p:cNvPr>
          <p:cNvPicPr>
            <a:picLocks noChangeAspect="1"/>
          </p:cNvPicPr>
          <p:nvPr/>
        </p:nvPicPr>
        <p:blipFill>
          <a:blip r:embed="rId4"/>
          <a:stretch>
            <a:fillRect/>
          </a:stretch>
        </p:blipFill>
        <p:spPr>
          <a:xfrm>
            <a:off x="7696200" y="2009539"/>
            <a:ext cx="4277322" cy="337232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286E33-128B-DB63-9962-A1077AF368D7}"/>
                  </a:ext>
                </a:extLst>
              </p:cNvPr>
              <p:cNvSpPr txBox="1"/>
              <p:nvPr/>
            </p:nvSpPr>
            <p:spPr>
              <a:xfrm>
                <a:off x="7513202" y="308838"/>
                <a:ext cx="4614443" cy="1624501"/>
              </a:xfrm>
              <a:prstGeom prst="rect">
                <a:avLst/>
              </a:prstGeom>
              <a:solidFill>
                <a:schemeClr val="bg1">
                  <a:lumMod val="9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nl-NL" altLang="zh-CN" sz="1400" dirty="0"/>
                  <a:t>For payload number </a:t>
                </a:r>
                <a14:m>
                  <m:oMath xmlns:m="http://schemas.openxmlformats.org/officeDocument/2006/math">
                    <m:r>
                      <a:rPr lang="zh-CN" altLang="nl-NL" sz="1400" i="1">
                        <a:latin typeface="Cambria Math" panose="02040503050406030204" pitchFamily="18" charset="0"/>
                      </a:rPr>
                      <m:t>𝑘</m:t>
                    </m:r>
                  </m:oMath>
                </a14:m>
                <a:r>
                  <a:rPr lang="nl-NL" altLang="zh-CN" sz="1400" dirty="0"/>
                  <a:t>:</a:t>
                </a:r>
              </a:p>
              <a:p>
                <a:pPr lvl="1"/>
                <a14:m>
                  <m:oMathPara xmlns:m="http://schemas.openxmlformats.org/officeDocument/2006/math">
                    <m:oMathParaPr>
                      <m:jc m:val="centerGroup"/>
                    </m:oMathParaPr>
                    <m:oMath xmlns:m="http://schemas.openxmlformats.org/officeDocument/2006/math">
                      <m:r>
                        <m:rPr>
                          <m:nor/>
                        </m:rPr>
                        <a:rPr lang="nl-NL" altLang="zh-CN" sz="1400" b="0"/>
                        <m:t>queueing</m:t>
                      </m:r>
                      <m:r>
                        <m:rPr>
                          <m:nor/>
                        </m:rPr>
                        <a:rPr lang="nl-NL" altLang="zh-CN" sz="1400" b="0" i="1"/>
                        <m:t> </m:t>
                      </m:r>
                      <m:r>
                        <m:rPr>
                          <m:nor/>
                        </m:rPr>
                        <a:rPr lang="nl-NL" altLang="zh-CN" sz="1400" b="0" i="1"/>
                        <m:t>delay</m:t>
                      </m:r>
                      <m:r>
                        <m:rPr>
                          <m:nor/>
                        </m:rPr>
                        <a:rPr lang="nl-NL" altLang="zh-CN" sz="1400" b="0" i="1"/>
                        <m:t> </m:t>
                      </m:r>
                      <m:r>
                        <m:rPr>
                          <m:nor/>
                        </m:rPr>
                        <a:rPr lang="nl-NL" altLang="zh-CN" sz="1400" b="0" i="1"/>
                        <m:t>at</m:t>
                      </m:r>
                      <m:r>
                        <m:rPr>
                          <m:nor/>
                        </m:rPr>
                        <a:rPr lang="nl-NL" altLang="zh-CN" sz="1400" b="0" i="1"/>
                        <m:t> </m:t>
                      </m:r>
                      <m:r>
                        <a:rPr lang="zh-CN" altLang="nl-NL" sz="1400" b="0" i="1">
                          <a:latin typeface="Cambria Math" panose="02040503050406030204" pitchFamily="18" charset="0"/>
                        </a:rPr>
                        <m:t>𝐸</m:t>
                      </m:r>
                      <m:r>
                        <a:rPr lang="nl-NL" altLang="zh-CN" sz="1400">
                          <a:latin typeface="Cambria Math" panose="02040503050406030204" pitchFamily="18" charset="0"/>
                        </a:rPr>
                        <m:t>=</m:t>
                      </m:r>
                      <m:d>
                        <m:dPr>
                          <m:ctrlPr>
                            <a:rPr lang="ar-AE" altLang="zh-CN" sz="1400" i="1">
                              <a:latin typeface="Cambria Math" panose="02040503050406030204" pitchFamily="18" charset="0"/>
                            </a:rPr>
                          </m:ctrlPr>
                        </m:dPr>
                        <m:e>
                          <m:r>
                            <a:rPr lang="ar-AE" altLang="zh-CN" sz="1400">
                              <a:latin typeface="Cambria Math" panose="02040503050406030204" pitchFamily="18" charset="0"/>
                            </a:rPr>
                            <m:t>2</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e>
                      </m:d>
                      <m:r>
                        <a:rPr lang="ar-AE" altLang="zh-CN" sz="1400">
                          <a:latin typeface="Cambria Math" panose="02040503050406030204" pitchFamily="18" charset="0"/>
                        </a:rPr>
                        <m:t>−</m:t>
                      </m:r>
                      <m:d>
                        <m:dPr>
                          <m:ctrlPr>
                            <a:rPr lang="ar-AE" altLang="zh-CN" sz="1400" i="1">
                              <a:latin typeface="Cambria Math" panose="02040503050406030204" pitchFamily="18" charset="0"/>
                            </a:rPr>
                          </m:ctrlPr>
                        </m:dPr>
                        <m:e>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2</m:t>
                          </m:r>
                        </m:e>
                      </m:d>
                      <m:r>
                        <a:rPr lang="ar-AE" altLang="zh-CN" sz="1400">
                          <a:latin typeface="Cambria Math" panose="02040503050406030204" pitchFamily="18" charset="0"/>
                        </a:rPr>
                        <m:t>=</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oMath>
                  </m:oMathPara>
                </a14:m>
                <a:endParaRPr lang="ar-AE" altLang="zh-CN" sz="1400" b="0" dirty="0"/>
              </a:p>
              <a:p>
                <a:pPr lvl="1"/>
                <a:r>
                  <a:rPr lang="nl-NL" altLang="zh-CN" sz="1400" dirty="0"/>
                  <a:t>So the delays are:</a:t>
                </a:r>
              </a:p>
              <a:p>
                <a:pPr lvl="1"/>
                <a14:m>
                  <m:oMath xmlns:m="http://schemas.openxmlformats.org/officeDocument/2006/math">
                    <m:r>
                      <a:rPr lang="nl-NL" altLang="zh-CN" sz="1400">
                        <a:latin typeface="Cambria Math" panose="02040503050406030204" pitchFamily="18" charset="0"/>
                      </a:rPr>
                      <m:t>0</m:t>
                    </m:r>
                    <m:r>
                      <a:rPr lang="nl-NL" altLang="zh-CN" sz="1400">
                        <a:latin typeface="Cambria Math" panose="02040503050406030204" pitchFamily="18" charset="0"/>
                      </a:rPr>
                      <m:t>,</m:t>
                    </m:r>
                    <m:r>
                      <a:rPr lang="nl-NL" altLang="zh-CN" sz="1400">
                        <a:latin typeface="Cambria Math" panose="02040503050406030204" pitchFamily="18" charset="0"/>
                      </a:rPr>
                      <m:t>1</m:t>
                    </m:r>
                    <m:r>
                      <a:rPr lang="nl-NL" altLang="zh-CN" sz="1400">
                        <a:latin typeface="Cambria Math" panose="02040503050406030204" pitchFamily="18" charset="0"/>
                      </a:rPr>
                      <m:t>,</m:t>
                    </m:r>
                    <m:r>
                      <a:rPr lang="nl-NL" altLang="zh-CN" sz="1400">
                        <a:latin typeface="Cambria Math" panose="02040503050406030204" pitchFamily="18" charset="0"/>
                      </a:rPr>
                      <m:t>2</m:t>
                    </m:r>
                    <m:r>
                      <a:rPr lang="nl-NL" altLang="zh-CN" sz="1400">
                        <a:latin typeface="Cambria Math" panose="02040503050406030204" pitchFamily="18" charset="0"/>
                      </a:rPr>
                      <m:t>,</m:t>
                    </m:r>
                    <m:r>
                      <a:rPr lang="nl-NL" altLang="zh-CN" sz="1400">
                        <a:latin typeface="Cambria Math" panose="02040503050406030204" pitchFamily="18" charset="0"/>
                      </a:rPr>
                      <m:t>3</m:t>
                    </m:r>
                    <m:r>
                      <a:rPr lang="nl-NL" altLang="zh-CN" sz="1400">
                        <a:latin typeface="Cambria Math" panose="02040503050406030204" pitchFamily="18" charset="0"/>
                      </a:rPr>
                      <m:t>,…,</m:t>
                    </m:r>
                    <m:r>
                      <a:rPr lang="nl-NL" altLang="zh-CN" sz="1400">
                        <a:latin typeface="Cambria Math" panose="02040503050406030204" pitchFamily="18" charset="0"/>
                      </a:rPr>
                      <m:t>9</m:t>
                    </m:r>
                  </m:oMath>
                </a14:m>
                <a:r>
                  <a:rPr lang="nl-NL" altLang="zh-CN" sz="1400" dirty="0"/>
                  <a:t>, for payloads </a:t>
                </a:r>
                <a14:m>
                  <m:oMath xmlns:m="http://schemas.openxmlformats.org/officeDocument/2006/math">
                    <m:r>
                      <a:rPr lang="nl-NL" altLang="zh-CN" sz="1400">
                        <a:latin typeface="Cambria Math" panose="02040503050406030204" pitchFamily="18" charset="0"/>
                      </a:rPr>
                      <m:t>1</m:t>
                    </m:r>
                    <m:r>
                      <a:rPr lang="en-US" altLang="zh-CN" sz="1400" b="0" i="0" smtClean="0">
                        <a:latin typeface="Cambria Math" panose="02040503050406030204" pitchFamily="18" charset="0"/>
                      </a:rPr>
                      <m:t> </m:t>
                    </m:r>
                  </m:oMath>
                </a14:m>
                <a:r>
                  <a:rPr lang="nl-NL" altLang="zh-CN" sz="1400" dirty="0"/>
                  <a:t>through </a:t>
                </a:r>
                <a14:m>
                  <m:oMath xmlns:m="http://schemas.openxmlformats.org/officeDocument/2006/math">
                    <m:r>
                      <a:rPr lang="nl-NL" altLang="zh-CN" sz="1400">
                        <a:latin typeface="Cambria Math" panose="02040503050406030204" pitchFamily="18" charset="0"/>
                      </a:rPr>
                      <m:t>10</m:t>
                    </m:r>
                  </m:oMath>
                </a14:m>
                <a:r>
                  <a:rPr lang="nl-NL" altLang="zh-CN" sz="1400" dirty="0"/>
                  <a:t>.</a:t>
                </a:r>
              </a:p>
              <a:p>
                <a:r>
                  <a:rPr lang="nl-NL" altLang="zh-CN" sz="1400" dirty="0"/>
                  <a:t>Packets arrive at </a:t>
                </a:r>
                <a14:m>
                  <m:oMath xmlns:m="http://schemas.openxmlformats.org/officeDocument/2006/math">
                    <m:r>
                      <a:rPr lang="zh-CN" altLang="nl-NL" sz="1400" i="1">
                        <a:latin typeface="Cambria Math" panose="02040503050406030204" pitchFamily="18" charset="0"/>
                      </a:rPr>
                      <m:t>𝐸</m:t>
                    </m:r>
                  </m:oMath>
                </a14:m>
                <a:r>
                  <a:rPr lang="nl-NL" altLang="zh-CN" sz="1400" dirty="0"/>
                  <a:t> every 1 second, but </a:t>
                </a:r>
                <a14:m>
                  <m:oMath xmlns:m="http://schemas.openxmlformats.org/officeDocument/2006/math">
                    <m:r>
                      <a:rPr lang="zh-CN" altLang="nl-NL" sz="1400" i="1">
                        <a:latin typeface="Cambria Math" panose="02040503050406030204" pitchFamily="18" charset="0"/>
                      </a:rPr>
                      <m:t>𝐸</m:t>
                    </m:r>
                  </m:oMath>
                </a14:m>
                <a:r>
                  <a:rPr lang="nl-NL" altLang="zh-CN" sz="1400" dirty="0"/>
                  <a:t> can only start sending one every 2 seconds, so the backlog grows by 1 second per packet.</a:t>
                </a:r>
                <a:endParaRPr lang="zh-CN" altLang="en-US" sz="1400" dirty="0"/>
              </a:p>
            </p:txBody>
          </p:sp>
        </mc:Choice>
        <mc:Fallback xmlns="">
          <p:sp>
            <p:nvSpPr>
              <p:cNvPr id="10" name="TextBox 9">
                <a:extLst>
                  <a:ext uri="{FF2B5EF4-FFF2-40B4-BE49-F238E27FC236}">
                    <a16:creationId xmlns:a16="http://schemas.microsoft.com/office/drawing/2014/main" id="{C6286E33-128B-DB63-9962-A1077AF368D7}"/>
                  </a:ext>
                </a:extLst>
              </p:cNvPr>
              <p:cNvSpPr txBox="1">
                <a:spLocks noRot="1" noChangeAspect="1" noMove="1" noResize="1" noEditPoints="1" noAdjustHandles="1" noChangeArrowheads="1" noChangeShapeType="1" noTextEdit="1"/>
              </p:cNvSpPr>
              <p:nvPr/>
            </p:nvSpPr>
            <p:spPr>
              <a:xfrm>
                <a:off x="7513202" y="308838"/>
                <a:ext cx="4614443" cy="1624501"/>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1524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27B0-2D9B-4671-75C4-62CB42000023}"/>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022CDB5-0DC1-2A82-F21C-CBABAAA787E0}"/>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852433A0-E01D-0482-6B3B-9C08BD51DDB9}"/>
              </a:ext>
            </a:extLst>
          </p:cNvPr>
          <p:cNvSpPr>
            <a:spLocks noGrp="1"/>
          </p:cNvSpPr>
          <p:nvPr>
            <p:ph sz="quarter" idx="1"/>
          </p:nvPr>
        </p:nvSpPr>
        <p:spPr>
          <a:xfrm>
            <a:off x="609600" y="1219200"/>
            <a:ext cx="6934200" cy="4937760"/>
          </a:xfrm>
        </p:spPr>
        <p:txBody>
          <a:bodyPr>
            <a:normAutofit/>
          </a:bodyPr>
          <a:lstStyle/>
          <a:p>
            <a:r>
              <a:rPr lang="en-US" altLang="zh-CN" dirty="0"/>
              <a:t>Q6 ANS:  When the first bit of a payload is sent out from </a:t>
            </a:r>
            <a:r>
              <a:rPr lang="zh-CN" altLang="en-US" dirty="0"/>
              <a:t>𝐸</a:t>
            </a:r>
            <a:r>
              <a:rPr lang="en-US" altLang="zh-CN" dirty="0"/>
              <a:t>, the last bit gets sent out 2 seconds later.  This is because Link 2 has bandwidth 10 Gbps, and the payload is 20 </a:t>
            </a:r>
            <a:r>
              <a:rPr lang="en-US" altLang="zh-CN" dirty="0" err="1"/>
              <a:t>Gbits</a:t>
            </a:r>
            <a:r>
              <a:rPr lang="en-US" altLang="zh-CN" dirty="0"/>
              <a:t>.</a:t>
            </a:r>
          </a:p>
          <a:p>
            <a:r>
              <a:rPr lang="en-US" altLang="zh-CN" dirty="0"/>
              <a:t>The last bit then takes another 10 seconds to arrive at </a:t>
            </a:r>
            <a:r>
              <a:rPr lang="zh-CN" altLang="en-US" dirty="0"/>
              <a:t>𝑇 </a:t>
            </a:r>
            <a:r>
              <a:rPr lang="en-US" altLang="zh-CN" dirty="0"/>
              <a:t>. This is the propagation delay of Link 2.</a:t>
            </a:r>
          </a:p>
          <a:p>
            <a:r>
              <a:rPr lang="en-US" altLang="zh-CN" dirty="0"/>
              <a:t>Thus, the time the last bit of a payload arrives at </a:t>
            </a:r>
            <a:r>
              <a:rPr lang="zh-CN" altLang="en-US" dirty="0"/>
              <a:t>𝑇 </a:t>
            </a:r>
            <a:r>
              <a:rPr lang="en-US" altLang="zh-CN" dirty="0"/>
              <a:t>is </a:t>
            </a:r>
            <a:r>
              <a:rPr lang="en-US" altLang="zh-CN" dirty="0">
                <a:solidFill>
                  <a:srgbClr val="C00000"/>
                </a:solidFill>
              </a:rPr>
              <a:t>12 seconds after the time the first bit is sent out of </a:t>
            </a:r>
            <a:r>
              <a:rPr lang="zh-CN" altLang="en-US" dirty="0">
                <a:solidFill>
                  <a:srgbClr val="C00000"/>
                </a:solidFill>
              </a:rPr>
              <a:t>𝐸</a:t>
            </a:r>
            <a:r>
              <a:rPr lang="en-US" altLang="zh-CN" dirty="0"/>
              <a:t>. </a:t>
            </a:r>
            <a:br>
              <a:rPr lang="en-US" altLang="zh-CN" dirty="0"/>
            </a:br>
            <a:endParaRPr lang="zh-CN" altLang="en-US" dirty="0"/>
          </a:p>
        </p:txBody>
      </p:sp>
      <p:pic>
        <p:nvPicPr>
          <p:cNvPr id="6" name="Picture 5" descr="The provided text appears to be a schedule or timetable indicating the time of arrival and sending times for payloads, with each payload numbered sequentially and the corresponding time listed in a tabular format.&#10;&#10;AI-generated content may be incorrect.">
            <a:extLst>
              <a:ext uri="{FF2B5EF4-FFF2-40B4-BE49-F238E27FC236}">
                <a16:creationId xmlns:a16="http://schemas.microsoft.com/office/drawing/2014/main" id="{7B398CF2-B5DB-2E8E-CE6C-43D32F86506A}"/>
              </a:ext>
            </a:extLst>
          </p:cNvPr>
          <p:cNvPicPr>
            <a:picLocks noChangeAspect="1"/>
          </p:cNvPicPr>
          <p:nvPr/>
        </p:nvPicPr>
        <p:blipFill>
          <a:blip r:embed="rId2"/>
          <a:stretch>
            <a:fillRect/>
          </a:stretch>
        </p:blipFill>
        <p:spPr>
          <a:xfrm>
            <a:off x="7620000" y="2133600"/>
            <a:ext cx="4315427" cy="3343742"/>
          </a:xfrm>
          <a:prstGeom prst="rect">
            <a:avLst/>
          </a:prstGeom>
        </p:spPr>
      </p:pic>
      <p:pic>
        <p:nvPicPr>
          <p:cNvPr id="7" name="Picture 6">
            <a:extLst>
              <a:ext uri="{FF2B5EF4-FFF2-40B4-BE49-F238E27FC236}">
                <a16:creationId xmlns:a16="http://schemas.microsoft.com/office/drawing/2014/main" id="{85438842-C3AF-4806-EDBA-438645A59F1F}"/>
              </a:ext>
            </a:extLst>
          </p:cNvPr>
          <p:cNvPicPr>
            <a:picLocks noChangeAspect="1"/>
          </p:cNvPicPr>
          <p:nvPr/>
        </p:nvPicPr>
        <p:blipFill>
          <a:blip r:embed="rId3"/>
          <a:stretch>
            <a:fillRect/>
          </a:stretch>
        </p:blipFill>
        <p:spPr>
          <a:xfrm>
            <a:off x="5430635" y="5798056"/>
            <a:ext cx="6697010" cy="924054"/>
          </a:xfrm>
          <a:prstGeom prst="rect">
            <a:avLst/>
          </a:prstGeom>
        </p:spPr>
      </p:pic>
    </p:spTree>
    <p:extLst>
      <p:ext uri="{BB962C8B-B14F-4D97-AF65-F5344CB8AC3E}">
        <p14:creationId xmlns:p14="http://schemas.microsoft.com/office/powerpoint/2010/main" val="16509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F35F6-2F09-B518-7E8D-CD64C6A37170}"/>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9431E2AF-89F9-A04A-85A4-EB194565F2F9}"/>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835E8B7E-477A-63DB-A385-4BE308270C6C}"/>
              </a:ext>
            </a:extLst>
          </p:cNvPr>
          <p:cNvSpPr>
            <a:spLocks noGrp="1"/>
          </p:cNvSpPr>
          <p:nvPr>
            <p:ph sz="quarter" idx="1"/>
          </p:nvPr>
        </p:nvSpPr>
        <p:spPr>
          <a:xfrm>
            <a:off x="609600" y="1219200"/>
            <a:ext cx="7391400" cy="4937760"/>
          </a:xfrm>
        </p:spPr>
        <p:txBody>
          <a:bodyPr>
            <a:normAutofit fontScale="92500" lnSpcReduction="1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Q7 Link 2 has a constant bandwidth of 15 Gbps.  How does the queue size grow with time?</a:t>
            </a:r>
          </a:p>
          <a:p>
            <a:r>
              <a:rPr lang="en-US" altLang="zh-CN" dirty="0"/>
              <a:t>ANS:  The first bit is sent at </a:t>
            </a:r>
            <a:r>
              <a:rPr lang="zh-CN" altLang="en-US" dirty="0"/>
              <a:t>𝑡 </a:t>
            </a:r>
            <a:r>
              <a:rPr lang="en-US" altLang="zh-CN" dirty="0"/>
              <a:t>= 0, and arrives at </a:t>
            </a:r>
            <a:r>
              <a:rPr lang="zh-CN" altLang="en-US" dirty="0"/>
              <a:t>𝐸 </a:t>
            </a:r>
            <a:r>
              <a:rPr lang="en-US" altLang="zh-CN" dirty="0"/>
              <a:t>at </a:t>
            </a:r>
            <a:r>
              <a:rPr lang="zh-CN" altLang="en-US" dirty="0"/>
              <a:t>𝑡 </a:t>
            </a:r>
            <a:r>
              <a:rPr lang="en-US" altLang="zh-CN" dirty="0"/>
              <a:t>= 2,  after 2-second propagation delay of Link 1.  This means that 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Starting at </a:t>
            </a:r>
            <a:r>
              <a:rPr lang="zh-CN" altLang="en-US" dirty="0"/>
              <a:t>𝑡 </a:t>
            </a:r>
            <a:r>
              <a:rPr lang="en-US" altLang="zh-CN" dirty="0"/>
              <a:t>= 2, a steady stream of 20 Gbps is arriving at </a:t>
            </a:r>
            <a:r>
              <a:rPr lang="zh-CN" altLang="en-US" dirty="0"/>
              <a:t>𝐸</a:t>
            </a:r>
            <a:r>
              <a:rPr lang="en-US" altLang="zh-CN" dirty="0"/>
              <a:t>, and a steady stream of 15 Gbps is leaving </a:t>
            </a:r>
            <a:r>
              <a:rPr lang="zh-CN" altLang="en-US" dirty="0"/>
              <a:t>𝐸</a:t>
            </a:r>
            <a:r>
              <a:rPr lang="en-US" altLang="zh-CN" dirty="0"/>
              <a:t>.  This means that every second, 20 </a:t>
            </a:r>
            <a:r>
              <a:rPr lang="en-US" altLang="zh-CN" dirty="0" err="1"/>
              <a:t>Gbits</a:t>
            </a:r>
            <a:r>
              <a:rPr lang="en-US" altLang="zh-CN" dirty="0"/>
              <a:t> enter and 15 </a:t>
            </a:r>
            <a:r>
              <a:rPr lang="en-US" altLang="zh-CN" dirty="0" err="1"/>
              <a:t>Gbits</a:t>
            </a:r>
            <a:r>
              <a:rPr lang="en-US" altLang="zh-CN" dirty="0"/>
              <a:t> leave. This leaves 20 − 15 = 5 </a:t>
            </a:r>
            <a:r>
              <a:rPr lang="en-US" altLang="zh-CN" dirty="0" err="1"/>
              <a:t>Gbits</a:t>
            </a:r>
            <a:r>
              <a:rPr lang="en-US" altLang="zh-CN" dirty="0"/>
              <a:t>, which get added to the queue in every second.</a:t>
            </a:r>
            <a:endParaRPr lang="zh-CN" altLang="en-US"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B429C39B-9AB3-DCDD-2A99-2BE39FE64E66}"/>
              </a:ext>
            </a:extLst>
          </p:cNvPr>
          <p:cNvPicPr>
            <a:picLocks noChangeAspect="1"/>
          </p:cNvPicPr>
          <p:nvPr/>
        </p:nvPicPr>
        <p:blipFill>
          <a:blip r:embed="rId2"/>
          <a:stretch>
            <a:fillRect/>
          </a:stretch>
        </p:blipFill>
        <p:spPr>
          <a:xfrm>
            <a:off x="4914469" y="5748055"/>
            <a:ext cx="6944694" cy="943107"/>
          </a:xfrm>
          <a:prstGeom prst="rect">
            <a:avLst/>
          </a:prstGeom>
        </p:spPr>
      </p:pic>
      <p:pic>
        <p:nvPicPr>
          <p:cNvPr id="8" name="Picture 7" descr="The image is a graph showing a queue size (in gigabits) plotted against time (in seconds), with values at intervals of 10 seconds.&#10;&#10;AI-generated content may be incorrect.">
            <a:extLst>
              <a:ext uri="{FF2B5EF4-FFF2-40B4-BE49-F238E27FC236}">
                <a16:creationId xmlns:a16="http://schemas.microsoft.com/office/drawing/2014/main" id="{20D52324-FC7E-747F-EAA7-9D705E42C117}"/>
              </a:ext>
            </a:extLst>
          </p:cNvPr>
          <p:cNvPicPr>
            <a:picLocks noChangeAspect="1"/>
          </p:cNvPicPr>
          <p:nvPr/>
        </p:nvPicPr>
        <p:blipFill>
          <a:blip r:embed="rId3"/>
          <a:stretch>
            <a:fillRect/>
          </a:stretch>
        </p:blipFill>
        <p:spPr>
          <a:xfrm>
            <a:off x="8001000" y="2161505"/>
            <a:ext cx="3858163" cy="3134162"/>
          </a:xfrm>
          <a:prstGeom prst="rect">
            <a:avLst/>
          </a:prstGeom>
        </p:spPr>
      </p:pic>
    </p:spTree>
    <p:extLst>
      <p:ext uri="{BB962C8B-B14F-4D97-AF65-F5344CB8AC3E}">
        <p14:creationId xmlns:p14="http://schemas.microsoft.com/office/powerpoint/2010/main" val="4234736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4B1-43BD-800B-2E5E-290DCC0A0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1BF2A-CB61-36DB-2B4E-C2379E77684F}"/>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35D0E6F-37FB-0ADE-488F-ECF5444640A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605155A4-DC05-9C01-C94F-BB734C35CCD1}"/>
              </a:ext>
            </a:extLst>
          </p:cNvPr>
          <p:cNvSpPr>
            <a:spLocks noGrp="1"/>
          </p:cNvSpPr>
          <p:nvPr>
            <p:ph sz="quarter" idx="1"/>
          </p:nvPr>
        </p:nvSpPr>
        <p:spPr>
          <a:xfrm>
            <a:off x="609600" y="1219200"/>
            <a:ext cx="7391400" cy="4876800"/>
          </a:xfrm>
        </p:spPr>
        <p:txBody>
          <a:bodyPr>
            <a:normAutofit fontScale="700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Q8 Bandwidth of Link 2 alternates forever between 60 and 0 Gbps, changing every 2 seconds: From </a:t>
            </a:r>
            <a:r>
              <a:rPr lang="zh-CN" altLang="en-US" dirty="0"/>
              <a:t>𝑡 </a:t>
            </a:r>
            <a:r>
              <a:rPr lang="en-US" altLang="zh-CN" dirty="0"/>
              <a:t>= 0 to </a:t>
            </a:r>
            <a:r>
              <a:rPr lang="zh-CN" altLang="en-US" dirty="0"/>
              <a:t>𝑡 </a:t>
            </a:r>
            <a:r>
              <a:rPr lang="en-US" altLang="zh-CN" dirty="0"/>
              <a:t>= 2, the bandwidth is 60 Gbps. From </a:t>
            </a:r>
            <a:r>
              <a:rPr lang="zh-CN" altLang="en-US" dirty="0"/>
              <a:t>𝑡 </a:t>
            </a:r>
            <a:r>
              <a:rPr lang="en-US" altLang="zh-CN" dirty="0"/>
              <a:t>= 2 to </a:t>
            </a:r>
            <a:r>
              <a:rPr lang="zh-CN" altLang="en-US" dirty="0"/>
              <a:t>𝑡 </a:t>
            </a:r>
            <a:r>
              <a:rPr lang="en-US" altLang="zh-CN" dirty="0"/>
              <a:t>= 4, the bandwidth is 0 Gbps, and so on.</a:t>
            </a:r>
          </a:p>
          <a:p>
            <a:r>
              <a:rPr lang="en-US" altLang="zh-CN" dirty="0"/>
              <a:t>How does the queue size grow with time?</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From </a:t>
            </a:r>
            <a:r>
              <a:rPr lang="zh-CN" altLang="en-US" dirty="0"/>
              <a:t>𝑡 </a:t>
            </a:r>
            <a:r>
              <a:rPr lang="en-US" altLang="zh-CN" dirty="0"/>
              <a:t>= 2 to </a:t>
            </a:r>
            <a:r>
              <a:rPr lang="zh-CN" altLang="en-US" dirty="0"/>
              <a:t>𝑡 </a:t>
            </a:r>
            <a:r>
              <a:rPr lang="en-US" altLang="zh-CN" dirty="0"/>
              <a:t>= 4, a steady stream of 20 Gbps is arriving at </a:t>
            </a:r>
            <a:r>
              <a:rPr lang="zh-CN" altLang="en-US" dirty="0"/>
              <a:t>𝐸</a:t>
            </a:r>
            <a:r>
              <a:rPr lang="en-US" altLang="zh-CN" dirty="0"/>
              <a:t>, and 0 Gbps is leaving </a:t>
            </a:r>
            <a:r>
              <a:rPr lang="zh-CN" altLang="en-US" dirty="0"/>
              <a:t>𝐸</a:t>
            </a:r>
            <a:r>
              <a:rPr lang="en-US" altLang="zh-CN" dirty="0"/>
              <a:t>. queue change rate = 20 – 0 = 20. This means that every second, 20 </a:t>
            </a:r>
            <a:r>
              <a:rPr lang="en-US" altLang="zh-CN" dirty="0" err="1"/>
              <a:t>Gbits</a:t>
            </a:r>
            <a:r>
              <a:rPr lang="en-US" altLang="zh-CN" dirty="0"/>
              <a:t> get added to the queue.</a:t>
            </a:r>
            <a:endParaRPr lang="zh-CN" altLang="en-US" dirty="0"/>
          </a:p>
          <a:p>
            <a:r>
              <a:rPr lang="en-US" altLang="zh-CN" dirty="0"/>
              <a:t>From </a:t>
            </a:r>
            <a:r>
              <a:rPr lang="zh-CN" altLang="en-US" dirty="0"/>
              <a:t>𝑡 </a:t>
            </a:r>
            <a:r>
              <a:rPr lang="en-US" altLang="zh-CN" dirty="0"/>
              <a:t>= 4 to </a:t>
            </a:r>
            <a:r>
              <a:rPr lang="zh-CN" altLang="en-US" dirty="0"/>
              <a:t>𝑡 </a:t>
            </a:r>
            <a:r>
              <a:rPr lang="en-US" altLang="zh-CN" dirty="0"/>
              <a:t>= 6, a steady stream of 20 Gbps is arriving at </a:t>
            </a:r>
            <a:r>
              <a:rPr lang="zh-CN" altLang="en-US" dirty="0"/>
              <a:t>𝐸</a:t>
            </a:r>
            <a:r>
              <a:rPr lang="en-US" altLang="zh-CN" dirty="0"/>
              <a:t>, and 60 Gbps is leaving </a:t>
            </a:r>
            <a:r>
              <a:rPr lang="zh-CN" altLang="en-US" dirty="0"/>
              <a:t>𝐸</a:t>
            </a:r>
            <a:r>
              <a:rPr lang="en-US" altLang="zh-CN" dirty="0"/>
              <a:t>. queue change rate = 20 – 60 = -40. This means that every second, 40 </a:t>
            </a:r>
            <a:r>
              <a:rPr lang="en-US" altLang="zh-CN" dirty="0" err="1"/>
              <a:t>Gbits</a:t>
            </a:r>
            <a:r>
              <a:rPr lang="en-US" altLang="zh-CN" dirty="0"/>
              <a:t> get removed from the queue.</a:t>
            </a:r>
            <a:endParaRPr lang="zh-CN" altLang="en-US" dirty="0"/>
          </a:p>
          <a:p>
            <a:endParaRPr lang="zh-CN" altLang="en-US" dirty="0"/>
          </a:p>
          <a:p>
            <a:endParaRPr lang="en-US" altLang="zh-CN"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56160479-D6CD-E9AB-8919-31903487FD37}"/>
              </a:ext>
            </a:extLst>
          </p:cNvPr>
          <p:cNvPicPr>
            <a:picLocks noChangeAspect="1"/>
          </p:cNvPicPr>
          <p:nvPr/>
        </p:nvPicPr>
        <p:blipFill>
          <a:blip r:embed="rId2"/>
          <a:stretch>
            <a:fillRect/>
          </a:stretch>
        </p:blipFill>
        <p:spPr>
          <a:xfrm>
            <a:off x="4951366" y="5884796"/>
            <a:ext cx="6944694" cy="943107"/>
          </a:xfrm>
          <a:prstGeom prst="rect">
            <a:avLst/>
          </a:prstGeom>
        </p:spPr>
      </p:pic>
      <p:pic>
        <p:nvPicPr>
          <p:cNvPr id="8" name="Picture 7">
            <a:extLst>
              <a:ext uri="{FF2B5EF4-FFF2-40B4-BE49-F238E27FC236}">
                <a16:creationId xmlns:a16="http://schemas.microsoft.com/office/drawing/2014/main" id="{E3CC8FC6-121A-085E-B301-4BAC70A2F5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010625" y="2133439"/>
            <a:ext cx="3858163" cy="3109281"/>
          </a:xfrm>
          <a:prstGeom prst="rect">
            <a:avLst/>
          </a:prstGeom>
        </p:spPr>
      </p:pic>
    </p:spTree>
    <p:extLst>
      <p:ext uri="{BB962C8B-B14F-4D97-AF65-F5344CB8AC3E}">
        <p14:creationId xmlns:p14="http://schemas.microsoft.com/office/powerpoint/2010/main" val="3698580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11D0-0CE0-1570-71B3-F4818613B5EC}"/>
            </a:ext>
          </a:extLst>
        </p:cNvPr>
        <p:cNvGrpSpPr/>
        <p:nvPr/>
      </p:nvGrpSpPr>
      <p:grpSpPr>
        <a:xfrm>
          <a:off x="0" y="0"/>
          <a:ext cx="0" cy="0"/>
          <a:chOff x="0" y="0"/>
          <a:chExt cx="0" cy="0"/>
        </a:xfrm>
      </p:grpSpPr>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ACFC414A-165B-0052-67E3-9ADB6A6C1AD5}"/>
              </a:ext>
            </a:extLst>
          </p:cNvPr>
          <p:cNvPicPr>
            <a:picLocks noChangeAspect="1"/>
          </p:cNvPicPr>
          <p:nvPr/>
        </p:nvPicPr>
        <p:blipFill>
          <a:blip r:embed="rId3"/>
          <a:stretch>
            <a:fillRect/>
          </a:stretch>
        </p:blipFill>
        <p:spPr>
          <a:xfrm>
            <a:off x="4951366" y="5686293"/>
            <a:ext cx="6944694" cy="943107"/>
          </a:xfrm>
          <a:prstGeom prst="rect">
            <a:avLst/>
          </a:prstGeom>
        </p:spPr>
      </p:pic>
      <p:pic>
        <p:nvPicPr>
          <p:cNvPr id="5" name="Picture 4">
            <a:extLst>
              <a:ext uri="{FF2B5EF4-FFF2-40B4-BE49-F238E27FC236}">
                <a16:creationId xmlns:a16="http://schemas.microsoft.com/office/drawing/2014/main" id="{6793AC55-20A3-236A-4447-9C12D247416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08239" y="1630298"/>
            <a:ext cx="5384739" cy="1979574"/>
          </a:xfrm>
          <a:prstGeom prst="rect">
            <a:avLst/>
          </a:prstGeom>
        </p:spPr>
      </p:pic>
      <p:sp>
        <p:nvSpPr>
          <p:cNvPr id="2" name="Title 1">
            <a:extLst>
              <a:ext uri="{FF2B5EF4-FFF2-40B4-BE49-F238E27FC236}">
                <a16:creationId xmlns:a16="http://schemas.microsoft.com/office/drawing/2014/main" id="{EE481A31-2568-7387-D8A7-2AD31D393FCD}"/>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7808DD4A-6750-7C92-CA58-AE5F0341C43B}"/>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5C7864E7-E858-39D6-648E-1BD80922A9C9}"/>
              </a:ext>
            </a:extLst>
          </p:cNvPr>
          <p:cNvSpPr>
            <a:spLocks noGrp="1"/>
          </p:cNvSpPr>
          <p:nvPr>
            <p:ph sz="quarter" idx="1"/>
          </p:nvPr>
        </p:nvSpPr>
        <p:spPr>
          <a:xfrm>
            <a:off x="609600" y="1219200"/>
            <a:ext cx="5998639" cy="5257800"/>
          </a:xfrm>
        </p:spPr>
        <p:txBody>
          <a:bodyPr>
            <a:normAutofit fontScale="625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Q9 Bandwidth of Link 2 now changes in an unknown pattern. Use the graph to determine the bandwidth of Link 2 at the following times.</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At t=5, the queue has change rate of 0 Gbps, Link 2 bandwidth = Link 1 bandwidth  - queue change rate = 20 – 0 = 20 Gbps.  But the queue is empty, so any departure rate larger than or equal to 20 Gbps is OK.</a:t>
            </a:r>
          </a:p>
          <a:p>
            <a:r>
              <a:rPr lang="en-US" altLang="zh-CN" dirty="0"/>
              <a:t>At t=7, the queue is increasing with a rate of 30 Gbit/2s, with </a:t>
            </a:r>
            <a:r>
              <a:rPr lang="nl-NL" altLang="zh-CN" dirty="0"/>
              <a:t>queue slope = 15 Gbps</a:t>
            </a:r>
            <a:r>
              <a:rPr lang="en-US" altLang="zh-CN" dirty="0"/>
              <a:t>, Link 2 bandwidth = Link 1 bandwidth  - queue change rate = 20 – 15 = 5 Gbps. </a:t>
            </a:r>
          </a:p>
          <a:p>
            <a:r>
              <a:rPr lang="en-US" altLang="zh-CN" dirty="0"/>
              <a:t>At t=9, the queue is draining at a rate of 15 Gbps, so Link 2 bandwidth = Link 1 bandwidth  - queue change rate = 20 – (-15) = 35 Gbps. </a:t>
            </a:r>
            <a:br>
              <a:rPr lang="en-US" altLang="zh-CN" dirty="0"/>
            </a:br>
            <a:endParaRPr lang="en-US" altLang="zh-CN" dirty="0"/>
          </a:p>
        </p:txBody>
      </p:sp>
      <p:pic>
        <p:nvPicPr>
          <p:cNvPr id="9" name="Picture 8" descr="The diagram displays a table with time intervals (5, 7, 9 seconds) and corresponding bandwidth measurements (20 Mbps, 5.5 Mbps, 35 Mbps) for Link 2.&#10;&#10;AI-generated content may be incorrect.">
            <a:extLst>
              <a:ext uri="{FF2B5EF4-FFF2-40B4-BE49-F238E27FC236}">
                <a16:creationId xmlns:a16="http://schemas.microsoft.com/office/drawing/2014/main" id="{5211D75A-0033-09E7-1ABA-4A88866B3726}"/>
              </a:ext>
            </a:extLst>
          </p:cNvPr>
          <p:cNvPicPr>
            <a:picLocks noChangeAspect="1"/>
          </p:cNvPicPr>
          <p:nvPr/>
        </p:nvPicPr>
        <p:blipFill>
          <a:blip r:embed="rId5"/>
          <a:stretch>
            <a:fillRect/>
          </a:stretch>
        </p:blipFill>
        <p:spPr>
          <a:xfrm>
            <a:off x="8514213" y="3761974"/>
            <a:ext cx="3381847" cy="1924319"/>
          </a:xfrm>
          <a:prstGeom prst="rect">
            <a:avLst/>
          </a:prstGeom>
        </p:spPr>
      </p:pic>
    </p:spTree>
    <p:extLst>
      <p:ext uri="{BB962C8B-B14F-4D97-AF65-F5344CB8AC3E}">
        <p14:creationId xmlns:p14="http://schemas.microsoft.com/office/powerpoint/2010/main" val="42203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30A78-69F5-844A-50B0-27A96C17C047}"/>
              </a:ext>
            </a:extLst>
          </p:cNvPr>
          <p:cNvSpPr>
            <a:spLocks noGrp="1"/>
          </p:cNvSpPr>
          <p:nvPr>
            <p:ph type="title"/>
          </p:nvPr>
        </p:nvSpPr>
        <p:spPr/>
        <p:txBody>
          <a:bodyPr>
            <a:normAutofit fontScale="90000"/>
          </a:bodyPr>
          <a:lstStyle/>
          <a:p>
            <a:r>
              <a:rPr lang="nl-NL" altLang="zh-CN" dirty="0"/>
              <a:t>Store-and-Forward vs. Bit-by-Bit Forwarding (Cut-through)</a:t>
            </a:r>
            <a:endParaRPr lang="zh-CN" altLang="en-US" dirty="0"/>
          </a:p>
        </p:txBody>
      </p:sp>
      <p:sp>
        <p:nvSpPr>
          <p:cNvPr id="3" name="Slide Number Placeholder 2">
            <a:extLst>
              <a:ext uri="{FF2B5EF4-FFF2-40B4-BE49-F238E27FC236}">
                <a16:creationId xmlns:a16="http://schemas.microsoft.com/office/drawing/2014/main" id="{5ACFF24A-8576-5D77-AA62-109FF3BE10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FB8F1A1E-0D8B-B069-05F9-F8C1CB012E1F}"/>
              </a:ext>
            </a:extLst>
          </p:cNvPr>
          <p:cNvSpPr>
            <a:spLocks noGrp="1"/>
          </p:cNvSpPr>
          <p:nvPr>
            <p:ph sz="quarter" idx="1"/>
          </p:nvPr>
        </p:nvSpPr>
        <p:spPr>
          <a:xfrm>
            <a:off x="609600" y="1219200"/>
            <a:ext cx="5715000" cy="4937760"/>
          </a:xfrm>
        </p:spPr>
        <p:txBody>
          <a:bodyPr>
            <a:normAutofit/>
          </a:bodyPr>
          <a:lstStyle/>
          <a:p>
            <a:r>
              <a:rPr lang="en-US" altLang="zh-CN" b="1" dirty="0"/>
              <a:t>Q1–5: Store-and-Forward</a:t>
            </a:r>
          </a:p>
          <a:p>
            <a:r>
              <a:rPr lang="en-US" altLang="zh-CN" dirty="0"/>
              <a:t>“E must receive all bits before sending”</a:t>
            </a:r>
          </a:p>
          <a:p>
            <a:r>
              <a:rPr lang="en-US" altLang="zh-CN" dirty="0"/>
              <a:t>E waits for the </a:t>
            </a:r>
            <a:r>
              <a:rPr lang="en-US" altLang="zh-CN" b="1" dirty="0"/>
              <a:t>entire payload</a:t>
            </a:r>
            <a:r>
              <a:rPr lang="en-US" altLang="zh-CN" dirty="0"/>
              <a:t> </a:t>
            </a:r>
          </a:p>
          <a:p>
            <a:r>
              <a:rPr lang="en-US" altLang="zh-CN" dirty="0"/>
              <a:t>Then starts transmitting </a:t>
            </a:r>
          </a:p>
          <a:p>
            <a:r>
              <a:rPr lang="en-US" altLang="zh-CN" dirty="0"/>
              <a:t>Packets move </a:t>
            </a:r>
            <a:r>
              <a:rPr lang="en-US" altLang="zh-CN" b="1" dirty="0"/>
              <a:t>as chunks</a:t>
            </a:r>
            <a:r>
              <a:rPr lang="en-US" altLang="zh-CN" dirty="0"/>
              <a:t> </a:t>
            </a:r>
          </a:p>
          <a:p>
            <a:r>
              <a:rPr lang="en-US" altLang="zh-CN" dirty="0"/>
              <a:t>Consequence:</a:t>
            </a:r>
          </a:p>
          <a:p>
            <a:pPr lvl="1"/>
            <a:r>
              <a:rPr lang="en-US" altLang="zh-CN" dirty="0"/>
              <a:t>You get </a:t>
            </a:r>
            <a:r>
              <a:rPr lang="en-US" altLang="zh-CN" b="1" dirty="0"/>
              <a:t>packet-level queueing</a:t>
            </a:r>
            <a:r>
              <a:rPr lang="en-US" altLang="zh-CN" dirty="0"/>
              <a:t> </a:t>
            </a:r>
          </a:p>
          <a:p>
            <a:pPr lvl="1"/>
            <a:r>
              <a:rPr lang="en-US" altLang="zh-CN" dirty="0"/>
              <a:t>Clear “arrival time” (last bit) </a:t>
            </a:r>
          </a:p>
          <a:p>
            <a:pPr lvl="1"/>
            <a:r>
              <a:rPr lang="en-US" altLang="zh-CN" dirty="0"/>
              <a:t>Clear “send start time”</a:t>
            </a:r>
            <a:endParaRPr lang="zh-CN" altLang="en-US" dirty="0"/>
          </a:p>
        </p:txBody>
      </p:sp>
      <p:sp>
        <p:nvSpPr>
          <p:cNvPr id="5" name="Content Placeholder 3">
            <a:extLst>
              <a:ext uri="{FF2B5EF4-FFF2-40B4-BE49-F238E27FC236}">
                <a16:creationId xmlns:a16="http://schemas.microsoft.com/office/drawing/2014/main" id="{FAB67699-18F4-B68E-EBC2-54C8E8528AD5}"/>
              </a:ext>
            </a:extLst>
          </p:cNvPr>
          <p:cNvSpPr txBox="1">
            <a:spLocks/>
          </p:cNvSpPr>
          <p:nvPr/>
        </p:nvSpPr>
        <p:spPr>
          <a:xfrm>
            <a:off x="6324600" y="1219200"/>
            <a:ext cx="5638800" cy="4937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b="1" dirty="0"/>
              <a:t>Q7–9: Bit-by-Bit Forwarding (Cut-through)</a:t>
            </a:r>
          </a:p>
          <a:p>
            <a:r>
              <a:rPr lang="en-US" altLang="zh-CN" dirty="0"/>
              <a:t>“each bit can be forwarded independently”</a:t>
            </a:r>
          </a:p>
          <a:p>
            <a:r>
              <a:rPr lang="en-US" altLang="zh-CN" dirty="0"/>
              <a:t>E can start sending </a:t>
            </a:r>
            <a:r>
              <a:rPr lang="en-US" altLang="zh-CN" b="1" dirty="0"/>
              <a:t>as soon as bits arrive</a:t>
            </a:r>
            <a:r>
              <a:rPr lang="en-US" altLang="zh-CN" dirty="0"/>
              <a:t> </a:t>
            </a:r>
          </a:p>
          <a:p>
            <a:r>
              <a:rPr lang="en-US" altLang="zh-CN" dirty="0"/>
              <a:t>No need to wait for full packet </a:t>
            </a:r>
          </a:p>
          <a:p>
            <a:r>
              <a:rPr lang="en-US" altLang="zh-CN" dirty="0"/>
              <a:t>Data flows like a </a:t>
            </a:r>
            <a:r>
              <a:rPr lang="en-US" altLang="zh-CN" b="1" dirty="0"/>
              <a:t>continuous stream</a:t>
            </a:r>
            <a:r>
              <a:rPr lang="en-US" altLang="zh-CN" dirty="0"/>
              <a:t> </a:t>
            </a:r>
          </a:p>
          <a:p>
            <a:r>
              <a:rPr lang="en-US" altLang="zh-CN" dirty="0"/>
              <a:t>Consequence:</a:t>
            </a:r>
          </a:p>
          <a:p>
            <a:pPr lvl="1"/>
            <a:r>
              <a:rPr lang="en-US" altLang="zh-CN" dirty="0"/>
              <a:t>No packet boundaries </a:t>
            </a:r>
          </a:p>
          <a:p>
            <a:pPr lvl="1"/>
            <a:r>
              <a:rPr lang="en-US" altLang="zh-CN" dirty="0"/>
              <a:t>Queue is measured in </a:t>
            </a:r>
            <a:r>
              <a:rPr lang="en-US" altLang="zh-CN" b="1" dirty="0"/>
              <a:t>bits (fluid model)</a:t>
            </a:r>
            <a:r>
              <a:rPr lang="en-US" altLang="zh-CN" dirty="0"/>
              <a:t> </a:t>
            </a:r>
          </a:p>
          <a:p>
            <a:pPr lvl="1"/>
            <a:r>
              <a:rPr lang="en-US" altLang="zh-CN" dirty="0"/>
              <a:t>Use </a:t>
            </a:r>
            <a:r>
              <a:rPr lang="en-US" altLang="zh-CN" b="1" dirty="0"/>
              <a:t>rates (Gbps)</a:t>
            </a:r>
            <a:r>
              <a:rPr lang="en-US" altLang="zh-CN" dirty="0"/>
              <a:t> instead of per-packet timing</a:t>
            </a:r>
          </a:p>
          <a:p>
            <a:endParaRPr lang="zh-CN" altLang="en-US" dirty="0"/>
          </a:p>
        </p:txBody>
      </p:sp>
    </p:spTree>
    <p:extLst>
      <p:ext uri="{BB962C8B-B14F-4D97-AF65-F5344CB8AC3E}">
        <p14:creationId xmlns:p14="http://schemas.microsoft.com/office/powerpoint/2010/main" val="1858741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10BF-FC1A-DBAE-9A35-1233B04B9C38}"/>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36FD5EF7-D16B-DC85-5A21-2856DABD442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DC01B710-3CC3-6734-51F3-765540047FD4}"/>
              </a:ext>
            </a:extLst>
          </p:cNvPr>
          <p:cNvSpPr>
            <a:spLocks noGrp="1"/>
          </p:cNvSpPr>
          <p:nvPr>
            <p:ph sz="quarter" idx="1"/>
          </p:nvPr>
        </p:nvSpPr>
        <p:spPr>
          <a:xfrm>
            <a:off x="609600" y="1219200"/>
            <a:ext cx="6858000" cy="4937760"/>
          </a:xfrm>
        </p:spPr>
        <p:txBody>
          <a:bodyPr>
            <a:normAutofit/>
          </a:bodyPr>
          <a:lstStyle/>
          <a:p>
            <a:r>
              <a:rPr lang="en-US" altLang="zh-CN" dirty="0"/>
              <a:t>Distance-Vector: Distance-vector routing is plagued by the “count-to-infinity" problem. Poisoned reverse is one approach to mitigating this problem. For the following graphs, consider the case where distance-vector routing has converged to a stable set of routes, and then </a:t>
            </a:r>
            <a:r>
              <a:rPr lang="en-US" altLang="zh-CN" dirty="0">
                <a:solidFill>
                  <a:srgbClr val="C00000"/>
                </a:solidFill>
              </a:rPr>
              <a:t>the destination (marked D) fails</a:t>
            </a:r>
            <a:r>
              <a:rPr lang="en-US" altLang="zh-CN" dirty="0"/>
              <a:t>, taking down all of the links attached to it.  Which of these graphs still have the count-to-infinity problem even when poisoned reverse is used? </a:t>
            </a:r>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49C5CA7D-9013-3F1B-0254-80DFDA424C6B}"/>
              </a:ext>
            </a:extLst>
          </p:cNvPr>
          <p:cNvPicPr>
            <a:picLocks noChangeAspect="1"/>
          </p:cNvPicPr>
          <p:nvPr/>
        </p:nvPicPr>
        <p:blipFill>
          <a:blip r:embed="rId2"/>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1322562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2107-8491-E5F6-D393-BBC8A393B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2F52-FC5D-3053-E9AD-CC3A66D7A531}"/>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E25312B6-4602-E504-6436-B650FDD9D23E}"/>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A1EB19EC-68F2-DBA3-7D35-D12F237A6C3E}"/>
              </a:ext>
            </a:extLst>
          </p:cNvPr>
          <p:cNvSpPr>
            <a:spLocks noGrp="1"/>
          </p:cNvSpPr>
          <p:nvPr>
            <p:ph sz="quarter" idx="1"/>
          </p:nvPr>
        </p:nvSpPr>
        <p:spPr>
          <a:xfrm>
            <a:off x="609600" y="1219200"/>
            <a:ext cx="6629400" cy="4937760"/>
          </a:xfrm>
        </p:spPr>
        <p:txBody>
          <a:bodyPr>
            <a:normAutofit fontScale="77500" lnSpcReduction="20000"/>
          </a:bodyPr>
          <a:lstStyle/>
          <a:p>
            <a:r>
              <a:rPr lang="en-US" altLang="zh-CN" dirty="0"/>
              <a:t>Destination (marked D) fails, taking down all of the links attached to it.  Which of these graphs still have the count-to-infinity problem even when poisoned reverse is used? </a:t>
            </a:r>
          </a:p>
          <a:p>
            <a:r>
              <a:rPr lang="en-US" altLang="zh-CN" dirty="0"/>
              <a:t>ANS: </a:t>
            </a:r>
          </a:p>
          <a:p>
            <a:r>
              <a:rPr lang="en-US" altLang="zh-CN" dirty="0"/>
              <a:t>A &amp; D: No. Once D is removed, the remaining three routers form a path, not a triangle. That means any mistaken route can only bounce between two neighbors, and poisoned reverse is designed to stop exactly that kind of 2-node loop. So A &amp; D does not have count-to-infinity with poisoned reverse.</a:t>
            </a:r>
          </a:p>
          <a:p>
            <a:r>
              <a:rPr lang="en-US" altLang="zh-CN" dirty="0"/>
              <a:t>B &amp; C:  Yes.  When D fails, the remaining three routers form a triangle. A router may poison one neighbor but still advertise a finite path to another, allowing the bad route to travel around the 3-node cycle. Because poisoned reverse only hides the route from the neighbor being used as next hop, the false route can circulate around the triangle and the metric can increase repeatedly</a:t>
            </a:r>
          </a:p>
          <a:p>
            <a:endParaRPr lang="en-US" altLang="zh-CN" dirty="0"/>
          </a:p>
          <a:p>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63DD3AF4-7F71-0C35-6AFB-B9C0BEB673FF}"/>
              </a:ext>
            </a:extLst>
          </p:cNvPr>
          <p:cNvPicPr>
            <a:picLocks noChangeAspect="1"/>
          </p:cNvPicPr>
          <p:nvPr/>
        </p:nvPicPr>
        <p:blipFill>
          <a:blip r:embed="rId3"/>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2254890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C7C31-0F0B-891C-070F-9DEC3FC6DD5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EEB9B094-B5A7-D81C-6C56-6C3F0449FBA2}"/>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AAFF5FAD-2769-678D-A6C0-FC125B4FE46D}"/>
              </a:ext>
            </a:extLst>
          </p:cNvPr>
          <p:cNvSpPr>
            <a:spLocks noGrp="1"/>
          </p:cNvSpPr>
          <p:nvPr>
            <p:ph sz="quarter" idx="1"/>
          </p:nvPr>
        </p:nvSpPr>
        <p:spPr>
          <a:xfrm>
            <a:off x="609600" y="1219200"/>
            <a:ext cx="6934200" cy="4937760"/>
          </a:xfrm>
        </p:spPr>
        <p:txBody>
          <a:bodyPr>
            <a:normAutofit/>
          </a:bodyPr>
          <a:lstStyle/>
          <a:p>
            <a:r>
              <a:rPr lang="en-US" altLang="zh-CN" dirty="0"/>
              <a:t>Link-State: For the network shown below, consider the case where all nodes have flooded their link-state information to everyone, shortest paths have been calculated, and the appropriate forwarding entries installed. But then </a:t>
            </a:r>
            <a:r>
              <a:rPr lang="en-US" altLang="zh-CN" dirty="0">
                <a:solidFill>
                  <a:srgbClr val="C00000"/>
                </a:solidFill>
              </a:rPr>
              <a:t>the 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endParaRPr lang="zh-CN" altLang="en-US" dirty="0"/>
          </a:p>
        </p:txBody>
      </p:sp>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5A3520D4-9D06-6B51-E3D5-69493F18D9E7}"/>
              </a:ext>
            </a:extLst>
          </p:cNvPr>
          <p:cNvPicPr>
            <a:picLocks noChangeAspect="1"/>
          </p:cNvPicPr>
          <p:nvPr/>
        </p:nvPicPr>
        <p:blipFill>
          <a:blip r:embed="rId2"/>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254364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A6D9-4608-1302-56D3-6F79D86642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6CD0E-DDE3-C748-2404-441960385AB0}"/>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04B64B2C-CF76-0115-FDE0-EB616D5EE56C}"/>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C08828E-1347-1982-8706-699760CE6539}"/>
                  </a:ext>
                </a:extLst>
              </p:cNvPr>
              <p:cNvSpPr>
                <a:spLocks noGrp="1"/>
              </p:cNvSpPr>
              <p:nvPr>
                <p:ph sz="quarter" idx="1"/>
              </p:nvPr>
            </p:nvSpPr>
            <p:spPr>
              <a:xfrm>
                <a:off x="609600" y="1219200"/>
                <a:ext cx="6934200" cy="4937760"/>
              </a:xfrm>
            </p:spPr>
            <p:txBody>
              <a:bodyPr>
                <a:normAutofit fontScale="77500" lnSpcReduction="20000"/>
              </a:bodyPr>
              <a:lstStyle/>
              <a:p>
                <a:r>
                  <a:rPr lang="en-US" altLang="zh-CN" dirty="0"/>
                  <a:t>The </a:t>
                </a:r>
                <a:r>
                  <a:rPr lang="en-US" altLang="zh-CN" dirty="0">
                    <a:solidFill>
                      <a:srgbClr val="C00000"/>
                    </a:solidFill>
                  </a:rPr>
                  <a:t>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p>
              <a:p>
                <a:r>
                  <a:rPr lang="en-US" altLang="zh-CN" dirty="0"/>
                  <a:t>ANS: DABEHIF</a:t>
                </a:r>
              </a:p>
              <a:p>
                <a:r>
                  <a:rPr lang="en-US" altLang="zh-CN" dirty="0"/>
                  <a:t>Explanations:</a:t>
                </a:r>
                <a:endParaRPr lang="en-US" altLang="zh-CN" b="1" dirty="0"/>
              </a:p>
              <a:p>
                <a:pPr lvl="1"/>
                <a:r>
                  <a:rPr lang="en-US" altLang="zh-CN" dirty="0"/>
                  <a:t>After the E–F link goes down, D recomputes using the new topology, where the best path from D to F is </a:t>
                </a:r>
                <a14:m>
                  <m:oMath xmlns:m="http://schemas.openxmlformats.org/officeDocument/2006/math">
                    <m:r>
                      <a:rPr lang="zh-CN" altLang="en-US" i="1">
                        <a:latin typeface="Cambria Math" panose="02040503050406030204" pitchFamily="18" charset="0"/>
                      </a:rPr>
                      <m:t>𝐷</m:t>
                    </m:r>
                    <m:r>
                      <a:rPr lang="en-US" altLang="zh-CN">
                        <a:latin typeface="Cambria Math" panose="02040503050406030204" pitchFamily="18" charset="0"/>
                      </a:rPr>
                      <m:t>→</m:t>
                    </m:r>
                    <m:r>
                      <a:rPr lang="zh-CN" altLang="en-US" i="1">
                        <a:latin typeface="Cambria Math" panose="02040503050406030204" pitchFamily="18" charset="0"/>
                      </a:rPr>
                      <m:t>𝐴</m:t>
                    </m:r>
                    <m:r>
                      <a:rPr lang="en-US" altLang="zh-CN">
                        <a:latin typeface="Cambria Math" panose="02040503050406030204" pitchFamily="18" charset="0"/>
                      </a:rPr>
                      <m:t>→</m:t>
                    </m:r>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𝐶</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total cost 6. </a:t>
                </a:r>
              </a:p>
              <a:p>
                <a:pPr lvl="1"/>
                <a:r>
                  <a:rPr lang="en-US" altLang="zh-CN" dirty="0"/>
                  <a:t>A also recomputes correctly, so when it receives the packet from D, it forwards it to B. B did </a:t>
                </a:r>
                <a:r>
                  <a:rPr lang="en-US" altLang="zh-CN" b="1" dirty="0"/>
                  <a:t>not</a:t>
                </a:r>
                <a:r>
                  <a:rPr lang="en-US" altLang="zh-CN" dirty="0"/>
                  <a:t> receive the link-state update, so it still believes the old shortest path to F is </a:t>
                </a:r>
                <a14:m>
                  <m:oMath xmlns:m="http://schemas.openxmlformats.org/officeDocument/2006/math">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3, and therefore sends the packet to E.</a:t>
                </a:r>
              </a:p>
              <a:p>
                <a:pPr lvl="1"/>
                <a:r>
                  <a:rPr lang="en-US" altLang="zh-CN" dirty="0"/>
                  <a:t>E did receive the failure update, so E knows the direct link to F is down and cannot forward there. From E’s updated view, the best remaining route to F is </a:t>
                </a:r>
                <a14:m>
                  <m:oMath xmlns:m="http://schemas.openxmlformats.org/officeDocument/2006/math">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𝐻</m:t>
                    </m:r>
                    <m:r>
                      <a:rPr lang="en-US" altLang="zh-CN">
                        <a:latin typeface="Cambria Math" panose="02040503050406030204" pitchFamily="18" charset="0"/>
                      </a:rPr>
                      <m:t>→</m:t>
                    </m:r>
                    <m:r>
                      <a:rPr lang="zh-CN" altLang="en-US" i="1">
                        <a:latin typeface="Cambria Math" panose="02040503050406030204" pitchFamily="18" charset="0"/>
                      </a:rPr>
                      <m:t>𝐼</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5, which is better than going back through B and C.</a:t>
                </a:r>
              </a:p>
              <a:p>
                <a:pPr lvl="1"/>
                <a:r>
                  <a:rPr lang="en-US" altLang="zh-CN" dirty="0"/>
                  <a:t>Putting those forwarding decisions together gives the actual packet path: </a:t>
                </a:r>
                <a:r>
                  <a:rPr lang="en-US" altLang="zh-CN" b="1" dirty="0"/>
                  <a:t>DABEHIF</a:t>
                </a:r>
                <a:r>
                  <a:rPr lang="en-US" altLang="zh-CN" dirty="0"/>
                  <a:t>.</a:t>
                </a:r>
              </a:p>
              <a:p>
                <a:endParaRPr lang="zh-CN" altLang="en-US" dirty="0"/>
              </a:p>
            </p:txBody>
          </p:sp>
        </mc:Choice>
        <mc:Fallback xmlns="">
          <p:sp>
            <p:nvSpPr>
              <p:cNvPr id="4" name="Content Placeholder 3">
                <a:extLst>
                  <a:ext uri="{FF2B5EF4-FFF2-40B4-BE49-F238E27FC236}">
                    <a16:creationId xmlns:a16="http://schemas.microsoft.com/office/drawing/2014/main" id="{FC08828E-1347-1982-8706-699760CE6539}"/>
                  </a:ext>
                </a:extLst>
              </p:cNvPr>
              <p:cNvSpPr>
                <a:spLocks noGrp="1" noRot="1" noChangeAspect="1" noMove="1" noResize="1" noEditPoints="1" noAdjustHandles="1" noChangeArrowheads="1" noChangeShapeType="1" noTextEdit="1"/>
              </p:cNvSpPr>
              <p:nvPr>
                <p:ph sz="quarter" idx="1"/>
              </p:nvPr>
            </p:nvSpPr>
            <p:spPr>
              <a:xfrm>
                <a:off x="609600" y="1219200"/>
                <a:ext cx="6934200" cy="4937760"/>
              </a:xfrm>
              <a:blipFill>
                <a:blip r:embed="rId2"/>
                <a:stretch>
                  <a:fillRect l="-351" t="-1852" r="-1494"/>
                </a:stretch>
              </a:blipFill>
            </p:spPr>
            <p:txBody>
              <a:bodyPr/>
              <a:lstStyle/>
              <a:p>
                <a:r>
                  <a:rPr lang="zh-CN" altLang="en-US">
                    <a:noFill/>
                  </a:rPr>
                  <a:t> </a:t>
                </a:r>
              </a:p>
            </p:txBody>
          </p:sp>
        </mc:Fallback>
      </mc:AlternateContent>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EAF1C6A4-188E-A288-CA44-7D1C44269027}"/>
              </a:ext>
            </a:extLst>
          </p:cNvPr>
          <p:cNvPicPr>
            <a:picLocks noChangeAspect="1"/>
          </p:cNvPicPr>
          <p:nvPr/>
        </p:nvPicPr>
        <p:blipFill>
          <a:blip r:embed="rId3"/>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133781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D0C6C-32D6-2193-1138-49ACDA812A4D}"/>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72BBE3DE-7600-4933-01A4-D23F2EE66A28}"/>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D3CFD29F-59AD-01F1-1238-A4C73A7208AA}"/>
              </a:ext>
            </a:extLst>
          </p:cNvPr>
          <p:cNvSpPr>
            <a:spLocks noGrp="1"/>
          </p:cNvSpPr>
          <p:nvPr>
            <p:ph sz="quarter" idx="1"/>
          </p:nvPr>
        </p:nvSpPr>
        <p:spPr>
          <a:xfrm>
            <a:off x="609600" y="1219200"/>
            <a:ext cx="7696200" cy="4937760"/>
          </a:xfrm>
        </p:spPr>
        <p:txBody>
          <a:bodyPr>
            <a:normAutofit fontScale="70000" lnSpcReduction="20000"/>
          </a:bodyPr>
          <a:lstStyle/>
          <a:p>
            <a:r>
              <a:rPr lang="en-US" altLang="zh-CN" dirty="0"/>
              <a:t>In Fig.1 a directed edge (→) denotes a provider - customer relationship while an undirected edge (-) denotes a peering relationship. Assume that the import and export policies follow Gao-Rexford rules. Note that all subparts are independent of one another (changes made in one subpart do not affect the subsequent ones).</a:t>
            </a:r>
          </a:p>
          <a:p>
            <a:r>
              <a:rPr lang="en-US" altLang="zh-CN" dirty="0"/>
              <a:t>Q1 Determine the path (if any) between the following </a:t>
            </a:r>
            <a:r>
              <a:rPr lang="en-US" altLang="zh-CN" dirty="0" err="1"/>
              <a:t>ASes</a:t>
            </a:r>
            <a:r>
              <a:rPr lang="en-US" altLang="zh-CN" dirty="0"/>
              <a:t>. If there is no path possible, write "None".</a:t>
            </a:r>
          </a:p>
          <a:p>
            <a:r>
              <a:rPr lang="nl-NL" altLang="zh-CN" dirty="0"/>
              <a:t>a) J to M?</a:t>
            </a:r>
          </a:p>
          <a:p>
            <a:pPr lvl="1"/>
            <a:r>
              <a:rPr lang="nl-NL" altLang="zh-CN" dirty="0"/>
              <a:t>Solution: J → F → C → A → B →E →I→M</a:t>
            </a:r>
          </a:p>
          <a:p>
            <a:r>
              <a:rPr lang="nl-NL" altLang="zh-CN" dirty="0"/>
              <a:t>b) L to F?</a:t>
            </a:r>
          </a:p>
          <a:p>
            <a:pPr lvl="1"/>
            <a:r>
              <a:rPr lang="nl-NL" altLang="zh-CN" dirty="0"/>
              <a:t>Solution: L →H → D → C → F</a:t>
            </a:r>
          </a:p>
          <a:p>
            <a:r>
              <a:rPr lang="nl-NL" altLang="zh-CN" dirty="0"/>
              <a:t>c) E to F?</a:t>
            </a:r>
          </a:p>
          <a:p>
            <a:pPr lvl="1"/>
            <a:r>
              <a:rPr lang="nl-NL" altLang="zh-CN" dirty="0"/>
              <a:t>Solution: E → B → A → C → F</a:t>
            </a:r>
          </a:p>
          <a:p>
            <a:r>
              <a:rPr lang="en-US" altLang="zh-CN" dirty="0"/>
              <a:t>Q2 Hosts under which </a:t>
            </a:r>
            <a:r>
              <a:rPr lang="en-US" altLang="zh-CN" dirty="0" err="1"/>
              <a:t>ASes</a:t>
            </a:r>
            <a:r>
              <a:rPr lang="en-US" altLang="zh-CN" dirty="0"/>
              <a:t> would be advertised to AS C by AS D?</a:t>
            </a:r>
          </a:p>
          <a:p>
            <a:pPr lvl="1"/>
            <a:r>
              <a:rPr lang="en-US" altLang="zh-CN" b="1" dirty="0"/>
              <a:t>Solution: </a:t>
            </a:r>
            <a:r>
              <a:rPr lang="en-US" altLang="zh-CN" dirty="0"/>
              <a:t>D, G, H, K, L</a:t>
            </a:r>
          </a:p>
          <a:p>
            <a:r>
              <a:rPr lang="en-US" altLang="zh-CN" dirty="0"/>
              <a:t>Q3 (3 points) The link between CD fails, what is the path from J to L?</a:t>
            </a:r>
          </a:p>
          <a:p>
            <a:pPr lvl="1"/>
            <a:r>
              <a:rPr lang="en-US" altLang="zh-CN" b="1" dirty="0"/>
              <a:t>Solution: </a:t>
            </a:r>
            <a:r>
              <a:rPr lang="en-US" altLang="zh-CN" dirty="0"/>
              <a:t>J → F → C → A → D → H → L </a:t>
            </a:r>
            <a:br>
              <a:rPr lang="en-US" altLang="zh-CN" dirty="0"/>
            </a:br>
            <a:endParaRPr lang="zh-CN" altLang="en-US" dirty="0"/>
          </a:p>
        </p:txBody>
      </p:sp>
      <p:pic>
        <p:nvPicPr>
          <p:cNvPr id="6" name="Picture 5">
            <a:extLst>
              <a:ext uri="{FF2B5EF4-FFF2-40B4-BE49-F238E27FC236}">
                <a16:creationId xmlns:a16="http://schemas.microsoft.com/office/drawing/2014/main" id="{9A1D28D2-DCAB-256D-2DEE-04644752C18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305800" y="1948654"/>
            <a:ext cx="3407300" cy="3289808"/>
          </a:xfrm>
          <a:prstGeom prst="rect">
            <a:avLst/>
          </a:prstGeom>
        </p:spPr>
      </p:pic>
    </p:spTree>
    <p:extLst>
      <p:ext uri="{BB962C8B-B14F-4D97-AF65-F5344CB8AC3E}">
        <p14:creationId xmlns:p14="http://schemas.microsoft.com/office/powerpoint/2010/main" val="123706195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5048</TotalTime>
  <Words>4980</Words>
  <Application>Microsoft Office PowerPoint</Application>
  <PresentationFormat>Widescreen</PresentationFormat>
  <Paragraphs>266</Paragraphs>
  <Slides>19</Slides>
  <Notes>6</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19</vt:i4>
      </vt:variant>
    </vt:vector>
  </HeadingPairs>
  <TitlesOfParts>
    <vt:vector size="31" baseType="lpstr">
      <vt:lpstr>Arial</vt:lpstr>
      <vt:lpstr>Bookman Old Style</vt:lpstr>
      <vt:lpstr>Calibri</vt:lpstr>
      <vt:lpstr>Cambria Math</vt:lpstr>
      <vt:lpstr>Gill Sans MT</vt:lpstr>
      <vt:lpstr>Roboto</vt:lpstr>
      <vt:lpstr>Roboto Light</vt:lpstr>
      <vt:lpstr>Roboto Medium</vt:lpstr>
      <vt:lpstr>Wingdings</vt:lpstr>
      <vt:lpstr>Wingdings 3</vt:lpstr>
      <vt:lpstr>Origin</vt:lpstr>
      <vt:lpstr>Simple Lecture</vt:lpstr>
      <vt:lpstr>Z. Gu</vt:lpstr>
      <vt:lpstr>Pipe Diagrams – Packet Transmission Delay</vt:lpstr>
      <vt:lpstr>Lecture 3 - Links</vt:lpstr>
      <vt:lpstr>Lecture 3 - Links ANS</vt:lpstr>
      <vt:lpstr>Lecture 3 - Links</vt:lpstr>
      <vt:lpstr>Lecture 3 - Links ANS</vt:lpstr>
      <vt:lpstr>Lecture 3 - Links ANS</vt:lpstr>
      <vt:lpstr>Lecture 3 - Links Queuing Delays ANS</vt:lpstr>
      <vt:lpstr>Lecture 3 - Links Queuing Delays ANS</vt:lpstr>
      <vt:lpstr>Lecture 3 - Links Queuing Delays ANS</vt:lpstr>
      <vt:lpstr>Lecture 3 - Links Queuing Delays ANS</vt:lpstr>
      <vt:lpstr>Lecture 3 - Links Queuing Delays ANS</vt:lpstr>
      <vt:lpstr>Lecture 3 - Links Queuing Delays ANS</vt:lpstr>
      <vt:lpstr>Store-and-Forward vs. Bit-by-Bit Forwarding (Cut-through)</vt:lpstr>
      <vt:lpstr>Lecture 5.2 - Distance-Vector ANS</vt:lpstr>
      <vt:lpstr>Lecture 5.2 - Distance-Vector ANS</vt:lpstr>
      <vt:lpstr>Lecture 5.3 - Link-State</vt:lpstr>
      <vt:lpstr>Lecture 5.3 - Link-State ANS</vt:lpstr>
      <vt:lpstr>  Lecture 8 - Inter-Domain Routing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306</cp:revision>
  <cp:lastPrinted>2018-02-28T12:51:32Z</cp:lastPrinted>
  <dcterms:created xsi:type="dcterms:W3CDTF">2014-02-09T17:12:51Z</dcterms:created>
  <dcterms:modified xsi:type="dcterms:W3CDTF">2026-05-06T16:55:28Z</dcterms:modified>
</cp:coreProperties>
</file>