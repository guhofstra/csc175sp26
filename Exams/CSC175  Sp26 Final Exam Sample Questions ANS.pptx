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2"/>
  </p:notesMasterIdLst>
  <p:sldIdLst>
    <p:sldId id="256" r:id="rId3"/>
    <p:sldId id="271" r:id="rId4"/>
    <p:sldId id="277" r:id="rId5"/>
    <p:sldId id="294" r:id="rId6"/>
    <p:sldId id="291" r:id="rId7"/>
    <p:sldId id="295" r:id="rId8"/>
    <p:sldId id="290" r:id="rId9"/>
    <p:sldId id="301" r:id="rId10"/>
    <p:sldId id="302" r:id="rId11"/>
    <p:sldId id="303" r:id="rId12"/>
    <p:sldId id="304" r:id="rId13"/>
    <p:sldId id="305" r:id="rId14"/>
    <p:sldId id="306" r:id="rId15"/>
    <p:sldId id="307" r:id="rId16"/>
    <p:sldId id="299" r:id="rId17"/>
    <p:sldId id="300" r:id="rId18"/>
    <p:sldId id="296" r:id="rId19"/>
    <p:sldId id="298" r:id="rId20"/>
    <p:sldId id="1067" r:id="rId21"/>
    <p:sldId id="1070" r:id="rId22"/>
    <p:sldId id="1068" r:id="rId23"/>
    <p:sldId id="1069" r:id="rId24"/>
    <p:sldId id="1065" r:id="rId25"/>
    <p:sldId id="1066" r:id="rId26"/>
    <p:sldId id="975" r:id="rId27"/>
    <p:sldId id="1061" r:id="rId28"/>
    <p:sldId id="1062" r:id="rId29"/>
    <p:sldId id="1063" r:id="rId30"/>
    <p:sldId id="1064" r:id="rId31"/>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306D86-5A7C-4D89-AFE7-0B4843AD8E55}" v="41" dt="2026-03-31T21:08:57.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61" autoAdjust="0"/>
    <p:restoredTop sz="84867" autoAdjust="0"/>
  </p:normalViewPr>
  <p:slideViewPr>
    <p:cSldViewPr>
      <p:cViewPr varScale="1">
        <p:scale>
          <a:sx n="90" d="100"/>
          <a:sy n="90" d="100"/>
        </p:scale>
        <p:origin x="708" y="90"/>
      </p:cViewPr>
      <p:guideLst>
        <p:guide orient="horz" pos="2160"/>
        <p:guide pos="3840"/>
      </p:guideLst>
    </p:cSldViewPr>
  </p:slideViewPr>
  <p:notesTextViewPr>
    <p:cViewPr>
      <p:scale>
        <a:sx n="1" d="1"/>
        <a:sy n="1" d="1"/>
      </p:scale>
      <p:origin x="0" y="0"/>
    </p:cViewPr>
  </p:notesTextViewPr>
  <p:sorterViewPr>
    <p:cViewPr varScale="1">
      <p:scale>
        <a:sx n="1" d="1"/>
        <a:sy n="1" d="1"/>
      </p:scale>
      <p:origin x="0" y="-279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modSld">
      <pc:chgData name="Zonghua Gu" userId="9a7e1853e1951ef5" providerId="LiveId" clId="{CF1FAA12-072C-4ED5-BA76-0FFFAEFDB88A}" dt="2026-03-31T21:10:47.130" v="697" actId="20577"/>
      <pc:docMkLst>
        <pc:docMk/>
      </pc:docMkLst>
      <pc:sldChg chg="modSp mod">
        <pc:chgData name="Zonghua Gu" userId="9a7e1853e1951ef5" providerId="LiveId" clId="{CF1FAA12-072C-4ED5-BA76-0FFFAEFDB88A}" dt="2026-03-31T19:16:59.261" v="282" actId="20577"/>
        <pc:sldMkLst>
          <pc:docMk/>
          <pc:sldMk cId="2010822840" sldId="258"/>
        </pc:sldMkLst>
        <pc:spChg chg="mod">
          <ac:chgData name="Zonghua Gu" userId="9a7e1853e1951ef5" providerId="LiveId" clId="{CF1FAA12-072C-4ED5-BA76-0FFFAEFDB88A}" dt="2026-03-31T19:16:59.261" v="282" actId="20577"/>
          <ac:spMkLst>
            <pc:docMk/>
            <pc:sldMk cId="2010822840" sldId="258"/>
            <ac:spMk id="4" creationId="{8FEE1D6E-BDD8-543E-5201-693D655D1834}"/>
          </ac:spMkLst>
        </pc:spChg>
      </pc:sldChg>
      <pc:sldChg chg="modSp mod">
        <pc:chgData name="Zonghua Gu" userId="9a7e1853e1951ef5" providerId="LiveId" clId="{CF1FAA12-072C-4ED5-BA76-0FFFAEFDB88A}" dt="2026-03-31T21:07:12.091" v="666" actId="20577"/>
        <pc:sldMkLst>
          <pc:docMk/>
          <pc:sldMk cId="2761831774" sldId="261"/>
        </pc:sldMkLst>
        <pc:spChg chg="mod">
          <ac:chgData name="Zonghua Gu" userId="9a7e1853e1951ef5" providerId="LiveId" clId="{CF1FAA12-072C-4ED5-BA76-0FFFAEFDB88A}" dt="2026-03-31T21:07:12.091" v="666" actId="20577"/>
          <ac:spMkLst>
            <pc:docMk/>
            <pc:sldMk cId="2761831774" sldId="261"/>
            <ac:spMk id="4" creationId="{E77568DA-E2BD-B325-7077-1F2E3BCCADD6}"/>
          </ac:spMkLst>
        </pc:spChg>
      </pc:sldChg>
      <pc:sldChg chg="modSp mod">
        <pc:chgData name="Zonghua Gu" userId="9a7e1853e1951ef5" providerId="LiveId" clId="{CF1FAA12-072C-4ED5-BA76-0FFFAEFDB88A}" dt="2026-03-31T19:26:58.632" v="342" actId="20577"/>
        <pc:sldMkLst>
          <pc:docMk/>
          <pc:sldMk cId="1591002154" sldId="262"/>
        </pc:sldMkLst>
        <pc:spChg chg="mod">
          <ac:chgData name="Zonghua Gu" userId="9a7e1853e1951ef5" providerId="LiveId" clId="{CF1FAA12-072C-4ED5-BA76-0FFFAEFDB88A}" dt="2026-03-31T19:26:58.632" v="342" actId="20577"/>
          <ac:spMkLst>
            <pc:docMk/>
            <pc:sldMk cId="1591002154" sldId="262"/>
            <ac:spMk id="4" creationId="{FE6122BC-562C-CABB-6BF5-4C1CC4E4D457}"/>
          </ac:spMkLst>
        </pc:spChg>
      </pc:sldChg>
      <pc:sldChg chg="modSp mod">
        <pc:chgData name="Zonghua Gu" userId="9a7e1853e1951ef5" providerId="LiveId" clId="{CF1FAA12-072C-4ED5-BA76-0FFFAEFDB88A}" dt="2026-03-31T19:42:07.720" v="505" actId="167"/>
        <pc:sldMkLst>
          <pc:docMk/>
          <pc:sldMk cId="2090142393" sldId="263"/>
        </pc:sldMkLst>
        <pc:picChg chg="ord">
          <ac:chgData name="Zonghua Gu" userId="9a7e1853e1951ef5" providerId="LiveId" clId="{CF1FAA12-072C-4ED5-BA76-0FFFAEFDB88A}" dt="2026-03-31T19:42:07.720" v="505" actId="167"/>
          <ac:picMkLst>
            <pc:docMk/>
            <pc:sldMk cId="2090142393" sldId="263"/>
            <ac:picMk id="8" creationId="{BE24FF79-9676-1C0C-7C30-8DFA1574D644}"/>
          </ac:picMkLst>
        </pc:picChg>
      </pc:sldChg>
      <pc:sldChg chg="modSp mod">
        <pc:chgData name="Zonghua Gu" userId="9a7e1853e1951ef5" providerId="LiveId" clId="{CF1FAA12-072C-4ED5-BA76-0FFFAEFDB88A}" dt="2026-03-31T19:52:57.859" v="661" actId="6549"/>
        <pc:sldMkLst>
          <pc:docMk/>
          <pc:sldMk cId="1959821232" sldId="264"/>
        </pc:sldMkLst>
        <pc:spChg chg="mod">
          <ac:chgData name="Zonghua Gu" userId="9a7e1853e1951ef5" providerId="LiveId" clId="{CF1FAA12-072C-4ED5-BA76-0FFFAEFDB88A}" dt="2026-03-31T19:52:57.859" v="661" actId="6549"/>
          <ac:spMkLst>
            <pc:docMk/>
            <pc:sldMk cId="1959821232" sldId="264"/>
            <ac:spMk id="4" creationId="{7898589E-5174-DA30-FFC3-3F4F89F16945}"/>
          </ac:spMkLst>
        </pc:spChg>
      </pc:sldChg>
      <pc:sldChg chg="modSp mod">
        <pc:chgData name="Zonghua Gu" userId="9a7e1853e1951ef5" providerId="LiveId" clId="{CF1FAA12-072C-4ED5-BA76-0FFFAEFDB88A}" dt="2026-03-31T19:10:14.134" v="229" actId="20577"/>
        <pc:sldMkLst>
          <pc:docMk/>
          <pc:sldMk cId="1668167279" sldId="271"/>
        </pc:sldMkLst>
        <pc:spChg chg="mod">
          <ac:chgData name="Zonghua Gu" userId="9a7e1853e1951ef5" providerId="LiveId" clId="{CF1FAA12-072C-4ED5-BA76-0FFFAEFDB88A}" dt="2026-03-31T19:10:14.134" v="229" actId="20577"/>
          <ac:spMkLst>
            <pc:docMk/>
            <pc:sldMk cId="1668167279" sldId="271"/>
            <ac:spMk id="4" creationId="{D795F35A-217B-7B69-815F-06D41DA22B42}"/>
          </ac:spMkLst>
        </pc:spChg>
      </pc:sldChg>
      <pc:sldChg chg="modSp mod">
        <pc:chgData name="Zonghua Gu" userId="9a7e1853e1951ef5" providerId="LiveId" clId="{CF1FAA12-072C-4ED5-BA76-0FFFAEFDB88A}" dt="2026-03-31T19:13:23.338" v="246" actId="20577"/>
        <pc:sldMkLst>
          <pc:docMk/>
          <pc:sldMk cId="1189736278" sldId="272"/>
        </pc:sldMkLst>
        <pc:spChg chg="mod">
          <ac:chgData name="Zonghua Gu" userId="9a7e1853e1951ef5" providerId="LiveId" clId="{CF1FAA12-072C-4ED5-BA76-0FFFAEFDB88A}" dt="2026-03-31T19:13:23.338" v="246" actId="20577"/>
          <ac:spMkLst>
            <pc:docMk/>
            <pc:sldMk cId="1189736278" sldId="272"/>
            <ac:spMk id="4" creationId="{B8CE7E34-8C98-108D-1EF2-1A32D66D64C8}"/>
          </ac:spMkLst>
        </pc:spChg>
      </pc:sldChg>
      <pc:sldChg chg="modSp mod">
        <pc:chgData name="Zonghua Gu" userId="9a7e1853e1951ef5" providerId="LiveId" clId="{CF1FAA12-072C-4ED5-BA76-0FFFAEFDB88A}" dt="2026-03-31T19:54:47.759" v="663" actId="207"/>
        <pc:sldMkLst>
          <pc:docMk/>
          <pc:sldMk cId="291201338" sldId="273"/>
        </pc:sldMkLst>
        <pc:spChg chg="mod">
          <ac:chgData name="Zonghua Gu" userId="9a7e1853e1951ef5" providerId="LiveId" clId="{CF1FAA12-072C-4ED5-BA76-0FFFAEFDB88A}" dt="2026-03-31T19:54:47.759" v="663" actId="207"/>
          <ac:spMkLst>
            <pc:docMk/>
            <pc:sldMk cId="291201338" sldId="273"/>
            <ac:spMk id="4" creationId="{47270AD2-072F-B3D6-BBA9-F8977A6EEED1}"/>
          </ac:spMkLst>
        </pc:spChg>
      </pc:sldChg>
      <pc:sldChg chg="modSp mod">
        <pc:chgData name="Zonghua Gu" userId="9a7e1853e1951ef5" providerId="LiveId" clId="{CF1FAA12-072C-4ED5-BA76-0FFFAEFDB88A}" dt="2026-03-31T19:57:03.509" v="665" actId="207"/>
        <pc:sldMkLst>
          <pc:docMk/>
          <pc:sldMk cId="1816582539" sldId="276"/>
        </pc:sldMkLst>
        <pc:spChg chg="mod">
          <ac:chgData name="Zonghua Gu" userId="9a7e1853e1951ef5" providerId="LiveId" clId="{CF1FAA12-072C-4ED5-BA76-0FFFAEFDB88A}" dt="2026-03-31T19:57:03.509" v="665" actId="207"/>
          <ac:spMkLst>
            <pc:docMk/>
            <pc:sldMk cId="1816582539" sldId="276"/>
            <ac:spMk id="4" creationId="{AA668573-5006-3407-8DE1-C0206091C6A2}"/>
          </ac:spMkLst>
        </pc:spChg>
      </pc:sldChg>
      <pc:sldChg chg="modSp mod">
        <pc:chgData name="Zonghua Gu" userId="9a7e1853e1951ef5" providerId="LiveId" clId="{CF1FAA12-072C-4ED5-BA76-0FFFAEFDB88A}" dt="2026-03-31T21:10:18.960" v="683" actId="20577"/>
        <pc:sldMkLst>
          <pc:docMk/>
          <pc:sldMk cId="635324677" sldId="286"/>
        </pc:sldMkLst>
        <pc:spChg chg="mod">
          <ac:chgData name="Zonghua Gu" userId="9a7e1853e1951ef5" providerId="LiveId" clId="{CF1FAA12-072C-4ED5-BA76-0FFFAEFDB88A}" dt="2026-03-31T21:10:18.960" v="683" actId="20577"/>
          <ac:spMkLst>
            <pc:docMk/>
            <pc:sldMk cId="635324677" sldId="286"/>
            <ac:spMk id="4" creationId="{5D55CEFE-07C0-C1C0-0DB2-A53E29C3DCE1}"/>
          </ac:spMkLst>
        </pc:spChg>
      </pc:sldChg>
      <pc:sldChg chg="modSp mod">
        <pc:chgData name="Zonghua Gu" userId="9a7e1853e1951ef5" providerId="LiveId" clId="{CF1FAA12-072C-4ED5-BA76-0FFFAEFDB88A}" dt="2026-03-31T21:10:47.130" v="697" actId="20577"/>
        <pc:sldMkLst>
          <pc:docMk/>
          <pc:sldMk cId="1456145964" sldId="287"/>
        </pc:sldMkLst>
        <pc:spChg chg="mod">
          <ac:chgData name="Zonghua Gu" userId="9a7e1853e1951ef5" providerId="LiveId" clId="{CF1FAA12-072C-4ED5-BA76-0FFFAEFDB88A}" dt="2026-03-31T21:10:47.130" v="697" actId="20577"/>
          <ac:spMkLst>
            <pc:docMk/>
            <pc:sldMk cId="1456145964" sldId="287"/>
            <ac:spMk id="4" creationId="{E9F7465E-E24A-8171-F25B-76E56F0677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5/6/2026</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Google Shape;1339;g2efe69fe1a6_0_2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0" name="Google Shape;1340;g2efe69fe1a6_0_2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okay so this is the picture that I</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1:14:21</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really care about at the very end so ultimately when people draw these again they don't draw the dots but they will</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1:14:28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draw things like this they'll draw a blue rectangle to represent the link and then they will draw these orange squares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1:14:34</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that represent the packets themselves and so these are actually the same packets these are three packets each</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1:14:41</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packet is 20 dots these are also three packets each packet is also 20 dots or</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1:14:47</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20 bits but notice that because the link itself changed in particular the link</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1:14:52</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itself received more bandwidth so we're switching to will link with more bandwidth the packets got taller and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1:14:58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narrower they shifted their shape to fit in the new pipe and so something that I</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1:15:04</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think is really confusing to people when they see these diagrams is that wait a minute when I change the link that I'm</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1:15:10</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using the packets themselves also change shape and yes that's true they change shapes because they fit in the pipe in a</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1:15:17</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different way in particular more dots can be stacked and so they get taller</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1:15:23</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and they get narrower because it takes less time to send them through the pipe the other thing that I think is not</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1:15:28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totally intuitive is the transmission delay is the width of the packet so the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1:15:34</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width of this packet tells me the transmission delay that is how long does it take to shove this packet into the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1:15:40</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pipe and what this picture is showing you is that if you increase the bandwidth now that they can March in t</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1:15:46</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instead of stacks of five the transmission delay got shorter and that's represented by the fact that the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1:15:51</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packet got less wide I know I just said a lot of words at you</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1:15:58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this will probably take a little bit of playing around with the demos and watching the animations to make sense if</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1:16:03</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the dots don't make sense I really just care about the shape of these rectangles but maybe they helped maybe they didn't</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1:16:09</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complain at me in the comments if you didn't like this but you can't say I didn't try I drew</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1:16:15</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all the diagrams any questions on this by the way it is kind of a funky topic when I</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1:16:21</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saw this I had for the first time I had no idea what the pipes look like when I drew the dots in they made a little bit more sense to me but maybe</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1:16:28</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not but the key idea I think is really confusing is really just the fact that transmission delay is actually the width</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1:16:33</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of the packet not immediately obvious and the fact that it gets uh shorter as the packet gets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1:16:40</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taller okay an attempt was made but let me know on ad or elsewhere if you find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1:16:46</a:t>
            </a:r>
            <a:endParaRPr dirty="0">
              <a:solidFill>
                <a:schemeClr val="dk1"/>
              </a:solidFill>
            </a:endParaRPr>
          </a:p>
          <a:p>
            <a:pPr marL="0" lvl="0" indent="0" algn="l" rtl="0">
              <a:spcBef>
                <a:spcPts val="0"/>
              </a:spcBef>
              <a:spcAft>
                <a:spcPts val="0"/>
              </a:spcAft>
              <a:buNone/>
            </a:pPr>
            <a:r>
              <a:rPr lang="en" dirty="0">
                <a:solidFill>
                  <a:schemeClr val="dk1"/>
                </a:solidFill>
              </a:rPr>
              <a:t>this confusing we can talk about it somewhere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Transmission on Link 1 = </a:t>
            </a:r>
            <a:r>
              <a:rPr lang="en-US" altLang="zh-CN" b="1" dirty="0"/>
              <a:t>1 s per payload</a:t>
            </a:r>
            <a:r>
              <a:rPr lang="en-US" altLang="zh-CN" dirty="0"/>
              <a:t> Propagation = </a:t>
            </a:r>
            <a:r>
              <a:rPr lang="en-US" altLang="zh-CN" b="1" dirty="0"/>
              <a:t>2 s</a:t>
            </a:r>
            <a:r>
              <a:rPr lang="en-US" altLang="zh-CN" dirty="0"/>
              <a:t> So arrivals: </a:t>
            </a:r>
            <a:r>
              <a:rPr lang="en-US" altLang="zh-CN" b="1" dirty="0"/>
              <a:t>3, 4, 5, …, 12</a:t>
            </a:r>
            <a:endParaRPr lang="zh-CN" alt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8</a:t>
            </a:fld>
            <a:endParaRPr lang="en-US"/>
          </a:p>
        </p:txBody>
      </p:sp>
    </p:spTree>
    <p:extLst>
      <p:ext uri="{BB962C8B-B14F-4D97-AF65-F5344CB8AC3E}">
        <p14:creationId xmlns:p14="http://schemas.microsoft.com/office/powerpoint/2010/main" val="1659353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Transmission on Link 1 = </a:t>
            </a:r>
            <a:r>
              <a:rPr lang="en-US" altLang="zh-CN" b="1" dirty="0"/>
              <a:t>1 s per payload</a:t>
            </a:r>
            <a:r>
              <a:rPr lang="en-US" altLang="zh-CN" dirty="0"/>
              <a:t> Propagation = </a:t>
            </a:r>
            <a:r>
              <a:rPr lang="en-US" altLang="zh-CN" b="1" dirty="0"/>
              <a:t>2 s</a:t>
            </a:r>
            <a:r>
              <a:rPr lang="en-US" altLang="zh-CN" dirty="0"/>
              <a:t> So arrivals: </a:t>
            </a:r>
            <a:r>
              <a:rPr lang="en-US" altLang="zh-CN" b="1" dirty="0"/>
              <a:t>3, 4, 5, …, 12</a:t>
            </a:r>
          </a:p>
          <a:p>
            <a:r>
              <a:rPr lang="en-US" altLang="zh-CN" dirty="0"/>
              <a:t>Start sending at </a:t>
            </a:r>
            <a:r>
              <a:rPr lang="en-US" altLang="zh-CN" b="1" dirty="0"/>
              <a:t>t = 3</a:t>
            </a:r>
            <a:r>
              <a:rPr lang="en-US" altLang="zh-CN" dirty="0"/>
              <a:t> Finish sending at </a:t>
            </a:r>
            <a:r>
              <a:rPr lang="en-US" altLang="zh-CN" b="1" dirty="0"/>
              <a:t>t = 5</a:t>
            </a:r>
            <a:r>
              <a:rPr lang="en-US" altLang="zh-CN" dirty="0"/>
              <a:t> Then propagate 10 s → arrive at </a:t>
            </a:r>
            <a:r>
              <a:rPr lang="en-US" altLang="zh-CN" b="1" dirty="0"/>
              <a:t>t = 15</a:t>
            </a:r>
            <a:endParaRPr lang="zh-CN" alt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9</a:t>
            </a:fld>
            <a:endParaRPr lang="en-US"/>
          </a:p>
        </p:txBody>
      </p:sp>
    </p:spTree>
    <p:extLst>
      <p:ext uri="{BB962C8B-B14F-4D97-AF65-F5344CB8AC3E}">
        <p14:creationId xmlns:p14="http://schemas.microsoft.com/office/powerpoint/2010/main" val="225540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nl-NL" altLang="zh-CN" dirty="0"/>
                  <a:t>Queue slope = arrival − departure</a:t>
                </a:r>
                <a:br>
                  <a:rPr lang="nl-NL" altLang="zh-CN" dirty="0"/>
                </a:br>
                <a:br>
                  <a:rPr lang="nl-NL" altLang="zh-CN" dirty="0"/>
                </a:br>
                <a:r>
                  <a:rPr lang="nl-NL" altLang="zh-CN" dirty="0"/>
                  <a:t>If queue &gt; 0:</a:t>
                </a:r>
                <a:br>
                  <a:rPr lang="nl-NL" altLang="zh-CN" dirty="0"/>
                </a:br>
                <a:r>
                  <a:rPr lang="nl-NL" altLang="zh-CN" dirty="0"/>
                  <a:t>departure = bandwidth</a:t>
                </a:r>
                <a:br>
                  <a:rPr lang="nl-NL" altLang="zh-CN" dirty="0"/>
                </a:br>
                <a:r>
                  <a:rPr lang="nl-NL" altLang="zh-CN" dirty="0"/>
                  <a:t>If the queue is empty, the departure rate is </a:t>
                </a:r>
                <a14:m>
                  <m:oMath xmlns:m="http://schemas.openxmlformats.org/officeDocument/2006/math">
                    <m:r>
                      <m:rPr>
                        <m:sty m:val="p"/>
                      </m:rPr>
                      <a:rPr lang="nl-NL" altLang="zh-CN" sz="1200" kern="1200">
                        <a:solidFill>
                          <a:schemeClr val="tx1"/>
                        </a:solidFill>
                        <a:latin typeface="Cambria Math" panose="02040503050406030204" pitchFamily="18" charset="0"/>
                        <a:ea typeface="+mn-ea"/>
                        <a:cs typeface="+mn-cs"/>
                      </a:rPr>
                      <m:t>min</m:t>
                    </m:r>
                    <m:r>
                      <a:rPr lang="nl-NL" altLang="zh-CN" sz="1200" i="0" kern="1200">
                        <a:solidFill>
                          <a:schemeClr val="tx1"/>
                        </a:solidFill>
                        <a:latin typeface="Cambria Math" panose="02040503050406030204" pitchFamily="18" charset="0"/>
                        <a:ea typeface="+mn-ea"/>
                        <a:cs typeface="+mn-cs"/>
                      </a:rPr>
                      <m:t>⁡</m:t>
                    </m:r>
                    <m:d>
                      <m:dPr>
                        <m:sepChr m:val=","/>
                        <m:ctrlPr>
                          <a:rPr lang="ar-AE" altLang="zh-CN" sz="1200" i="1" kern="1200">
                            <a:solidFill>
                              <a:schemeClr val="tx1"/>
                            </a:solidFill>
                            <a:latin typeface="Cambria Math" panose="02040503050406030204" pitchFamily="18" charset="0"/>
                            <a:ea typeface="+mn-ea"/>
                            <a:cs typeface="+mn-cs"/>
                          </a:rPr>
                        </m:ctrlPr>
                      </m:dPr>
                      <m:e>
                        <m:r>
                          <m:rPr>
                            <m:nor/>
                          </m:rPr>
                          <a:rPr lang="nl-NL" altLang="zh-CN" sz="1200" b="0" i="1" kern="1200">
                            <a:solidFill>
                              <a:schemeClr val="tx1"/>
                            </a:solidFill>
                            <a:latin typeface="+mn-lt"/>
                            <a:ea typeface="+mn-ea"/>
                            <a:cs typeface="+mn-cs"/>
                          </a:rPr>
                          <m:t>arrival</m:t>
                        </m:r>
                        <m:r>
                          <m:rPr>
                            <m:nor/>
                          </m:rPr>
                          <a:rPr lang="nl-NL" altLang="zh-CN" sz="1200" b="0" i="1" kern="1200">
                            <a:solidFill>
                              <a:schemeClr val="tx1"/>
                            </a:solidFill>
                            <a:latin typeface="+mn-lt"/>
                            <a:ea typeface="+mn-ea"/>
                            <a:cs typeface="+mn-cs"/>
                          </a:rPr>
                          <m:t> </m:t>
                        </m:r>
                        <m:r>
                          <m:rPr>
                            <m:nor/>
                          </m:rPr>
                          <a:rPr lang="nl-NL" altLang="zh-CN" sz="1200" b="0" i="1" kern="1200">
                            <a:solidFill>
                              <a:schemeClr val="tx1"/>
                            </a:solidFill>
                            <a:latin typeface="+mn-lt"/>
                            <a:ea typeface="+mn-ea"/>
                            <a:cs typeface="+mn-cs"/>
                          </a:rPr>
                          <m:t>rate</m:t>
                        </m:r>
                      </m:e>
                      <m:e>
                        <m:r>
                          <m:rPr>
                            <m:nor/>
                          </m:rPr>
                          <a:rPr lang="nl-NL" altLang="zh-CN" sz="1200" b="0" i="1" kern="1200">
                            <a:solidFill>
                              <a:schemeClr val="tx1"/>
                            </a:solidFill>
                            <a:latin typeface="+mn-lt"/>
                            <a:ea typeface="+mn-ea"/>
                            <a:cs typeface="+mn-cs"/>
                          </a:rPr>
                          <m:t>bandwidth</m:t>
                        </m:r>
                      </m:e>
                    </m:d>
                  </m:oMath>
                </a14:m>
                <a:r>
                  <a:rPr lang="ar-AE" altLang="zh-CN" dirty="0"/>
                  <a:t>, </a:t>
                </a:r>
                <a:r>
                  <a:rPr lang="nl-NL" altLang="zh-CN" dirty="0"/>
                  <a:t>so the queue slope cannot be negative.</a:t>
                </a:r>
                <a:br>
                  <a:rPr lang="nl-NL" altLang="zh-CN" dirty="0"/>
                </a:br>
                <a:r>
                  <a:rPr lang="nl-NL" altLang="zh-CN" dirty="0"/>
                  <a:t>If queue = 0:</a:t>
                </a:r>
                <a:br>
                  <a:rPr lang="nl-NL" altLang="zh-CN" dirty="0"/>
                </a:br>
                <a:r>
                  <a:rPr lang="nl-NL" altLang="zh-CN" dirty="0"/>
                  <a:t>slope = max(0, arrival − bandwidth)</a:t>
                </a:r>
                <a:endParaRPr lang="en-US" altLang="zh-CN" dirty="0"/>
              </a:p>
              <a:p>
                <a:r>
                  <a:rPr lang="en-US" altLang="zh-CN" dirty="0"/>
                  <a:t>Write your answer as a range. Examples:</a:t>
                </a:r>
              </a:p>
              <a:p>
                <a:pPr lvl="1"/>
                <a:r>
                  <a:rPr lang="en-US" altLang="zh-CN" dirty="0"/>
                  <a:t>If the bandwidth must be exactly 3 Gbps, write </a:t>
                </a:r>
                <a:r>
                  <a:rPr lang="en-US" altLang="zh-CN" b="1" dirty="0"/>
                  <a:t>[3, 3]</a:t>
                </a:r>
                <a:r>
                  <a:rPr lang="en-US" altLang="zh-CN" dirty="0"/>
                  <a:t>.</a:t>
                </a:r>
              </a:p>
              <a:p>
                <a:pPr lvl="1"/>
                <a:r>
                  <a:rPr lang="en-US" altLang="zh-CN" dirty="0"/>
                  <a:t>If the exact bandwidth cannot be determined, but must be at least 3 Gbps, write </a:t>
                </a:r>
                <a:r>
                  <a:rPr lang="en-US" altLang="zh-CN" b="1" dirty="0"/>
                  <a:t>[3, ∞]</a:t>
                </a:r>
                <a:r>
                  <a:rPr lang="en-US" altLang="zh-CN" dirty="0"/>
                  <a:t>.</a:t>
                </a:r>
              </a:p>
              <a:p>
                <a:pPr lvl="1"/>
                <a:r>
                  <a:rPr lang="en-US" altLang="zh-CN" dirty="0"/>
                  <a:t>If there is not enough information to determine any range, write </a:t>
                </a:r>
                <a:r>
                  <a:rPr lang="en-US" altLang="zh-CN" b="1" dirty="0"/>
                  <a:t>[0, ∞]</a:t>
                </a:r>
                <a:r>
                  <a:rPr lang="en-US" altLang="zh-CN" dirty="0"/>
                  <a:t>. </a:t>
                </a:r>
                <a:r>
                  <a:rPr lang="nl-NL" altLang="zh-CN" dirty="0"/>
                  <a:t>queue slope = 15 Gbps</a:t>
                </a:r>
                <a:endParaRPr lang="en-US" altLang="zh-CN" dirty="0"/>
              </a:p>
              <a:p>
                <a:endParaRPr lang="zh-CN" altLang="en-US" dirty="0"/>
              </a:p>
            </p:txBody>
          </p:sp>
        </mc:Choice>
        <mc:Fallback xmlns="">
          <p:sp>
            <p:nvSpPr>
              <p:cNvPr id="3" name="Notes Placeholder 2"/>
              <p:cNvSpPr>
                <a:spLocks noGrp="1"/>
              </p:cNvSpPr>
              <p:nvPr>
                <p:ph type="body" idx="1"/>
              </p:nvPr>
            </p:nvSpPr>
            <p:spPr/>
            <p:txBody>
              <a:bodyPr/>
              <a:lstStyle/>
              <a:p>
                <a:r>
                  <a:rPr lang="nl-NL" altLang="zh-CN" dirty="0"/>
                  <a:t>Queue slope = arrival − departure</a:t>
                </a:r>
                <a:br>
                  <a:rPr lang="nl-NL" altLang="zh-CN" dirty="0"/>
                </a:br>
                <a:br>
                  <a:rPr lang="nl-NL" altLang="zh-CN" dirty="0"/>
                </a:br>
                <a:r>
                  <a:rPr lang="nl-NL" altLang="zh-CN" dirty="0"/>
                  <a:t>If queue &gt; 0:</a:t>
                </a:r>
                <a:br>
                  <a:rPr lang="nl-NL" altLang="zh-CN" dirty="0"/>
                </a:br>
                <a:r>
                  <a:rPr lang="nl-NL" altLang="zh-CN" dirty="0"/>
                  <a:t>departure = bandwidth</a:t>
                </a:r>
                <a:br>
                  <a:rPr lang="nl-NL" altLang="zh-CN" dirty="0"/>
                </a:br>
                <a:r>
                  <a:rPr lang="nl-NL" altLang="zh-CN" dirty="0"/>
                  <a:t>If the queue is empty, the departure rate is </a:t>
                </a:r>
                <a:r>
                  <a:rPr lang="nl-NL" altLang="zh-CN" sz="1200" i="0" kern="1200">
                    <a:solidFill>
                      <a:schemeClr val="tx1"/>
                    </a:solidFill>
                    <a:latin typeface="+mn-lt"/>
                    <a:ea typeface="+mn-ea"/>
                    <a:cs typeface="+mn-cs"/>
                  </a:rPr>
                  <a:t>min⁡</a:t>
                </a:r>
                <a:r>
                  <a:rPr lang="ar-AE" altLang="zh-CN" sz="1200" i="0" kern="1200">
                    <a:solidFill>
                      <a:schemeClr val="tx1"/>
                    </a:solidFill>
                    <a:latin typeface="+mn-lt"/>
                    <a:ea typeface="+mn-ea"/>
                    <a:cs typeface="+mn-cs"/>
                  </a:rPr>
                  <a:t>(</a:t>
                </a:r>
                <a:r>
                  <a:rPr lang="nl-NL" altLang="zh-CN" sz="1200" b="0" i="0" kern="1200">
                    <a:solidFill>
                      <a:schemeClr val="tx1"/>
                    </a:solidFill>
                    <a:latin typeface="+mn-lt"/>
                    <a:ea typeface="+mn-ea"/>
                    <a:cs typeface="+mn-cs"/>
                  </a:rPr>
                  <a:t>"arrival rate</a:t>
                </a:r>
                <a:r>
                  <a:rPr lang="ar-AE" altLang="zh-CN" sz="1200" b="0" i="0" kern="1200">
                    <a:solidFill>
                      <a:schemeClr val="tx1"/>
                    </a:solidFill>
                    <a:latin typeface="+mn-lt"/>
                    <a:ea typeface="+mn-ea"/>
                    <a:cs typeface="+mn-cs"/>
                  </a:rPr>
                  <a:t>" ⓜ,</a:t>
                </a:r>
                <a:r>
                  <a:rPr lang="nl-NL" altLang="zh-CN" sz="1200" b="0" i="0" kern="1200">
                    <a:solidFill>
                      <a:schemeClr val="tx1"/>
                    </a:solidFill>
                    <a:latin typeface="+mn-lt"/>
                    <a:ea typeface="+mn-ea"/>
                    <a:cs typeface="+mn-cs"/>
                  </a:rPr>
                  <a:t>"bandwidth</a:t>
                </a:r>
                <a:r>
                  <a:rPr lang="ar-AE" altLang="zh-CN" sz="1200" b="0" i="0" kern="1200">
                    <a:solidFill>
                      <a:schemeClr val="tx1"/>
                    </a:solidFill>
                    <a:latin typeface="+mn-lt"/>
                    <a:ea typeface="+mn-ea"/>
                    <a:cs typeface="+mn-cs"/>
                  </a:rPr>
                  <a:t>" )</a:t>
                </a:r>
                <a:r>
                  <a:rPr lang="ar-AE" altLang="zh-CN" dirty="0"/>
                  <a:t>, </a:t>
                </a:r>
                <a:r>
                  <a:rPr lang="nl-NL" altLang="zh-CN" dirty="0"/>
                  <a:t>so the queue slope cannot be negative.</a:t>
                </a:r>
                <a:br>
                  <a:rPr lang="nl-NL" altLang="zh-CN" dirty="0"/>
                </a:br>
                <a:r>
                  <a:rPr lang="nl-NL" altLang="zh-CN" dirty="0"/>
                  <a:t>If queue = 0:</a:t>
                </a:r>
                <a:br>
                  <a:rPr lang="nl-NL" altLang="zh-CN" dirty="0"/>
                </a:br>
                <a:r>
                  <a:rPr lang="nl-NL" altLang="zh-CN" dirty="0"/>
                  <a:t>slope = max(0, arrival − bandwidth)</a:t>
                </a:r>
                <a:endParaRPr lang="en-US" altLang="zh-CN" dirty="0"/>
              </a:p>
              <a:p>
                <a:r>
                  <a:rPr lang="en-US" altLang="zh-CN" dirty="0"/>
                  <a:t>Write your answer as a range. Examples:</a:t>
                </a:r>
              </a:p>
              <a:p>
                <a:pPr lvl="1"/>
                <a:r>
                  <a:rPr lang="en-US" altLang="zh-CN" dirty="0"/>
                  <a:t>If the bandwidth must be exactly 3 Gbps, write </a:t>
                </a:r>
                <a:r>
                  <a:rPr lang="en-US" altLang="zh-CN" b="1" dirty="0"/>
                  <a:t>[3, 3]</a:t>
                </a:r>
                <a:r>
                  <a:rPr lang="en-US" altLang="zh-CN" dirty="0"/>
                  <a:t>.</a:t>
                </a:r>
              </a:p>
              <a:p>
                <a:pPr lvl="1"/>
                <a:r>
                  <a:rPr lang="en-US" altLang="zh-CN" dirty="0"/>
                  <a:t>If the exact bandwidth cannot be determined, but must be at least 3 Gbps, write </a:t>
                </a:r>
                <a:r>
                  <a:rPr lang="en-US" altLang="zh-CN" b="1" dirty="0"/>
                  <a:t>[3, ∞]</a:t>
                </a:r>
                <a:r>
                  <a:rPr lang="en-US" altLang="zh-CN" dirty="0"/>
                  <a:t>.</a:t>
                </a:r>
              </a:p>
              <a:p>
                <a:pPr lvl="1"/>
                <a:r>
                  <a:rPr lang="en-US" altLang="zh-CN" dirty="0"/>
                  <a:t>If there is not enough information to determine any range, write </a:t>
                </a:r>
                <a:r>
                  <a:rPr lang="en-US" altLang="zh-CN" b="1" dirty="0"/>
                  <a:t>[0, ∞]</a:t>
                </a:r>
                <a:r>
                  <a:rPr lang="en-US" altLang="zh-CN" dirty="0"/>
                  <a:t>. </a:t>
                </a:r>
                <a:r>
                  <a:rPr lang="nl-NL" altLang="zh-CN" dirty="0"/>
                  <a:t>queue slope = 15 Gbps</a:t>
                </a:r>
                <a:endParaRPr lang="en-US" altLang="zh-CN" dirty="0"/>
              </a:p>
              <a:p>
                <a:endParaRPr lang="zh-CN" alt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13</a:t>
            </a:fld>
            <a:endParaRPr lang="en-US"/>
          </a:p>
        </p:txBody>
      </p:sp>
    </p:spTree>
    <p:extLst>
      <p:ext uri="{BB962C8B-B14F-4D97-AF65-F5344CB8AC3E}">
        <p14:creationId xmlns:p14="http://schemas.microsoft.com/office/powerpoint/2010/main" val="1464909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Because the exam is using </a:t>
            </a:r>
            <a:r>
              <a:rPr lang="en-US" altLang="zh-CN" b="1" dirty="0"/>
              <a:t>two different transmission models</a:t>
            </a:r>
            <a:r>
              <a:rPr lang="en-US" altLang="zh-CN" dirty="0"/>
              <a:t>.</a:t>
            </a:r>
          </a:p>
          <a:p>
            <a:r>
              <a:rPr lang="en-US" altLang="zh-CN" dirty="0"/>
              <a:t>In </a:t>
            </a:r>
            <a:r>
              <a:rPr lang="en-US" altLang="zh-CN" b="1" dirty="0"/>
              <a:t>Q2.1–Q2.6</a:t>
            </a:r>
            <a:r>
              <a:rPr lang="en-US" altLang="zh-CN" dirty="0"/>
              <a:t>, the problem explicitly says: </a:t>
            </a:r>
            <a:r>
              <a:rPr lang="en-US" altLang="zh-CN" b="1" dirty="0"/>
              <a:t>“E must receive all bits of a payload before sending that payload along the next link.”</a:t>
            </a:r>
            <a:r>
              <a:rPr lang="en-US" altLang="zh-CN" dirty="0"/>
              <a:t> That is classic </a:t>
            </a:r>
            <a:r>
              <a:rPr lang="en-US" altLang="zh-CN" b="1" dirty="0"/>
              <a:t>store-and-forward</a:t>
            </a:r>
            <a:r>
              <a:rPr lang="en-US" altLang="zh-CN" dirty="0"/>
              <a:t> behavior, so a whole 20 Gbit payload must finish arriving at (E) before (E) starts transmitting it onward.</a:t>
            </a:r>
          </a:p>
          <a:p>
            <a:r>
              <a:rPr lang="en-US" altLang="zh-CN" dirty="0"/>
              <a:t>In </a:t>
            </a:r>
            <a:r>
              <a:rPr lang="en-US" altLang="zh-CN" b="1" dirty="0"/>
              <a:t>Q2.7–Q2.9</a:t>
            </a:r>
            <a:r>
              <a:rPr lang="en-US" altLang="zh-CN" dirty="0"/>
              <a:t>, the setup changes to: </a:t>
            </a:r>
            <a:r>
              <a:rPr lang="en-US" altLang="zh-CN" b="1" dirty="0"/>
              <a:t>“At E, each bit can be forwarded independently of other bits.”</a:t>
            </a:r>
            <a:r>
              <a:rPr lang="en-US" altLang="zh-CN" dirty="0"/>
              <a:t> That is a </a:t>
            </a:r>
            <a:r>
              <a:rPr lang="en-US" altLang="zh-CN" b="1" dirty="0"/>
              <a:t>bit-by-bit / fluid</a:t>
            </a:r>
            <a:r>
              <a:rPr lang="en-US" altLang="zh-CN" dirty="0"/>
              <a:t> model, so (E) can start forwarding as soon as the first bit arrives, without waiting for the whole payload.</a:t>
            </a:r>
          </a:p>
          <a:p>
            <a:r>
              <a:rPr lang="en-US" altLang="zh-CN" dirty="0"/>
              <a:t>So the exam is not being inconsistent; it is switching models on purpose.</a:t>
            </a:r>
          </a:p>
          <a:p>
            <a:r>
              <a:rPr lang="en-US" altLang="zh-CN" dirty="0"/>
              <a:t>Under the bit-by-bit model, Q2.1 would look like this:</a:t>
            </a:r>
          </a:p>
          <a:p>
            <a:r>
              <a:rPr lang="en-US" altLang="zh-CN" sz="1200" kern="1200" dirty="0">
                <a:solidFill>
                  <a:schemeClr val="tx1"/>
                </a:solidFill>
                <a:latin typeface="+mn-lt"/>
                <a:ea typeface="+mn-ea"/>
                <a:cs typeface="+mn-cs"/>
              </a:rPr>
              <a:t>H -&gt; E -&gt; T</a:t>
            </a:r>
          </a:p>
          <a:p>
            <a:r>
              <a:rPr lang="en-US" altLang="zh-CN" sz="1200" kern="1200" dirty="0">
                <a:solidFill>
                  <a:schemeClr val="tx1"/>
                </a:solidFill>
                <a:latin typeface="+mn-lt"/>
                <a:ea typeface="+mn-ea"/>
                <a:cs typeface="+mn-cs"/>
              </a:rPr>
              <a:t>Link 1: 20 Gbps, 2 s propagation</a:t>
            </a:r>
          </a:p>
          <a:p>
            <a:r>
              <a:rPr lang="en-US" altLang="zh-CN" sz="1200" kern="1200" dirty="0">
                <a:solidFill>
                  <a:schemeClr val="tx1"/>
                </a:solidFill>
                <a:latin typeface="+mn-lt"/>
                <a:ea typeface="+mn-ea"/>
                <a:cs typeface="+mn-cs"/>
              </a:rPr>
              <a:t>Link 2: 10 Gbps, 10 s propagation</a:t>
            </a:r>
          </a:p>
          <a:p>
            <a:endParaRPr lang="en-US" altLang="zh-CN" sz="1200" kern="1200" dirty="0">
              <a:solidFill>
                <a:schemeClr val="tx1"/>
              </a:solidFill>
              <a:latin typeface="+mn-lt"/>
              <a:ea typeface="+mn-ea"/>
              <a:cs typeface="+mn-cs"/>
            </a:endParaRPr>
          </a:p>
          <a:p>
            <a:r>
              <a:rPr lang="en-US" altLang="zh-CN" sz="1200" kern="1200" dirty="0">
                <a:solidFill>
                  <a:schemeClr val="tx1"/>
                </a:solidFill>
                <a:latin typeface="+mn-lt"/>
                <a:ea typeface="+mn-ea"/>
                <a:cs typeface="+mn-cs"/>
              </a:rPr>
              <a:t>Payload 1:</a:t>
            </a:r>
          </a:p>
          <a:p>
            <a:r>
              <a:rPr lang="en-US" altLang="zh-CN" sz="1200" kern="1200" dirty="0">
                <a:solidFill>
                  <a:schemeClr val="tx1"/>
                </a:solidFill>
                <a:latin typeface="+mn-lt"/>
                <a:ea typeface="+mn-ea"/>
                <a:cs typeface="+mn-cs"/>
              </a:rPr>
              <a:t>H sends bits during [0,1]</a:t>
            </a:r>
          </a:p>
          <a:p>
            <a:r>
              <a:rPr lang="en-US" altLang="zh-CN" sz="1200" kern="1200" dirty="0">
                <a:solidFill>
                  <a:schemeClr val="tx1"/>
                </a:solidFill>
                <a:latin typeface="+mn-lt"/>
                <a:ea typeface="+mn-ea"/>
                <a:cs typeface="+mn-cs"/>
              </a:rPr>
              <a:t>E receives bits during [2,3]</a:t>
            </a:r>
          </a:p>
          <a:p>
            <a:r>
              <a:rPr lang="en-US" altLang="zh-CN" sz="1200" kern="1200" dirty="0">
                <a:solidFill>
                  <a:schemeClr val="tx1"/>
                </a:solidFill>
                <a:latin typeface="+mn-lt"/>
                <a:ea typeface="+mn-ea"/>
                <a:cs typeface="+mn-cs"/>
              </a:rPr>
              <a:t>E starts forwarding immediately at t = 2</a:t>
            </a:r>
          </a:p>
          <a:p>
            <a:r>
              <a:rPr lang="en-US" altLang="zh-CN" sz="1200" kern="1200" dirty="0">
                <a:solidFill>
                  <a:schemeClr val="tx1"/>
                </a:solidFill>
                <a:latin typeface="+mn-lt"/>
                <a:ea typeface="+mn-ea"/>
                <a:cs typeface="+mn-cs"/>
              </a:rPr>
              <a:t>E finishes sending payload 1 at t = 4</a:t>
            </a:r>
          </a:p>
          <a:p>
            <a:r>
              <a:rPr lang="en-US" altLang="zh-CN" sz="1200" kern="1200" dirty="0">
                <a:solidFill>
                  <a:schemeClr val="tx1"/>
                </a:solidFill>
                <a:latin typeface="+mn-lt"/>
                <a:ea typeface="+mn-ea"/>
                <a:cs typeface="+mn-cs"/>
              </a:rPr>
              <a:t>T receives the last bit at t = 14</a:t>
            </a:r>
          </a:p>
          <a:p>
            <a:r>
              <a:rPr lang="en-US" altLang="zh-CN" dirty="0"/>
              <a:t>So compared with the store-and-forward answer:</a:t>
            </a:r>
          </a:p>
          <a:p>
            <a:r>
              <a:rPr lang="en-US" altLang="zh-CN" dirty="0"/>
              <a:t>first bit can leave (E) at </a:t>
            </a:r>
            <a:r>
              <a:rPr lang="en-US" altLang="zh-CN" b="1" dirty="0"/>
              <a:t>t = 2</a:t>
            </a:r>
            <a:r>
              <a:rPr lang="en-US" altLang="zh-CN" dirty="0"/>
              <a:t> instead of </a:t>
            </a:r>
            <a:r>
              <a:rPr lang="en-US" altLang="zh-CN" b="1" dirty="0"/>
              <a:t>t = 3</a:t>
            </a:r>
            <a:endParaRPr lang="en-US" altLang="zh-CN" dirty="0"/>
          </a:p>
          <a:p>
            <a:r>
              <a:rPr lang="en-US" altLang="zh-CN" dirty="0"/>
              <a:t>the last bit of payload 1 reaches (T) at </a:t>
            </a:r>
            <a:r>
              <a:rPr lang="en-US" altLang="zh-CN" b="1" dirty="0"/>
              <a:t>t = 14</a:t>
            </a:r>
            <a:r>
              <a:rPr lang="en-US" altLang="zh-CN" dirty="0"/>
              <a:t> instead of </a:t>
            </a:r>
            <a:r>
              <a:rPr lang="en-US" altLang="zh-CN" b="1" dirty="0"/>
              <a:t>t = 15</a:t>
            </a:r>
            <a:endParaRPr lang="en-US" altLang="zh-CN" dirty="0"/>
          </a:p>
          <a:p>
            <a:r>
              <a:rPr lang="en-US" altLang="zh-CN" dirty="0"/>
              <a:t>And the later payloads would finish at (T) every 2 seconds after that:</a:t>
            </a:r>
            <a:br>
              <a:rPr lang="en-US" altLang="zh-CN" dirty="0"/>
            </a:br>
            <a:r>
              <a:rPr lang="en-US" altLang="zh-CN" dirty="0"/>
              <a:t>[</a:t>
            </a:r>
            <a:br>
              <a:rPr lang="en-US" altLang="zh-CN" dirty="0"/>
            </a:br>
            <a:r>
              <a:rPr lang="en-US" altLang="zh-CN" dirty="0"/>
              <a:t>14, 16, 18, \dots, 32</a:t>
            </a:r>
            <a:br>
              <a:rPr lang="en-US" altLang="zh-CN" dirty="0"/>
            </a:br>
            <a:r>
              <a:rPr lang="en-US" altLang="zh-CN" dirty="0"/>
              <a:t>]</a:t>
            </a:r>
          </a:p>
          <a:p>
            <a:r>
              <a:rPr lang="en-US" altLang="zh-CN"/>
              <a:t>That is why the later subparts use queue </a:t>
            </a:r>
            <a:r>
              <a:rPr lang="en-US" altLang="zh-CN" b="1"/>
              <a:t>size in Gbit</a:t>
            </a:r>
            <a:r>
              <a:rPr lang="en-US" altLang="zh-CN"/>
              <a:t> and </a:t>
            </a:r>
            <a:r>
              <a:rPr lang="en-US" altLang="zh-CN" b="1"/>
              <a:t>slope/rate</a:t>
            </a:r>
            <a:r>
              <a:rPr lang="en-US" altLang="zh-CN"/>
              <a:t>, instead of whole-packet waiting times.</a:t>
            </a:r>
          </a:p>
          <a:p>
            <a:endParaRPr lang="zh-CN" altLang="en-US"/>
          </a:p>
        </p:txBody>
      </p:sp>
      <p:sp>
        <p:nvSpPr>
          <p:cNvPr id="4" name="Slide Number Placeholder 3"/>
          <p:cNvSpPr>
            <a:spLocks noGrp="1"/>
          </p:cNvSpPr>
          <p:nvPr>
            <p:ph type="sldNum" sz="quarter" idx="5"/>
          </p:nvPr>
        </p:nvSpPr>
        <p:spPr/>
        <p:txBody>
          <a:bodyPr/>
          <a:lstStyle/>
          <a:p>
            <a:fld id="{2D71AD5F-E36F-46B9-A99B-7B025244359D}" type="slidenum">
              <a:rPr lang="en-US" smtClean="0"/>
              <a:pPr/>
              <a:t>14</a:t>
            </a:fld>
            <a:endParaRPr lang="en-US"/>
          </a:p>
        </p:txBody>
      </p:sp>
    </p:spTree>
    <p:extLst>
      <p:ext uri="{BB962C8B-B14F-4D97-AF65-F5344CB8AC3E}">
        <p14:creationId xmlns:p14="http://schemas.microsoft.com/office/powerpoint/2010/main" val="3494257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middle router can lose its direct route to  D, while each outer router may still hear a finite route from the other outer router, because poisoned reverse only hides the route from the neighbor being used as next hop.  As a result, the false route can circulate around the triangle and the metric can increase repeatedly, so B still has count-to-infinity. For C, removing D still leaves a triangle among the three non-destination routers. That creates the same problem as in B:</a:t>
            </a:r>
            <a:endParaRPr lang="zh-CN" alt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16</a:t>
            </a:fld>
            <a:endParaRPr lang="en-US"/>
          </a:p>
        </p:txBody>
      </p:sp>
    </p:spTree>
    <p:extLst>
      <p:ext uri="{BB962C8B-B14F-4D97-AF65-F5344CB8AC3E}">
        <p14:creationId xmlns:p14="http://schemas.microsoft.com/office/powerpoint/2010/main" val="841813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Determine the path (if any) between the following </a:t>
            </a:r>
            <a:r>
              <a:rPr lang="en-US" altLang="zh-CN" sz="1200" kern="1200" dirty="0" err="1">
                <a:solidFill>
                  <a:schemeClr val="tx1"/>
                </a:solidFill>
                <a:effectLst/>
                <a:latin typeface="+mn-lt"/>
                <a:ea typeface="+mn-ea"/>
                <a:cs typeface="+mn-cs"/>
              </a:rPr>
              <a:t>ASes</a:t>
            </a:r>
            <a:r>
              <a:rPr lang="en-US" altLang="zh-CN" sz="1200" kern="1200" dirty="0">
                <a:solidFill>
                  <a:schemeClr val="tx1"/>
                </a:solidFill>
                <a:effectLst/>
                <a:latin typeface="+mn-lt"/>
                <a:ea typeface="+mn-ea"/>
                <a:cs typeface="+mn-cs"/>
              </a:rPr>
              <a:t>. If there is no path possible, write "None".</a:t>
            </a:r>
            <a:endParaRPr lang="zh-CN" alt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19</a:t>
            </a:fld>
            <a:endParaRPr lang="en-US"/>
          </a:p>
        </p:txBody>
      </p:sp>
    </p:spTree>
    <p:extLst>
      <p:ext uri="{BB962C8B-B14F-4D97-AF65-F5344CB8AC3E}">
        <p14:creationId xmlns:p14="http://schemas.microsoft.com/office/powerpoint/2010/main" val="302481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E92E5-7E0E-2FF9-69EE-00CE9623C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6023F-7074-F221-B90A-F02C7C8D0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B59B5-BD89-7CFF-2C0A-C4886158309F}"/>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Determine the path (if any) between the following </a:t>
            </a:r>
            <a:r>
              <a:rPr lang="en-US" altLang="zh-CN" sz="1200" kern="1200" dirty="0" err="1">
                <a:solidFill>
                  <a:schemeClr val="tx1"/>
                </a:solidFill>
                <a:effectLst/>
                <a:latin typeface="+mn-lt"/>
                <a:ea typeface="+mn-ea"/>
                <a:cs typeface="+mn-cs"/>
              </a:rPr>
              <a:t>ASes</a:t>
            </a:r>
            <a:r>
              <a:rPr lang="en-US" altLang="zh-CN" sz="1200" kern="1200" dirty="0">
                <a:solidFill>
                  <a:schemeClr val="tx1"/>
                </a:solidFill>
                <a:effectLst/>
                <a:latin typeface="+mn-lt"/>
                <a:ea typeface="+mn-ea"/>
                <a:cs typeface="+mn-cs"/>
              </a:rPr>
              <a:t>. If there is no path possible, write "None".</a:t>
            </a:r>
            <a:endParaRPr lang="zh-CN" altLang="en-US" dirty="0"/>
          </a:p>
        </p:txBody>
      </p:sp>
      <p:sp>
        <p:nvSpPr>
          <p:cNvPr id="4" name="Slide Number Placeholder 3">
            <a:extLst>
              <a:ext uri="{FF2B5EF4-FFF2-40B4-BE49-F238E27FC236}">
                <a16:creationId xmlns:a16="http://schemas.microsoft.com/office/drawing/2014/main" id="{43DA8EDE-FB1C-C46D-A4EF-A47F6AFF0998}"/>
              </a:ext>
            </a:extLst>
          </p:cNvPr>
          <p:cNvSpPr>
            <a:spLocks noGrp="1"/>
          </p:cNvSpPr>
          <p:nvPr>
            <p:ph type="sldNum" sz="quarter" idx="5"/>
          </p:nvPr>
        </p:nvSpPr>
        <p:spPr/>
        <p:txBody>
          <a:bodyPr/>
          <a:lstStyle/>
          <a:p>
            <a:fld id="{2D71AD5F-E36F-46B9-A99B-7B025244359D}" type="slidenum">
              <a:rPr lang="en-US" smtClean="0"/>
              <a:pPr/>
              <a:t>20</a:t>
            </a:fld>
            <a:endParaRPr lang="en-US"/>
          </a:p>
        </p:txBody>
      </p:sp>
    </p:spTree>
    <p:extLst>
      <p:ext uri="{BB962C8B-B14F-4D97-AF65-F5344CB8AC3E}">
        <p14:creationId xmlns:p14="http://schemas.microsoft.com/office/powerpoint/2010/main" val="2417577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a:p>
            <a:r>
              <a:rPr lang="nl-NL" altLang="zh-CN" dirty="0"/>
              <a:t>https://wiki.eecs.yorku.ca/course_archive/2012-13/W/3214/_media/solutions_to_chapter_3_problems.pdf</a:t>
            </a:r>
            <a:endParaRPr lang="zh-CN" alt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23</a:t>
            </a:fld>
            <a:endParaRPr lang="en-US"/>
          </a:p>
        </p:txBody>
      </p:sp>
    </p:spTree>
    <p:extLst>
      <p:ext uri="{BB962C8B-B14F-4D97-AF65-F5344CB8AC3E}">
        <p14:creationId xmlns:p14="http://schemas.microsoft.com/office/powerpoint/2010/main" val="196097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77BA2-1CB1-A1F5-1AAA-A6AED21DC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DC006-F5F7-9C9C-8695-F410E3EAF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B2EE2-08BA-BEFA-2819-0C5A42BE1BF9}"/>
              </a:ext>
            </a:extLst>
          </p:cNvPr>
          <p:cNvSpPr>
            <a:spLocks noGrp="1"/>
          </p:cNvSpPr>
          <p:nvPr>
            <p:ph type="body" idx="1"/>
          </p:nvPr>
        </p:nvSpPr>
        <p:spPr/>
        <p:txBody>
          <a:bodyPr/>
          <a:lstStyle/>
          <a:p>
            <a:endParaRPr lang="en-US" altLang="zh-CN" dirty="0"/>
          </a:p>
          <a:p>
            <a:r>
              <a:rPr lang="nl-NL" altLang="zh-CN" dirty="0"/>
              <a:t>https://wiki.eecs.yorku.ca/course_archive/2012-13/W/3214/_media/solutions_to_chapter_3_problems.pdf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If there was a timeout, the congestion window size would have dropped to 1.</a:t>
            </a:r>
          </a:p>
          <a:p>
            <a:endParaRPr lang="zh-CN" altLang="en-US" dirty="0"/>
          </a:p>
        </p:txBody>
      </p:sp>
      <p:sp>
        <p:nvSpPr>
          <p:cNvPr id="4" name="Slide Number Placeholder 3">
            <a:extLst>
              <a:ext uri="{FF2B5EF4-FFF2-40B4-BE49-F238E27FC236}">
                <a16:creationId xmlns:a16="http://schemas.microsoft.com/office/drawing/2014/main" id="{D50CB27C-EF13-6CA2-0BD0-F43B97AB8F1D}"/>
              </a:ext>
            </a:extLst>
          </p:cNvPr>
          <p:cNvSpPr>
            <a:spLocks noGrp="1"/>
          </p:cNvSpPr>
          <p:nvPr>
            <p:ph type="sldNum" sz="quarter" idx="5"/>
          </p:nvPr>
        </p:nvSpPr>
        <p:spPr/>
        <p:txBody>
          <a:bodyPr/>
          <a:lstStyle/>
          <a:p>
            <a:fld id="{2D71AD5F-E36F-46B9-A99B-7B025244359D}" type="slidenum">
              <a:rPr lang="en-US" smtClean="0"/>
              <a:pPr/>
              <a:t>24</a:t>
            </a:fld>
            <a:endParaRPr lang="en-US"/>
          </a:p>
        </p:txBody>
      </p:sp>
    </p:spTree>
    <p:extLst>
      <p:ext uri="{BB962C8B-B14F-4D97-AF65-F5344CB8AC3E}">
        <p14:creationId xmlns:p14="http://schemas.microsoft.com/office/powerpoint/2010/main" val="1393953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break down the problem step by step based on the information provided in the table and the questions asked.</a:t>
            </a:r>
          </a:p>
          <a:p>
            <a:endParaRPr lang="en-GB" dirty="0"/>
          </a:p>
          <a:p>
            <a:r>
              <a:rPr lang="en-GB" dirty="0"/>
              <a:t>### Given:</a:t>
            </a:r>
          </a:p>
          <a:p>
            <a:r>
              <a:rPr lang="en-GB" dirty="0"/>
              <a:t>- The 3-bit block cipher is represented as a mapping between plaintext and ciphertext:</a:t>
            </a:r>
          </a:p>
          <a:p>
            <a:endParaRPr lang="en-GB" dirty="0"/>
          </a:p>
          <a:p>
            <a:r>
              <a:rPr lang="en-GB" dirty="0"/>
              <a:t>$$</a:t>
            </a:r>
          </a:p>
          <a:p>
            <a:r>
              <a:rPr lang="en-GB" dirty="0"/>
              <a:t>\begin{array}{|</a:t>
            </a:r>
            <a:r>
              <a:rPr lang="en-GB" dirty="0" err="1"/>
              <a:t>c|c</a:t>
            </a:r>
            <a:r>
              <a:rPr lang="en-GB" dirty="0"/>
              <a:t>|}</a:t>
            </a:r>
          </a:p>
          <a:p>
            <a:r>
              <a:rPr lang="en-GB" dirty="0"/>
              <a:t>\</a:t>
            </a:r>
            <a:r>
              <a:rPr lang="en-GB" dirty="0" err="1"/>
              <a:t>hline</a:t>
            </a:r>
            <a:endParaRPr lang="en-GB" dirty="0"/>
          </a:p>
          <a:p>
            <a:r>
              <a:rPr lang="en-GB" dirty="0"/>
              <a:t>\text{Plaintext} &amp; \text{Ciphertext} \\</a:t>
            </a:r>
          </a:p>
          <a:p>
            <a:r>
              <a:rPr lang="en-GB" dirty="0"/>
              <a:t>\</a:t>
            </a:r>
            <a:r>
              <a:rPr lang="en-GB" dirty="0" err="1"/>
              <a:t>hline</a:t>
            </a:r>
            <a:endParaRPr lang="en-GB" dirty="0"/>
          </a:p>
          <a:p>
            <a:r>
              <a:rPr lang="en-GB" dirty="0"/>
              <a:t>000 &amp; 110 \\</a:t>
            </a:r>
          </a:p>
          <a:p>
            <a:r>
              <a:rPr lang="en-GB" dirty="0"/>
              <a:t>001 &amp; 111 \\</a:t>
            </a:r>
          </a:p>
          <a:p>
            <a:r>
              <a:rPr lang="en-GB" dirty="0"/>
              <a:t>010 &amp; 101 \\</a:t>
            </a:r>
          </a:p>
          <a:p>
            <a:r>
              <a:rPr lang="en-GB" dirty="0"/>
              <a:t>011 &amp; 100 \\</a:t>
            </a:r>
          </a:p>
          <a:p>
            <a:r>
              <a:rPr lang="en-GB" dirty="0"/>
              <a:t>100 &amp; 011 \\</a:t>
            </a:r>
          </a:p>
          <a:p>
            <a:r>
              <a:rPr lang="en-GB" dirty="0"/>
              <a:t>101 &amp; 010 \\</a:t>
            </a:r>
          </a:p>
          <a:p>
            <a:r>
              <a:rPr lang="en-GB" dirty="0"/>
              <a:t>110 &amp; 000 \\</a:t>
            </a:r>
          </a:p>
          <a:p>
            <a:r>
              <a:rPr lang="en-GB" dirty="0"/>
              <a:t>111 &amp; 001 \\</a:t>
            </a:r>
          </a:p>
          <a:p>
            <a:r>
              <a:rPr lang="en-GB" dirty="0"/>
              <a:t>\</a:t>
            </a:r>
            <a:r>
              <a:rPr lang="en-GB" dirty="0" err="1"/>
              <a:t>hline</a:t>
            </a:r>
            <a:endParaRPr lang="en-GB" dirty="0"/>
          </a:p>
          <a:p>
            <a:r>
              <a:rPr lang="en-GB" dirty="0"/>
              <a:t>\end{array}</a:t>
            </a:r>
          </a:p>
          <a:p>
            <a:r>
              <a:rPr lang="en-GB" dirty="0"/>
              <a:t>$$</a:t>
            </a:r>
          </a:p>
          <a:p>
            <a:endParaRPr lang="en-GB" dirty="0"/>
          </a:p>
          <a:p>
            <a:r>
              <a:rPr lang="en-GB" dirty="0"/>
              <a:t>### (a) **Without CBC: What is the resulting ciphertext for the plaintext `100101100`?**</a:t>
            </a:r>
          </a:p>
          <a:p>
            <a:endParaRPr lang="en-GB" dirty="0"/>
          </a:p>
          <a:p>
            <a:r>
              <a:rPr lang="en-GB" dirty="0"/>
              <a:t>The plaintext `100101100` is a sequence of 9 bits, which we can divide into three 3-bit blocks:</a:t>
            </a:r>
          </a:p>
          <a:p>
            <a:endParaRPr lang="en-GB" dirty="0"/>
          </a:p>
          <a:p>
            <a:r>
              <a:rPr lang="en-GB" dirty="0"/>
              <a:t>- First block: `100`</a:t>
            </a:r>
          </a:p>
          <a:p>
            <a:r>
              <a:rPr lang="en-GB" dirty="0"/>
              <a:t>- Second block: `101`</a:t>
            </a:r>
          </a:p>
          <a:p>
            <a:r>
              <a:rPr lang="en-GB" dirty="0"/>
              <a:t>- Third block: `100`</a:t>
            </a:r>
          </a:p>
          <a:p>
            <a:endParaRPr lang="en-GB" dirty="0"/>
          </a:p>
          <a:p>
            <a:r>
              <a:rPr lang="en-GB" dirty="0"/>
              <a:t>Using the table provided, we can map each block of plaintext to its corresponding ciphertext:</a:t>
            </a:r>
          </a:p>
          <a:p>
            <a:endParaRPr lang="en-GB" dirty="0"/>
          </a:p>
          <a:p>
            <a:r>
              <a:rPr lang="en-GB" dirty="0"/>
              <a:t>- `100` maps to `011`</a:t>
            </a:r>
          </a:p>
          <a:p>
            <a:r>
              <a:rPr lang="en-GB" dirty="0"/>
              <a:t>- `101` maps to `010`</a:t>
            </a:r>
          </a:p>
          <a:p>
            <a:r>
              <a:rPr lang="en-GB" dirty="0"/>
              <a:t>- `100` maps to `011`</a:t>
            </a:r>
          </a:p>
          <a:p>
            <a:endParaRPr lang="en-GB" dirty="0"/>
          </a:p>
          <a:p>
            <a:r>
              <a:rPr lang="en-GB" dirty="0"/>
              <a:t>Thus, the resulting ciphertext is the concatenation of these three ciphertext blocks:</a:t>
            </a:r>
          </a:p>
          <a:p>
            <a:endParaRPr lang="en-GB" dirty="0"/>
          </a:p>
          <a:p>
            <a:r>
              <a:rPr lang="en-GB" dirty="0"/>
              <a:t>$$</a:t>
            </a:r>
          </a:p>
          <a:p>
            <a:r>
              <a:rPr lang="en-GB" dirty="0"/>
              <a:t>\text{Ciphertext} = 011010011</a:t>
            </a:r>
          </a:p>
          <a:p>
            <a:r>
              <a:rPr lang="en-GB" dirty="0"/>
              <a:t>$$</a:t>
            </a:r>
          </a:p>
          <a:p>
            <a:endParaRPr lang="en-GB" dirty="0"/>
          </a:p>
          <a:p>
            <a:r>
              <a:rPr lang="en-GB" dirty="0"/>
              <a:t>### (b) **What can Trudy surmise if she sniffs the ciphertext and knows a 3-bit block cipher without CBC is being used?**</a:t>
            </a:r>
          </a:p>
          <a:p>
            <a:endParaRPr lang="en-GB" dirty="0"/>
          </a:p>
          <a:p>
            <a:r>
              <a:rPr lang="en-GB" dirty="0"/>
              <a:t>If Trudy intercepts the ciphertext but does not know the specific cipher being used, she can infer certain things based on her knowledge of how block ciphers work:</a:t>
            </a:r>
          </a:p>
          <a:p>
            <a:endParaRPr lang="en-GB" dirty="0"/>
          </a:p>
          <a:p>
            <a:r>
              <a:rPr lang="en-GB" dirty="0"/>
              <a:t>1. **Block Size**: Since she knows it's a 3-bit block cipher, she can deduce that each group of 3 bits in the intercepted ciphertext corresponds to one block of plaintext.</a:t>
            </a:r>
          </a:p>
          <a:p>
            <a:r>
              <a:rPr lang="en-GB" dirty="0"/>
              <a:t>   </a:t>
            </a:r>
          </a:p>
          <a:p>
            <a:r>
              <a:rPr lang="en-GB" dirty="0"/>
              <a:t>2. **Frequency Analysis**: If Trudy intercepts enough ciphertexts, she could perform frequency analysis on the blocks. For example, if certain ciphertext blocks appear more frequently, she might guess that they correspond to more common plaintext blocks (like spaces or common letters in text).</a:t>
            </a:r>
          </a:p>
          <a:p>
            <a:endParaRPr lang="en-GB" dirty="0"/>
          </a:p>
          <a:p>
            <a:r>
              <a:rPr lang="en-GB" dirty="0"/>
              <a:t>3. **No CBC Weakness**: Without CBC (Cipher Block Chaining), each identical plaintext block will always map to the same ciphertext block. This makes it easier for Trudy to recognize patterns in repeated blocks of data.</a:t>
            </a:r>
          </a:p>
          <a:p>
            <a:endParaRPr lang="en-GB" dirty="0"/>
          </a:p>
          <a:p>
            <a:r>
              <a:rPr lang="en-GB" dirty="0"/>
              <a:t>However, without knowing the specific mapping between plaintext and ciphertext, Trudy cannot directly decrypt the message unless she somehow discovers or guesses this mapping.</a:t>
            </a:r>
          </a:p>
          <a:p>
            <a:endParaRPr lang="en-GB" dirty="0"/>
          </a:p>
          <a:p>
            <a:r>
              <a:rPr lang="en-GB" dirty="0"/>
              <a:t>### (c) **With CBC and IV = 111: What is the resulting ciphertext for the plaintext `100101100`?**</a:t>
            </a:r>
          </a:p>
          <a:p>
            <a:endParaRPr lang="en-GB" dirty="0"/>
          </a:p>
          <a:p>
            <a:r>
              <a:rPr lang="en-GB" dirty="0"/>
              <a:t>When CBC (Cipher Block Chaining) is used, each plaintext block is XORed with the previous ciphertext block (or with the Initialization Vector (IV) for the first block) before being encrypted.</a:t>
            </a:r>
          </a:p>
          <a:p>
            <a:endParaRPr lang="en-GB" dirty="0"/>
          </a:p>
          <a:p>
            <a:r>
              <a:rPr lang="en-GB" dirty="0"/>
              <a:t>1. **IV = 111**: The first step is to XOR the first plaintext block with the IV.</a:t>
            </a:r>
          </a:p>
          <a:p>
            <a:endParaRPr lang="en-GB" dirty="0"/>
          </a:p>
          <a:p>
            <a:r>
              <a:rPr lang="en-GB" dirty="0"/>
              <a:t>   - First plaintext block: `100`</a:t>
            </a:r>
          </a:p>
          <a:p>
            <a:r>
              <a:rPr lang="en-GB" dirty="0"/>
              <a:t>   - IV: `111`</a:t>
            </a:r>
          </a:p>
          <a:p>
            <a:r>
              <a:rPr lang="en-GB" dirty="0"/>
              <a:t>   - XOR result: $$ 100 \</a:t>
            </a:r>
            <a:r>
              <a:rPr lang="en-GB" dirty="0" err="1"/>
              <a:t>oplus</a:t>
            </a:r>
            <a:r>
              <a:rPr lang="en-GB" dirty="0"/>
              <a:t> 111 = 011 $$</a:t>
            </a:r>
          </a:p>
          <a:p>
            <a:endParaRPr lang="en-GB" dirty="0"/>
          </a:p>
          <a:p>
            <a:r>
              <a:rPr lang="en-GB" dirty="0"/>
              <a:t>   Now we encrypt this result (`011`) using our cipher table:</a:t>
            </a:r>
          </a:p>
          <a:p>
            <a:r>
              <a:rPr lang="en-GB" dirty="0"/>
              <a:t>   </a:t>
            </a:r>
          </a:p>
          <a:p>
            <a:r>
              <a:rPr lang="en-GB" dirty="0"/>
              <a:t>   - `011` maps to `100`.</a:t>
            </a:r>
          </a:p>
          <a:p>
            <a:endParaRPr lang="en-GB" dirty="0"/>
          </a:p>
          <a:p>
            <a:r>
              <a:rPr lang="en-GB" dirty="0"/>
              <a:t>   So, the first ciphertext block is `100`.</a:t>
            </a:r>
          </a:p>
          <a:p>
            <a:endParaRPr lang="en-GB" dirty="0"/>
          </a:p>
          <a:p>
            <a:r>
              <a:rPr lang="en-GB" dirty="0"/>
              <a:t>2. **Second Block**: Now we XOR the second plaintext block with the first ciphertext block:</a:t>
            </a:r>
          </a:p>
          <a:p>
            <a:endParaRPr lang="en-GB" dirty="0"/>
          </a:p>
          <a:p>
            <a:r>
              <a:rPr lang="en-GB" dirty="0"/>
              <a:t>   - Second plaintext block: `101`</a:t>
            </a:r>
          </a:p>
          <a:p>
            <a:r>
              <a:rPr lang="en-GB" dirty="0"/>
              <a:t>   - First ciphertext block: `100`</a:t>
            </a:r>
          </a:p>
          <a:p>
            <a:r>
              <a:rPr lang="en-GB" dirty="0"/>
              <a:t>   - XOR result: $$ 101 \</a:t>
            </a:r>
            <a:r>
              <a:rPr lang="en-GB" dirty="0" err="1"/>
              <a:t>oplus</a:t>
            </a:r>
            <a:r>
              <a:rPr lang="en-GB" dirty="0"/>
              <a:t> 100 = 001 $$</a:t>
            </a:r>
          </a:p>
          <a:p>
            <a:endParaRPr lang="en-GB" dirty="0"/>
          </a:p>
          <a:p>
            <a:r>
              <a:rPr lang="en-GB" dirty="0"/>
              <a:t>   Now we encrypt this result (`001`) using our cipher table:</a:t>
            </a:r>
          </a:p>
          <a:p>
            <a:r>
              <a:rPr lang="en-GB" dirty="0"/>
              <a:t>   </a:t>
            </a:r>
          </a:p>
          <a:p>
            <a:r>
              <a:rPr lang="en-GB" dirty="0"/>
              <a:t>   - `001` maps to `111`.</a:t>
            </a:r>
          </a:p>
          <a:p>
            <a:endParaRPr lang="en-GB" dirty="0"/>
          </a:p>
          <a:p>
            <a:r>
              <a:rPr lang="en-GB" dirty="0"/>
              <a:t>   So, the second ciphertext block is `111`.</a:t>
            </a:r>
          </a:p>
          <a:p>
            <a:endParaRPr lang="en-GB" dirty="0"/>
          </a:p>
          <a:p>
            <a:r>
              <a:rPr lang="en-GB" dirty="0"/>
              <a:t>3. **Third Block**: Finally, we XOR the third plaintext block with the second ciphertext block:</a:t>
            </a:r>
          </a:p>
          <a:p>
            <a:endParaRPr lang="en-GB" dirty="0"/>
          </a:p>
          <a:p>
            <a:r>
              <a:rPr lang="en-GB" dirty="0"/>
              <a:t>   - Third plaintext block: `100`</a:t>
            </a:r>
          </a:p>
          <a:p>
            <a:r>
              <a:rPr lang="en-GB" dirty="0"/>
              <a:t>   - Second ciphertext block: `111`</a:t>
            </a:r>
          </a:p>
          <a:p>
            <a:r>
              <a:rPr lang="en-GB" dirty="0"/>
              <a:t>   - XOR result: $$ 100 \</a:t>
            </a:r>
            <a:r>
              <a:rPr lang="en-GB" dirty="0" err="1"/>
              <a:t>oplus</a:t>
            </a:r>
            <a:r>
              <a:rPr lang="en-GB" dirty="0"/>
              <a:t> 111 = 011 $$</a:t>
            </a:r>
          </a:p>
          <a:p>
            <a:endParaRPr lang="en-GB" dirty="0"/>
          </a:p>
          <a:p>
            <a:r>
              <a:rPr lang="en-GB" dirty="0"/>
              <a:t>   Now we encrypt this result (`011`) using our cipher table:</a:t>
            </a:r>
          </a:p>
          <a:p>
            <a:r>
              <a:rPr lang="en-GB" dirty="0"/>
              <a:t>   </a:t>
            </a:r>
          </a:p>
          <a:p>
            <a:r>
              <a:rPr lang="en-GB" dirty="0"/>
              <a:t>   - `011` maps to `100`.</a:t>
            </a:r>
          </a:p>
          <a:p>
            <a:endParaRPr lang="en-GB" dirty="0"/>
          </a:p>
          <a:p>
            <a:r>
              <a:rPr lang="en-GB" dirty="0"/>
              <a:t>   So, the third ciphertext block is `100`.</a:t>
            </a:r>
          </a:p>
          <a:p>
            <a:endParaRPr lang="en-GB" dirty="0"/>
          </a:p>
          <a:p>
            <a:r>
              <a:rPr lang="en-GB" dirty="0"/>
              <a:t>Thus, when using CBC with IV = 111, the resulting ciphertext is:</a:t>
            </a:r>
          </a:p>
          <a:p>
            <a:endParaRPr lang="en-GB" dirty="0"/>
          </a:p>
          <a:p>
            <a:r>
              <a:rPr lang="en-GB" dirty="0"/>
              <a:t>$$</a:t>
            </a:r>
          </a:p>
          <a:p>
            <a:r>
              <a:rPr lang="en-GB" dirty="0"/>
              <a:t>\text{Ciphertext} = 100111100</a:t>
            </a:r>
          </a:p>
          <a:p>
            <a:r>
              <a:rPr lang="en-GB" dirty="0"/>
              <a:t>$$</a:t>
            </a:r>
          </a:p>
          <a:p>
            <a:endParaRPr lang="en-GB" dirty="0"/>
          </a:p>
          <a:p>
            <a:r>
              <a:rPr lang="en-GB" dirty="0"/>
              <a:t>### Final Answer Summary:</a:t>
            </a:r>
          </a:p>
          <a:p>
            <a:r>
              <a:rPr lang="en-GB" dirty="0"/>
              <a:t>- **(a)** Without CBC, resulting ciphertext for plaintext `100101100`:  </a:t>
            </a:r>
          </a:p>
          <a:p>
            <a:r>
              <a:rPr lang="en-GB" dirty="0"/>
              <a:t>  $$ \text{Ciphertext} = 011010011 $$</a:t>
            </a:r>
          </a:p>
          <a:p>
            <a:r>
              <a:rPr lang="en-GB" dirty="0"/>
              <a:t>  </a:t>
            </a:r>
          </a:p>
          <a:p>
            <a:r>
              <a:rPr lang="en-GB" dirty="0"/>
              <a:t>- **(b)** Trudy can infer that it's a 3-bit cipher and may use frequency analysis but cannot directly decrypt without knowing the specific mapping.</a:t>
            </a:r>
          </a:p>
          <a:p>
            <a:endParaRPr lang="en-GB" dirty="0"/>
          </a:p>
          <a:p>
            <a:r>
              <a:rPr lang="en-GB" dirty="0"/>
              <a:t>- **(c)** With CBC and IV = 111, resulting ciphertext for plaintext `100101100`:  </a:t>
            </a:r>
          </a:p>
          <a:p>
            <a:r>
              <a:rPr lang="en-GB" dirty="0"/>
              <a:t>  $$ \text{Ciphertext} = 100111100 $$</a:t>
            </a:r>
          </a:p>
          <a:p>
            <a:endParaRPr lang="en-GB" dirty="0"/>
          </a:p>
          <a:p>
            <a:r>
              <a:rPr lang="en-GB" dirty="0"/>
              <a:t>Citations:</a:t>
            </a:r>
          </a:p>
          <a:p>
            <a:r>
              <a:rPr lang="en-GB" dirty="0"/>
              <a:t>[1] https://ppl-ai-file-upload.s3.amazonaws.com/web/direct-files/657250/670d6e33-bf04-4786-8da4-9b8cff7bf69b/Temp.pdf</a:t>
            </a:r>
            <a:endParaRPr lang="en-SE" dirty="0"/>
          </a:p>
        </p:txBody>
      </p:sp>
      <p:sp>
        <p:nvSpPr>
          <p:cNvPr id="4" name="Slide Number Placeholder 3"/>
          <p:cNvSpPr>
            <a:spLocks noGrp="1"/>
          </p:cNvSpPr>
          <p:nvPr>
            <p:ph type="sldNum" sz="quarter" idx="5"/>
          </p:nvPr>
        </p:nvSpPr>
        <p:spPr/>
        <p:txBody>
          <a:bodyPr/>
          <a:lstStyle/>
          <a:p>
            <a:fld id="{3D91EEAC-CFEF-9647-876F-EABC6B8338D7}" type="slidenum">
              <a:rPr lang="en-US" smtClean="0"/>
              <a:t>26</a:t>
            </a:fld>
            <a:endParaRPr lang="en-US" dirty="0"/>
          </a:p>
        </p:txBody>
      </p:sp>
    </p:spTree>
    <p:extLst>
      <p:ext uri="{BB962C8B-B14F-4D97-AF65-F5344CB8AC3E}">
        <p14:creationId xmlns:p14="http://schemas.microsoft.com/office/powerpoint/2010/main" val="2198409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5/6/2026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5/6/2026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5/6/2026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5/6/2026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5/6/2026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5/6/2026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5/6/2026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5/6/2026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5/6/2026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5/6/2026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5/6/2026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6" name="Google Shape;16;p3"/>
          <p:cNvSpPr txBox="1">
            <a:spLocks noGrp="1"/>
          </p:cNvSpPr>
          <p:nvPr>
            <p:ph type="subTitle" idx="1"/>
          </p:nvPr>
        </p:nvSpPr>
        <p:spPr>
          <a:xfrm>
            <a:off x="415600" y="3778833"/>
            <a:ext cx="11360800" cy="2048400"/>
          </a:xfrm>
          <a:prstGeom prst="rect">
            <a:avLst/>
          </a:prstGeom>
        </p:spPr>
        <p:txBody>
          <a:bodyPr spcFirstLastPara="1" wrap="square" lIns="91425" tIns="91425" rIns="91425" bIns="91425" anchor="t" anchorCtr="0">
            <a:noAutofit/>
          </a:bodyPr>
          <a:lstStyle>
            <a:lvl1pPr lvl="0"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1pPr>
            <a:lvl2pPr lvl="1"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2pPr>
            <a:lvl3pPr lvl="2"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3pPr>
            <a:lvl4pPr lvl="3"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4pPr>
            <a:lvl5pPr lvl="4"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5pPr>
            <a:lvl6pPr lvl="5"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6pPr>
            <a:lvl7pPr lvl="6"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7pPr>
            <a:lvl8pPr lvl="7"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8pPr>
            <a:lvl9pPr lvl="8"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9pPr>
          </a:lstStyle>
          <a:p>
            <a:endParaRPr/>
          </a:p>
        </p:txBody>
      </p:sp>
    </p:spTree>
    <p:extLst>
      <p:ext uri="{BB962C8B-B14F-4D97-AF65-F5344CB8AC3E}">
        <p14:creationId xmlns:p14="http://schemas.microsoft.com/office/powerpoint/2010/main" val="3978317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12192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42733" y="536267"/>
            <a:ext cx="11879600" cy="60408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21" name="Google Shape;21;p4"/>
          <p:cNvCxnSpPr/>
          <p:nvPr/>
        </p:nvCxnSpPr>
        <p:spPr>
          <a:xfrm>
            <a:off x="127241" y="536280"/>
            <a:ext cx="118796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31318385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oadmap">
  <p:cSld name="Roadmap">
    <p:spTree>
      <p:nvGrpSpPr>
        <p:cNvPr id="1" name="Shape 22"/>
        <p:cNvGrpSpPr/>
        <p:nvPr/>
      </p:nvGrpSpPr>
      <p:grpSpPr>
        <a:xfrm>
          <a:off x="0" y="0"/>
          <a:ext cx="0" cy="0"/>
          <a:chOff x="0" y="0"/>
          <a:chExt cx="0" cy="0"/>
        </a:xfrm>
      </p:grpSpPr>
      <p:sp>
        <p:nvSpPr>
          <p:cNvPr id="23" name="Google Shape;23;p5"/>
          <p:cNvSpPr/>
          <p:nvPr/>
        </p:nvSpPr>
        <p:spPr>
          <a:xfrm>
            <a:off x="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25" name="Google Shape;25;p5"/>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1219170" lvl="1"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828754" lvl="2"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2438339" lvl="3"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3047924" lvl="4"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3657509" lvl="5"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4267093" lvl="6"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4876678" lvl="7"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5486263" lvl="8"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cxnSp>
        <p:nvCxnSpPr>
          <p:cNvPr id="27" name="Google Shape;27;p5"/>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237233" y="5424000"/>
            <a:ext cx="5544000" cy="524800"/>
          </a:xfrm>
          <a:prstGeom prst="rect">
            <a:avLst/>
          </a:prstGeom>
        </p:spPr>
        <p:txBody>
          <a:bodyPr spcFirstLastPara="1" wrap="square" lIns="91425" tIns="91425" rIns="91425" bIns="91425" anchor="ctr" anchorCtr="0">
            <a:noAutofit/>
          </a:bodyPr>
          <a:lstStyle>
            <a:lvl1pPr lvl="0" rtl="0">
              <a:lnSpc>
                <a:spcPct val="100000"/>
              </a:lnSpc>
              <a:spcBef>
                <a:spcPts val="800"/>
              </a:spcBef>
              <a:spcAft>
                <a:spcPts val="0"/>
              </a:spcAft>
              <a:buSzPts val="1800"/>
              <a:buNone/>
              <a:defRPr/>
            </a:lvl1pPr>
            <a:lvl2pPr lvl="1" rtl="0">
              <a:lnSpc>
                <a:spcPct val="100000"/>
              </a:lnSpc>
              <a:spcBef>
                <a:spcPts val="800"/>
              </a:spcBef>
              <a:spcAft>
                <a:spcPts val="0"/>
              </a:spcAft>
              <a:buSzPts val="2100"/>
              <a:buNone/>
              <a:defRPr sz="2800"/>
            </a:lvl2pPr>
            <a:lvl3pPr lvl="2" rtl="0">
              <a:lnSpc>
                <a:spcPct val="100000"/>
              </a:lnSpc>
              <a:spcBef>
                <a:spcPts val="800"/>
              </a:spcBef>
              <a:spcAft>
                <a:spcPts val="0"/>
              </a:spcAft>
              <a:buSzPts val="2100"/>
              <a:buNone/>
              <a:defRPr sz="2800"/>
            </a:lvl3pPr>
            <a:lvl4pPr lvl="3" rtl="0">
              <a:lnSpc>
                <a:spcPct val="100000"/>
              </a:lnSpc>
              <a:spcBef>
                <a:spcPts val="800"/>
              </a:spcBef>
              <a:spcAft>
                <a:spcPts val="0"/>
              </a:spcAft>
              <a:buSzPts val="2100"/>
              <a:buNone/>
              <a:defRPr sz="2800"/>
            </a:lvl4pPr>
            <a:lvl5pPr lvl="4" rtl="0">
              <a:lnSpc>
                <a:spcPct val="100000"/>
              </a:lnSpc>
              <a:spcBef>
                <a:spcPts val="800"/>
              </a:spcBef>
              <a:spcAft>
                <a:spcPts val="0"/>
              </a:spcAft>
              <a:buSzPts val="2100"/>
              <a:buNone/>
              <a:defRPr sz="2800"/>
            </a:lvl5pPr>
            <a:lvl6pPr lvl="5" rtl="0">
              <a:lnSpc>
                <a:spcPct val="100000"/>
              </a:lnSpc>
              <a:spcBef>
                <a:spcPts val="800"/>
              </a:spcBef>
              <a:spcAft>
                <a:spcPts val="0"/>
              </a:spcAft>
              <a:buSzPts val="2100"/>
              <a:buNone/>
              <a:defRPr sz="2800"/>
            </a:lvl6pPr>
            <a:lvl7pPr lvl="6" rtl="0">
              <a:lnSpc>
                <a:spcPct val="100000"/>
              </a:lnSpc>
              <a:spcBef>
                <a:spcPts val="800"/>
              </a:spcBef>
              <a:spcAft>
                <a:spcPts val="0"/>
              </a:spcAft>
              <a:buSzPts val="2100"/>
              <a:buNone/>
              <a:defRPr sz="2800"/>
            </a:lvl7pPr>
            <a:lvl8pPr lvl="7" rtl="0">
              <a:lnSpc>
                <a:spcPct val="100000"/>
              </a:lnSpc>
              <a:spcBef>
                <a:spcPts val="800"/>
              </a:spcBef>
              <a:spcAft>
                <a:spcPts val="0"/>
              </a:spcAft>
              <a:buSzPts val="2100"/>
              <a:buNone/>
              <a:defRPr sz="2800"/>
            </a:lvl8pPr>
            <a:lvl9pPr lvl="8" rtl="0">
              <a:lnSpc>
                <a:spcPct val="100000"/>
              </a:lnSpc>
              <a:spcBef>
                <a:spcPts val="800"/>
              </a:spcBef>
              <a:spcAft>
                <a:spcPts val="0"/>
              </a:spcAft>
              <a:buSzPts val="2100"/>
              <a:buNone/>
              <a:defRPr sz="2800"/>
            </a:lvl9pPr>
          </a:lstStyle>
          <a:p>
            <a:endParaRPr/>
          </a:p>
        </p:txBody>
      </p:sp>
    </p:spTree>
    <p:extLst>
      <p:ext uri="{BB962C8B-B14F-4D97-AF65-F5344CB8AC3E}">
        <p14:creationId xmlns:p14="http://schemas.microsoft.com/office/powerpoint/2010/main" val="4266121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mo slide right">
  <p:cSld name="Demo slide right">
    <p:spTree>
      <p:nvGrpSpPr>
        <p:cNvPr id="1" name="Shape 29"/>
        <p:cNvGrpSpPr/>
        <p:nvPr/>
      </p:nvGrpSpPr>
      <p:grpSpPr>
        <a:xfrm>
          <a:off x="0" y="0"/>
          <a:ext cx="0" cy="0"/>
          <a:chOff x="0" y="0"/>
          <a:chExt cx="0" cy="0"/>
        </a:xfrm>
      </p:grpSpPr>
      <p:sp>
        <p:nvSpPr>
          <p:cNvPr id="30" name="Google Shape;30;p6"/>
          <p:cNvSpPr/>
          <p:nvPr/>
        </p:nvSpPr>
        <p:spPr>
          <a:xfrm>
            <a:off x="609600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subTitle" idx="1"/>
          </p:nvPr>
        </p:nvSpPr>
        <p:spPr>
          <a:xfrm>
            <a:off x="6447200" y="5597700"/>
            <a:ext cx="5393600" cy="620000"/>
          </a:xfrm>
          <a:prstGeom prst="rect">
            <a:avLst/>
          </a:prstGeom>
        </p:spPr>
        <p:txBody>
          <a:bodyPr spcFirstLastPara="1" wrap="square" lIns="91425" tIns="91425" rIns="91425" bIns="91425" anchor="t" anchorCtr="0">
            <a:noAutofit/>
          </a:bodyPr>
          <a:lstStyle>
            <a:lvl1pPr lvl="0" algn="r"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32" name="Google Shape;32;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33" name="Google Shape;33;p6"/>
          <p:cNvSpPr txBox="1"/>
          <p:nvPr/>
        </p:nvSpPr>
        <p:spPr>
          <a:xfrm>
            <a:off x="8487867" y="4966501"/>
            <a:ext cx="3454800" cy="759078"/>
          </a:xfrm>
          <a:prstGeom prst="rect">
            <a:avLst/>
          </a:prstGeom>
          <a:noFill/>
          <a:ln>
            <a:noFill/>
          </a:ln>
        </p:spPr>
        <p:txBody>
          <a:bodyPr spcFirstLastPara="1" wrap="square" lIns="121900" tIns="121900" rIns="121900" bIns="121900" anchor="t" anchorCtr="0">
            <a:spAutoFit/>
          </a:bodyPr>
          <a:lstStyle/>
          <a:p>
            <a:pPr marL="0" lvl="0" indent="0" algn="r" rtl="0">
              <a:spcBef>
                <a:spcPts val="0"/>
              </a:spcBef>
              <a:spcAft>
                <a:spcPts val="0"/>
              </a:spcAft>
              <a:buNone/>
            </a:pPr>
            <a:r>
              <a:rPr lang="en" sz="3333" b="1">
                <a:solidFill>
                  <a:schemeClr val="accent3"/>
                </a:solidFill>
                <a:latin typeface="Roboto"/>
                <a:ea typeface="Roboto"/>
                <a:cs typeface="Roboto"/>
                <a:sym typeface="Roboto"/>
              </a:rPr>
              <a:t>Demo Slides</a:t>
            </a:r>
            <a:endParaRPr sz="3333"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127233" y="536267"/>
            <a:ext cx="57364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12192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127241" y="536280"/>
            <a:ext cx="58028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4079052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emo slide left">
  <p:cSld name="Demo slide left">
    <p:spTree>
      <p:nvGrpSpPr>
        <p:cNvPr id="1" name="Shape 37"/>
        <p:cNvGrpSpPr/>
        <p:nvPr/>
      </p:nvGrpSpPr>
      <p:grpSpPr>
        <a:xfrm>
          <a:off x="0" y="0"/>
          <a:ext cx="0" cy="0"/>
          <a:chOff x="0" y="0"/>
          <a:chExt cx="0" cy="0"/>
        </a:xfrm>
      </p:grpSpPr>
      <p:sp>
        <p:nvSpPr>
          <p:cNvPr id="38" name="Google Shape;38;p7"/>
          <p:cNvSpPr/>
          <p:nvPr/>
        </p:nvSpPr>
        <p:spPr>
          <a:xfrm>
            <a:off x="0" y="-167"/>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subTitle" idx="1"/>
          </p:nvPr>
        </p:nvSpPr>
        <p:spPr>
          <a:xfrm>
            <a:off x="300600" y="5257867"/>
            <a:ext cx="5393600" cy="6200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40" name="Google Shape;40;p7"/>
          <p:cNvSpPr txBox="1"/>
          <p:nvPr/>
        </p:nvSpPr>
        <p:spPr>
          <a:xfrm>
            <a:off x="277920" y="4560101"/>
            <a:ext cx="54956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Demo Slides</a:t>
            </a:r>
            <a:endParaRPr sz="3333"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6223233" y="536267"/>
            <a:ext cx="57364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6096000" y="0"/>
            <a:ext cx="6096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6223241" y="536280"/>
            <a:ext cx="58028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45" name="Google Shape;45;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68388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Wide Puzzle">
  <p:cSld name="Wide Puzzle">
    <p:spTree>
      <p:nvGrpSpPr>
        <p:cNvPr id="1" name="Shape 46"/>
        <p:cNvGrpSpPr/>
        <p:nvPr/>
      </p:nvGrpSpPr>
      <p:grpSpPr>
        <a:xfrm>
          <a:off x="0" y="0"/>
          <a:ext cx="0" cy="0"/>
          <a:chOff x="0" y="0"/>
          <a:chExt cx="0" cy="0"/>
        </a:xfrm>
      </p:grpSpPr>
      <p:sp>
        <p:nvSpPr>
          <p:cNvPr id="47" name="Google Shape;47;p8"/>
          <p:cNvSpPr/>
          <p:nvPr/>
        </p:nvSpPr>
        <p:spPr>
          <a:xfrm>
            <a:off x="0" y="-167"/>
            <a:ext cx="3702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8"/>
          <p:cNvSpPr txBox="1">
            <a:spLocks noGrp="1"/>
          </p:cNvSpPr>
          <p:nvPr>
            <p:ph type="subTitle" idx="1"/>
          </p:nvPr>
        </p:nvSpPr>
        <p:spPr>
          <a:xfrm>
            <a:off x="300600" y="5257867"/>
            <a:ext cx="3267200" cy="9596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49" name="Google Shape;49;p8"/>
          <p:cNvSpPr txBox="1">
            <a:spLocks noGrp="1"/>
          </p:cNvSpPr>
          <p:nvPr>
            <p:ph type="body" idx="2"/>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53" name="Google Shape;53;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54" name="Google Shape;54;p8"/>
          <p:cNvSpPr txBox="1"/>
          <p:nvPr/>
        </p:nvSpPr>
        <p:spPr>
          <a:xfrm>
            <a:off x="277920" y="4560101"/>
            <a:ext cx="54956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Demo</a:t>
            </a:r>
            <a:endParaRPr sz="3333" b="1">
              <a:solidFill>
                <a:schemeClr val="accent3"/>
              </a:solidFill>
              <a:latin typeface="Roboto"/>
              <a:ea typeface="Roboto"/>
              <a:cs typeface="Roboto"/>
              <a:sym typeface="Roboto"/>
            </a:endParaRPr>
          </a:p>
        </p:txBody>
      </p:sp>
    </p:spTree>
    <p:extLst>
      <p:ext uri="{BB962C8B-B14F-4D97-AF65-F5344CB8AC3E}">
        <p14:creationId xmlns:p14="http://schemas.microsoft.com/office/powerpoint/2010/main" val="41074807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Wide Puzzle 1">
  <p:cSld name="Wide Puzzle 1">
    <p:spTree>
      <p:nvGrpSpPr>
        <p:cNvPr id="1" name="Shape 55"/>
        <p:cNvGrpSpPr/>
        <p:nvPr/>
      </p:nvGrpSpPr>
      <p:grpSpPr>
        <a:xfrm>
          <a:off x="0" y="0"/>
          <a:ext cx="0" cy="0"/>
          <a:chOff x="0" y="0"/>
          <a:chExt cx="0" cy="0"/>
        </a:xfrm>
      </p:grpSpPr>
      <p:sp>
        <p:nvSpPr>
          <p:cNvPr id="56" name="Google Shape;56;p9"/>
          <p:cNvSpPr/>
          <p:nvPr/>
        </p:nvSpPr>
        <p:spPr>
          <a:xfrm>
            <a:off x="0" y="-167"/>
            <a:ext cx="3702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 name="Google Shape;57;p9"/>
          <p:cNvSpPr txBox="1">
            <a:spLocks noGrp="1"/>
          </p:cNvSpPr>
          <p:nvPr>
            <p:ph type="subTitle" idx="1"/>
          </p:nvPr>
        </p:nvSpPr>
        <p:spPr>
          <a:xfrm>
            <a:off x="300600" y="5257867"/>
            <a:ext cx="3267200" cy="9596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58" name="Google Shape;58;p9"/>
          <p:cNvSpPr txBox="1"/>
          <p:nvPr/>
        </p:nvSpPr>
        <p:spPr>
          <a:xfrm>
            <a:off x="277927" y="4560101"/>
            <a:ext cx="24984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Compare</a:t>
            </a:r>
            <a:endParaRPr sz="3333"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63" name="Google Shape;63;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82440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Wide Puzzle Solution">
  <p:cSld name="Wide Puzzle Solution">
    <p:spTree>
      <p:nvGrpSpPr>
        <p:cNvPr id="1" name="Shape 64"/>
        <p:cNvGrpSpPr/>
        <p:nvPr/>
      </p:nvGrpSpPr>
      <p:grpSpPr>
        <a:xfrm>
          <a:off x="0" y="0"/>
          <a:ext cx="0" cy="0"/>
          <a:chOff x="0" y="0"/>
          <a:chExt cx="0" cy="0"/>
        </a:xfrm>
      </p:grpSpPr>
      <p:sp>
        <p:nvSpPr>
          <p:cNvPr id="65" name="Google Shape;65;p10"/>
          <p:cNvSpPr/>
          <p:nvPr/>
        </p:nvSpPr>
        <p:spPr>
          <a:xfrm>
            <a:off x="0" y="-167"/>
            <a:ext cx="3702000" cy="6858000"/>
          </a:xfrm>
          <a:prstGeom prst="rect">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 name="Google Shape;66;p10"/>
          <p:cNvSpPr txBox="1">
            <a:spLocks noGrp="1"/>
          </p:cNvSpPr>
          <p:nvPr>
            <p:ph type="subTitle" idx="1"/>
          </p:nvPr>
        </p:nvSpPr>
        <p:spPr>
          <a:xfrm>
            <a:off x="300600" y="5257867"/>
            <a:ext cx="3267200" cy="9596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67" name="Google Shape;67;p10"/>
          <p:cNvSpPr txBox="1"/>
          <p:nvPr/>
        </p:nvSpPr>
        <p:spPr>
          <a:xfrm>
            <a:off x="277927" y="4560101"/>
            <a:ext cx="24984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Solution</a:t>
            </a:r>
            <a:endParaRPr sz="3333"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72" name="Google Shape;72;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22710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12192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6416508" y="536275"/>
            <a:ext cx="5333200" cy="45552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77" name="Google Shape;77;p11"/>
          <p:cNvCxnSpPr/>
          <p:nvPr/>
        </p:nvCxnSpPr>
        <p:spPr>
          <a:xfrm>
            <a:off x="127241" y="536280"/>
            <a:ext cx="118796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127241" y="536275"/>
            <a:ext cx="5333200" cy="45552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Tree>
    <p:extLst>
      <p:ext uri="{BB962C8B-B14F-4D97-AF65-F5344CB8AC3E}">
        <p14:creationId xmlns:p14="http://schemas.microsoft.com/office/powerpoint/2010/main" val="6353406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a:off x="0" y="0"/>
            <a:ext cx="12192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82" name="Google Shape;82;p12"/>
          <p:cNvCxnSpPr/>
          <p:nvPr/>
        </p:nvCxnSpPr>
        <p:spPr>
          <a:xfrm>
            <a:off x="127241" y="536280"/>
            <a:ext cx="118796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19015005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85" name="Google Shape;85;p1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3070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609600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8" name="Google Shape;88;p14"/>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89" name="Google Shape;89;p14"/>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90" name="Google Shape;90;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91" name="Google Shape;91;p14"/>
          <p:cNvSpPr txBox="1">
            <a:spLocks noGrp="1"/>
          </p:cNvSpPr>
          <p:nvPr>
            <p:ph type="body" idx="2"/>
          </p:nvPr>
        </p:nvSpPr>
        <p:spPr>
          <a:xfrm>
            <a:off x="6416508" y="536275"/>
            <a:ext cx="5333200" cy="45552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Tree>
    <p:extLst>
      <p:ext uri="{BB962C8B-B14F-4D97-AF65-F5344CB8AC3E}">
        <p14:creationId xmlns:p14="http://schemas.microsoft.com/office/powerpoint/2010/main" val="31449627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94" name="Google Shape;94;p15"/>
          <p:cNvSpPr txBox="1">
            <a:spLocks noGrp="1"/>
          </p:cNvSpPr>
          <p:nvPr>
            <p:ph type="title"/>
          </p:nvPr>
        </p:nvSpPr>
        <p:spPr>
          <a:xfrm>
            <a:off x="127233" y="5717867"/>
            <a:ext cx="11545200" cy="1024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2400">
                <a:solidFill>
                  <a:schemeClr val="dk1"/>
                </a:solidFill>
                <a:latin typeface="Roboto"/>
                <a:ea typeface="Roboto"/>
                <a:cs typeface="Roboto"/>
                <a:sym typeface="Roboto"/>
              </a:defRPr>
            </a:lvl1pPr>
            <a:lvl2pPr lvl="1" rtl="0">
              <a:spcBef>
                <a:spcPts val="0"/>
              </a:spcBef>
              <a:spcAft>
                <a:spcPts val="0"/>
              </a:spcAft>
              <a:buSzPts val="2400"/>
              <a:buFont typeface="Roboto"/>
              <a:buNone/>
              <a:defRPr sz="3200">
                <a:latin typeface="Roboto"/>
                <a:ea typeface="Roboto"/>
                <a:cs typeface="Roboto"/>
                <a:sym typeface="Roboto"/>
              </a:defRPr>
            </a:lvl2pPr>
            <a:lvl3pPr lvl="2" rtl="0">
              <a:spcBef>
                <a:spcPts val="0"/>
              </a:spcBef>
              <a:spcAft>
                <a:spcPts val="0"/>
              </a:spcAft>
              <a:buSzPts val="2400"/>
              <a:buFont typeface="Roboto"/>
              <a:buNone/>
              <a:defRPr sz="3200">
                <a:latin typeface="Roboto"/>
                <a:ea typeface="Roboto"/>
                <a:cs typeface="Roboto"/>
                <a:sym typeface="Roboto"/>
              </a:defRPr>
            </a:lvl3pPr>
            <a:lvl4pPr lvl="3" rtl="0">
              <a:spcBef>
                <a:spcPts val="0"/>
              </a:spcBef>
              <a:spcAft>
                <a:spcPts val="0"/>
              </a:spcAft>
              <a:buSzPts val="2400"/>
              <a:buFont typeface="Roboto"/>
              <a:buNone/>
              <a:defRPr sz="3200">
                <a:latin typeface="Roboto"/>
                <a:ea typeface="Roboto"/>
                <a:cs typeface="Roboto"/>
                <a:sym typeface="Roboto"/>
              </a:defRPr>
            </a:lvl4pPr>
            <a:lvl5pPr lvl="4" rtl="0">
              <a:spcBef>
                <a:spcPts val="0"/>
              </a:spcBef>
              <a:spcAft>
                <a:spcPts val="0"/>
              </a:spcAft>
              <a:buSzPts val="2400"/>
              <a:buFont typeface="Roboto"/>
              <a:buNone/>
              <a:defRPr sz="3200">
                <a:latin typeface="Roboto"/>
                <a:ea typeface="Roboto"/>
                <a:cs typeface="Roboto"/>
                <a:sym typeface="Roboto"/>
              </a:defRPr>
            </a:lvl5pPr>
            <a:lvl6pPr lvl="5" rtl="0">
              <a:spcBef>
                <a:spcPts val="0"/>
              </a:spcBef>
              <a:spcAft>
                <a:spcPts val="0"/>
              </a:spcAft>
              <a:buSzPts val="2400"/>
              <a:buFont typeface="Roboto"/>
              <a:buNone/>
              <a:defRPr sz="3200">
                <a:latin typeface="Roboto"/>
                <a:ea typeface="Roboto"/>
                <a:cs typeface="Roboto"/>
                <a:sym typeface="Roboto"/>
              </a:defRPr>
            </a:lvl6pPr>
            <a:lvl7pPr lvl="6" rtl="0">
              <a:spcBef>
                <a:spcPts val="0"/>
              </a:spcBef>
              <a:spcAft>
                <a:spcPts val="0"/>
              </a:spcAft>
              <a:buSzPts val="2400"/>
              <a:buFont typeface="Roboto"/>
              <a:buNone/>
              <a:defRPr sz="3200">
                <a:latin typeface="Roboto"/>
                <a:ea typeface="Roboto"/>
                <a:cs typeface="Roboto"/>
                <a:sym typeface="Roboto"/>
              </a:defRPr>
            </a:lvl7pPr>
            <a:lvl8pPr lvl="7" rtl="0">
              <a:spcBef>
                <a:spcPts val="0"/>
              </a:spcBef>
              <a:spcAft>
                <a:spcPts val="0"/>
              </a:spcAft>
              <a:buSzPts val="2400"/>
              <a:buFont typeface="Roboto"/>
              <a:buNone/>
              <a:defRPr sz="3200">
                <a:latin typeface="Roboto"/>
                <a:ea typeface="Roboto"/>
                <a:cs typeface="Roboto"/>
                <a:sym typeface="Roboto"/>
              </a:defRPr>
            </a:lvl8pPr>
            <a:lvl9pPr lvl="8" rtl="0">
              <a:spcBef>
                <a:spcPts val="0"/>
              </a:spcBef>
              <a:spcAft>
                <a:spcPts val="0"/>
              </a:spcAft>
              <a:buSzPts val="2400"/>
              <a:buFont typeface="Roboto"/>
              <a:buNone/>
              <a:defRPr sz="3200">
                <a:latin typeface="Roboto"/>
                <a:ea typeface="Roboto"/>
                <a:cs typeface="Roboto"/>
                <a:sym typeface="Roboto"/>
              </a:defRPr>
            </a:lvl9pPr>
          </a:lstStyle>
          <a:p>
            <a:endParaRPr/>
          </a:p>
        </p:txBody>
      </p:sp>
      <p:cxnSp>
        <p:nvCxnSpPr>
          <p:cNvPr id="95" name="Google Shape;95;p15"/>
          <p:cNvCxnSpPr/>
          <p:nvPr/>
        </p:nvCxnSpPr>
        <p:spPr>
          <a:xfrm>
            <a:off x="224333" y="5717867"/>
            <a:ext cx="116760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107413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11788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dark">
  <p:cSld name="Blank dark">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158127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Interlude">
  <p:cSld name="Interlude">
    <p:spTree>
      <p:nvGrpSpPr>
        <p:cNvPr id="1" name="Shape 100"/>
        <p:cNvGrpSpPr/>
        <p:nvPr/>
      </p:nvGrpSpPr>
      <p:grpSpPr>
        <a:xfrm>
          <a:off x="0" y="0"/>
          <a:ext cx="0" cy="0"/>
          <a:chOff x="0" y="0"/>
          <a:chExt cx="0" cy="0"/>
        </a:xfrm>
      </p:grpSpPr>
      <p:sp>
        <p:nvSpPr>
          <p:cNvPr id="101" name="Google Shape;101;p18"/>
          <p:cNvSpPr/>
          <p:nvPr/>
        </p:nvSpPr>
        <p:spPr>
          <a:xfrm>
            <a:off x="0" y="-167"/>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 name="Google Shape;102;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03" name="Google Shape;103;p18"/>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105" name="Google Shape;105;p18"/>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cxnSp>
        <p:nvCxnSpPr>
          <p:cNvPr id="106" name="Google Shape;106;p18"/>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237233" y="5424000"/>
            <a:ext cx="5544000" cy="524800"/>
          </a:xfrm>
          <a:prstGeom prst="rect">
            <a:avLst/>
          </a:prstGeom>
        </p:spPr>
        <p:txBody>
          <a:bodyPr spcFirstLastPara="1" wrap="square" lIns="91425" tIns="91425" rIns="91425" bIns="91425" anchor="ctr" anchorCtr="0">
            <a:noAutofit/>
          </a:bodyPr>
          <a:lstStyle>
            <a:lvl1pPr lvl="0" rtl="0">
              <a:lnSpc>
                <a:spcPct val="100000"/>
              </a:lnSpc>
              <a:spcBef>
                <a:spcPts val="800"/>
              </a:spcBef>
              <a:spcAft>
                <a:spcPts val="0"/>
              </a:spcAft>
              <a:buClr>
                <a:schemeClr val="lt1"/>
              </a:buClr>
              <a:buSzPts val="1800"/>
              <a:buNone/>
              <a:defRPr>
                <a:solidFill>
                  <a:schemeClr val="lt1"/>
                </a:solidFill>
              </a:defRPr>
            </a:lvl1pPr>
            <a:lvl2pPr lvl="1" rtl="0">
              <a:lnSpc>
                <a:spcPct val="100000"/>
              </a:lnSpc>
              <a:spcBef>
                <a:spcPts val="800"/>
              </a:spcBef>
              <a:spcAft>
                <a:spcPts val="0"/>
              </a:spcAft>
              <a:buClr>
                <a:schemeClr val="lt1"/>
              </a:buClr>
              <a:buSzPts val="2100"/>
              <a:buNone/>
              <a:defRPr sz="2800">
                <a:solidFill>
                  <a:schemeClr val="lt1"/>
                </a:solidFill>
              </a:defRPr>
            </a:lvl2pPr>
            <a:lvl3pPr lvl="2" rtl="0">
              <a:lnSpc>
                <a:spcPct val="100000"/>
              </a:lnSpc>
              <a:spcBef>
                <a:spcPts val="800"/>
              </a:spcBef>
              <a:spcAft>
                <a:spcPts val="0"/>
              </a:spcAft>
              <a:buClr>
                <a:schemeClr val="lt1"/>
              </a:buClr>
              <a:buSzPts val="2100"/>
              <a:buNone/>
              <a:defRPr sz="2800">
                <a:solidFill>
                  <a:schemeClr val="lt1"/>
                </a:solidFill>
              </a:defRPr>
            </a:lvl3pPr>
            <a:lvl4pPr lvl="3" rtl="0">
              <a:lnSpc>
                <a:spcPct val="100000"/>
              </a:lnSpc>
              <a:spcBef>
                <a:spcPts val="800"/>
              </a:spcBef>
              <a:spcAft>
                <a:spcPts val="0"/>
              </a:spcAft>
              <a:buClr>
                <a:schemeClr val="lt1"/>
              </a:buClr>
              <a:buSzPts val="2100"/>
              <a:buNone/>
              <a:defRPr sz="2800">
                <a:solidFill>
                  <a:schemeClr val="lt1"/>
                </a:solidFill>
              </a:defRPr>
            </a:lvl4pPr>
            <a:lvl5pPr lvl="4" rtl="0">
              <a:lnSpc>
                <a:spcPct val="100000"/>
              </a:lnSpc>
              <a:spcBef>
                <a:spcPts val="800"/>
              </a:spcBef>
              <a:spcAft>
                <a:spcPts val="0"/>
              </a:spcAft>
              <a:buClr>
                <a:schemeClr val="lt1"/>
              </a:buClr>
              <a:buSzPts val="2100"/>
              <a:buNone/>
              <a:defRPr sz="2800">
                <a:solidFill>
                  <a:schemeClr val="lt1"/>
                </a:solidFill>
              </a:defRPr>
            </a:lvl5pPr>
            <a:lvl6pPr lvl="5" rtl="0">
              <a:lnSpc>
                <a:spcPct val="100000"/>
              </a:lnSpc>
              <a:spcBef>
                <a:spcPts val="800"/>
              </a:spcBef>
              <a:spcAft>
                <a:spcPts val="0"/>
              </a:spcAft>
              <a:buClr>
                <a:schemeClr val="lt1"/>
              </a:buClr>
              <a:buSzPts val="2100"/>
              <a:buNone/>
              <a:defRPr sz="2800">
                <a:solidFill>
                  <a:schemeClr val="lt1"/>
                </a:solidFill>
              </a:defRPr>
            </a:lvl6pPr>
            <a:lvl7pPr lvl="6" rtl="0">
              <a:lnSpc>
                <a:spcPct val="100000"/>
              </a:lnSpc>
              <a:spcBef>
                <a:spcPts val="800"/>
              </a:spcBef>
              <a:spcAft>
                <a:spcPts val="0"/>
              </a:spcAft>
              <a:buClr>
                <a:schemeClr val="lt1"/>
              </a:buClr>
              <a:buSzPts val="2100"/>
              <a:buNone/>
              <a:defRPr sz="2800">
                <a:solidFill>
                  <a:schemeClr val="lt1"/>
                </a:solidFill>
              </a:defRPr>
            </a:lvl7pPr>
            <a:lvl8pPr lvl="7" rtl="0">
              <a:lnSpc>
                <a:spcPct val="100000"/>
              </a:lnSpc>
              <a:spcBef>
                <a:spcPts val="800"/>
              </a:spcBef>
              <a:spcAft>
                <a:spcPts val="0"/>
              </a:spcAft>
              <a:buClr>
                <a:schemeClr val="lt1"/>
              </a:buClr>
              <a:buSzPts val="2100"/>
              <a:buNone/>
              <a:defRPr sz="2800">
                <a:solidFill>
                  <a:schemeClr val="lt1"/>
                </a:solidFill>
              </a:defRPr>
            </a:lvl8pPr>
            <a:lvl9pPr lvl="8" rtl="0">
              <a:lnSpc>
                <a:spcPct val="100000"/>
              </a:lnSpc>
              <a:spcBef>
                <a:spcPts val="80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39511520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title and description 1">
  <p:cSld name="Section title and description 1">
    <p:spTree>
      <p:nvGrpSpPr>
        <p:cNvPr id="1" name="Shape 108"/>
        <p:cNvGrpSpPr/>
        <p:nvPr/>
      </p:nvGrpSpPr>
      <p:grpSpPr>
        <a:xfrm>
          <a:off x="0" y="0"/>
          <a:ext cx="0" cy="0"/>
          <a:chOff x="0" y="0"/>
          <a:chExt cx="0" cy="0"/>
        </a:xfrm>
      </p:grpSpPr>
      <p:sp>
        <p:nvSpPr>
          <p:cNvPr id="109" name="Google Shape;109;p19"/>
          <p:cNvSpPr/>
          <p:nvPr/>
        </p:nvSpPr>
        <p:spPr>
          <a:xfrm>
            <a:off x="609600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0" name="Google Shape;110;p1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11" name="Google Shape;111;p1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112" name="Google Shape;112;p1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13" name="Google Shape;113;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13489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de on left">
  <p:cSld name="Code on left">
    <p:spTree>
      <p:nvGrpSpPr>
        <p:cNvPr id="1" name="Shape 114"/>
        <p:cNvGrpSpPr/>
        <p:nvPr/>
      </p:nvGrpSpPr>
      <p:grpSpPr>
        <a:xfrm>
          <a:off x="0" y="0"/>
          <a:ext cx="0" cy="0"/>
          <a:chOff x="0" y="0"/>
          <a:chExt cx="0" cy="0"/>
        </a:xfrm>
      </p:grpSpPr>
      <p:sp>
        <p:nvSpPr>
          <p:cNvPr id="115" name="Google Shape;115;p20"/>
          <p:cNvSpPr/>
          <p:nvPr/>
        </p:nvSpPr>
        <p:spPr>
          <a:xfrm>
            <a:off x="0" y="8"/>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2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17" name="Google Shape;117;p20"/>
          <p:cNvSpPr txBox="1">
            <a:spLocks noGrp="1"/>
          </p:cNvSpPr>
          <p:nvPr>
            <p:ph type="body" idx="1"/>
          </p:nvPr>
        </p:nvSpPr>
        <p:spPr>
          <a:xfrm>
            <a:off x="6510533" y="1536200"/>
            <a:ext cx="5266800" cy="45600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18" name="Google Shape;118;p20"/>
          <p:cNvSpPr txBox="1">
            <a:spLocks noGrp="1"/>
          </p:cNvSpPr>
          <p:nvPr>
            <p:ph type="body" idx="2"/>
          </p:nvPr>
        </p:nvSpPr>
        <p:spPr>
          <a:xfrm>
            <a:off x="414533" y="597400"/>
            <a:ext cx="5266800" cy="54988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19" name="Google Shape;119;p20"/>
          <p:cNvSpPr txBox="1">
            <a:spLocks noGrp="1"/>
          </p:cNvSpPr>
          <p:nvPr>
            <p:ph type="title"/>
          </p:nvPr>
        </p:nvSpPr>
        <p:spPr>
          <a:xfrm>
            <a:off x="6510533" y="593367"/>
            <a:ext cx="52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6644637"/>
            <a:ext cx="609600" cy="213363"/>
          </a:xfrm>
          <a:prstGeom prst="rect">
            <a:avLst/>
          </a:prstGeom>
          <a:noFill/>
          <a:ln>
            <a:noFill/>
          </a:ln>
        </p:spPr>
      </p:pic>
    </p:spTree>
    <p:extLst>
      <p:ext uri="{BB962C8B-B14F-4D97-AF65-F5344CB8AC3E}">
        <p14:creationId xmlns:p14="http://schemas.microsoft.com/office/powerpoint/2010/main" val="1157365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de left, Heading">
  <p:cSld name="Code left, Heading">
    <p:spTree>
      <p:nvGrpSpPr>
        <p:cNvPr id="1" name="Shape 121"/>
        <p:cNvGrpSpPr/>
        <p:nvPr/>
      </p:nvGrpSpPr>
      <p:grpSpPr>
        <a:xfrm>
          <a:off x="0" y="0"/>
          <a:ext cx="0" cy="0"/>
          <a:chOff x="0" y="0"/>
          <a:chExt cx="0" cy="0"/>
        </a:xfrm>
      </p:grpSpPr>
      <p:sp>
        <p:nvSpPr>
          <p:cNvPr id="122" name="Google Shape;122;p21"/>
          <p:cNvSpPr/>
          <p:nvPr/>
        </p:nvSpPr>
        <p:spPr>
          <a:xfrm>
            <a:off x="0" y="8"/>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3" name="Google Shape;123;p2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4" name="Google Shape;124;p21"/>
          <p:cNvSpPr txBox="1">
            <a:spLocks noGrp="1"/>
          </p:cNvSpPr>
          <p:nvPr>
            <p:ph type="body" idx="1"/>
          </p:nvPr>
        </p:nvSpPr>
        <p:spPr>
          <a:xfrm>
            <a:off x="6510533" y="1536200"/>
            <a:ext cx="5266800" cy="45600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25" name="Google Shape;125;p21"/>
          <p:cNvSpPr txBox="1">
            <a:spLocks noGrp="1"/>
          </p:cNvSpPr>
          <p:nvPr>
            <p:ph type="body" idx="2"/>
          </p:nvPr>
        </p:nvSpPr>
        <p:spPr>
          <a:xfrm>
            <a:off x="414533" y="597400"/>
            <a:ext cx="5266800" cy="54988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26" name="Google Shape;126;p21"/>
          <p:cNvSpPr txBox="1">
            <a:spLocks noGrp="1"/>
          </p:cNvSpPr>
          <p:nvPr>
            <p:ph type="subTitle" idx="3"/>
          </p:nvPr>
        </p:nvSpPr>
        <p:spPr>
          <a:xfrm>
            <a:off x="300600" y="5257867"/>
            <a:ext cx="5393600" cy="6200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127" name="Google Shape;127;p21"/>
          <p:cNvSpPr txBox="1">
            <a:spLocks noGrp="1"/>
          </p:cNvSpPr>
          <p:nvPr>
            <p:ph type="title"/>
          </p:nvPr>
        </p:nvSpPr>
        <p:spPr>
          <a:xfrm>
            <a:off x="277933" y="4557900"/>
            <a:ext cx="52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3333"/>
            </a:lvl1pPr>
            <a:lvl2pPr lvl="1" rtl="0">
              <a:spcBef>
                <a:spcPts val="0"/>
              </a:spcBef>
              <a:spcAft>
                <a:spcPts val="0"/>
              </a:spcAft>
              <a:buSzPts val="2500"/>
              <a:buNone/>
              <a:defRPr sz="3333"/>
            </a:lvl2pPr>
            <a:lvl3pPr lvl="2" rtl="0">
              <a:spcBef>
                <a:spcPts val="0"/>
              </a:spcBef>
              <a:spcAft>
                <a:spcPts val="0"/>
              </a:spcAft>
              <a:buSzPts val="2500"/>
              <a:buNone/>
              <a:defRPr sz="3333"/>
            </a:lvl3pPr>
            <a:lvl4pPr lvl="3" rtl="0">
              <a:spcBef>
                <a:spcPts val="0"/>
              </a:spcBef>
              <a:spcAft>
                <a:spcPts val="0"/>
              </a:spcAft>
              <a:buSzPts val="2500"/>
              <a:buNone/>
              <a:defRPr sz="3333"/>
            </a:lvl4pPr>
            <a:lvl5pPr lvl="4" rtl="0">
              <a:spcBef>
                <a:spcPts val="0"/>
              </a:spcBef>
              <a:spcAft>
                <a:spcPts val="0"/>
              </a:spcAft>
              <a:buSzPts val="2500"/>
              <a:buNone/>
              <a:defRPr sz="3333"/>
            </a:lvl5pPr>
            <a:lvl6pPr lvl="5" rtl="0">
              <a:spcBef>
                <a:spcPts val="0"/>
              </a:spcBef>
              <a:spcAft>
                <a:spcPts val="0"/>
              </a:spcAft>
              <a:buSzPts val="2500"/>
              <a:buNone/>
              <a:defRPr sz="3333"/>
            </a:lvl6pPr>
            <a:lvl7pPr lvl="6" rtl="0">
              <a:spcBef>
                <a:spcPts val="0"/>
              </a:spcBef>
              <a:spcAft>
                <a:spcPts val="0"/>
              </a:spcAft>
              <a:buSzPts val="2500"/>
              <a:buNone/>
              <a:defRPr sz="3333"/>
            </a:lvl7pPr>
            <a:lvl8pPr lvl="7" rtl="0">
              <a:spcBef>
                <a:spcPts val="0"/>
              </a:spcBef>
              <a:spcAft>
                <a:spcPts val="0"/>
              </a:spcAft>
              <a:buSzPts val="2500"/>
              <a:buNone/>
              <a:defRPr sz="3333"/>
            </a:lvl8pPr>
            <a:lvl9pPr lvl="8" rtl="0">
              <a:spcBef>
                <a:spcPts val="0"/>
              </a:spcBef>
              <a:spcAft>
                <a:spcPts val="0"/>
              </a:spcAft>
              <a:buSzPts val="2500"/>
              <a:buNone/>
              <a:defRPr sz="3333"/>
            </a:lvl9pPr>
          </a:lstStyle>
          <a:p>
            <a:endParaRPr/>
          </a:p>
        </p:txBody>
      </p:sp>
      <p:pic>
        <p:nvPicPr>
          <p:cNvPr id="128" name="Google Shape;128;p21"/>
          <p:cNvPicPr preferRelativeResize="0"/>
          <p:nvPr/>
        </p:nvPicPr>
        <p:blipFill>
          <a:blip r:embed="rId2">
            <a:alphaModFix/>
          </a:blip>
          <a:stretch>
            <a:fillRect/>
          </a:stretch>
        </p:blipFill>
        <p:spPr>
          <a:xfrm>
            <a:off x="0" y="6644637"/>
            <a:ext cx="609600" cy="213363"/>
          </a:xfrm>
          <a:prstGeom prst="rect">
            <a:avLst/>
          </a:prstGeom>
          <a:noFill/>
          <a:ln>
            <a:noFill/>
          </a:ln>
        </p:spPr>
      </p:pic>
    </p:spTree>
    <p:extLst>
      <p:ext uri="{BB962C8B-B14F-4D97-AF65-F5344CB8AC3E}">
        <p14:creationId xmlns:p14="http://schemas.microsoft.com/office/powerpoint/2010/main" val="1025539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31" name="Google Shape;131;p2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81061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de on right">
  <p:cSld name="Code on right">
    <p:spTree>
      <p:nvGrpSpPr>
        <p:cNvPr id="1" name="Shape 132"/>
        <p:cNvGrpSpPr/>
        <p:nvPr/>
      </p:nvGrpSpPr>
      <p:grpSpPr>
        <a:xfrm>
          <a:off x="0" y="0"/>
          <a:ext cx="0" cy="0"/>
          <a:chOff x="0" y="0"/>
          <a:chExt cx="0" cy="0"/>
        </a:xfrm>
      </p:grpSpPr>
      <p:sp>
        <p:nvSpPr>
          <p:cNvPr id="133" name="Google Shape;133;p23"/>
          <p:cNvSpPr/>
          <p:nvPr/>
        </p:nvSpPr>
        <p:spPr>
          <a:xfrm>
            <a:off x="6096000" y="-167"/>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4" name="Google Shape;134;p2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35" name="Google Shape;135;p23"/>
          <p:cNvSpPr txBox="1">
            <a:spLocks noGrp="1"/>
          </p:cNvSpPr>
          <p:nvPr>
            <p:ph type="body" idx="1"/>
          </p:nvPr>
        </p:nvSpPr>
        <p:spPr>
          <a:xfrm>
            <a:off x="415600" y="1536200"/>
            <a:ext cx="5266800" cy="45600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36" name="Google Shape;136;p23"/>
          <p:cNvSpPr txBox="1">
            <a:spLocks noGrp="1"/>
          </p:cNvSpPr>
          <p:nvPr>
            <p:ph type="body" idx="2"/>
          </p:nvPr>
        </p:nvSpPr>
        <p:spPr>
          <a:xfrm>
            <a:off x="6510533" y="597400"/>
            <a:ext cx="5266800" cy="54988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37" name="Google Shape;137;p23"/>
          <p:cNvSpPr txBox="1">
            <a:spLocks noGrp="1"/>
          </p:cNvSpPr>
          <p:nvPr>
            <p:ph type="title"/>
          </p:nvPr>
        </p:nvSpPr>
        <p:spPr>
          <a:xfrm>
            <a:off x="415600" y="593367"/>
            <a:ext cx="52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1037073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90"/>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426206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5/6/2026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12192000" cy="524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415600" y="763600"/>
            <a:ext cx="1136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1"/>
                </a:solidFill>
                <a:latin typeface="Roboto"/>
                <a:ea typeface="Roboto"/>
                <a:cs typeface="Roboto"/>
                <a:sym typeface="Roboto"/>
              </a:defRPr>
            </a:lvl1pPr>
            <a:lvl2pPr lvl="1" algn="r" rtl="0">
              <a:buNone/>
              <a:defRPr sz="1333">
                <a:solidFill>
                  <a:schemeClr val="dk1"/>
                </a:solidFill>
                <a:latin typeface="Roboto"/>
                <a:ea typeface="Roboto"/>
                <a:cs typeface="Roboto"/>
                <a:sym typeface="Roboto"/>
              </a:defRPr>
            </a:lvl2pPr>
            <a:lvl3pPr lvl="2" algn="r" rtl="0">
              <a:buNone/>
              <a:defRPr sz="1333">
                <a:solidFill>
                  <a:schemeClr val="dk1"/>
                </a:solidFill>
                <a:latin typeface="Roboto"/>
                <a:ea typeface="Roboto"/>
                <a:cs typeface="Roboto"/>
                <a:sym typeface="Roboto"/>
              </a:defRPr>
            </a:lvl3pPr>
            <a:lvl4pPr lvl="3" algn="r" rtl="0">
              <a:buNone/>
              <a:defRPr sz="1333">
                <a:solidFill>
                  <a:schemeClr val="dk1"/>
                </a:solidFill>
                <a:latin typeface="Roboto"/>
                <a:ea typeface="Roboto"/>
                <a:cs typeface="Roboto"/>
                <a:sym typeface="Roboto"/>
              </a:defRPr>
            </a:lvl4pPr>
            <a:lvl5pPr lvl="4" algn="r" rtl="0">
              <a:buNone/>
              <a:defRPr sz="1333">
                <a:solidFill>
                  <a:schemeClr val="dk1"/>
                </a:solidFill>
                <a:latin typeface="Roboto"/>
                <a:ea typeface="Roboto"/>
                <a:cs typeface="Roboto"/>
                <a:sym typeface="Roboto"/>
              </a:defRPr>
            </a:lvl5pPr>
            <a:lvl6pPr lvl="5" algn="r" rtl="0">
              <a:buNone/>
              <a:defRPr sz="1333">
                <a:solidFill>
                  <a:schemeClr val="dk1"/>
                </a:solidFill>
                <a:latin typeface="Roboto"/>
                <a:ea typeface="Roboto"/>
                <a:cs typeface="Roboto"/>
                <a:sym typeface="Roboto"/>
              </a:defRPr>
            </a:lvl6pPr>
            <a:lvl7pPr lvl="6" algn="r" rtl="0">
              <a:buNone/>
              <a:defRPr sz="1333">
                <a:solidFill>
                  <a:schemeClr val="dk1"/>
                </a:solidFill>
                <a:latin typeface="Roboto"/>
                <a:ea typeface="Roboto"/>
                <a:cs typeface="Roboto"/>
                <a:sym typeface="Roboto"/>
              </a:defRPr>
            </a:lvl7pPr>
            <a:lvl8pPr lvl="7" algn="r" rtl="0">
              <a:buNone/>
              <a:defRPr sz="1333">
                <a:solidFill>
                  <a:schemeClr val="dk1"/>
                </a:solidFill>
                <a:latin typeface="Roboto"/>
                <a:ea typeface="Roboto"/>
                <a:cs typeface="Roboto"/>
                <a:sym typeface="Roboto"/>
              </a:defRPr>
            </a:lvl8pPr>
            <a:lvl9pPr lvl="8" algn="r" rtl="0">
              <a:buNone/>
              <a:defRPr sz="1333">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1675513"/>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Spring 2026</a:t>
            </a:r>
          </a:p>
        </p:txBody>
      </p:sp>
      <p:sp>
        <p:nvSpPr>
          <p:cNvPr id="6" name="TextBox 5"/>
          <p:cNvSpPr txBox="1"/>
          <p:nvPr/>
        </p:nvSpPr>
        <p:spPr>
          <a:xfrm>
            <a:off x="457200" y="2604195"/>
            <a:ext cx="10954217" cy="584775"/>
          </a:xfrm>
          <a:prstGeom prst="rect">
            <a:avLst/>
          </a:prstGeom>
          <a:noFill/>
        </p:spPr>
        <p:txBody>
          <a:bodyPr wrap="none" rtlCol="0">
            <a:spAutoFit/>
          </a:bodyPr>
          <a:lstStyle/>
          <a:p>
            <a:pPr algn="r"/>
            <a:r>
              <a:rPr lang="pt-BR" sz="3200" b="1" dirty="0">
                <a:solidFill>
                  <a:srgbClr val="C00000"/>
                </a:solidFill>
              </a:rPr>
              <a:t>CSC175 Spring 2026 </a:t>
            </a:r>
            <a:r>
              <a:rPr lang="en-US" altLang="zh-CN" sz="3200" b="1" dirty="0">
                <a:solidFill>
                  <a:srgbClr val="C00000"/>
                </a:solidFill>
              </a:rPr>
              <a:t>Final</a:t>
            </a:r>
            <a:r>
              <a:rPr lang="pt-BR" sz="3200" b="1" dirty="0">
                <a:solidFill>
                  <a:srgbClr val="C00000"/>
                </a:solidFill>
              </a:rPr>
              <a:t> Exam Sample Questions ANS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1"/>
        <p:cNvGrpSpPr/>
        <p:nvPr/>
      </p:nvGrpSpPr>
      <p:grpSpPr>
        <a:xfrm>
          <a:off x="0" y="0"/>
          <a:ext cx="0" cy="0"/>
          <a:chOff x="0" y="0"/>
          <a:chExt cx="0" cy="0"/>
        </a:xfrm>
      </p:grpSpPr>
      <p:sp>
        <p:nvSpPr>
          <p:cNvPr id="1342" name="Google Shape;1342;p39"/>
          <p:cNvSpPr txBox="1">
            <a:spLocks noGrp="1"/>
          </p:cNvSpPr>
          <p:nvPr>
            <p:ph type="title"/>
          </p:nvPr>
        </p:nvSpPr>
        <p:spPr>
          <a:xfrm>
            <a:off x="0" y="0"/>
            <a:ext cx="12192000" cy="524800"/>
          </a:xfrm>
          <a:prstGeom prst="rect">
            <a:avLst/>
          </a:prstGeom>
        </p:spPr>
        <p:txBody>
          <a:bodyPr spcFirstLastPara="1" wrap="square" lIns="121900" tIns="121900" rIns="121900" bIns="121900" anchor="t" anchorCtr="0">
            <a:noAutofit/>
          </a:bodyPr>
          <a:lstStyle/>
          <a:p>
            <a:pPr>
              <a:buClr>
                <a:schemeClr val="dk1"/>
              </a:buClr>
              <a:buSzPts val="1100"/>
            </a:pPr>
            <a:r>
              <a:rPr lang="en" dirty="0">
                <a:solidFill>
                  <a:schemeClr val="accent3"/>
                </a:solidFill>
              </a:rPr>
              <a:t>Pipe Diagrams – Packet Transmission Delay</a:t>
            </a:r>
            <a:endParaRPr dirty="0"/>
          </a:p>
        </p:txBody>
      </p:sp>
      <p:sp>
        <p:nvSpPr>
          <p:cNvPr id="1344" name="Google Shape;1344;p39"/>
          <p:cNvSpPr/>
          <p:nvPr/>
        </p:nvSpPr>
        <p:spPr>
          <a:xfrm>
            <a:off x="2074867" y="5096844"/>
            <a:ext cx="3656800" cy="113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45" name="Google Shape;1345;p39"/>
          <p:cNvSpPr/>
          <p:nvPr/>
        </p:nvSpPr>
        <p:spPr>
          <a:xfrm>
            <a:off x="2395684" y="5096844"/>
            <a:ext cx="854800" cy="11364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grpSp>
        <p:nvGrpSpPr>
          <p:cNvPr id="1346" name="Google Shape;1346;p39"/>
          <p:cNvGrpSpPr/>
          <p:nvPr/>
        </p:nvGrpSpPr>
        <p:grpSpPr>
          <a:xfrm>
            <a:off x="2457325" y="5202041"/>
            <a:ext cx="722800" cy="926000"/>
            <a:chOff x="2107969" y="3180898"/>
            <a:chExt cx="542100" cy="694500"/>
          </a:xfrm>
        </p:grpSpPr>
        <p:sp>
          <p:nvSpPr>
            <p:cNvPr id="1347" name="Google Shape;1347;p39"/>
            <p:cNvSpPr/>
            <p:nvPr/>
          </p:nvSpPr>
          <p:spPr>
            <a:xfrm>
              <a:off x="2107969" y="31808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48" name="Google Shape;1348;p39"/>
            <p:cNvSpPr/>
            <p:nvPr/>
          </p:nvSpPr>
          <p:spPr>
            <a:xfrm>
              <a:off x="2107969" y="33332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49" name="Google Shape;1349;p39"/>
            <p:cNvSpPr/>
            <p:nvPr/>
          </p:nvSpPr>
          <p:spPr>
            <a:xfrm>
              <a:off x="2107969" y="34856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0" name="Google Shape;1350;p39"/>
            <p:cNvSpPr/>
            <p:nvPr/>
          </p:nvSpPr>
          <p:spPr>
            <a:xfrm>
              <a:off x="2107969" y="36380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1" name="Google Shape;1351;p39"/>
            <p:cNvSpPr/>
            <p:nvPr/>
          </p:nvSpPr>
          <p:spPr>
            <a:xfrm>
              <a:off x="2107969" y="37904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2" name="Google Shape;1352;p39"/>
            <p:cNvSpPr/>
            <p:nvPr/>
          </p:nvSpPr>
          <p:spPr>
            <a:xfrm>
              <a:off x="2260369" y="31808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3" name="Google Shape;1353;p39"/>
            <p:cNvSpPr/>
            <p:nvPr/>
          </p:nvSpPr>
          <p:spPr>
            <a:xfrm>
              <a:off x="2260369" y="33332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4" name="Google Shape;1354;p39"/>
            <p:cNvSpPr/>
            <p:nvPr/>
          </p:nvSpPr>
          <p:spPr>
            <a:xfrm>
              <a:off x="2260369" y="34856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5" name="Google Shape;1355;p39"/>
            <p:cNvSpPr/>
            <p:nvPr/>
          </p:nvSpPr>
          <p:spPr>
            <a:xfrm>
              <a:off x="2260369" y="36380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6" name="Google Shape;1356;p39"/>
            <p:cNvSpPr/>
            <p:nvPr/>
          </p:nvSpPr>
          <p:spPr>
            <a:xfrm>
              <a:off x="2260369" y="37904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7" name="Google Shape;1357;p39"/>
            <p:cNvSpPr/>
            <p:nvPr/>
          </p:nvSpPr>
          <p:spPr>
            <a:xfrm>
              <a:off x="2412769" y="31808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8" name="Google Shape;1358;p39"/>
            <p:cNvSpPr/>
            <p:nvPr/>
          </p:nvSpPr>
          <p:spPr>
            <a:xfrm>
              <a:off x="2412769" y="33332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59" name="Google Shape;1359;p39"/>
            <p:cNvSpPr/>
            <p:nvPr/>
          </p:nvSpPr>
          <p:spPr>
            <a:xfrm>
              <a:off x="2412769" y="34856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0" name="Google Shape;1360;p39"/>
            <p:cNvSpPr/>
            <p:nvPr/>
          </p:nvSpPr>
          <p:spPr>
            <a:xfrm>
              <a:off x="2412769" y="36380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1" name="Google Shape;1361;p39"/>
            <p:cNvSpPr/>
            <p:nvPr/>
          </p:nvSpPr>
          <p:spPr>
            <a:xfrm>
              <a:off x="2412769" y="37904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2" name="Google Shape;1362;p39"/>
            <p:cNvSpPr/>
            <p:nvPr/>
          </p:nvSpPr>
          <p:spPr>
            <a:xfrm>
              <a:off x="2565169" y="31808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3" name="Google Shape;1363;p39"/>
            <p:cNvSpPr/>
            <p:nvPr/>
          </p:nvSpPr>
          <p:spPr>
            <a:xfrm>
              <a:off x="2565169" y="33332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4" name="Google Shape;1364;p39"/>
            <p:cNvSpPr/>
            <p:nvPr/>
          </p:nvSpPr>
          <p:spPr>
            <a:xfrm>
              <a:off x="2565169" y="34856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5" name="Google Shape;1365;p39"/>
            <p:cNvSpPr/>
            <p:nvPr/>
          </p:nvSpPr>
          <p:spPr>
            <a:xfrm>
              <a:off x="2565169" y="36380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6" name="Google Shape;1366;p39"/>
            <p:cNvSpPr/>
            <p:nvPr/>
          </p:nvSpPr>
          <p:spPr>
            <a:xfrm>
              <a:off x="2565169" y="37904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grpSp>
      <p:sp>
        <p:nvSpPr>
          <p:cNvPr id="1367" name="Google Shape;1367;p39"/>
          <p:cNvSpPr/>
          <p:nvPr/>
        </p:nvSpPr>
        <p:spPr>
          <a:xfrm>
            <a:off x="3250484" y="5096844"/>
            <a:ext cx="854800" cy="11364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8" name="Google Shape;1368;p39"/>
          <p:cNvSpPr/>
          <p:nvPr/>
        </p:nvSpPr>
        <p:spPr>
          <a:xfrm>
            <a:off x="4105284" y="5096844"/>
            <a:ext cx="854800" cy="11364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69" name="Google Shape;1369;p39"/>
          <p:cNvSpPr/>
          <p:nvPr/>
        </p:nvSpPr>
        <p:spPr>
          <a:xfrm>
            <a:off x="7024655" y="3960444"/>
            <a:ext cx="3656800" cy="2272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70" name="Google Shape;1370;p39"/>
          <p:cNvSpPr/>
          <p:nvPr/>
        </p:nvSpPr>
        <p:spPr>
          <a:xfrm>
            <a:off x="7376988" y="3960444"/>
            <a:ext cx="428800" cy="22728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71" name="Google Shape;1371;p39"/>
          <p:cNvSpPr/>
          <p:nvPr/>
        </p:nvSpPr>
        <p:spPr>
          <a:xfrm>
            <a:off x="7805788" y="3960444"/>
            <a:ext cx="428800" cy="22728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72" name="Google Shape;1372;p39"/>
          <p:cNvSpPr/>
          <p:nvPr/>
        </p:nvSpPr>
        <p:spPr>
          <a:xfrm>
            <a:off x="8234588" y="3960444"/>
            <a:ext cx="428800" cy="22728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grpSp>
        <p:nvGrpSpPr>
          <p:cNvPr id="1373" name="Google Shape;1373;p39"/>
          <p:cNvGrpSpPr/>
          <p:nvPr/>
        </p:nvGrpSpPr>
        <p:grpSpPr>
          <a:xfrm>
            <a:off x="7433180" y="4125841"/>
            <a:ext cx="316400" cy="1942000"/>
            <a:chOff x="4040319" y="2979898"/>
            <a:chExt cx="237300" cy="1456500"/>
          </a:xfrm>
        </p:grpSpPr>
        <p:sp>
          <p:nvSpPr>
            <p:cNvPr id="1374" name="Google Shape;1374;p39"/>
            <p:cNvSpPr/>
            <p:nvPr/>
          </p:nvSpPr>
          <p:spPr>
            <a:xfrm>
              <a:off x="4040319" y="29798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75" name="Google Shape;1375;p39"/>
            <p:cNvSpPr/>
            <p:nvPr/>
          </p:nvSpPr>
          <p:spPr>
            <a:xfrm>
              <a:off x="4040319" y="31322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76" name="Google Shape;1376;p39"/>
            <p:cNvSpPr/>
            <p:nvPr/>
          </p:nvSpPr>
          <p:spPr>
            <a:xfrm>
              <a:off x="4040319" y="32846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77" name="Google Shape;1377;p39"/>
            <p:cNvSpPr/>
            <p:nvPr/>
          </p:nvSpPr>
          <p:spPr>
            <a:xfrm>
              <a:off x="4040319" y="34370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78" name="Google Shape;1378;p39"/>
            <p:cNvSpPr/>
            <p:nvPr/>
          </p:nvSpPr>
          <p:spPr>
            <a:xfrm>
              <a:off x="4040319" y="35894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79" name="Google Shape;1379;p39"/>
            <p:cNvSpPr/>
            <p:nvPr/>
          </p:nvSpPr>
          <p:spPr>
            <a:xfrm>
              <a:off x="4192719" y="29798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0" name="Google Shape;1380;p39"/>
            <p:cNvSpPr/>
            <p:nvPr/>
          </p:nvSpPr>
          <p:spPr>
            <a:xfrm>
              <a:off x="4192719" y="31322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1" name="Google Shape;1381;p39"/>
            <p:cNvSpPr/>
            <p:nvPr/>
          </p:nvSpPr>
          <p:spPr>
            <a:xfrm>
              <a:off x="4192719" y="32846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2" name="Google Shape;1382;p39"/>
            <p:cNvSpPr/>
            <p:nvPr/>
          </p:nvSpPr>
          <p:spPr>
            <a:xfrm>
              <a:off x="4192719" y="34370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3" name="Google Shape;1383;p39"/>
            <p:cNvSpPr/>
            <p:nvPr/>
          </p:nvSpPr>
          <p:spPr>
            <a:xfrm>
              <a:off x="4192719" y="35894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4" name="Google Shape;1384;p39"/>
            <p:cNvSpPr/>
            <p:nvPr/>
          </p:nvSpPr>
          <p:spPr>
            <a:xfrm>
              <a:off x="4040319" y="37418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5" name="Google Shape;1385;p39"/>
            <p:cNvSpPr/>
            <p:nvPr/>
          </p:nvSpPr>
          <p:spPr>
            <a:xfrm>
              <a:off x="4040319" y="38942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6" name="Google Shape;1386;p39"/>
            <p:cNvSpPr/>
            <p:nvPr/>
          </p:nvSpPr>
          <p:spPr>
            <a:xfrm>
              <a:off x="4040319" y="40466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7" name="Google Shape;1387;p39"/>
            <p:cNvSpPr/>
            <p:nvPr/>
          </p:nvSpPr>
          <p:spPr>
            <a:xfrm>
              <a:off x="4040319" y="41990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8" name="Google Shape;1388;p39"/>
            <p:cNvSpPr/>
            <p:nvPr/>
          </p:nvSpPr>
          <p:spPr>
            <a:xfrm>
              <a:off x="4040319" y="43514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89" name="Google Shape;1389;p39"/>
            <p:cNvSpPr/>
            <p:nvPr/>
          </p:nvSpPr>
          <p:spPr>
            <a:xfrm>
              <a:off x="4192719" y="37418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90" name="Google Shape;1390;p39"/>
            <p:cNvSpPr/>
            <p:nvPr/>
          </p:nvSpPr>
          <p:spPr>
            <a:xfrm>
              <a:off x="4192719" y="38942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91" name="Google Shape;1391;p39"/>
            <p:cNvSpPr/>
            <p:nvPr/>
          </p:nvSpPr>
          <p:spPr>
            <a:xfrm>
              <a:off x="4192719" y="40466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92" name="Google Shape;1392;p39"/>
            <p:cNvSpPr/>
            <p:nvPr/>
          </p:nvSpPr>
          <p:spPr>
            <a:xfrm>
              <a:off x="4192719" y="41990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sp>
          <p:nvSpPr>
            <p:cNvPr id="1393" name="Google Shape;1393;p39"/>
            <p:cNvSpPr/>
            <p:nvPr/>
          </p:nvSpPr>
          <p:spPr>
            <a:xfrm>
              <a:off x="4192719" y="4351498"/>
              <a:ext cx="84900" cy="84900"/>
            </a:xfrm>
            <a:prstGeom prst="ellipse">
              <a:avLst/>
            </a:prstGeom>
            <a:solidFill>
              <a:srgbClr val="E69138"/>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Roboto"/>
                <a:ea typeface="Roboto"/>
                <a:cs typeface="Roboto"/>
                <a:sym typeface="Roboto"/>
              </a:endParaRPr>
            </a:p>
          </p:txBody>
        </p:sp>
      </p:grpSp>
      <p:grpSp>
        <p:nvGrpSpPr>
          <p:cNvPr id="1394" name="Google Shape;1394;p39"/>
          <p:cNvGrpSpPr/>
          <p:nvPr/>
        </p:nvGrpSpPr>
        <p:grpSpPr>
          <a:xfrm rot="5400000">
            <a:off x="2701340" y="4450122"/>
            <a:ext cx="239600" cy="850645"/>
            <a:chOff x="2338450" y="3338450"/>
            <a:chExt cx="179700" cy="836700"/>
          </a:xfrm>
        </p:grpSpPr>
        <p:cxnSp>
          <p:nvCxnSpPr>
            <p:cNvPr id="1395" name="Google Shape;1395;p39"/>
            <p:cNvCxnSpPr/>
            <p:nvPr/>
          </p:nvCxnSpPr>
          <p:spPr>
            <a:xfrm>
              <a:off x="2338450" y="3338450"/>
              <a:ext cx="179700" cy="0"/>
            </a:xfrm>
            <a:prstGeom prst="straightConnector1">
              <a:avLst/>
            </a:prstGeom>
            <a:noFill/>
            <a:ln w="19050" cap="flat" cmpd="sng">
              <a:solidFill>
                <a:srgbClr val="E69138"/>
              </a:solidFill>
              <a:prstDash val="solid"/>
              <a:round/>
              <a:headEnd type="none" w="med" len="med"/>
              <a:tailEnd type="none" w="med" len="med"/>
            </a:ln>
          </p:spPr>
        </p:cxnSp>
        <p:cxnSp>
          <p:nvCxnSpPr>
            <p:cNvPr id="1396" name="Google Shape;1396;p39"/>
            <p:cNvCxnSpPr/>
            <p:nvPr/>
          </p:nvCxnSpPr>
          <p:spPr>
            <a:xfrm>
              <a:off x="2338450" y="4175150"/>
              <a:ext cx="179700" cy="0"/>
            </a:xfrm>
            <a:prstGeom prst="straightConnector1">
              <a:avLst/>
            </a:prstGeom>
            <a:noFill/>
            <a:ln w="19050" cap="flat" cmpd="sng">
              <a:solidFill>
                <a:srgbClr val="E69138"/>
              </a:solidFill>
              <a:prstDash val="solid"/>
              <a:round/>
              <a:headEnd type="none" w="med" len="med"/>
              <a:tailEnd type="none" w="med" len="med"/>
            </a:ln>
          </p:spPr>
        </p:cxnSp>
        <p:cxnSp>
          <p:nvCxnSpPr>
            <p:cNvPr id="1397" name="Google Shape;1397;p39"/>
            <p:cNvCxnSpPr/>
            <p:nvPr/>
          </p:nvCxnSpPr>
          <p:spPr>
            <a:xfrm rot="10800000">
              <a:off x="2428500" y="3338450"/>
              <a:ext cx="0" cy="836700"/>
            </a:xfrm>
            <a:prstGeom prst="straightConnector1">
              <a:avLst/>
            </a:prstGeom>
            <a:noFill/>
            <a:ln w="19050" cap="flat" cmpd="sng">
              <a:solidFill>
                <a:srgbClr val="E69138"/>
              </a:solidFill>
              <a:prstDash val="solid"/>
              <a:round/>
              <a:headEnd type="none" w="med" len="med"/>
              <a:tailEnd type="none" w="med" len="med"/>
            </a:ln>
          </p:spPr>
        </p:cxnSp>
      </p:grpSp>
      <p:sp>
        <p:nvSpPr>
          <p:cNvPr id="1398" name="Google Shape;1398;p39"/>
          <p:cNvSpPr txBox="1"/>
          <p:nvPr/>
        </p:nvSpPr>
        <p:spPr>
          <a:xfrm>
            <a:off x="2072091" y="4162365"/>
            <a:ext cx="1574800" cy="648493"/>
          </a:xfrm>
          <a:prstGeom prst="rect">
            <a:avLst/>
          </a:prstGeom>
          <a:noFill/>
          <a:ln>
            <a:noFill/>
          </a:ln>
        </p:spPr>
        <p:txBody>
          <a:bodyPr spcFirstLastPara="1" wrap="square" lIns="36567" tIns="36567" rIns="36567" bIns="36567" anchor="t" anchorCtr="0">
            <a:spAutoFit/>
          </a:bodyPr>
          <a:lstStyle/>
          <a:p>
            <a:pPr algn="ctr" defTabSz="1219170">
              <a:buClr>
                <a:srgbClr val="000000"/>
              </a:buClr>
            </a:pPr>
            <a:r>
              <a:rPr lang="en" sz="1867" kern="0" dirty="0">
                <a:solidFill>
                  <a:srgbClr val="E69138"/>
                </a:solidFill>
                <a:latin typeface="Roboto"/>
                <a:ea typeface="Roboto"/>
                <a:cs typeface="Roboto"/>
                <a:sym typeface="Roboto"/>
              </a:rPr>
              <a:t>Transmission Delay</a:t>
            </a:r>
            <a:endParaRPr sz="1867" kern="0" dirty="0">
              <a:solidFill>
                <a:srgbClr val="E69138"/>
              </a:solidFill>
              <a:latin typeface="Roboto"/>
              <a:ea typeface="Roboto"/>
              <a:cs typeface="Roboto"/>
              <a:sym typeface="Roboto"/>
            </a:endParaRPr>
          </a:p>
        </p:txBody>
      </p:sp>
      <p:grpSp>
        <p:nvGrpSpPr>
          <p:cNvPr id="1399" name="Google Shape;1399;p39"/>
          <p:cNvGrpSpPr/>
          <p:nvPr/>
        </p:nvGrpSpPr>
        <p:grpSpPr>
          <a:xfrm rot="5400000">
            <a:off x="7471576" y="3524347"/>
            <a:ext cx="239600" cy="429395"/>
            <a:chOff x="2338450" y="3338450"/>
            <a:chExt cx="179700" cy="836700"/>
          </a:xfrm>
        </p:grpSpPr>
        <p:cxnSp>
          <p:nvCxnSpPr>
            <p:cNvPr id="1400" name="Google Shape;1400;p39"/>
            <p:cNvCxnSpPr/>
            <p:nvPr/>
          </p:nvCxnSpPr>
          <p:spPr>
            <a:xfrm>
              <a:off x="2338450" y="3338450"/>
              <a:ext cx="179700" cy="0"/>
            </a:xfrm>
            <a:prstGeom prst="straightConnector1">
              <a:avLst/>
            </a:prstGeom>
            <a:noFill/>
            <a:ln w="19050" cap="flat" cmpd="sng">
              <a:solidFill>
                <a:srgbClr val="E69138"/>
              </a:solidFill>
              <a:prstDash val="solid"/>
              <a:round/>
              <a:headEnd type="none" w="med" len="med"/>
              <a:tailEnd type="none" w="med" len="med"/>
            </a:ln>
          </p:spPr>
        </p:cxnSp>
        <p:cxnSp>
          <p:nvCxnSpPr>
            <p:cNvPr id="1401" name="Google Shape;1401;p39"/>
            <p:cNvCxnSpPr/>
            <p:nvPr/>
          </p:nvCxnSpPr>
          <p:spPr>
            <a:xfrm>
              <a:off x="2338450" y="4175150"/>
              <a:ext cx="179700" cy="0"/>
            </a:xfrm>
            <a:prstGeom prst="straightConnector1">
              <a:avLst/>
            </a:prstGeom>
            <a:noFill/>
            <a:ln w="19050" cap="flat" cmpd="sng">
              <a:solidFill>
                <a:srgbClr val="E69138"/>
              </a:solidFill>
              <a:prstDash val="solid"/>
              <a:round/>
              <a:headEnd type="none" w="med" len="med"/>
              <a:tailEnd type="none" w="med" len="med"/>
            </a:ln>
          </p:spPr>
        </p:cxnSp>
        <p:cxnSp>
          <p:nvCxnSpPr>
            <p:cNvPr id="1402" name="Google Shape;1402;p39"/>
            <p:cNvCxnSpPr/>
            <p:nvPr/>
          </p:nvCxnSpPr>
          <p:spPr>
            <a:xfrm rot="10800000">
              <a:off x="2428500" y="3338450"/>
              <a:ext cx="0" cy="836700"/>
            </a:xfrm>
            <a:prstGeom prst="straightConnector1">
              <a:avLst/>
            </a:prstGeom>
            <a:noFill/>
            <a:ln w="19050" cap="flat" cmpd="sng">
              <a:solidFill>
                <a:srgbClr val="E69138"/>
              </a:solidFill>
              <a:prstDash val="solid"/>
              <a:round/>
              <a:headEnd type="none" w="med" len="med"/>
              <a:tailEnd type="none" w="med" len="med"/>
            </a:ln>
          </p:spPr>
        </p:cxnSp>
      </p:grpSp>
      <p:sp>
        <p:nvSpPr>
          <p:cNvPr id="1403" name="Google Shape;1403;p39"/>
          <p:cNvSpPr txBox="1"/>
          <p:nvPr/>
        </p:nvSpPr>
        <p:spPr>
          <a:xfrm>
            <a:off x="6416634" y="3305133"/>
            <a:ext cx="2259492" cy="361171"/>
          </a:xfrm>
          <a:prstGeom prst="rect">
            <a:avLst/>
          </a:prstGeom>
          <a:noFill/>
          <a:ln>
            <a:noFill/>
          </a:ln>
        </p:spPr>
        <p:txBody>
          <a:bodyPr spcFirstLastPara="1" wrap="square" lIns="36567" tIns="36567" rIns="36567" bIns="36567" anchor="t" anchorCtr="0">
            <a:spAutoFit/>
          </a:bodyPr>
          <a:lstStyle/>
          <a:p>
            <a:pPr algn="ctr" defTabSz="1219170">
              <a:buClr>
                <a:srgbClr val="000000"/>
              </a:buClr>
            </a:pPr>
            <a:r>
              <a:rPr lang="en" sz="1867" kern="0" dirty="0">
                <a:solidFill>
                  <a:srgbClr val="E69138"/>
                </a:solidFill>
                <a:latin typeface="Roboto"/>
                <a:ea typeface="Roboto"/>
                <a:cs typeface="Roboto"/>
                <a:sym typeface="Roboto"/>
              </a:rPr>
              <a:t>Transmission Delay</a:t>
            </a:r>
            <a:endParaRPr sz="1867" kern="0" dirty="0">
              <a:solidFill>
                <a:srgbClr val="E69138"/>
              </a:solidFill>
              <a:latin typeface="Roboto"/>
              <a:ea typeface="Roboto"/>
              <a:cs typeface="Roboto"/>
              <a:sym typeface="Roboto"/>
            </a:endParaRPr>
          </a:p>
        </p:txBody>
      </p:sp>
      <p:sp>
        <p:nvSpPr>
          <p:cNvPr id="4" name="Google Shape;1189;p38">
            <a:extLst>
              <a:ext uri="{FF2B5EF4-FFF2-40B4-BE49-F238E27FC236}">
                <a16:creationId xmlns:a16="http://schemas.microsoft.com/office/drawing/2014/main" id="{C3C090EE-F007-890C-75CE-7557A76071E3}"/>
              </a:ext>
            </a:extLst>
          </p:cNvPr>
          <p:cNvSpPr txBox="1">
            <a:spLocks noGrp="1"/>
          </p:cNvSpPr>
          <p:nvPr>
            <p:ph type="body" idx="1"/>
          </p:nvPr>
        </p:nvSpPr>
        <p:spPr>
          <a:xfrm>
            <a:off x="126520" y="398282"/>
            <a:ext cx="11879600" cy="3144189"/>
          </a:xfrm>
          <a:prstGeom prst="rect">
            <a:avLst/>
          </a:prstGeom>
        </p:spPr>
        <p:txBody>
          <a:bodyPr spcFirstLastPara="1" wrap="square" lIns="121900" tIns="121900" rIns="121900" bIns="121900" anchor="t" anchorCtr="0">
            <a:normAutofit/>
          </a:bodyPr>
          <a:lstStyle/>
          <a:p>
            <a:pPr marL="0" indent="0">
              <a:buSzPts val="1100"/>
              <a:buNone/>
            </a:pPr>
            <a:r>
              <a:rPr lang="en" sz="2133" dirty="0"/>
              <a:t>The </a:t>
            </a:r>
            <a:r>
              <a:rPr lang="en" sz="2133" b="1" dirty="0"/>
              <a:t>width of the packet </a:t>
            </a:r>
            <a:r>
              <a:rPr lang="en" sz="2133" dirty="0"/>
              <a:t>in the pipe represents the transmission delay.</a:t>
            </a:r>
            <a:endParaRPr sz="2133" dirty="0"/>
          </a:p>
          <a:p>
            <a:r>
              <a:rPr lang="en" sz="2133" dirty="0"/>
              <a:t>How long it takes to push all the bits onto the link.</a:t>
            </a:r>
          </a:p>
          <a:p>
            <a:r>
              <a:rPr lang="en-US" sz="2133" b="1" dirty="0"/>
              <a:t>Link capacity = Propagation Delay × Bandwidth</a:t>
            </a:r>
          </a:p>
          <a:p>
            <a:r>
              <a:rPr lang="en-US" sz="2133" b="1" dirty="0"/>
              <a:t>Packet size = Transmission Delay × Bandwidth</a:t>
            </a:r>
          </a:p>
          <a:p>
            <a:pPr lvl="1"/>
            <a:r>
              <a:rPr lang="en" sz="2133" dirty="0"/>
              <a:t>For </a:t>
            </a:r>
            <a:r>
              <a:rPr lang="en" sz="2133" b="1" dirty="0"/>
              <a:t>a packet of given size</a:t>
            </a:r>
            <a:r>
              <a:rPr lang="en" sz="2133" dirty="0"/>
              <a:t>: </a:t>
            </a:r>
            <a:r>
              <a:rPr lang="en-US" sz="2133" dirty="0"/>
              <a:t>higher bandwidth </a:t>
            </a:r>
            <a:r>
              <a:rPr lang="en-US" sz="2133" dirty="0">
                <a:sym typeface="Wingdings" panose="05000000000000000000" pitchFamily="2" charset="2"/>
              </a:rPr>
              <a:t> shorter transmission delay (</a:t>
            </a:r>
            <a:r>
              <a:rPr lang="en" sz="2133" dirty="0"/>
              <a:t>higher bandwidth </a:t>
            </a:r>
            <a:r>
              <a:rPr lang="en" sz="2133"/>
              <a:t>= fatter </a:t>
            </a:r>
            <a:r>
              <a:rPr lang="en" sz="2133" dirty="0"/>
              <a:t>pipe = more bits in pipe per unit time = narrower packet in pipe).</a:t>
            </a:r>
          </a:p>
        </p:txBody>
      </p:sp>
      <p:sp>
        <p:nvSpPr>
          <p:cNvPr id="2" name="Slide Number Placeholder 1">
            <a:extLst>
              <a:ext uri="{FF2B5EF4-FFF2-40B4-BE49-F238E27FC236}">
                <a16:creationId xmlns:a16="http://schemas.microsoft.com/office/drawing/2014/main" id="{014342AF-3652-A472-6A3C-C1D95221A87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000000"/>
                </a:solidFill>
              </a:rPr>
              <a:pPr defTabSz="1219170">
                <a:buClr>
                  <a:srgbClr val="000000"/>
                </a:buClr>
              </a:pPr>
              <a:t>2</a:t>
            </a:fld>
            <a:endParaRPr lang="en" kern="0">
              <a:solidFill>
                <a:srgbClr val="000000"/>
              </a:solidFill>
            </a:endParaRPr>
          </a:p>
        </p:txBody>
      </p:sp>
      <p:grpSp>
        <p:nvGrpSpPr>
          <p:cNvPr id="33" name="Google Shape;1867;p55">
            <a:extLst>
              <a:ext uri="{FF2B5EF4-FFF2-40B4-BE49-F238E27FC236}">
                <a16:creationId xmlns:a16="http://schemas.microsoft.com/office/drawing/2014/main" id="{064777F1-8BAC-97C1-4FC6-6E2C6032099C}"/>
              </a:ext>
            </a:extLst>
          </p:cNvPr>
          <p:cNvGrpSpPr/>
          <p:nvPr/>
        </p:nvGrpSpPr>
        <p:grpSpPr>
          <a:xfrm>
            <a:off x="6741695" y="3960428"/>
            <a:ext cx="264000" cy="2272800"/>
            <a:chOff x="2338450" y="3338450"/>
            <a:chExt cx="179700" cy="836700"/>
          </a:xfrm>
        </p:grpSpPr>
        <p:cxnSp>
          <p:nvCxnSpPr>
            <p:cNvPr id="34" name="Google Shape;1868;p55">
              <a:extLst>
                <a:ext uri="{FF2B5EF4-FFF2-40B4-BE49-F238E27FC236}">
                  <a16:creationId xmlns:a16="http://schemas.microsoft.com/office/drawing/2014/main" id="{C715F699-0B08-4B56-0352-AC5135056E70}"/>
                </a:ext>
              </a:extLst>
            </p:cNvPr>
            <p:cNvCxnSpPr/>
            <p:nvPr/>
          </p:nvCxnSpPr>
          <p:spPr>
            <a:xfrm>
              <a:off x="2338450" y="3338450"/>
              <a:ext cx="179700" cy="0"/>
            </a:xfrm>
            <a:prstGeom prst="straightConnector1">
              <a:avLst/>
            </a:prstGeom>
            <a:noFill/>
            <a:ln w="19050" cap="flat" cmpd="sng">
              <a:solidFill>
                <a:schemeClr val="accent2"/>
              </a:solidFill>
              <a:prstDash val="solid"/>
              <a:round/>
              <a:headEnd type="none" w="med" len="med"/>
              <a:tailEnd type="none" w="med" len="med"/>
            </a:ln>
          </p:spPr>
        </p:cxnSp>
        <p:cxnSp>
          <p:nvCxnSpPr>
            <p:cNvPr id="35" name="Google Shape;1869;p55">
              <a:extLst>
                <a:ext uri="{FF2B5EF4-FFF2-40B4-BE49-F238E27FC236}">
                  <a16:creationId xmlns:a16="http://schemas.microsoft.com/office/drawing/2014/main" id="{5157E6B9-8C41-61F0-C184-75B94E02602F}"/>
                </a:ext>
              </a:extLst>
            </p:cNvPr>
            <p:cNvCxnSpPr/>
            <p:nvPr/>
          </p:nvCxnSpPr>
          <p:spPr>
            <a:xfrm>
              <a:off x="2338450" y="4175150"/>
              <a:ext cx="179700" cy="0"/>
            </a:xfrm>
            <a:prstGeom prst="straightConnector1">
              <a:avLst/>
            </a:prstGeom>
            <a:noFill/>
            <a:ln w="19050" cap="flat" cmpd="sng">
              <a:solidFill>
                <a:schemeClr val="accent2"/>
              </a:solidFill>
              <a:prstDash val="solid"/>
              <a:round/>
              <a:headEnd type="none" w="med" len="med"/>
              <a:tailEnd type="none" w="med" len="med"/>
            </a:ln>
          </p:spPr>
        </p:cxnSp>
        <p:cxnSp>
          <p:nvCxnSpPr>
            <p:cNvPr id="36" name="Google Shape;1870;p55">
              <a:extLst>
                <a:ext uri="{FF2B5EF4-FFF2-40B4-BE49-F238E27FC236}">
                  <a16:creationId xmlns:a16="http://schemas.microsoft.com/office/drawing/2014/main" id="{68B21B7A-81A2-73C7-ED55-5E97F5F0E77A}"/>
                </a:ext>
              </a:extLst>
            </p:cNvPr>
            <p:cNvCxnSpPr/>
            <p:nvPr/>
          </p:nvCxnSpPr>
          <p:spPr>
            <a:xfrm rot="10800000">
              <a:off x="2428500" y="3338450"/>
              <a:ext cx="0" cy="836700"/>
            </a:xfrm>
            <a:prstGeom prst="straightConnector1">
              <a:avLst/>
            </a:prstGeom>
            <a:noFill/>
            <a:ln w="19050" cap="flat" cmpd="sng">
              <a:solidFill>
                <a:schemeClr val="accent2"/>
              </a:solidFill>
              <a:prstDash val="solid"/>
              <a:round/>
              <a:headEnd type="none" w="med" len="med"/>
              <a:tailEnd type="none" w="med" len="med"/>
            </a:ln>
          </p:spPr>
        </p:cxnSp>
      </p:grpSp>
      <p:sp>
        <p:nvSpPr>
          <p:cNvPr id="37" name="Google Shape;1871;p55">
            <a:extLst>
              <a:ext uri="{FF2B5EF4-FFF2-40B4-BE49-F238E27FC236}">
                <a16:creationId xmlns:a16="http://schemas.microsoft.com/office/drawing/2014/main" id="{78ED1D61-8AF4-FB24-3E84-B6A5CACC3307}"/>
              </a:ext>
            </a:extLst>
          </p:cNvPr>
          <p:cNvSpPr txBox="1"/>
          <p:nvPr/>
        </p:nvSpPr>
        <p:spPr>
          <a:xfrm rot="-5400000">
            <a:off x="6045761" y="4925410"/>
            <a:ext cx="1215200" cy="361171"/>
          </a:xfrm>
          <a:prstGeom prst="rect">
            <a:avLst/>
          </a:prstGeom>
          <a:noFill/>
          <a:ln>
            <a:noFill/>
          </a:ln>
        </p:spPr>
        <p:txBody>
          <a:bodyPr spcFirstLastPara="1" wrap="square" lIns="36567" tIns="36567" rIns="36567" bIns="36567" anchor="t" anchorCtr="0">
            <a:spAutoFit/>
          </a:bodyPr>
          <a:lstStyle/>
          <a:p>
            <a:pPr algn="r" defTabSz="1219170">
              <a:buClr>
                <a:srgbClr val="000000"/>
              </a:buClr>
            </a:pPr>
            <a:r>
              <a:rPr lang="en" sz="1867" kern="0" dirty="0">
                <a:solidFill>
                  <a:srgbClr val="CC4125"/>
                </a:solidFill>
                <a:latin typeface="Roboto"/>
                <a:ea typeface="Roboto"/>
                <a:cs typeface="Roboto"/>
                <a:sym typeface="Roboto"/>
              </a:rPr>
              <a:t>Bandwidth</a:t>
            </a:r>
            <a:endParaRPr sz="1867" kern="0" dirty="0">
              <a:solidFill>
                <a:srgbClr val="CC4125"/>
              </a:solidFill>
              <a:latin typeface="Roboto"/>
              <a:ea typeface="Roboto"/>
              <a:cs typeface="Roboto"/>
              <a:sym typeface="Roboto"/>
            </a:endParaRPr>
          </a:p>
        </p:txBody>
      </p:sp>
      <p:sp>
        <p:nvSpPr>
          <p:cNvPr id="54" name="Google Shape;1876;p55">
            <a:extLst>
              <a:ext uri="{FF2B5EF4-FFF2-40B4-BE49-F238E27FC236}">
                <a16:creationId xmlns:a16="http://schemas.microsoft.com/office/drawing/2014/main" id="{3EF74E1E-73F3-9415-8645-071EEE11CA62}"/>
              </a:ext>
            </a:extLst>
          </p:cNvPr>
          <p:cNvSpPr txBox="1"/>
          <p:nvPr/>
        </p:nvSpPr>
        <p:spPr>
          <a:xfrm>
            <a:off x="7845985" y="6424836"/>
            <a:ext cx="2157600" cy="361171"/>
          </a:xfrm>
          <a:prstGeom prst="rect">
            <a:avLst/>
          </a:prstGeom>
          <a:noFill/>
          <a:ln>
            <a:noFill/>
          </a:ln>
        </p:spPr>
        <p:txBody>
          <a:bodyPr spcFirstLastPara="1" wrap="square" lIns="36567" tIns="36567" rIns="36567" bIns="36567" anchor="t" anchorCtr="0">
            <a:spAutoFit/>
          </a:bodyPr>
          <a:lstStyle/>
          <a:p>
            <a:pPr algn="ctr" defTabSz="1219170">
              <a:buClr>
                <a:srgbClr val="000000"/>
              </a:buClr>
            </a:pPr>
            <a:r>
              <a:rPr lang="en" sz="1867" kern="0" dirty="0">
                <a:solidFill>
                  <a:srgbClr val="0B5394"/>
                </a:solidFill>
                <a:latin typeface="Roboto"/>
                <a:ea typeface="Roboto"/>
                <a:cs typeface="Roboto"/>
                <a:sym typeface="Roboto"/>
              </a:rPr>
              <a:t>Propagation Delay</a:t>
            </a:r>
            <a:endParaRPr sz="1867" kern="0" dirty="0">
              <a:solidFill>
                <a:srgbClr val="0B5394"/>
              </a:solidFill>
              <a:latin typeface="Roboto"/>
              <a:ea typeface="Roboto"/>
              <a:cs typeface="Roboto"/>
              <a:sym typeface="Roboto"/>
            </a:endParaRPr>
          </a:p>
        </p:txBody>
      </p:sp>
      <p:grpSp>
        <p:nvGrpSpPr>
          <p:cNvPr id="55" name="Google Shape;1872;p55">
            <a:extLst>
              <a:ext uri="{FF2B5EF4-FFF2-40B4-BE49-F238E27FC236}">
                <a16:creationId xmlns:a16="http://schemas.microsoft.com/office/drawing/2014/main" id="{40D7D310-5E18-E0EB-14CD-1A53F33C93AB}"/>
              </a:ext>
            </a:extLst>
          </p:cNvPr>
          <p:cNvGrpSpPr/>
          <p:nvPr/>
        </p:nvGrpSpPr>
        <p:grpSpPr>
          <a:xfrm rot="5400000">
            <a:off x="3779518" y="4622295"/>
            <a:ext cx="267709" cy="3636592"/>
            <a:chOff x="2338450" y="3338450"/>
            <a:chExt cx="179700" cy="836700"/>
          </a:xfrm>
        </p:grpSpPr>
        <p:cxnSp>
          <p:nvCxnSpPr>
            <p:cNvPr id="56" name="Google Shape;1873;p55">
              <a:extLst>
                <a:ext uri="{FF2B5EF4-FFF2-40B4-BE49-F238E27FC236}">
                  <a16:creationId xmlns:a16="http://schemas.microsoft.com/office/drawing/2014/main" id="{C737AFC9-3A4D-0CDB-C829-ABC2F3671A9A}"/>
                </a:ext>
              </a:extLst>
            </p:cNvPr>
            <p:cNvCxnSpPr/>
            <p:nvPr/>
          </p:nvCxnSpPr>
          <p:spPr>
            <a:xfrm>
              <a:off x="2338450" y="3338450"/>
              <a:ext cx="179700" cy="0"/>
            </a:xfrm>
            <a:prstGeom prst="straightConnector1">
              <a:avLst/>
            </a:prstGeom>
            <a:noFill/>
            <a:ln w="19050" cap="flat" cmpd="sng">
              <a:solidFill>
                <a:schemeClr val="accent3"/>
              </a:solidFill>
              <a:prstDash val="solid"/>
              <a:round/>
              <a:headEnd type="none" w="med" len="med"/>
              <a:tailEnd type="none" w="med" len="med"/>
            </a:ln>
          </p:spPr>
        </p:cxnSp>
        <p:cxnSp>
          <p:nvCxnSpPr>
            <p:cNvPr id="57" name="Google Shape;1874;p55">
              <a:extLst>
                <a:ext uri="{FF2B5EF4-FFF2-40B4-BE49-F238E27FC236}">
                  <a16:creationId xmlns:a16="http://schemas.microsoft.com/office/drawing/2014/main" id="{D36DB63B-C8D6-9281-FA5C-31E9575E7B09}"/>
                </a:ext>
              </a:extLst>
            </p:cNvPr>
            <p:cNvCxnSpPr/>
            <p:nvPr/>
          </p:nvCxnSpPr>
          <p:spPr>
            <a:xfrm>
              <a:off x="2338450" y="4175150"/>
              <a:ext cx="179700" cy="0"/>
            </a:xfrm>
            <a:prstGeom prst="straightConnector1">
              <a:avLst/>
            </a:prstGeom>
            <a:noFill/>
            <a:ln w="19050" cap="flat" cmpd="sng">
              <a:solidFill>
                <a:schemeClr val="accent3"/>
              </a:solidFill>
              <a:prstDash val="solid"/>
              <a:round/>
              <a:headEnd type="none" w="med" len="med"/>
              <a:tailEnd type="none" w="med" len="med"/>
            </a:ln>
          </p:spPr>
        </p:cxnSp>
        <p:cxnSp>
          <p:nvCxnSpPr>
            <p:cNvPr id="58" name="Google Shape;1875;p55">
              <a:extLst>
                <a:ext uri="{FF2B5EF4-FFF2-40B4-BE49-F238E27FC236}">
                  <a16:creationId xmlns:a16="http://schemas.microsoft.com/office/drawing/2014/main" id="{1C47587D-05B2-D5A7-6D8B-B4ACB392A350}"/>
                </a:ext>
              </a:extLst>
            </p:cNvPr>
            <p:cNvCxnSpPr/>
            <p:nvPr/>
          </p:nvCxnSpPr>
          <p:spPr>
            <a:xfrm rot="10800000">
              <a:off x="2428500" y="3338450"/>
              <a:ext cx="0" cy="836700"/>
            </a:xfrm>
            <a:prstGeom prst="straightConnector1">
              <a:avLst/>
            </a:prstGeom>
            <a:noFill/>
            <a:ln w="19050" cap="flat" cmpd="sng">
              <a:solidFill>
                <a:schemeClr val="accent3"/>
              </a:solidFill>
              <a:prstDash val="solid"/>
              <a:round/>
              <a:headEnd type="none" w="med" len="med"/>
              <a:tailEnd type="none" w="med" len="med"/>
            </a:ln>
          </p:spPr>
        </p:cxnSp>
      </p:grpSp>
      <p:sp>
        <p:nvSpPr>
          <p:cNvPr id="59" name="Google Shape;1876;p55">
            <a:extLst>
              <a:ext uri="{FF2B5EF4-FFF2-40B4-BE49-F238E27FC236}">
                <a16:creationId xmlns:a16="http://schemas.microsoft.com/office/drawing/2014/main" id="{F6AA2716-C3FF-077F-EF96-CF8D919F2248}"/>
              </a:ext>
            </a:extLst>
          </p:cNvPr>
          <p:cNvSpPr txBox="1"/>
          <p:nvPr/>
        </p:nvSpPr>
        <p:spPr>
          <a:xfrm>
            <a:off x="2919329" y="6424836"/>
            <a:ext cx="2157600" cy="361171"/>
          </a:xfrm>
          <a:prstGeom prst="rect">
            <a:avLst/>
          </a:prstGeom>
          <a:noFill/>
          <a:ln>
            <a:noFill/>
          </a:ln>
        </p:spPr>
        <p:txBody>
          <a:bodyPr spcFirstLastPara="1" wrap="square" lIns="36567" tIns="36567" rIns="36567" bIns="36567" anchor="t" anchorCtr="0">
            <a:spAutoFit/>
          </a:bodyPr>
          <a:lstStyle/>
          <a:p>
            <a:pPr algn="ctr" defTabSz="1219170">
              <a:buClr>
                <a:srgbClr val="000000"/>
              </a:buClr>
            </a:pPr>
            <a:r>
              <a:rPr lang="en" sz="1867" kern="0" dirty="0">
                <a:solidFill>
                  <a:srgbClr val="0B5394"/>
                </a:solidFill>
                <a:latin typeface="Roboto"/>
                <a:ea typeface="Roboto"/>
                <a:cs typeface="Roboto"/>
                <a:sym typeface="Roboto"/>
              </a:rPr>
              <a:t>Propagation Delay</a:t>
            </a:r>
            <a:endParaRPr sz="1867" kern="0" dirty="0">
              <a:solidFill>
                <a:srgbClr val="0B5394"/>
              </a:solidFill>
              <a:latin typeface="Roboto"/>
              <a:ea typeface="Roboto"/>
              <a:cs typeface="Roboto"/>
              <a:sym typeface="Roboto"/>
            </a:endParaRPr>
          </a:p>
        </p:txBody>
      </p:sp>
      <p:grpSp>
        <p:nvGrpSpPr>
          <p:cNvPr id="60" name="Google Shape;1867;p55">
            <a:extLst>
              <a:ext uri="{FF2B5EF4-FFF2-40B4-BE49-F238E27FC236}">
                <a16:creationId xmlns:a16="http://schemas.microsoft.com/office/drawing/2014/main" id="{1011A79E-A46E-6AB9-D530-FC93D4FA1684}"/>
              </a:ext>
            </a:extLst>
          </p:cNvPr>
          <p:cNvGrpSpPr/>
          <p:nvPr/>
        </p:nvGrpSpPr>
        <p:grpSpPr>
          <a:xfrm>
            <a:off x="1793783" y="5096844"/>
            <a:ext cx="263684" cy="1120779"/>
            <a:chOff x="2338450" y="3338450"/>
            <a:chExt cx="179700" cy="836700"/>
          </a:xfrm>
        </p:grpSpPr>
        <p:cxnSp>
          <p:nvCxnSpPr>
            <p:cNvPr id="61" name="Google Shape;1868;p55">
              <a:extLst>
                <a:ext uri="{FF2B5EF4-FFF2-40B4-BE49-F238E27FC236}">
                  <a16:creationId xmlns:a16="http://schemas.microsoft.com/office/drawing/2014/main" id="{395F53D5-3B46-6A80-39EC-BFBAB97E0FAF}"/>
                </a:ext>
              </a:extLst>
            </p:cNvPr>
            <p:cNvCxnSpPr/>
            <p:nvPr/>
          </p:nvCxnSpPr>
          <p:spPr>
            <a:xfrm>
              <a:off x="2338450" y="3338450"/>
              <a:ext cx="179700" cy="0"/>
            </a:xfrm>
            <a:prstGeom prst="straightConnector1">
              <a:avLst/>
            </a:prstGeom>
            <a:noFill/>
            <a:ln w="19050" cap="flat" cmpd="sng">
              <a:solidFill>
                <a:schemeClr val="accent2"/>
              </a:solidFill>
              <a:prstDash val="solid"/>
              <a:round/>
              <a:headEnd type="none" w="med" len="med"/>
              <a:tailEnd type="none" w="med" len="med"/>
            </a:ln>
          </p:spPr>
        </p:cxnSp>
        <p:cxnSp>
          <p:nvCxnSpPr>
            <p:cNvPr id="62" name="Google Shape;1869;p55">
              <a:extLst>
                <a:ext uri="{FF2B5EF4-FFF2-40B4-BE49-F238E27FC236}">
                  <a16:creationId xmlns:a16="http://schemas.microsoft.com/office/drawing/2014/main" id="{32B786D0-D4CE-0861-26A0-26535B26870E}"/>
                </a:ext>
              </a:extLst>
            </p:cNvPr>
            <p:cNvCxnSpPr/>
            <p:nvPr/>
          </p:nvCxnSpPr>
          <p:spPr>
            <a:xfrm>
              <a:off x="2338450" y="4175150"/>
              <a:ext cx="179700" cy="0"/>
            </a:xfrm>
            <a:prstGeom prst="straightConnector1">
              <a:avLst/>
            </a:prstGeom>
            <a:noFill/>
            <a:ln w="19050" cap="flat" cmpd="sng">
              <a:solidFill>
                <a:schemeClr val="accent2"/>
              </a:solidFill>
              <a:prstDash val="solid"/>
              <a:round/>
              <a:headEnd type="none" w="med" len="med"/>
              <a:tailEnd type="none" w="med" len="med"/>
            </a:ln>
          </p:spPr>
        </p:cxnSp>
        <p:cxnSp>
          <p:nvCxnSpPr>
            <p:cNvPr id="63" name="Google Shape;1870;p55">
              <a:extLst>
                <a:ext uri="{FF2B5EF4-FFF2-40B4-BE49-F238E27FC236}">
                  <a16:creationId xmlns:a16="http://schemas.microsoft.com/office/drawing/2014/main" id="{57873537-EFD9-CEAB-B1B9-D2F253704A34}"/>
                </a:ext>
              </a:extLst>
            </p:cNvPr>
            <p:cNvCxnSpPr/>
            <p:nvPr/>
          </p:nvCxnSpPr>
          <p:spPr>
            <a:xfrm rot="10800000">
              <a:off x="2428500" y="3338450"/>
              <a:ext cx="0" cy="836700"/>
            </a:xfrm>
            <a:prstGeom prst="straightConnector1">
              <a:avLst/>
            </a:prstGeom>
            <a:noFill/>
            <a:ln w="19050" cap="flat" cmpd="sng">
              <a:solidFill>
                <a:schemeClr val="accent2"/>
              </a:solidFill>
              <a:prstDash val="solid"/>
              <a:round/>
              <a:headEnd type="none" w="med" len="med"/>
              <a:tailEnd type="none" w="med" len="med"/>
            </a:ln>
          </p:spPr>
        </p:cxnSp>
      </p:grpSp>
      <p:sp>
        <p:nvSpPr>
          <p:cNvPr id="1404" name="Google Shape;1871;p55">
            <a:extLst>
              <a:ext uri="{FF2B5EF4-FFF2-40B4-BE49-F238E27FC236}">
                <a16:creationId xmlns:a16="http://schemas.microsoft.com/office/drawing/2014/main" id="{9FCE603D-C44D-FC9B-EB54-BBAFE86595C3}"/>
              </a:ext>
            </a:extLst>
          </p:cNvPr>
          <p:cNvSpPr txBox="1"/>
          <p:nvPr/>
        </p:nvSpPr>
        <p:spPr>
          <a:xfrm rot="-5400000">
            <a:off x="1049968" y="5506211"/>
            <a:ext cx="1215200" cy="361171"/>
          </a:xfrm>
          <a:prstGeom prst="rect">
            <a:avLst/>
          </a:prstGeom>
          <a:noFill/>
          <a:ln>
            <a:noFill/>
          </a:ln>
        </p:spPr>
        <p:txBody>
          <a:bodyPr spcFirstLastPara="1" wrap="square" lIns="36567" tIns="36567" rIns="36567" bIns="36567" anchor="t" anchorCtr="0">
            <a:spAutoFit/>
          </a:bodyPr>
          <a:lstStyle/>
          <a:p>
            <a:pPr algn="r" defTabSz="1219170">
              <a:buClr>
                <a:srgbClr val="000000"/>
              </a:buClr>
            </a:pPr>
            <a:r>
              <a:rPr lang="en" sz="1867" kern="0" dirty="0">
                <a:solidFill>
                  <a:srgbClr val="CC4125"/>
                </a:solidFill>
                <a:latin typeface="Roboto"/>
                <a:ea typeface="Roboto"/>
                <a:cs typeface="Roboto"/>
                <a:sym typeface="Roboto"/>
              </a:rPr>
              <a:t>Bandwidth</a:t>
            </a:r>
            <a:endParaRPr sz="1867" kern="0" dirty="0">
              <a:solidFill>
                <a:srgbClr val="CC4125"/>
              </a:solidFill>
              <a:latin typeface="Roboto"/>
              <a:ea typeface="Roboto"/>
              <a:cs typeface="Roboto"/>
              <a:sym typeface="Roboto"/>
            </a:endParaRPr>
          </a:p>
        </p:txBody>
      </p:sp>
      <p:grpSp>
        <p:nvGrpSpPr>
          <p:cNvPr id="1405" name="Google Shape;1872;p55">
            <a:extLst>
              <a:ext uri="{FF2B5EF4-FFF2-40B4-BE49-F238E27FC236}">
                <a16:creationId xmlns:a16="http://schemas.microsoft.com/office/drawing/2014/main" id="{5F8651C0-3681-5788-ED17-3C0773780867}"/>
              </a:ext>
            </a:extLst>
          </p:cNvPr>
          <p:cNvGrpSpPr/>
          <p:nvPr/>
        </p:nvGrpSpPr>
        <p:grpSpPr>
          <a:xfrm rot="5400000">
            <a:off x="8729304" y="4609956"/>
            <a:ext cx="267709" cy="3636592"/>
            <a:chOff x="2338450" y="3338450"/>
            <a:chExt cx="179700" cy="836700"/>
          </a:xfrm>
        </p:grpSpPr>
        <p:cxnSp>
          <p:nvCxnSpPr>
            <p:cNvPr id="1406" name="Google Shape;1873;p55">
              <a:extLst>
                <a:ext uri="{FF2B5EF4-FFF2-40B4-BE49-F238E27FC236}">
                  <a16:creationId xmlns:a16="http://schemas.microsoft.com/office/drawing/2014/main" id="{56B0AA38-9CDD-C010-600A-9F8F74D5DBE6}"/>
                </a:ext>
              </a:extLst>
            </p:cNvPr>
            <p:cNvCxnSpPr/>
            <p:nvPr/>
          </p:nvCxnSpPr>
          <p:spPr>
            <a:xfrm>
              <a:off x="2338450" y="3338450"/>
              <a:ext cx="179700" cy="0"/>
            </a:xfrm>
            <a:prstGeom prst="straightConnector1">
              <a:avLst/>
            </a:prstGeom>
            <a:noFill/>
            <a:ln w="19050" cap="flat" cmpd="sng">
              <a:solidFill>
                <a:schemeClr val="accent3"/>
              </a:solidFill>
              <a:prstDash val="solid"/>
              <a:round/>
              <a:headEnd type="none" w="med" len="med"/>
              <a:tailEnd type="none" w="med" len="med"/>
            </a:ln>
          </p:spPr>
        </p:cxnSp>
        <p:cxnSp>
          <p:nvCxnSpPr>
            <p:cNvPr id="1407" name="Google Shape;1874;p55">
              <a:extLst>
                <a:ext uri="{FF2B5EF4-FFF2-40B4-BE49-F238E27FC236}">
                  <a16:creationId xmlns:a16="http://schemas.microsoft.com/office/drawing/2014/main" id="{C86ABE4D-2DB5-F343-168C-5B664F0F0B7B}"/>
                </a:ext>
              </a:extLst>
            </p:cNvPr>
            <p:cNvCxnSpPr/>
            <p:nvPr/>
          </p:nvCxnSpPr>
          <p:spPr>
            <a:xfrm>
              <a:off x="2338450" y="4175150"/>
              <a:ext cx="179700" cy="0"/>
            </a:xfrm>
            <a:prstGeom prst="straightConnector1">
              <a:avLst/>
            </a:prstGeom>
            <a:noFill/>
            <a:ln w="19050" cap="flat" cmpd="sng">
              <a:solidFill>
                <a:schemeClr val="accent3"/>
              </a:solidFill>
              <a:prstDash val="solid"/>
              <a:round/>
              <a:headEnd type="none" w="med" len="med"/>
              <a:tailEnd type="none" w="med" len="med"/>
            </a:ln>
          </p:spPr>
        </p:cxnSp>
        <p:cxnSp>
          <p:nvCxnSpPr>
            <p:cNvPr id="1280" name="Google Shape;1875;p55">
              <a:extLst>
                <a:ext uri="{FF2B5EF4-FFF2-40B4-BE49-F238E27FC236}">
                  <a16:creationId xmlns:a16="http://schemas.microsoft.com/office/drawing/2014/main" id="{679FAD2A-28DB-248F-DBC8-F06D27C973A6}"/>
                </a:ext>
              </a:extLst>
            </p:cNvPr>
            <p:cNvCxnSpPr/>
            <p:nvPr/>
          </p:nvCxnSpPr>
          <p:spPr>
            <a:xfrm rot="10800000">
              <a:off x="2428500" y="3338450"/>
              <a:ext cx="0" cy="836700"/>
            </a:xfrm>
            <a:prstGeom prst="straightConnector1">
              <a:avLst/>
            </a:prstGeom>
            <a:noFill/>
            <a:ln w="19050" cap="flat" cmpd="sng">
              <a:solidFill>
                <a:schemeClr val="accent3"/>
              </a:solidFill>
              <a:prstDash val="solid"/>
              <a:round/>
              <a:headEnd type="none" w="med" len="med"/>
              <a:tailEnd type="none" w="med" len="med"/>
            </a:ln>
          </p:spPr>
        </p:cxnSp>
      </p:grpSp>
      <p:sp>
        <p:nvSpPr>
          <p:cNvPr id="1281" name="TextBox 1280">
            <a:extLst>
              <a:ext uri="{FF2B5EF4-FFF2-40B4-BE49-F238E27FC236}">
                <a16:creationId xmlns:a16="http://schemas.microsoft.com/office/drawing/2014/main" id="{19D7F4E8-3E0D-750D-F693-7A022A5CEF22}"/>
              </a:ext>
            </a:extLst>
          </p:cNvPr>
          <p:cNvSpPr txBox="1"/>
          <p:nvPr/>
        </p:nvSpPr>
        <p:spPr>
          <a:xfrm>
            <a:off x="9807027" y="75733"/>
            <a:ext cx="2213235" cy="584775"/>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defTabSz="1219170">
              <a:defRPr/>
            </a:pPr>
            <a:r>
              <a:rPr lang="en-US" sz="3200" dirty="0">
                <a:solidFill>
                  <a:prstClr val="white"/>
                </a:solidFill>
                <a:latin typeface="Calibri" panose="020F0502020204030204"/>
                <a:cs typeface="Arial"/>
                <a:sym typeface="Arial"/>
              </a:rPr>
              <a:t>IMPORTANT</a:t>
            </a:r>
            <a:endParaRPr lang="en-SE" sz="3200" dirty="0">
              <a:solidFill>
                <a:prstClr val="white"/>
              </a:solidFill>
              <a:latin typeface="Calibri" panose="020F0502020204030204"/>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06E09-E980-57E2-828D-2010E654FC6A}"/>
              </a:ext>
            </a:extLst>
          </p:cNvPr>
          <p:cNvSpPr>
            <a:spLocks noGrp="1"/>
          </p:cNvSpPr>
          <p:nvPr>
            <p:ph type="title"/>
          </p:nvPr>
        </p:nvSpPr>
        <p:spPr/>
        <p:txBody>
          <a:bodyPr/>
          <a:lstStyle/>
          <a:p>
            <a:r>
              <a:rPr lang="en-US" altLang="zh-CN" dirty="0"/>
              <a:t>Lecture 3 - Links</a:t>
            </a:r>
            <a:endParaRPr lang="zh-CN" altLang="en-US" dirty="0"/>
          </a:p>
        </p:txBody>
      </p:sp>
      <p:sp>
        <p:nvSpPr>
          <p:cNvPr id="3" name="Slide Number Placeholder 2">
            <a:extLst>
              <a:ext uri="{FF2B5EF4-FFF2-40B4-BE49-F238E27FC236}">
                <a16:creationId xmlns:a16="http://schemas.microsoft.com/office/drawing/2014/main" id="{4D3DA894-4C1A-9B54-C79B-0408816AD310}"/>
              </a:ext>
            </a:extLst>
          </p:cNvPr>
          <p:cNvSpPr>
            <a:spLocks noGrp="1"/>
          </p:cNvSpPr>
          <p:nvPr>
            <p:ph type="sldNum" sz="quarter" idx="12"/>
          </p:nvPr>
        </p:nvSpPr>
        <p:spPr/>
        <p:txBody>
          <a:bodyPr/>
          <a:lstStyle/>
          <a:p>
            <a:fld id="{EA7C8D44-3667-46F6-9772-CC52308E2A7F}" type="slidenum">
              <a:rPr kumimoji="0" lang="en-US" smtClean="0"/>
              <a:pPr/>
              <a:t>3</a:t>
            </a:fld>
            <a:endParaRPr kumimoji="0" lang="en-US" dirty="0"/>
          </a:p>
        </p:txBody>
      </p:sp>
      <p:sp>
        <p:nvSpPr>
          <p:cNvPr id="4" name="Content Placeholder 3">
            <a:extLst>
              <a:ext uri="{FF2B5EF4-FFF2-40B4-BE49-F238E27FC236}">
                <a16:creationId xmlns:a16="http://schemas.microsoft.com/office/drawing/2014/main" id="{5662D83C-81DB-8600-F716-39C04C2C9389}"/>
              </a:ext>
            </a:extLst>
          </p:cNvPr>
          <p:cNvSpPr>
            <a:spLocks noGrp="1"/>
          </p:cNvSpPr>
          <p:nvPr>
            <p:ph sz="quarter" idx="1"/>
          </p:nvPr>
        </p:nvSpPr>
        <p:spPr>
          <a:xfrm>
            <a:off x="609600" y="1219200"/>
            <a:ext cx="10972800" cy="4114800"/>
          </a:xfrm>
        </p:spPr>
        <p:txBody>
          <a:bodyPr>
            <a:normAutofit fontScale="92500"/>
          </a:bodyPr>
          <a:lstStyle/>
          <a:p>
            <a:r>
              <a:rPr lang="en-US" altLang="zh-CN" dirty="0"/>
              <a:t>Consider the pipe diagram below, with a single packet in the pipe:</a:t>
            </a:r>
          </a:p>
          <a:p>
            <a:r>
              <a:rPr lang="en-US" altLang="zh-CN" dirty="0"/>
              <a:t>Q1 What is the size of this packet? </a:t>
            </a:r>
          </a:p>
          <a:p>
            <a:r>
              <a:rPr lang="en-US" altLang="zh-CN" dirty="0"/>
              <a:t>Q2 How long does it take to send a packet of the same size as the packet shown? (Count from the time the first byte is sent, to the time the last byte is received.)</a:t>
            </a:r>
          </a:p>
          <a:p>
            <a:r>
              <a:rPr lang="en-US" altLang="zh-CN" dirty="0"/>
              <a:t>Q3 How long does it take to send 7 packets, all of the same size as the packet shown? (Count from the time the first byte of the first packet is sent, to the time the last byte of the last packet is received.)</a:t>
            </a:r>
          </a:p>
          <a:p>
            <a:r>
              <a:rPr lang="en-US" altLang="zh-CN" dirty="0"/>
              <a:t>Q4 (2 points) What is the maximum number of packets that could be in the process of being sent along this link, at any given moment?</a:t>
            </a:r>
            <a:br>
              <a:rPr lang="en-US" altLang="zh-CN" dirty="0"/>
            </a:br>
            <a:endParaRPr lang="en-US" altLang="zh-CN" dirty="0"/>
          </a:p>
          <a:p>
            <a:endParaRPr lang="nl-NL" altLang="zh-CN" dirty="0"/>
          </a:p>
        </p:txBody>
      </p:sp>
      <p:pic>
        <p:nvPicPr>
          <p:cNvPr id="6" name="Picture 5">
            <a:extLst>
              <a:ext uri="{FF2B5EF4-FFF2-40B4-BE49-F238E27FC236}">
                <a16:creationId xmlns:a16="http://schemas.microsoft.com/office/drawing/2014/main" id="{E68E0D54-6A30-5EC9-97B3-EACA2CDC512D}"/>
              </a:ext>
            </a:extLst>
          </p:cNvPr>
          <p:cNvPicPr>
            <a:picLocks noChangeAspect="1"/>
          </p:cNvPicPr>
          <p:nvPr/>
        </p:nvPicPr>
        <p:blipFill>
          <a:blip r:embed="rId2"/>
          <a:stretch>
            <a:fillRect/>
          </a:stretch>
        </p:blipFill>
        <p:spPr>
          <a:xfrm>
            <a:off x="4191000" y="5103388"/>
            <a:ext cx="3296110" cy="1619476"/>
          </a:xfrm>
          <a:prstGeom prst="rect">
            <a:avLst/>
          </a:prstGeom>
        </p:spPr>
      </p:pic>
    </p:spTree>
    <p:extLst>
      <p:ext uri="{BB962C8B-B14F-4D97-AF65-F5344CB8AC3E}">
        <p14:creationId xmlns:p14="http://schemas.microsoft.com/office/powerpoint/2010/main" val="3337951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2CE-1ACA-8C28-0995-BEF9D9F7A9B2}"/>
              </a:ext>
            </a:extLst>
          </p:cNvPr>
          <p:cNvSpPr>
            <a:spLocks noGrp="1"/>
          </p:cNvSpPr>
          <p:nvPr>
            <p:ph type="title"/>
          </p:nvPr>
        </p:nvSpPr>
        <p:spPr/>
        <p:txBody>
          <a:bodyPr/>
          <a:lstStyle/>
          <a:p>
            <a:r>
              <a:rPr lang="en-US" altLang="zh-CN" dirty="0"/>
              <a:t>Lecture 3 - Links ANS</a:t>
            </a:r>
            <a:endParaRPr lang="zh-CN" altLang="en-US" dirty="0"/>
          </a:p>
        </p:txBody>
      </p:sp>
      <p:sp>
        <p:nvSpPr>
          <p:cNvPr id="3" name="Slide Number Placeholder 2">
            <a:extLst>
              <a:ext uri="{FF2B5EF4-FFF2-40B4-BE49-F238E27FC236}">
                <a16:creationId xmlns:a16="http://schemas.microsoft.com/office/drawing/2014/main" id="{2A3478E2-F441-CF3E-7E2D-EAC80345465D}"/>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DB2CE121-B51A-A099-3569-ABC9B9571010}"/>
              </a:ext>
            </a:extLst>
          </p:cNvPr>
          <p:cNvSpPr>
            <a:spLocks noGrp="1"/>
          </p:cNvSpPr>
          <p:nvPr>
            <p:ph sz="quarter" idx="1"/>
          </p:nvPr>
        </p:nvSpPr>
        <p:spPr>
          <a:xfrm>
            <a:off x="609600" y="1219200"/>
            <a:ext cx="10972800" cy="4191000"/>
          </a:xfrm>
        </p:spPr>
        <p:txBody>
          <a:bodyPr>
            <a:normAutofit fontScale="62500" lnSpcReduction="20000"/>
          </a:bodyPr>
          <a:lstStyle/>
          <a:p>
            <a:r>
              <a:rPr lang="en-US" altLang="zh-CN" dirty="0"/>
              <a:t>Q1 What is the size of this packet? </a:t>
            </a:r>
          </a:p>
          <a:p>
            <a:pPr lvl="1"/>
            <a:r>
              <a:rPr lang="en-US" altLang="zh-CN" dirty="0"/>
              <a:t>ANS: </a:t>
            </a:r>
            <a:r>
              <a:rPr lang="zh-CN" altLang="en-US" dirty="0"/>
              <a:t>𝑥𝑦</a:t>
            </a:r>
            <a:endParaRPr lang="en-US" altLang="zh-CN" dirty="0"/>
          </a:p>
          <a:p>
            <a:pPr lvl="1"/>
            <a:r>
              <a:rPr lang="en-US" altLang="zh-CN" dirty="0"/>
              <a:t>Explanation: </a:t>
            </a:r>
            <a:r>
              <a:rPr lang="zh-CN" altLang="en-US" dirty="0"/>
              <a:t>𝑥 </a:t>
            </a:r>
            <a:r>
              <a:rPr lang="en-US" altLang="zh-CN" dirty="0"/>
              <a:t>is Transmission Delay (how many seconds it takes to transmit the packet). </a:t>
            </a:r>
            <a:r>
              <a:rPr lang="zh-CN" altLang="en-US" dirty="0"/>
              <a:t>𝑦 </a:t>
            </a:r>
            <a:r>
              <a:rPr lang="en-US" altLang="zh-CN" dirty="0"/>
              <a:t>is link bandwidth (how many bytes can be sent per second). Multiplying </a:t>
            </a:r>
            <a:r>
              <a:rPr lang="zh-CN" altLang="en-US" dirty="0"/>
              <a:t>𝑥 </a:t>
            </a:r>
            <a:r>
              <a:rPr lang="en-US" altLang="zh-CN" dirty="0"/>
              <a:t>(seconds) and </a:t>
            </a:r>
            <a:r>
              <a:rPr lang="zh-CN" altLang="en-US" dirty="0"/>
              <a:t>𝑦 </a:t>
            </a:r>
            <a:r>
              <a:rPr lang="en-US" altLang="zh-CN" dirty="0"/>
              <a:t>(bytes/second) gives the overall size of this packet. </a:t>
            </a:r>
          </a:p>
          <a:p>
            <a:r>
              <a:rPr lang="en-US" altLang="zh-CN" dirty="0"/>
              <a:t>Q2 How long does it take to send a packet of the same size as the packet shown? (Count from the time the first byte is sent, to the time the last byte is received.)</a:t>
            </a:r>
          </a:p>
          <a:p>
            <a:pPr lvl="1"/>
            <a:r>
              <a:rPr lang="en-US" altLang="zh-CN" dirty="0"/>
              <a:t>ANS: </a:t>
            </a:r>
            <a:r>
              <a:rPr lang="zh-CN" altLang="en-US" dirty="0"/>
              <a:t>𝑥 </a:t>
            </a:r>
            <a:r>
              <a:rPr lang="en-US" altLang="zh-CN" dirty="0"/>
              <a:t>+ </a:t>
            </a:r>
            <a:r>
              <a:rPr lang="zh-CN" altLang="en-US" dirty="0"/>
              <a:t>𝑧</a:t>
            </a:r>
            <a:endParaRPr lang="en-US" altLang="zh-CN" dirty="0"/>
          </a:p>
          <a:p>
            <a:pPr lvl="1"/>
            <a:r>
              <a:rPr lang="en-US" altLang="zh-CN" dirty="0"/>
              <a:t>Explanation: </a:t>
            </a:r>
            <a:r>
              <a:rPr lang="zh-CN" altLang="en-US" dirty="0"/>
              <a:t>𝑥 </a:t>
            </a:r>
            <a:r>
              <a:rPr lang="en-US" altLang="zh-CN" dirty="0"/>
              <a:t>is Transmission Delay, </a:t>
            </a:r>
            <a:r>
              <a:rPr lang="zh-CN" altLang="en-US" dirty="0"/>
              <a:t>𝑧 </a:t>
            </a:r>
            <a:r>
              <a:rPr lang="en-US" altLang="zh-CN" dirty="0"/>
              <a:t>is Propagation Delay.  Adding them gives the total delay for this packet.</a:t>
            </a:r>
          </a:p>
          <a:p>
            <a:r>
              <a:rPr lang="en-US" altLang="zh-CN" dirty="0"/>
              <a:t>Q3 How long does it take to send 7 packets, all of the same size as the packet shown? (Count from the time the first byte of the first packet is sent, to the time the last byte of the last packet is received.) </a:t>
            </a:r>
          </a:p>
          <a:p>
            <a:pPr lvl="1"/>
            <a:r>
              <a:rPr lang="en-US" altLang="zh-CN" dirty="0"/>
              <a:t>ANS: 7</a:t>
            </a:r>
            <a:r>
              <a:rPr lang="zh-CN" altLang="en-US" dirty="0"/>
              <a:t>𝑥 </a:t>
            </a:r>
            <a:r>
              <a:rPr lang="en-US" altLang="zh-CN" dirty="0"/>
              <a:t>+ </a:t>
            </a:r>
            <a:r>
              <a:rPr lang="zh-CN" altLang="en-US" dirty="0"/>
              <a:t>𝑧</a:t>
            </a:r>
            <a:endParaRPr lang="en-US" altLang="zh-CN" dirty="0"/>
          </a:p>
          <a:p>
            <a:pPr lvl="1"/>
            <a:r>
              <a:rPr lang="en-US" altLang="zh-CN" dirty="0"/>
              <a:t>Explanation: It takes 7</a:t>
            </a:r>
            <a:r>
              <a:rPr lang="zh-CN" altLang="en-US" dirty="0"/>
              <a:t>𝑥 </a:t>
            </a:r>
            <a:r>
              <a:rPr lang="en-US" altLang="zh-CN" dirty="0"/>
              <a:t>seconds to transmit all 7 packets. </a:t>
            </a:r>
            <a:r>
              <a:rPr lang="zh-CN" altLang="en-US" dirty="0"/>
              <a:t>𝑧 </a:t>
            </a:r>
            <a:r>
              <a:rPr lang="en-US" altLang="zh-CN" dirty="0"/>
              <a:t>is the propagation delay.  Adding them gives the total delay for 7 packets.</a:t>
            </a:r>
          </a:p>
          <a:p>
            <a:r>
              <a:rPr lang="en-US" altLang="zh-CN" dirty="0"/>
              <a:t>Q4 (2 points) What is the maximum number of packets that could be in the process of being sent along this link, at any given moment?</a:t>
            </a:r>
          </a:p>
          <a:p>
            <a:pPr lvl="1"/>
            <a:r>
              <a:rPr lang="en-US" altLang="zh-CN" dirty="0"/>
              <a:t>ANS: </a:t>
            </a:r>
            <a:r>
              <a:rPr lang="zh-CN" altLang="en-US" dirty="0"/>
              <a:t>𝑧</a:t>
            </a:r>
            <a:r>
              <a:rPr lang="en-US" altLang="zh-CN" dirty="0"/>
              <a:t>/</a:t>
            </a:r>
            <a:r>
              <a:rPr lang="zh-CN" altLang="en-US" dirty="0"/>
              <a:t>𝑥</a:t>
            </a:r>
            <a:endParaRPr lang="en-US" altLang="zh-CN" dirty="0"/>
          </a:p>
          <a:p>
            <a:pPr lvl="1"/>
            <a:r>
              <a:rPr lang="en-US" altLang="zh-CN" dirty="0"/>
              <a:t>Explanation:</a:t>
            </a:r>
            <a:r>
              <a:rPr lang="zh-CN" altLang="en-US" dirty="0"/>
              <a:t>𝑥 </a:t>
            </a:r>
            <a:r>
              <a:rPr lang="en-US" altLang="zh-CN" dirty="0"/>
              <a:t>is Transmission Delay, </a:t>
            </a:r>
            <a:r>
              <a:rPr lang="zh-CN" altLang="en-US" dirty="0"/>
              <a:t>𝑧 </a:t>
            </a:r>
            <a:r>
              <a:rPr lang="en-US" altLang="zh-CN" dirty="0"/>
              <a:t>is Propagation Delay.  The maximum number of packets that can be in flight therefore is </a:t>
            </a:r>
            <a:r>
              <a:rPr lang="zh-CN" altLang="en-US" dirty="0"/>
              <a:t>𝑧</a:t>
            </a:r>
            <a:r>
              <a:rPr lang="en-US" altLang="zh-CN" dirty="0"/>
              <a:t>/</a:t>
            </a:r>
            <a:r>
              <a:rPr lang="zh-CN" altLang="en-US" dirty="0"/>
              <a:t>𝑥</a:t>
            </a:r>
            <a:r>
              <a:rPr lang="en-US" altLang="zh-CN" dirty="0"/>
              <a:t>.</a:t>
            </a:r>
            <a:endParaRPr lang="zh-CN" altLang="en-US" dirty="0"/>
          </a:p>
        </p:txBody>
      </p:sp>
      <p:pic>
        <p:nvPicPr>
          <p:cNvPr id="5" name="Picture 4">
            <a:extLst>
              <a:ext uri="{FF2B5EF4-FFF2-40B4-BE49-F238E27FC236}">
                <a16:creationId xmlns:a16="http://schemas.microsoft.com/office/drawing/2014/main" id="{533F8305-48EA-EC58-55AC-A5320AB6B058}"/>
              </a:ext>
            </a:extLst>
          </p:cNvPr>
          <p:cNvPicPr>
            <a:picLocks noChangeAspect="1"/>
          </p:cNvPicPr>
          <p:nvPr/>
        </p:nvPicPr>
        <p:blipFill>
          <a:blip r:embed="rId2"/>
          <a:stretch>
            <a:fillRect/>
          </a:stretch>
        </p:blipFill>
        <p:spPr>
          <a:xfrm>
            <a:off x="4343400" y="5102634"/>
            <a:ext cx="3296110" cy="1619476"/>
          </a:xfrm>
          <a:prstGeom prst="rect">
            <a:avLst/>
          </a:prstGeom>
        </p:spPr>
      </p:pic>
    </p:spTree>
    <p:extLst>
      <p:ext uri="{BB962C8B-B14F-4D97-AF65-F5344CB8AC3E}">
        <p14:creationId xmlns:p14="http://schemas.microsoft.com/office/powerpoint/2010/main" val="921544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CE51D-118A-C61E-8DB7-8AB51276F71B}"/>
              </a:ext>
            </a:extLst>
          </p:cNvPr>
          <p:cNvSpPr>
            <a:spLocks noGrp="1"/>
          </p:cNvSpPr>
          <p:nvPr>
            <p:ph type="title"/>
          </p:nvPr>
        </p:nvSpPr>
        <p:spPr/>
        <p:txBody>
          <a:bodyPr/>
          <a:lstStyle/>
          <a:p>
            <a:r>
              <a:rPr lang="en-US" altLang="zh-CN" dirty="0"/>
              <a:t>Lecture 3 - Links</a:t>
            </a:r>
            <a:endParaRPr lang="zh-CN" altLang="en-US" dirty="0"/>
          </a:p>
        </p:txBody>
      </p:sp>
      <p:sp>
        <p:nvSpPr>
          <p:cNvPr id="3" name="Slide Number Placeholder 2">
            <a:extLst>
              <a:ext uri="{FF2B5EF4-FFF2-40B4-BE49-F238E27FC236}">
                <a16:creationId xmlns:a16="http://schemas.microsoft.com/office/drawing/2014/main" id="{AAB34CD3-4B77-8266-2F34-0745A0ABA713}"/>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DCAE22AB-E212-1B35-C413-A21DB63B6D87}"/>
              </a:ext>
            </a:extLst>
          </p:cNvPr>
          <p:cNvSpPr>
            <a:spLocks noGrp="1"/>
          </p:cNvSpPr>
          <p:nvPr>
            <p:ph sz="quarter" idx="1"/>
          </p:nvPr>
        </p:nvSpPr>
        <p:spPr>
          <a:xfrm>
            <a:off x="609600" y="1219200"/>
            <a:ext cx="10972800" cy="4038600"/>
          </a:xfrm>
        </p:spPr>
        <p:txBody>
          <a:bodyPr>
            <a:normAutofit fontScale="70000" lnSpcReduction="20000"/>
          </a:bodyPr>
          <a:lstStyle/>
          <a:p>
            <a:r>
              <a:rPr lang="en-US" altLang="zh-CN" dirty="0"/>
              <a:t>Now, consider the topology below. R1 has an infinite-size queue, and R1 continually processes packets in its queue in FIFO order. R1 can only start transmitting a packet once it has received the entire packet. All packets in the question are the same size as the packet shown in the diagram below. A wants to send a packet to B. No other packets are being sent along the links (i.e. suppose the packet in the diagram is not there). In the next two subparts, select how long it takes to send the packet from A to B. Count from the time the first byte of the packet is sent at A, to the time the last byte of the packet is received at B. </a:t>
            </a:r>
          </a:p>
          <a:p>
            <a:r>
              <a:rPr lang="en-US" altLang="zh-CN" dirty="0"/>
              <a:t>Q5 In this subpart, suppose R1 has 1 other packet in its queue when A sends the packet. How long does it take to send a single packet from A to B? </a:t>
            </a:r>
          </a:p>
          <a:p>
            <a:r>
              <a:rPr lang="en-US" altLang="zh-CN" dirty="0"/>
              <a:t>Q6 In this subpart, suppose R1 has 20 other packets in its queue when A sends the packet. How long does it take to send a single packet from A to B? Assume that the queue at R1 is not empty when this packet arrives at R1.</a:t>
            </a:r>
          </a:p>
          <a:p>
            <a:r>
              <a:rPr lang="en-US" altLang="zh-CN" dirty="0"/>
              <a:t>Q7 What is the maximum number of packets that can be queued at R1, such that when the last byte of the A-to-B packet reaches R1, there is no queue at R1? Don’t worry about fractions and rounding (e.g. assume </a:t>
            </a:r>
            <a:r>
              <a:rPr lang="zh-CN" altLang="en-US" dirty="0"/>
              <a:t>𝑥</a:t>
            </a:r>
            <a:r>
              <a:rPr lang="en-US" altLang="zh-CN" dirty="0"/>
              <a:t>, </a:t>
            </a:r>
            <a:r>
              <a:rPr lang="zh-CN" altLang="en-US" dirty="0"/>
              <a:t>𝑦</a:t>
            </a:r>
            <a:r>
              <a:rPr lang="en-US" altLang="zh-CN" dirty="0"/>
              <a:t>, and </a:t>
            </a:r>
            <a:r>
              <a:rPr lang="zh-CN" altLang="en-US" dirty="0"/>
              <a:t>𝑧 </a:t>
            </a:r>
            <a:r>
              <a:rPr lang="en-US" altLang="zh-CN" dirty="0"/>
              <a:t>are defined such that all answer choices are integers).</a:t>
            </a:r>
          </a:p>
          <a:p>
            <a:br>
              <a:rPr lang="en-US" altLang="zh-CN" dirty="0"/>
            </a:br>
            <a:br>
              <a:rPr lang="en-US" altLang="zh-CN" dirty="0"/>
            </a:br>
            <a:endParaRPr lang="zh-CN" altLang="en-US" dirty="0"/>
          </a:p>
        </p:txBody>
      </p:sp>
      <p:pic>
        <p:nvPicPr>
          <p:cNvPr id="6" name="Picture 5">
            <a:extLst>
              <a:ext uri="{FF2B5EF4-FFF2-40B4-BE49-F238E27FC236}">
                <a16:creationId xmlns:a16="http://schemas.microsoft.com/office/drawing/2014/main" id="{5CFE8262-F2D3-9F6C-548B-BDCB688AD511}"/>
              </a:ext>
            </a:extLst>
          </p:cNvPr>
          <p:cNvPicPr>
            <a:picLocks noChangeAspect="1"/>
          </p:cNvPicPr>
          <p:nvPr/>
        </p:nvPicPr>
        <p:blipFill>
          <a:blip r:embed="rId2"/>
          <a:stretch>
            <a:fillRect/>
          </a:stretch>
        </p:blipFill>
        <p:spPr>
          <a:xfrm>
            <a:off x="3407161" y="5124612"/>
            <a:ext cx="5268060" cy="1543265"/>
          </a:xfrm>
          <a:prstGeom prst="rect">
            <a:avLst/>
          </a:prstGeom>
        </p:spPr>
      </p:pic>
    </p:spTree>
    <p:extLst>
      <p:ext uri="{BB962C8B-B14F-4D97-AF65-F5344CB8AC3E}">
        <p14:creationId xmlns:p14="http://schemas.microsoft.com/office/powerpoint/2010/main" val="3419814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70B76-629B-E0BA-D005-DBF83FEEC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9B503-6B1F-2BE0-F242-313BEB1A87EF}"/>
              </a:ext>
            </a:extLst>
          </p:cNvPr>
          <p:cNvSpPr>
            <a:spLocks noGrp="1"/>
          </p:cNvSpPr>
          <p:nvPr>
            <p:ph type="title"/>
          </p:nvPr>
        </p:nvSpPr>
        <p:spPr/>
        <p:txBody>
          <a:bodyPr/>
          <a:lstStyle/>
          <a:p>
            <a:r>
              <a:rPr lang="en-US" altLang="zh-CN" dirty="0"/>
              <a:t>Lecture 3 - Links ANS</a:t>
            </a:r>
            <a:endParaRPr lang="zh-CN" altLang="en-US" dirty="0"/>
          </a:p>
        </p:txBody>
      </p:sp>
      <p:sp>
        <p:nvSpPr>
          <p:cNvPr id="3" name="Slide Number Placeholder 2">
            <a:extLst>
              <a:ext uri="{FF2B5EF4-FFF2-40B4-BE49-F238E27FC236}">
                <a16:creationId xmlns:a16="http://schemas.microsoft.com/office/drawing/2014/main" id="{1F5770EC-871A-A212-E7D5-9620B6883132}"/>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a:extLst>
              <a:ext uri="{FF2B5EF4-FFF2-40B4-BE49-F238E27FC236}">
                <a16:creationId xmlns:a16="http://schemas.microsoft.com/office/drawing/2014/main" id="{ECF4008D-3C5B-259B-86CA-898136193E72}"/>
              </a:ext>
            </a:extLst>
          </p:cNvPr>
          <p:cNvSpPr>
            <a:spLocks noGrp="1"/>
          </p:cNvSpPr>
          <p:nvPr>
            <p:ph sz="quarter" idx="1"/>
          </p:nvPr>
        </p:nvSpPr>
        <p:spPr>
          <a:xfrm>
            <a:off x="609600" y="1143000"/>
            <a:ext cx="10972800" cy="4032564"/>
          </a:xfrm>
        </p:spPr>
        <p:txBody>
          <a:bodyPr>
            <a:normAutofit fontScale="70000" lnSpcReduction="20000"/>
          </a:bodyPr>
          <a:lstStyle/>
          <a:p>
            <a:r>
              <a:rPr lang="en-US" altLang="zh-CN" dirty="0"/>
              <a:t>Q5 In this subpart, suppose R1 has 1 other packet in its queue when A sends the packet. How long does it take to send a single packet from A to B? </a:t>
            </a:r>
          </a:p>
          <a:p>
            <a:pPr lvl="1"/>
            <a:r>
              <a:rPr lang="en-US" altLang="zh-CN" dirty="0"/>
              <a:t>ANS: 2</a:t>
            </a:r>
            <a:r>
              <a:rPr lang="zh-CN" altLang="en-US" dirty="0"/>
              <a:t>𝑥 </a:t>
            </a:r>
            <a:r>
              <a:rPr lang="en-US" altLang="zh-CN" dirty="0"/>
              <a:t>+ 2</a:t>
            </a:r>
            <a:r>
              <a:rPr lang="zh-CN" altLang="en-US" dirty="0"/>
              <a:t>𝑧</a:t>
            </a:r>
            <a:endParaRPr lang="en-US" altLang="zh-CN" dirty="0"/>
          </a:p>
          <a:p>
            <a:pPr lvl="1"/>
            <a:r>
              <a:rPr lang="en-US" altLang="zh-CN" dirty="0"/>
              <a:t>Explanation:</a:t>
            </a:r>
            <a:r>
              <a:rPr lang="zh-CN" altLang="en-US" dirty="0"/>
              <a:t> </a:t>
            </a:r>
            <a:r>
              <a:rPr lang="en-US" altLang="zh-CN" dirty="0"/>
              <a:t>Since all packets are the same size, by the time A transmits the packet onto the A-to-R1 link, R1 has finished clearing out its queue. Therefore, there will be no queuing delay at R1. The packet takes </a:t>
            </a:r>
            <a:r>
              <a:rPr lang="zh-CN" altLang="en-US" dirty="0"/>
              <a:t>𝑥 </a:t>
            </a:r>
            <a:r>
              <a:rPr lang="en-US" altLang="zh-CN" dirty="0"/>
              <a:t>+ </a:t>
            </a:r>
            <a:r>
              <a:rPr lang="zh-CN" altLang="en-US" dirty="0"/>
              <a:t>𝑧 </a:t>
            </a:r>
            <a:r>
              <a:rPr lang="en-US" altLang="zh-CN" dirty="0"/>
              <a:t>time to travel from A to R1 (transmission delay </a:t>
            </a:r>
            <a:r>
              <a:rPr lang="zh-CN" altLang="en-US" dirty="0"/>
              <a:t>𝑥 </a:t>
            </a:r>
            <a:r>
              <a:rPr lang="en-US" altLang="zh-CN" dirty="0"/>
              <a:t>and propagation delay </a:t>
            </a:r>
            <a:r>
              <a:rPr lang="zh-CN" altLang="en-US" dirty="0"/>
              <a:t>𝑧</a:t>
            </a:r>
            <a:r>
              <a:rPr lang="en-US" altLang="zh-CN" dirty="0"/>
              <a:t>).  At time </a:t>
            </a:r>
            <a:r>
              <a:rPr lang="zh-CN" altLang="en-US" dirty="0"/>
              <a:t>𝑥 </a:t>
            </a:r>
            <a:r>
              <a:rPr lang="en-US" altLang="zh-CN" dirty="0"/>
              <a:t>+ </a:t>
            </a:r>
            <a:r>
              <a:rPr lang="zh-CN" altLang="en-US" dirty="0"/>
              <a:t>𝑧</a:t>
            </a:r>
            <a:r>
              <a:rPr lang="en-US" altLang="zh-CN" dirty="0"/>
              <a:t>, R1 has received the entire packet. R1 then must send the packet along the R1-to-B link, which takes </a:t>
            </a:r>
            <a:r>
              <a:rPr lang="zh-CN" altLang="en-US" dirty="0"/>
              <a:t>𝑥 </a:t>
            </a:r>
            <a:r>
              <a:rPr lang="en-US" altLang="zh-CN" dirty="0"/>
              <a:t>+ </a:t>
            </a:r>
            <a:r>
              <a:rPr lang="zh-CN" altLang="en-US" dirty="0"/>
              <a:t>𝑧 </a:t>
            </a:r>
            <a:r>
              <a:rPr lang="en-US" altLang="zh-CN" dirty="0"/>
              <a:t>time again. The total time to transmit the packet from A to B is 2(</a:t>
            </a:r>
            <a:r>
              <a:rPr lang="zh-CN" altLang="en-US" dirty="0"/>
              <a:t>𝑥 </a:t>
            </a:r>
            <a:r>
              <a:rPr lang="en-US" altLang="zh-CN" dirty="0"/>
              <a:t>+ </a:t>
            </a:r>
            <a:r>
              <a:rPr lang="zh-CN" altLang="en-US" dirty="0"/>
              <a:t>𝑧</a:t>
            </a:r>
            <a:r>
              <a:rPr lang="en-US" altLang="zh-CN" dirty="0"/>
              <a:t>) = 2</a:t>
            </a:r>
            <a:r>
              <a:rPr lang="zh-CN" altLang="en-US" dirty="0"/>
              <a:t>𝑥 </a:t>
            </a:r>
            <a:r>
              <a:rPr lang="en-US" altLang="zh-CN" dirty="0"/>
              <a:t>+ 2</a:t>
            </a:r>
            <a:r>
              <a:rPr lang="zh-CN" altLang="en-US" dirty="0"/>
              <a:t>𝑧</a:t>
            </a:r>
            <a:r>
              <a:rPr lang="en-US" altLang="zh-CN" dirty="0"/>
              <a:t>. </a:t>
            </a:r>
          </a:p>
          <a:p>
            <a:r>
              <a:rPr lang="en-US" altLang="zh-CN" dirty="0"/>
              <a:t>Q6 In this subpart, suppose R1 has 20 other packets in its queue when A sends the packet. How long does it take to send a single packet from A to B? Assume that the queue at R1 is not empty when this packet arrives at R1.</a:t>
            </a:r>
          </a:p>
          <a:p>
            <a:pPr lvl="1"/>
            <a:r>
              <a:rPr lang="en-US" altLang="zh-CN" dirty="0"/>
              <a:t>ANS: 21</a:t>
            </a:r>
            <a:r>
              <a:rPr lang="zh-CN" altLang="en-US" dirty="0"/>
              <a:t>𝑥 </a:t>
            </a:r>
            <a:r>
              <a:rPr lang="en-US" altLang="zh-CN" dirty="0"/>
              <a:t>+ </a:t>
            </a:r>
            <a:r>
              <a:rPr lang="zh-CN" altLang="en-US" dirty="0"/>
              <a:t>𝑧</a:t>
            </a:r>
            <a:endParaRPr lang="en-US" altLang="zh-CN" dirty="0"/>
          </a:p>
          <a:p>
            <a:pPr lvl="1"/>
            <a:r>
              <a:rPr lang="en-US" altLang="zh-CN" dirty="0"/>
              <a:t>Explanation: By the time the A-to-B packet arrives at R1, the queue is not empty (per the assumption). Therefore, we have to account for queuing delay.  We have to wait for R1 to finish sending all 20 packets, and then it can send the A-to-B packet. The time it takes for R1 to transmit 21 packets (the 20 in the queue, plus the A-to-B packet) is 21</a:t>
            </a:r>
            <a:r>
              <a:rPr lang="zh-CN" altLang="en-US" dirty="0"/>
              <a:t>𝑥</a:t>
            </a:r>
            <a:r>
              <a:rPr lang="en-US" altLang="zh-CN" dirty="0"/>
              <a:t>.</a:t>
            </a:r>
          </a:p>
          <a:p>
            <a:pPr lvl="1"/>
            <a:r>
              <a:rPr lang="en-US" altLang="zh-CN" dirty="0"/>
              <a:t>Then, the time it takes for the A-to-B packet to propagate along the R1-to-B link is </a:t>
            </a:r>
            <a:r>
              <a:rPr lang="zh-CN" altLang="en-US" dirty="0"/>
              <a:t>𝑧</a:t>
            </a:r>
            <a:r>
              <a:rPr lang="en-US" altLang="zh-CN" dirty="0"/>
              <a:t>. Thus, the total packet delay is 21</a:t>
            </a:r>
            <a:r>
              <a:rPr lang="zh-CN" altLang="en-US" dirty="0"/>
              <a:t>𝑥 </a:t>
            </a:r>
            <a:r>
              <a:rPr lang="en-US" altLang="zh-CN" dirty="0"/>
              <a:t>+ </a:t>
            </a:r>
            <a:r>
              <a:rPr lang="zh-CN" altLang="en-US" dirty="0"/>
              <a:t>𝑧</a:t>
            </a:r>
            <a:r>
              <a:rPr lang="en-US" altLang="zh-CN" dirty="0"/>
              <a:t>. Note that we don’t need to consider the propagation delay on the A-to-R1 link, since it overlaps with the transmission delay 21</a:t>
            </a:r>
            <a:r>
              <a:rPr lang="zh-CN" altLang="en-US" dirty="0"/>
              <a:t>𝑥 </a:t>
            </a:r>
            <a:r>
              <a:rPr lang="en-US" altLang="zh-CN" dirty="0"/>
              <a:t>(i.e. the packet was sent from A to R1 while R1 was clearing out its queue). </a:t>
            </a:r>
            <a:endParaRPr lang="zh-CN" altLang="en-US" dirty="0"/>
          </a:p>
        </p:txBody>
      </p:sp>
      <p:pic>
        <p:nvPicPr>
          <p:cNvPr id="6" name="Picture 5">
            <a:extLst>
              <a:ext uri="{FF2B5EF4-FFF2-40B4-BE49-F238E27FC236}">
                <a16:creationId xmlns:a16="http://schemas.microsoft.com/office/drawing/2014/main" id="{DFA315F0-F8FD-7979-8A50-EB63005FF16D}"/>
              </a:ext>
            </a:extLst>
          </p:cNvPr>
          <p:cNvPicPr>
            <a:picLocks noChangeAspect="1"/>
          </p:cNvPicPr>
          <p:nvPr/>
        </p:nvPicPr>
        <p:blipFill>
          <a:blip r:embed="rId2"/>
          <a:stretch>
            <a:fillRect/>
          </a:stretch>
        </p:blipFill>
        <p:spPr>
          <a:xfrm>
            <a:off x="2844801" y="4953000"/>
            <a:ext cx="5486400" cy="1607227"/>
          </a:xfrm>
          <a:prstGeom prst="rect">
            <a:avLst/>
          </a:prstGeom>
        </p:spPr>
      </p:pic>
    </p:spTree>
    <p:extLst>
      <p:ext uri="{BB962C8B-B14F-4D97-AF65-F5344CB8AC3E}">
        <p14:creationId xmlns:p14="http://schemas.microsoft.com/office/powerpoint/2010/main" val="4186938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821C3-5FA2-B0A4-D005-6264D6E0DCBF}"/>
              </a:ext>
            </a:extLst>
          </p:cNvPr>
          <p:cNvSpPr>
            <a:spLocks noGrp="1"/>
          </p:cNvSpPr>
          <p:nvPr>
            <p:ph type="title"/>
          </p:nvPr>
        </p:nvSpPr>
        <p:spPr/>
        <p:txBody>
          <a:bodyPr/>
          <a:lstStyle/>
          <a:p>
            <a:r>
              <a:rPr lang="en-US" altLang="zh-CN" dirty="0"/>
              <a:t>Lecture 3 - Links ANS</a:t>
            </a:r>
            <a:endParaRPr lang="zh-CN" altLang="en-US" dirty="0"/>
          </a:p>
        </p:txBody>
      </p:sp>
      <p:sp>
        <p:nvSpPr>
          <p:cNvPr id="3" name="Slide Number Placeholder 2">
            <a:extLst>
              <a:ext uri="{FF2B5EF4-FFF2-40B4-BE49-F238E27FC236}">
                <a16:creationId xmlns:a16="http://schemas.microsoft.com/office/drawing/2014/main" id="{7F3808B6-0310-8EFD-CACE-5935384E25F2}"/>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8819AD79-A568-11A3-B70C-A6F07F836925}"/>
              </a:ext>
            </a:extLst>
          </p:cNvPr>
          <p:cNvSpPr>
            <a:spLocks noGrp="1"/>
          </p:cNvSpPr>
          <p:nvPr>
            <p:ph sz="quarter" idx="1"/>
          </p:nvPr>
        </p:nvSpPr>
        <p:spPr>
          <a:xfrm>
            <a:off x="609600" y="1219200"/>
            <a:ext cx="10972800" cy="4038600"/>
          </a:xfrm>
        </p:spPr>
        <p:txBody>
          <a:bodyPr>
            <a:normAutofit fontScale="92500" lnSpcReduction="10000"/>
          </a:bodyPr>
          <a:lstStyle/>
          <a:p>
            <a:r>
              <a:rPr lang="en-US" altLang="zh-CN" dirty="0"/>
              <a:t>Q7 What is the maximum number of packets that can be queued at R1, such that when the last byte of the A-to-B packet reaches R1, there is no queue at R1? Don’t worry about fractions and rounding (e.g. assume </a:t>
            </a:r>
            <a:r>
              <a:rPr lang="zh-CN" altLang="en-US" dirty="0"/>
              <a:t>𝑥</a:t>
            </a:r>
            <a:r>
              <a:rPr lang="en-US" altLang="zh-CN" dirty="0"/>
              <a:t>, </a:t>
            </a:r>
            <a:r>
              <a:rPr lang="zh-CN" altLang="en-US" dirty="0"/>
              <a:t>𝑦</a:t>
            </a:r>
            <a:r>
              <a:rPr lang="en-US" altLang="zh-CN" dirty="0"/>
              <a:t>, and </a:t>
            </a:r>
            <a:r>
              <a:rPr lang="zh-CN" altLang="en-US" dirty="0"/>
              <a:t>𝑧 </a:t>
            </a:r>
            <a:r>
              <a:rPr lang="en-US" altLang="zh-CN" dirty="0"/>
              <a:t>are defined such that all answer choices are integers).</a:t>
            </a:r>
          </a:p>
          <a:p>
            <a:r>
              <a:rPr lang="en-US" altLang="zh-CN" dirty="0"/>
              <a:t>ANS:</a:t>
            </a:r>
            <a:r>
              <a:rPr lang="zh-CN" altLang="en-US" dirty="0"/>
              <a:t> </a:t>
            </a:r>
            <a:r>
              <a:rPr lang="en-US" altLang="zh-CN" dirty="0"/>
              <a:t>(</a:t>
            </a:r>
            <a:r>
              <a:rPr lang="zh-CN" altLang="en-US" dirty="0"/>
              <a:t>𝑥</a:t>
            </a:r>
            <a:r>
              <a:rPr lang="en-US" altLang="zh-CN" dirty="0"/>
              <a:t>+</a:t>
            </a:r>
            <a:r>
              <a:rPr lang="zh-CN" altLang="en-US" dirty="0"/>
              <a:t>𝑧</a:t>
            </a:r>
            <a:r>
              <a:rPr lang="en-US" altLang="zh-CN" dirty="0"/>
              <a:t>)/</a:t>
            </a:r>
            <a:r>
              <a:rPr lang="zh-CN" altLang="en-US" dirty="0"/>
              <a:t>𝑥</a:t>
            </a:r>
            <a:endParaRPr lang="en-US" altLang="zh-CN" dirty="0"/>
          </a:p>
          <a:p>
            <a:r>
              <a:rPr lang="en-US" altLang="zh-CN" dirty="0"/>
              <a:t>Explanation: The time it takes to send the packet from A to R1 is </a:t>
            </a:r>
            <a:r>
              <a:rPr lang="zh-CN" altLang="en-US" dirty="0"/>
              <a:t>𝑥 </a:t>
            </a:r>
            <a:r>
              <a:rPr lang="en-US" altLang="zh-CN" dirty="0"/>
              <a:t>+ </a:t>
            </a:r>
            <a:r>
              <a:rPr lang="zh-CN" altLang="en-US" dirty="0"/>
              <a:t>𝑧</a:t>
            </a:r>
            <a:r>
              <a:rPr lang="en-US" altLang="zh-CN" dirty="0"/>
              <a:t>. R1 needs </a:t>
            </a:r>
            <a:r>
              <a:rPr lang="zh-CN" altLang="en-US" dirty="0"/>
              <a:t>𝑥 </a:t>
            </a:r>
            <a:r>
              <a:rPr lang="en-US" altLang="zh-CN" dirty="0"/>
              <a:t>seconds to send out each packet. Therefore, in </a:t>
            </a:r>
            <a:r>
              <a:rPr lang="zh-CN" altLang="en-US" dirty="0"/>
              <a:t>𝑥 </a:t>
            </a:r>
            <a:r>
              <a:rPr lang="en-US" altLang="zh-CN" dirty="0"/>
              <a:t>+ </a:t>
            </a:r>
            <a:r>
              <a:rPr lang="zh-CN" altLang="en-US" dirty="0"/>
              <a:t>𝑧 </a:t>
            </a:r>
            <a:r>
              <a:rPr lang="en-US" altLang="zh-CN" dirty="0"/>
              <a:t>seconds, R1 is able to send out (</a:t>
            </a:r>
            <a:r>
              <a:rPr lang="zh-CN" altLang="en-US" dirty="0"/>
              <a:t>𝑥</a:t>
            </a:r>
            <a:r>
              <a:rPr lang="en-US" altLang="zh-CN" dirty="0"/>
              <a:t>+</a:t>
            </a:r>
            <a:r>
              <a:rPr lang="zh-CN" altLang="en-US" dirty="0"/>
              <a:t>𝑧</a:t>
            </a:r>
            <a:r>
              <a:rPr lang="en-US" altLang="zh-CN" dirty="0"/>
              <a:t>)/</a:t>
            </a:r>
            <a:r>
              <a:rPr lang="zh-CN" altLang="en-US" dirty="0"/>
              <a:t>𝑥 </a:t>
            </a:r>
            <a:r>
              <a:rPr lang="en-US" altLang="zh-CN" dirty="0"/>
              <a:t>packets. Therefore, R1 can have at most (</a:t>
            </a:r>
            <a:r>
              <a:rPr lang="zh-CN" altLang="en-US" dirty="0"/>
              <a:t>𝑥</a:t>
            </a:r>
            <a:r>
              <a:rPr lang="en-US" altLang="zh-CN" dirty="0"/>
              <a:t>+</a:t>
            </a:r>
            <a:r>
              <a:rPr lang="zh-CN" altLang="en-US" dirty="0"/>
              <a:t>𝑧</a:t>
            </a:r>
            <a:r>
              <a:rPr lang="en-US" altLang="zh-CN" dirty="0"/>
              <a:t>)/</a:t>
            </a:r>
            <a:r>
              <a:rPr lang="zh-CN" altLang="en-US" dirty="0"/>
              <a:t>𝑥</a:t>
            </a:r>
            <a:r>
              <a:rPr lang="en-US" altLang="zh-CN" dirty="0"/>
              <a:t> packets in its queue, and all of those packets will be sent out by the time the last byte of the A-to-B packet reaches R1. </a:t>
            </a:r>
            <a:br>
              <a:rPr lang="en-US" altLang="zh-CN" dirty="0"/>
            </a:br>
            <a:endParaRPr lang="zh-CN" altLang="en-US" dirty="0"/>
          </a:p>
        </p:txBody>
      </p:sp>
      <p:pic>
        <p:nvPicPr>
          <p:cNvPr id="5" name="Picture 4">
            <a:extLst>
              <a:ext uri="{FF2B5EF4-FFF2-40B4-BE49-F238E27FC236}">
                <a16:creationId xmlns:a16="http://schemas.microsoft.com/office/drawing/2014/main" id="{C7C84C26-D4C0-9582-8A0D-871CA8D1F392}"/>
              </a:ext>
            </a:extLst>
          </p:cNvPr>
          <p:cNvPicPr>
            <a:picLocks noChangeAspect="1"/>
          </p:cNvPicPr>
          <p:nvPr/>
        </p:nvPicPr>
        <p:blipFill>
          <a:blip r:embed="rId2"/>
          <a:stretch>
            <a:fillRect/>
          </a:stretch>
        </p:blipFill>
        <p:spPr>
          <a:xfrm>
            <a:off x="2844801" y="4953000"/>
            <a:ext cx="5486400" cy="1607227"/>
          </a:xfrm>
          <a:prstGeom prst="rect">
            <a:avLst/>
          </a:prstGeom>
        </p:spPr>
      </p:pic>
    </p:spTree>
    <p:extLst>
      <p:ext uri="{BB962C8B-B14F-4D97-AF65-F5344CB8AC3E}">
        <p14:creationId xmlns:p14="http://schemas.microsoft.com/office/powerpoint/2010/main" val="3409397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06331-FAD2-C37C-4D5B-E040EFCF0952}"/>
              </a:ext>
            </a:extLst>
          </p:cNvPr>
          <p:cNvSpPr>
            <a:spLocks noGrp="1"/>
          </p:cNvSpPr>
          <p:nvPr>
            <p:ph type="title"/>
          </p:nvPr>
        </p:nvSpPr>
        <p:spPr/>
        <p:txBody>
          <a:bodyPr/>
          <a:lstStyle/>
          <a:p>
            <a:r>
              <a:rPr lang="en-US" altLang="zh-CN" dirty="0"/>
              <a:t>Lecture 3 - Links Queuing Delays ANS</a:t>
            </a:r>
            <a:endParaRPr lang="zh-CN" altLang="en-US" dirty="0"/>
          </a:p>
        </p:txBody>
      </p:sp>
      <p:sp>
        <p:nvSpPr>
          <p:cNvPr id="3" name="Slide Number Placeholder 2">
            <a:extLst>
              <a:ext uri="{FF2B5EF4-FFF2-40B4-BE49-F238E27FC236}">
                <a16:creationId xmlns:a16="http://schemas.microsoft.com/office/drawing/2014/main" id="{04D1E93B-35C8-FF88-B5DA-7083BD3BE3B9}"/>
              </a:ext>
            </a:extLst>
          </p:cNvPr>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 name="Content Placeholder 3">
            <a:extLst>
              <a:ext uri="{FF2B5EF4-FFF2-40B4-BE49-F238E27FC236}">
                <a16:creationId xmlns:a16="http://schemas.microsoft.com/office/drawing/2014/main" id="{7DDF39FB-0476-ECF4-DF79-B77C4F4C7DB7}"/>
              </a:ext>
            </a:extLst>
          </p:cNvPr>
          <p:cNvSpPr>
            <a:spLocks noGrp="1"/>
          </p:cNvSpPr>
          <p:nvPr>
            <p:ph sz="quarter" idx="1"/>
          </p:nvPr>
        </p:nvSpPr>
        <p:spPr/>
        <p:txBody>
          <a:bodyPr>
            <a:normAutofit fontScale="77500" lnSpcReduction="20000"/>
          </a:bodyPr>
          <a:lstStyle/>
          <a:p>
            <a:r>
              <a:rPr lang="en-US" altLang="zh-CN" dirty="0"/>
              <a:t>Starting at </a:t>
            </a:r>
            <a:r>
              <a:rPr lang="zh-CN" altLang="en-US" dirty="0"/>
              <a:t>𝑡 </a:t>
            </a:r>
            <a:r>
              <a:rPr lang="en-US" altLang="zh-CN" dirty="0"/>
              <a:t>= 0, </a:t>
            </a:r>
            <a:r>
              <a:rPr lang="zh-CN" altLang="en-US" dirty="0"/>
              <a:t>𝐻 </a:t>
            </a:r>
            <a:r>
              <a:rPr lang="en-US" altLang="zh-CN" dirty="0"/>
              <a:t>sends 10 payloads to </a:t>
            </a:r>
            <a:r>
              <a:rPr lang="zh-CN" altLang="en-US" dirty="0"/>
              <a:t>𝑇</a:t>
            </a:r>
            <a:r>
              <a:rPr lang="en-US" altLang="zh-CN" dirty="0"/>
              <a:t>, one after the other. Each payload is 20 </a:t>
            </a:r>
            <a:r>
              <a:rPr lang="en-US" altLang="zh-CN" dirty="0" err="1"/>
              <a:t>Gbits</a:t>
            </a:r>
            <a:r>
              <a:rPr lang="en-US" altLang="zh-CN" dirty="0"/>
              <a:t>. </a:t>
            </a:r>
            <a:r>
              <a:rPr lang="zh-CN" altLang="en-US" dirty="0"/>
              <a:t>𝐸 </a:t>
            </a:r>
            <a:r>
              <a:rPr lang="en-US" altLang="zh-CN" dirty="0"/>
              <a:t>uses store and forward, i.e., it must receive all bits of a payload before sending that payload along the next link ().</a:t>
            </a:r>
          </a:p>
          <a:p>
            <a:r>
              <a:rPr lang="en-US" altLang="zh-CN" dirty="0"/>
              <a:t>Q1 What is the queuing delay of the first payload? Note: For all queuing delay questions, count from the time the last bit of the payload arrives at </a:t>
            </a:r>
            <a:r>
              <a:rPr lang="zh-CN" altLang="en-US" dirty="0"/>
              <a:t>𝐸</a:t>
            </a:r>
            <a:r>
              <a:rPr lang="en-US" altLang="zh-CN" dirty="0"/>
              <a:t>, to the time the first bit of the payload is sent out of </a:t>
            </a:r>
            <a:r>
              <a:rPr lang="zh-CN" altLang="en-US" dirty="0"/>
              <a:t>𝐸</a:t>
            </a:r>
            <a:r>
              <a:rPr lang="en-US" altLang="zh-CN" dirty="0"/>
              <a:t>.</a:t>
            </a:r>
          </a:p>
          <a:p>
            <a:pPr lvl="1"/>
            <a:r>
              <a:rPr lang="en-US" altLang="zh-CN" dirty="0"/>
              <a:t>ANS: 0 sec</a:t>
            </a:r>
          </a:p>
          <a:p>
            <a:r>
              <a:rPr lang="en-US" altLang="zh-CN" dirty="0"/>
              <a:t>Q2 (1 point) At what time does </a:t>
            </a:r>
            <a:r>
              <a:rPr lang="zh-CN" altLang="en-US" dirty="0"/>
              <a:t>𝑇 </a:t>
            </a:r>
            <a:r>
              <a:rPr lang="en-US" altLang="zh-CN" dirty="0"/>
              <a:t>receive the last bit of the first payload?</a:t>
            </a:r>
          </a:p>
          <a:p>
            <a:pPr lvl="1"/>
            <a:r>
              <a:rPr lang="en-US" altLang="zh-CN" dirty="0"/>
              <a:t>ANS: </a:t>
            </a:r>
            <a:r>
              <a:rPr lang="zh-CN" altLang="en-US" dirty="0"/>
              <a:t>𝑡 </a:t>
            </a:r>
            <a:r>
              <a:rPr lang="en-US" altLang="zh-CN" dirty="0"/>
              <a:t>= 15 sec</a:t>
            </a:r>
          </a:p>
          <a:p>
            <a:r>
              <a:rPr lang="en-US" altLang="zh-CN" dirty="0"/>
              <a:t>Q3 (2 points) What is the queuing delay of the second payload?</a:t>
            </a:r>
          </a:p>
          <a:p>
            <a:pPr lvl="1"/>
            <a:r>
              <a:rPr lang="en-US" altLang="zh-CN" dirty="0"/>
              <a:t>ANS: 1 sec</a:t>
            </a:r>
          </a:p>
          <a:p>
            <a:r>
              <a:rPr lang="en-US" altLang="zh-CN" dirty="0"/>
              <a:t>Q4 (2 points) At what time does </a:t>
            </a:r>
            <a:r>
              <a:rPr lang="zh-CN" altLang="en-US" dirty="0"/>
              <a:t>𝑇 </a:t>
            </a:r>
            <a:r>
              <a:rPr lang="en-US" altLang="zh-CN" dirty="0"/>
              <a:t>receive the last bit of the second payload?</a:t>
            </a:r>
          </a:p>
          <a:p>
            <a:pPr lvl="1"/>
            <a:r>
              <a:rPr lang="en-US" altLang="zh-CN" dirty="0"/>
              <a:t>ANS: </a:t>
            </a:r>
            <a:r>
              <a:rPr lang="zh-CN" altLang="en-US" dirty="0"/>
              <a:t>𝑡 </a:t>
            </a:r>
            <a:r>
              <a:rPr lang="en-US" altLang="zh-CN" dirty="0"/>
              <a:t>= 17 sec</a:t>
            </a:r>
          </a:p>
          <a:p>
            <a:r>
              <a:rPr lang="en-US" altLang="zh-CN" dirty="0"/>
              <a:t>Q5 (2 points) What is the queuing delay of the 10th payload?</a:t>
            </a:r>
          </a:p>
          <a:p>
            <a:pPr lvl="1"/>
            <a:r>
              <a:rPr lang="en-US" altLang="zh-CN" dirty="0"/>
              <a:t>ANS: 9 sec</a:t>
            </a:r>
          </a:p>
          <a:p>
            <a:r>
              <a:rPr lang="en-US" altLang="zh-CN" dirty="0"/>
              <a:t>Q6 (2 points) At what time does </a:t>
            </a:r>
            <a:r>
              <a:rPr lang="zh-CN" altLang="en-US" dirty="0"/>
              <a:t>𝑇 </a:t>
            </a:r>
            <a:r>
              <a:rPr lang="en-US" altLang="zh-CN" dirty="0"/>
              <a:t>receive the last bit of the 10th payload?</a:t>
            </a:r>
          </a:p>
          <a:p>
            <a:pPr lvl="1"/>
            <a:r>
              <a:rPr lang="en-US" altLang="zh-CN" dirty="0"/>
              <a:t>ANS: </a:t>
            </a:r>
            <a:r>
              <a:rPr lang="zh-CN" altLang="en-US" dirty="0"/>
              <a:t>𝑡 </a:t>
            </a:r>
            <a:r>
              <a:rPr lang="en-US" altLang="zh-CN" dirty="0"/>
              <a:t>= 33 sec</a:t>
            </a:r>
            <a:endParaRPr lang="zh-CN" altLang="en-US" dirty="0"/>
          </a:p>
        </p:txBody>
      </p:sp>
      <p:pic>
        <p:nvPicPr>
          <p:cNvPr id="6" name="Picture 5" descr="The image depicts a network diagram illustrating two links with propagation delays of 2 and 10 seconds, and bandwidths of 20 Gbps and 10 Gbps respectively.&#10;&#10;AI-generated content may be incorrect.">
            <a:extLst>
              <a:ext uri="{FF2B5EF4-FFF2-40B4-BE49-F238E27FC236}">
                <a16:creationId xmlns:a16="http://schemas.microsoft.com/office/drawing/2014/main" id="{11A44FD7-3CB6-BCEC-A980-859BB5D17566}"/>
              </a:ext>
            </a:extLst>
          </p:cNvPr>
          <p:cNvPicPr>
            <a:picLocks noChangeAspect="1"/>
          </p:cNvPicPr>
          <p:nvPr/>
        </p:nvPicPr>
        <p:blipFill>
          <a:blip r:embed="rId3"/>
          <a:stretch>
            <a:fillRect/>
          </a:stretch>
        </p:blipFill>
        <p:spPr>
          <a:xfrm>
            <a:off x="3048000" y="5694933"/>
            <a:ext cx="6697010" cy="924054"/>
          </a:xfrm>
          <a:prstGeom prst="rect">
            <a:avLst/>
          </a:prstGeom>
        </p:spPr>
      </p:pic>
    </p:spTree>
    <p:extLst>
      <p:ext uri="{BB962C8B-B14F-4D97-AF65-F5344CB8AC3E}">
        <p14:creationId xmlns:p14="http://schemas.microsoft.com/office/powerpoint/2010/main" val="1242299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17CA1F7-19B5-EB8E-6348-0AE5C3EEAAA2}"/>
              </a:ext>
            </a:extLst>
          </p:cNvPr>
          <p:cNvPicPr>
            <a:picLocks noChangeAspect="1"/>
          </p:cNvPicPr>
          <p:nvPr/>
        </p:nvPicPr>
        <p:blipFill>
          <a:blip r:embed="rId3"/>
          <a:stretch>
            <a:fillRect/>
          </a:stretch>
        </p:blipFill>
        <p:spPr>
          <a:xfrm>
            <a:off x="5430635" y="5798056"/>
            <a:ext cx="6697010" cy="924054"/>
          </a:xfrm>
          <a:prstGeom prst="rect">
            <a:avLst/>
          </a:prstGeom>
        </p:spPr>
      </p:pic>
      <p:sp>
        <p:nvSpPr>
          <p:cNvPr id="2" name="Title 1">
            <a:extLst>
              <a:ext uri="{FF2B5EF4-FFF2-40B4-BE49-F238E27FC236}">
                <a16:creationId xmlns:a16="http://schemas.microsoft.com/office/drawing/2014/main" id="{9ADF8C37-068B-2C7B-0271-17BC51A1C58A}"/>
              </a:ext>
            </a:extLst>
          </p:cNvPr>
          <p:cNvSpPr>
            <a:spLocks noGrp="1"/>
          </p:cNvSpPr>
          <p:nvPr>
            <p:ph type="title"/>
          </p:nvPr>
        </p:nvSpPr>
        <p:spPr>
          <a:xfrm>
            <a:off x="609600" y="152400"/>
            <a:ext cx="7010400" cy="990600"/>
          </a:xfrm>
        </p:spPr>
        <p:txBody>
          <a:bodyPr>
            <a:normAutofit fontScale="90000"/>
          </a:bodyPr>
          <a:lstStyle/>
          <a:p>
            <a:r>
              <a:rPr lang="en-US" altLang="zh-CN" dirty="0"/>
              <a:t>Lecture 3 - Links Queuing Delays ANS</a:t>
            </a:r>
            <a:endParaRPr lang="zh-CN" altLang="en-US" dirty="0"/>
          </a:p>
        </p:txBody>
      </p:sp>
      <p:sp>
        <p:nvSpPr>
          <p:cNvPr id="3" name="Slide Number Placeholder 2">
            <a:extLst>
              <a:ext uri="{FF2B5EF4-FFF2-40B4-BE49-F238E27FC236}">
                <a16:creationId xmlns:a16="http://schemas.microsoft.com/office/drawing/2014/main" id="{83E516CE-6AD8-5DCD-2FBD-50750649CFF2}"/>
              </a:ext>
            </a:extLst>
          </p:cNvPr>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a:extLst>
              <a:ext uri="{FF2B5EF4-FFF2-40B4-BE49-F238E27FC236}">
                <a16:creationId xmlns:a16="http://schemas.microsoft.com/office/drawing/2014/main" id="{14244A22-B278-B662-A536-5B5167AFA778}"/>
              </a:ext>
            </a:extLst>
          </p:cNvPr>
          <p:cNvSpPr>
            <a:spLocks noGrp="1"/>
          </p:cNvSpPr>
          <p:nvPr>
            <p:ph sz="quarter" idx="1"/>
          </p:nvPr>
        </p:nvSpPr>
        <p:spPr>
          <a:xfrm>
            <a:off x="609600" y="1219200"/>
            <a:ext cx="7086600" cy="5638800"/>
          </a:xfrm>
        </p:spPr>
        <p:txBody>
          <a:bodyPr>
            <a:normAutofit fontScale="55000" lnSpcReduction="20000"/>
          </a:bodyPr>
          <a:lstStyle/>
          <a:p>
            <a:r>
              <a:rPr lang="en-US" altLang="zh-CN" dirty="0"/>
              <a:t>Q1-5 ANS. This table shows the time each payload arrives at </a:t>
            </a:r>
            <a:r>
              <a:rPr lang="zh-CN" altLang="en-US" dirty="0"/>
              <a:t>𝐸 </a:t>
            </a:r>
            <a:r>
              <a:rPr lang="en-US" altLang="zh-CN" dirty="0"/>
              <a:t>(time of last bit arriving), the time each payload is sent from </a:t>
            </a:r>
            <a:r>
              <a:rPr lang="zh-CN" altLang="en-US" dirty="0"/>
              <a:t>𝐸 </a:t>
            </a:r>
            <a:r>
              <a:rPr lang="en-US" altLang="zh-CN" dirty="0"/>
              <a:t>(time of first bit sent out), and the queuing delay of payload.</a:t>
            </a:r>
          </a:p>
          <a:p>
            <a:r>
              <a:rPr lang="en-US" altLang="zh-CN" dirty="0"/>
              <a:t>Link 1: H -&gt; E.  Bandwidth = 20 Gbps, Transmission Delay for each 20 Gbit payload is 1s. Propagation Delay = 2s</a:t>
            </a:r>
            <a:br>
              <a:rPr lang="en-US" altLang="zh-CN" dirty="0"/>
            </a:br>
            <a:r>
              <a:rPr lang="en-US" altLang="zh-CN" dirty="0"/>
              <a:t>Link 2: H -&gt; ET. Bandwidth = 10 Gbps, Transmission Delay for each 20 Gbit payload is 2s (service time). Propagation Delay = 10s</a:t>
            </a:r>
          </a:p>
          <a:p>
            <a:r>
              <a:rPr lang="en-US" altLang="zh-CN" dirty="0"/>
              <a:t>To derive the </a:t>
            </a:r>
            <a:r>
              <a:rPr lang="en-US" altLang="zh-CN" dirty="0">
                <a:solidFill>
                  <a:srgbClr val="C00000"/>
                </a:solidFill>
              </a:rPr>
              <a:t>time of arrival of the last bit of each payload at E</a:t>
            </a:r>
            <a:r>
              <a:rPr lang="en-US" altLang="zh-CN" dirty="0"/>
              <a:t> column, we consider Link 1:</a:t>
            </a:r>
          </a:p>
          <a:p>
            <a:pPr lvl="1"/>
            <a:r>
              <a:rPr lang="en-US" altLang="zh-CN" dirty="0"/>
              <a:t>The first payload of 20 Gbps: First bit is transmitted from </a:t>
            </a:r>
            <a:r>
              <a:rPr lang="zh-CN" altLang="en-US" dirty="0"/>
              <a:t>𝐻 </a:t>
            </a:r>
            <a:r>
              <a:rPr lang="en-US" altLang="zh-CN" dirty="0"/>
              <a:t>at </a:t>
            </a:r>
            <a:r>
              <a:rPr lang="zh-CN" altLang="en-US" dirty="0"/>
              <a:t>𝑡 </a:t>
            </a:r>
            <a:r>
              <a:rPr lang="en-US" altLang="zh-CN" dirty="0"/>
              <a:t>= 0; the last bit is transmitted from </a:t>
            </a:r>
            <a:r>
              <a:rPr lang="zh-CN" altLang="en-US" dirty="0"/>
              <a:t>𝐻 </a:t>
            </a:r>
            <a:r>
              <a:rPr lang="en-US" altLang="zh-CN" dirty="0"/>
              <a:t>at </a:t>
            </a:r>
            <a:r>
              <a:rPr lang="zh-CN" altLang="en-US" dirty="0"/>
              <a:t>𝑡 </a:t>
            </a:r>
            <a:r>
              <a:rPr lang="en-US" altLang="zh-CN" dirty="0"/>
              <a:t>= 1, and arrives at </a:t>
            </a:r>
            <a:r>
              <a:rPr lang="zh-CN" altLang="en-US" dirty="0"/>
              <a:t>𝐸 </a:t>
            </a:r>
            <a:r>
              <a:rPr lang="en-US" altLang="zh-CN" dirty="0"/>
              <a:t>at </a:t>
            </a:r>
            <a:r>
              <a:rPr lang="zh-CN" altLang="en-US" dirty="0"/>
              <a:t>𝑡 </a:t>
            </a:r>
            <a:r>
              <a:rPr lang="en-US" altLang="zh-CN" dirty="0"/>
              <a:t>= 1 + Prop Delay (2) = 3.</a:t>
            </a:r>
          </a:p>
          <a:p>
            <a:pPr lvl="1"/>
            <a:r>
              <a:rPr lang="en-US" altLang="zh-CN" dirty="0"/>
              <a:t>At this point, a constant stream of payloads is sent from </a:t>
            </a:r>
            <a:r>
              <a:rPr lang="zh-CN" altLang="en-US" dirty="0"/>
              <a:t>𝐻 </a:t>
            </a:r>
            <a:r>
              <a:rPr lang="en-US" altLang="zh-CN" dirty="0"/>
              <a:t>to </a:t>
            </a:r>
            <a:r>
              <a:rPr lang="zh-CN" altLang="en-US" dirty="0"/>
              <a:t>𝐸 </a:t>
            </a:r>
            <a:r>
              <a:rPr lang="en-US" altLang="zh-CN" dirty="0"/>
              <a:t>back-to-back. Each payload takes 1 second to transmit, so the times of arrivals are 3, 4, 5, … (1 second per packet).</a:t>
            </a:r>
          </a:p>
          <a:p>
            <a:r>
              <a:rPr lang="en-US" altLang="zh-CN" dirty="0"/>
              <a:t>To derive the </a:t>
            </a:r>
            <a:r>
              <a:rPr lang="en-US" altLang="zh-CN" dirty="0">
                <a:solidFill>
                  <a:srgbClr val="C00000"/>
                </a:solidFill>
              </a:rPr>
              <a:t>time of sending of the first bit of each payload from E</a:t>
            </a:r>
            <a:r>
              <a:rPr lang="en-US" altLang="zh-CN" dirty="0"/>
              <a:t> column, we consider Link 2:</a:t>
            </a:r>
          </a:p>
          <a:p>
            <a:pPr lvl="1"/>
            <a:r>
              <a:rPr lang="en-US" altLang="zh-CN" dirty="0"/>
              <a:t>Payload 1′s last bit arrives at </a:t>
            </a:r>
            <a:r>
              <a:rPr lang="zh-CN" altLang="en-US" dirty="0"/>
              <a:t>𝑡 </a:t>
            </a:r>
            <a:r>
              <a:rPr lang="en-US" altLang="zh-CN" dirty="0"/>
              <a:t>= 3, so its first bit can be forwarded from E starting at </a:t>
            </a:r>
            <a:r>
              <a:rPr lang="zh-CN" altLang="en-US" dirty="0"/>
              <a:t>𝑡 </a:t>
            </a:r>
            <a:r>
              <a:rPr lang="en-US" altLang="zh-CN" dirty="0"/>
              <a:t>= 3, , with queuing delay of 3-3 = 0.  The last bit is transmitted from E</a:t>
            </a:r>
            <a:r>
              <a:rPr lang="zh-CN" altLang="en-US" dirty="0"/>
              <a:t> </a:t>
            </a:r>
            <a:r>
              <a:rPr lang="en-US" altLang="zh-CN" dirty="0"/>
              <a:t>at </a:t>
            </a:r>
            <a:r>
              <a:rPr lang="zh-CN" altLang="en-US" dirty="0"/>
              <a:t>𝑡 </a:t>
            </a:r>
            <a:r>
              <a:rPr lang="en-US" altLang="zh-CN" dirty="0"/>
              <a:t>= 5, and arrives at T</a:t>
            </a:r>
            <a:r>
              <a:rPr lang="zh-CN" altLang="en-US" dirty="0"/>
              <a:t> </a:t>
            </a:r>
            <a:r>
              <a:rPr lang="en-US" altLang="zh-CN" dirty="0"/>
              <a:t>at </a:t>
            </a:r>
            <a:r>
              <a:rPr lang="zh-CN" altLang="en-US" dirty="0"/>
              <a:t>𝑡 </a:t>
            </a:r>
            <a:r>
              <a:rPr lang="en-US" altLang="zh-CN" dirty="0"/>
              <a:t>= 5 + Prop Delay (10) = 15. </a:t>
            </a:r>
          </a:p>
          <a:p>
            <a:pPr lvl="1"/>
            <a:r>
              <a:rPr lang="en-US" altLang="zh-CN" dirty="0"/>
              <a:t>Payload 2′s last bit arrives at </a:t>
            </a:r>
            <a:r>
              <a:rPr lang="zh-CN" altLang="en-US" dirty="0"/>
              <a:t>𝑡 </a:t>
            </a:r>
            <a:r>
              <a:rPr lang="en-US" altLang="zh-CN" dirty="0"/>
              <a:t>= 4, so its first bit can be forwarded from E starting at </a:t>
            </a:r>
            <a:r>
              <a:rPr lang="zh-CN" altLang="en-US" dirty="0"/>
              <a:t>𝑡 </a:t>
            </a:r>
            <a:r>
              <a:rPr lang="en-US" altLang="zh-CN" dirty="0"/>
              <a:t>= 5, with queuing delay of 5-4 = 1.  The last bit is transmitted from E</a:t>
            </a:r>
            <a:r>
              <a:rPr lang="zh-CN" altLang="en-US" dirty="0"/>
              <a:t> </a:t>
            </a:r>
            <a:r>
              <a:rPr lang="en-US" altLang="zh-CN" dirty="0"/>
              <a:t>at </a:t>
            </a:r>
            <a:r>
              <a:rPr lang="zh-CN" altLang="en-US" dirty="0"/>
              <a:t>𝑡 </a:t>
            </a:r>
            <a:r>
              <a:rPr lang="en-US" altLang="zh-CN" dirty="0"/>
              <a:t>= 7, and arrives at T</a:t>
            </a:r>
            <a:r>
              <a:rPr lang="zh-CN" altLang="en-US" dirty="0"/>
              <a:t> </a:t>
            </a:r>
            <a:r>
              <a:rPr lang="en-US" altLang="zh-CN" dirty="0"/>
              <a:t>at </a:t>
            </a:r>
            <a:r>
              <a:rPr lang="zh-CN" altLang="en-US" dirty="0"/>
              <a:t>𝑡 </a:t>
            </a:r>
            <a:r>
              <a:rPr lang="en-US" altLang="zh-CN" dirty="0"/>
              <a:t>= 7+10 =17.</a:t>
            </a:r>
          </a:p>
          <a:p>
            <a:pPr lvl="1"/>
            <a:r>
              <a:rPr lang="en-US" altLang="zh-CN" dirty="0"/>
              <a:t>Time of sending of the first bit of each payload from E: 3, 5, 7,…</a:t>
            </a:r>
          </a:p>
          <a:p>
            <a:r>
              <a:rPr lang="en-US" altLang="zh-CN" dirty="0"/>
              <a:t>The queuing delay is the difference between the time of last bit arriving, and the time of first bit sending. It increases with each payload, since the queue builds up in size gradually, as Link 2 has a lower bandwidth than Link 1. Every second, backlog increases steadily → queue builds → delay grows</a:t>
            </a:r>
          </a:p>
          <a:p>
            <a:pPr lvl="1"/>
            <a:r>
              <a:rPr lang="en-US" altLang="zh-CN" dirty="0"/>
              <a:t>1 payload arrives (20 Gbps link)</a:t>
            </a:r>
          </a:p>
          <a:p>
            <a:pPr lvl="1"/>
            <a:r>
              <a:rPr lang="en-US" altLang="zh-CN" dirty="0"/>
              <a:t>But only 0.5 payload leaves (10 Gbps link)</a:t>
            </a:r>
            <a:endParaRPr lang="zh-CN" altLang="en-US" dirty="0"/>
          </a:p>
        </p:txBody>
      </p:sp>
      <p:pic>
        <p:nvPicPr>
          <p:cNvPr id="6" name="Picture 5" descr="The provided text appears to be a tabulated list of numbers, which could be interpreted as a sequence of events or values associated with a queuing system, such as delays, arrival times, or processing times, but without an accompanying image, it's not possible to describe any visual content.&#10;&#10;AI-generated content may be incorrect.">
            <a:extLst>
              <a:ext uri="{FF2B5EF4-FFF2-40B4-BE49-F238E27FC236}">
                <a16:creationId xmlns:a16="http://schemas.microsoft.com/office/drawing/2014/main" id="{995AF2CD-460E-D89C-CC78-B3B6252F2981}"/>
              </a:ext>
            </a:extLst>
          </p:cNvPr>
          <p:cNvPicPr>
            <a:picLocks noChangeAspect="1"/>
          </p:cNvPicPr>
          <p:nvPr/>
        </p:nvPicPr>
        <p:blipFill>
          <a:blip r:embed="rId4"/>
          <a:stretch>
            <a:fillRect/>
          </a:stretch>
        </p:blipFill>
        <p:spPr>
          <a:xfrm>
            <a:off x="7696200" y="2009539"/>
            <a:ext cx="4277322" cy="3372321"/>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286E33-128B-DB63-9962-A1077AF368D7}"/>
                  </a:ext>
                </a:extLst>
              </p:cNvPr>
              <p:cNvSpPr txBox="1"/>
              <p:nvPr/>
            </p:nvSpPr>
            <p:spPr>
              <a:xfrm>
                <a:off x="7513202" y="308838"/>
                <a:ext cx="4614443" cy="1624501"/>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nl-NL" altLang="zh-CN" sz="1400" dirty="0"/>
                  <a:t>For payload number </a:t>
                </a:r>
                <a14:m>
                  <m:oMath xmlns:m="http://schemas.openxmlformats.org/officeDocument/2006/math">
                    <m:r>
                      <a:rPr lang="zh-CN" altLang="nl-NL" sz="1400" i="1">
                        <a:latin typeface="Cambria Math" panose="02040503050406030204" pitchFamily="18" charset="0"/>
                      </a:rPr>
                      <m:t>𝑘</m:t>
                    </m:r>
                  </m:oMath>
                </a14:m>
                <a:r>
                  <a:rPr lang="nl-NL" altLang="zh-CN" sz="1400" dirty="0"/>
                  <a:t>:</a:t>
                </a:r>
              </a:p>
              <a:p>
                <a:pPr lvl="1"/>
                <a14:m>
                  <m:oMathPara xmlns:m="http://schemas.openxmlformats.org/officeDocument/2006/math">
                    <m:oMathParaPr>
                      <m:jc m:val="centerGroup"/>
                    </m:oMathParaPr>
                    <m:oMath xmlns:m="http://schemas.openxmlformats.org/officeDocument/2006/math">
                      <m:r>
                        <m:rPr>
                          <m:nor/>
                        </m:rPr>
                        <a:rPr lang="nl-NL" altLang="zh-CN" sz="1400" b="0"/>
                        <m:t>queueing</m:t>
                      </m:r>
                      <m:r>
                        <m:rPr>
                          <m:nor/>
                        </m:rPr>
                        <a:rPr lang="nl-NL" altLang="zh-CN" sz="1400" b="0" i="1"/>
                        <m:t> </m:t>
                      </m:r>
                      <m:r>
                        <m:rPr>
                          <m:nor/>
                        </m:rPr>
                        <a:rPr lang="nl-NL" altLang="zh-CN" sz="1400" b="0" i="1"/>
                        <m:t>delay</m:t>
                      </m:r>
                      <m:r>
                        <m:rPr>
                          <m:nor/>
                        </m:rPr>
                        <a:rPr lang="nl-NL" altLang="zh-CN" sz="1400" b="0" i="1"/>
                        <m:t> </m:t>
                      </m:r>
                      <m:r>
                        <m:rPr>
                          <m:nor/>
                        </m:rPr>
                        <a:rPr lang="nl-NL" altLang="zh-CN" sz="1400" b="0" i="1"/>
                        <m:t>at</m:t>
                      </m:r>
                      <m:r>
                        <m:rPr>
                          <m:nor/>
                        </m:rPr>
                        <a:rPr lang="nl-NL" altLang="zh-CN" sz="1400" b="0" i="1"/>
                        <m:t> </m:t>
                      </m:r>
                      <m:r>
                        <a:rPr lang="zh-CN" altLang="nl-NL" sz="1400" b="0" i="1">
                          <a:latin typeface="Cambria Math" panose="02040503050406030204" pitchFamily="18" charset="0"/>
                        </a:rPr>
                        <m:t>𝐸</m:t>
                      </m:r>
                      <m:r>
                        <a:rPr lang="nl-NL" altLang="zh-CN" sz="1400">
                          <a:latin typeface="Cambria Math" panose="02040503050406030204" pitchFamily="18" charset="0"/>
                        </a:rPr>
                        <m:t>=</m:t>
                      </m:r>
                      <m:d>
                        <m:dPr>
                          <m:ctrlPr>
                            <a:rPr lang="ar-AE" altLang="zh-CN" sz="1400" i="1">
                              <a:latin typeface="Cambria Math" panose="02040503050406030204" pitchFamily="18" charset="0"/>
                            </a:rPr>
                          </m:ctrlPr>
                        </m:dPr>
                        <m:e>
                          <m:r>
                            <a:rPr lang="ar-AE" altLang="zh-CN" sz="1400">
                              <a:latin typeface="Cambria Math" panose="02040503050406030204" pitchFamily="18" charset="0"/>
                            </a:rPr>
                            <m:t>2</m:t>
                          </m:r>
                          <m:r>
                            <a:rPr lang="zh-CN" altLang="ar-AE" sz="1400" i="1">
                              <a:latin typeface="Cambria Math" panose="02040503050406030204" pitchFamily="18" charset="0"/>
                            </a:rPr>
                            <m:t>𝑘</m:t>
                          </m:r>
                          <m:r>
                            <a:rPr lang="ar-AE" altLang="zh-CN" sz="1400">
                              <a:latin typeface="Cambria Math" panose="02040503050406030204" pitchFamily="18" charset="0"/>
                            </a:rPr>
                            <m:t>+</m:t>
                          </m:r>
                          <m:r>
                            <a:rPr lang="ar-AE" altLang="zh-CN" sz="1400">
                              <a:latin typeface="Cambria Math" panose="02040503050406030204" pitchFamily="18" charset="0"/>
                            </a:rPr>
                            <m:t>1</m:t>
                          </m:r>
                        </m:e>
                      </m:d>
                      <m:r>
                        <a:rPr lang="ar-AE" altLang="zh-CN" sz="1400">
                          <a:latin typeface="Cambria Math" panose="02040503050406030204" pitchFamily="18" charset="0"/>
                        </a:rPr>
                        <m:t>−</m:t>
                      </m:r>
                      <m:d>
                        <m:dPr>
                          <m:ctrlPr>
                            <a:rPr lang="ar-AE" altLang="zh-CN" sz="1400" i="1">
                              <a:latin typeface="Cambria Math" panose="02040503050406030204" pitchFamily="18" charset="0"/>
                            </a:rPr>
                          </m:ctrlPr>
                        </m:dPr>
                        <m:e>
                          <m:r>
                            <a:rPr lang="zh-CN" altLang="ar-AE" sz="1400" i="1">
                              <a:latin typeface="Cambria Math" panose="02040503050406030204" pitchFamily="18" charset="0"/>
                            </a:rPr>
                            <m:t>𝑘</m:t>
                          </m:r>
                          <m:r>
                            <a:rPr lang="ar-AE" altLang="zh-CN" sz="1400">
                              <a:latin typeface="Cambria Math" panose="02040503050406030204" pitchFamily="18" charset="0"/>
                            </a:rPr>
                            <m:t>+</m:t>
                          </m:r>
                          <m:r>
                            <a:rPr lang="ar-AE" altLang="zh-CN" sz="1400">
                              <a:latin typeface="Cambria Math" panose="02040503050406030204" pitchFamily="18" charset="0"/>
                            </a:rPr>
                            <m:t>2</m:t>
                          </m:r>
                        </m:e>
                      </m:d>
                      <m:r>
                        <a:rPr lang="ar-AE" altLang="zh-CN" sz="1400">
                          <a:latin typeface="Cambria Math" panose="02040503050406030204" pitchFamily="18" charset="0"/>
                        </a:rPr>
                        <m:t>=</m:t>
                      </m:r>
                      <m:r>
                        <a:rPr lang="zh-CN" altLang="ar-AE" sz="1400" i="1">
                          <a:latin typeface="Cambria Math" panose="02040503050406030204" pitchFamily="18" charset="0"/>
                        </a:rPr>
                        <m:t>𝑘</m:t>
                      </m:r>
                      <m:r>
                        <a:rPr lang="ar-AE" altLang="zh-CN" sz="1400">
                          <a:latin typeface="Cambria Math" panose="02040503050406030204" pitchFamily="18" charset="0"/>
                        </a:rPr>
                        <m:t>−</m:t>
                      </m:r>
                      <m:r>
                        <a:rPr lang="ar-AE" altLang="zh-CN" sz="1400">
                          <a:latin typeface="Cambria Math" panose="02040503050406030204" pitchFamily="18" charset="0"/>
                        </a:rPr>
                        <m:t>1</m:t>
                      </m:r>
                    </m:oMath>
                  </m:oMathPara>
                </a14:m>
                <a:endParaRPr lang="ar-AE" altLang="zh-CN" sz="1400" b="0" dirty="0"/>
              </a:p>
              <a:p>
                <a:pPr lvl="1"/>
                <a:r>
                  <a:rPr lang="nl-NL" altLang="zh-CN" sz="1400" dirty="0"/>
                  <a:t>So the delays are:</a:t>
                </a:r>
              </a:p>
              <a:p>
                <a:pPr lvl="1"/>
                <a14:m>
                  <m:oMath xmlns:m="http://schemas.openxmlformats.org/officeDocument/2006/math">
                    <m:r>
                      <a:rPr lang="nl-NL" altLang="zh-CN" sz="1400">
                        <a:latin typeface="Cambria Math" panose="02040503050406030204" pitchFamily="18" charset="0"/>
                      </a:rPr>
                      <m:t>0</m:t>
                    </m:r>
                    <m:r>
                      <a:rPr lang="nl-NL" altLang="zh-CN" sz="1400">
                        <a:latin typeface="Cambria Math" panose="02040503050406030204" pitchFamily="18" charset="0"/>
                      </a:rPr>
                      <m:t>,</m:t>
                    </m:r>
                    <m:r>
                      <a:rPr lang="nl-NL" altLang="zh-CN" sz="1400">
                        <a:latin typeface="Cambria Math" panose="02040503050406030204" pitchFamily="18" charset="0"/>
                      </a:rPr>
                      <m:t>1</m:t>
                    </m:r>
                    <m:r>
                      <a:rPr lang="nl-NL" altLang="zh-CN" sz="1400">
                        <a:latin typeface="Cambria Math" panose="02040503050406030204" pitchFamily="18" charset="0"/>
                      </a:rPr>
                      <m:t>,</m:t>
                    </m:r>
                    <m:r>
                      <a:rPr lang="nl-NL" altLang="zh-CN" sz="1400">
                        <a:latin typeface="Cambria Math" panose="02040503050406030204" pitchFamily="18" charset="0"/>
                      </a:rPr>
                      <m:t>2</m:t>
                    </m:r>
                    <m:r>
                      <a:rPr lang="nl-NL" altLang="zh-CN" sz="1400">
                        <a:latin typeface="Cambria Math" panose="02040503050406030204" pitchFamily="18" charset="0"/>
                      </a:rPr>
                      <m:t>,</m:t>
                    </m:r>
                    <m:r>
                      <a:rPr lang="nl-NL" altLang="zh-CN" sz="1400">
                        <a:latin typeface="Cambria Math" panose="02040503050406030204" pitchFamily="18" charset="0"/>
                      </a:rPr>
                      <m:t>3</m:t>
                    </m:r>
                    <m:r>
                      <a:rPr lang="nl-NL" altLang="zh-CN" sz="1400">
                        <a:latin typeface="Cambria Math" panose="02040503050406030204" pitchFamily="18" charset="0"/>
                      </a:rPr>
                      <m:t>,…,</m:t>
                    </m:r>
                    <m:r>
                      <a:rPr lang="nl-NL" altLang="zh-CN" sz="1400">
                        <a:latin typeface="Cambria Math" panose="02040503050406030204" pitchFamily="18" charset="0"/>
                      </a:rPr>
                      <m:t>9</m:t>
                    </m:r>
                  </m:oMath>
                </a14:m>
                <a:r>
                  <a:rPr lang="nl-NL" altLang="zh-CN" sz="1400" dirty="0"/>
                  <a:t>, for payloads </a:t>
                </a:r>
                <a14:m>
                  <m:oMath xmlns:m="http://schemas.openxmlformats.org/officeDocument/2006/math">
                    <m:r>
                      <a:rPr lang="nl-NL" altLang="zh-CN" sz="1400">
                        <a:latin typeface="Cambria Math" panose="02040503050406030204" pitchFamily="18" charset="0"/>
                      </a:rPr>
                      <m:t>1</m:t>
                    </m:r>
                    <m:r>
                      <a:rPr lang="en-US" altLang="zh-CN" sz="1400" b="0" i="0" smtClean="0">
                        <a:latin typeface="Cambria Math" panose="02040503050406030204" pitchFamily="18" charset="0"/>
                      </a:rPr>
                      <m:t> </m:t>
                    </m:r>
                  </m:oMath>
                </a14:m>
                <a:r>
                  <a:rPr lang="nl-NL" altLang="zh-CN" sz="1400" dirty="0"/>
                  <a:t>through </a:t>
                </a:r>
                <a14:m>
                  <m:oMath xmlns:m="http://schemas.openxmlformats.org/officeDocument/2006/math">
                    <m:r>
                      <a:rPr lang="nl-NL" altLang="zh-CN" sz="1400">
                        <a:latin typeface="Cambria Math" panose="02040503050406030204" pitchFamily="18" charset="0"/>
                      </a:rPr>
                      <m:t>10</m:t>
                    </m:r>
                  </m:oMath>
                </a14:m>
                <a:r>
                  <a:rPr lang="nl-NL" altLang="zh-CN" sz="1400" dirty="0"/>
                  <a:t>.</a:t>
                </a:r>
              </a:p>
              <a:p>
                <a:r>
                  <a:rPr lang="nl-NL" altLang="zh-CN" sz="1400" dirty="0"/>
                  <a:t>Packets arrive at </a:t>
                </a:r>
                <a14:m>
                  <m:oMath xmlns:m="http://schemas.openxmlformats.org/officeDocument/2006/math">
                    <m:r>
                      <a:rPr lang="zh-CN" altLang="nl-NL" sz="1400" i="1">
                        <a:latin typeface="Cambria Math" panose="02040503050406030204" pitchFamily="18" charset="0"/>
                      </a:rPr>
                      <m:t>𝐸</m:t>
                    </m:r>
                  </m:oMath>
                </a14:m>
                <a:r>
                  <a:rPr lang="nl-NL" altLang="zh-CN" sz="1400" dirty="0"/>
                  <a:t> every 1 second, but </a:t>
                </a:r>
                <a14:m>
                  <m:oMath xmlns:m="http://schemas.openxmlformats.org/officeDocument/2006/math">
                    <m:r>
                      <a:rPr lang="zh-CN" altLang="nl-NL" sz="1400" i="1">
                        <a:latin typeface="Cambria Math" panose="02040503050406030204" pitchFamily="18" charset="0"/>
                      </a:rPr>
                      <m:t>𝐸</m:t>
                    </m:r>
                  </m:oMath>
                </a14:m>
                <a:r>
                  <a:rPr lang="nl-NL" altLang="zh-CN" sz="1400" dirty="0"/>
                  <a:t> can only start sending one every 2 seconds, so the backlog grows by 1 second per packet.</a:t>
                </a:r>
                <a:endParaRPr lang="zh-CN" altLang="en-US" sz="1400" dirty="0"/>
              </a:p>
            </p:txBody>
          </p:sp>
        </mc:Choice>
        <mc:Fallback xmlns="">
          <p:sp>
            <p:nvSpPr>
              <p:cNvPr id="10" name="TextBox 9">
                <a:extLst>
                  <a:ext uri="{FF2B5EF4-FFF2-40B4-BE49-F238E27FC236}">
                    <a16:creationId xmlns:a16="http://schemas.microsoft.com/office/drawing/2014/main" id="{C6286E33-128B-DB63-9962-A1077AF368D7}"/>
                  </a:ext>
                </a:extLst>
              </p:cNvPr>
              <p:cNvSpPr txBox="1">
                <a:spLocks noRot="1" noChangeAspect="1" noMove="1" noResize="1" noEditPoints="1" noAdjustHandles="1" noChangeArrowheads="1" noChangeShapeType="1" noTextEdit="1"/>
              </p:cNvSpPr>
              <p:nvPr/>
            </p:nvSpPr>
            <p:spPr>
              <a:xfrm>
                <a:off x="7513202" y="308838"/>
                <a:ext cx="4614443" cy="1624501"/>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71524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927B0-2D9B-4671-75C4-62CB42000023}"/>
              </a:ext>
            </a:extLst>
          </p:cNvPr>
          <p:cNvSpPr>
            <a:spLocks noGrp="1"/>
          </p:cNvSpPr>
          <p:nvPr>
            <p:ph type="title"/>
          </p:nvPr>
        </p:nvSpPr>
        <p:spPr/>
        <p:txBody>
          <a:bodyPr/>
          <a:lstStyle/>
          <a:p>
            <a:r>
              <a:rPr lang="en-US" altLang="zh-CN" dirty="0"/>
              <a:t>Lecture 3 - Links Queuing Delays ANS</a:t>
            </a:r>
            <a:endParaRPr lang="zh-CN" altLang="en-US" dirty="0"/>
          </a:p>
        </p:txBody>
      </p:sp>
      <p:sp>
        <p:nvSpPr>
          <p:cNvPr id="3" name="Slide Number Placeholder 2">
            <a:extLst>
              <a:ext uri="{FF2B5EF4-FFF2-40B4-BE49-F238E27FC236}">
                <a16:creationId xmlns:a16="http://schemas.microsoft.com/office/drawing/2014/main" id="{B022CDB5-0DC1-2A82-F21C-CBABAAA787E0}"/>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a:extLst>
              <a:ext uri="{FF2B5EF4-FFF2-40B4-BE49-F238E27FC236}">
                <a16:creationId xmlns:a16="http://schemas.microsoft.com/office/drawing/2014/main" id="{852433A0-E01D-0482-6B3B-9C08BD51DDB9}"/>
              </a:ext>
            </a:extLst>
          </p:cNvPr>
          <p:cNvSpPr>
            <a:spLocks noGrp="1"/>
          </p:cNvSpPr>
          <p:nvPr>
            <p:ph sz="quarter" idx="1"/>
          </p:nvPr>
        </p:nvSpPr>
        <p:spPr>
          <a:xfrm>
            <a:off x="609600" y="1219200"/>
            <a:ext cx="6934200" cy="4937760"/>
          </a:xfrm>
        </p:spPr>
        <p:txBody>
          <a:bodyPr>
            <a:normAutofit/>
          </a:bodyPr>
          <a:lstStyle/>
          <a:p>
            <a:r>
              <a:rPr lang="en-US" altLang="zh-CN" dirty="0"/>
              <a:t>Q6 ANS:  When the first bit of a payload is sent out from </a:t>
            </a:r>
            <a:r>
              <a:rPr lang="zh-CN" altLang="en-US" dirty="0"/>
              <a:t>𝐸</a:t>
            </a:r>
            <a:r>
              <a:rPr lang="en-US" altLang="zh-CN" dirty="0"/>
              <a:t>, the last bit gets sent out 2 seconds later.  This is because Link 2 has bandwidth 10 Gbps, and the payload is 20 </a:t>
            </a:r>
            <a:r>
              <a:rPr lang="en-US" altLang="zh-CN" dirty="0" err="1"/>
              <a:t>Gbits</a:t>
            </a:r>
            <a:r>
              <a:rPr lang="en-US" altLang="zh-CN" dirty="0"/>
              <a:t>.</a:t>
            </a:r>
          </a:p>
          <a:p>
            <a:r>
              <a:rPr lang="en-US" altLang="zh-CN" dirty="0"/>
              <a:t>The last bit then takes another 10 seconds to arrive at </a:t>
            </a:r>
            <a:r>
              <a:rPr lang="zh-CN" altLang="en-US" dirty="0"/>
              <a:t>𝑇 </a:t>
            </a:r>
            <a:r>
              <a:rPr lang="en-US" altLang="zh-CN" dirty="0"/>
              <a:t>. This is the propagation delay of Link 2.</a:t>
            </a:r>
          </a:p>
          <a:p>
            <a:r>
              <a:rPr lang="en-US" altLang="zh-CN" dirty="0"/>
              <a:t>Thus, the time the last bit of a payload arrives at </a:t>
            </a:r>
            <a:r>
              <a:rPr lang="zh-CN" altLang="en-US" dirty="0"/>
              <a:t>𝑇 </a:t>
            </a:r>
            <a:r>
              <a:rPr lang="en-US" altLang="zh-CN" dirty="0"/>
              <a:t>is </a:t>
            </a:r>
            <a:r>
              <a:rPr lang="en-US" altLang="zh-CN" dirty="0">
                <a:solidFill>
                  <a:srgbClr val="C00000"/>
                </a:solidFill>
              </a:rPr>
              <a:t>12 seconds after the time the first bit is sent out of </a:t>
            </a:r>
            <a:r>
              <a:rPr lang="zh-CN" altLang="en-US" dirty="0">
                <a:solidFill>
                  <a:srgbClr val="C00000"/>
                </a:solidFill>
              </a:rPr>
              <a:t>𝐸</a:t>
            </a:r>
            <a:r>
              <a:rPr lang="en-US" altLang="zh-CN" dirty="0"/>
              <a:t>. </a:t>
            </a:r>
            <a:br>
              <a:rPr lang="en-US" altLang="zh-CN" dirty="0"/>
            </a:br>
            <a:endParaRPr lang="zh-CN" altLang="en-US" dirty="0"/>
          </a:p>
        </p:txBody>
      </p:sp>
      <p:pic>
        <p:nvPicPr>
          <p:cNvPr id="6" name="Picture 5" descr="The provided text appears to be a schedule or timetable indicating the time of arrival and sending times for payloads, with each payload numbered sequentially and the corresponding time listed in a tabular format.&#10;&#10;AI-generated content may be incorrect.">
            <a:extLst>
              <a:ext uri="{FF2B5EF4-FFF2-40B4-BE49-F238E27FC236}">
                <a16:creationId xmlns:a16="http://schemas.microsoft.com/office/drawing/2014/main" id="{7B398CF2-B5DB-2E8E-CE6C-43D32F86506A}"/>
              </a:ext>
            </a:extLst>
          </p:cNvPr>
          <p:cNvPicPr>
            <a:picLocks noChangeAspect="1"/>
          </p:cNvPicPr>
          <p:nvPr/>
        </p:nvPicPr>
        <p:blipFill>
          <a:blip r:embed="rId2"/>
          <a:stretch>
            <a:fillRect/>
          </a:stretch>
        </p:blipFill>
        <p:spPr>
          <a:xfrm>
            <a:off x="7620000" y="2133600"/>
            <a:ext cx="4315427" cy="3343742"/>
          </a:xfrm>
          <a:prstGeom prst="rect">
            <a:avLst/>
          </a:prstGeom>
        </p:spPr>
      </p:pic>
      <p:pic>
        <p:nvPicPr>
          <p:cNvPr id="7" name="Picture 6">
            <a:extLst>
              <a:ext uri="{FF2B5EF4-FFF2-40B4-BE49-F238E27FC236}">
                <a16:creationId xmlns:a16="http://schemas.microsoft.com/office/drawing/2014/main" id="{85438842-C3AF-4806-EDBA-438645A59F1F}"/>
              </a:ext>
            </a:extLst>
          </p:cNvPr>
          <p:cNvPicPr>
            <a:picLocks noChangeAspect="1"/>
          </p:cNvPicPr>
          <p:nvPr/>
        </p:nvPicPr>
        <p:blipFill>
          <a:blip r:embed="rId3"/>
          <a:stretch>
            <a:fillRect/>
          </a:stretch>
        </p:blipFill>
        <p:spPr>
          <a:xfrm>
            <a:off x="5430635" y="5798056"/>
            <a:ext cx="6697010" cy="924054"/>
          </a:xfrm>
          <a:prstGeom prst="rect">
            <a:avLst/>
          </a:prstGeom>
        </p:spPr>
      </p:pic>
    </p:spTree>
    <p:extLst>
      <p:ext uri="{BB962C8B-B14F-4D97-AF65-F5344CB8AC3E}">
        <p14:creationId xmlns:p14="http://schemas.microsoft.com/office/powerpoint/2010/main" val="1650916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F35F6-2F09-B518-7E8D-CD64C6A37170}"/>
              </a:ext>
            </a:extLst>
          </p:cNvPr>
          <p:cNvSpPr>
            <a:spLocks noGrp="1"/>
          </p:cNvSpPr>
          <p:nvPr>
            <p:ph type="title"/>
          </p:nvPr>
        </p:nvSpPr>
        <p:spPr/>
        <p:txBody>
          <a:bodyPr/>
          <a:lstStyle/>
          <a:p>
            <a:r>
              <a:rPr lang="en-US" altLang="zh-CN" dirty="0"/>
              <a:t>Lecture 3 - Links Queuing Delays ANS</a:t>
            </a:r>
            <a:endParaRPr lang="zh-CN" altLang="en-US" dirty="0"/>
          </a:p>
        </p:txBody>
      </p:sp>
      <p:sp>
        <p:nvSpPr>
          <p:cNvPr id="3" name="Slide Number Placeholder 2">
            <a:extLst>
              <a:ext uri="{FF2B5EF4-FFF2-40B4-BE49-F238E27FC236}">
                <a16:creationId xmlns:a16="http://schemas.microsoft.com/office/drawing/2014/main" id="{9431E2AF-89F9-A04A-85A4-EB194565F2F9}"/>
              </a:ext>
            </a:extLst>
          </p:cNvPr>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a:extLst>
              <a:ext uri="{FF2B5EF4-FFF2-40B4-BE49-F238E27FC236}">
                <a16:creationId xmlns:a16="http://schemas.microsoft.com/office/drawing/2014/main" id="{835E8B7E-477A-63DB-A385-4BE308270C6C}"/>
              </a:ext>
            </a:extLst>
          </p:cNvPr>
          <p:cNvSpPr>
            <a:spLocks noGrp="1"/>
          </p:cNvSpPr>
          <p:nvPr>
            <p:ph sz="quarter" idx="1"/>
          </p:nvPr>
        </p:nvSpPr>
        <p:spPr>
          <a:xfrm>
            <a:off x="609600" y="1219200"/>
            <a:ext cx="7391400" cy="4937760"/>
          </a:xfrm>
        </p:spPr>
        <p:txBody>
          <a:bodyPr>
            <a:normAutofit fontScale="92500" lnSpcReduction="10000"/>
          </a:bodyPr>
          <a:lstStyle/>
          <a:p>
            <a:r>
              <a:rPr lang="en-US" altLang="zh-CN" dirty="0">
                <a:solidFill>
                  <a:srgbClr val="C00000"/>
                </a:solidFill>
              </a:rPr>
              <a:t>New Setup: </a:t>
            </a:r>
            <a:r>
              <a:rPr lang="en-US" altLang="zh-CN" dirty="0"/>
              <a:t>Starting at </a:t>
            </a:r>
            <a:r>
              <a:rPr lang="zh-CN" altLang="en-US" dirty="0"/>
              <a:t>𝑡 </a:t>
            </a:r>
            <a:r>
              <a:rPr lang="en-US" altLang="zh-CN" dirty="0"/>
              <a:t>= 0, </a:t>
            </a:r>
            <a:r>
              <a:rPr lang="en-US" altLang="zh-CN" i="1" dirty="0"/>
              <a:t>H</a:t>
            </a:r>
            <a:r>
              <a:rPr lang="en-US" altLang="zh-CN" dirty="0"/>
              <a:t> sends an endless stream of data, at constant rate 20 Gbps</a:t>
            </a:r>
            <a:r>
              <a:rPr lang="zh-CN" altLang="en-US" dirty="0"/>
              <a:t> </a:t>
            </a:r>
            <a:r>
              <a:rPr lang="en-US" altLang="zh-CN" dirty="0"/>
              <a:t>to </a:t>
            </a:r>
            <a:r>
              <a:rPr lang="zh-CN" altLang="en-US" dirty="0"/>
              <a:t>𝑇</a:t>
            </a:r>
            <a:r>
              <a:rPr lang="en-US" altLang="zh-CN" dirty="0"/>
              <a:t>.  At </a:t>
            </a:r>
            <a:r>
              <a:rPr lang="zh-CN" altLang="en-US" dirty="0"/>
              <a:t>𝐸</a:t>
            </a:r>
            <a:r>
              <a:rPr lang="en-US" altLang="zh-CN" dirty="0"/>
              <a:t>, each bit can be forwarded independently of other bits.</a:t>
            </a:r>
          </a:p>
          <a:p>
            <a:r>
              <a:rPr lang="en-US" altLang="zh-CN" dirty="0"/>
              <a:t>Q7 Link 2 has a constant bandwidth of 15 Gbps.  How does the queue size grow with time?</a:t>
            </a:r>
          </a:p>
          <a:p>
            <a:r>
              <a:rPr lang="en-US" altLang="zh-CN" dirty="0"/>
              <a:t>ANS:  The first bit is sent at </a:t>
            </a:r>
            <a:r>
              <a:rPr lang="zh-CN" altLang="en-US" dirty="0"/>
              <a:t>𝑡 </a:t>
            </a:r>
            <a:r>
              <a:rPr lang="en-US" altLang="zh-CN" dirty="0"/>
              <a:t>= 0, and arrives at </a:t>
            </a:r>
            <a:r>
              <a:rPr lang="zh-CN" altLang="en-US" dirty="0"/>
              <a:t>𝐸 </a:t>
            </a:r>
            <a:r>
              <a:rPr lang="en-US" altLang="zh-CN" dirty="0"/>
              <a:t>at </a:t>
            </a:r>
            <a:r>
              <a:rPr lang="zh-CN" altLang="en-US" dirty="0"/>
              <a:t>𝑡 </a:t>
            </a:r>
            <a:r>
              <a:rPr lang="en-US" altLang="zh-CN" dirty="0"/>
              <a:t>= 2,  after 2-second propagation delay of Link 1.  This means that from </a:t>
            </a:r>
            <a:r>
              <a:rPr lang="zh-CN" altLang="en-US" dirty="0"/>
              <a:t>𝑡 </a:t>
            </a:r>
            <a:r>
              <a:rPr lang="en-US" altLang="zh-CN" dirty="0"/>
              <a:t>= 0 to </a:t>
            </a:r>
            <a:r>
              <a:rPr lang="zh-CN" altLang="en-US" dirty="0"/>
              <a:t>𝑡 </a:t>
            </a:r>
            <a:r>
              <a:rPr lang="en-US" altLang="zh-CN" dirty="0"/>
              <a:t>= 2, no data arrives at </a:t>
            </a:r>
            <a:r>
              <a:rPr lang="zh-CN" altLang="en-US" dirty="0"/>
              <a:t>𝐸</a:t>
            </a:r>
            <a:r>
              <a:rPr lang="en-US" altLang="zh-CN" dirty="0"/>
              <a:t>, so there is no queue.</a:t>
            </a:r>
          </a:p>
          <a:p>
            <a:r>
              <a:rPr lang="en-US" altLang="zh-CN" dirty="0"/>
              <a:t>Starting at </a:t>
            </a:r>
            <a:r>
              <a:rPr lang="zh-CN" altLang="en-US" dirty="0"/>
              <a:t>𝑡 </a:t>
            </a:r>
            <a:r>
              <a:rPr lang="en-US" altLang="zh-CN" dirty="0"/>
              <a:t>= 2, a steady stream of 20 Gbps is arriving at </a:t>
            </a:r>
            <a:r>
              <a:rPr lang="zh-CN" altLang="en-US" dirty="0"/>
              <a:t>𝐸</a:t>
            </a:r>
            <a:r>
              <a:rPr lang="en-US" altLang="zh-CN" dirty="0"/>
              <a:t>, and a steady stream of 15 Gbps is leaving </a:t>
            </a:r>
            <a:r>
              <a:rPr lang="zh-CN" altLang="en-US" dirty="0"/>
              <a:t>𝐸</a:t>
            </a:r>
            <a:r>
              <a:rPr lang="en-US" altLang="zh-CN" dirty="0"/>
              <a:t>.  This means that every second, 20 </a:t>
            </a:r>
            <a:r>
              <a:rPr lang="en-US" altLang="zh-CN" dirty="0" err="1"/>
              <a:t>Gbits</a:t>
            </a:r>
            <a:r>
              <a:rPr lang="en-US" altLang="zh-CN" dirty="0"/>
              <a:t> enter and 15 </a:t>
            </a:r>
            <a:r>
              <a:rPr lang="en-US" altLang="zh-CN" dirty="0" err="1"/>
              <a:t>Gbits</a:t>
            </a:r>
            <a:r>
              <a:rPr lang="en-US" altLang="zh-CN" dirty="0"/>
              <a:t> leave. This leaves 20 − 15 = 5 </a:t>
            </a:r>
            <a:r>
              <a:rPr lang="en-US" altLang="zh-CN" dirty="0" err="1"/>
              <a:t>Gbits</a:t>
            </a:r>
            <a:r>
              <a:rPr lang="en-US" altLang="zh-CN" dirty="0"/>
              <a:t>, which get added to the queue in every second.</a:t>
            </a:r>
            <a:endParaRPr lang="zh-CN" altLang="en-US" dirty="0"/>
          </a:p>
        </p:txBody>
      </p:sp>
      <p:pic>
        <p:nvPicPr>
          <p:cNvPr id="6" name="Picture 5" descr="The image illustrates a diagram showing two links (Link 1 and Link 2), a propagation delay of 2 seconds and 10 seconds respectively, and a bandwidth of 20 Gbps, with annotations indicating further subdivisions.&#10;&#10;AI-generated content may be incorrect.">
            <a:extLst>
              <a:ext uri="{FF2B5EF4-FFF2-40B4-BE49-F238E27FC236}">
                <a16:creationId xmlns:a16="http://schemas.microsoft.com/office/drawing/2014/main" id="{B429C39B-9AB3-DCDD-2A99-2BE39FE64E66}"/>
              </a:ext>
            </a:extLst>
          </p:cNvPr>
          <p:cNvPicPr>
            <a:picLocks noChangeAspect="1"/>
          </p:cNvPicPr>
          <p:nvPr/>
        </p:nvPicPr>
        <p:blipFill>
          <a:blip r:embed="rId2"/>
          <a:stretch>
            <a:fillRect/>
          </a:stretch>
        </p:blipFill>
        <p:spPr>
          <a:xfrm>
            <a:off x="4914469" y="5748055"/>
            <a:ext cx="6944694" cy="943107"/>
          </a:xfrm>
          <a:prstGeom prst="rect">
            <a:avLst/>
          </a:prstGeom>
        </p:spPr>
      </p:pic>
      <p:pic>
        <p:nvPicPr>
          <p:cNvPr id="8" name="Picture 7" descr="The image is a graph showing a queue size (in gigabits) plotted against time (in seconds), with values at intervals of 10 seconds.&#10;&#10;AI-generated content may be incorrect.">
            <a:extLst>
              <a:ext uri="{FF2B5EF4-FFF2-40B4-BE49-F238E27FC236}">
                <a16:creationId xmlns:a16="http://schemas.microsoft.com/office/drawing/2014/main" id="{20D52324-FC7E-747F-EAA7-9D705E42C117}"/>
              </a:ext>
            </a:extLst>
          </p:cNvPr>
          <p:cNvPicPr>
            <a:picLocks noChangeAspect="1"/>
          </p:cNvPicPr>
          <p:nvPr/>
        </p:nvPicPr>
        <p:blipFill>
          <a:blip r:embed="rId3"/>
          <a:stretch>
            <a:fillRect/>
          </a:stretch>
        </p:blipFill>
        <p:spPr>
          <a:xfrm>
            <a:off x="8001000" y="2161505"/>
            <a:ext cx="3858163" cy="3134162"/>
          </a:xfrm>
          <a:prstGeom prst="rect">
            <a:avLst/>
          </a:prstGeom>
        </p:spPr>
      </p:pic>
    </p:spTree>
    <p:extLst>
      <p:ext uri="{BB962C8B-B14F-4D97-AF65-F5344CB8AC3E}">
        <p14:creationId xmlns:p14="http://schemas.microsoft.com/office/powerpoint/2010/main" val="4234736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E44B1-43BD-800B-2E5E-290DCC0A0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1BF2A-CB61-36DB-2B4E-C2379E77684F}"/>
              </a:ext>
            </a:extLst>
          </p:cNvPr>
          <p:cNvSpPr>
            <a:spLocks noGrp="1"/>
          </p:cNvSpPr>
          <p:nvPr>
            <p:ph type="title"/>
          </p:nvPr>
        </p:nvSpPr>
        <p:spPr/>
        <p:txBody>
          <a:bodyPr/>
          <a:lstStyle/>
          <a:p>
            <a:r>
              <a:rPr lang="en-US" altLang="zh-CN" dirty="0"/>
              <a:t>Lecture 3 - Links Queuing Delays ANS</a:t>
            </a:r>
            <a:endParaRPr lang="zh-CN" altLang="en-US" dirty="0"/>
          </a:p>
        </p:txBody>
      </p:sp>
      <p:sp>
        <p:nvSpPr>
          <p:cNvPr id="3" name="Slide Number Placeholder 2">
            <a:extLst>
              <a:ext uri="{FF2B5EF4-FFF2-40B4-BE49-F238E27FC236}">
                <a16:creationId xmlns:a16="http://schemas.microsoft.com/office/drawing/2014/main" id="{B35D0E6F-37FB-0ADE-488F-ECF5444640A3}"/>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a:extLst>
              <a:ext uri="{FF2B5EF4-FFF2-40B4-BE49-F238E27FC236}">
                <a16:creationId xmlns:a16="http://schemas.microsoft.com/office/drawing/2014/main" id="{605155A4-DC05-9C01-C94F-BB734C35CCD1}"/>
              </a:ext>
            </a:extLst>
          </p:cNvPr>
          <p:cNvSpPr>
            <a:spLocks noGrp="1"/>
          </p:cNvSpPr>
          <p:nvPr>
            <p:ph sz="quarter" idx="1"/>
          </p:nvPr>
        </p:nvSpPr>
        <p:spPr>
          <a:xfrm>
            <a:off x="609600" y="1219200"/>
            <a:ext cx="7391400" cy="4876800"/>
          </a:xfrm>
        </p:spPr>
        <p:txBody>
          <a:bodyPr>
            <a:normAutofit fontScale="70000" lnSpcReduction="20000"/>
          </a:bodyPr>
          <a:lstStyle/>
          <a:p>
            <a:r>
              <a:rPr lang="en-US" altLang="zh-CN" dirty="0">
                <a:solidFill>
                  <a:srgbClr val="C00000"/>
                </a:solidFill>
              </a:rPr>
              <a:t>New Setup: </a:t>
            </a:r>
            <a:r>
              <a:rPr lang="en-US" altLang="zh-CN" dirty="0"/>
              <a:t>Starting at </a:t>
            </a:r>
            <a:r>
              <a:rPr lang="zh-CN" altLang="en-US" dirty="0"/>
              <a:t>𝑡 </a:t>
            </a:r>
            <a:r>
              <a:rPr lang="en-US" altLang="zh-CN" dirty="0"/>
              <a:t>= 0, </a:t>
            </a:r>
            <a:r>
              <a:rPr lang="en-US" altLang="zh-CN" i="1" dirty="0"/>
              <a:t>H</a:t>
            </a:r>
            <a:r>
              <a:rPr lang="en-US" altLang="zh-CN" dirty="0"/>
              <a:t> sends an endless stream of data, at constant rate 20 Gbps</a:t>
            </a:r>
            <a:r>
              <a:rPr lang="zh-CN" altLang="en-US" dirty="0"/>
              <a:t> </a:t>
            </a:r>
            <a:r>
              <a:rPr lang="en-US" altLang="zh-CN" dirty="0"/>
              <a:t>to </a:t>
            </a:r>
            <a:r>
              <a:rPr lang="zh-CN" altLang="en-US" dirty="0"/>
              <a:t>𝑇</a:t>
            </a:r>
            <a:r>
              <a:rPr lang="en-US" altLang="zh-CN" dirty="0"/>
              <a:t>.  At </a:t>
            </a:r>
            <a:r>
              <a:rPr lang="zh-CN" altLang="en-US" dirty="0"/>
              <a:t>𝐸</a:t>
            </a:r>
            <a:r>
              <a:rPr lang="en-US" altLang="zh-CN" dirty="0"/>
              <a:t>, each bit can be forwarded independently of other bits.</a:t>
            </a:r>
          </a:p>
          <a:p>
            <a:r>
              <a:rPr lang="en-US" altLang="zh-CN" dirty="0"/>
              <a:t>Q8 Bandwidth of Link 2 alternates forever between 60 and 0 Gbps, changing every 2 seconds: From </a:t>
            </a:r>
            <a:r>
              <a:rPr lang="zh-CN" altLang="en-US" dirty="0"/>
              <a:t>𝑡 </a:t>
            </a:r>
            <a:r>
              <a:rPr lang="en-US" altLang="zh-CN" dirty="0"/>
              <a:t>= 0 to </a:t>
            </a:r>
            <a:r>
              <a:rPr lang="zh-CN" altLang="en-US" dirty="0"/>
              <a:t>𝑡 </a:t>
            </a:r>
            <a:r>
              <a:rPr lang="en-US" altLang="zh-CN" dirty="0"/>
              <a:t>= 2, the bandwidth is 60 Gbps. From </a:t>
            </a:r>
            <a:r>
              <a:rPr lang="zh-CN" altLang="en-US" dirty="0"/>
              <a:t>𝑡 </a:t>
            </a:r>
            <a:r>
              <a:rPr lang="en-US" altLang="zh-CN" dirty="0"/>
              <a:t>= 2 to </a:t>
            </a:r>
            <a:r>
              <a:rPr lang="zh-CN" altLang="en-US" dirty="0"/>
              <a:t>𝑡 </a:t>
            </a:r>
            <a:r>
              <a:rPr lang="en-US" altLang="zh-CN" dirty="0"/>
              <a:t>= 4, the bandwidth is 0 Gbps, and so on.</a:t>
            </a:r>
          </a:p>
          <a:p>
            <a:r>
              <a:rPr lang="en-US" altLang="zh-CN" dirty="0"/>
              <a:t>How does the queue size grow with time?</a:t>
            </a:r>
          </a:p>
          <a:p>
            <a:r>
              <a:rPr lang="en-US" altLang="zh-CN" dirty="0"/>
              <a:t>ANS:  queue change rate (slope) = Link 1 bandwidth (arrival rate) –  Link 2 bandwidth (departure rate)</a:t>
            </a:r>
          </a:p>
          <a:p>
            <a:pPr lvl="1"/>
            <a:r>
              <a:rPr lang="en-US" altLang="zh-CN" dirty="0"/>
              <a:t>Holds true when queue is not empty.</a:t>
            </a:r>
          </a:p>
          <a:p>
            <a:pPr lvl="1"/>
            <a:r>
              <a:rPr lang="en-US" altLang="zh-CN" dirty="0"/>
              <a:t>When queue is empty, queue slope = max(0, Link 1 bandwidth – Link 2 bandwidth) since queue size cannot be negative.</a:t>
            </a:r>
          </a:p>
          <a:p>
            <a:r>
              <a:rPr lang="en-US" altLang="zh-CN" dirty="0"/>
              <a:t>From </a:t>
            </a:r>
            <a:r>
              <a:rPr lang="zh-CN" altLang="en-US" dirty="0"/>
              <a:t>𝑡 </a:t>
            </a:r>
            <a:r>
              <a:rPr lang="en-US" altLang="zh-CN" dirty="0"/>
              <a:t>= 0 to </a:t>
            </a:r>
            <a:r>
              <a:rPr lang="zh-CN" altLang="en-US" dirty="0"/>
              <a:t>𝑡 </a:t>
            </a:r>
            <a:r>
              <a:rPr lang="en-US" altLang="zh-CN" dirty="0"/>
              <a:t>= 2, no data arrives at </a:t>
            </a:r>
            <a:r>
              <a:rPr lang="zh-CN" altLang="en-US" dirty="0"/>
              <a:t>𝐸</a:t>
            </a:r>
            <a:r>
              <a:rPr lang="en-US" altLang="zh-CN" dirty="0"/>
              <a:t>, so there is no queue.</a:t>
            </a:r>
          </a:p>
          <a:p>
            <a:r>
              <a:rPr lang="en-US" altLang="zh-CN" dirty="0"/>
              <a:t>From </a:t>
            </a:r>
            <a:r>
              <a:rPr lang="zh-CN" altLang="en-US" dirty="0"/>
              <a:t>𝑡 </a:t>
            </a:r>
            <a:r>
              <a:rPr lang="en-US" altLang="zh-CN" dirty="0"/>
              <a:t>= 2 to </a:t>
            </a:r>
            <a:r>
              <a:rPr lang="zh-CN" altLang="en-US" dirty="0"/>
              <a:t>𝑡 </a:t>
            </a:r>
            <a:r>
              <a:rPr lang="en-US" altLang="zh-CN" dirty="0"/>
              <a:t>= 4, a steady stream of 20 Gbps is arriving at </a:t>
            </a:r>
            <a:r>
              <a:rPr lang="zh-CN" altLang="en-US" dirty="0"/>
              <a:t>𝐸</a:t>
            </a:r>
            <a:r>
              <a:rPr lang="en-US" altLang="zh-CN" dirty="0"/>
              <a:t>, and 0 Gbps is leaving </a:t>
            </a:r>
            <a:r>
              <a:rPr lang="zh-CN" altLang="en-US" dirty="0"/>
              <a:t>𝐸</a:t>
            </a:r>
            <a:r>
              <a:rPr lang="en-US" altLang="zh-CN" dirty="0"/>
              <a:t>. queue change rate = 20 – 0 = 20. This means that every second, 20 </a:t>
            </a:r>
            <a:r>
              <a:rPr lang="en-US" altLang="zh-CN" dirty="0" err="1"/>
              <a:t>Gbits</a:t>
            </a:r>
            <a:r>
              <a:rPr lang="en-US" altLang="zh-CN" dirty="0"/>
              <a:t> get added to the queue.</a:t>
            </a:r>
            <a:endParaRPr lang="zh-CN" altLang="en-US" dirty="0"/>
          </a:p>
          <a:p>
            <a:r>
              <a:rPr lang="en-US" altLang="zh-CN" dirty="0"/>
              <a:t>From </a:t>
            </a:r>
            <a:r>
              <a:rPr lang="zh-CN" altLang="en-US" dirty="0"/>
              <a:t>𝑡 </a:t>
            </a:r>
            <a:r>
              <a:rPr lang="en-US" altLang="zh-CN" dirty="0"/>
              <a:t>= 4 to </a:t>
            </a:r>
            <a:r>
              <a:rPr lang="zh-CN" altLang="en-US" dirty="0"/>
              <a:t>𝑡 </a:t>
            </a:r>
            <a:r>
              <a:rPr lang="en-US" altLang="zh-CN" dirty="0"/>
              <a:t>= 6, a steady stream of 20 Gbps is arriving at </a:t>
            </a:r>
            <a:r>
              <a:rPr lang="zh-CN" altLang="en-US" dirty="0"/>
              <a:t>𝐸</a:t>
            </a:r>
            <a:r>
              <a:rPr lang="en-US" altLang="zh-CN" dirty="0"/>
              <a:t>, and 60 Gbps is leaving </a:t>
            </a:r>
            <a:r>
              <a:rPr lang="zh-CN" altLang="en-US" dirty="0"/>
              <a:t>𝐸</a:t>
            </a:r>
            <a:r>
              <a:rPr lang="en-US" altLang="zh-CN" dirty="0"/>
              <a:t>. queue change rate = 20 – 60 = -40. This means that every second, 40 </a:t>
            </a:r>
            <a:r>
              <a:rPr lang="en-US" altLang="zh-CN" dirty="0" err="1"/>
              <a:t>Gbits</a:t>
            </a:r>
            <a:r>
              <a:rPr lang="en-US" altLang="zh-CN" dirty="0"/>
              <a:t> get removed from the queue.</a:t>
            </a:r>
            <a:endParaRPr lang="zh-CN" altLang="en-US" dirty="0"/>
          </a:p>
          <a:p>
            <a:endParaRPr lang="zh-CN" altLang="en-US" dirty="0"/>
          </a:p>
          <a:p>
            <a:endParaRPr lang="en-US" altLang="zh-CN" dirty="0"/>
          </a:p>
        </p:txBody>
      </p:sp>
      <p:pic>
        <p:nvPicPr>
          <p:cNvPr id="6" name="Picture 5" descr="The image illustrates a diagram showing two links (Link 1 and Link 2), a propagation delay of 2 seconds and 10 seconds respectively, and a bandwidth of 20 Gbps, with annotations indicating further subdivisions.&#10;&#10;AI-generated content may be incorrect.">
            <a:extLst>
              <a:ext uri="{FF2B5EF4-FFF2-40B4-BE49-F238E27FC236}">
                <a16:creationId xmlns:a16="http://schemas.microsoft.com/office/drawing/2014/main" id="{56160479-D6CD-E9AB-8919-31903487FD37}"/>
              </a:ext>
            </a:extLst>
          </p:cNvPr>
          <p:cNvPicPr>
            <a:picLocks noChangeAspect="1"/>
          </p:cNvPicPr>
          <p:nvPr/>
        </p:nvPicPr>
        <p:blipFill>
          <a:blip r:embed="rId2"/>
          <a:stretch>
            <a:fillRect/>
          </a:stretch>
        </p:blipFill>
        <p:spPr>
          <a:xfrm>
            <a:off x="4951366" y="5884796"/>
            <a:ext cx="6944694" cy="943107"/>
          </a:xfrm>
          <a:prstGeom prst="rect">
            <a:avLst/>
          </a:prstGeom>
        </p:spPr>
      </p:pic>
      <p:pic>
        <p:nvPicPr>
          <p:cNvPr id="8" name="Picture 7">
            <a:extLst>
              <a:ext uri="{FF2B5EF4-FFF2-40B4-BE49-F238E27FC236}">
                <a16:creationId xmlns:a16="http://schemas.microsoft.com/office/drawing/2014/main" id="{E3CC8FC6-121A-085E-B301-4BAC70A2F57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10625" y="2133439"/>
            <a:ext cx="3858163" cy="3109281"/>
          </a:xfrm>
          <a:prstGeom prst="rect">
            <a:avLst/>
          </a:prstGeom>
        </p:spPr>
      </p:pic>
    </p:spTree>
    <p:extLst>
      <p:ext uri="{BB962C8B-B14F-4D97-AF65-F5344CB8AC3E}">
        <p14:creationId xmlns:p14="http://schemas.microsoft.com/office/powerpoint/2010/main" val="3698580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011D0-0CE0-1570-71B3-F4818613B5EC}"/>
            </a:ext>
          </a:extLst>
        </p:cNvPr>
        <p:cNvGrpSpPr/>
        <p:nvPr/>
      </p:nvGrpSpPr>
      <p:grpSpPr>
        <a:xfrm>
          <a:off x="0" y="0"/>
          <a:ext cx="0" cy="0"/>
          <a:chOff x="0" y="0"/>
          <a:chExt cx="0" cy="0"/>
        </a:xfrm>
      </p:grpSpPr>
      <p:pic>
        <p:nvPicPr>
          <p:cNvPr id="6" name="Picture 5" descr="The image illustrates a diagram showing two links (Link 1 and Link 2), a propagation delay of 2 seconds and 10 seconds respectively, and a bandwidth of 20 Gbps, with annotations indicating further subdivisions.&#10;&#10;AI-generated content may be incorrect.">
            <a:extLst>
              <a:ext uri="{FF2B5EF4-FFF2-40B4-BE49-F238E27FC236}">
                <a16:creationId xmlns:a16="http://schemas.microsoft.com/office/drawing/2014/main" id="{ACFC414A-165B-0052-67E3-9ADB6A6C1AD5}"/>
              </a:ext>
            </a:extLst>
          </p:cNvPr>
          <p:cNvPicPr>
            <a:picLocks noChangeAspect="1"/>
          </p:cNvPicPr>
          <p:nvPr/>
        </p:nvPicPr>
        <p:blipFill>
          <a:blip r:embed="rId3"/>
          <a:stretch>
            <a:fillRect/>
          </a:stretch>
        </p:blipFill>
        <p:spPr>
          <a:xfrm>
            <a:off x="4951366" y="5686293"/>
            <a:ext cx="6944694" cy="943107"/>
          </a:xfrm>
          <a:prstGeom prst="rect">
            <a:avLst/>
          </a:prstGeom>
        </p:spPr>
      </p:pic>
      <p:pic>
        <p:nvPicPr>
          <p:cNvPr id="5" name="Picture 4">
            <a:extLst>
              <a:ext uri="{FF2B5EF4-FFF2-40B4-BE49-F238E27FC236}">
                <a16:creationId xmlns:a16="http://schemas.microsoft.com/office/drawing/2014/main" id="{6793AC55-20A3-236A-4447-9C12D247416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608239" y="1630298"/>
            <a:ext cx="5384739" cy="1979574"/>
          </a:xfrm>
          <a:prstGeom prst="rect">
            <a:avLst/>
          </a:prstGeom>
        </p:spPr>
      </p:pic>
      <p:sp>
        <p:nvSpPr>
          <p:cNvPr id="2" name="Title 1">
            <a:extLst>
              <a:ext uri="{FF2B5EF4-FFF2-40B4-BE49-F238E27FC236}">
                <a16:creationId xmlns:a16="http://schemas.microsoft.com/office/drawing/2014/main" id="{EE481A31-2568-7387-D8A7-2AD31D393FCD}"/>
              </a:ext>
            </a:extLst>
          </p:cNvPr>
          <p:cNvSpPr>
            <a:spLocks noGrp="1"/>
          </p:cNvSpPr>
          <p:nvPr>
            <p:ph type="title"/>
          </p:nvPr>
        </p:nvSpPr>
        <p:spPr/>
        <p:txBody>
          <a:bodyPr/>
          <a:lstStyle/>
          <a:p>
            <a:r>
              <a:rPr lang="en-US" altLang="zh-CN" dirty="0"/>
              <a:t>Lecture 3 - Links Queuing Delays ANS</a:t>
            </a:r>
            <a:endParaRPr lang="zh-CN" altLang="en-US" dirty="0"/>
          </a:p>
        </p:txBody>
      </p:sp>
      <p:sp>
        <p:nvSpPr>
          <p:cNvPr id="3" name="Slide Number Placeholder 2">
            <a:extLst>
              <a:ext uri="{FF2B5EF4-FFF2-40B4-BE49-F238E27FC236}">
                <a16:creationId xmlns:a16="http://schemas.microsoft.com/office/drawing/2014/main" id="{7808DD4A-6750-7C92-CA58-AE5F0341C43B}"/>
              </a:ext>
            </a:extLst>
          </p:cNvPr>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a:extLst>
              <a:ext uri="{FF2B5EF4-FFF2-40B4-BE49-F238E27FC236}">
                <a16:creationId xmlns:a16="http://schemas.microsoft.com/office/drawing/2014/main" id="{5C7864E7-E858-39D6-648E-1BD80922A9C9}"/>
              </a:ext>
            </a:extLst>
          </p:cNvPr>
          <p:cNvSpPr>
            <a:spLocks noGrp="1"/>
          </p:cNvSpPr>
          <p:nvPr>
            <p:ph sz="quarter" idx="1"/>
          </p:nvPr>
        </p:nvSpPr>
        <p:spPr>
          <a:xfrm>
            <a:off x="609600" y="1219200"/>
            <a:ext cx="5998639" cy="5257800"/>
          </a:xfrm>
        </p:spPr>
        <p:txBody>
          <a:bodyPr>
            <a:normAutofit fontScale="62500" lnSpcReduction="20000"/>
          </a:bodyPr>
          <a:lstStyle/>
          <a:p>
            <a:r>
              <a:rPr lang="en-US" altLang="zh-CN" dirty="0">
                <a:solidFill>
                  <a:srgbClr val="C00000"/>
                </a:solidFill>
              </a:rPr>
              <a:t>New Setup: </a:t>
            </a:r>
            <a:r>
              <a:rPr lang="en-US" altLang="zh-CN" dirty="0"/>
              <a:t>Starting at </a:t>
            </a:r>
            <a:r>
              <a:rPr lang="zh-CN" altLang="en-US" dirty="0"/>
              <a:t>𝑡 </a:t>
            </a:r>
            <a:r>
              <a:rPr lang="en-US" altLang="zh-CN" dirty="0"/>
              <a:t>= 0, </a:t>
            </a:r>
            <a:r>
              <a:rPr lang="en-US" altLang="zh-CN" i="1" dirty="0"/>
              <a:t>H</a:t>
            </a:r>
            <a:r>
              <a:rPr lang="en-US" altLang="zh-CN" dirty="0"/>
              <a:t> sends an endless stream of data, at constant rate 20 Gbps</a:t>
            </a:r>
            <a:r>
              <a:rPr lang="zh-CN" altLang="en-US" dirty="0"/>
              <a:t> </a:t>
            </a:r>
            <a:r>
              <a:rPr lang="en-US" altLang="zh-CN" dirty="0"/>
              <a:t>to </a:t>
            </a:r>
            <a:r>
              <a:rPr lang="zh-CN" altLang="en-US" dirty="0"/>
              <a:t>𝑇</a:t>
            </a:r>
            <a:r>
              <a:rPr lang="en-US" altLang="zh-CN" dirty="0"/>
              <a:t>.  At </a:t>
            </a:r>
            <a:r>
              <a:rPr lang="zh-CN" altLang="en-US" dirty="0"/>
              <a:t>𝐸</a:t>
            </a:r>
            <a:r>
              <a:rPr lang="en-US" altLang="zh-CN" dirty="0"/>
              <a:t>, each bit can be forwarded independently of other bits.</a:t>
            </a:r>
          </a:p>
          <a:p>
            <a:r>
              <a:rPr lang="en-US" altLang="zh-CN" dirty="0"/>
              <a:t>Q9 Bandwidth of Link 2 now changes in an unknown pattern. Use the graph to determine the bandwidth of Link 2 at the following times.</a:t>
            </a:r>
          </a:p>
          <a:p>
            <a:r>
              <a:rPr lang="en-US" altLang="zh-CN" dirty="0"/>
              <a:t>ANS:  queue change rate (slope) = Link 1 bandwidth (arrival rate) –  Link 2 bandwidth (departure rate)</a:t>
            </a:r>
          </a:p>
          <a:p>
            <a:pPr lvl="1"/>
            <a:r>
              <a:rPr lang="en-US" altLang="zh-CN" dirty="0"/>
              <a:t>Holds true when queue is not empty.</a:t>
            </a:r>
          </a:p>
          <a:p>
            <a:pPr lvl="1"/>
            <a:r>
              <a:rPr lang="en-US" altLang="zh-CN" dirty="0"/>
              <a:t>When queue is empty, queue slope = max(0, Link 1 bandwidth – Link 2 bandwidth) since queue size cannot be negative.</a:t>
            </a:r>
          </a:p>
          <a:p>
            <a:r>
              <a:rPr lang="en-US" altLang="zh-CN" dirty="0"/>
              <a:t>At t=5, the queue has change rate of 0 Gbps, Link 2 bandwidth = Link 1 bandwidth  - queue change rate = 20 – 0 = 20 Gbps.  But the queue is empty, so any departure rate larger than or equal to 20 Gbps is OK.</a:t>
            </a:r>
          </a:p>
          <a:p>
            <a:r>
              <a:rPr lang="en-US" altLang="zh-CN" dirty="0"/>
              <a:t>At t=7, the queue is increasing with a rate of 30 Gbit/2s, with </a:t>
            </a:r>
            <a:r>
              <a:rPr lang="nl-NL" altLang="zh-CN" dirty="0"/>
              <a:t>queue slope = 15 Gbps</a:t>
            </a:r>
            <a:r>
              <a:rPr lang="en-US" altLang="zh-CN" dirty="0"/>
              <a:t>, Link 2 bandwidth = Link 1 bandwidth  - queue change rate = 20 – 15 = 5 Gbps. </a:t>
            </a:r>
          </a:p>
          <a:p>
            <a:r>
              <a:rPr lang="en-US" altLang="zh-CN" dirty="0"/>
              <a:t>At t=9, the queue is draining at a rate of 15 Gbps, so Link 2 bandwidth = Link 1 bandwidth  - queue change rate = 20 – (-15) = 35 Gbps. </a:t>
            </a:r>
            <a:br>
              <a:rPr lang="en-US" altLang="zh-CN" dirty="0"/>
            </a:br>
            <a:endParaRPr lang="en-US" altLang="zh-CN" dirty="0"/>
          </a:p>
        </p:txBody>
      </p:sp>
      <p:pic>
        <p:nvPicPr>
          <p:cNvPr id="9" name="Picture 8" descr="The diagram displays a table with time intervals (5, 7, 9 seconds) and corresponding bandwidth measurements (20 Mbps, 5.5 Mbps, 35 Mbps) for Link 2.&#10;&#10;AI-generated content may be incorrect.">
            <a:extLst>
              <a:ext uri="{FF2B5EF4-FFF2-40B4-BE49-F238E27FC236}">
                <a16:creationId xmlns:a16="http://schemas.microsoft.com/office/drawing/2014/main" id="{5211D75A-0033-09E7-1ABA-4A88866B3726}"/>
              </a:ext>
            </a:extLst>
          </p:cNvPr>
          <p:cNvPicPr>
            <a:picLocks noChangeAspect="1"/>
          </p:cNvPicPr>
          <p:nvPr/>
        </p:nvPicPr>
        <p:blipFill>
          <a:blip r:embed="rId5"/>
          <a:stretch>
            <a:fillRect/>
          </a:stretch>
        </p:blipFill>
        <p:spPr>
          <a:xfrm>
            <a:off x="8514213" y="3761974"/>
            <a:ext cx="3381847" cy="1924319"/>
          </a:xfrm>
          <a:prstGeom prst="rect">
            <a:avLst/>
          </a:prstGeom>
        </p:spPr>
      </p:pic>
    </p:spTree>
    <p:extLst>
      <p:ext uri="{BB962C8B-B14F-4D97-AF65-F5344CB8AC3E}">
        <p14:creationId xmlns:p14="http://schemas.microsoft.com/office/powerpoint/2010/main" val="422039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30A78-69F5-844A-50B0-27A96C17C047}"/>
              </a:ext>
            </a:extLst>
          </p:cNvPr>
          <p:cNvSpPr>
            <a:spLocks noGrp="1"/>
          </p:cNvSpPr>
          <p:nvPr>
            <p:ph type="title"/>
          </p:nvPr>
        </p:nvSpPr>
        <p:spPr/>
        <p:txBody>
          <a:bodyPr>
            <a:normAutofit fontScale="90000"/>
          </a:bodyPr>
          <a:lstStyle/>
          <a:p>
            <a:r>
              <a:rPr lang="nl-NL" altLang="zh-CN" dirty="0"/>
              <a:t>Store-and-Forward vs. Bit-by-Bit Forwarding (Cut-through)</a:t>
            </a:r>
            <a:endParaRPr lang="zh-CN" altLang="en-US" dirty="0"/>
          </a:p>
        </p:txBody>
      </p:sp>
      <p:sp>
        <p:nvSpPr>
          <p:cNvPr id="3" name="Slide Number Placeholder 2">
            <a:extLst>
              <a:ext uri="{FF2B5EF4-FFF2-40B4-BE49-F238E27FC236}">
                <a16:creationId xmlns:a16="http://schemas.microsoft.com/office/drawing/2014/main" id="{5ACFF24A-8576-5D77-AA62-109FF3BE1067}"/>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Content Placeholder 3">
            <a:extLst>
              <a:ext uri="{FF2B5EF4-FFF2-40B4-BE49-F238E27FC236}">
                <a16:creationId xmlns:a16="http://schemas.microsoft.com/office/drawing/2014/main" id="{FB8F1A1E-0D8B-B069-05F9-F8C1CB012E1F}"/>
              </a:ext>
            </a:extLst>
          </p:cNvPr>
          <p:cNvSpPr>
            <a:spLocks noGrp="1"/>
          </p:cNvSpPr>
          <p:nvPr>
            <p:ph sz="quarter" idx="1"/>
          </p:nvPr>
        </p:nvSpPr>
        <p:spPr>
          <a:xfrm>
            <a:off x="609600" y="1219200"/>
            <a:ext cx="5715000" cy="4937760"/>
          </a:xfrm>
        </p:spPr>
        <p:txBody>
          <a:bodyPr>
            <a:normAutofit/>
          </a:bodyPr>
          <a:lstStyle/>
          <a:p>
            <a:r>
              <a:rPr lang="en-US" altLang="zh-CN" b="1" dirty="0"/>
              <a:t>Q1–5: Store-and-Forward</a:t>
            </a:r>
          </a:p>
          <a:p>
            <a:r>
              <a:rPr lang="en-US" altLang="zh-CN" dirty="0"/>
              <a:t>“E must receive all bits before sending”</a:t>
            </a:r>
          </a:p>
          <a:p>
            <a:r>
              <a:rPr lang="en-US" altLang="zh-CN" dirty="0"/>
              <a:t>E waits for the </a:t>
            </a:r>
            <a:r>
              <a:rPr lang="en-US" altLang="zh-CN" b="1" dirty="0"/>
              <a:t>entire payload</a:t>
            </a:r>
            <a:r>
              <a:rPr lang="en-US" altLang="zh-CN" dirty="0"/>
              <a:t> </a:t>
            </a:r>
          </a:p>
          <a:p>
            <a:r>
              <a:rPr lang="en-US" altLang="zh-CN" dirty="0"/>
              <a:t>Then starts transmitting </a:t>
            </a:r>
          </a:p>
          <a:p>
            <a:r>
              <a:rPr lang="en-US" altLang="zh-CN" dirty="0"/>
              <a:t>Packets move </a:t>
            </a:r>
            <a:r>
              <a:rPr lang="en-US" altLang="zh-CN" b="1" dirty="0"/>
              <a:t>as chunks</a:t>
            </a:r>
            <a:r>
              <a:rPr lang="en-US" altLang="zh-CN" dirty="0"/>
              <a:t> </a:t>
            </a:r>
          </a:p>
          <a:p>
            <a:r>
              <a:rPr lang="en-US" altLang="zh-CN" dirty="0"/>
              <a:t>Consequence:</a:t>
            </a:r>
          </a:p>
          <a:p>
            <a:pPr lvl="1"/>
            <a:r>
              <a:rPr lang="en-US" altLang="zh-CN" dirty="0"/>
              <a:t>You get </a:t>
            </a:r>
            <a:r>
              <a:rPr lang="en-US" altLang="zh-CN" b="1" dirty="0"/>
              <a:t>packet-level queueing</a:t>
            </a:r>
            <a:r>
              <a:rPr lang="en-US" altLang="zh-CN" dirty="0"/>
              <a:t> </a:t>
            </a:r>
          </a:p>
          <a:p>
            <a:pPr lvl="1"/>
            <a:r>
              <a:rPr lang="en-US" altLang="zh-CN" dirty="0"/>
              <a:t>Clear “arrival time” (last bit) </a:t>
            </a:r>
          </a:p>
          <a:p>
            <a:pPr lvl="1"/>
            <a:r>
              <a:rPr lang="en-US" altLang="zh-CN" dirty="0"/>
              <a:t>Clear “send start time”</a:t>
            </a:r>
            <a:endParaRPr lang="zh-CN" altLang="en-US" dirty="0"/>
          </a:p>
        </p:txBody>
      </p:sp>
      <p:sp>
        <p:nvSpPr>
          <p:cNvPr id="5" name="Content Placeholder 3">
            <a:extLst>
              <a:ext uri="{FF2B5EF4-FFF2-40B4-BE49-F238E27FC236}">
                <a16:creationId xmlns:a16="http://schemas.microsoft.com/office/drawing/2014/main" id="{FAB67699-18F4-B68E-EBC2-54C8E8528AD5}"/>
              </a:ext>
            </a:extLst>
          </p:cNvPr>
          <p:cNvSpPr txBox="1">
            <a:spLocks/>
          </p:cNvSpPr>
          <p:nvPr/>
        </p:nvSpPr>
        <p:spPr>
          <a:xfrm>
            <a:off x="6324600" y="1219200"/>
            <a:ext cx="5638800" cy="4937760"/>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b="1" dirty="0"/>
              <a:t>Q7–9: Bit-by-Bit Forwarding (Cut-through)</a:t>
            </a:r>
          </a:p>
          <a:p>
            <a:r>
              <a:rPr lang="en-US" altLang="zh-CN" dirty="0"/>
              <a:t>“each bit can be forwarded independently”</a:t>
            </a:r>
          </a:p>
          <a:p>
            <a:r>
              <a:rPr lang="en-US" altLang="zh-CN" dirty="0"/>
              <a:t>E can start sending </a:t>
            </a:r>
            <a:r>
              <a:rPr lang="en-US" altLang="zh-CN" b="1" dirty="0"/>
              <a:t>as soon as bits arrive</a:t>
            </a:r>
            <a:r>
              <a:rPr lang="en-US" altLang="zh-CN" dirty="0"/>
              <a:t> </a:t>
            </a:r>
          </a:p>
          <a:p>
            <a:r>
              <a:rPr lang="en-US" altLang="zh-CN" dirty="0"/>
              <a:t>No need to wait for full packet </a:t>
            </a:r>
          </a:p>
          <a:p>
            <a:r>
              <a:rPr lang="en-US" altLang="zh-CN" dirty="0"/>
              <a:t>Data flows like a </a:t>
            </a:r>
            <a:r>
              <a:rPr lang="en-US" altLang="zh-CN" b="1" dirty="0"/>
              <a:t>continuous stream</a:t>
            </a:r>
            <a:r>
              <a:rPr lang="en-US" altLang="zh-CN" dirty="0"/>
              <a:t> </a:t>
            </a:r>
          </a:p>
          <a:p>
            <a:r>
              <a:rPr lang="en-US" altLang="zh-CN" dirty="0"/>
              <a:t>Consequence:</a:t>
            </a:r>
          </a:p>
          <a:p>
            <a:pPr lvl="1"/>
            <a:r>
              <a:rPr lang="en-US" altLang="zh-CN" dirty="0"/>
              <a:t>No packet boundaries </a:t>
            </a:r>
          </a:p>
          <a:p>
            <a:pPr lvl="1"/>
            <a:r>
              <a:rPr lang="en-US" altLang="zh-CN" dirty="0"/>
              <a:t>Queue is measured in </a:t>
            </a:r>
            <a:r>
              <a:rPr lang="en-US" altLang="zh-CN" b="1" dirty="0"/>
              <a:t>bits (fluid model)</a:t>
            </a:r>
            <a:r>
              <a:rPr lang="en-US" altLang="zh-CN" dirty="0"/>
              <a:t> </a:t>
            </a:r>
          </a:p>
          <a:p>
            <a:pPr lvl="1"/>
            <a:r>
              <a:rPr lang="en-US" altLang="zh-CN" dirty="0"/>
              <a:t>Use </a:t>
            </a:r>
            <a:r>
              <a:rPr lang="en-US" altLang="zh-CN" b="1" dirty="0"/>
              <a:t>rates (Gbps)</a:t>
            </a:r>
            <a:r>
              <a:rPr lang="en-US" altLang="zh-CN" dirty="0"/>
              <a:t> instead of per-packet timing</a:t>
            </a:r>
          </a:p>
          <a:p>
            <a:endParaRPr lang="zh-CN" altLang="en-US" dirty="0"/>
          </a:p>
        </p:txBody>
      </p:sp>
    </p:spTree>
    <p:extLst>
      <p:ext uri="{BB962C8B-B14F-4D97-AF65-F5344CB8AC3E}">
        <p14:creationId xmlns:p14="http://schemas.microsoft.com/office/powerpoint/2010/main" val="1858741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10BF-FC1A-DBAE-9A35-1233B04B9C38}"/>
              </a:ext>
            </a:extLst>
          </p:cNvPr>
          <p:cNvSpPr>
            <a:spLocks noGrp="1"/>
          </p:cNvSpPr>
          <p:nvPr>
            <p:ph type="title"/>
          </p:nvPr>
        </p:nvSpPr>
        <p:spPr/>
        <p:txBody>
          <a:bodyPr/>
          <a:lstStyle/>
          <a:p>
            <a:r>
              <a:rPr lang="nl-NL" altLang="zh-CN" dirty="0"/>
              <a:t>Lecture 5.2 - Distance-Vector ANS</a:t>
            </a:r>
            <a:endParaRPr lang="zh-CN" altLang="en-US" dirty="0"/>
          </a:p>
        </p:txBody>
      </p:sp>
      <p:sp>
        <p:nvSpPr>
          <p:cNvPr id="3" name="Slide Number Placeholder 2">
            <a:extLst>
              <a:ext uri="{FF2B5EF4-FFF2-40B4-BE49-F238E27FC236}">
                <a16:creationId xmlns:a16="http://schemas.microsoft.com/office/drawing/2014/main" id="{36FD5EF7-D16B-DC85-5A21-2856DABD4425}"/>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a:extLst>
              <a:ext uri="{FF2B5EF4-FFF2-40B4-BE49-F238E27FC236}">
                <a16:creationId xmlns:a16="http://schemas.microsoft.com/office/drawing/2014/main" id="{DC01B710-3CC3-6734-51F3-765540047FD4}"/>
              </a:ext>
            </a:extLst>
          </p:cNvPr>
          <p:cNvSpPr>
            <a:spLocks noGrp="1"/>
          </p:cNvSpPr>
          <p:nvPr>
            <p:ph sz="quarter" idx="1"/>
          </p:nvPr>
        </p:nvSpPr>
        <p:spPr>
          <a:xfrm>
            <a:off x="609600" y="1219200"/>
            <a:ext cx="6858000" cy="4937760"/>
          </a:xfrm>
        </p:spPr>
        <p:txBody>
          <a:bodyPr>
            <a:normAutofit/>
          </a:bodyPr>
          <a:lstStyle/>
          <a:p>
            <a:r>
              <a:rPr lang="en-US" altLang="zh-CN" dirty="0"/>
              <a:t>Distance-Vector: Distance-vector routing is plagued by the “count-to-infinity" problem. Poisoned reverse is one approach to mitigating this problem. For the following graphs, consider the case where distance-vector routing has converged to a stable set of routes, and then </a:t>
            </a:r>
            <a:r>
              <a:rPr lang="en-US" altLang="zh-CN" dirty="0">
                <a:solidFill>
                  <a:srgbClr val="C00000"/>
                </a:solidFill>
              </a:rPr>
              <a:t>the destination (marked D) fails</a:t>
            </a:r>
            <a:r>
              <a:rPr lang="en-US" altLang="zh-CN" dirty="0"/>
              <a:t>, taking down all of the links attached to it.  Which of these graphs still have the count-to-infinity problem even when poisoned reverse is used? </a:t>
            </a:r>
            <a:endParaRPr lang="zh-CN" altLang="en-US" dirty="0"/>
          </a:p>
        </p:txBody>
      </p:sp>
      <p:pic>
        <p:nvPicPr>
          <p:cNvPr id="8" name="Picture 7" descr="The image shows a series of four diagrams, each illustrating a different graph structure, likely representing various types of networks or connections.&#10;&#10;AI-generated content may be incorrect.">
            <a:extLst>
              <a:ext uri="{FF2B5EF4-FFF2-40B4-BE49-F238E27FC236}">
                <a16:creationId xmlns:a16="http://schemas.microsoft.com/office/drawing/2014/main" id="{49C5CA7D-9013-3F1B-0254-80DFDA424C6B}"/>
              </a:ext>
            </a:extLst>
          </p:cNvPr>
          <p:cNvPicPr>
            <a:picLocks noChangeAspect="1"/>
          </p:cNvPicPr>
          <p:nvPr/>
        </p:nvPicPr>
        <p:blipFill>
          <a:blip r:embed="rId2"/>
          <a:stretch>
            <a:fillRect/>
          </a:stretch>
        </p:blipFill>
        <p:spPr>
          <a:xfrm>
            <a:off x="7239000" y="2199504"/>
            <a:ext cx="4439376" cy="3439296"/>
          </a:xfrm>
          <a:prstGeom prst="rect">
            <a:avLst/>
          </a:prstGeom>
        </p:spPr>
      </p:pic>
    </p:spTree>
    <p:extLst>
      <p:ext uri="{BB962C8B-B14F-4D97-AF65-F5344CB8AC3E}">
        <p14:creationId xmlns:p14="http://schemas.microsoft.com/office/powerpoint/2010/main" val="1322562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72107-8491-E5F6-D393-BBC8A393B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C2F52-FC5D-3053-E9AD-CC3A66D7A531}"/>
              </a:ext>
            </a:extLst>
          </p:cNvPr>
          <p:cNvSpPr>
            <a:spLocks noGrp="1"/>
          </p:cNvSpPr>
          <p:nvPr>
            <p:ph type="title"/>
          </p:nvPr>
        </p:nvSpPr>
        <p:spPr/>
        <p:txBody>
          <a:bodyPr/>
          <a:lstStyle/>
          <a:p>
            <a:r>
              <a:rPr lang="nl-NL" altLang="zh-CN" dirty="0"/>
              <a:t>Lecture 5.2 - Distance-Vector ANS</a:t>
            </a:r>
            <a:endParaRPr lang="zh-CN" altLang="en-US" dirty="0"/>
          </a:p>
        </p:txBody>
      </p:sp>
      <p:sp>
        <p:nvSpPr>
          <p:cNvPr id="3" name="Slide Number Placeholder 2">
            <a:extLst>
              <a:ext uri="{FF2B5EF4-FFF2-40B4-BE49-F238E27FC236}">
                <a16:creationId xmlns:a16="http://schemas.microsoft.com/office/drawing/2014/main" id="{E25312B6-4602-E504-6436-B650FDD9D23E}"/>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a:extLst>
              <a:ext uri="{FF2B5EF4-FFF2-40B4-BE49-F238E27FC236}">
                <a16:creationId xmlns:a16="http://schemas.microsoft.com/office/drawing/2014/main" id="{A1EB19EC-68F2-DBA3-7D35-D12F237A6C3E}"/>
              </a:ext>
            </a:extLst>
          </p:cNvPr>
          <p:cNvSpPr>
            <a:spLocks noGrp="1"/>
          </p:cNvSpPr>
          <p:nvPr>
            <p:ph sz="quarter" idx="1"/>
          </p:nvPr>
        </p:nvSpPr>
        <p:spPr>
          <a:xfrm>
            <a:off x="609600" y="1219200"/>
            <a:ext cx="6629400" cy="4937760"/>
          </a:xfrm>
        </p:spPr>
        <p:txBody>
          <a:bodyPr>
            <a:normAutofit fontScale="77500" lnSpcReduction="20000"/>
          </a:bodyPr>
          <a:lstStyle/>
          <a:p>
            <a:r>
              <a:rPr lang="en-US" altLang="zh-CN" dirty="0"/>
              <a:t>Destination (marked D) fails, taking down all of the links attached to it.  Which of these graphs still have the count-to-infinity problem even when poisoned reverse is used? </a:t>
            </a:r>
          </a:p>
          <a:p>
            <a:r>
              <a:rPr lang="en-US" altLang="zh-CN" dirty="0"/>
              <a:t>ANS: </a:t>
            </a:r>
          </a:p>
          <a:p>
            <a:r>
              <a:rPr lang="en-US" altLang="zh-CN" dirty="0"/>
              <a:t>A &amp; D: No. Once D is removed, the remaining three routers form a path, not a triangle. That means any mistaken route can only bounce between two neighbors, and poisoned reverse is designed to stop exactly that kind of 2-node loop. So A &amp; D does not have count-to-infinity with poisoned reverse.</a:t>
            </a:r>
          </a:p>
          <a:p>
            <a:r>
              <a:rPr lang="en-US" altLang="zh-CN" dirty="0"/>
              <a:t>B &amp; C:  Yes.  When D fails, the remaining three routers form a triangle. A router may poison one neighbor but still advertise a finite path to another, allowing the bad route to travel around the 3-node cycle. Because poisoned reverse only hides the route from the neighbor being used as next hop, the false route can circulate around the triangle and the metric can increase repeatedly</a:t>
            </a:r>
          </a:p>
          <a:p>
            <a:endParaRPr lang="en-US" altLang="zh-CN" dirty="0"/>
          </a:p>
          <a:p>
            <a:endParaRPr lang="zh-CN" altLang="en-US" dirty="0"/>
          </a:p>
        </p:txBody>
      </p:sp>
      <p:pic>
        <p:nvPicPr>
          <p:cNvPr id="8" name="Picture 7" descr="The image shows a series of four diagrams, each illustrating a different graph structure, likely representing various types of networks or connections.&#10;&#10;AI-generated content may be incorrect.">
            <a:extLst>
              <a:ext uri="{FF2B5EF4-FFF2-40B4-BE49-F238E27FC236}">
                <a16:creationId xmlns:a16="http://schemas.microsoft.com/office/drawing/2014/main" id="{63DD3AF4-7F71-0C35-6AFB-B9C0BEB673FF}"/>
              </a:ext>
            </a:extLst>
          </p:cNvPr>
          <p:cNvPicPr>
            <a:picLocks noChangeAspect="1"/>
          </p:cNvPicPr>
          <p:nvPr/>
        </p:nvPicPr>
        <p:blipFill>
          <a:blip r:embed="rId3"/>
          <a:stretch>
            <a:fillRect/>
          </a:stretch>
        </p:blipFill>
        <p:spPr>
          <a:xfrm>
            <a:off x="7239000" y="2199504"/>
            <a:ext cx="4439376" cy="3439296"/>
          </a:xfrm>
          <a:prstGeom prst="rect">
            <a:avLst/>
          </a:prstGeom>
        </p:spPr>
      </p:pic>
    </p:spTree>
    <p:extLst>
      <p:ext uri="{BB962C8B-B14F-4D97-AF65-F5344CB8AC3E}">
        <p14:creationId xmlns:p14="http://schemas.microsoft.com/office/powerpoint/2010/main" val="2254890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C7C31-0F0B-891C-070F-9DEC3FC6DD57}"/>
              </a:ext>
            </a:extLst>
          </p:cNvPr>
          <p:cNvSpPr>
            <a:spLocks noGrp="1"/>
          </p:cNvSpPr>
          <p:nvPr>
            <p:ph type="title"/>
          </p:nvPr>
        </p:nvSpPr>
        <p:spPr/>
        <p:txBody>
          <a:bodyPr/>
          <a:lstStyle/>
          <a:p>
            <a:r>
              <a:rPr lang="nl-NL" altLang="zh-CN" dirty="0"/>
              <a:t>Lecture 5.3 - Link-State</a:t>
            </a:r>
            <a:endParaRPr lang="zh-CN" altLang="en-US" dirty="0"/>
          </a:p>
        </p:txBody>
      </p:sp>
      <p:sp>
        <p:nvSpPr>
          <p:cNvPr id="3" name="Slide Number Placeholder 2">
            <a:extLst>
              <a:ext uri="{FF2B5EF4-FFF2-40B4-BE49-F238E27FC236}">
                <a16:creationId xmlns:a16="http://schemas.microsoft.com/office/drawing/2014/main" id="{EEB9B094-B5A7-D81C-6C56-6C3F0449FBA2}"/>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4" name="Content Placeholder 3">
            <a:extLst>
              <a:ext uri="{FF2B5EF4-FFF2-40B4-BE49-F238E27FC236}">
                <a16:creationId xmlns:a16="http://schemas.microsoft.com/office/drawing/2014/main" id="{AAFF5FAD-2769-678D-A6C0-FC125B4FE46D}"/>
              </a:ext>
            </a:extLst>
          </p:cNvPr>
          <p:cNvSpPr>
            <a:spLocks noGrp="1"/>
          </p:cNvSpPr>
          <p:nvPr>
            <p:ph sz="quarter" idx="1"/>
          </p:nvPr>
        </p:nvSpPr>
        <p:spPr>
          <a:xfrm>
            <a:off x="609600" y="1219200"/>
            <a:ext cx="6934200" cy="4937760"/>
          </a:xfrm>
        </p:spPr>
        <p:txBody>
          <a:bodyPr>
            <a:normAutofit/>
          </a:bodyPr>
          <a:lstStyle/>
          <a:p>
            <a:r>
              <a:rPr lang="en-US" altLang="zh-CN" dirty="0"/>
              <a:t>Link-State: For the network shown below, consider the case where all nodes have flooded their link-state information to everyone, shortest paths have been calculated, and the appropriate forwarding entries installed. But then </a:t>
            </a:r>
            <a:r>
              <a:rPr lang="en-US" altLang="zh-CN" dirty="0">
                <a:solidFill>
                  <a:srgbClr val="C00000"/>
                </a:solidFill>
              </a:rPr>
              <a:t>the link between E and F goes down</a:t>
            </a:r>
            <a:r>
              <a:rPr lang="en-US" altLang="zh-CN" dirty="0"/>
              <a:t>. The packets announcing this link-status change reach </a:t>
            </a:r>
            <a:r>
              <a:rPr lang="en-US" altLang="zh-CN" dirty="0">
                <a:solidFill>
                  <a:srgbClr val="C00000"/>
                </a:solidFill>
              </a:rPr>
              <a:t>all nodes except B, </a:t>
            </a:r>
            <a:r>
              <a:rPr lang="en-US" altLang="zh-CN" dirty="0"/>
              <a:t>and again routes are recalculated. When </a:t>
            </a:r>
            <a:r>
              <a:rPr lang="en-US" altLang="zh-CN" dirty="0">
                <a:solidFill>
                  <a:srgbClr val="C00000"/>
                </a:solidFill>
              </a:rPr>
              <a:t>D sends a packet to F</a:t>
            </a:r>
            <a:r>
              <a:rPr lang="en-US" altLang="zh-CN" dirty="0"/>
              <a:t>, what path does it take? Ties are broken in alphabetical order.</a:t>
            </a:r>
            <a:endParaRPr lang="zh-CN" altLang="en-US" dirty="0"/>
          </a:p>
        </p:txBody>
      </p:sp>
      <p:pic>
        <p:nvPicPr>
          <p:cNvPr id="6" name="Picture 5" descr="The text appears to be a sequence of alphabetic characters (A, B, C, D, E, F, G, H, I) with some numbers (1, 2, 2) next to them, possibly indicating some form of categorization or mapping. However, without an image, it's difficult to provide a description. If you can provide an image, I'd be happy to help!&#10;&#10;AI-generated content may be incorrect.">
            <a:extLst>
              <a:ext uri="{FF2B5EF4-FFF2-40B4-BE49-F238E27FC236}">
                <a16:creationId xmlns:a16="http://schemas.microsoft.com/office/drawing/2014/main" id="{5A3520D4-9D06-6B51-E3D5-69493F18D9E7}"/>
              </a:ext>
            </a:extLst>
          </p:cNvPr>
          <p:cNvPicPr>
            <a:picLocks noChangeAspect="1"/>
          </p:cNvPicPr>
          <p:nvPr/>
        </p:nvPicPr>
        <p:blipFill>
          <a:blip r:embed="rId2"/>
          <a:stretch>
            <a:fillRect/>
          </a:stretch>
        </p:blipFill>
        <p:spPr>
          <a:xfrm>
            <a:off x="8077200" y="1907010"/>
            <a:ext cx="3877280" cy="3894323"/>
          </a:xfrm>
          <a:prstGeom prst="rect">
            <a:avLst/>
          </a:prstGeom>
        </p:spPr>
      </p:pic>
    </p:spTree>
    <p:extLst>
      <p:ext uri="{BB962C8B-B14F-4D97-AF65-F5344CB8AC3E}">
        <p14:creationId xmlns:p14="http://schemas.microsoft.com/office/powerpoint/2010/main" val="3254364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1A6D9-4608-1302-56D3-6F79D8664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6CD0E-DDE3-C748-2404-441960385AB0}"/>
              </a:ext>
            </a:extLst>
          </p:cNvPr>
          <p:cNvSpPr>
            <a:spLocks noGrp="1"/>
          </p:cNvSpPr>
          <p:nvPr>
            <p:ph type="title"/>
          </p:nvPr>
        </p:nvSpPr>
        <p:spPr/>
        <p:txBody>
          <a:bodyPr/>
          <a:lstStyle/>
          <a:p>
            <a:r>
              <a:rPr lang="nl-NL" altLang="zh-CN" dirty="0"/>
              <a:t>Lecture 5.3 - Link-State ANS</a:t>
            </a:r>
            <a:endParaRPr lang="zh-CN" altLang="en-US" dirty="0"/>
          </a:p>
        </p:txBody>
      </p:sp>
      <p:sp>
        <p:nvSpPr>
          <p:cNvPr id="3" name="Slide Number Placeholder 2">
            <a:extLst>
              <a:ext uri="{FF2B5EF4-FFF2-40B4-BE49-F238E27FC236}">
                <a16:creationId xmlns:a16="http://schemas.microsoft.com/office/drawing/2014/main" id="{04B64B2C-CF76-0115-FDE0-EB616D5EE56C}"/>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C08828E-1347-1982-8706-699760CE6539}"/>
                  </a:ext>
                </a:extLst>
              </p:cNvPr>
              <p:cNvSpPr>
                <a:spLocks noGrp="1"/>
              </p:cNvSpPr>
              <p:nvPr>
                <p:ph sz="quarter" idx="1"/>
              </p:nvPr>
            </p:nvSpPr>
            <p:spPr>
              <a:xfrm>
                <a:off x="609600" y="1219200"/>
                <a:ext cx="6934200" cy="4937760"/>
              </a:xfrm>
            </p:spPr>
            <p:txBody>
              <a:bodyPr>
                <a:normAutofit fontScale="77500" lnSpcReduction="20000"/>
              </a:bodyPr>
              <a:lstStyle/>
              <a:p>
                <a:r>
                  <a:rPr lang="en-US" altLang="zh-CN" dirty="0"/>
                  <a:t>The </a:t>
                </a:r>
                <a:r>
                  <a:rPr lang="en-US" altLang="zh-CN" dirty="0">
                    <a:solidFill>
                      <a:srgbClr val="C00000"/>
                    </a:solidFill>
                  </a:rPr>
                  <a:t>link between E and F goes down</a:t>
                </a:r>
                <a:r>
                  <a:rPr lang="en-US" altLang="zh-CN" dirty="0"/>
                  <a:t>. The packets announcing this link-status change reach </a:t>
                </a:r>
                <a:r>
                  <a:rPr lang="en-US" altLang="zh-CN" dirty="0">
                    <a:solidFill>
                      <a:srgbClr val="C00000"/>
                    </a:solidFill>
                  </a:rPr>
                  <a:t>all nodes except B, </a:t>
                </a:r>
                <a:r>
                  <a:rPr lang="en-US" altLang="zh-CN" dirty="0"/>
                  <a:t>and again routes are recalculated. When </a:t>
                </a:r>
                <a:r>
                  <a:rPr lang="en-US" altLang="zh-CN" dirty="0">
                    <a:solidFill>
                      <a:srgbClr val="C00000"/>
                    </a:solidFill>
                  </a:rPr>
                  <a:t>D sends a packet to F</a:t>
                </a:r>
                <a:r>
                  <a:rPr lang="en-US" altLang="zh-CN" dirty="0"/>
                  <a:t>, what path does it take? Ties are broken in alphabetical order.</a:t>
                </a:r>
              </a:p>
              <a:p>
                <a:r>
                  <a:rPr lang="en-US" altLang="zh-CN" dirty="0"/>
                  <a:t>ANS: DABEHIF</a:t>
                </a:r>
              </a:p>
              <a:p>
                <a:r>
                  <a:rPr lang="en-US" altLang="zh-CN" dirty="0"/>
                  <a:t>Explanations:</a:t>
                </a:r>
                <a:endParaRPr lang="en-US" altLang="zh-CN" b="1" dirty="0"/>
              </a:p>
              <a:p>
                <a:pPr lvl="1"/>
                <a:r>
                  <a:rPr lang="en-US" altLang="zh-CN" dirty="0"/>
                  <a:t>After the E–F link goes down, D recomputes using the new topology, where the best path from D to F is </a:t>
                </a:r>
                <a14:m>
                  <m:oMath xmlns:m="http://schemas.openxmlformats.org/officeDocument/2006/math">
                    <m:r>
                      <a:rPr lang="zh-CN" altLang="en-US" i="1">
                        <a:latin typeface="Cambria Math" panose="02040503050406030204" pitchFamily="18" charset="0"/>
                      </a:rPr>
                      <m:t>𝐷</m:t>
                    </m:r>
                    <m:r>
                      <a:rPr lang="en-US" altLang="zh-CN">
                        <a:latin typeface="Cambria Math" panose="02040503050406030204" pitchFamily="18" charset="0"/>
                      </a:rPr>
                      <m:t>→</m:t>
                    </m:r>
                    <m:r>
                      <a:rPr lang="zh-CN" altLang="en-US" i="1">
                        <a:latin typeface="Cambria Math" panose="02040503050406030204" pitchFamily="18" charset="0"/>
                      </a:rPr>
                      <m:t>𝐴</m:t>
                    </m:r>
                    <m:r>
                      <a:rPr lang="en-US" altLang="zh-CN">
                        <a:latin typeface="Cambria Math" panose="02040503050406030204" pitchFamily="18" charset="0"/>
                      </a:rPr>
                      <m:t>→</m:t>
                    </m:r>
                    <m:r>
                      <a:rPr lang="zh-CN" altLang="en-US" i="1">
                        <a:latin typeface="Cambria Math" panose="02040503050406030204" pitchFamily="18" charset="0"/>
                      </a:rPr>
                      <m:t>𝐵</m:t>
                    </m:r>
                    <m:r>
                      <a:rPr lang="en-US" altLang="zh-CN">
                        <a:latin typeface="Cambria Math" panose="02040503050406030204" pitchFamily="18" charset="0"/>
                      </a:rPr>
                      <m:t>→</m:t>
                    </m:r>
                    <m:r>
                      <a:rPr lang="zh-CN" altLang="en-US" i="1">
                        <a:latin typeface="Cambria Math" panose="02040503050406030204" pitchFamily="18" charset="0"/>
                      </a:rPr>
                      <m:t>𝐶</m:t>
                    </m:r>
                    <m:r>
                      <a:rPr lang="en-US" altLang="zh-CN">
                        <a:latin typeface="Cambria Math" panose="02040503050406030204" pitchFamily="18" charset="0"/>
                      </a:rPr>
                      <m:t>→</m:t>
                    </m:r>
                    <m:r>
                      <a:rPr lang="zh-CN" altLang="en-US" i="1">
                        <a:latin typeface="Cambria Math" panose="02040503050406030204" pitchFamily="18" charset="0"/>
                      </a:rPr>
                      <m:t>𝐹</m:t>
                    </m:r>
                  </m:oMath>
                </a14:m>
                <a:r>
                  <a:rPr lang="en-US" altLang="zh-CN" dirty="0"/>
                  <a:t> with total cost 6. </a:t>
                </a:r>
              </a:p>
              <a:p>
                <a:pPr lvl="1"/>
                <a:r>
                  <a:rPr lang="en-US" altLang="zh-CN" dirty="0"/>
                  <a:t>A also recomputes correctly, so when it receives the packet from D, it forwards it to B. B did </a:t>
                </a:r>
                <a:r>
                  <a:rPr lang="en-US" altLang="zh-CN" b="1" dirty="0"/>
                  <a:t>not</a:t>
                </a:r>
                <a:r>
                  <a:rPr lang="en-US" altLang="zh-CN" dirty="0"/>
                  <a:t> receive the link-state update, so it still believes the old shortest path to F is </a:t>
                </a:r>
                <a14:m>
                  <m:oMath xmlns:m="http://schemas.openxmlformats.org/officeDocument/2006/math">
                    <m:r>
                      <a:rPr lang="zh-CN" altLang="en-US" i="1">
                        <a:latin typeface="Cambria Math" panose="02040503050406030204" pitchFamily="18" charset="0"/>
                      </a:rPr>
                      <m:t>𝐵</m:t>
                    </m:r>
                    <m:r>
                      <a:rPr lang="en-US" altLang="zh-CN">
                        <a:latin typeface="Cambria Math" panose="02040503050406030204" pitchFamily="18" charset="0"/>
                      </a:rPr>
                      <m:t>→</m:t>
                    </m:r>
                    <m:r>
                      <a:rPr lang="zh-CN" altLang="en-US" i="1">
                        <a:latin typeface="Cambria Math" panose="02040503050406030204" pitchFamily="18" charset="0"/>
                      </a:rPr>
                      <m:t>𝐸</m:t>
                    </m:r>
                    <m:r>
                      <a:rPr lang="en-US" altLang="zh-CN">
                        <a:latin typeface="Cambria Math" panose="02040503050406030204" pitchFamily="18" charset="0"/>
                      </a:rPr>
                      <m:t>→</m:t>
                    </m:r>
                    <m:r>
                      <a:rPr lang="zh-CN" altLang="en-US" i="1">
                        <a:latin typeface="Cambria Math" panose="02040503050406030204" pitchFamily="18" charset="0"/>
                      </a:rPr>
                      <m:t>𝐹</m:t>
                    </m:r>
                  </m:oMath>
                </a14:m>
                <a:r>
                  <a:rPr lang="en-US" altLang="zh-CN" dirty="0"/>
                  <a:t>, with cost 3, and therefore sends the packet to E.</a:t>
                </a:r>
              </a:p>
              <a:p>
                <a:pPr lvl="1"/>
                <a:r>
                  <a:rPr lang="en-US" altLang="zh-CN" dirty="0"/>
                  <a:t>E did receive the failure update, so E knows the direct link to F is down and cannot forward there. From E’s updated view, the best remaining route to F is </a:t>
                </a:r>
                <a14:m>
                  <m:oMath xmlns:m="http://schemas.openxmlformats.org/officeDocument/2006/math">
                    <m:r>
                      <a:rPr lang="zh-CN" altLang="en-US" i="1">
                        <a:latin typeface="Cambria Math" panose="02040503050406030204" pitchFamily="18" charset="0"/>
                      </a:rPr>
                      <m:t>𝐸</m:t>
                    </m:r>
                    <m:r>
                      <a:rPr lang="en-US" altLang="zh-CN">
                        <a:latin typeface="Cambria Math" panose="02040503050406030204" pitchFamily="18" charset="0"/>
                      </a:rPr>
                      <m:t>→</m:t>
                    </m:r>
                    <m:r>
                      <a:rPr lang="zh-CN" altLang="en-US" i="1">
                        <a:latin typeface="Cambria Math" panose="02040503050406030204" pitchFamily="18" charset="0"/>
                      </a:rPr>
                      <m:t>𝐻</m:t>
                    </m:r>
                    <m:r>
                      <a:rPr lang="en-US" altLang="zh-CN">
                        <a:latin typeface="Cambria Math" panose="02040503050406030204" pitchFamily="18" charset="0"/>
                      </a:rPr>
                      <m:t>→</m:t>
                    </m:r>
                    <m:r>
                      <a:rPr lang="zh-CN" altLang="en-US" i="1">
                        <a:latin typeface="Cambria Math" panose="02040503050406030204" pitchFamily="18" charset="0"/>
                      </a:rPr>
                      <m:t>𝐼</m:t>
                    </m:r>
                    <m:r>
                      <a:rPr lang="en-US" altLang="zh-CN">
                        <a:latin typeface="Cambria Math" panose="02040503050406030204" pitchFamily="18" charset="0"/>
                      </a:rPr>
                      <m:t>→</m:t>
                    </m:r>
                    <m:r>
                      <a:rPr lang="zh-CN" altLang="en-US" i="1">
                        <a:latin typeface="Cambria Math" panose="02040503050406030204" pitchFamily="18" charset="0"/>
                      </a:rPr>
                      <m:t>𝐹</m:t>
                    </m:r>
                  </m:oMath>
                </a14:m>
                <a:r>
                  <a:rPr lang="en-US" altLang="zh-CN" dirty="0"/>
                  <a:t>, with cost 5, which is better than going back through B and C.</a:t>
                </a:r>
              </a:p>
              <a:p>
                <a:pPr lvl="1"/>
                <a:r>
                  <a:rPr lang="en-US" altLang="zh-CN" dirty="0"/>
                  <a:t>Putting those forwarding decisions together gives the actual packet path: </a:t>
                </a:r>
                <a:r>
                  <a:rPr lang="en-US" altLang="zh-CN" b="1" dirty="0"/>
                  <a:t>DABEHIF</a:t>
                </a:r>
                <a:r>
                  <a:rPr lang="en-US" altLang="zh-CN" dirty="0"/>
                  <a:t>.</a:t>
                </a:r>
              </a:p>
              <a:p>
                <a:endParaRPr lang="zh-CN" altLang="en-US" dirty="0"/>
              </a:p>
            </p:txBody>
          </p:sp>
        </mc:Choice>
        <mc:Fallback xmlns="">
          <p:sp>
            <p:nvSpPr>
              <p:cNvPr id="4" name="Content Placeholder 3">
                <a:extLst>
                  <a:ext uri="{FF2B5EF4-FFF2-40B4-BE49-F238E27FC236}">
                    <a16:creationId xmlns:a16="http://schemas.microsoft.com/office/drawing/2014/main" id="{FC08828E-1347-1982-8706-699760CE6539}"/>
                  </a:ext>
                </a:extLst>
              </p:cNvPr>
              <p:cNvSpPr>
                <a:spLocks noGrp="1" noRot="1" noChangeAspect="1" noMove="1" noResize="1" noEditPoints="1" noAdjustHandles="1" noChangeArrowheads="1" noChangeShapeType="1" noTextEdit="1"/>
              </p:cNvSpPr>
              <p:nvPr>
                <p:ph sz="quarter" idx="1"/>
              </p:nvPr>
            </p:nvSpPr>
            <p:spPr>
              <a:xfrm>
                <a:off x="609600" y="1219200"/>
                <a:ext cx="6934200" cy="4937760"/>
              </a:xfrm>
              <a:blipFill>
                <a:blip r:embed="rId2"/>
                <a:stretch>
                  <a:fillRect l="-351" t="-1852" r="-1494"/>
                </a:stretch>
              </a:blipFill>
            </p:spPr>
            <p:txBody>
              <a:bodyPr/>
              <a:lstStyle/>
              <a:p>
                <a:r>
                  <a:rPr lang="zh-CN" altLang="en-US">
                    <a:noFill/>
                  </a:rPr>
                  <a:t> </a:t>
                </a:r>
              </a:p>
            </p:txBody>
          </p:sp>
        </mc:Fallback>
      </mc:AlternateContent>
      <p:pic>
        <p:nvPicPr>
          <p:cNvPr id="6" name="Picture 5" descr="The text appears to be a sequence of alphabetic characters (A, B, C, D, E, F, G, H, I) with some numbers (1, 2, 2) next to them, possibly indicating some form of categorization or mapping. However, without an image, it's difficult to provide a description. If you can provide an image, I'd be happy to help!&#10;&#10;AI-generated content may be incorrect.">
            <a:extLst>
              <a:ext uri="{FF2B5EF4-FFF2-40B4-BE49-F238E27FC236}">
                <a16:creationId xmlns:a16="http://schemas.microsoft.com/office/drawing/2014/main" id="{EAF1C6A4-188E-A288-CA44-7D1C44269027}"/>
              </a:ext>
            </a:extLst>
          </p:cNvPr>
          <p:cNvPicPr>
            <a:picLocks noChangeAspect="1"/>
          </p:cNvPicPr>
          <p:nvPr/>
        </p:nvPicPr>
        <p:blipFill>
          <a:blip r:embed="rId3"/>
          <a:stretch>
            <a:fillRect/>
          </a:stretch>
        </p:blipFill>
        <p:spPr>
          <a:xfrm>
            <a:off x="8077200" y="1907010"/>
            <a:ext cx="3877280" cy="3894323"/>
          </a:xfrm>
          <a:prstGeom prst="rect">
            <a:avLst/>
          </a:prstGeom>
        </p:spPr>
      </p:pic>
    </p:spTree>
    <p:extLst>
      <p:ext uri="{BB962C8B-B14F-4D97-AF65-F5344CB8AC3E}">
        <p14:creationId xmlns:p14="http://schemas.microsoft.com/office/powerpoint/2010/main" val="3133781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48F29-DDD5-56A9-00A1-3434388E5730}"/>
              </a:ext>
            </a:extLst>
          </p:cNvPr>
          <p:cNvSpPr>
            <a:spLocks noGrp="1"/>
          </p:cNvSpPr>
          <p:nvPr>
            <p:ph type="title"/>
          </p:nvPr>
        </p:nvSpPr>
        <p:spPr/>
        <p:txBody>
          <a:bodyPr>
            <a:normAutofit fontScale="90000"/>
          </a:bodyPr>
          <a:lstStyle/>
          <a:p>
            <a:r>
              <a:rPr lang="nl-NL" altLang="zh-CN" dirty="0"/>
              <a:t>	</a:t>
            </a:r>
            <a:br>
              <a:rPr lang="nl-NL" altLang="zh-CN" dirty="0"/>
            </a:br>
            <a:r>
              <a:rPr lang="nl-NL" altLang="zh-CN" dirty="0"/>
              <a:t>Lecture 8 - Inter-Domain Routing </a:t>
            </a:r>
            <a:endParaRPr lang="zh-CN" altLang="en-US" dirty="0"/>
          </a:p>
        </p:txBody>
      </p:sp>
      <p:sp>
        <p:nvSpPr>
          <p:cNvPr id="3" name="Slide Number Placeholder 2">
            <a:extLst>
              <a:ext uri="{FF2B5EF4-FFF2-40B4-BE49-F238E27FC236}">
                <a16:creationId xmlns:a16="http://schemas.microsoft.com/office/drawing/2014/main" id="{30726EE6-F186-96EC-DAAC-5C497E659CF9}"/>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Content Placeholder 3">
            <a:extLst>
              <a:ext uri="{FF2B5EF4-FFF2-40B4-BE49-F238E27FC236}">
                <a16:creationId xmlns:a16="http://schemas.microsoft.com/office/drawing/2014/main" id="{7CFD8AF1-6B4B-BBBB-3034-4980DDBD4359}"/>
              </a:ext>
            </a:extLst>
          </p:cNvPr>
          <p:cNvSpPr>
            <a:spLocks noGrp="1"/>
          </p:cNvSpPr>
          <p:nvPr>
            <p:ph sz="quarter" idx="1"/>
          </p:nvPr>
        </p:nvSpPr>
        <p:spPr>
          <a:xfrm>
            <a:off x="609600" y="1219200"/>
            <a:ext cx="10972800" cy="2252662"/>
          </a:xfrm>
        </p:spPr>
        <p:txBody>
          <a:bodyPr>
            <a:normAutofit fontScale="62500" lnSpcReduction="20000"/>
          </a:bodyPr>
          <a:lstStyle/>
          <a:p>
            <a:r>
              <a:rPr lang="en-US" altLang="zh-CN" dirty="0"/>
              <a:t>Consider the AS graph below, where each AS follows the Gao-Rexford import and export policies. Provider to Customer relationship is denoted by arrows; peer to peer relationship is denoted by horizontal lines with dots. (Hint: Every intermediate AS on a legal path must have at least one customer neighbor along that path. Valid AS paths should be valley-free: traffic goes up provider links zero or more times, may cross at most one peer link, and then goes down customer links zero or more times.) Determine the path (if any) between the following </a:t>
            </a:r>
            <a:r>
              <a:rPr lang="en-US" altLang="zh-CN" dirty="0" err="1"/>
              <a:t>ASes</a:t>
            </a:r>
            <a:r>
              <a:rPr lang="en-US" altLang="zh-CN" dirty="0"/>
              <a:t>. If there is no path possible, write "None".</a:t>
            </a:r>
          </a:p>
          <a:p>
            <a:r>
              <a:rPr lang="en-US" altLang="zh-CN" dirty="0"/>
              <a:t>a) AS1 to AS8   </a:t>
            </a:r>
          </a:p>
          <a:p>
            <a:r>
              <a:rPr lang="en-US" altLang="zh-CN" dirty="0"/>
              <a:t>b) AS2 to AS7</a:t>
            </a:r>
          </a:p>
          <a:p>
            <a:r>
              <a:rPr lang="en-US" altLang="zh-CN" dirty="0"/>
              <a:t>c) AS3 to AS6</a:t>
            </a:r>
          </a:p>
          <a:p>
            <a:r>
              <a:rPr lang="en-US" altLang="zh-CN" dirty="0"/>
              <a:t>d) AS2 to AS5</a:t>
            </a:r>
            <a:endParaRPr lang="zh-CN" altLang="en-US" dirty="0"/>
          </a:p>
          <a:p>
            <a:endParaRPr lang="zh-CN" altLang="en-US" dirty="0"/>
          </a:p>
        </p:txBody>
      </p:sp>
      <p:pic>
        <p:nvPicPr>
          <p:cNvPr id="5" name="Picture 4">
            <a:extLst>
              <a:ext uri="{FF2B5EF4-FFF2-40B4-BE49-F238E27FC236}">
                <a16:creationId xmlns:a16="http://schemas.microsoft.com/office/drawing/2014/main" id="{2033DBA1-A0BF-CB70-5FE5-55ABF4845E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7664" y="3471862"/>
            <a:ext cx="8411147" cy="2884488"/>
          </a:xfrm>
          <a:prstGeom prst="rect">
            <a:avLst/>
          </a:prstGeom>
          <a:noFill/>
        </p:spPr>
      </p:pic>
    </p:spTree>
    <p:extLst>
      <p:ext uri="{BB962C8B-B14F-4D97-AF65-F5344CB8AC3E}">
        <p14:creationId xmlns:p14="http://schemas.microsoft.com/office/powerpoint/2010/main" val="3124985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D5160-10C2-B5F1-CF6E-AA479A16B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D0ED9-F182-063D-A698-7AA9FA18426E}"/>
              </a:ext>
            </a:extLst>
          </p:cNvPr>
          <p:cNvSpPr>
            <a:spLocks noGrp="1"/>
          </p:cNvSpPr>
          <p:nvPr>
            <p:ph type="title"/>
          </p:nvPr>
        </p:nvSpPr>
        <p:spPr/>
        <p:txBody>
          <a:bodyPr>
            <a:normAutofit fontScale="90000"/>
          </a:bodyPr>
          <a:lstStyle/>
          <a:p>
            <a:r>
              <a:rPr lang="nl-NL" altLang="zh-CN" dirty="0"/>
              <a:t>	</a:t>
            </a:r>
            <a:br>
              <a:rPr lang="nl-NL" altLang="zh-CN" dirty="0"/>
            </a:br>
            <a:r>
              <a:rPr lang="nl-NL" altLang="zh-CN" dirty="0"/>
              <a:t>Lecture 8 - Inter-Domain Routing ANS </a:t>
            </a:r>
            <a:endParaRPr lang="zh-CN" altLang="en-US" dirty="0"/>
          </a:p>
        </p:txBody>
      </p:sp>
      <p:sp>
        <p:nvSpPr>
          <p:cNvPr id="3" name="Slide Number Placeholder 2">
            <a:extLst>
              <a:ext uri="{FF2B5EF4-FFF2-40B4-BE49-F238E27FC236}">
                <a16:creationId xmlns:a16="http://schemas.microsoft.com/office/drawing/2014/main" id="{E7A74411-12AC-592E-9E74-B02E1EC2BDDF}"/>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a:extLst>
              <a:ext uri="{FF2B5EF4-FFF2-40B4-BE49-F238E27FC236}">
                <a16:creationId xmlns:a16="http://schemas.microsoft.com/office/drawing/2014/main" id="{C47EC66F-BF3A-D0A3-A7EB-022412628B59}"/>
              </a:ext>
            </a:extLst>
          </p:cNvPr>
          <p:cNvSpPr>
            <a:spLocks noGrp="1"/>
          </p:cNvSpPr>
          <p:nvPr>
            <p:ph sz="quarter" idx="1"/>
          </p:nvPr>
        </p:nvSpPr>
        <p:spPr>
          <a:xfrm>
            <a:off x="609600" y="1219200"/>
            <a:ext cx="10972800" cy="3082160"/>
          </a:xfrm>
        </p:spPr>
        <p:txBody>
          <a:bodyPr>
            <a:normAutofit fontScale="62500" lnSpcReduction="20000"/>
          </a:bodyPr>
          <a:lstStyle/>
          <a:p>
            <a:r>
              <a:rPr lang="en-US" altLang="zh-CN" dirty="0"/>
              <a:t>a) AS1 to AS8 </a:t>
            </a:r>
          </a:p>
          <a:p>
            <a:pPr lvl="1"/>
            <a:r>
              <a:rPr lang="en-US" altLang="zh-CN" dirty="0"/>
              <a:t>None</a:t>
            </a:r>
          </a:p>
          <a:p>
            <a:r>
              <a:rPr lang="en-US" altLang="zh-CN" dirty="0"/>
              <a:t>b) AS2 to AS7</a:t>
            </a:r>
          </a:p>
          <a:p>
            <a:pPr lvl="1"/>
            <a:r>
              <a:rPr lang="en-US" altLang="zh-CN" dirty="0"/>
              <a:t>AS2,  AS5,  AS7</a:t>
            </a:r>
          </a:p>
          <a:p>
            <a:pPr lvl="1"/>
            <a:r>
              <a:rPr lang="en-US" altLang="zh-CN" dirty="0"/>
              <a:t>Note: AS2, AS3, AS4, AS5, AS7 is also legal, but AS2, AS5, AS7 is the correct path. Since AS2 learns that route from a peer (AS5), it is preferred over the provider-learned route via AS3</a:t>
            </a:r>
          </a:p>
          <a:p>
            <a:r>
              <a:rPr lang="en-US" altLang="zh-CN" dirty="0"/>
              <a:t>c) AS5 to AS8</a:t>
            </a:r>
          </a:p>
          <a:p>
            <a:pPr lvl="1"/>
            <a:r>
              <a:rPr lang="en-US" altLang="zh-CN" dirty="0"/>
              <a:t>AS5,  AS6,  AS8</a:t>
            </a:r>
          </a:p>
          <a:p>
            <a:pPr lvl="1"/>
            <a:r>
              <a:rPr lang="en-US" altLang="zh-CN" dirty="0"/>
              <a:t>Note:  AS5,  AS7,  AS8 is not a legal path, since AS7 does not have a customer neighbor along that path. It also violates the valley-free rule.</a:t>
            </a:r>
          </a:p>
          <a:p>
            <a:r>
              <a:rPr lang="en-US" altLang="zh-CN" dirty="0"/>
              <a:t>d) AS2 to AS5</a:t>
            </a:r>
          </a:p>
          <a:p>
            <a:pPr lvl="1"/>
            <a:r>
              <a:rPr lang="en-US" altLang="zh-CN" dirty="0"/>
              <a:t>AS2, AS5</a:t>
            </a:r>
          </a:p>
          <a:p>
            <a:pPr lvl="1"/>
            <a:r>
              <a:rPr lang="en-US" altLang="zh-CN" dirty="0"/>
              <a:t>Note:  AS2, AS3, AS4, AS5 is also legal, but AS2, AS5 is the correct path. </a:t>
            </a:r>
            <a:endParaRPr lang="zh-CN" altLang="en-US" dirty="0"/>
          </a:p>
        </p:txBody>
      </p:sp>
      <p:pic>
        <p:nvPicPr>
          <p:cNvPr id="5" name="Picture 4">
            <a:extLst>
              <a:ext uri="{FF2B5EF4-FFF2-40B4-BE49-F238E27FC236}">
                <a16:creationId xmlns:a16="http://schemas.microsoft.com/office/drawing/2014/main" id="{2038BF27-4417-9696-1ABB-EA529636937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4355084"/>
            <a:ext cx="6745573" cy="2313302"/>
          </a:xfrm>
          <a:prstGeom prst="rect">
            <a:avLst/>
          </a:prstGeom>
          <a:noFill/>
        </p:spPr>
      </p:pic>
    </p:spTree>
    <p:extLst>
      <p:ext uri="{BB962C8B-B14F-4D97-AF65-F5344CB8AC3E}">
        <p14:creationId xmlns:p14="http://schemas.microsoft.com/office/powerpoint/2010/main" val="1702780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FDD0-2609-B951-D6DF-E47EE9847110}"/>
              </a:ext>
            </a:extLst>
          </p:cNvPr>
          <p:cNvSpPr>
            <a:spLocks noGrp="1"/>
          </p:cNvSpPr>
          <p:nvPr>
            <p:ph type="title"/>
          </p:nvPr>
        </p:nvSpPr>
        <p:spPr/>
        <p:txBody>
          <a:bodyPr/>
          <a:lstStyle/>
          <a:p>
            <a:r>
              <a:rPr lang="nl-NL" altLang="zh-CN" dirty="0"/>
              <a:t>Lecture 11 TCP Implementation ANS</a:t>
            </a:r>
            <a:endParaRPr lang="zh-CN" altLang="en-US" dirty="0"/>
          </a:p>
        </p:txBody>
      </p:sp>
      <p:sp>
        <p:nvSpPr>
          <p:cNvPr id="3" name="Slide Number Placeholder 2">
            <a:extLst>
              <a:ext uri="{FF2B5EF4-FFF2-40B4-BE49-F238E27FC236}">
                <a16:creationId xmlns:a16="http://schemas.microsoft.com/office/drawing/2014/main" id="{04025EAF-0C73-1959-9058-9E863D38D6C8}"/>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F2C3B79B-FCD6-BD2E-C7DD-972734F8BF40}"/>
              </a:ext>
            </a:extLst>
          </p:cNvPr>
          <p:cNvSpPr>
            <a:spLocks noGrp="1"/>
          </p:cNvSpPr>
          <p:nvPr>
            <p:ph sz="quarter" idx="1"/>
          </p:nvPr>
        </p:nvSpPr>
        <p:spPr>
          <a:xfrm>
            <a:off x="609600" y="1219200"/>
            <a:ext cx="6879794" cy="5257800"/>
          </a:xfrm>
        </p:spPr>
        <p:txBody>
          <a:bodyPr/>
          <a:lstStyle/>
          <a:p>
            <a:r>
              <a:rPr lang="en-US" altLang="zh-CN" dirty="0"/>
              <a:t>Consider the TCP sequence diagram with sequence numbers in Bytes.  What are the </a:t>
            </a:r>
            <a:r>
              <a:rPr lang="en-US" altLang="zh-CN" dirty="0" err="1"/>
              <a:t>ACKed</a:t>
            </a:r>
            <a:r>
              <a:rPr lang="en-US" altLang="zh-CN" dirty="0"/>
              <a:t> sequence numbers x1, x2, and x3?</a:t>
            </a:r>
          </a:p>
          <a:p>
            <a:r>
              <a:rPr lang="en-US" altLang="zh-CN" dirty="0"/>
              <a:t>ANS: x1 = 100, x2 = 120,</a:t>
            </a:r>
            <a:r>
              <a:rPr lang="zh-CN" altLang="en-US" dirty="0"/>
              <a:t> </a:t>
            </a:r>
            <a:r>
              <a:rPr lang="en-US" altLang="zh-CN" dirty="0"/>
              <a:t>x3</a:t>
            </a:r>
            <a:r>
              <a:rPr lang="zh-CN" altLang="en-US" dirty="0"/>
              <a:t> </a:t>
            </a:r>
            <a:r>
              <a:rPr lang="en-US" altLang="zh-CN" dirty="0"/>
              <a:t>=</a:t>
            </a:r>
            <a:r>
              <a:rPr lang="zh-CN" altLang="en-US" dirty="0"/>
              <a:t> </a:t>
            </a:r>
            <a:r>
              <a:rPr lang="en-US" altLang="zh-CN" dirty="0"/>
              <a:t>120</a:t>
            </a:r>
          </a:p>
          <a:p>
            <a:r>
              <a:rPr lang="en-US" altLang="zh-CN" dirty="0"/>
              <a:t>(Refer to Lecture Slide 13.)</a:t>
            </a:r>
            <a:endParaRPr lang="zh-CN" altLang="en-US" dirty="0"/>
          </a:p>
        </p:txBody>
      </p:sp>
      <p:sp>
        <p:nvSpPr>
          <p:cNvPr id="5" name="Text Box 177">
            <a:extLst>
              <a:ext uri="{FF2B5EF4-FFF2-40B4-BE49-F238E27FC236}">
                <a16:creationId xmlns:a16="http://schemas.microsoft.com/office/drawing/2014/main" id="{AAAE3256-0267-C33F-8550-1FD8886C4DC7}"/>
              </a:ext>
            </a:extLst>
          </p:cNvPr>
          <p:cNvSpPr txBox="1">
            <a:spLocks noChangeArrowheads="1"/>
          </p:cNvSpPr>
          <p:nvPr/>
        </p:nvSpPr>
        <p:spPr bwMode="auto">
          <a:xfrm>
            <a:off x="9877425" y="1312862"/>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6" name="Text Box 181">
            <a:extLst>
              <a:ext uri="{FF2B5EF4-FFF2-40B4-BE49-F238E27FC236}">
                <a16:creationId xmlns:a16="http://schemas.microsoft.com/office/drawing/2014/main" id="{4008802B-EAB3-D7BF-F514-461D98A9AB77}"/>
              </a:ext>
            </a:extLst>
          </p:cNvPr>
          <p:cNvSpPr txBox="1">
            <a:spLocks noChangeArrowheads="1"/>
          </p:cNvSpPr>
          <p:nvPr/>
        </p:nvSpPr>
        <p:spPr bwMode="auto">
          <a:xfrm>
            <a:off x="7543800" y="1330325"/>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7" name="Line 186">
            <a:extLst>
              <a:ext uri="{FF2B5EF4-FFF2-40B4-BE49-F238E27FC236}">
                <a16:creationId xmlns:a16="http://schemas.microsoft.com/office/drawing/2014/main" id="{115DE266-78C1-D033-591A-FB077F2E082F}"/>
              </a:ext>
            </a:extLst>
          </p:cNvPr>
          <p:cNvSpPr>
            <a:spLocks noChangeShapeType="1"/>
          </p:cNvSpPr>
          <p:nvPr/>
        </p:nvSpPr>
        <p:spPr bwMode="auto">
          <a:xfrm>
            <a:off x="7918450" y="2230437"/>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 name="Line 187">
            <a:extLst>
              <a:ext uri="{FF2B5EF4-FFF2-40B4-BE49-F238E27FC236}">
                <a16:creationId xmlns:a16="http://schemas.microsoft.com/office/drawing/2014/main" id="{BBC6AD50-96C2-A81D-7B02-033520BF6606}"/>
              </a:ext>
            </a:extLst>
          </p:cNvPr>
          <p:cNvSpPr>
            <a:spLocks noChangeShapeType="1"/>
          </p:cNvSpPr>
          <p:nvPr/>
        </p:nvSpPr>
        <p:spPr bwMode="auto">
          <a:xfrm>
            <a:off x="10323513" y="2225675"/>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 name="Rectangle 188">
            <a:extLst>
              <a:ext uri="{FF2B5EF4-FFF2-40B4-BE49-F238E27FC236}">
                <a16:creationId xmlns:a16="http://schemas.microsoft.com/office/drawing/2014/main" id="{E281FC21-EDAA-CDAE-04E4-75DBC2CC21EC}"/>
              </a:ext>
            </a:extLst>
          </p:cNvPr>
          <p:cNvSpPr>
            <a:spLocks noChangeArrowheads="1"/>
          </p:cNvSpPr>
          <p:nvPr/>
        </p:nvSpPr>
        <p:spPr bwMode="auto">
          <a:xfrm>
            <a:off x="8931275" y="4357687"/>
            <a:ext cx="1057275"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0" name="Group 9">
            <a:extLst>
              <a:ext uri="{FF2B5EF4-FFF2-40B4-BE49-F238E27FC236}">
                <a16:creationId xmlns:a16="http://schemas.microsoft.com/office/drawing/2014/main" id="{8DDB2827-B492-4D8E-BF0E-7A08331D40E6}"/>
              </a:ext>
            </a:extLst>
          </p:cNvPr>
          <p:cNvGrpSpPr/>
          <p:nvPr/>
        </p:nvGrpSpPr>
        <p:grpSpPr>
          <a:xfrm>
            <a:off x="7883807" y="4274954"/>
            <a:ext cx="2441575" cy="712367"/>
            <a:chOff x="7595603" y="4111297"/>
            <a:chExt cx="2441575" cy="712367"/>
          </a:xfrm>
        </p:grpSpPr>
        <p:sp>
          <p:nvSpPr>
            <p:cNvPr id="11" name="Line 173">
              <a:extLst>
                <a:ext uri="{FF2B5EF4-FFF2-40B4-BE49-F238E27FC236}">
                  <a16:creationId xmlns:a16="http://schemas.microsoft.com/office/drawing/2014/main" id="{EED5FFCC-60D5-0811-B4C4-1DDDD75DD07F}"/>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 name="Text Box 189">
              <a:extLst>
                <a:ext uri="{FF2B5EF4-FFF2-40B4-BE49-F238E27FC236}">
                  <a16:creationId xmlns:a16="http://schemas.microsoft.com/office/drawing/2014/main" id="{966322C6-34B2-E3D4-EEEB-347C7D4D4C1E}"/>
                </a:ext>
              </a:extLst>
            </p:cNvPr>
            <p:cNvSpPr txBox="1">
              <a:spLocks noChangeArrowheads="1"/>
            </p:cNvSpPr>
            <p:nvPr/>
          </p:nvSpPr>
          <p:spPr bwMode="auto">
            <a:xfrm>
              <a:off x="8177076" y="4515887"/>
              <a:ext cx="1577676" cy="307777"/>
            </a:xfrm>
            <a:prstGeom prst="rect">
              <a:avLst/>
            </a:prstGeom>
            <a:solidFill>
              <a:schemeClr val="bg1"/>
            </a:solid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8B data</a:t>
              </a:r>
            </a:p>
          </p:txBody>
        </p:sp>
      </p:grpSp>
      <p:sp>
        <p:nvSpPr>
          <p:cNvPr id="13" name="Rectangle 193">
            <a:extLst>
              <a:ext uri="{FF2B5EF4-FFF2-40B4-BE49-F238E27FC236}">
                <a16:creationId xmlns:a16="http://schemas.microsoft.com/office/drawing/2014/main" id="{B5153DF0-6CC1-D47B-39A2-7F782109A394}"/>
              </a:ext>
            </a:extLst>
          </p:cNvPr>
          <p:cNvSpPr>
            <a:spLocks noChangeArrowheads="1"/>
          </p:cNvSpPr>
          <p:nvPr/>
        </p:nvSpPr>
        <p:spPr bwMode="auto">
          <a:xfrm>
            <a:off x="8770938" y="5200650"/>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4" name="Group 13">
            <a:extLst>
              <a:ext uri="{FF2B5EF4-FFF2-40B4-BE49-F238E27FC236}">
                <a16:creationId xmlns:a16="http://schemas.microsoft.com/office/drawing/2014/main" id="{976AB86A-2056-B45C-D3D0-39477AF6690E}"/>
              </a:ext>
            </a:extLst>
          </p:cNvPr>
          <p:cNvGrpSpPr/>
          <p:nvPr/>
        </p:nvGrpSpPr>
        <p:grpSpPr>
          <a:xfrm>
            <a:off x="7988300" y="4943475"/>
            <a:ext cx="2287587" cy="1033337"/>
            <a:chOff x="7678153" y="4814560"/>
            <a:chExt cx="2287587" cy="1033337"/>
          </a:xfrm>
        </p:grpSpPr>
        <p:sp>
          <p:nvSpPr>
            <p:cNvPr id="15" name="Line 192">
              <a:extLst>
                <a:ext uri="{FF2B5EF4-FFF2-40B4-BE49-F238E27FC236}">
                  <a16:creationId xmlns:a16="http://schemas.microsoft.com/office/drawing/2014/main" id="{01E2A866-220D-834A-8E76-E1EC925A3FEF}"/>
                </a:ext>
              </a:extLst>
            </p:cNvPr>
            <p:cNvSpPr>
              <a:spLocks noChangeShapeType="1"/>
            </p:cNvSpPr>
            <p:nvPr/>
          </p:nvSpPr>
          <p:spPr bwMode="auto">
            <a:xfrm flipH="1">
              <a:off x="7678153" y="4814560"/>
              <a:ext cx="2287587" cy="10333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 name="Text Box 194">
              <a:extLst>
                <a:ext uri="{FF2B5EF4-FFF2-40B4-BE49-F238E27FC236}">
                  <a16:creationId xmlns:a16="http://schemas.microsoft.com/office/drawing/2014/main" id="{955BC2C5-D3C0-DCFC-C740-0FBB81CE5B69}"/>
                </a:ext>
              </a:extLst>
            </p:cNvPr>
            <p:cNvSpPr txBox="1">
              <a:spLocks noChangeArrowheads="1"/>
            </p:cNvSpPr>
            <p:nvPr/>
          </p:nvSpPr>
          <p:spPr bwMode="auto">
            <a:xfrm>
              <a:off x="8334126" y="5122730"/>
              <a:ext cx="1047082" cy="307777"/>
            </a:xfrm>
            <a:prstGeom prst="rect">
              <a:avLst/>
            </a:prstGeom>
            <a:solidFill>
              <a:schemeClr val="bg1"/>
            </a:solid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lvl="0" algn="ctr" eaLnBrk="0" fontAlgn="base" hangingPunct="0">
                <a:spcBef>
                  <a:spcPct val="0"/>
                </a:spcBef>
                <a:spcAft>
                  <a:spcPct val="0"/>
                </a:spcAft>
                <a:defRPr/>
              </a:pPr>
              <a:r>
                <a:rPr lang="en-US" altLang="zh-CN" sz="1400" kern="0" dirty="0">
                  <a:solidFill>
                    <a:srgbClr val="000000"/>
                  </a:solidFill>
                  <a:latin typeface="Arial" charset="0"/>
                </a:rPr>
                <a:t>ACK=_x3_</a:t>
              </a:r>
            </a:p>
          </p:txBody>
        </p:sp>
      </p:grpSp>
      <p:grpSp>
        <p:nvGrpSpPr>
          <p:cNvPr id="17" name="Group 16">
            <a:extLst>
              <a:ext uri="{FF2B5EF4-FFF2-40B4-BE49-F238E27FC236}">
                <a16:creationId xmlns:a16="http://schemas.microsoft.com/office/drawing/2014/main" id="{4BE92D0A-39B8-1FA9-8E46-F44C6E100710}"/>
              </a:ext>
            </a:extLst>
          </p:cNvPr>
          <p:cNvGrpSpPr/>
          <p:nvPr/>
        </p:nvGrpSpPr>
        <p:grpSpPr>
          <a:xfrm>
            <a:off x="7545388" y="2476500"/>
            <a:ext cx="396875" cy="1751012"/>
            <a:chOff x="7235241" y="2347585"/>
            <a:chExt cx="396875" cy="1751012"/>
          </a:xfrm>
        </p:grpSpPr>
        <p:sp>
          <p:nvSpPr>
            <p:cNvPr id="18" name="Text Box 191">
              <a:extLst>
                <a:ext uri="{FF2B5EF4-FFF2-40B4-BE49-F238E27FC236}">
                  <a16:creationId xmlns:a16="http://schemas.microsoft.com/office/drawing/2014/main" id="{1947567A-27A7-F5FA-DAE5-7DF366098B54}"/>
                </a:ext>
              </a:extLst>
            </p:cNvPr>
            <p:cNvSpPr txBox="1">
              <a:spLocks noChangeArrowheads="1"/>
            </p:cNvSpPr>
            <p:nvPr/>
          </p:nvSpPr>
          <p:spPr bwMode="auto">
            <a:xfrm rot="10800000">
              <a:off x="7235241" y="2890510"/>
              <a:ext cx="396875" cy="688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9" name="Group 195">
              <a:extLst>
                <a:ext uri="{FF2B5EF4-FFF2-40B4-BE49-F238E27FC236}">
                  <a16:creationId xmlns:a16="http://schemas.microsoft.com/office/drawing/2014/main" id="{94440678-343F-E5E9-E6F0-16592356CE4B}"/>
                </a:ext>
              </a:extLst>
            </p:cNvPr>
            <p:cNvGrpSpPr>
              <a:grpSpLocks/>
            </p:cNvGrpSpPr>
            <p:nvPr/>
          </p:nvGrpSpPr>
          <p:grpSpPr bwMode="auto">
            <a:xfrm>
              <a:off x="7376528" y="2347585"/>
              <a:ext cx="104775" cy="508000"/>
              <a:chOff x="3099" y="1749"/>
              <a:chExt cx="66" cy="320"/>
            </a:xfrm>
          </p:grpSpPr>
          <p:sp>
            <p:nvSpPr>
              <p:cNvPr id="23" name="Line 196">
                <a:extLst>
                  <a:ext uri="{FF2B5EF4-FFF2-40B4-BE49-F238E27FC236}">
                    <a16:creationId xmlns:a16="http://schemas.microsoft.com/office/drawing/2014/main" id="{49B11B0E-42A7-5D3B-5872-F6C52D60CB5F}"/>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 name="Line 197">
                <a:extLst>
                  <a:ext uri="{FF2B5EF4-FFF2-40B4-BE49-F238E27FC236}">
                    <a16:creationId xmlns:a16="http://schemas.microsoft.com/office/drawing/2014/main" id="{3B8AF16E-87AF-7E41-F4F2-C9E64DADBD15}"/>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0" name="Group 198">
              <a:extLst>
                <a:ext uri="{FF2B5EF4-FFF2-40B4-BE49-F238E27FC236}">
                  <a16:creationId xmlns:a16="http://schemas.microsoft.com/office/drawing/2014/main" id="{69F2D5F4-193A-C709-E8AB-BF39D40F36FA}"/>
                </a:ext>
              </a:extLst>
            </p:cNvPr>
            <p:cNvGrpSpPr>
              <a:grpSpLocks/>
            </p:cNvGrpSpPr>
            <p:nvPr/>
          </p:nvGrpSpPr>
          <p:grpSpPr bwMode="auto">
            <a:xfrm rot="10800000">
              <a:off x="7371766" y="3590597"/>
              <a:ext cx="104775" cy="508000"/>
              <a:chOff x="3099" y="1749"/>
              <a:chExt cx="66" cy="320"/>
            </a:xfrm>
          </p:grpSpPr>
          <p:sp>
            <p:nvSpPr>
              <p:cNvPr id="21" name="Line 199">
                <a:extLst>
                  <a:ext uri="{FF2B5EF4-FFF2-40B4-BE49-F238E27FC236}">
                    <a16:creationId xmlns:a16="http://schemas.microsoft.com/office/drawing/2014/main" id="{23D4A3A9-52BF-07A7-50D3-8A618C815740}"/>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 name="Line 200">
                <a:extLst>
                  <a:ext uri="{FF2B5EF4-FFF2-40B4-BE49-F238E27FC236}">
                    <a16:creationId xmlns:a16="http://schemas.microsoft.com/office/drawing/2014/main" id="{90B86C25-5EE8-2D8B-376C-AA3908A1DB7C}"/>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25" name="Group 24">
            <a:extLst>
              <a:ext uri="{FF2B5EF4-FFF2-40B4-BE49-F238E27FC236}">
                <a16:creationId xmlns:a16="http://schemas.microsoft.com/office/drawing/2014/main" id="{E3003C45-3FFC-EB74-BE16-5356726234DC}"/>
              </a:ext>
            </a:extLst>
          </p:cNvPr>
          <p:cNvGrpSpPr/>
          <p:nvPr/>
        </p:nvGrpSpPr>
        <p:grpSpPr>
          <a:xfrm>
            <a:off x="7913688" y="3133725"/>
            <a:ext cx="2339975" cy="1944687"/>
            <a:chOff x="7603541" y="3004810"/>
            <a:chExt cx="2339975" cy="1944687"/>
          </a:xfrm>
        </p:grpSpPr>
        <p:sp>
          <p:nvSpPr>
            <p:cNvPr id="26" name="Line 175">
              <a:extLst>
                <a:ext uri="{FF2B5EF4-FFF2-40B4-BE49-F238E27FC236}">
                  <a16:creationId xmlns:a16="http://schemas.microsoft.com/office/drawing/2014/main" id="{C334175E-9262-EA31-0BB9-E62FC674D4C5}"/>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7" name="Group 202">
              <a:extLst>
                <a:ext uri="{FF2B5EF4-FFF2-40B4-BE49-F238E27FC236}">
                  <a16:creationId xmlns:a16="http://schemas.microsoft.com/office/drawing/2014/main" id="{48FCA832-CE8A-265A-ACB2-BE897340EF82}"/>
                </a:ext>
              </a:extLst>
            </p:cNvPr>
            <p:cNvGrpSpPr>
              <a:grpSpLocks/>
            </p:cNvGrpSpPr>
            <p:nvPr/>
          </p:nvGrpSpPr>
          <p:grpSpPr bwMode="auto">
            <a:xfrm>
              <a:off x="8459208" y="3496935"/>
              <a:ext cx="1047751" cy="307975"/>
              <a:chOff x="4186" y="2253"/>
              <a:chExt cx="660" cy="194"/>
            </a:xfrm>
          </p:grpSpPr>
          <p:sp>
            <p:nvSpPr>
              <p:cNvPr id="32" name="Rectangle 184">
                <a:extLst>
                  <a:ext uri="{FF2B5EF4-FFF2-40B4-BE49-F238E27FC236}">
                    <a16:creationId xmlns:a16="http://schemas.microsoft.com/office/drawing/2014/main" id="{6C966754-2E70-464F-5954-3D857B6F1A4F}"/>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 name="Text Box 185">
                <a:extLst>
                  <a:ext uri="{FF2B5EF4-FFF2-40B4-BE49-F238E27FC236}">
                    <a16:creationId xmlns:a16="http://schemas.microsoft.com/office/drawing/2014/main" id="{BFB8105E-4BAF-E279-8321-063550F61789}"/>
                  </a:ext>
                </a:extLst>
              </p:cNvPr>
              <p:cNvSpPr txBox="1">
                <a:spLocks noChangeArrowheads="1"/>
              </p:cNvSpPr>
              <p:nvPr/>
            </p:nvSpPr>
            <p:spPr bwMode="auto">
              <a:xfrm>
                <a:off x="4186" y="2253"/>
                <a:ext cx="660" cy="19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ACK=_x1_</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28" name="Line 207">
              <a:extLst>
                <a:ext uri="{FF2B5EF4-FFF2-40B4-BE49-F238E27FC236}">
                  <a16:creationId xmlns:a16="http://schemas.microsoft.com/office/drawing/2014/main" id="{D8A1D729-7BBD-495A-3F60-91A2F6E10637}"/>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9" name="Group 208">
              <a:extLst>
                <a:ext uri="{FF2B5EF4-FFF2-40B4-BE49-F238E27FC236}">
                  <a16:creationId xmlns:a16="http://schemas.microsoft.com/office/drawing/2014/main" id="{04B45197-29F5-2B2D-9F5B-FAAAE7C7E267}"/>
                </a:ext>
              </a:extLst>
            </p:cNvPr>
            <p:cNvGrpSpPr>
              <a:grpSpLocks/>
            </p:cNvGrpSpPr>
            <p:nvPr/>
          </p:nvGrpSpPr>
          <p:grpSpPr bwMode="auto">
            <a:xfrm>
              <a:off x="8695747" y="3773160"/>
              <a:ext cx="1047751" cy="307975"/>
              <a:chOff x="4184" y="2253"/>
              <a:chExt cx="660" cy="194"/>
            </a:xfrm>
          </p:grpSpPr>
          <p:sp>
            <p:nvSpPr>
              <p:cNvPr id="30" name="Rectangle 209">
                <a:extLst>
                  <a:ext uri="{FF2B5EF4-FFF2-40B4-BE49-F238E27FC236}">
                    <a16:creationId xmlns:a16="http://schemas.microsoft.com/office/drawing/2014/main" id="{DF94930B-B5F9-56D5-8A1C-1B05E50A80FE}"/>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 name="Text Box 210">
                <a:extLst>
                  <a:ext uri="{FF2B5EF4-FFF2-40B4-BE49-F238E27FC236}">
                    <a16:creationId xmlns:a16="http://schemas.microsoft.com/office/drawing/2014/main" id="{2CDC5D65-E6FB-003E-2692-67F0B0DED146}"/>
                  </a:ext>
                </a:extLst>
              </p:cNvPr>
              <p:cNvSpPr txBox="1">
                <a:spLocks noChangeArrowheads="1"/>
              </p:cNvSpPr>
              <p:nvPr/>
            </p:nvSpPr>
            <p:spPr bwMode="auto">
              <a:xfrm>
                <a:off x="4184" y="2253"/>
                <a:ext cx="660" cy="19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ACK=_x2_</a:t>
                </a:r>
              </a:p>
            </p:txBody>
          </p:sp>
        </p:grpSp>
      </p:grpSp>
      <p:grpSp>
        <p:nvGrpSpPr>
          <p:cNvPr id="35" name="Group 34">
            <a:extLst>
              <a:ext uri="{FF2B5EF4-FFF2-40B4-BE49-F238E27FC236}">
                <a16:creationId xmlns:a16="http://schemas.microsoft.com/office/drawing/2014/main" id="{AF2827A7-7C2B-E99D-69CC-D1EBB4D17D9F}"/>
              </a:ext>
            </a:extLst>
          </p:cNvPr>
          <p:cNvGrpSpPr/>
          <p:nvPr/>
        </p:nvGrpSpPr>
        <p:grpSpPr>
          <a:xfrm>
            <a:off x="7924800" y="2471737"/>
            <a:ext cx="2360613" cy="957263"/>
            <a:chOff x="7614653" y="2342822"/>
            <a:chExt cx="2360613" cy="957263"/>
          </a:xfrm>
        </p:grpSpPr>
        <p:sp>
          <p:nvSpPr>
            <p:cNvPr id="36" name="Line 174">
              <a:extLst>
                <a:ext uri="{FF2B5EF4-FFF2-40B4-BE49-F238E27FC236}">
                  <a16:creationId xmlns:a16="http://schemas.microsoft.com/office/drawing/2014/main" id="{A88D962D-3039-5E3B-59F2-A03E70188F6D}"/>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Rectangle 182">
              <a:extLst>
                <a:ext uri="{FF2B5EF4-FFF2-40B4-BE49-F238E27FC236}">
                  <a16:creationId xmlns:a16="http://schemas.microsoft.com/office/drawing/2014/main" id="{AF8B1C74-5F13-30B7-D8C0-C488AB205C7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 name="Text Box 183">
              <a:extLst>
                <a:ext uri="{FF2B5EF4-FFF2-40B4-BE49-F238E27FC236}">
                  <a16:creationId xmlns:a16="http://schemas.microsoft.com/office/drawing/2014/main" id="{0C395C96-3E5B-2BDF-C287-845DAA805613}"/>
                </a:ext>
              </a:extLst>
            </p:cNvPr>
            <p:cNvSpPr txBox="1">
              <a:spLocks noChangeArrowheads="1"/>
            </p:cNvSpPr>
            <p:nvPr/>
          </p:nvSpPr>
          <p:spPr bwMode="auto">
            <a:xfrm>
              <a:off x="8055605" y="2476172"/>
              <a:ext cx="1521570" cy="30777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8B data</a:t>
              </a:r>
            </a:p>
          </p:txBody>
        </p:sp>
        <p:grpSp>
          <p:nvGrpSpPr>
            <p:cNvPr id="39" name="Group 206">
              <a:extLst>
                <a:ext uri="{FF2B5EF4-FFF2-40B4-BE49-F238E27FC236}">
                  <a16:creationId xmlns:a16="http://schemas.microsoft.com/office/drawing/2014/main" id="{30B38A9A-CB4B-331C-8620-12FF224780EA}"/>
                </a:ext>
              </a:extLst>
            </p:cNvPr>
            <p:cNvGrpSpPr>
              <a:grpSpLocks/>
            </p:cNvGrpSpPr>
            <p:nvPr/>
          </p:nvGrpSpPr>
          <p:grpSpPr bwMode="auto">
            <a:xfrm>
              <a:off x="7614653" y="2728585"/>
              <a:ext cx="2346325" cy="571500"/>
              <a:chOff x="3759" y="1622"/>
              <a:chExt cx="1478" cy="360"/>
            </a:xfrm>
          </p:grpSpPr>
          <p:sp>
            <p:nvSpPr>
              <p:cNvPr id="40" name="Line 203">
                <a:extLst>
                  <a:ext uri="{FF2B5EF4-FFF2-40B4-BE49-F238E27FC236}">
                    <a16:creationId xmlns:a16="http://schemas.microsoft.com/office/drawing/2014/main" id="{9E5878CA-93F9-D2B0-7B58-CF7B347CE55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 name="Rectangle 204">
                <a:extLst>
                  <a:ext uri="{FF2B5EF4-FFF2-40B4-BE49-F238E27FC236}">
                    <a16:creationId xmlns:a16="http://schemas.microsoft.com/office/drawing/2014/main" id="{13627564-7650-2566-4DD9-764B8B3D8D15}"/>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 name="Text Box 205">
                <a:extLst>
                  <a:ext uri="{FF2B5EF4-FFF2-40B4-BE49-F238E27FC236}">
                    <a16:creationId xmlns:a16="http://schemas.microsoft.com/office/drawing/2014/main" id="{3B4D0A2E-247C-B7A7-01CF-B257F302A0A5}"/>
                  </a:ext>
                </a:extLst>
              </p:cNvPr>
              <p:cNvSpPr txBox="1">
                <a:spLocks noChangeArrowheads="1"/>
              </p:cNvSpPr>
              <p:nvPr/>
            </p:nvSpPr>
            <p:spPr bwMode="auto">
              <a:xfrm>
                <a:off x="3968" y="1706"/>
                <a:ext cx="1082" cy="19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20B data</a:t>
                </a:r>
              </a:p>
            </p:txBody>
          </p:sp>
        </p:grpSp>
      </p:grpSp>
      <p:grpSp>
        <p:nvGrpSpPr>
          <p:cNvPr id="43" name="Group 219">
            <a:extLst>
              <a:ext uri="{FF2B5EF4-FFF2-40B4-BE49-F238E27FC236}">
                <a16:creationId xmlns:a16="http://schemas.microsoft.com/office/drawing/2014/main" id="{E02EE02B-46EA-13D6-A738-5E356789B862}"/>
              </a:ext>
            </a:extLst>
          </p:cNvPr>
          <p:cNvGrpSpPr>
            <a:grpSpLocks/>
          </p:cNvGrpSpPr>
          <p:nvPr/>
        </p:nvGrpSpPr>
        <p:grpSpPr bwMode="auto">
          <a:xfrm>
            <a:off x="7496175" y="1592262"/>
            <a:ext cx="630238" cy="533400"/>
            <a:chOff x="-44" y="1473"/>
            <a:chExt cx="981" cy="1105"/>
          </a:xfrm>
        </p:grpSpPr>
        <p:pic>
          <p:nvPicPr>
            <p:cNvPr id="44" name="Picture 220" descr="desktop_computer_stylized_medium">
              <a:extLst>
                <a:ext uri="{FF2B5EF4-FFF2-40B4-BE49-F238E27FC236}">
                  <a16:creationId xmlns:a16="http://schemas.microsoft.com/office/drawing/2014/main" id="{772BCDFC-073E-348D-1ABA-599F14C3CE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Freeform 221">
              <a:extLst>
                <a:ext uri="{FF2B5EF4-FFF2-40B4-BE49-F238E27FC236}">
                  <a16:creationId xmlns:a16="http://schemas.microsoft.com/office/drawing/2014/main" id="{1352BD83-7013-7AA7-1016-47F9A266D395}"/>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6" name="Group 225">
            <a:extLst>
              <a:ext uri="{FF2B5EF4-FFF2-40B4-BE49-F238E27FC236}">
                <a16:creationId xmlns:a16="http://schemas.microsoft.com/office/drawing/2014/main" id="{E409BBF1-56F0-2E20-1453-9A7904AC835C}"/>
              </a:ext>
            </a:extLst>
          </p:cNvPr>
          <p:cNvGrpSpPr>
            <a:grpSpLocks/>
          </p:cNvGrpSpPr>
          <p:nvPr/>
        </p:nvGrpSpPr>
        <p:grpSpPr bwMode="auto">
          <a:xfrm flipH="1">
            <a:off x="10063163" y="1598612"/>
            <a:ext cx="631825" cy="622300"/>
            <a:chOff x="-44" y="1473"/>
            <a:chExt cx="981" cy="1105"/>
          </a:xfrm>
        </p:grpSpPr>
        <p:pic>
          <p:nvPicPr>
            <p:cNvPr id="47" name="Picture 226" descr="desktop_computer_stylized_medium">
              <a:extLst>
                <a:ext uri="{FF2B5EF4-FFF2-40B4-BE49-F238E27FC236}">
                  <a16:creationId xmlns:a16="http://schemas.microsoft.com/office/drawing/2014/main" id="{2F2D50AE-BB1A-8A8A-5612-F2E5F19963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Freeform 227">
              <a:extLst>
                <a:ext uri="{FF2B5EF4-FFF2-40B4-BE49-F238E27FC236}">
                  <a16:creationId xmlns:a16="http://schemas.microsoft.com/office/drawing/2014/main" id="{B5952A5B-1F42-9E56-D923-183B04A749D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Tree>
    <p:extLst>
      <p:ext uri="{BB962C8B-B14F-4D97-AF65-F5344CB8AC3E}">
        <p14:creationId xmlns:p14="http://schemas.microsoft.com/office/powerpoint/2010/main" val="2653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righ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dissolve">
                                      <p:cBhvr>
                                        <p:cTn id="16" dur="500"/>
                                        <p:tgtEl>
                                          <p:spTgt spid="1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605A5-A1BA-9EE9-8108-A45E9F827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761F1-B7B0-2E78-7B01-54A1B7896C79}"/>
              </a:ext>
            </a:extLst>
          </p:cNvPr>
          <p:cNvSpPr>
            <a:spLocks noGrp="1"/>
          </p:cNvSpPr>
          <p:nvPr>
            <p:ph type="title"/>
          </p:nvPr>
        </p:nvSpPr>
        <p:spPr/>
        <p:txBody>
          <a:bodyPr/>
          <a:lstStyle/>
          <a:p>
            <a:r>
              <a:rPr lang="nl-NL" altLang="zh-CN" dirty="0"/>
              <a:t>Lecture 11 TCP Implementation ANS</a:t>
            </a:r>
            <a:endParaRPr lang="zh-CN" altLang="en-US" dirty="0"/>
          </a:p>
        </p:txBody>
      </p:sp>
      <p:sp>
        <p:nvSpPr>
          <p:cNvPr id="3" name="Slide Number Placeholder 2">
            <a:extLst>
              <a:ext uri="{FF2B5EF4-FFF2-40B4-BE49-F238E27FC236}">
                <a16:creationId xmlns:a16="http://schemas.microsoft.com/office/drawing/2014/main" id="{F83B66E9-B763-F528-F102-3617316576A5}"/>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7AFCAD1B-27BB-B497-B8E2-2098EBDDD5FF}"/>
              </a:ext>
            </a:extLst>
          </p:cNvPr>
          <p:cNvSpPr>
            <a:spLocks noGrp="1"/>
          </p:cNvSpPr>
          <p:nvPr>
            <p:ph sz="quarter" idx="1"/>
          </p:nvPr>
        </p:nvSpPr>
        <p:spPr>
          <a:xfrm>
            <a:off x="609600" y="1219200"/>
            <a:ext cx="6879794" cy="5257800"/>
          </a:xfrm>
        </p:spPr>
        <p:txBody>
          <a:bodyPr/>
          <a:lstStyle/>
          <a:p>
            <a:r>
              <a:rPr lang="en-US" altLang="zh-CN" dirty="0"/>
              <a:t>Consider the TCP sequence diagram with sequence numbers in Bytes.  What are the </a:t>
            </a:r>
            <a:r>
              <a:rPr lang="en-US" altLang="zh-CN" dirty="0" err="1"/>
              <a:t>ACKed</a:t>
            </a:r>
            <a:r>
              <a:rPr lang="en-US" altLang="zh-CN" dirty="0"/>
              <a:t> sequence numbers x1, x2, and x3?</a:t>
            </a:r>
          </a:p>
          <a:p>
            <a:r>
              <a:rPr lang="en-US" altLang="zh-CN" dirty="0"/>
              <a:t>ANS: x1 = 100, x2 = 120,</a:t>
            </a:r>
            <a:r>
              <a:rPr lang="zh-CN" altLang="en-US" dirty="0"/>
              <a:t> </a:t>
            </a:r>
            <a:r>
              <a:rPr lang="en-US" altLang="zh-CN" dirty="0"/>
              <a:t>x3</a:t>
            </a:r>
            <a:r>
              <a:rPr lang="zh-CN" altLang="en-US" dirty="0"/>
              <a:t> </a:t>
            </a:r>
            <a:r>
              <a:rPr lang="en-US" altLang="zh-CN" dirty="0"/>
              <a:t>=</a:t>
            </a:r>
            <a:r>
              <a:rPr lang="zh-CN" altLang="en-US" dirty="0"/>
              <a:t> </a:t>
            </a:r>
            <a:r>
              <a:rPr lang="en-US" altLang="zh-CN" dirty="0"/>
              <a:t>135</a:t>
            </a:r>
          </a:p>
          <a:p>
            <a:r>
              <a:rPr lang="en-US" altLang="zh-CN" dirty="0"/>
              <a:t>(Refer to Lecture Slide 15.)</a:t>
            </a:r>
            <a:endParaRPr lang="zh-CN" altLang="en-US" dirty="0"/>
          </a:p>
        </p:txBody>
      </p:sp>
      <p:sp>
        <p:nvSpPr>
          <p:cNvPr id="34" name="Line 36">
            <a:extLst>
              <a:ext uri="{FF2B5EF4-FFF2-40B4-BE49-F238E27FC236}">
                <a16:creationId xmlns:a16="http://schemas.microsoft.com/office/drawing/2014/main" id="{E7E6FA7E-37FB-E6F1-6285-8C42E59CBFE6}"/>
              </a:ext>
            </a:extLst>
          </p:cNvPr>
          <p:cNvSpPr>
            <a:spLocks noChangeShapeType="1"/>
          </p:cNvSpPr>
          <p:nvPr/>
        </p:nvSpPr>
        <p:spPr bwMode="auto">
          <a:xfrm>
            <a:off x="8472488" y="2586037"/>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9" name="Text Box 39">
            <a:extLst>
              <a:ext uri="{FF2B5EF4-FFF2-40B4-BE49-F238E27FC236}">
                <a16:creationId xmlns:a16="http://schemas.microsoft.com/office/drawing/2014/main" id="{94CF8FAD-9A13-054E-771B-D40C9528BC2F}"/>
              </a:ext>
            </a:extLst>
          </p:cNvPr>
          <p:cNvSpPr txBox="1">
            <a:spLocks noChangeArrowheads="1"/>
          </p:cNvSpPr>
          <p:nvPr/>
        </p:nvSpPr>
        <p:spPr bwMode="auto">
          <a:xfrm>
            <a:off x="10398125" y="1414462"/>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50" name="Text Box 43">
            <a:extLst>
              <a:ext uri="{FF2B5EF4-FFF2-40B4-BE49-F238E27FC236}">
                <a16:creationId xmlns:a16="http://schemas.microsoft.com/office/drawing/2014/main" id="{3ACD6A92-7EAD-9943-3A41-30688218438A}"/>
              </a:ext>
            </a:extLst>
          </p:cNvPr>
          <p:cNvSpPr txBox="1">
            <a:spLocks noChangeArrowheads="1"/>
          </p:cNvSpPr>
          <p:nvPr/>
        </p:nvSpPr>
        <p:spPr bwMode="auto">
          <a:xfrm>
            <a:off x="8077200" y="1444625"/>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51" name="Rectangle 44">
            <a:extLst>
              <a:ext uri="{FF2B5EF4-FFF2-40B4-BE49-F238E27FC236}">
                <a16:creationId xmlns:a16="http://schemas.microsoft.com/office/drawing/2014/main" id="{8876D09B-9F14-B455-C673-7D0DB3F18DE5}"/>
              </a:ext>
            </a:extLst>
          </p:cNvPr>
          <p:cNvSpPr>
            <a:spLocks noChangeArrowheads="1"/>
          </p:cNvSpPr>
          <p:nvPr/>
        </p:nvSpPr>
        <p:spPr bwMode="auto">
          <a:xfrm>
            <a:off x="9175750" y="2667000"/>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2" name="Text Box 45">
            <a:extLst>
              <a:ext uri="{FF2B5EF4-FFF2-40B4-BE49-F238E27FC236}">
                <a16:creationId xmlns:a16="http://schemas.microsoft.com/office/drawing/2014/main" id="{0F58808A-7665-E2B4-9D7B-A8FD78349D00}"/>
              </a:ext>
            </a:extLst>
          </p:cNvPr>
          <p:cNvSpPr txBox="1">
            <a:spLocks noChangeArrowheads="1"/>
          </p:cNvSpPr>
          <p:nvPr/>
        </p:nvSpPr>
        <p:spPr bwMode="auto">
          <a:xfrm>
            <a:off x="8616950" y="2719387"/>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53" name="Line 49">
            <a:extLst>
              <a:ext uri="{FF2B5EF4-FFF2-40B4-BE49-F238E27FC236}">
                <a16:creationId xmlns:a16="http://schemas.microsoft.com/office/drawing/2014/main" id="{511898C2-EDCF-7765-7E6E-E7365F785C70}"/>
              </a:ext>
            </a:extLst>
          </p:cNvPr>
          <p:cNvSpPr>
            <a:spLocks noChangeShapeType="1"/>
          </p:cNvSpPr>
          <p:nvPr/>
        </p:nvSpPr>
        <p:spPr bwMode="auto">
          <a:xfrm>
            <a:off x="8451850" y="2344737"/>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4" name="Line 50">
            <a:extLst>
              <a:ext uri="{FF2B5EF4-FFF2-40B4-BE49-F238E27FC236}">
                <a16:creationId xmlns:a16="http://schemas.microsoft.com/office/drawing/2014/main" id="{65B85535-E620-71B7-FC18-0E5BA1EEBFDE}"/>
              </a:ext>
            </a:extLst>
          </p:cNvPr>
          <p:cNvSpPr>
            <a:spLocks noChangeShapeType="1"/>
          </p:cNvSpPr>
          <p:nvPr/>
        </p:nvSpPr>
        <p:spPr bwMode="auto">
          <a:xfrm>
            <a:off x="10856913" y="2339975"/>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5" name="Group 54">
            <a:extLst>
              <a:ext uri="{FF2B5EF4-FFF2-40B4-BE49-F238E27FC236}">
                <a16:creationId xmlns:a16="http://schemas.microsoft.com/office/drawing/2014/main" id="{076BBB28-ACAD-7C29-6CEE-E6442BFCAAF7}"/>
              </a:ext>
            </a:extLst>
          </p:cNvPr>
          <p:cNvGrpSpPr/>
          <p:nvPr/>
        </p:nvGrpSpPr>
        <p:grpSpPr>
          <a:xfrm>
            <a:off x="8442325" y="4668837"/>
            <a:ext cx="2652713" cy="879475"/>
            <a:chOff x="2035037" y="4444549"/>
            <a:chExt cx="2652713" cy="879475"/>
          </a:xfrm>
        </p:grpSpPr>
        <p:sp>
          <p:nvSpPr>
            <p:cNvPr id="56" name="Line 35">
              <a:extLst>
                <a:ext uri="{FF2B5EF4-FFF2-40B4-BE49-F238E27FC236}">
                  <a16:creationId xmlns:a16="http://schemas.microsoft.com/office/drawing/2014/main" id="{60C668B3-7914-012A-E826-57E23377976F}"/>
                </a:ext>
              </a:extLst>
            </p:cNvPr>
            <p:cNvSpPr>
              <a:spLocks noChangeShapeType="1"/>
            </p:cNvSpPr>
            <p:nvPr/>
          </p:nvSpPr>
          <p:spPr bwMode="auto">
            <a:xfrm>
              <a:off x="2063613" y="4444549"/>
              <a:ext cx="2376480" cy="6954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7" name="Rectangle 51">
              <a:extLst>
                <a:ext uri="{FF2B5EF4-FFF2-40B4-BE49-F238E27FC236}">
                  <a16:creationId xmlns:a16="http://schemas.microsoft.com/office/drawing/2014/main" id="{620698F7-E9BE-F438-708F-75AE4B20167F}"/>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8" name="Text Box 52">
              <a:extLst>
                <a:ext uri="{FF2B5EF4-FFF2-40B4-BE49-F238E27FC236}">
                  <a16:creationId xmlns:a16="http://schemas.microsoft.com/office/drawing/2014/main" id="{1C8E80DB-185C-8B59-CEB5-E67E31C9B414}"/>
                </a:ext>
              </a:extLst>
            </p:cNvPr>
            <p:cNvSpPr txBox="1">
              <a:spLocks noChangeArrowheads="1"/>
            </p:cNvSpPr>
            <p:nvPr/>
          </p:nvSpPr>
          <p:spPr bwMode="auto">
            <a:xfrm>
              <a:off x="2035037" y="4604887"/>
              <a:ext cx="2652713"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Seq=120,  15 bytes of data</a:t>
              </a:r>
            </a:p>
          </p:txBody>
        </p:sp>
        <p:sp>
          <p:nvSpPr>
            <p:cNvPr id="59" name="Rectangle 55">
              <a:extLst>
                <a:ext uri="{FF2B5EF4-FFF2-40B4-BE49-F238E27FC236}">
                  <a16:creationId xmlns:a16="http://schemas.microsoft.com/office/drawing/2014/main" id="{91D6006C-A269-CEDD-9937-801BF8AFF251}"/>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60" name="Group 63">
            <a:extLst>
              <a:ext uri="{FF2B5EF4-FFF2-40B4-BE49-F238E27FC236}">
                <a16:creationId xmlns:a16="http://schemas.microsoft.com/office/drawing/2014/main" id="{E27E5221-1FCF-50ED-935C-79CB51338D85}"/>
              </a:ext>
            </a:extLst>
          </p:cNvPr>
          <p:cNvGrpSpPr>
            <a:grpSpLocks/>
          </p:cNvGrpSpPr>
          <p:nvPr/>
        </p:nvGrpSpPr>
        <p:grpSpPr bwMode="auto">
          <a:xfrm>
            <a:off x="8458200" y="2971800"/>
            <a:ext cx="2346325" cy="571500"/>
            <a:chOff x="3759" y="1622"/>
            <a:chExt cx="1478" cy="360"/>
          </a:xfrm>
        </p:grpSpPr>
        <p:sp>
          <p:nvSpPr>
            <p:cNvPr id="61" name="Line 64">
              <a:extLst>
                <a:ext uri="{FF2B5EF4-FFF2-40B4-BE49-F238E27FC236}">
                  <a16:creationId xmlns:a16="http://schemas.microsoft.com/office/drawing/2014/main" id="{A5B8058A-4C14-9C5E-937A-9C0F302A242D}"/>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2" name="Rectangle 65">
              <a:extLst>
                <a:ext uri="{FF2B5EF4-FFF2-40B4-BE49-F238E27FC236}">
                  <a16:creationId xmlns:a16="http://schemas.microsoft.com/office/drawing/2014/main" id="{0A1FE56C-2544-19E9-2CD9-919117060CF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Text Box 66">
              <a:extLst>
                <a:ext uri="{FF2B5EF4-FFF2-40B4-BE49-F238E27FC236}">
                  <a16:creationId xmlns:a16="http://schemas.microsoft.com/office/drawing/2014/main" id="{A4DE012D-567E-A58C-A844-9E4DEFDE7888}"/>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64" name="Group 63">
            <a:extLst>
              <a:ext uri="{FF2B5EF4-FFF2-40B4-BE49-F238E27FC236}">
                <a16:creationId xmlns:a16="http://schemas.microsoft.com/office/drawing/2014/main" id="{C7C8FA7D-A46E-74A9-8AF7-E3DD5A59ED10}"/>
              </a:ext>
            </a:extLst>
          </p:cNvPr>
          <p:cNvGrpSpPr/>
          <p:nvPr/>
        </p:nvGrpSpPr>
        <p:grpSpPr>
          <a:xfrm>
            <a:off x="8462963" y="3248025"/>
            <a:ext cx="2324100" cy="1381125"/>
            <a:chOff x="2030275" y="3011037"/>
            <a:chExt cx="2324100" cy="1381125"/>
          </a:xfrm>
        </p:grpSpPr>
        <p:sp>
          <p:nvSpPr>
            <p:cNvPr id="65" name="Text Box 22">
              <a:extLst>
                <a:ext uri="{FF2B5EF4-FFF2-40B4-BE49-F238E27FC236}">
                  <a16:creationId xmlns:a16="http://schemas.microsoft.com/office/drawing/2014/main" id="{800F4346-33B2-5422-2345-1AF8740BFD91}"/>
                </a:ext>
              </a:extLst>
            </p:cNvPr>
            <p:cNvSpPr txBox="1">
              <a:spLocks noChangeArrowheads="1"/>
            </p:cNvSpPr>
            <p:nvPr/>
          </p:nvSpPr>
          <p:spPr bwMode="auto">
            <a:xfrm>
              <a:off x="2654162" y="3372987"/>
              <a:ext cx="3587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66" name="Line 37">
              <a:extLst>
                <a:ext uri="{FF2B5EF4-FFF2-40B4-BE49-F238E27FC236}">
                  <a16:creationId xmlns:a16="http://schemas.microsoft.com/office/drawing/2014/main" id="{CFA76525-9DA7-E91D-D753-69330E6374FF}"/>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67" name="Group 46">
              <a:extLst>
                <a:ext uri="{FF2B5EF4-FFF2-40B4-BE49-F238E27FC236}">
                  <a16:creationId xmlns:a16="http://schemas.microsoft.com/office/drawing/2014/main" id="{EF9FD700-F668-0F7C-FC04-7F5F37631BA9}"/>
                </a:ext>
              </a:extLst>
            </p:cNvPr>
            <p:cNvGrpSpPr>
              <a:grpSpLocks/>
            </p:cNvGrpSpPr>
            <p:nvPr/>
          </p:nvGrpSpPr>
          <p:grpSpPr bwMode="auto">
            <a:xfrm>
              <a:off x="2890700" y="3211062"/>
              <a:ext cx="1047750" cy="307975"/>
              <a:chOff x="4184" y="2253"/>
              <a:chExt cx="660" cy="194"/>
            </a:xfrm>
          </p:grpSpPr>
          <p:sp>
            <p:nvSpPr>
              <p:cNvPr id="72" name="Rectangle 47">
                <a:extLst>
                  <a:ext uri="{FF2B5EF4-FFF2-40B4-BE49-F238E27FC236}">
                    <a16:creationId xmlns:a16="http://schemas.microsoft.com/office/drawing/2014/main" id="{7EDD5F29-C811-91CE-3417-3AC0B43FD56B}"/>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3" name="Text Box 48">
                <a:extLst>
                  <a:ext uri="{FF2B5EF4-FFF2-40B4-BE49-F238E27FC236}">
                    <a16:creationId xmlns:a16="http://schemas.microsoft.com/office/drawing/2014/main" id="{CA11165A-321C-9866-402A-D7D6F9FA29DD}"/>
                  </a:ext>
                </a:extLst>
              </p:cNvPr>
              <p:cNvSpPr txBox="1">
                <a:spLocks noChangeArrowheads="1"/>
              </p:cNvSpPr>
              <p:nvPr/>
            </p:nvSpPr>
            <p:spPr bwMode="auto">
              <a:xfrm>
                <a:off x="4184" y="2253"/>
                <a:ext cx="660" cy="19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lvl="0" algn="ctr" eaLnBrk="0" fontAlgn="base" hangingPunct="0">
                  <a:spcBef>
                    <a:spcPct val="0"/>
                  </a:spcBef>
                  <a:spcAft>
                    <a:spcPct val="0"/>
                  </a:spcAft>
                  <a:defRPr/>
                </a:pPr>
                <a:r>
                  <a:rPr lang="en-US" altLang="zh-CN" sz="1400" kern="0" dirty="0">
                    <a:solidFill>
                      <a:srgbClr val="000000"/>
                    </a:solidFill>
                    <a:latin typeface="Arial" charset="0"/>
                  </a:rPr>
                  <a:t>ACK=_x1_</a:t>
                </a:r>
                <a:endParaRPr lang="en-US" altLang="zh-CN" sz="1000" kern="0" dirty="0">
                  <a:solidFill>
                    <a:srgbClr val="000000"/>
                  </a:solidFill>
                  <a:latin typeface="Times New Roman" charset="0"/>
                </a:endParaRPr>
              </a:p>
            </p:txBody>
          </p:sp>
        </p:grpSp>
        <p:sp>
          <p:nvSpPr>
            <p:cNvPr id="68" name="Line 67">
              <a:extLst>
                <a:ext uri="{FF2B5EF4-FFF2-40B4-BE49-F238E27FC236}">
                  <a16:creationId xmlns:a16="http://schemas.microsoft.com/office/drawing/2014/main" id="{75905D13-540D-1524-6C1C-AB973C3E11F2}"/>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69" name="Group 68">
              <a:extLst>
                <a:ext uri="{FF2B5EF4-FFF2-40B4-BE49-F238E27FC236}">
                  <a16:creationId xmlns:a16="http://schemas.microsoft.com/office/drawing/2014/main" id="{08F4B78E-1C6E-E881-4F6A-9925DDA0DFD8}"/>
                </a:ext>
              </a:extLst>
            </p:cNvPr>
            <p:cNvGrpSpPr>
              <a:grpSpLocks/>
            </p:cNvGrpSpPr>
            <p:nvPr/>
          </p:nvGrpSpPr>
          <p:grpSpPr bwMode="auto">
            <a:xfrm>
              <a:off x="2624000" y="3768274"/>
              <a:ext cx="1047750" cy="307975"/>
              <a:chOff x="4184" y="2253"/>
              <a:chExt cx="660" cy="194"/>
            </a:xfrm>
          </p:grpSpPr>
          <p:sp>
            <p:nvSpPr>
              <p:cNvPr id="70" name="Rectangle 69">
                <a:extLst>
                  <a:ext uri="{FF2B5EF4-FFF2-40B4-BE49-F238E27FC236}">
                    <a16:creationId xmlns:a16="http://schemas.microsoft.com/office/drawing/2014/main" id="{D9B8D7A6-835B-B7CF-BE82-B8BBBDA41CAA}"/>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1" name="Text Box 70">
                <a:extLst>
                  <a:ext uri="{FF2B5EF4-FFF2-40B4-BE49-F238E27FC236}">
                    <a16:creationId xmlns:a16="http://schemas.microsoft.com/office/drawing/2014/main" id="{B3F50FF9-8EBA-8EF5-39C0-03FF7B14BC4D}"/>
                  </a:ext>
                </a:extLst>
              </p:cNvPr>
              <p:cNvSpPr txBox="1">
                <a:spLocks noChangeArrowheads="1"/>
              </p:cNvSpPr>
              <p:nvPr/>
            </p:nvSpPr>
            <p:spPr bwMode="auto">
              <a:xfrm>
                <a:off x="4184" y="2253"/>
                <a:ext cx="660" cy="19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lvl="0" algn="ctr" eaLnBrk="0" fontAlgn="base" hangingPunct="0">
                  <a:spcBef>
                    <a:spcPct val="0"/>
                  </a:spcBef>
                  <a:spcAft>
                    <a:spcPct val="0"/>
                  </a:spcAft>
                  <a:defRPr/>
                </a:pPr>
                <a:r>
                  <a:rPr lang="en-US" altLang="zh-CN" sz="1400" kern="0" dirty="0">
                    <a:solidFill>
                      <a:srgbClr val="000000"/>
                    </a:solidFill>
                    <a:latin typeface="Arial" charset="0"/>
                  </a:rPr>
                  <a:t>ACK=_x2_</a:t>
                </a:r>
              </a:p>
            </p:txBody>
          </p:sp>
        </p:grpSp>
      </p:grpSp>
      <p:grpSp>
        <p:nvGrpSpPr>
          <p:cNvPr id="74" name="Group 84">
            <a:extLst>
              <a:ext uri="{FF2B5EF4-FFF2-40B4-BE49-F238E27FC236}">
                <a16:creationId xmlns:a16="http://schemas.microsoft.com/office/drawing/2014/main" id="{73046F19-9559-B92B-501B-3A887AEEBFB0}"/>
              </a:ext>
            </a:extLst>
          </p:cNvPr>
          <p:cNvGrpSpPr>
            <a:grpSpLocks/>
          </p:cNvGrpSpPr>
          <p:nvPr/>
        </p:nvGrpSpPr>
        <p:grpSpPr bwMode="auto">
          <a:xfrm>
            <a:off x="8031163" y="1706562"/>
            <a:ext cx="630237" cy="533400"/>
            <a:chOff x="-44" y="1473"/>
            <a:chExt cx="981" cy="1105"/>
          </a:xfrm>
        </p:grpSpPr>
        <p:pic>
          <p:nvPicPr>
            <p:cNvPr id="75" name="Picture 85" descr="desktop_computer_stylized_medium">
              <a:extLst>
                <a:ext uri="{FF2B5EF4-FFF2-40B4-BE49-F238E27FC236}">
                  <a16:creationId xmlns:a16="http://schemas.microsoft.com/office/drawing/2014/main" id="{B0D16CCB-765B-AC8A-950B-298FC7C21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Freeform 86">
              <a:extLst>
                <a:ext uri="{FF2B5EF4-FFF2-40B4-BE49-F238E27FC236}">
                  <a16:creationId xmlns:a16="http://schemas.microsoft.com/office/drawing/2014/main" id="{7254F336-F58D-1DD6-11F9-CD7D231BB98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7" name="Group 87">
            <a:extLst>
              <a:ext uri="{FF2B5EF4-FFF2-40B4-BE49-F238E27FC236}">
                <a16:creationId xmlns:a16="http://schemas.microsoft.com/office/drawing/2014/main" id="{B768864E-15CF-F7EB-4191-B14488B63C3E}"/>
              </a:ext>
            </a:extLst>
          </p:cNvPr>
          <p:cNvGrpSpPr>
            <a:grpSpLocks/>
          </p:cNvGrpSpPr>
          <p:nvPr/>
        </p:nvGrpSpPr>
        <p:grpSpPr bwMode="auto">
          <a:xfrm flipH="1">
            <a:off x="10609263" y="1701800"/>
            <a:ext cx="674687" cy="590550"/>
            <a:chOff x="-44" y="1473"/>
            <a:chExt cx="981" cy="1105"/>
          </a:xfrm>
        </p:grpSpPr>
        <p:pic>
          <p:nvPicPr>
            <p:cNvPr id="78" name="Picture 88" descr="desktop_computer_stylized_medium">
              <a:extLst>
                <a:ext uri="{FF2B5EF4-FFF2-40B4-BE49-F238E27FC236}">
                  <a16:creationId xmlns:a16="http://schemas.microsoft.com/office/drawing/2014/main" id="{3BD030A4-6304-DB69-BB1C-B8F9AEE15C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Freeform 89">
              <a:extLst>
                <a:ext uri="{FF2B5EF4-FFF2-40B4-BE49-F238E27FC236}">
                  <a16:creationId xmlns:a16="http://schemas.microsoft.com/office/drawing/2014/main" id="{F999BE58-777F-647B-4277-45DAEDF909E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80" name="Rectangle 193">
            <a:extLst>
              <a:ext uri="{FF2B5EF4-FFF2-40B4-BE49-F238E27FC236}">
                <a16:creationId xmlns:a16="http://schemas.microsoft.com/office/drawing/2014/main" id="{C1021970-B8ED-94E4-2AA3-66D11088C6B2}"/>
              </a:ext>
            </a:extLst>
          </p:cNvPr>
          <p:cNvSpPr>
            <a:spLocks noChangeArrowheads="1"/>
          </p:cNvSpPr>
          <p:nvPr/>
        </p:nvSpPr>
        <p:spPr bwMode="auto">
          <a:xfrm>
            <a:off x="9313070" y="5657850"/>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1" name="Group 80">
            <a:extLst>
              <a:ext uri="{FF2B5EF4-FFF2-40B4-BE49-F238E27FC236}">
                <a16:creationId xmlns:a16="http://schemas.microsoft.com/office/drawing/2014/main" id="{94F99A6A-54FF-D84B-BBFE-2976DDB672EB}"/>
              </a:ext>
            </a:extLst>
          </p:cNvPr>
          <p:cNvGrpSpPr/>
          <p:nvPr/>
        </p:nvGrpSpPr>
        <p:grpSpPr>
          <a:xfrm>
            <a:off x="8530432" y="5400675"/>
            <a:ext cx="2287587" cy="1033337"/>
            <a:chOff x="7678153" y="4814560"/>
            <a:chExt cx="2287587" cy="1033337"/>
          </a:xfrm>
        </p:grpSpPr>
        <p:sp>
          <p:nvSpPr>
            <p:cNvPr id="82" name="Line 192">
              <a:extLst>
                <a:ext uri="{FF2B5EF4-FFF2-40B4-BE49-F238E27FC236}">
                  <a16:creationId xmlns:a16="http://schemas.microsoft.com/office/drawing/2014/main" id="{EF32CAAD-4F24-C8E5-75FC-0816EA22F2ED}"/>
                </a:ext>
              </a:extLst>
            </p:cNvPr>
            <p:cNvSpPr>
              <a:spLocks noChangeShapeType="1"/>
            </p:cNvSpPr>
            <p:nvPr/>
          </p:nvSpPr>
          <p:spPr bwMode="auto">
            <a:xfrm flipH="1">
              <a:off x="7678153" y="4814560"/>
              <a:ext cx="2287587" cy="10333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3" name="Text Box 194">
              <a:extLst>
                <a:ext uri="{FF2B5EF4-FFF2-40B4-BE49-F238E27FC236}">
                  <a16:creationId xmlns:a16="http://schemas.microsoft.com/office/drawing/2014/main" id="{89685EA7-E8E4-6542-7E0F-2243DAED37F4}"/>
                </a:ext>
              </a:extLst>
            </p:cNvPr>
            <p:cNvSpPr txBox="1">
              <a:spLocks noChangeArrowheads="1"/>
            </p:cNvSpPr>
            <p:nvPr/>
          </p:nvSpPr>
          <p:spPr bwMode="auto">
            <a:xfrm>
              <a:off x="8334126" y="5122730"/>
              <a:ext cx="1047082" cy="307777"/>
            </a:xfrm>
            <a:prstGeom prst="rect">
              <a:avLst/>
            </a:prstGeom>
            <a:solidFill>
              <a:schemeClr val="bg1"/>
            </a:solid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lvl="0" algn="ctr" eaLnBrk="0" fontAlgn="base" hangingPunct="0">
                <a:spcBef>
                  <a:spcPct val="0"/>
                </a:spcBef>
                <a:spcAft>
                  <a:spcPct val="0"/>
                </a:spcAft>
                <a:defRPr/>
              </a:pPr>
              <a:r>
                <a:rPr lang="en-US" altLang="zh-CN" sz="1400" kern="0" dirty="0">
                  <a:solidFill>
                    <a:srgbClr val="000000"/>
                  </a:solidFill>
                  <a:latin typeface="Arial" charset="0"/>
                </a:rPr>
                <a:t>ACK=_x3_</a:t>
              </a:r>
            </a:p>
          </p:txBody>
        </p:sp>
      </p:grpSp>
    </p:spTree>
    <p:extLst>
      <p:ext uri="{BB962C8B-B14F-4D97-AF65-F5344CB8AC3E}">
        <p14:creationId xmlns:p14="http://schemas.microsoft.com/office/powerpoint/2010/main" val="224208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wipe(left)">
                                      <p:cBhvr>
                                        <p:cTn id="10" dur="500"/>
                                        <p:tgtEl>
                                          <p:spTgt spid="5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wipe(left)">
                                      <p:cBhvr>
                                        <p:cTn id="13" dur="500"/>
                                        <p:tgtEl>
                                          <p:spTgt spid="52"/>
                                        </p:tgtEl>
                                      </p:cBhvr>
                                    </p:animEffect>
                                  </p:childTnLst>
                                </p:cTn>
                              </p:par>
                              <p:par>
                                <p:cTn id="14" presetID="22" presetClass="entr" presetSubtype="8" fill="hold"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wipe(left)">
                                      <p:cBhvr>
                                        <p:cTn id="16" dur="500"/>
                                        <p:tgtEl>
                                          <p:spTgt spid="60"/>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wipe(right)">
                                      <p:cBhvr>
                                        <p:cTn id="20" dur="500"/>
                                        <p:tgtEl>
                                          <p:spTgt spid="6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wipe(left)">
                                      <p:cBhvr>
                                        <p:cTn id="25" dur="500"/>
                                        <p:tgtEl>
                                          <p:spTgt spid="55"/>
                                        </p:tgtEl>
                                      </p:cBhvr>
                                    </p:animEffect>
                                  </p:childTnLst>
                                </p:cTn>
                              </p:par>
                            </p:childTnLst>
                          </p:cTn>
                        </p:par>
                        <p:par>
                          <p:cTn id="26" fill="hold">
                            <p:stCondLst>
                              <p:cond delay="500"/>
                            </p:stCondLst>
                            <p:childTnLst>
                              <p:par>
                                <p:cTn id="27" presetID="22" presetClass="entr" presetSubtype="2" fill="hold" nodeType="afterEffect">
                                  <p:stCondLst>
                                    <p:cond delay="0"/>
                                  </p:stCondLst>
                                  <p:childTnLst>
                                    <p:set>
                                      <p:cBhvr>
                                        <p:cTn id="28" dur="1" fill="hold">
                                          <p:stCondLst>
                                            <p:cond delay="0"/>
                                          </p:stCondLst>
                                        </p:cTn>
                                        <p:tgtEl>
                                          <p:spTgt spid="81"/>
                                        </p:tgtEl>
                                        <p:attrNameLst>
                                          <p:attrName>style.visibility</p:attrName>
                                        </p:attrNameLst>
                                      </p:cBhvr>
                                      <p:to>
                                        <p:strVal val="visible"/>
                                      </p:to>
                                    </p:set>
                                    <p:animEffect transition="in" filter="wipe(right)">
                                      <p:cBhvr>
                                        <p:cTn id="29"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51" grpId="0" animBg="1"/>
      <p:bldP spid="5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E4A2B-4983-FF7A-7875-A0B3614E119A}"/>
              </a:ext>
            </a:extLst>
          </p:cNvPr>
          <p:cNvSpPr>
            <a:spLocks noGrp="1"/>
          </p:cNvSpPr>
          <p:nvPr>
            <p:ph type="title"/>
          </p:nvPr>
        </p:nvSpPr>
        <p:spPr/>
        <p:txBody>
          <a:bodyPr>
            <a:normAutofit fontScale="90000"/>
          </a:bodyPr>
          <a:lstStyle/>
          <a:p>
            <a:r>
              <a:rPr lang="nl-NL" altLang="zh-CN" dirty="0"/>
              <a:t>	</a:t>
            </a:r>
            <a:br>
              <a:rPr lang="nl-NL" altLang="zh-CN" dirty="0"/>
            </a:br>
            <a:r>
              <a:rPr lang="nl-NL" altLang="zh-CN" dirty="0"/>
              <a:t>Lecture 12-13 - Congestion Control</a:t>
            </a:r>
            <a:endParaRPr lang="zh-CN" altLang="en-US" dirty="0"/>
          </a:p>
        </p:txBody>
      </p:sp>
      <p:sp>
        <p:nvSpPr>
          <p:cNvPr id="3" name="Slide Number Placeholder 2">
            <a:extLst>
              <a:ext uri="{FF2B5EF4-FFF2-40B4-BE49-F238E27FC236}">
                <a16:creationId xmlns:a16="http://schemas.microsoft.com/office/drawing/2014/main" id="{E2347C28-8433-CDBE-0003-02C29ACD05BC}"/>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4" name="Content Placeholder 3">
            <a:extLst>
              <a:ext uri="{FF2B5EF4-FFF2-40B4-BE49-F238E27FC236}">
                <a16:creationId xmlns:a16="http://schemas.microsoft.com/office/drawing/2014/main" id="{3C4A0DF0-BE4A-7832-7FE5-611C0632A3CD}"/>
              </a:ext>
            </a:extLst>
          </p:cNvPr>
          <p:cNvSpPr>
            <a:spLocks noGrp="1"/>
          </p:cNvSpPr>
          <p:nvPr>
            <p:ph sz="quarter" idx="1"/>
          </p:nvPr>
        </p:nvSpPr>
        <p:spPr>
          <a:xfrm>
            <a:off x="297601" y="1219200"/>
            <a:ext cx="5950799" cy="5137150"/>
          </a:xfrm>
        </p:spPr>
        <p:txBody>
          <a:bodyPr>
            <a:normAutofit fontScale="55000" lnSpcReduction="20000"/>
          </a:bodyPr>
          <a:lstStyle/>
          <a:p>
            <a:r>
              <a:rPr lang="en-US" altLang="zh-CN" dirty="0"/>
              <a:t>Consider the figure that plots the evolution of TCP's congestion window at the beginning of each time unit (where the unit of time is equal to the RTT). TCP sends a "flight" of packets of size </a:t>
            </a:r>
            <a:r>
              <a:rPr lang="en-US" altLang="zh-CN" dirty="0" err="1"/>
              <a:t>cwnd</a:t>
            </a:r>
            <a:r>
              <a:rPr lang="en-US" altLang="zh-CN" dirty="0"/>
              <a:t> at the beginning of each time unit. Thereafter, either (</a:t>
            </a:r>
            <a:r>
              <a:rPr lang="en-US" altLang="zh-CN" dirty="0" err="1"/>
              <a:t>i</a:t>
            </a:r>
            <a:r>
              <a:rPr lang="en-US" altLang="zh-CN" dirty="0"/>
              <a:t>) all packets are </a:t>
            </a:r>
            <a:r>
              <a:rPr lang="en-US" altLang="zh-CN" dirty="0" err="1"/>
              <a:t>ACKed</a:t>
            </a:r>
            <a:r>
              <a:rPr lang="en-US" altLang="zh-CN" dirty="0"/>
              <a:t> at the end of the time unit, (ii) there is a timeout for the first packet, or (iii) there is a triple duplicate ACK for the first packet. The initial value of </a:t>
            </a:r>
            <a:r>
              <a:rPr lang="en-US" altLang="zh-CN" dirty="0" err="1"/>
              <a:t>cwnd</a:t>
            </a:r>
            <a:r>
              <a:rPr lang="en-US" altLang="zh-CN" dirty="0"/>
              <a:t> is 1.  Assume TCP Reno protocol (CWND=1 on timeout. CWND = CWND/2 after triple duplicate acks. If CWND is an odd number, then CWND = </a:t>
            </a:r>
            <a:r>
              <a:rPr lang="zh-CN" altLang="en-US" dirty="0"/>
              <a:t>⌊</a:t>
            </a:r>
            <a:r>
              <a:rPr lang="en-US" altLang="zh-CN" dirty="0"/>
              <a:t>CWND/2⌋. ) </a:t>
            </a:r>
            <a:r>
              <a:rPr lang="en-US" altLang="zh-CN" b="1" dirty="0"/>
              <a:t>Assume no fast recovery. </a:t>
            </a:r>
            <a:r>
              <a:rPr lang="en-US" altLang="zh-CN" dirty="0"/>
              <a:t>) Assume no gap between detecting a packet loss and sending out the next packet.</a:t>
            </a:r>
          </a:p>
          <a:p>
            <a:r>
              <a:rPr lang="en-US" altLang="zh-CN" dirty="0"/>
              <a:t>a) Identify the interval of time when TCP slow start is operating. </a:t>
            </a:r>
          </a:p>
          <a:p>
            <a:r>
              <a:rPr lang="en-US" altLang="zh-CN" dirty="0"/>
              <a:t>b) Identify the interval of time when TCP congestion avoidance is operation. </a:t>
            </a:r>
          </a:p>
          <a:p>
            <a:r>
              <a:rPr lang="en-US" altLang="zh-CN" dirty="0"/>
              <a:t>c) After the 16th transmission round, is segment loss detected by a triple duplicate ACK or by a timeout? </a:t>
            </a:r>
          </a:p>
          <a:p>
            <a:r>
              <a:rPr lang="en-US" altLang="zh-CN" dirty="0"/>
              <a:t>d) After the 22nd transmission round, is segment loss detected by a triple duplicate ACK or by a timeout? </a:t>
            </a:r>
          </a:p>
          <a:p>
            <a:r>
              <a:rPr lang="en-US" altLang="zh-CN" dirty="0"/>
              <a:t>e) What is the initial value of </a:t>
            </a:r>
            <a:r>
              <a:rPr lang="en-US" altLang="zh-CN" dirty="0" err="1"/>
              <a:t>ssthresh</a:t>
            </a:r>
            <a:r>
              <a:rPr lang="en-US" altLang="zh-CN" dirty="0"/>
              <a:t> at the first transmission round? </a:t>
            </a:r>
          </a:p>
          <a:p>
            <a:r>
              <a:rPr lang="en-US" altLang="zh-CN" dirty="0"/>
              <a:t>f) What is the value of </a:t>
            </a:r>
            <a:r>
              <a:rPr lang="en-US" altLang="zh-CN" dirty="0" err="1"/>
              <a:t>ssthresh</a:t>
            </a:r>
            <a:r>
              <a:rPr lang="en-US" altLang="zh-CN" dirty="0"/>
              <a:t> at the 18th transmission round? </a:t>
            </a:r>
          </a:p>
          <a:p>
            <a:r>
              <a:rPr lang="en-US" altLang="zh-CN" dirty="0"/>
              <a:t>g) What is the value of </a:t>
            </a:r>
            <a:r>
              <a:rPr lang="en-US" altLang="zh-CN" dirty="0" err="1"/>
              <a:t>ssthresh</a:t>
            </a:r>
            <a:r>
              <a:rPr lang="en-US" altLang="zh-CN" dirty="0"/>
              <a:t> at the 24th transmission round? </a:t>
            </a:r>
          </a:p>
          <a:p>
            <a:r>
              <a:rPr lang="en-US" altLang="zh-CN" dirty="0"/>
              <a:t>h) During what transmission round is the 70th segment sent? </a:t>
            </a:r>
          </a:p>
          <a:p>
            <a:r>
              <a:rPr lang="en-US" altLang="zh-CN" dirty="0" err="1"/>
              <a:t>i</a:t>
            </a:r>
            <a:r>
              <a:rPr lang="en-US" altLang="zh-CN" dirty="0"/>
              <a:t>) Assuming a packet loss is detected after the 26th round by the receipt of a triple duplicate ACK, what will be the value of the congestion window size and of </a:t>
            </a:r>
            <a:r>
              <a:rPr lang="en-US" altLang="zh-CN" dirty="0" err="1"/>
              <a:t>ssthresh</a:t>
            </a:r>
            <a:r>
              <a:rPr lang="en-US" altLang="zh-CN" dirty="0"/>
              <a:t>? </a:t>
            </a:r>
          </a:p>
        </p:txBody>
      </p:sp>
      <p:pic>
        <p:nvPicPr>
          <p:cNvPr id="6" name="Picture 5" descr="The diagram shows a graph depicting the congestion window size (segments) against transmission rounds, illustrating how the window size increases as the number of transmission rounds progresses.&#10;&#10;AI-generated content may be incorrect.">
            <a:extLst>
              <a:ext uri="{FF2B5EF4-FFF2-40B4-BE49-F238E27FC236}">
                <a16:creationId xmlns:a16="http://schemas.microsoft.com/office/drawing/2014/main" id="{50C0062B-8C07-4E87-B713-B827325B042F}"/>
              </a:ext>
            </a:extLst>
          </p:cNvPr>
          <p:cNvPicPr>
            <a:picLocks noChangeAspect="1"/>
          </p:cNvPicPr>
          <p:nvPr/>
        </p:nvPicPr>
        <p:blipFill>
          <a:blip r:embed="rId3"/>
          <a:stretch>
            <a:fillRect/>
          </a:stretch>
        </p:blipFill>
        <p:spPr>
          <a:xfrm>
            <a:off x="6172200" y="2254465"/>
            <a:ext cx="5874599" cy="3474470"/>
          </a:xfrm>
          <a:prstGeom prst="rect">
            <a:avLst/>
          </a:prstGeom>
        </p:spPr>
      </p:pic>
    </p:spTree>
    <p:extLst>
      <p:ext uri="{BB962C8B-B14F-4D97-AF65-F5344CB8AC3E}">
        <p14:creationId xmlns:p14="http://schemas.microsoft.com/office/powerpoint/2010/main" val="2448040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5FB64-C473-EFD4-E497-D57154371692}"/>
            </a:ext>
          </a:extLst>
        </p:cNvPr>
        <p:cNvGrpSpPr/>
        <p:nvPr/>
      </p:nvGrpSpPr>
      <p:grpSpPr>
        <a:xfrm>
          <a:off x="0" y="0"/>
          <a:ext cx="0" cy="0"/>
          <a:chOff x="0" y="0"/>
          <a:chExt cx="0" cy="0"/>
        </a:xfrm>
      </p:grpSpPr>
      <p:pic>
        <p:nvPicPr>
          <p:cNvPr id="6" name="Picture 5" descr="The diagram shows a graph depicting the congestion window size (segments) against transmission rounds, illustrating how the window size increases as the number of transmission rounds progresses.&#10;&#10;AI-generated content may be incorrect.">
            <a:extLst>
              <a:ext uri="{FF2B5EF4-FFF2-40B4-BE49-F238E27FC236}">
                <a16:creationId xmlns:a16="http://schemas.microsoft.com/office/drawing/2014/main" id="{2C5F24F8-7661-F1CD-FC8E-190BB0A3BA41}"/>
              </a:ext>
            </a:extLst>
          </p:cNvPr>
          <p:cNvPicPr>
            <a:picLocks noChangeAspect="1"/>
          </p:cNvPicPr>
          <p:nvPr/>
        </p:nvPicPr>
        <p:blipFill>
          <a:blip r:embed="rId3"/>
          <a:stretch>
            <a:fillRect/>
          </a:stretch>
        </p:blipFill>
        <p:spPr>
          <a:xfrm>
            <a:off x="6172200" y="2254463"/>
            <a:ext cx="5874599" cy="3474471"/>
          </a:xfrm>
          <a:prstGeom prst="rect">
            <a:avLst/>
          </a:prstGeom>
        </p:spPr>
      </p:pic>
      <p:sp>
        <p:nvSpPr>
          <p:cNvPr id="2" name="Title 1">
            <a:extLst>
              <a:ext uri="{FF2B5EF4-FFF2-40B4-BE49-F238E27FC236}">
                <a16:creationId xmlns:a16="http://schemas.microsoft.com/office/drawing/2014/main" id="{B768E419-1196-E305-0332-6A1E859EB899}"/>
              </a:ext>
            </a:extLst>
          </p:cNvPr>
          <p:cNvSpPr>
            <a:spLocks noGrp="1"/>
          </p:cNvSpPr>
          <p:nvPr>
            <p:ph type="title"/>
          </p:nvPr>
        </p:nvSpPr>
        <p:spPr/>
        <p:txBody>
          <a:bodyPr>
            <a:normAutofit fontScale="90000"/>
          </a:bodyPr>
          <a:lstStyle/>
          <a:p>
            <a:r>
              <a:rPr lang="nl-NL" altLang="zh-CN" dirty="0"/>
              <a:t>	</a:t>
            </a:r>
            <a:br>
              <a:rPr lang="nl-NL" altLang="zh-CN" dirty="0"/>
            </a:br>
            <a:r>
              <a:rPr lang="nl-NL" altLang="zh-CN" dirty="0"/>
              <a:t>Lecture 12-13 - Congestion Control ANS</a:t>
            </a:r>
            <a:endParaRPr lang="zh-CN" altLang="en-US" dirty="0"/>
          </a:p>
        </p:txBody>
      </p:sp>
      <p:sp>
        <p:nvSpPr>
          <p:cNvPr id="3" name="Slide Number Placeholder 2">
            <a:extLst>
              <a:ext uri="{FF2B5EF4-FFF2-40B4-BE49-F238E27FC236}">
                <a16:creationId xmlns:a16="http://schemas.microsoft.com/office/drawing/2014/main" id="{BFF69BFD-423B-037D-DB50-C0CB9DCA0D85}"/>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sp>
        <p:nvSpPr>
          <p:cNvPr id="7" name="Content Placeholder 3">
            <a:extLst>
              <a:ext uri="{FF2B5EF4-FFF2-40B4-BE49-F238E27FC236}">
                <a16:creationId xmlns:a16="http://schemas.microsoft.com/office/drawing/2014/main" id="{E343669F-B28A-B8FA-1FF6-C6F280337B34}"/>
              </a:ext>
            </a:extLst>
          </p:cNvPr>
          <p:cNvSpPr>
            <a:spLocks noGrp="1"/>
          </p:cNvSpPr>
          <p:nvPr>
            <p:ph sz="quarter" idx="1"/>
          </p:nvPr>
        </p:nvSpPr>
        <p:spPr>
          <a:xfrm>
            <a:off x="297601" y="1219200"/>
            <a:ext cx="5950799" cy="5410200"/>
          </a:xfrm>
        </p:spPr>
        <p:txBody>
          <a:bodyPr>
            <a:normAutofit fontScale="77500" lnSpcReduction="20000"/>
          </a:bodyPr>
          <a:lstStyle/>
          <a:p>
            <a:r>
              <a:rPr lang="en-US" altLang="zh-CN" sz="1800" dirty="0"/>
              <a:t>a) TCP slow start is operating in the intervals [1,6] and [23,26]</a:t>
            </a:r>
          </a:p>
          <a:p>
            <a:r>
              <a:rPr lang="en-US" altLang="zh-CN" sz="1800" dirty="0"/>
              <a:t>b) TCP congestion avoidance is operating in the intervals [6,16] and [17,22]</a:t>
            </a:r>
          </a:p>
          <a:p>
            <a:r>
              <a:rPr lang="en-US" altLang="zh-CN" sz="1800" dirty="0"/>
              <a:t>c) After the 16th transmission round, packet loss is recognized by a triple duplicate ACK. </a:t>
            </a:r>
          </a:p>
          <a:p>
            <a:r>
              <a:rPr lang="en-US" altLang="zh-CN" sz="1800" dirty="0"/>
              <a:t>d) After the 22nd transmission round, segment loss is detected due to timeout, and hence the congestion window size is set to 1.</a:t>
            </a:r>
          </a:p>
          <a:p>
            <a:r>
              <a:rPr lang="en-US" altLang="zh-CN" sz="1800" dirty="0"/>
              <a:t>e) The threshold is initially 32, since it is at this window size that slow start stops and congestion avoidance begins.</a:t>
            </a:r>
          </a:p>
          <a:p>
            <a:r>
              <a:rPr lang="en-US" altLang="zh-CN" sz="1800" dirty="0"/>
              <a:t>f) The threshold is set to half the value of the congestion window when packet loss is detected. When loss is detected during transmission round 16, the congestion window size is 42. Hence the threshold is 21 during the 18th transmission round.</a:t>
            </a:r>
          </a:p>
          <a:p>
            <a:r>
              <a:rPr lang="en-US" altLang="zh-CN" sz="1800" dirty="0"/>
              <a:t>g) The threshold is set to half the value of the congestion window when packet loss is detected.  When loss is detected during transmission round 22, the congestion window size is 26. Hence the threshold is 13 during the next round.</a:t>
            </a:r>
          </a:p>
          <a:p>
            <a:r>
              <a:rPr lang="en-US" altLang="zh-CN" sz="1800" dirty="0"/>
              <a:t>h) During the 1st transmission round, packet 1 is sent; packets 2–3 are sent in the 2nd transmission round; packets 4–7 are sent in the 3rd transmission round; packets 8–15 are sent in the 4th transmission round; packets 16–31 are sent in the 5th transmission round; packets 32–63 are sent in the 6th transmission round; packets 64–96 are sent in the 7th transmission round. Thus packet 70 is sent in the 7th transmission round.</a:t>
            </a:r>
          </a:p>
          <a:p>
            <a:r>
              <a:rPr lang="en-US" altLang="zh-CN" sz="1800" dirty="0" err="1"/>
              <a:t>i</a:t>
            </a:r>
            <a:r>
              <a:rPr lang="en-US" altLang="zh-CN" sz="1800" dirty="0"/>
              <a:t>) The threshold will be set to half the current value of the congestion window (8) when the loss occurred and congestion window will be set to the new threshold value.  Thus the new values of the threshold and window will be both 4.</a:t>
            </a:r>
          </a:p>
          <a:p>
            <a:endParaRPr lang="en-US" altLang="zh-CN" sz="1800" dirty="0"/>
          </a:p>
        </p:txBody>
      </p:sp>
      <p:sp>
        <p:nvSpPr>
          <p:cNvPr id="8" name="TextBox 7">
            <a:extLst>
              <a:ext uri="{FF2B5EF4-FFF2-40B4-BE49-F238E27FC236}">
                <a16:creationId xmlns:a16="http://schemas.microsoft.com/office/drawing/2014/main" id="{5458614C-F709-6D75-0D19-A2ED30EF9802}"/>
              </a:ext>
            </a:extLst>
          </p:cNvPr>
          <p:cNvSpPr txBox="1"/>
          <p:nvPr/>
        </p:nvSpPr>
        <p:spPr>
          <a:xfrm>
            <a:off x="7510046" y="3111698"/>
            <a:ext cx="338554" cy="276999"/>
          </a:xfrm>
          <a:prstGeom prst="rect">
            <a:avLst/>
          </a:prstGeom>
          <a:noFill/>
        </p:spPr>
        <p:txBody>
          <a:bodyPr wrap="none" rtlCol="0">
            <a:spAutoFit/>
          </a:bodyPr>
          <a:lstStyle/>
          <a:p>
            <a:r>
              <a:rPr lang="en-US" altLang="zh-CN" sz="1200" dirty="0"/>
              <a:t>32</a:t>
            </a:r>
            <a:endParaRPr lang="zh-CN" altLang="en-US" sz="1200" dirty="0"/>
          </a:p>
        </p:txBody>
      </p:sp>
      <p:sp>
        <p:nvSpPr>
          <p:cNvPr id="9" name="TextBox 8">
            <a:extLst>
              <a:ext uri="{FF2B5EF4-FFF2-40B4-BE49-F238E27FC236}">
                <a16:creationId xmlns:a16="http://schemas.microsoft.com/office/drawing/2014/main" id="{D14ABD82-03D1-A800-A6E8-7CAD3B601B0E}"/>
              </a:ext>
            </a:extLst>
          </p:cNvPr>
          <p:cNvSpPr txBox="1"/>
          <p:nvPr/>
        </p:nvSpPr>
        <p:spPr>
          <a:xfrm>
            <a:off x="9525000" y="2362200"/>
            <a:ext cx="338554" cy="276999"/>
          </a:xfrm>
          <a:prstGeom prst="rect">
            <a:avLst/>
          </a:prstGeom>
          <a:noFill/>
        </p:spPr>
        <p:txBody>
          <a:bodyPr wrap="none" rtlCol="0">
            <a:spAutoFit/>
          </a:bodyPr>
          <a:lstStyle/>
          <a:p>
            <a:r>
              <a:rPr lang="en-US" altLang="zh-CN" sz="1200" dirty="0"/>
              <a:t>42</a:t>
            </a:r>
            <a:endParaRPr lang="zh-CN" altLang="en-US" sz="1200" dirty="0"/>
          </a:p>
        </p:txBody>
      </p:sp>
      <p:sp>
        <p:nvSpPr>
          <p:cNvPr id="10" name="TextBox 9">
            <a:extLst>
              <a:ext uri="{FF2B5EF4-FFF2-40B4-BE49-F238E27FC236}">
                <a16:creationId xmlns:a16="http://schemas.microsoft.com/office/drawing/2014/main" id="{A570203E-840C-85B7-3934-E8D1CCFB96DE}"/>
              </a:ext>
            </a:extLst>
          </p:cNvPr>
          <p:cNvSpPr txBox="1"/>
          <p:nvPr/>
        </p:nvSpPr>
        <p:spPr>
          <a:xfrm>
            <a:off x="9694277" y="3785800"/>
            <a:ext cx="338554" cy="276999"/>
          </a:xfrm>
          <a:prstGeom prst="rect">
            <a:avLst/>
          </a:prstGeom>
          <a:noFill/>
        </p:spPr>
        <p:txBody>
          <a:bodyPr wrap="none" rtlCol="0">
            <a:spAutoFit/>
          </a:bodyPr>
          <a:lstStyle/>
          <a:p>
            <a:r>
              <a:rPr lang="en-US" altLang="zh-CN" sz="1200" dirty="0"/>
              <a:t>21</a:t>
            </a:r>
            <a:endParaRPr lang="zh-CN" altLang="en-US" sz="1200" dirty="0"/>
          </a:p>
        </p:txBody>
      </p:sp>
      <p:sp>
        <p:nvSpPr>
          <p:cNvPr id="11" name="TextBox 10">
            <a:extLst>
              <a:ext uri="{FF2B5EF4-FFF2-40B4-BE49-F238E27FC236}">
                <a16:creationId xmlns:a16="http://schemas.microsoft.com/office/drawing/2014/main" id="{CA8223AB-41F3-055D-66F3-3BFB2A9B1788}"/>
              </a:ext>
            </a:extLst>
          </p:cNvPr>
          <p:cNvSpPr txBox="1"/>
          <p:nvPr/>
        </p:nvSpPr>
        <p:spPr>
          <a:xfrm>
            <a:off x="10820400" y="3290500"/>
            <a:ext cx="338554" cy="276999"/>
          </a:xfrm>
          <a:prstGeom prst="rect">
            <a:avLst/>
          </a:prstGeom>
          <a:noFill/>
        </p:spPr>
        <p:txBody>
          <a:bodyPr wrap="none" rtlCol="0">
            <a:spAutoFit/>
          </a:bodyPr>
          <a:lstStyle/>
          <a:p>
            <a:r>
              <a:rPr lang="en-US" altLang="zh-CN" sz="1200" dirty="0"/>
              <a:t>26</a:t>
            </a:r>
            <a:endParaRPr lang="zh-CN" altLang="en-US" sz="1200" dirty="0"/>
          </a:p>
        </p:txBody>
      </p:sp>
    </p:spTree>
    <p:extLst>
      <p:ext uri="{BB962C8B-B14F-4D97-AF65-F5344CB8AC3E}">
        <p14:creationId xmlns:p14="http://schemas.microsoft.com/office/powerpoint/2010/main" val="2583358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A4AB85-0D28-C8E5-EC16-DF50E3772110}"/>
              </a:ext>
            </a:extLst>
          </p:cNvPr>
          <p:cNvSpPr>
            <a:spLocks noGrp="1"/>
          </p:cNvSpPr>
          <p:nvPr>
            <p:ph type="title"/>
          </p:nvPr>
        </p:nvSpPr>
        <p:spPr/>
        <p:txBody>
          <a:bodyPr>
            <a:normAutofit fontScale="90000"/>
          </a:bodyPr>
          <a:lstStyle/>
          <a:p>
            <a:r>
              <a:rPr lang="en-GB" dirty="0"/>
              <a:t>	</a:t>
            </a:r>
            <a:br>
              <a:rPr lang="en-GB" dirty="0"/>
            </a:br>
            <a:r>
              <a:rPr lang="en-GB" dirty="0"/>
              <a:t>Lecture 15 - Block Cipher </a:t>
            </a:r>
            <a:endParaRPr lang="en-SE" dirty="0"/>
          </a:p>
        </p:txBody>
      </p:sp>
      <p:sp>
        <p:nvSpPr>
          <p:cNvPr id="5" name="object 6">
            <a:extLst>
              <a:ext uri="{FF2B5EF4-FFF2-40B4-BE49-F238E27FC236}">
                <a16:creationId xmlns:a16="http://schemas.microsoft.com/office/drawing/2014/main" id="{132C1605-77DC-4A30-EDF2-C0B087727664}"/>
              </a:ext>
            </a:extLst>
          </p:cNvPr>
          <p:cNvSpPr txBox="1"/>
          <p:nvPr/>
        </p:nvSpPr>
        <p:spPr>
          <a:xfrm>
            <a:off x="838200" y="1587566"/>
            <a:ext cx="7758430" cy="391160"/>
          </a:xfrm>
          <a:prstGeom prst="rect">
            <a:avLst/>
          </a:prstGeom>
        </p:spPr>
        <p:txBody>
          <a:bodyPr vert="horz" wrap="square" lIns="0" tIns="12700" rIns="0" bIns="0" rtlCol="0">
            <a:spAutoFit/>
          </a:bodyPr>
          <a:lstStyle/>
          <a:p>
            <a:pPr marL="354965" indent="-342265">
              <a:lnSpc>
                <a:spcPct val="100000"/>
              </a:lnSpc>
              <a:spcBef>
                <a:spcPts val="100"/>
              </a:spcBef>
              <a:buClr>
                <a:srgbClr val="063DE8"/>
              </a:buClr>
              <a:buSzPct val="75000"/>
              <a:buFont typeface="Wingdings"/>
              <a:buChar char=""/>
              <a:tabLst>
                <a:tab pos="354965" algn="l"/>
              </a:tabLst>
            </a:pPr>
            <a:r>
              <a:rPr sz="2400" dirty="0">
                <a:latin typeface="Times New Roman"/>
                <a:cs typeface="Times New Roman"/>
              </a:rPr>
              <a:t>Consider</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3-</a:t>
            </a:r>
            <a:r>
              <a:rPr sz="2400" dirty="0">
                <a:latin typeface="Times New Roman"/>
                <a:cs typeface="Times New Roman"/>
              </a:rPr>
              <a:t>bit</a:t>
            </a:r>
            <a:r>
              <a:rPr sz="2400" spc="-20" dirty="0">
                <a:latin typeface="Times New Roman"/>
                <a:cs typeface="Times New Roman"/>
              </a:rPr>
              <a:t> </a:t>
            </a:r>
            <a:r>
              <a:rPr sz="2400" dirty="0">
                <a:latin typeface="Times New Roman"/>
                <a:cs typeface="Times New Roman"/>
              </a:rPr>
              <a:t>block</a:t>
            </a:r>
            <a:r>
              <a:rPr sz="2400" spc="-25" dirty="0">
                <a:latin typeface="Times New Roman"/>
                <a:cs typeface="Times New Roman"/>
              </a:rPr>
              <a:t> </a:t>
            </a:r>
            <a:r>
              <a:rPr sz="2400" dirty="0">
                <a:latin typeface="Times New Roman"/>
                <a:cs typeface="Times New Roman"/>
              </a:rPr>
              <a:t>cipher</a:t>
            </a:r>
            <a:r>
              <a:rPr sz="2400" spc="-3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Table</a:t>
            </a:r>
            <a:r>
              <a:rPr sz="2400" spc="-30" dirty="0">
                <a:latin typeface="Times New Roman"/>
                <a:cs typeface="Times New Roman"/>
              </a:rPr>
              <a:t> </a:t>
            </a:r>
            <a:r>
              <a:rPr sz="2400" spc="-10" dirty="0">
                <a:latin typeface="Times New Roman"/>
                <a:cs typeface="Times New Roman"/>
              </a:rPr>
              <a:t>below</a:t>
            </a:r>
            <a:endParaRPr sz="2400" dirty="0">
              <a:latin typeface="Times New Roman"/>
              <a:cs typeface="Times New Roman"/>
            </a:endParaRPr>
          </a:p>
        </p:txBody>
      </p:sp>
      <p:sp>
        <p:nvSpPr>
          <p:cNvPr id="6" name="object 7">
            <a:extLst>
              <a:ext uri="{FF2B5EF4-FFF2-40B4-BE49-F238E27FC236}">
                <a16:creationId xmlns:a16="http://schemas.microsoft.com/office/drawing/2014/main" id="{F49605AA-7221-50BC-6303-4E90FB6C3FC9}"/>
              </a:ext>
            </a:extLst>
          </p:cNvPr>
          <p:cNvSpPr txBox="1"/>
          <p:nvPr/>
        </p:nvSpPr>
        <p:spPr>
          <a:xfrm>
            <a:off x="838200" y="2831150"/>
            <a:ext cx="10185400" cy="2902718"/>
          </a:xfrm>
          <a:prstGeom prst="rect">
            <a:avLst/>
          </a:prstGeom>
        </p:spPr>
        <p:txBody>
          <a:bodyPr vert="horz" wrap="square" lIns="0" tIns="85725" rIns="0" bIns="0" rtlCol="0">
            <a:spAutoFit/>
          </a:bodyPr>
          <a:lstStyle/>
          <a:p>
            <a:pPr marL="354965" indent="-342265">
              <a:lnSpc>
                <a:spcPct val="100000"/>
              </a:lnSpc>
              <a:spcBef>
                <a:spcPts val="675"/>
              </a:spcBef>
              <a:buClr>
                <a:srgbClr val="063DE8"/>
              </a:buClr>
              <a:buSzPct val="75000"/>
              <a:buFont typeface="Wingdings"/>
              <a:buChar char=""/>
              <a:tabLst>
                <a:tab pos="354965" algn="l"/>
              </a:tabLst>
            </a:pPr>
            <a:r>
              <a:rPr sz="2400" dirty="0">
                <a:latin typeface="Times New Roman"/>
                <a:cs typeface="Times New Roman"/>
              </a:rPr>
              <a:t>Suppose</a:t>
            </a:r>
            <a:r>
              <a:rPr sz="2400" spc="-3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plaintext</a:t>
            </a:r>
            <a:r>
              <a:rPr sz="2400" spc="-50" dirty="0">
                <a:latin typeface="Times New Roman"/>
                <a:cs typeface="Times New Roman"/>
              </a:rPr>
              <a:t> </a:t>
            </a:r>
            <a:r>
              <a:rPr sz="2400" dirty="0">
                <a:latin typeface="Times New Roman"/>
                <a:cs typeface="Times New Roman"/>
              </a:rPr>
              <a:t>is</a:t>
            </a:r>
            <a:r>
              <a:rPr sz="2400" spc="-35" dirty="0">
                <a:latin typeface="Times New Roman"/>
                <a:cs typeface="Times New Roman"/>
              </a:rPr>
              <a:t> </a:t>
            </a:r>
            <a:r>
              <a:rPr sz="2400" spc="-10" dirty="0">
                <a:latin typeface="Times New Roman"/>
                <a:cs typeface="Times New Roman"/>
              </a:rPr>
              <a:t>100101100.</a:t>
            </a:r>
            <a:endParaRPr sz="2400" dirty="0">
              <a:latin typeface="Times New Roman"/>
              <a:cs typeface="Times New Roman"/>
            </a:endParaRPr>
          </a:p>
          <a:p>
            <a:pPr marL="355600" marR="436245" indent="-342900">
              <a:lnSpc>
                <a:spcPct val="100000"/>
              </a:lnSpc>
              <a:spcBef>
                <a:spcPts val="575"/>
              </a:spcBef>
              <a:buAutoNum type="alphaLcParenBoth"/>
              <a:tabLst>
                <a:tab pos="355600" algn="l"/>
                <a:tab pos="425450" algn="l"/>
              </a:tabLst>
            </a:pPr>
            <a:r>
              <a:rPr sz="2400" dirty="0">
                <a:latin typeface="Times New Roman"/>
                <a:cs typeface="Times New Roman"/>
              </a:rPr>
              <a:t>	Initially</a:t>
            </a:r>
            <a:r>
              <a:rPr sz="2400" spc="-35" dirty="0">
                <a:latin typeface="Times New Roman"/>
                <a:cs typeface="Times New Roman"/>
              </a:rPr>
              <a:t> </a:t>
            </a:r>
            <a:r>
              <a:rPr sz="2400" dirty="0">
                <a:latin typeface="Times New Roman"/>
                <a:cs typeface="Times New Roman"/>
              </a:rPr>
              <a:t>assume</a:t>
            </a:r>
            <a:r>
              <a:rPr sz="2400" spc="-25"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CBC</a:t>
            </a:r>
            <a:r>
              <a:rPr sz="2400" spc="-2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not</a:t>
            </a:r>
            <a:r>
              <a:rPr sz="2400" spc="-25" dirty="0">
                <a:latin typeface="Times New Roman"/>
                <a:cs typeface="Times New Roman"/>
              </a:rPr>
              <a:t> </a:t>
            </a:r>
            <a:r>
              <a:rPr sz="2400" dirty="0">
                <a:latin typeface="Times New Roman"/>
                <a:cs typeface="Times New Roman"/>
              </a:rPr>
              <a:t>used.</a:t>
            </a:r>
            <a:r>
              <a:rPr sz="2400" spc="-10" dirty="0">
                <a:latin typeface="Times New Roman"/>
                <a:cs typeface="Times New Roman"/>
              </a:rPr>
              <a:t> </a:t>
            </a:r>
            <a:r>
              <a:rPr sz="2400" dirty="0">
                <a:latin typeface="Times New Roman"/>
                <a:cs typeface="Times New Roman"/>
              </a:rPr>
              <a:t>What</a:t>
            </a:r>
            <a:r>
              <a:rPr sz="2400" spc="-3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resulting ciphertext?</a:t>
            </a:r>
            <a:endParaRPr sz="2400" dirty="0">
              <a:latin typeface="Times New Roman"/>
              <a:cs typeface="Times New Roman"/>
            </a:endParaRPr>
          </a:p>
          <a:p>
            <a:pPr marL="355600" marR="5080" indent="-342900">
              <a:lnSpc>
                <a:spcPct val="100000"/>
              </a:lnSpc>
              <a:spcBef>
                <a:spcPts val="575"/>
              </a:spcBef>
              <a:buAutoNum type="alphaLcParenBoth"/>
              <a:tabLst>
                <a:tab pos="355600" algn="l"/>
                <a:tab pos="443230" algn="l"/>
              </a:tabLst>
            </a:pPr>
            <a:r>
              <a:rPr sz="2400" dirty="0">
                <a:latin typeface="Times New Roman"/>
                <a:cs typeface="Times New Roman"/>
              </a:rPr>
              <a:t>	Suppose</a:t>
            </a:r>
            <a:r>
              <a:rPr sz="2400" spc="-40" dirty="0">
                <a:latin typeface="Times New Roman"/>
                <a:cs typeface="Times New Roman"/>
              </a:rPr>
              <a:t> </a:t>
            </a:r>
            <a:r>
              <a:rPr sz="2400" dirty="0">
                <a:latin typeface="Times New Roman"/>
                <a:cs typeface="Times New Roman"/>
              </a:rPr>
              <a:t>Trudy</a:t>
            </a:r>
            <a:r>
              <a:rPr sz="2400" spc="-40" dirty="0">
                <a:latin typeface="Times New Roman"/>
                <a:cs typeface="Times New Roman"/>
              </a:rPr>
              <a:t> </a:t>
            </a:r>
            <a:r>
              <a:rPr sz="2400" dirty="0">
                <a:latin typeface="Times New Roman"/>
                <a:cs typeface="Times New Roman"/>
              </a:rPr>
              <a:t>sniffs</a:t>
            </a:r>
            <a:r>
              <a:rPr sz="2400" spc="-30" dirty="0">
                <a:latin typeface="Times New Roman"/>
                <a:cs typeface="Times New Roman"/>
              </a:rPr>
              <a:t> </a:t>
            </a:r>
            <a:r>
              <a:rPr sz="2400" dirty="0">
                <a:latin typeface="Times New Roman"/>
                <a:cs typeface="Times New Roman"/>
              </a:rPr>
              <a:t>the</a:t>
            </a:r>
            <a:r>
              <a:rPr sz="2400" spc="-50" dirty="0">
                <a:latin typeface="Times New Roman"/>
                <a:cs typeface="Times New Roman"/>
              </a:rPr>
              <a:t> </a:t>
            </a:r>
            <a:r>
              <a:rPr sz="2400" dirty="0">
                <a:latin typeface="Times New Roman"/>
                <a:cs typeface="Times New Roman"/>
              </a:rPr>
              <a:t>ciphertext.</a:t>
            </a:r>
            <a:r>
              <a:rPr sz="2400" spc="-55" dirty="0">
                <a:latin typeface="Times New Roman"/>
                <a:cs typeface="Times New Roman"/>
              </a:rPr>
              <a:t> </a:t>
            </a:r>
            <a:r>
              <a:rPr sz="2400" dirty="0">
                <a:latin typeface="Times New Roman"/>
                <a:cs typeface="Times New Roman"/>
              </a:rPr>
              <a:t>Assuming</a:t>
            </a:r>
            <a:r>
              <a:rPr sz="2400" spc="-35" dirty="0">
                <a:latin typeface="Times New Roman"/>
                <a:cs typeface="Times New Roman"/>
              </a:rPr>
              <a:t> </a:t>
            </a:r>
            <a:r>
              <a:rPr sz="2400" dirty="0">
                <a:latin typeface="Times New Roman"/>
                <a:cs typeface="Times New Roman"/>
              </a:rPr>
              <a:t>she</a:t>
            </a:r>
            <a:r>
              <a:rPr sz="2400" spc="-45" dirty="0">
                <a:latin typeface="Times New Roman"/>
                <a:cs typeface="Times New Roman"/>
              </a:rPr>
              <a:t> </a:t>
            </a:r>
            <a:r>
              <a:rPr sz="2400" dirty="0">
                <a:latin typeface="Times New Roman"/>
                <a:cs typeface="Times New Roman"/>
              </a:rPr>
              <a:t>knows</a:t>
            </a:r>
            <a:r>
              <a:rPr sz="2400" spc="-30" dirty="0">
                <a:latin typeface="Times New Roman"/>
                <a:cs typeface="Times New Roman"/>
              </a:rPr>
              <a:t> </a:t>
            </a:r>
            <a:r>
              <a:rPr sz="2400" spc="-20" dirty="0">
                <a:latin typeface="Times New Roman"/>
                <a:cs typeface="Times New Roman"/>
              </a:rPr>
              <a:t>that </a:t>
            </a:r>
            <a:r>
              <a:rPr sz="2400" dirty="0">
                <a:latin typeface="Times New Roman"/>
                <a:cs typeface="Times New Roman"/>
              </a:rPr>
              <a:t>a</a:t>
            </a:r>
            <a:r>
              <a:rPr sz="2400" spc="-15" dirty="0">
                <a:latin typeface="Times New Roman"/>
                <a:cs typeface="Times New Roman"/>
              </a:rPr>
              <a:t> </a:t>
            </a:r>
            <a:r>
              <a:rPr sz="2400" spc="-10" dirty="0">
                <a:latin typeface="Times New Roman"/>
                <a:cs typeface="Times New Roman"/>
              </a:rPr>
              <a:t>3-</a:t>
            </a:r>
            <a:r>
              <a:rPr sz="2400" dirty="0">
                <a:latin typeface="Times New Roman"/>
                <a:cs typeface="Times New Roman"/>
              </a:rPr>
              <a:t>bit</a:t>
            </a:r>
            <a:r>
              <a:rPr sz="2400" spc="-15" dirty="0">
                <a:latin typeface="Times New Roman"/>
                <a:cs typeface="Times New Roman"/>
              </a:rPr>
              <a:t> </a:t>
            </a:r>
            <a:r>
              <a:rPr sz="2400" dirty="0">
                <a:latin typeface="Times New Roman"/>
                <a:cs typeface="Times New Roman"/>
              </a:rPr>
              <a:t>block</a:t>
            </a:r>
            <a:r>
              <a:rPr sz="2400" spc="-15" dirty="0">
                <a:latin typeface="Times New Roman"/>
                <a:cs typeface="Times New Roman"/>
              </a:rPr>
              <a:t> </a:t>
            </a:r>
            <a:r>
              <a:rPr sz="2400" dirty="0">
                <a:latin typeface="Times New Roman"/>
                <a:cs typeface="Times New Roman"/>
              </a:rPr>
              <a:t>cipher</a:t>
            </a:r>
            <a:r>
              <a:rPr sz="2400" spc="-20" dirty="0">
                <a:latin typeface="Times New Roman"/>
                <a:cs typeface="Times New Roman"/>
              </a:rPr>
              <a:t> </a:t>
            </a:r>
            <a:r>
              <a:rPr sz="2400" dirty="0">
                <a:latin typeface="Times New Roman"/>
                <a:cs typeface="Times New Roman"/>
              </a:rPr>
              <a:t>without</a:t>
            </a:r>
            <a:r>
              <a:rPr sz="2400" spc="-20" dirty="0">
                <a:latin typeface="Times New Roman"/>
                <a:cs typeface="Times New Roman"/>
              </a:rPr>
              <a:t> </a:t>
            </a:r>
            <a:r>
              <a:rPr sz="2400" dirty="0">
                <a:latin typeface="Times New Roman"/>
                <a:cs typeface="Times New Roman"/>
              </a:rPr>
              <a:t>CBC</a:t>
            </a:r>
            <a:r>
              <a:rPr sz="2400" spc="-1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being</a:t>
            </a:r>
            <a:r>
              <a:rPr sz="2400" spc="-15" dirty="0">
                <a:latin typeface="Times New Roman"/>
                <a:cs typeface="Times New Roman"/>
              </a:rPr>
              <a:t> </a:t>
            </a:r>
            <a:r>
              <a:rPr sz="2400" dirty="0">
                <a:latin typeface="Times New Roman"/>
                <a:cs typeface="Times New Roman"/>
              </a:rPr>
              <a:t>employed</a:t>
            </a:r>
            <a:r>
              <a:rPr sz="2400" spc="-30" dirty="0">
                <a:latin typeface="Times New Roman"/>
                <a:cs typeface="Times New Roman"/>
              </a:rPr>
              <a:t> </a:t>
            </a:r>
            <a:r>
              <a:rPr sz="2400" spc="-20" dirty="0">
                <a:latin typeface="Times New Roman"/>
                <a:cs typeface="Times New Roman"/>
              </a:rPr>
              <a:t>(but </a:t>
            </a:r>
            <a:r>
              <a:rPr sz="2400" dirty="0">
                <a:latin typeface="Times New Roman"/>
                <a:cs typeface="Times New Roman"/>
              </a:rPr>
              <a:t>doesn’t</a:t>
            </a:r>
            <a:r>
              <a:rPr sz="2400" spc="-40" dirty="0">
                <a:latin typeface="Times New Roman"/>
                <a:cs typeface="Times New Roman"/>
              </a:rPr>
              <a:t> </a:t>
            </a:r>
            <a:r>
              <a:rPr sz="2400" dirty="0">
                <a:latin typeface="Times New Roman"/>
                <a:cs typeface="Times New Roman"/>
              </a:rPr>
              <a:t>know</a:t>
            </a:r>
            <a:r>
              <a:rPr sz="2400" spc="-2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specific</a:t>
            </a:r>
            <a:r>
              <a:rPr sz="2400" spc="-45" dirty="0">
                <a:latin typeface="Times New Roman"/>
                <a:cs typeface="Times New Roman"/>
              </a:rPr>
              <a:t> </a:t>
            </a:r>
            <a:r>
              <a:rPr sz="2400" dirty="0">
                <a:latin typeface="Times New Roman"/>
                <a:cs typeface="Times New Roman"/>
              </a:rPr>
              <a:t>cipher),</a:t>
            </a:r>
            <a:r>
              <a:rPr sz="2400" spc="-40" dirty="0">
                <a:latin typeface="Times New Roman"/>
                <a:cs typeface="Times New Roman"/>
              </a:rPr>
              <a:t> </a:t>
            </a:r>
            <a:r>
              <a:rPr sz="2400" dirty="0">
                <a:latin typeface="Times New Roman"/>
                <a:cs typeface="Times New Roman"/>
              </a:rPr>
              <a:t>what</a:t>
            </a:r>
            <a:r>
              <a:rPr sz="2400" spc="-35" dirty="0">
                <a:latin typeface="Times New Roman"/>
                <a:cs typeface="Times New Roman"/>
              </a:rPr>
              <a:t> </a:t>
            </a:r>
            <a:r>
              <a:rPr sz="2400" dirty="0">
                <a:latin typeface="Times New Roman"/>
                <a:cs typeface="Times New Roman"/>
              </a:rPr>
              <a:t>can</a:t>
            </a:r>
            <a:r>
              <a:rPr sz="2400" spc="-40" dirty="0">
                <a:latin typeface="Times New Roman"/>
                <a:cs typeface="Times New Roman"/>
              </a:rPr>
              <a:t> </a:t>
            </a:r>
            <a:r>
              <a:rPr sz="2400" dirty="0">
                <a:latin typeface="Times New Roman"/>
                <a:cs typeface="Times New Roman"/>
              </a:rPr>
              <a:t>she</a:t>
            </a:r>
            <a:r>
              <a:rPr sz="2400" spc="-30" dirty="0">
                <a:latin typeface="Times New Roman"/>
                <a:cs typeface="Times New Roman"/>
              </a:rPr>
              <a:t> </a:t>
            </a:r>
            <a:r>
              <a:rPr lang="en-US" sz="2400" spc="-10" dirty="0">
                <a:latin typeface="Times New Roman"/>
                <a:cs typeface="Times New Roman"/>
              </a:rPr>
              <a:t>infer</a:t>
            </a:r>
            <a:r>
              <a:rPr sz="2400" spc="-10" dirty="0">
                <a:latin typeface="Times New Roman"/>
                <a:cs typeface="Times New Roman"/>
              </a:rPr>
              <a:t>?</a:t>
            </a:r>
            <a:endParaRPr sz="2400" dirty="0">
              <a:latin typeface="Times New Roman"/>
              <a:cs typeface="Times New Roman"/>
            </a:endParaRPr>
          </a:p>
          <a:p>
            <a:pPr marL="355600" marR="673735" indent="-342900">
              <a:lnSpc>
                <a:spcPct val="100000"/>
              </a:lnSpc>
              <a:spcBef>
                <a:spcPts val="575"/>
              </a:spcBef>
              <a:buAutoNum type="alphaLcParenBoth"/>
              <a:tabLst>
                <a:tab pos="355600" algn="l"/>
                <a:tab pos="425450" algn="l"/>
              </a:tabLst>
            </a:pPr>
            <a:r>
              <a:rPr sz="2400" dirty="0">
                <a:latin typeface="Times New Roman"/>
                <a:cs typeface="Times New Roman"/>
              </a:rPr>
              <a:t>	Now,</a:t>
            </a:r>
            <a:r>
              <a:rPr sz="2400" spc="-15" dirty="0">
                <a:latin typeface="Times New Roman"/>
                <a:cs typeface="Times New Roman"/>
              </a:rPr>
              <a:t> </a:t>
            </a:r>
            <a:r>
              <a:rPr sz="2400" dirty="0">
                <a:latin typeface="Times New Roman"/>
                <a:cs typeface="Times New Roman"/>
              </a:rPr>
              <a:t>suppose</a:t>
            </a:r>
            <a:r>
              <a:rPr sz="2400" spc="-15"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dirty="0">
                <a:latin typeface="Times New Roman"/>
                <a:cs typeface="Times New Roman"/>
              </a:rPr>
              <a:t>CBC</a:t>
            </a:r>
            <a:r>
              <a:rPr sz="2400" spc="-25"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used</a:t>
            </a:r>
            <a:r>
              <a:rPr sz="2400" spc="-25" dirty="0">
                <a:latin typeface="Times New Roman"/>
                <a:cs typeface="Times New Roman"/>
              </a:rPr>
              <a:t> </a:t>
            </a:r>
            <a:r>
              <a:rPr sz="2400" dirty="0">
                <a:latin typeface="Times New Roman"/>
                <a:cs typeface="Times New Roman"/>
              </a:rPr>
              <a:t>with</a:t>
            </a:r>
            <a:r>
              <a:rPr sz="2400" spc="-20" dirty="0">
                <a:latin typeface="Times New Roman"/>
                <a:cs typeface="Times New Roman"/>
              </a:rPr>
              <a:t> IV-</a:t>
            </a:r>
            <a:r>
              <a:rPr sz="2400" dirty="0">
                <a:latin typeface="Times New Roman"/>
                <a:cs typeface="Times New Roman"/>
              </a:rPr>
              <a:t>111.</a:t>
            </a:r>
            <a:r>
              <a:rPr sz="2400" spc="-10" dirty="0">
                <a:latin typeface="Times New Roman"/>
                <a:cs typeface="Times New Roman"/>
              </a:rPr>
              <a:t> </a:t>
            </a:r>
            <a:r>
              <a:rPr sz="2400" dirty="0">
                <a:latin typeface="Times New Roman"/>
                <a:cs typeface="Times New Roman"/>
              </a:rPr>
              <a:t>What</a:t>
            </a:r>
            <a:r>
              <a:rPr sz="2400" spc="-3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spc="-25" dirty="0">
                <a:latin typeface="Times New Roman"/>
                <a:cs typeface="Times New Roman"/>
              </a:rPr>
              <a:t>the </a:t>
            </a:r>
            <a:r>
              <a:rPr sz="2400" dirty="0">
                <a:latin typeface="Times New Roman"/>
                <a:cs typeface="Times New Roman"/>
              </a:rPr>
              <a:t>resulting</a:t>
            </a:r>
            <a:r>
              <a:rPr sz="2400" spc="-55" dirty="0">
                <a:latin typeface="Times New Roman"/>
                <a:cs typeface="Times New Roman"/>
              </a:rPr>
              <a:t> </a:t>
            </a:r>
            <a:r>
              <a:rPr sz="2400" spc="-10" dirty="0">
                <a:latin typeface="Times New Roman"/>
                <a:cs typeface="Times New Roman"/>
              </a:rPr>
              <a:t>ciphertext?</a:t>
            </a:r>
            <a:endParaRPr sz="2400" dirty="0">
              <a:latin typeface="Times New Roman"/>
              <a:cs typeface="Times New Roman"/>
            </a:endParaRPr>
          </a:p>
        </p:txBody>
      </p:sp>
      <p:graphicFrame>
        <p:nvGraphicFramePr>
          <p:cNvPr id="2" name="object 8">
            <a:extLst>
              <a:ext uri="{FF2B5EF4-FFF2-40B4-BE49-F238E27FC236}">
                <a16:creationId xmlns:a16="http://schemas.microsoft.com/office/drawing/2014/main" id="{9A2234BB-431C-DBCF-BB90-56800859A36C}"/>
              </a:ext>
            </a:extLst>
          </p:cNvPr>
          <p:cNvGraphicFramePr>
            <a:graphicFrameLocks noGrp="1"/>
          </p:cNvGraphicFramePr>
          <p:nvPr/>
        </p:nvGraphicFramePr>
        <p:xfrm>
          <a:off x="2156568" y="2097090"/>
          <a:ext cx="5722620" cy="734060"/>
        </p:xfrm>
        <a:graphic>
          <a:graphicData uri="http://schemas.openxmlformats.org/drawingml/2006/table">
            <a:tbl>
              <a:tblPr firstRow="1" bandRow="1">
                <a:tableStyleId>{2D5ABB26-0587-4C30-8999-92F81FD0307C}</a:tableStyleId>
              </a:tblPr>
              <a:tblGrid>
                <a:gridCol w="9677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67030">
                <a:tc>
                  <a:txBody>
                    <a:bodyPr/>
                    <a:lstStyle/>
                    <a:p>
                      <a:pPr marL="68580">
                        <a:lnSpc>
                          <a:spcPts val="2765"/>
                        </a:lnSpc>
                      </a:pPr>
                      <a:r>
                        <a:rPr sz="2400" spc="-10" dirty="0">
                          <a:latin typeface="Times New Roman"/>
                          <a:cs typeface="Times New Roman"/>
                        </a:rPr>
                        <a:t>Plain</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101</a:t>
                      </a:r>
                      <a:endParaRPr sz="240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67030">
                <a:tc>
                  <a:txBody>
                    <a:bodyPr/>
                    <a:lstStyle/>
                    <a:p>
                      <a:pPr marL="67945">
                        <a:lnSpc>
                          <a:spcPts val="2765"/>
                        </a:lnSpc>
                      </a:pPr>
                      <a:r>
                        <a:rPr sz="2400" spc="-10" dirty="0">
                          <a:latin typeface="Times New Roman"/>
                          <a:cs typeface="Times New Roman"/>
                        </a:rPr>
                        <a:t>Cipher</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a:t>
                      </a:r>
                      <a:r>
                        <a:rPr lang="en-GB" sz="2400" spc="-25" dirty="0">
                          <a:latin typeface="Times New Roman"/>
                          <a:cs typeface="Times New Roman"/>
                        </a:rPr>
                        <a:t>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a:t>
                      </a:r>
                      <a:r>
                        <a:rPr lang="en-SE" sz="2400" spc="-25" dirty="0">
                          <a:latin typeface="Times New Roman"/>
                          <a:cs typeface="Times New Roman"/>
                        </a:rPr>
                        <a:t>1</a:t>
                      </a:r>
                      <a:r>
                        <a:rPr lang="en-GB" sz="2400" spc="-25" dirty="0">
                          <a:latin typeface="Times New Roman"/>
                          <a:cs typeface="Times New Roman"/>
                        </a:rPr>
                        <a:t>0</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a:t>
                      </a:r>
                      <a:r>
                        <a:rPr lang="en-SE" sz="2400" spc="-25" dirty="0">
                          <a:latin typeface="Times New Roman"/>
                          <a:cs typeface="Times New Roman"/>
                        </a:rPr>
                        <a:t>00</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011</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bl>
          </a:graphicData>
        </a:graphic>
      </p:graphicFrame>
      <p:sp>
        <p:nvSpPr>
          <p:cNvPr id="7" name="Slide Number Placeholder 2">
            <a:extLst>
              <a:ext uri="{FF2B5EF4-FFF2-40B4-BE49-F238E27FC236}">
                <a16:creationId xmlns:a16="http://schemas.microsoft.com/office/drawing/2014/main" id="{859C366D-8F57-64F2-A958-162048DA9FAF}"/>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25</a:t>
            </a:fld>
            <a:endParaRPr kumimoji="0" lang="en-US" dirty="0"/>
          </a:p>
        </p:txBody>
      </p:sp>
    </p:spTree>
    <p:extLst>
      <p:ext uri="{BB962C8B-B14F-4D97-AF65-F5344CB8AC3E}">
        <p14:creationId xmlns:p14="http://schemas.microsoft.com/office/powerpoint/2010/main" val="80147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E0A8-F64D-1253-C2F7-B4AEDB0EE20A}"/>
              </a:ext>
            </a:extLst>
          </p:cNvPr>
          <p:cNvSpPr>
            <a:spLocks noGrp="1"/>
          </p:cNvSpPr>
          <p:nvPr>
            <p:ph type="title"/>
          </p:nvPr>
        </p:nvSpPr>
        <p:spPr/>
        <p:txBody>
          <a:bodyPr/>
          <a:lstStyle/>
          <a:p>
            <a:r>
              <a:rPr lang="en-GB" altLang="zh-CN" dirty="0"/>
              <a:t>Lecture 15 - </a:t>
            </a:r>
            <a:r>
              <a:rPr lang="en-GB" dirty="0"/>
              <a:t>Block Cipher ANS</a:t>
            </a:r>
            <a:endParaRPr lang="en-SE" dirty="0"/>
          </a:p>
        </p:txBody>
      </p:sp>
      <p:graphicFrame>
        <p:nvGraphicFramePr>
          <p:cNvPr id="5" name="object 8">
            <a:extLst>
              <a:ext uri="{FF2B5EF4-FFF2-40B4-BE49-F238E27FC236}">
                <a16:creationId xmlns:a16="http://schemas.microsoft.com/office/drawing/2014/main" id="{35FF0462-3B01-77B1-43C2-75B1DA566F71}"/>
              </a:ext>
            </a:extLst>
          </p:cNvPr>
          <p:cNvGraphicFramePr>
            <a:graphicFrameLocks noGrp="1"/>
          </p:cNvGraphicFramePr>
          <p:nvPr>
            <p:extLst>
              <p:ext uri="{D42A27DB-BD31-4B8C-83A1-F6EECF244321}">
                <p14:modId xmlns:p14="http://schemas.microsoft.com/office/powerpoint/2010/main" val="576524418"/>
              </p:ext>
            </p:extLst>
          </p:nvPr>
        </p:nvGraphicFramePr>
        <p:xfrm>
          <a:off x="6330425" y="1254899"/>
          <a:ext cx="5722620" cy="734060"/>
        </p:xfrm>
        <a:graphic>
          <a:graphicData uri="http://schemas.openxmlformats.org/drawingml/2006/table">
            <a:tbl>
              <a:tblPr firstRow="1" bandRow="1">
                <a:tableStyleId>{2D5ABB26-0587-4C30-8999-92F81FD0307C}</a:tableStyleId>
              </a:tblPr>
              <a:tblGrid>
                <a:gridCol w="9677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67030">
                <a:tc>
                  <a:txBody>
                    <a:bodyPr/>
                    <a:lstStyle/>
                    <a:p>
                      <a:pPr marL="68580">
                        <a:lnSpc>
                          <a:spcPts val="2765"/>
                        </a:lnSpc>
                      </a:pPr>
                      <a:r>
                        <a:rPr sz="2400" spc="-10" dirty="0">
                          <a:latin typeface="Times New Roman"/>
                          <a:cs typeface="Times New Roman"/>
                        </a:rPr>
                        <a:t>Plain</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101</a:t>
                      </a:r>
                      <a:endParaRPr sz="240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67030">
                <a:tc>
                  <a:txBody>
                    <a:bodyPr/>
                    <a:lstStyle/>
                    <a:p>
                      <a:pPr marL="67945">
                        <a:lnSpc>
                          <a:spcPts val="2765"/>
                        </a:lnSpc>
                      </a:pPr>
                      <a:r>
                        <a:rPr sz="2400" spc="-10" dirty="0">
                          <a:latin typeface="Times New Roman"/>
                          <a:cs typeface="Times New Roman"/>
                        </a:rPr>
                        <a:t>Cipher</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a:t>
                      </a:r>
                      <a:r>
                        <a:rPr lang="en-GB" sz="2400" spc="-25" dirty="0">
                          <a:latin typeface="Times New Roman"/>
                          <a:cs typeface="Times New Roman"/>
                        </a:rPr>
                        <a:t>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a:t>
                      </a:r>
                      <a:r>
                        <a:rPr lang="en-SE" sz="2400" spc="-25" dirty="0">
                          <a:latin typeface="Times New Roman"/>
                          <a:cs typeface="Times New Roman"/>
                        </a:rPr>
                        <a:t>1</a:t>
                      </a:r>
                      <a:r>
                        <a:rPr lang="en-GB" sz="2400" spc="-25" dirty="0">
                          <a:latin typeface="Times New Roman"/>
                          <a:cs typeface="Times New Roman"/>
                        </a:rPr>
                        <a:t>0</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a:t>
                      </a:r>
                      <a:r>
                        <a:rPr lang="en-SE" sz="2400" spc="-25" dirty="0">
                          <a:latin typeface="Times New Roman"/>
                          <a:cs typeface="Times New Roman"/>
                        </a:rPr>
                        <a:t>00</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011</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bl>
          </a:graphicData>
        </a:graphic>
      </p:graphicFrame>
      <p:pic>
        <p:nvPicPr>
          <p:cNvPr id="7" name="Picture 6">
            <a:extLst>
              <a:ext uri="{FF2B5EF4-FFF2-40B4-BE49-F238E27FC236}">
                <a16:creationId xmlns:a16="http://schemas.microsoft.com/office/drawing/2014/main" id="{CF7EFC38-5BC0-DD94-70D1-83C391E30262}"/>
              </a:ext>
            </a:extLst>
          </p:cNvPr>
          <p:cNvPicPr>
            <a:picLocks noChangeAspect="1"/>
          </p:cNvPicPr>
          <p:nvPr/>
        </p:nvPicPr>
        <p:blipFill>
          <a:blip r:embed="rId3"/>
          <a:stretch>
            <a:fillRect/>
          </a:stretch>
        </p:blipFill>
        <p:spPr>
          <a:xfrm>
            <a:off x="6234545" y="2291373"/>
            <a:ext cx="5936612" cy="1179151"/>
          </a:xfrm>
          <a:prstGeom prst="rect">
            <a:avLst/>
          </a:prstGeom>
        </p:spPr>
      </p:pic>
      <p:sp>
        <p:nvSpPr>
          <p:cNvPr id="2" name="Content Placeholder 1">
            <a:extLst>
              <a:ext uri="{FF2B5EF4-FFF2-40B4-BE49-F238E27FC236}">
                <a16:creationId xmlns:a16="http://schemas.microsoft.com/office/drawing/2014/main" id="{969FB151-384C-9DC5-76A1-FD33648F1CB7}"/>
              </a:ext>
            </a:extLst>
          </p:cNvPr>
          <p:cNvSpPr>
            <a:spLocks noGrp="1"/>
          </p:cNvSpPr>
          <p:nvPr>
            <p:ph idx="1"/>
          </p:nvPr>
        </p:nvSpPr>
        <p:spPr>
          <a:xfrm>
            <a:off x="138955" y="1346444"/>
            <a:ext cx="6563181" cy="5247994"/>
          </a:xfrm>
        </p:spPr>
        <p:txBody>
          <a:bodyPr>
            <a:normAutofit fontScale="92500" lnSpcReduction="10000"/>
          </a:bodyPr>
          <a:lstStyle/>
          <a:p>
            <a:pPr marL="355600" marR="436245" indent="-342900">
              <a:lnSpc>
                <a:spcPct val="120000"/>
              </a:lnSpc>
              <a:spcBef>
                <a:spcPts val="575"/>
              </a:spcBef>
              <a:buAutoNum type="alphaLcParenBoth"/>
              <a:tabLst>
                <a:tab pos="355600" algn="l"/>
                <a:tab pos="425450" algn="l"/>
              </a:tabLst>
            </a:pPr>
            <a:r>
              <a:rPr lang="en-GB" sz="1800" dirty="0">
                <a:latin typeface="Times New Roman"/>
                <a:cs typeface="Times New Roman"/>
              </a:rPr>
              <a:t>Initially assume that CBC is not used. What is the resulting ciphertext?</a:t>
            </a:r>
          </a:p>
          <a:p>
            <a:pPr marL="12700" marR="436245" indent="0">
              <a:lnSpc>
                <a:spcPct val="120000"/>
              </a:lnSpc>
              <a:spcBef>
                <a:spcPts val="575"/>
              </a:spcBef>
              <a:buNone/>
              <a:tabLst>
                <a:tab pos="355600" algn="l"/>
                <a:tab pos="425450" algn="l"/>
              </a:tabLst>
            </a:pPr>
            <a:r>
              <a:rPr lang="en-GB" sz="1800" dirty="0">
                <a:latin typeface="Times New Roman"/>
                <a:cs typeface="Times New Roman"/>
              </a:rPr>
              <a:t>ANS: Ciphertext for plaintext 100101100 is 011010011, since 100 maps to 011, 101 maps to 010, 100 maps to 011</a:t>
            </a:r>
          </a:p>
          <a:p>
            <a:pPr marL="12700" marR="436245" indent="0">
              <a:lnSpc>
                <a:spcPct val="120000"/>
              </a:lnSpc>
              <a:spcBef>
                <a:spcPts val="575"/>
              </a:spcBef>
              <a:buNone/>
              <a:tabLst>
                <a:tab pos="355600" algn="l"/>
                <a:tab pos="425450" algn="l"/>
              </a:tabLst>
            </a:pPr>
            <a:r>
              <a:rPr lang="en-GB" sz="1800" dirty="0">
                <a:solidFill>
                  <a:srgbClr val="011199"/>
                </a:solidFill>
                <a:latin typeface="Times New Roman"/>
                <a:cs typeface="Times New Roman"/>
              </a:rPr>
              <a:t>(b) </a:t>
            </a:r>
            <a:r>
              <a:rPr lang="en-GB" sz="1800" dirty="0">
                <a:latin typeface="Times New Roman"/>
                <a:cs typeface="Times New Roman"/>
              </a:rPr>
              <a:t>Suppose Trudy sniffs the ciphertext. Assuming she knows that a 3-bit block cipher without CBC </a:t>
            </a:r>
            <a:r>
              <a:rPr lang="en-GB" sz="1600" dirty="0">
                <a:latin typeface="Times New Roman" panose="02020603050405020304" pitchFamily="18" charset="0"/>
                <a:cs typeface="Times New Roman" panose="02020603050405020304" pitchFamily="18" charset="0"/>
              </a:rPr>
              <a:t>is</a:t>
            </a:r>
            <a:r>
              <a:rPr lang="en-GB" sz="1600" spc="-1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being</a:t>
            </a:r>
            <a:r>
              <a:rPr lang="en-GB" sz="1600" spc="-1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employed</a:t>
            </a:r>
            <a:r>
              <a:rPr lang="en-GB" sz="1600" spc="-30" dirty="0">
                <a:latin typeface="Times New Roman" panose="02020603050405020304" pitchFamily="18" charset="0"/>
                <a:cs typeface="Times New Roman" panose="02020603050405020304" pitchFamily="18" charset="0"/>
              </a:rPr>
              <a:t> </a:t>
            </a:r>
            <a:r>
              <a:rPr lang="en-GB" sz="1600" spc="-20" dirty="0">
                <a:latin typeface="Times New Roman" panose="02020603050405020304" pitchFamily="18" charset="0"/>
                <a:cs typeface="Times New Roman" panose="02020603050405020304" pitchFamily="18" charset="0"/>
              </a:rPr>
              <a:t>(but </a:t>
            </a:r>
            <a:r>
              <a:rPr lang="en-GB" sz="1600" dirty="0">
                <a:latin typeface="Times New Roman" panose="02020603050405020304" pitchFamily="18" charset="0"/>
                <a:cs typeface="Times New Roman" panose="02020603050405020304" pitchFamily="18" charset="0"/>
              </a:rPr>
              <a:t>doesn’t</a:t>
            </a:r>
            <a:r>
              <a:rPr lang="en-GB" sz="1600" spc="-4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know</a:t>
            </a:r>
            <a:r>
              <a:rPr lang="en-GB" sz="1600" spc="-2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the</a:t>
            </a:r>
            <a:r>
              <a:rPr lang="en-GB" sz="1600" spc="-3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specific</a:t>
            </a:r>
            <a:r>
              <a:rPr lang="en-GB" sz="1600" spc="-4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cipher),</a:t>
            </a:r>
            <a:r>
              <a:rPr lang="en-GB" sz="1600" spc="-4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what</a:t>
            </a:r>
            <a:r>
              <a:rPr lang="en-GB" sz="1600" spc="-3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can</a:t>
            </a:r>
            <a:r>
              <a:rPr lang="en-GB" sz="1600" spc="-4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she</a:t>
            </a:r>
            <a:r>
              <a:rPr lang="en-GB" sz="1600" spc="-30" dirty="0">
                <a:latin typeface="Times New Roman" panose="02020603050405020304" pitchFamily="18" charset="0"/>
                <a:cs typeface="Times New Roman" panose="02020603050405020304" pitchFamily="18" charset="0"/>
              </a:rPr>
              <a:t> </a:t>
            </a:r>
            <a:r>
              <a:rPr lang="en-GB" sz="1600" spc="-10" dirty="0">
                <a:latin typeface="Times New Roman" panose="02020603050405020304" pitchFamily="18" charset="0"/>
                <a:cs typeface="Times New Roman" panose="02020603050405020304" pitchFamily="18" charset="0"/>
              </a:rPr>
              <a:t>infer?</a:t>
            </a:r>
          </a:p>
          <a:p>
            <a:pPr marL="12700" marR="5080" indent="0">
              <a:lnSpc>
                <a:spcPct val="100000"/>
              </a:lnSpc>
              <a:spcBef>
                <a:spcPts val="575"/>
              </a:spcBef>
              <a:buNone/>
              <a:tabLst>
                <a:tab pos="355600" algn="l"/>
                <a:tab pos="443230" algn="l"/>
              </a:tabLst>
            </a:pPr>
            <a:r>
              <a:rPr lang="en-GB" sz="1600" dirty="0">
                <a:latin typeface="Times New Roman" panose="02020603050405020304" pitchFamily="18" charset="0"/>
                <a:cs typeface="Times New Roman" panose="02020603050405020304" pitchFamily="18" charset="0"/>
              </a:rPr>
              <a:t>ANS: Without CBC, each identical plaintext block will always map to the same ciphertext block. This makes it easier for Trudy to recognize patterns in repeated blocks of data. If Trudy intercepts enough ciphertexts, she could perform frequency analysis on the blocks. For example, if certain ciphertext blocks appear more frequently, she might guess that they correspond to more common plaintext blocks (like spaces or common letters in text). Or if it is known that the message always starts out with certain predefined fields, then the cryptanalyst may have a number of known plaintext-ciphertext pairs to work with.</a:t>
            </a:r>
          </a:p>
          <a:p>
            <a:pPr marL="12700" marR="673735" indent="0">
              <a:lnSpc>
                <a:spcPct val="100000"/>
              </a:lnSpc>
              <a:spcBef>
                <a:spcPts val="575"/>
              </a:spcBef>
              <a:buNone/>
              <a:tabLst>
                <a:tab pos="355600" algn="l"/>
                <a:tab pos="425450" algn="l"/>
              </a:tabLst>
            </a:pPr>
            <a:r>
              <a:rPr lang="en-GB" sz="1600" dirty="0">
                <a:solidFill>
                  <a:srgbClr val="011199"/>
                </a:solidFill>
                <a:latin typeface="Times New Roman" panose="02020603050405020304" pitchFamily="18" charset="0"/>
                <a:cs typeface="Times New Roman" panose="02020603050405020304" pitchFamily="18" charset="0"/>
              </a:rPr>
              <a:t>(c) </a:t>
            </a:r>
            <a:r>
              <a:rPr lang="en-GB" sz="1600" dirty="0">
                <a:latin typeface="Times New Roman" panose="02020603050405020304" pitchFamily="18" charset="0"/>
                <a:cs typeface="Times New Roman" panose="02020603050405020304" pitchFamily="18" charset="0"/>
              </a:rPr>
              <a:t>Now,</a:t>
            </a:r>
            <a:r>
              <a:rPr lang="en-GB" sz="1600" spc="-1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suppose</a:t>
            </a:r>
            <a:r>
              <a:rPr lang="en-GB" sz="1600" spc="-1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that</a:t>
            </a:r>
            <a:r>
              <a:rPr lang="en-GB" sz="1600" spc="-3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CBC</a:t>
            </a:r>
            <a:r>
              <a:rPr lang="en-GB" sz="1600" spc="-2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is</a:t>
            </a:r>
            <a:r>
              <a:rPr lang="en-GB" sz="1600" spc="-1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used</a:t>
            </a:r>
            <a:r>
              <a:rPr lang="en-GB" sz="1600" spc="-2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with</a:t>
            </a:r>
            <a:r>
              <a:rPr lang="en-GB" sz="1600" spc="-20" dirty="0">
                <a:latin typeface="Times New Roman" panose="02020603050405020304" pitchFamily="18" charset="0"/>
                <a:cs typeface="Times New Roman" panose="02020603050405020304" pitchFamily="18" charset="0"/>
              </a:rPr>
              <a:t> IV=</a:t>
            </a:r>
            <a:r>
              <a:rPr lang="en-GB" sz="1600" dirty="0">
                <a:latin typeface="Times New Roman" panose="02020603050405020304" pitchFamily="18" charset="0"/>
                <a:cs typeface="Times New Roman" panose="02020603050405020304" pitchFamily="18" charset="0"/>
              </a:rPr>
              <a:t>111.</a:t>
            </a:r>
            <a:r>
              <a:rPr lang="en-GB" sz="1600" spc="-1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What</a:t>
            </a:r>
            <a:r>
              <a:rPr lang="en-GB" sz="1600" spc="-3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is</a:t>
            </a:r>
            <a:r>
              <a:rPr lang="en-GB" sz="1600" spc="-20" dirty="0">
                <a:latin typeface="Times New Roman" panose="02020603050405020304" pitchFamily="18" charset="0"/>
                <a:cs typeface="Times New Roman" panose="02020603050405020304" pitchFamily="18" charset="0"/>
              </a:rPr>
              <a:t> </a:t>
            </a:r>
            <a:r>
              <a:rPr lang="en-GB" sz="1600" spc="-25" dirty="0">
                <a:latin typeface="Times New Roman" panose="02020603050405020304" pitchFamily="18" charset="0"/>
                <a:cs typeface="Times New Roman" panose="02020603050405020304" pitchFamily="18" charset="0"/>
              </a:rPr>
              <a:t>the </a:t>
            </a:r>
            <a:r>
              <a:rPr lang="en-GB" sz="1600" dirty="0">
                <a:latin typeface="Times New Roman" panose="02020603050405020304" pitchFamily="18" charset="0"/>
                <a:cs typeface="Times New Roman" panose="02020603050405020304" pitchFamily="18" charset="0"/>
              </a:rPr>
              <a:t>resulting</a:t>
            </a:r>
            <a:r>
              <a:rPr lang="en-GB" sz="1600" spc="-55" dirty="0">
                <a:latin typeface="Times New Roman" panose="02020603050405020304" pitchFamily="18" charset="0"/>
                <a:cs typeface="Times New Roman" panose="02020603050405020304" pitchFamily="18" charset="0"/>
              </a:rPr>
              <a:t> </a:t>
            </a:r>
            <a:r>
              <a:rPr lang="en-GB" sz="1600" spc="-10" dirty="0">
                <a:latin typeface="Times New Roman" panose="02020603050405020304" pitchFamily="18" charset="0"/>
                <a:cs typeface="Times New Roman" panose="02020603050405020304" pitchFamily="18" charset="0"/>
              </a:rPr>
              <a:t>ciphertext?</a:t>
            </a:r>
          </a:p>
          <a:p>
            <a:pPr marL="12700" marR="673735" indent="0">
              <a:lnSpc>
                <a:spcPct val="100000"/>
              </a:lnSpc>
              <a:spcBef>
                <a:spcPts val="575"/>
              </a:spcBef>
              <a:buNone/>
              <a:tabLst>
                <a:tab pos="355600" algn="l"/>
                <a:tab pos="425450" algn="l"/>
              </a:tabLst>
            </a:pPr>
            <a:r>
              <a:rPr lang="en-GB" sz="1600" spc="-10" dirty="0">
                <a:latin typeface="Times New Roman" panose="02020603050405020304" pitchFamily="18" charset="0"/>
                <a:cs typeface="Times New Roman" panose="02020603050405020304" pitchFamily="18" charset="0"/>
              </a:rPr>
              <a:t>ANS:  </a:t>
            </a:r>
            <a:r>
              <a:rPr lang="en-GB" sz="1600" dirty="0">
                <a:latin typeface="Times New Roman" panose="02020603050405020304" pitchFamily="18" charset="0"/>
                <a:cs typeface="Times New Roman" panose="02020603050405020304" pitchFamily="18" charset="0"/>
              </a:rPr>
              <a:t>With CBC and IV = 111, resulting ciphertext for plaintext 100101100 is 100110101. (See next page.)</a:t>
            </a:r>
            <a:endParaRPr lang="en-SE"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82AC401-28B9-1A4D-CCB4-65D17A2B3D03}"/>
              </a:ext>
            </a:extLst>
          </p:cNvPr>
          <p:cNvSpPr txBox="1"/>
          <p:nvPr/>
        </p:nvSpPr>
        <p:spPr>
          <a:xfrm>
            <a:off x="6290240" y="2261893"/>
            <a:ext cx="535724" cy="369332"/>
          </a:xfrm>
          <a:prstGeom prst="rect">
            <a:avLst/>
          </a:prstGeom>
          <a:noFill/>
        </p:spPr>
        <p:txBody>
          <a:bodyPr wrap="none" rtlCol="0">
            <a:spAutoFit/>
          </a:bodyPr>
          <a:lstStyle/>
          <a:p>
            <a:r>
              <a:rPr lang="en-GB" dirty="0"/>
              <a:t>100</a:t>
            </a:r>
            <a:endParaRPr lang="en-SE" dirty="0"/>
          </a:p>
        </p:txBody>
      </p:sp>
      <p:sp>
        <p:nvSpPr>
          <p:cNvPr id="9" name="TextBox 8">
            <a:extLst>
              <a:ext uri="{FF2B5EF4-FFF2-40B4-BE49-F238E27FC236}">
                <a16:creationId xmlns:a16="http://schemas.microsoft.com/office/drawing/2014/main" id="{FF36A675-BFE5-CAD4-11CD-58FD4CF9507D}"/>
              </a:ext>
            </a:extLst>
          </p:cNvPr>
          <p:cNvSpPr txBox="1"/>
          <p:nvPr/>
        </p:nvSpPr>
        <p:spPr>
          <a:xfrm>
            <a:off x="6290240" y="3164908"/>
            <a:ext cx="535724" cy="369332"/>
          </a:xfrm>
          <a:prstGeom prst="rect">
            <a:avLst/>
          </a:prstGeom>
          <a:noFill/>
        </p:spPr>
        <p:txBody>
          <a:bodyPr wrap="none" rtlCol="0">
            <a:spAutoFit/>
          </a:bodyPr>
          <a:lstStyle/>
          <a:p>
            <a:r>
              <a:rPr lang="en-GB" dirty="0"/>
              <a:t>011</a:t>
            </a:r>
            <a:endParaRPr lang="en-SE" dirty="0"/>
          </a:p>
        </p:txBody>
      </p:sp>
      <p:sp>
        <p:nvSpPr>
          <p:cNvPr id="10" name="TextBox 9">
            <a:extLst>
              <a:ext uri="{FF2B5EF4-FFF2-40B4-BE49-F238E27FC236}">
                <a16:creationId xmlns:a16="http://schemas.microsoft.com/office/drawing/2014/main" id="{D700E9B7-954C-570B-F33B-B284C0156307}"/>
              </a:ext>
            </a:extLst>
          </p:cNvPr>
          <p:cNvSpPr txBox="1"/>
          <p:nvPr/>
        </p:nvSpPr>
        <p:spPr>
          <a:xfrm>
            <a:off x="8292623" y="2261893"/>
            <a:ext cx="535724" cy="369332"/>
          </a:xfrm>
          <a:prstGeom prst="rect">
            <a:avLst/>
          </a:prstGeom>
          <a:noFill/>
        </p:spPr>
        <p:txBody>
          <a:bodyPr wrap="none" rtlCol="0">
            <a:spAutoFit/>
          </a:bodyPr>
          <a:lstStyle/>
          <a:p>
            <a:r>
              <a:rPr lang="en-GB" dirty="0"/>
              <a:t>101</a:t>
            </a:r>
            <a:endParaRPr lang="en-SE" dirty="0"/>
          </a:p>
        </p:txBody>
      </p:sp>
      <p:sp>
        <p:nvSpPr>
          <p:cNvPr id="11" name="TextBox 10">
            <a:extLst>
              <a:ext uri="{FF2B5EF4-FFF2-40B4-BE49-F238E27FC236}">
                <a16:creationId xmlns:a16="http://schemas.microsoft.com/office/drawing/2014/main" id="{FEAEA55B-088A-B4EC-88D8-A3AB73F6DB6B}"/>
              </a:ext>
            </a:extLst>
          </p:cNvPr>
          <p:cNvSpPr txBox="1"/>
          <p:nvPr/>
        </p:nvSpPr>
        <p:spPr>
          <a:xfrm>
            <a:off x="8292623" y="3133050"/>
            <a:ext cx="535724" cy="369332"/>
          </a:xfrm>
          <a:prstGeom prst="rect">
            <a:avLst/>
          </a:prstGeom>
          <a:noFill/>
        </p:spPr>
        <p:txBody>
          <a:bodyPr wrap="none" rtlCol="0">
            <a:spAutoFit/>
          </a:bodyPr>
          <a:lstStyle/>
          <a:p>
            <a:r>
              <a:rPr lang="en-GB" dirty="0"/>
              <a:t>010</a:t>
            </a:r>
            <a:endParaRPr lang="en-SE" dirty="0"/>
          </a:p>
        </p:txBody>
      </p:sp>
      <p:sp>
        <p:nvSpPr>
          <p:cNvPr id="12" name="TextBox 11">
            <a:extLst>
              <a:ext uri="{FF2B5EF4-FFF2-40B4-BE49-F238E27FC236}">
                <a16:creationId xmlns:a16="http://schemas.microsoft.com/office/drawing/2014/main" id="{F99ED35F-D236-7D2E-F947-9A4B391A53E2}"/>
              </a:ext>
            </a:extLst>
          </p:cNvPr>
          <p:cNvSpPr txBox="1"/>
          <p:nvPr/>
        </p:nvSpPr>
        <p:spPr>
          <a:xfrm>
            <a:off x="10592077" y="2259515"/>
            <a:ext cx="535724" cy="369332"/>
          </a:xfrm>
          <a:prstGeom prst="rect">
            <a:avLst/>
          </a:prstGeom>
          <a:noFill/>
        </p:spPr>
        <p:txBody>
          <a:bodyPr wrap="none" rtlCol="0">
            <a:spAutoFit/>
          </a:bodyPr>
          <a:lstStyle/>
          <a:p>
            <a:r>
              <a:rPr lang="en-GB" dirty="0"/>
              <a:t>100</a:t>
            </a:r>
            <a:endParaRPr lang="en-SE" dirty="0"/>
          </a:p>
        </p:txBody>
      </p:sp>
      <p:sp>
        <p:nvSpPr>
          <p:cNvPr id="13" name="TextBox 12">
            <a:extLst>
              <a:ext uri="{FF2B5EF4-FFF2-40B4-BE49-F238E27FC236}">
                <a16:creationId xmlns:a16="http://schemas.microsoft.com/office/drawing/2014/main" id="{3494E869-0DFF-7964-80D9-79FBBE716CF6}"/>
              </a:ext>
            </a:extLst>
          </p:cNvPr>
          <p:cNvSpPr txBox="1"/>
          <p:nvPr/>
        </p:nvSpPr>
        <p:spPr>
          <a:xfrm>
            <a:off x="10592077" y="3162530"/>
            <a:ext cx="535724" cy="369332"/>
          </a:xfrm>
          <a:prstGeom prst="rect">
            <a:avLst/>
          </a:prstGeom>
          <a:noFill/>
        </p:spPr>
        <p:txBody>
          <a:bodyPr wrap="none" rtlCol="0">
            <a:spAutoFit/>
          </a:bodyPr>
          <a:lstStyle/>
          <a:p>
            <a:r>
              <a:rPr lang="en-GB" dirty="0"/>
              <a:t>011</a:t>
            </a:r>
            <a:endParaRPr lang="en-SE" dirty="0"/>
          </a:p>
        </p:txBody>
      </p:sp>
      <p:sp>
        <p:nvSpPr>
          <p:cNvPr id="14" name="TextBox 13">
            <a:extLst>
              <a:ext uri="{FF2B5EF4-FFF2-40B4-BE49-F238E27FC236}">
                <a16:creationId xmlns:a16="http://schemas.microsoft.com/office/drawing/2014/main" id="{0C137E8B-F66D-CAC9-E9C9-4E92884AA7C7}"/>
              </a:ext>
            </a:extLst>
          </p:cNvPr>
          <p:cNvSpPr txBox="1"/>
          <p:nvPr/>
        </p:nvSpPr>
        <p:spPr>
          <a:xfrm>
            <a:off x="7843458" y="4380200"/>
            <a:ext cx="3510342" cy="1938992"/>
          </a:xfrm>
          <a:prstGeom prst="rect">
            <a:avLst/>
          </a:prstGeom>
          <a:solidFill>
            <a:schemeClr val="bg1">
              <a:lumMod val="95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r>
              <a:rPr lang="en-GB" sz="2000" dirty="0"/>
              <a:t>The same plaintext 100 is encrypted into the same cyphertext (011) at different positions in the input, making it possible to attacker to perform frequency analysis.</a:t>
            </a:r>
            <a:endParaRPr lang="en-SE" sz="2000" dirty="0"/>
          </a:p>
        </p:txBody>
      </p:sp>
      <p:sp>
        <p:nvSpPr>
          <p:cNvPr id="6" name="Slide Number Placeholder 2">
            <a:extLst>
              <a:ext uri="{FF2B5EF4-FFF2-40B4-BE49-F238E27FC236}">
                <a16:creationId xmlns:a16="http://schemas.microsoft.com/office/drawing/2014/main" id="{439EB292-6606-D268-3E50-F4EEC340313E}"/>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26</a:t>
            </a:fld>
            <a:endParaRPr kumimoji="0" lang="en-US" dirty="0"/>
          </a:p>
        </p:txBody>
      </p:sp>
    </p:spTree>
    <p:extLst>
      <p:ext uri="{BB962C8B-B14F-4D97-AF65-F5344CB8AC3E}">
        <p14:creationId xmlns:p14="http://schemas.microsoft.com/office/powerpoint/2010/main" val="3081120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3962B9-C231-C4DC-9AAC-30F6490365E4}"/>
              </a:ext>
            </a:extLst>
          </p:cNvPr>
          <p:cNvSpPr>
            <a:spLocks noGrp="1"/>
          </p:cNvSpPr>
          <p:nvPr>
            <p:ph type="title"/>
          </p:nvPr>
        </p:nvSpPr>
        <p:spPr>
          <a:xfrm>
            <a:off x="838200" y="136397"/>
            <a:ext cx="10515600" cy="894622"/>
          </a:xfrm>
        </p:spPr>
        <p:txBody>
          <a:bodyPr/>
          <a:lstStyle/>
          <a:p>
            <a:r>
              <a:rPr lang="en-GB" altLang="zh-CN" dirty="0"/>
              <a:t>Lecture 15 - </a:t>
            </a:r>
            <a:r>
              <a:rPr lang="en-GB" dirty="0"/>
              <a:t>Block Cipher ANS</a:t>
            </a:r>
            <a:endParaRPr lang="en-SE" dirty="0"/>
          </a:p>
        </p:txBody>
      </p:sp>
      <p:graphicFrame>
        <p:nvGraphicFramePr>
          <p:cNvPr id="6" name="object 8">
            <a:extLst>
              <a:ext uri="{FF2B5EF4-FFF2-40B4-BE49-F238E27FC236}">
                <a16:creationId xmlns:a16="http://schemas.microsoft.com/office/drawing/2014/main" id="{335D830B-1706-BD66-6B3F-E41F54AAB336}"/>
              </a:ext>
            </a:extLst>
          </p:cNvPr>
          <p:cNvGraphicFramePr>
            <a:graphicFrameLocks noGrp="1"/>
          </p:cNvGraphicFramePr>
          <p:nvPr>
            <p:extLst>
              <p:ext uri="{D42A27DB-BD31-4B8C-83A1-F6EECF244321}">
                <p14:modId xmlns:p14="http://schemas.microsoft.com/office/powerpoint/2010/main" val="130902822"/>
              </p:ext>
            </p:extLst>
          </p:nvPr>
        </p:nvGraphicFramePr>
        <p:xfrm>
          <a:off x="6240196" y="1495252"/>
          <a:ext cx="5722620" cy="734060"/>
        </p:xfrm>
        <a:graphic>
          <a:graphicData uri="http://schemas.openxmlformats.org/drawingml/2006/table">
            <a:tbl>
              <a:tblPr firstRow="1" bandRow="1">
                <a:tableStyleId>{2D5ABB26-0587-4C30-8999-92F81FD0307C}</a:tableStyleId>
              </a:tblPr>
              <a:tblGrid>
                <a:gridCol w="9677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67030">
                <a:tc>
                  <a:txBody>
                    <a:bodyPr/>
                    <a:lstStyle/>
                    <a:p>
                      <a:pPr marL="68580">
                        <a:lnSpc>
                          <a:spcPts val="2765"/>
                        </a:lnSpc>
                      </a:pPr>
                      <a:r>
                        <a:rPr sz="2400" spc="-10" dirty="0">
                          <a:latin typeface="Times New Roman"/>
                          <a:cs typeface="Times New Roman"/>
                        </a:rPr>
                        <a:t>Plain</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001</a:t>
                      </a:r>
                      <a:endParaRPr sz="240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010</a:t>
                      </a:r>
                      <a:endParaRPr sz="240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011</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67030">
                <a:tc>
                  <a:txBody>
                    <a:bodyPr/>
                    <a:lstStyle/>
                    <a:p>
                      <a:pPr marL="67945">
                        <a:lnSpc>
                          <a:spcPts val="2765"/>
                        </a:lnSpc>
                      </a:pPr>
                      <a:r>
                        <a:rPr sz="2400" spc="-10" dirty="0">
                          <a:latin typeface="Times New Roman"/>
                          <a:cs typeface="Times New Roman"/>
                        </a:rPr>
                        <a:t>Cipher</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a:t>
                      </a:r>
                      <a:r>
                        <a:rPr lang="en-GB" sz="2400" spc="-25" dirty="0">
                          <a:latin typeface="Times New Roman"/>
                          <a:cs typeface="Times New Roman"/>
                        </a:rPr>
                        <a:t>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11</a:t>
                      </a:r>
                      <a:r>
                        <a:rPr lang="en-GB" sz="2400" spc="-25" dirty="0">
                          <a:solidFill>
                            <a:srgbClr val="FF0000"/>
                          </a:solidFill>
                          <a:latin typeface="Times New Roman"/>
                          <a:cs typeface="Times New Roman"/>
                        </a:rPr>
                        <a:t>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101</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bl>
          </a:graphicData>
        </a:graphic>
      </p:graphicFrame>
      <p:pic>
        <p:nvPicPr>
          <p:cNvPr id="7" name="Picture 6">
            <a:extLst>
              <a:ext uri="{FF2B5EF4-FFF2-40B4-BE49-F238E27FC236}">
                <a16:creationId xmlns:a16="http://schemas.microsoft.com/office/drawing/2014/main" id="{5B72016C-7010-61EF-517E-045AEC9409FA}"/>
              </a:ext>
            </a:extLst>
          </p:cNvPr>
          <p:cNvPicPr>
            <a:picLocks noChangeAspect="1"/>
          </p:cNvPicPr>
          <p:nvPr/>
        </p:nvPicPr>
        <p:blipFill>
          <a:blip r:embed="rId2"/>
          <a:stretch>
            <a:fillRect/>
          </a:stretch>
        </p:blipFill>
        <p:spPr>
          <a:xfrm>
            <a:off x="5628998" y="2389874"/>
            <a:ext cx="6472772" cy="2431826"/>
          </a:xfrm>
          <a:prstGeom prst="rect">
            <a:avLst/>
          </a:prstGeom>
        </p:spPr>
      </p:pic>
      <p:sp>
        <p:nvSpPr>
          <p:cNvPr id="8" name="TextBox 7">
            <a:extLst>
              <a:ext uri="{FF2B5EF4-FFF2-40B4-BE49-F238E27FC236}">
                <a16:creationId xmlns:a16="http://schemas.microsoft.com/office/drawing/2014/main" id="{4815EEF1-DF84-37C6-BE6A-B5B78166DD63}"/>
              </a:ext>
            </a:extLst>
          </p:cNvPr>
          <p:cNvSpPr txBox="1"/>
          <p:nvPr/>
        </p:nvSpPr>
        <p:spPr>
          <a:xfrm>
            <a:off x="5950352" y="2748570"/>
            <a:ext cx="535724" cy="369332"/>
          </a:xfrm>
          <a:prstGeom prst="rect">
            <a:avLst/>
          </a:prstGeom>
          <a:noFill/>
        </p:spPr>
        <p:txBody>
          <a:bodyPr wrap="none" rtlCol="0">
            <a:spAutoFit/>
          </a:bodyPr>
          <a:lstStyle/>
          <a:p>
            <a:r>
              <a:rPr lang="en-GB" dirty="0"/>
              <a:t>111</a:t>
            </a:r>
            <a:endParaRPr lang="en-SE" dirty="0"/>
          </a:p>
        </p:txBody>
      </p:sp>
      <p:sp>
        <p:nvSpPr>
          <p:cNvPr id="11" name="TextBox 10">
            <a:extLst>
              <a:ext uri="{FF2B5EF4-FFF2-40B4-BE49-F238E27FC236}">
                <a16:creationId xmlns:a16="http://schemas.microsoft.com/office/drawing/2014/main" id="{9E2DB30E-7EB6-0A8D-26A7-B24A39779919}"/>
              </a:ext>
            </a:extLst>
          </p:cNvPr>
          <p:cNvSpPr txBox="1"/>
          <p:nvPr/>
        </p:nvSpPr>
        <p:spPr>
          <a:xfrm>
            <a:off x="6486076" y="2748570"/>
            <a:ext cx="535724" cy="369332"/>
          </a:xfrm>
          <a:prstGeom prst="rect">
            <a:avLst/>
          </a:prstGeom>
          <a:noFill/>
        </p:spPr>
        <p:txBody>
          <a:bodyPr wrap="none" rtlCol="0">
            <a:spAutoFit/>
          </a:bodyPr>
          <a:lstStyle/>
          <a:p>
            <a:r>
              <a:rPr lang="en-GB" dirty="0"/>
              <a:t>100</a:t>
            </a:r>
            <a:endParaRPr lang="en-SE" dirty="0"/>
          </a:p>
        </p:txBody>
      </p:sp>
      <p:sp>
        <p:nvSpPr>
          <p:cNvPr id="12" name="TextBox 11">
            <a:extLst>
              <a:ext uri="{FF2B5EF4-FFF2-40B4-BE49-F238E27FC236}">
                <a16:creationId xmlns:a16="http://schemas.microsoft.com/office/drawing/2014/main" id="{99D3811F-4F8D-C083-C71C-B8EFF64A731D}"/>
              </a:ext>
            </a:extLst>
          </p:cNvPr>
          <p:cNvSpPr txBox="1"/>
          <p:nvPr/>
        </p:nvSpPr>
        <p:spPr>
          <a:xfrm>
            <a:off x="6486076" y="3291932"/>
            <a:ext cx="535724" cy="369332"/>
          </a:xfrm>
          <a:prstGeom prst="rect">
            <a:avLst/>
          </a:prstGeom>
          <a:noFill/>
        </p:spPr>
        <p:txBody>
          <a:bodyPr wrap="none" rtlCol="0">
            <a:spAutoFit/>
          </a:bodyPr>
          <a:lstStyle/>
          <a:p>
            <a:r>
              <a:rPr lang="en-GB" dirty="0"/>
              <a:t>011</a:t>
            </a:r>
            <a:endParaRPr lang="en-SE" dirty="0"/>
          </a:p>
        </p:txBody>
      </p:sp>
      <p:sp>
        <p:nvSpPr>
          <p:cNvPr id="13" name="TextBox 12">
            <a:extLst>
              <a:ext uri="{FF2B5EF4-FFF2-40B4-BE49-F238E27FC236}">
                <a16:creationId xmlns:a16="http://schemas.microsoft.com/office/drawing/2014/main" id="{BC2FCDFE-2A58-391A-6D38-D26A74A69437}"/>
              </a:ext>
            </a:extLst>
          </p:cNvPr>
          <p:cNvSpPr txBox="1"/>
          <p:nvPr/>
        </p:nvSpPr>
        <p:spPr>
          <a:xfrm>
            <a:off x="6486076" y="4110561"/>
            <a:ext cx="535724" cy="369332"/>
          </a:xfrm>
          <a:prstGeom prst="rect">
            <a:avLst/>
          </a:prstGeom>
          <a:noFill/>
        </p:spPr>
        <p:txBody>
          <a:bodyPr wrap="none" rtlCol="0">
            <a:spAutoFit/>
          </a:bodyPr>
          <a:lstStyle/>
          <a:p>
            <a:r>
              <a:rPr lang="en-GB" dirty="0"/>
              <a:t>100</a:t>
            </a:r>
            <a:endParaRPr lang="en-SE" dirty="0"/>
          </a:p>
        </p:txBody>
      </p:sp>
      <p:sp>
        <p:nvSpPr>
          <p:cNvPr id="14" name="TextBox 13">
            <a:extLst>
              <a:ext uri="{FF2B5EF4-FFF2-40B4-BE49-F238E27FC236}">
                <a16:creationId xmlns:a16="http://schemas.microsoft.com/office/drawing/2014/main" id="{B54D56B7-62AC-83B4-99B0-69C91DA41C66}"/>
              </a:ext>
            </a:extLst>
          </p:cNvPr>
          <p:cNvSpPr txBox="1"/>
          <p:nvPr/>
        </p:nvSpPr>
        <p:spPr>
          <a:xfrm>
            <a:off x="8555958" y="2748570"/>
            <a:ext cx="535724" cy="369332"/>
          </a:xfrm>
          <a:prstGeom prst="rect">
            <a:avLst/>
          </a:prstGeom>
          <a:noFill/>
        </p:spPr>
        <p:txBody>
          <a:bodyPr wrap="none" rtlCol="0">
            <a:spAutoFit/>
          </a:bodyPr>
          <a:lstStyle/>
          <a:p>
            <a:r>
              <a:rPr lang="en-GB" dirty="0"/>
              <a:t>101</a:t>
            </a:r>
            <a:endParaRPr lang="en-SE" dirty="0"/>
          </a:p>
        </p:txBody>
      </p:sp>
      <p:sp>
        <p:nvSpPr>
          <p:cNvPr id="15" name="TextBox 14">
            <a:extLst>
              <a:ext uri="{FF2B5EF4-FFF2-40B4-BE49-F238E27FC236}">
                <a16:creationId xmlns:a16="http://schemas.microsoft.com/office/drawing/2014/main" id="{F3E9B628-3BFC-D6C6-ECDF-258F731C01D5}"/>
              </a:ext>
            </a:extLst>
          </p:cNvPr>
          <p:cNvSpPr txBox="1"/>
          <p:nvPr/>
        </p:nvSpPr>
        <p:spPr>
          <a:xfrm>
            <a:off x="8555958" y="3291932"/>
            <a:ext cx="535724" cy="369332"/>
          </a:xfrm>
          <a:prstGeom prst="rect">
            <a:avLst/>
          </a:prstGeom>
          <a:noFill/>
        </p:spPr>
        <p:txBody>
          <a:bodyPr wrap="none" rtlCol="0">
            <a:spAutoFit/>
          </a:bodyPr>
          <a:lstStyle/>
          <a:p>
            <a:r>
              <a:rPr lang="en-GB" dirty="0"/>
              <a:t>001</a:t>
            </a:r>
            <a:endParaRPr lang="en-SE" dirty="0"/>
          </a:p>
        </p:txBody>
      </p:sp>
      <p:sp>
        <p:nvSpPr>
          <p:cNvPr id="18" name="TextBox 17">
            <a:extLst>
              <a:ext uri="{FF2B5EF4-FFF2-40B4-BE49-F238E27FC236}">
                <a16:creationId xmlns:a16="http://schemas.microsoft.com/office/drawing/2014/main" id="{F5CC55AA-2A8C-3188-4A6D-5D713171DC0E}"/>
              </a:ext>
            </a:extLst>
          </p:cNvPr>
          <p:cNvSpPr txBox="1"/>
          <p:nvPr/>
        </p:nvSpPr>
        <p:spPr>
          <a:xfrm>
            <a:off x="8597522" y="4056816"/>
            <a:ext cx="535724" cy="369332"/>
          </a:xfrm>
          <a:prstGeom prst="rect">
            <a:avLst/>
          </a:prstGeom>
          <a:noFill/>
        </p:spPr>
        <p:txBody>
          <a:bodyPr wrap="none" rtlCol="0">
            <a:spAutoFit/>
          </a:bodyPr>
          <a:lstStyle/>
          <a:p>
            <a:r>
              <a:rPr lang="en-GB" dirty="0"/>
              <a:t>110</a:t>
            </a:r>
            <a:endParaRPr lang="en-SE" dirty="0"/>
          </a:p>
        </p:txBody>
      </p:sp>
      <p:sp>
        <p:nvSpPr>
          <p:cNvPr id="19" name="TextBox 18">
            <a:extLst>
              <a:ext uri="{FF2B5EF4-FFF2-40B4-BE49-F238E27FC236}">
                <a16:creationId xmlns:a16="http://schemas.microsoft.com/office/drawing/2014/main" id="{805BD3EB-0FC4-1013-9758-265FDB454403}"/>
              </a:ext>
            </a:extLst>
          </p:cNvPr>
          <p:cNvSpPr txBox="1"/>
          <p:nvPr/>
        </p:nvSpPr>
        <p:spPr>
          <a:xfrm>
            <a:off x="11482918" y="2747872"/>
            <a:ext cx="535724" cy="369332"/>
          </a:xfrm>
          <a:prstGeom prst="rect">
            <a:avLst/>
          </a:prstGeom>
          <a:noFill/>
        </p:spPr>
        <p:txBody>
          <a:bodyPr wrap="none" rtlCol="0">
            <a:spAutoFit/>
          </a:bodyPr>
          <a:lstStyle/>
          <a:p>
            <a:r>
              <a:rPr lang="en-GB" dirty="0"/>
              <a:t>100</a:t>
            </a:r>
            <a:endParaRPr lang="en-SE" dirty="0"/>
          </a:p>
        </p:txBody>
      </p:sp>
      <p:sp>
        <p:nvSpPr>
          <p:cNvPr id="20" name="TextBox 19">
            <a:extLst>
              <a:ext uri="{FF2B5EF4-FFF2-40B4-BE49-F238E27FC236}">
                <a16:creationId xmlns:a16="http://schemas.microsoft.com/office/drawing/2014/main" id="{FDCB3F43-BC2D-5C20-5530-B76180170DB8}"/>
              </a:ext>
            </a:extLst>
          </p:cNvPr>
          <p:cNvSpPr txBox="1"/>
          <p:nvPr/>
        </p:nvSpPr>
        <p:spPr>
          <a:xfrm>
            <a:off x="11475865" y="3219181"/>
            <a:ext cx="535724" cy="369332"/>
          </a:xfrm>
          <a:prstGeom prst="rect">
            <a:avLst/>
          </a:prstGeom>
          <a:noFill/>
        </p:spPr>
        <p:txBody>
          <a:bodyPr wrap="none" rtlCol="0">
            <a:spAutoFit/>
          </a:bodyPr>
          <a:lstStyle/>
          <a:p>
            <a:r>
              <a:rPr lang="en-GB" dirty="0"/>
              <a:t>010</a:t>
            </a:r>
            <a:endParaRPr lang="en-SE" dirty="0"/>
          </a:p>
        </p:txBody>
      </p:sp>
      <p:sp>
        <p:nvSpPr>
          <p:cNvPr id="21" name="TextBox 20">
            <a:extLst>
              <a:ext uri="{FF2B5EF4-FFF2-40B4-BE49-F238E27FC236}">
                <a16:creationId xmlns:a16="http://schemas.microsoft.com/office/drawing/2014/main" id="{D3466A0F-170B-06F3-2D8C-38B561A5BF45}"/>
              </a:ext>
            </a:extLst>
          </p:cNvPr>
          <p:cNvSpPr txBox="1"/>
          <p:nvPr/>
        </p:nvSpPr>
        <p:spPr>
          <a:xfrm>
            <a:off x="10674143" y="2873919"/>
            <a:ext cx="535724" cy="369332"/>
          </a:xfrm>
          <a:prstGeom prst="rect">
            <a:avLst/>
          </a:prstGeom>
          <a:noFill/>
        </p:spPr>
        <p:txBody>
          <a:bodyPr wrap="none" rtlCol="0">
            <a:spAutoFit/>
          </a:bodyPr>
          <a:lstStyle/>
          <a:p>
            <a:r>
              <a:rPr lang="en-GB" dirty="0"/>
              <a:t>110</a:t>
            </a:r>
            <a:endParaRPr lang="en-SE" dirty="0"/>
          </a:p>
        </p:txBody>
      </p:sp>
      <p:sp>
        <p:nvSpPr>
          <p:cNvPr id="22" name="TextBox 21">
            <a:extLst>
              <a:ext uri="{FF2B5EF4-FFF2-40B4-BE49-F238E27FC236}">
                <a16:creationId xmlns:a16="http://schemas.microsoft.com/office/drawing/2014/main" id="{A17576F4-94D5-97B5-C499-0ACBE3800BA4}"/>
              </a:ext>
            </a:extLst>
          </p:cNvPr>
          <p:cNvSpPr txBox="1"/>
          <p:nvPr/>
        </p:nvSpPr>
        <p:spPr>
          <a:xfrm>
            <a:off x="11496238" y="4025387"/>
            <a:ext cx="535724" cy="369332"/>
          </a:xfrm>
          <a:prstGeom prst="rect">
            <a:avLst/>
          </a:prstGeom>
          <a:noFill/>
        </p:spPr>
        <p:txBody>
          <a:bodyPr wrap="none" rtlCol="0">
            <a:spAutoFit/>
          </a:bodyPr>
          <a:lstStyle/>
          <a:p>
            <a:r>
              <a:rPr lang="en-GB" dirty="0"/>
              <a:t>101</a:t>
            </a:r>
            <a:endParaRPr lang="en-SE" dirty="0"/>
          </a:p>
        </p:txBody>
      </p:sp>
      <p:sp>
        <p:nvSpPr>
          <p:cNvPr id="2" name="Content Placeholder 1">
            <a:extLst>
              <a:ext uri="{FF2B5EF4-FFF2-40B4-BE49-F238E27FC236}">
                <a16:creationId xmlns:a16="http://schemas.microsoft.com/office/drawing/2014/main" id="{CEB549BE-A5E1-C079-62D3-A46C8881DBD1}"/>
              </a:ext>
            </a:extLst>
          </p:cNvPr>
          <p:cNvSpPr>
            <a:spLocks noGrp="1"/>
          </p:cNvSpPr>
          <p:nvPr>
            <p:ph idx="1"/>
          </p:nvPr>
        </p:nvSpPr>
        <p:spPr>
          <a:xfrm>
            <a:off x="-27616" y="1017605"/>
            <a:ext cx="5978017" cy="5751063"/>
          </a:xfrm>
        </p:spPr>
        <p:txBody>
          <a:bodyPr>
            <a:normAutofit fontScale="85000" lnSpcReduction="20000"/>
          </a:bodyPr>
          <a:lstStyle/>
          <a:p>
            <a:r>
              <a:rPr lang="en-GB" sz="2800" dirty="0">
                <a:latin typeface="Times New Roman"/>
                <a:cs typeface="Times New Roman"/>
              </a:rPr>
              <a:t>Plaintext 100101100</a:t>
            </a:r>
            <a:endParaRPr lang="en-GB" dirty="0"/>
          </a:p>
          <a:p>
            <a:r>
              <a:rPr lang="en-GB" dirty="0"/>
              <a:t>The first step is to XOR the first plaintext block with IV = 111</a:t>
            </a:r>
          </a:p>
          <a:p>
            <a:pPr lvl="1"/>
            <a:r>
              <a:rPr lang="en-GB" dirty="0"/>
              <a:t>First plaintext block: 100, so 100⊕111=011</a:t>
            </a:r>
          </a:p>
          <a:p>
            <a:pPr lvl="1"/>
            <a:r>
              <a:rPr lang="en-GB" dirty="0"/>
              <a:t>Now we encrypt this result (011) using our cipher table: 011 maps to </a:t>
            </a:r>
            <a:r>
              <a:rPr lang="en-GB" dirty="0">
                <a:solidFill>
                  <a:srgbClr val="FF0000"/>
                </a:solidFill>
              </a:rPr>
              <a:t>100</a:t>
            </a:r>
            <a:r>
              <a:rPr lang="en-GB" dirty="0"/>
              <a:t>.</a:t>
            </a:r>
          </a:p>
          <a:p>
            <a:r>
              <a:rPr lang="en-GB" dirty="0"/>
              <a:t>Second Block: Now we XOR the second plaintext block with the first ciphertext block:</a:t>
            </a:r>
          </a:p>
          <a:p>
            <a:pPr lvl="1"/>
            <a:r>
              <a:rPr lang="en-GB" dirty="0"/>
              <a:t>Second plaintext block: 101, so 101⊕100=001</a:t>
            </a:r>
          </a:p>
          <a:p>
            <a:pPr lvl="1"/>
            <a:r>
              <a:rPr lang="en-GB" dirty="0"/>
              <a:t>Now we encrypt this result (001) using our cipher table: 001 maps to </a:t>
            </a:r>
            <a:r>
              <a:rPr lang="en-GB" dirty="0">
                <a:solidFill>
                  <a:srgbClr val="FF0000"/>
                </a:solidFill>
              </a:rPr>
              <a:t>110</a:t>
            </a:r>
            <a:r>
              <a:rPr lang="en-GB" dirty="0"/>
              <a:t>.</a:t>
            </a:r>
          </a:p>
          <a:p>
            <a:r>
              <a:rPr lang="en-GB" dirty="0"/>
              <a:t>Third Block: Finally, we XOR the third plaintext block with the second ciphertext block:</a:t>
            </a:r>
          </a:p>
          <a:p>
            <a:pPr lvl="1"/>
            <a:r>
              <a:rPr lang="en-GB" dirty="0"/>
              <a:t>Third plaintext block: 100, so 100⊕110=010</a:t>
            </a:r>
          </a:p>
          <a:p>
            <a:pPr lvl="1"/>
            <a:r>
              <a:rPr lang="en-GB" dirty="0"/>
              <a:t>Now we encrypt this result (010) using our cipher table: 010 maps to </a:t>
            </a:r>
            <a:r>
              <a:rPr lang="en-GB" dirty="0">
                <a:solidFill>
                  <a:srgbClr val="FF0000"/>
                </a:solidFill>
              </a:rPr>
              <a:t>101</a:t>
            </a:r>
            <a:r>
              <a:rPr lang="en-GB" dirty="0"/>
              <a:t>.</a:t>
            </a:r>
          </a:p>
          <a:p>
            <a:r>
              <a:rPr lang="en-GB" dirty="0">
                <a:latin typeface="Times New Roman" panose="02020603050405020304" pitchFamily="18" charset="0"/>
                <a:cs typeface="Times New Roman" panose="02020603050405020304" pitchFamily="18" charset="0"/>
              </a:rPr>
              <a:t>Resulting ciphertext for plaintext 100101100 is 100110101. </a:t>
            </a:r>
            <a:endParaRPr lang="en-GB" dirty="0"/>
          </a:p>
        </p:txBody>
      </p:sp>
      <p:sp>
        <p:nvSpPr>
          <p:cNvPr id="23" name="TextBox 22">
            <a:extLst>
              <a:ext uri="{FF2B5EF4-FFF2-40B4-BE49-F238E27FC236}">
                <a16:creationId xmlns:a16="http://schemas.microsoft.com/office/drawing/2014/main" id="{9605755F-9B94-479F-7CB2-38960452BFA9}"/>
              </a:ext>
            </a:extLst>
          </p:cNvPr>
          <p:cNvSpPr txBox="1"/>
          <p:nvPr/>
        </p:nvSpPr>
        <p:spPr>
          <a:xfrm>
            <a:off x="6925420" y="4995718"/>
            <a:ext cx="4423064" cy="1323439"/>
          </a:xfrm>
          <a:prstGeom prst="rect">
            <a:avLst/>
          </a:prstGeom>
          <a:solidFill>
            <a:schemeClr val="bg1">
              <a:lumMod val="95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r>
              <a:rPr lang="en-GB" sz="2000" dirty="0"/>
              <a:t>The same plaintext 100 is encrypted into different cyphertexts (100 or 101) at different positions in the input, thanks to CBC.</a:t>
            </a:r>
            <a:endParaRPr lang="en-SE" sz="2000" dirty="0"/>
          </a:p>
        </p:txBody>
      </p:sp>
      <p:sp>
        <p:nvSpPr>
          <p:cNvPr id="5" name="Slide Number Placeholder 2">
            <a:extLst>
              <a:ext uri="{FF2B5EF4-FFF2-40B4-BE49-F238E27FC236}">
                <a16:creationId xmlns:a16="http://schemas.microsoft.com/office/drawing/2014/main" id="{FBE02027-2E51-DAE5-F9FA-F3EE3ECB2C57}"/>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27</a:t>
            </a:fld>
            <a:endParaRPr kumimoji="0" lang="en-US" dirty="0"/>
          </a:p>
        </p:txBody>
      </p:sp>
    </p:spTree>
    <p:extLst>
      <p:ext uri="{BB962C8B-B14F-4D97-AF65-F5344CB8AC3E}">
        <p14:creationId xmlns:p14="http://schemas.microsoft.com/office/powerpoint/2010/main" val="2681520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15D512-8BB7-A4A9-484B-6402A3646F2E}"/>
              </a:ext>
            </a:extLst>
          </p:cNvPr>
          <p:cNvSpPr>
            <a:spLocks noGrp="1"/>
          </p:cNvSpPr>
          <p:nvPr>
            <p:ph idx="1"/>
          </p:nvPr>
        </p:nvSpPr>
        <p:spPr/>
        <p:txBody>
          <a:bodyPr/>
          <a:lstStyle/>
          <a:p>
            <a:r>
              <a:rPr lang="en-US" altLang="zh-CN" dirty="0"/>
              <a:t> Suppose Alice and Bob wish to do Diffie-Hellman key exchange. Alice and Bob have agreed upon a prime p = 13, and a generator g = 2. Alice has chosen her secret number (private exponent) to be a = 5, while Bob has chosen his private exponent to be b = 4.</a:t>
            </a:r>
          </a:p>
          <a:p>
            <a:r>
              <a:rPr lang="en-US" altLang="zh-CN" dirty="0"/>
              <a:t>Show the intermediate quantities that both Alice and Bob calculate, as well as the final (shared) secret that Diffie-Hellman produces.</a:t>
            </a:r>
          </a:p>
          <a:p>
            <a:endParaRPr lang="zh-CN" altLang="en-US" dirty="0"/>
          </a:p>
        </p:txBody>
      </p:sp>
      <p:sp>
        <p:nvSpPr>
          <p:cNvPr id="3" name="Title 2">
            <a:extLst>
              <a:ext uri="{FF2B5EF4-FFF2-40B4-BE49-F238E27FC236}">
                <a16:creationId xmlns:a16="http://schemas.microsoft.com/office/drawing/2014/main" id="{3972D630-0C8D-A45D-C653-01C1240733EF}"/>
              </a:ext>
            </a:extLst>
          </p:cNvPr>
          <p:cNvSpPr>
            <a:spLocks noGrp="1"/>
          </p:cNvSpPr>
          <p:nvPr>
            <p:ph type="title"/>
          </p:nvPr>
        </p:nvSpPr>
        <p:spPr/>
        <p:txBody>
          <a:bodyPr/>
          <a:lstStyle/>
          <a:p>
            <a:r>
              <a:rPr lang="en-GB" altLang="zh-CN" dirty="0"/>
              <a:t>Lecture 15 - </a:t>
            </a:r>
            <a:r>
              <a:rPr lang="nl-NL" altLang="zh-CN" dirty="0"/>
              <a:t>Diffie-Hellman</a:t>
            </a:r>
            <a:endParaRPr lang="zh-CN" altLang="en-US" dirty="0"/>
          </a:p>
        </p:txBody>
      </p:sp>
      <p:sp>
        <p:nvSpPr>
          <p:cNvPr id="5" name="Slide Number Placeholder 2">
            <a:extLst>
              <a:ext uri="{FF2B5EF4-FFF2-40B4-BE49-F238E27FC236}">
                <a16:creationId xmlns:a16="http://schemas.microsoft.com/office/drawing/2014/main" id="{4CA5E8EC-2BC5-12F0-A9BE-7474E6BA45F9}"/>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28</a:t>
            </a:fld>
            <a:endParaRPr kumimoji="0" lang="en-US" dirty="0"/>
          </a:p>
        </p:txBody>
      </p:sp>
    </p:spTree>
    <p:extLst>
      <p:ext uri="{BB962C8B-B14F-4D97-AF65-F5344CB8AC3E}">
        <p14:creationId xmlns:p14="http://schemas.microsoft.com/office/powerpoint/2010/main" val="737594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FFBB4-1850-E1C8-41F4-F7423FE9A8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691D65-7EFA-B9FB-0783-9AA41B24B016}"/>
              </a:ext>
            </a:extLst>
          </p:cNvPr>
          <p:cNvSpPr>
            <a:spLocks noGrp="1"/>
          </p:cNvSpPr>
          <p:nvPr>
            <p:ph idx="1"/>
          </p:nvPr>
        </p:nvSpPr>
        <p:spPr/>
        <p:txBody>
          <a:bodyPr>
            <a:normAutofit/>
          </a:bodyPr>
          <a:lstStyle/>
          <a:p>
            <a:r>
              <a:rPr lang="en-US" altLang="zh-CN" dirty="0"/>
              <a:t> Suppose Alice and Bob wish to do Diffie-Hellman key exchange. Alice and Bob have agreed upon a prime p = 13, and a generator g = 2. Alice has chosen her secret number (private exponent) to be a = 5, while Bob has chosen his private exponent to be b = 4.</a:t>
            </a:r>
          </a:p>
          <a:p>
            <a:r>
              <a:rPr lang="en-US" altLang="zh-CN" dirty="0"/>
              <a:t>Show the intermediate quantities that both Alice and Bob calculate, as well as the final (shared) secret that Diffie-Hellman produces.</a:t>
            </a:r>
          </a:p>
          <a:p>
            <a:r>
              <a:rPr lang="en-US" altLang="zh-CN" dirty="0"/>
              <a:t>ANS:  Alice sends to Bob: A=</a:t>
            </a:r>
            <a:r>
              <a:rPr lang="en-US" altLang="zh-CN" dirty="0" err="1"/>
              <a:t>g^a</a:t>
            </a:r>
            <a:r>
              <a:rPr lang="en-US" altLang="zh-CN" dirty="0"/>
              <a:t>  mod p= 2^5 mod 13 = 6. </a:t>
            </a:r>
          </a:p>
          <a:p>
            <a:r>
              <a:rPr lang="en-US" altLang="zh-CN" dirty="0"/>
              <a:t>Bob computes the secret: S=</a:t>
            </a:r>
            <a:r>
              <a:rPr lang="en-US" altLang="zh-CN" dirty="0" err="1"/>
              <a:t>A^b</a:t>
            </a:r>
            <a:r>
              <a:rPr lang="en-US" altLang="zh-CN" dirty="0"/>
              <a:t>  mod p = 6^4 mod 13 = 1296 mod 13 = 9.</a:t>
            </a:r>
          </a:p>
          <a:p>
            <a:r>
              <a:rPr lang="en-US" altLang="zh-CN" dirty="0"/>
              <a:t>Bob sends to Alice B=</a:t>
            </a:r>
            <a:r>
              <a:rPr lang="en-US" altLang="zh-CN" dirty="0" err="1"/>
              <a:t>g^b</a:t>
            </a:r>
            <a:r>
              <a:rPr lang="en-US" altLang="zh-CN" dirty="0"/>
              <a:t>  mod p = 2^4 mod 13 = 3. </a:t>
            </a:r>
          </a:p>
          <a:p>
            <a:r>
              <a:rPr lang="en-US" altLang="zh-CN" dirty="0"/>
              <a:t>Alice computes the secret: S=</a:t>
            </a:r>
            <a:r>
              <a:rPr lang="en-US" altLang="zh-CN" dirty="0" err="1"/>
              <a:t>B^a</a:t>
            </a:r>
            <a:r>
              <a:rPr lang="en-US" altLang="zh-CN" dirty="0"/>
              <a:t>  mod p = 3^5 mod 13 = 243 mod 13 = 9. </a:t>
            </a:r>
            <a:endParaRPr lang="zh-CN" altLang="en-US" dirty="0"/>
          </a:p>
        </p:txBody>
      </p:sp>
      <p:sp>
        <p:nvSpPr>
          <p:cNvPr id="3" name="Title 2">
            <a:extLst>
              <a:ext uri="{FF2B5EF4-FFF2-40B4-BE49-F238E27FC236}">
                <a16:creationId xmlns:a16="http://schemas.microsoft.com/office/drawing/2014/main" id="{87457862-1BB5-1E9B-791C-3C283E9D4E9B}"/>
              </a:ext>
            </a:extLst>
          </p:cNvPr>
          <p:cNvSpPr>
            <a:spLocks noGrp="1"/>
          </p:cNvSpPr>
          <p:nvPr>
            <p:ph type="title"/>
          </p:nvPr>
        </p:nvSpPr>
        <p:spPr/>
        <p:txBody>
          <a:bodyPr/>
          <a:lstStyle/>
          <a:p>
            <a:r>
              <a:rPr lang="en-GB" altLang="zh-CN" dirty="0"/>
              <a:t>Lecture 15 - </a:t>
            </a:r>
            <a:r>
              <a:rPr lang="nl-NL" altLang="zh-CN" dirty="0"/>
              <a:t>Diffie-Hellman </a:t>
            </a:r>
            <a:r>
              <a:rPr lang="en-US" altLang="zh-CN" dirty="0"/>
              <a:t>ANS</a:t>
            </a:r>
            <a:endParaRPr lang="zh-CN" altLang="en-US" dirty="0"/>
          </a:p>
        </p:txBody>
      </p:sp>
      <p:sp>
        <p:nvSpPr>
          <p:cNvPr id="5" name="Slide Number Placeholder 2">
            <a:extLst>
              <a:ext uri="{FF2B5EF4-FFF2-40B4-BE49-F238E27FC236}">
                <a16:creationId xmlns:a16="http://schemas.microsoft.com/office/drawing/2014/main" id="{A37EC7F0-C1EC-E64A-067F-0AEB546AD02A}"/>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29</a:t>
            </a:fld>
            <a:endParaRPr kumimoji="0" lang="en-US" dirty="0"/>
          </a:p>
        </p:txBody>
      </p:sp>
    </p:spTree>
    <p:extLst>
      <p:ext uri="{BB962C8B-B14F-4D97-AF65-F5344CB8AC3E}">
        <p14:creationId xmlns:p14="http://schemas.microsoft.com/office/powerpoint/2010/main" val="1911200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5457</TotalTime>
  <Words>7809</Words>
  <Application>Microsoft Office PowerPoint</Application>
  <PresentationFormat>Widescreen</PresentationFormat>
  <Paragraphs>563</Paragraphs>
  <Slides>29</Slides>
  <Notes>11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29</vt:i4>
      </vt:variant>
    </vt:vector>
  </HeadingPairs>
  <TitlesOfParts>
    <vt:vector size="43" baseType="lpstr">
      <vt:lpstr>Arial</vt:lpstr>
      <vt:lpstr>Bookman Old Style</vt:lpstr>
      <vt:lpstr>Calibri</vt:lpstr>
      <vt:lpstr>Cambria Math</vt:lpstr>
      <vt:lpstr>Gill Sans MT</vt:lpstr>
      <vt:lpstr>Roboto</vt:lpstr>
      <vt:lpstr>Roboto Light</vt:lpstr>
      <vt:lpstr>Roboto Medium</vt:lpstr>
      <vt:lpstr>Tahoma</vt:lpstr>
      <vt:lpstr>Times New Roman</vt:lpstr>
      <vt:lpstr>Wingdings</vt:lpstr>
      <vt:lpstr>Wingdings 3</vt:lpstr>
      <vt:lpstr>Origin</vt:lpstr>
      <vt:lpstr>Simple Lecture</vt:lpstr>
      <vt:lpstr>Z. Gu</vt:lpstr>
      <vt:lpstr>Pipe Diagrams – Packet Transmission Delay</vt:lpstr>
      <vt:lpstr>Lecture 3 - Links</vt:lpstr>
      <vt:lpstr>Lecture 3 - Links ANS</vt:lpstr>
      <vt:lpstr>Lecture 3 - Links</vt:lpstr>
      <vt:lpstr>Lecture 3 - Links ANS</vt:lpstr>
      <vt:lpstr>Lecture 3 - Links ANS</vt:lpstr>
      <vt:lpstr>Lecture 3 - Links Queuing Delays ANS</vt:lpstr>
      <vt:lpstr>Lecture 3 - Links Queuing Delays ANS</vt:lpstr>
      <vt:lpstr>Lecture 3 - Links Queuing Delays ANS</vt:lpstr>
      <vt:lpstr>Lecture 3 - Links Queuing Delays ANS</vt:lpstr>
      <vt:lpstr>Lecture 3 - Links Queuing Delays ANS</vt:lpstr>
      <vt:lpstr>Lecture 3 - Links Queuing Delays ANS</vt:lpstr>
      <vt:lpstr>Store-and-Forward vs. Bit-by-Bit Forwarding (Cut-through)</vt:lpstr>
      <vt:lpstr>Lecture 5.2 - Distance-Vector ANS</vt:lpstr>
      <vt:lpstr>Lecture 5.2 - Distance-Vector ANS</vt:lpstr>
      <vt:lpstr>Lecture 5.3 - Link-State</vt:lpstr>
      <vt:lpstr>Lecture 5.3 - Link-State ANS</vt:lpstr>
      <vt:lpstr>  Lecture 8 - Inter-Domain Routing </vt:lpstr>
      <vt:lpstr>  Lecture 8 - Inter-Domain Routing ANS </vt:lpstr>
      <vt:lpstr>Lecture 11 TCP Implementation ANS</vt:lpstr>
      <vt:lpstr>Lecture 11 TCP Implementation ANS</vt:lpstr>
      <vt:lpstr>  Lecture 12-13 - Congestion Control</vt:lpstr>
      <vt:lpstr>  Lecture 12-13 - Congestion Control ANS</vt:lpstr>
      <vt:lpstr>  Lecture 15 - Block Cipher </vt:lpstr>
      <vt:lpstr>Lecture 15 - Block Cipher ANS</vt:lpstr>
      <vt:lpstr>Lecture 15 - Block Cipher ANS</vt:lpstr>
      <vt:lpstr>Lecture 15 - Diffie-Hellman</vt:lpstr>
      <vt:lpstr>Lecture 15 - Diffie-Hellman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341</cp:revision>
  <cp:lastPrinted>2018-02-28T12:51:32Z</cp:lastPrinted>
  <dcterms:created xsi:type="dcterms:W3CDTF">2014-02-09T17:12:51Z</dcterms:created>
  <dcterms:modified xsi:type="dcterms:W3CDTF">2026-05-07T02:27:00Z</dcterms:modified>
</cp:coreProperties>
</file>