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77" r:id="rId3"/>
    <p:sldId id="279" r:id="rId4"/>
    <p:sldId id="280" r:id="rId5"/>
    <p:sldId id="281" r:id="rId6"/>
    <p:sldId id="271" r:id="rId7"/>
    <p:sldId id="272" r:id="rId8"/>
    <p:sldId id="257" r:id="rId9"/>
    <p:sldId id="258" r:id="rId10"/>
    <p:sldId id="260" r:id="rId11"/>
    <p:sldId id="261" r:id="rId12"/>
    <p:sldId id="262" r:id="rId13"/>
    <p:sldId id="284" r:id="rId14"/>
    <p:sldId id="287" r:id="rId15"/>
    <p:sldId id="285" r:id="rId16"/>
    <p:sldId id="286" r:id="rId17"/>
    <p:sldId id="263" r:id="rId18"/>
    <p:sldId id="264" r:id="rId19"/>
    <p:sldId id="283" r:id="rId20"/>
    <p:sldId id="282" r:id="rId21"/>
    <p:sldId id="273" r:id="rId22"/>
    <p:sldId id="274" r:id="rId23"/>
    <p:sldId id="275" r:id="rId24"/>
    <p:sldId id="276" r:id="rId25"/>
    <p:sldId id="259" r:id="rId26"/>
    <p:sldId id="269" r:id="rId27"/>
    <p:sldId id="270"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461" autoAdjust="0"/>
    <p:restoredTop sz="95033" autoAdjust="0"/>
  </p:normalViewPr>
  <p:slideViewPr>
    <p:cSldViewPr>
      <p:cViewPr varScale="1">
        <p:scale>
          <a:sx n="82" d="100"/>
          <a:sy n="82" d="100"/>
        </p:scale>
        <p:origin x="240" y="72"/>
      </p:cViewPr>
      <p:guideLst>
        <p:guide orient="horz" pos="2160"/>
        <p:guide pos="3840"/>
      </p:guideLst>
    </p:cSldViewPr>
  </p:slideViewPr>
  <p:notesTextViewPr>
    <p:cViewPr>
      <p:scale>
        <a:sx n="1" d="1"/>
        <a:sy n="1" d="1"/>
      </p:scale>
      <p:origin x="0" y="0"/>
    </p:cViewPr>
  </p:notesTextViewPr>
  <p:sorterViewPr>
    <p:cViewPr>
      <p:scale>
        <a:sx n="200" d="100"/>
        <a:sy n="200" d="100"/>
      </p:scale>
      <p:origin x="0" y="-1068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3/31/2026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2050042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4324-D80A-A628-2AD0-75E71965FE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9F8FF-0FD2-30E8-95D7-886388D92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DCF7D-5EDD-AE7D-24BA-3D9760A71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a:extLst>
              <a:ext uri="{FF2B5EF4-FFF2-40B4-BE49-F238E27FC236}">
                <a16:creationId xmlns:a16="http://schemas.microsoft.com/office/drawing/2014/main" id="{26293480-9C48-D339-3B99-B7253EC73F50}"/>
              </a:ext>
            </a:extLst>
          </p:cNvPr>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2292136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Math is assigned:</a:t>
            </a:r>
          </a:p>
          <a:p>
            <a:pPr rtl="0"/>
            <a:r>
              <a:rPr lang="en-US" altLang="zh-CN" sz="1200" kern="1200" dirty="0">
                <a:solidFill>
                  <a:schemeClr val="tx1"/>
                </a:solidFill>
                <a:latin typeface="+mn-lt"/>
                <a:ea typeface="+mn-ea"/>
                <a:cs typeface="+mn-cs"/>
              </a:rPr>
              <a:t>198.51.128.0/18</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 11000110 . 00110011 . 10 000000 . 00000000</a:t>
            </a:r>
          </a:p>
          <a:p>
            <a:r>
              <a:rPr lang="en-US" altLang="zh-CN" b="1" dirty="0"/>
              <a:t>Range</a:t>
            </a:r>
          </a:p>
          <a:p>
            <a:r>
              <a:rPr lang="en-US" altLang="zh-CN" dirty="0"/>
              <a:t>Since a </a:t>
            </a:r>
            <a:r>
              <a:rPr lang="en-US" altLang="zh-CN" sz="1200" kern="1200" dirty="0">
                <a:solidFill>
                  <a:schemeClr val="tx1"/>
                </a:solidFill>
                <a:latin typeface="+mn-lt"/>
                <a:ea typeface="+mn-ea"/>
                <a:cs typeface="+mn-cs"/>
              </a:rPr>
              <a:t>/18</a:t>
            </a:r>
            <a:r>
              <a:rPr lang="en-US" altLang="zh-CN" dirty="0"/>
              <a:t> fixes the first 18 bits, the host bits are the remaining 14 bits.</a:t>
            </a:r>
          </a:p>
          <a:p>
            <a:r>
              <a:rPr lang="en-US" altLang="zh-CN" dirty="0"/>
              <a:t>So the address range is:</a:t>
            </a:r>
          </a:p>
          <a:p>
            <a:pPr rtl="0"/>
            <a:r>
              <a:rPr lang="en-US" altLang="zh-CN" sz="1200" kern="1200" dirty="0">
                <a:solidFill>
                  <a:schemeClr val="tx1"/>
                </a:solidFill>
                <a:latin typeface="+mn-lt"/>
                <a:ea typeface="+mn-ea"/>
                <a:cs typeface="+mn-cs"/>
              </a:rPr>
              <a:t>11000110 . 00110011 . 10 000000 . 00000000</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through</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11000110 . 00110011 . 10 111111 . 11111111</a:t>
            </a:r>
          </a:p>
          <a:p>
            <a:r>
              <a:rPr lang="en-US" altLang="zh-CN" dirty="0"/>
              <a:t>In decimal:</a:t>
            </a:r>
          </a:p>
          <a:p>
            <a:pPr rtl="0"/>
            <a:r>
              <a:rPr lang="en-US" altLang="zh-CN" sz="1200" kern="1200" dirty="0">
                <a:solidFill>
                  <a:schemeClr val="tx1"/>
                </a:solidFill>
                <a:latin typeface="+mn-lt"/>
                <a:ea typeface="+mn-ea"/>
                <a:cs typeface="+mn-cs"/>
              </a:rPr>
              <a:t>198.51.128.0  through  198.51.191.255</a:t>
            </a:r>
          </a:p>
          <a:p>
            <a:r>
              <a:rPr lang="en-US" altLang="zh-CN" b="1" dirty="0"/>
              <a:t>Number of addresses</a:t>
            </a:r>
          </a:p>
          <a:p>
            <a:r>
              <a:rPr lang="en-US" altLang="zh-CN" dirty="0"/>
              <a:t>A </a:t>
            </a:r>
            <a:r>
              <a:rPr lang="en-US" altLang="zh-CN" sz="1200" kern="1200" dirty="0">
                <a:solidFill>
                  <a:schemeClr val="tx1"/>
                </a:solidFill>
                <a:latin typeface="+mn-lt"/>
                <a:ea typeface="+mn-ea"/>
                <a:cs typeface="+mn-cs"/>
              </a:rPr>
              <a:t>/18</a:t>
            </a:r>
            <a:r>
              <a:rPr lang="en-US" altLang="zh-CN" dirty="0"/>
              <a:t> has:</a:t>
            </a:r>
          </a:p>
          <a:p>
            <a:pPr rtl="0"/>
            <a:r>
              <a:rPr lang="en-US" altLang="zh-CN" sz="1200" kern="1200" dirty="0">
                <a:solidFill>
                  <a:schemeClr val="tx1"/>
                </a:solidFill>
                <a:latin typeface="+mn-lt"/>
                <a:ea typeface="+mn-ea"/>
                <a:cs typeface="+mn-cs"/>
              </a:rPr>
              <a:t>2^(32 - 18) = 2^14 = 16384</a:t>
            </a:r>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41095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3822595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746651" y="2562285"/>
            <a:ext cx="9913869" cy="584775"/>
          </a:xfrm>
          <a:prstGeom prst="rect">
            <a:avLst/>
          </a:prstGeom>
          <a:noFill/>
        </p:spPr>
        <p:txBody>
          <a:bodyPr wrap="none" rtlCol="0">
            <a:spAutoFit/>
          </a:bodyPr>
          <a:lstStyle/>
          <a:p>
            <a:pPr algn="r"/>
            <a:r>
              <a:rPr lang="pt-BR" sz="3200" b="1" dirty="0">
                <a:solidFill>
                  <a:srgbClr val="C00000"/>
                </a:solidFill>
              </a:rPr>
              <a:t>CSC175 Spring 2026 Sample Exam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CE5B4-618C-9847-C5CC-F350F1E9369D}"/>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49605F39-C9D3-18B1-85C7-804F5E5B9FD1}"/>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09636C-0FE3-FC0D-7D46-B57D5C66B433}"/>
                  </a:ext>
                </a:extLst>
              </p:cNvPr>
              <p:cNvSpPr>
                <a:spLocks noGrp="1"/>
              </p:cNvSpPr>
              <p:nvPr>
                <p:ph sz="quarter" idx="1"/>
              </p:nvPr>
            </p:nvSpPr>
            <p:spPr/>
            <p:txBody>
              <a:bodyPr>
                <a:normAutofit fontScale="77500" lnSpcReduction="20000"/>
              </a:bodyPr>
              <a:lstStyle/>
              <a:p>
                <a:r>
                  <a:rPr lang="en-US" altLang="zh-CN" b="1" dirty="0"/>
                  <a:t>Part 1: Single Link Transmission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𝐿</m:t>
                        </m:r>
                      </m:num>
                      <m:den>
                        <m:r>
                          <a:rPr lang="en-US" altLang="zh-CN" i="1">
                            <a:latin typeface="Cambria Math" panose="02040503050406030204" pitchFamily="18" charset="0"/>
                          </a:rPr>
                          <m:t>𝑅</m:t>
                        </m:r>
                      </m:den>
                    </m:f>
                  </m:oMath>
                </a14:m>
                <a:endParaRPr lang="zh-CN" altLang="zh-CN" dirty="0"/>
              </a:p>
              <a:p>
                <a:pPr lvl="1"/>
                <a:r>
                  <a:rPr lang="en-US" altLang="zh-CN" dirty="0"/>
                  <a:t>Convert bytes to bits: </a:t>
                </a:r>
                <a14:m>
                  <m:oMath xmlns:m="http://schemas.openxmlformats.org/officeDocument/2006/math">
                    <m:r>
                      <a:rPr lang="en-US" altLang="zh-CN" i="1">
                        <a:latin typeface="Cambria Math" panose="02040503050406030204" pitchFamily="18" charset="0"/>
                      </a:rPr>
                      <m:t>𝐿</m:t>
                    </m:r>
                    <m:r>
                      <a:rPr lang="en-US" altLang="zh-CN">
                        <a:latin typeface="Cambria Math" panose="02040503050406030204" pitchFamily="18" charset="0"/>
                      </a:rPr>
                      <m:t>=1,500</m:t>
                    </m:r>
                    <m:r>
                      <m:rPr>
                        <m:nor/>
                      </m:rPr>
                      <a:rPr lang="en-US" altLang="zh-CN"/>
                      <m:t> </m:t>
                    </m:r>
                    <m:r>
                      <m:rPr>
                        <m:nor/>
                      </m:rPr>
                      <a:rPr lang="en-US" altLang="zh-CN"/>
                      <m:t>bytes</m:t>
                    </m:r>
                    <m:r>
                      <a:rPr lang="en-US" altLang="zh-CN">
                        <a:latin typeface="Cambria Math" panose="02040503050406030204" pitchFamily="18" charset="0"/>
                      </a:rPr>
                      <m:t>×8</m:t>
                    </m:r>
                    <m:r>
                      <m:rPr>
                        <m:nor/>
                      </m:rPr>
                      <a:rPr lang="en-US" altLang="zh-CN"/>
                      <m:t> </m:t>
                    </m:r>
                    <m:r>
                      <m:rPr>
                        <m:nor/>
                      </m:rPr>
                      <a:rPr lang="en-US" altLang="zh-CN"/>
                      <m:t>bits</m:t>
                    </m:r>
                    <m:r>
                      <m:rPr>
                        <m:nor/>
                      </m:rPr>
                      <a:rPr lang="en-US" altLang="zh-CN"/>
                      <m:t>/</m:t>
                    </m:r>
                    <m:r>
                      <m:rPr>
                        <m:nor/>
                      </m:rPr>
                      <a:rPr lang="en-US" altLang="zh-CN"/>
                      <m:t>byte</m:t>
                    </m:r>
                    <m:r>
                      <a:rPr lang="en-US" altLang="zh-CN">
                        <a:latin typeface="Cambria Math" panose="02040503050406030204" pitchFamily="18" charset="0"/>
                      </a:rPr>
                      <m:t>=12,000</m:t>
                    </m:r>
                    <m:r>
                      <m:rPr>
                        <m:nor/>
                      </m:rPr>
                      <a:rPr lang="en-US" altLang="zh-CN"/>
                      <m:t> </m:t>
                    </m:r>
                    <m:r>
                      <m:rPr>
                        <m:nor/>
                      </m:rPr>
                      <a:rPr lang="en-US" altLang="zh-CN"/>
                      <m:t>bits</m:t>
                    </m:r>
                  </m:oMath>
                </a14:m>
                <a:endParaRPr lang="zh-CN" altLang="zh-CN" dirty="0"/>
              </a:p>
              <a:p>
                <a:pPr lvl="1"/>
                <a:r>
                  <a:rPr lang="en-US" altLang="zh-CN" dirty="0"/>
                  <a:t>Convert Mbps to bps: </a:t>
                </a:r>
                <a14:m>
                  <m:oMath xmlns:m="http://schemas.openxmlformats.org/officeDocument/2006/math">
                    <m:r>
                      <a:rPr lang="en-US" altLang="zh-CN" i="1">
                        <a:latin typeface="Cambria Math" panose="02040503050406030204" pitchFamily="18" charset="0"/>
                      </a:rPr>
                      <m:t>𝑅</m:t>
                    </m:r>
                    <m:r>
                      <a:rPr lang="en-US" altLang="zh-CN">
                        <a:latin typeface="Cambria Math" panose="02040503050406030204" pitchFamily="18" charset="0"/>
                      </a:rPr>
                      <m:t>=10</m:t>
                    </m:r>
                    <m:r>
                      <m:rPr>
                        <m:nor/>
                      </m:rPr>
                      <a:rPr lang="en-US" altLang="zh-CN"/>
                      <m:t> </m:t>
                    </m:r>
                    <m:r>
                      <m:rPr>
                        <m:nor/>
                      </m:rPr>
                      <a:rPr lang="en-US" altLang="zh-CN"/>
                      <m:t>Mbps</m:t>
                    </m:r>
                    <m:r>
                      <a:rPr lang="en-US" altLang="zh-CN">
                        <a:latin typeface="Cambria Math" panose="02040503050406030204" pitchFamily="18" charset="0"/>
                      </a:rPr>
                      <m:t>=10,000,000</m:t>
                    </m:r>
                    <m:r>
                      <m:rPr>
                        <m:nor/>
                      </m:rPr>
                      <a:rPr lang="en-US" altLang="zh-CN"/>
                      <m:t> </m:t>
                    </m:r>
                    <m:r>
                      <m:rPr>
                        <m:nor/>
                      </m:rPr>
                      <a:rPr lang="en-US" altLang="zh-CN"/>
                      <m:t>bps</m:t>
                    </m:r>
                  </m:oMath>
                </a14:m>
                <a:endParaRPr lang="zh-CN" altLang="zh-CN" dirty="0"/>
              </a:p>
              <a:p>
                <a:pPr lvl="1"/>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12,000</m:t>
                        </m:r>
                      </m:num>
                      <m:den>
                        <m:r>
                          <a:rPr lang="en-US" altLang="zh-CN">
                            <a:latin typeface="Cambria Math" panose="02040503050406030204" pitchFamily="18" charset="0"/>
                          </a:rPr>
                          <m:t>10,000,000</m:t>
                        </m:r>
                      </m:den>
                    </m:f>
                    <m:r>
                      <a:rPr lang="en-US" altLang="zh-CN">
                        <a:latin typeface="Cambria Math" panose="02040503050406030204" pitchFamily="18" charset="0"/>
                      </a:rPr>
                      <m:t>=0.0012</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𝟏</m:t>
                    </m:r>
                    <m:r>
                      <a:rPr lang="en-US" altLang="zh-CN" b="1">
                        <a:latin typeface="Cambria Math" panose="02040503050406030204" pitchFamily="18" charset="0"/>
                      </a:rPr>
                      <m:t>.</m:t>
                    </m:r>
                    <m:r>
                      <a:rPr lang="en-US" altLang="zh-CN" b="1">
                        <a:latin typeface="Cambria Math" panose="02040503050406030204" pitchFamily="18" charset="0"/>
                      </a:rPr>
                      <m:t>𝟐</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2:  Total Propagation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𝑑</m:t>
                        </m:r>
                      </m:num>
                      <m:den>
                        <m:r>
                          <a:rPr lang="en-US" altLang="zh-CN" i="1">
                            <a:latin typeface="Cambria Math" panose="02040503050406030204" pitchFamily="18" charset="0"/>
                          </a:rPr>
                          <m:t>𝑠</m:t>
                        </m:r>
                      </m:den>
                    </m:f>
                  </m:oMath>
                </a14:m>
                <a:endParaRPr lang="zh-CN" altLang="zh-CN" dirty="0"/>
              </a:p>
              <a:p>
                <a:pPr lvl="1"/>
                <a:r>
                  <a:rPr lang="en-US" altLang="zh-CN" dirty="0"/>
                  <a:t>Total distance </a:t>
                </a:r>
                <a14:m>
                  <m:oMath xmlns:m="http://schemas.openxmlformats.org/officeDocument/2006/math">
                    <m:r>
                      <a:rPr lang="en-US" altLang="zh-CN" i="1">
                        <a:latin typeface="Cambria Math" panose="02040503050406030204" pitchFamily="18" charset="0"/>
                      </a:rPr>
                      <m:t>𝑑</m:t>
                    </m:r>
                    <m:r>
                      <a:rPr lang="en-US" altLang="zh-CN">
                        <a:latin typeface="Cambria Math" panose="02040503050406030204" pitchFamily="18" charset="0"/>
                      </a:rPr>
                      <m:t>=4,000+2,000+1,000=7,000</m:t>
                    </m:r>
                    <m:r>
                      <m:rPr>
                        <m:nor/>
                      </m:rPr>
                      <a:rPr lang="en-US" altLang="zh-CN"/>
                      <m:t> </m:t>
                    </m:r>
                    <m:r>
                      <m:rPr>
                        <m:nor/>
                      </m:rPr>
                      <a:rPr lang="en-US" altLang="zh-CN"/>
                      <m:t>km</m:t>
                    </m:r>
                    <m:r>
                      <a:rPr lang="en-US" altLang="zh-CN">
                        <a:latin typeface="Cambria Math" panose="02040503050406030204" pitchFamily="18" charset="0"/>
                      </a:rPr>
                      <m:t>=7,000,000</m:t>
                    </m:r>
                    <m:r>
                      <m:rPr>
                        <m:nor/>
                      </m:rPr>
                      <a:rPr lang="en-US" altLang="zh-CN"/>
                      <m:t> </m:t>
                    </m:r>
                    <m:r>
                      <m:rPr>
                        <m:nor/>
                      </m:rPr>
                      <a:rPr lang="en-US" altLang="zh-CN"/>
                      <m:t>m</m:t>
                    </m:r>
                  </m:oMath>
                </a14:m>
                <a:endParaRPr lang="zh-CN" altLang="zh-CN" dirty="0"/>
              </a:p>
              <a:p>
                <a:pPr lvl="1"/>
                <a:r>
                  <a:rPr lang="en-US" altLang="zh-CN" dirty="0"/>
                  <a:t>Total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7,000,000</m:t>
                        </m:r>
                        <m:r>
                          <m:rPr>
                            <m:nor/>
                          </m:rPr>
                          <a:rPr lang="en-US" altLang="zh-CN"/>
                          <m:t> </m:t>
                        </m:r>
                        <m:r>
                          <m:rPr>
                            <m:nor/>
                          </m:rPr>
                          <a:rPr lang="en-US" altLang="zh-CN"/>
                          <m:t>m</m:t>
                        </m:r>
                      </m:num>
                      <m:den>
                        <m:r>
                          <a:rPr lang="en-US" altLang="zh-CN">
                            <a:latin typeface="Cambria Math" panose="02040503050406030204" pitchFamily="18" charset="0"/>
                          </a:rPr>
                          <m:t>2×</m:t>
                        </m:r>
                        <m:sSup>
                          <m:sSupPr>
                            <m:ctrlPr>
                              <a:rPr lang="zh-CN" altLang="zh-CN" i="1">
                                <a:latin typeface="Cambria Math" panose="02040503050406030204" pitchFamily="18" charset="0"/>
                              </a:rPr>
                            </m:ctrlPr>
                          </m:sSupPr>
                          <m:e>
                            <m:r>
                              <a:rPr lang="en-US" altLang="zh-CN">
                                <a:latin typeface="Cambria Math" panose="02040503050406030204" pitchFamily="18" charset="0"/>
                              </a:rPr>
                              <m:t>10</m:t>
                            </m:r>
                          </m:e>
                          <m:sup>
                            <m:r>
                              <a:rPr lang="en-US" altLang="zh-CN">
                                <a:latin typeface="Cambria Math" panose="02040503050406030204" pitchFamily="18" charset="0"/>
                              </a:rPr>
                              <m:t>8</m:t>
                            </m:r>
                          </m:sup>
                        </m:sSup>
                        <m:r>
                          <m:rPr>
                            <m:nor/>
                          </m:rPr>
                          <a:rPr lang="en-US" altLang="zh-CN"/>
                          <m:t> </m:t>
                        </m:r>
                        <m:r>
                          <m:rPr>
                            <m:nor/>
                          </m:rPr>
                          <a:rPr lang="en-US" altLang="zh-CN"/>
                          <m:t>m</m:t>
                        </m:r>
                        <m:r>
                          <m:rPr>
                            <m:nor/>
                          </m:rPr>
                          <a:rPr lang="en-US" altLang="zh-CN"/>
                          <m:t>/</m:t>
                        </m:r>
                        <m:r>
                          <m:rPr>
                            <m:nor/>
                          </m:rPr>
                          <a:rPr lang="en-US" altLang="zh-CN"/>
                          <m:t>s</m:t>
                        </m:r>
                      </m:den>
                    </m:f>
                    <m:r>
                      <a:rPr lang="en-US" altLang="zh-CN">
                        <a:latin typeface="Cambria Math" panose="02040503050406030204" pitchFamily="18" charset="0"/>
                      </a:rPr>
                      <m:t>=0.035</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𝟑𝟓</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3: Total End-to-End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i="1">
                        <a:latin typeface="Cambria Math" panose="02040503050406030204" pitchFamily="18" charset="0"/>
                      </a:rPr>
                      <m:t>𝑁</m:t>
                    </m:r>
                    <m:r>
                      <a:rPr lang="en-US" altLang="zh-CN">
                        <a:latin typeface="Cambria Math" panose="02040503050406030204" pitchFamily="18" charset="0"/>
                      </a:rPr>
                      <m:t>×</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r>
                      <m:rPr>
                        <m:nor/>
                      </m:rPr>
                      <a:rPr lang="en-US" altLang="zh-CN"/>
                      <m:t>Total</m:t>
                    </m:r>
                    <m:r>
                      <m:rPr>
                        <m:nor/>
                      </m:rPr>
                      <a:rPr lang="en-US" altLang="zh-CN"/>
                      <m:t> </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oMath>
                </a14:m>
                <a:r>
                  <a:rPr lang="en-US" altLang="zh-CN" dirty="0"/>
                  <a:t> (where </a:t>
                </a:r>
                <a14:m>
                  <m:oMath xmlns:m="http://schemas.openxmlformats.org/officeDocument/2006/math">
                    <m:r>
                      <a:rPr lang="en-US" altLang="zh-CN" i="1">
                        <a:latin typeface="Cambria Math" panose="02040503050406030204" pitchFamily="18" charset="0"/>
                      </a:rPr>
                      <m:t>𝑁</m:t>
                    </m:r>
                  </m:oMath>
                </a14:m>
                <a:r>
                  <a:rPr lang="en-US" altLang="zh-CN" dirty="0"/>
                  <a:t> is the number of links).</a:t>
                </a:r>
                <a:endParaRPr lang="zh-CN" altLang="zh-CN" dirty="0"/>
              </a:p>
              <a:p>
                <a:pPr lvl="1"/>
                <a:r>
                  <a:rPr lang="en-US" altLang="zh-CN" dirty="0"/>
                  <a:t>Because the two routers use store-and-forward packet switching, the packet must be fully received before it is transmitted again. Across 3 links, the packet is transmitted 3 separate times.</a:t>
                </a:r>
                <a:endParaRPr lang="zh-CN" altLang="zh-CN" dirty="0"/>
              </a:p>
              <a:p>
                <a:pPr lvl="1"/>
                <a:r>
                  <a:rPr lang="en-US" altLang="zh-CN" dirty="0"/>
                  <a:t>Total Transmission Delay: </a:t>
                </a:r>
                <a14:m>
                  <m:oMath xmlns:m="http://schemas.openxmlformats.org/officeDocument/2006/math">
                    <m:r>
                      <a:rPr lang="en-US" altLang="zh-CN">
                        <a:latin typeface="Cambria Math" panose="02040503050406030204" pitchFamily="18" charset="0"/>
                      </a:rPr>
                      <m:t>3×1.2</m:t>
                    </m:r>
                    <m:r>
                      <m:rPr>
                        <m:nor/>
                      </m:rPr>
                      <a:rPr lang="en-US" altLang="zh-CN"/>
                      <m:t> </m:t>
                    </m:r>
                    <m:r>
                      <m:rPr>
                        <m:nor/>
                      </m:rPr>
                      <a:rPr lang="en-US" altLang="zh-CN"/>
                      <m:t>ms</m:t>
                    </m:r>
                    <m:r>
                      <a:rPr lang="en-US" altLang="zh-CN">
                        <a:latin typeface="Cambria Math" panose="02040503050406030204" pitchFamily="18" charset="0"/>
                      </a:rPr>
                      <m:t>=3.6</m:t>
                    </m:r>
                    <m:r>
                      <m:rPr>
                        <m:nor/>
                      </m:rPr>
                      <a:rPr lang="en-US" altLang="zh-CN"/>
                      <m:t> </m:t>
                    </m:r>
                    <m:r>
                      <m:rPr>
                        <m:nor/>
                      </m:rPr>
                      <a:rPr lang="en-US" altLang="zh-CN"/>
                      <m:t>ms</m:t>
                    </m:r>
                  </m:oMath>
                </a14:m>
                <a:endParaRPr lang="zh-CN" altLang="zh-CN" dirty="0"/>
              </a:p>
              <a:p>
                <a:pPr lvl="1"/>
                <a:r>
                  <a:rPr lang="en-US" altLang="zh-CN" dirty="0"/>
                  <a:t>Total Delay: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=3.6</m:t>
                    </m:r>
                    <m:r>
                      <m:rPr>
                        <m:nor/>
                      </m:rPr>
                      <a:rPr lang="en-US" altLang="zh-CN"/>
                      <m:t> </m:t>
                    </m:r>
                    <m:r>
                      <m:rPr>
                        <m:nor/>
                      </m:rPr>
                      <a:rPr lang="en-US" altLang="zh-CN"/>
                      <m:t>ms</m:t>
                    </m:r>
                    <m:r>
                      <a:rPr lang="en-US" altLang="zh-CN">
                        <a:latin typeface="Cambria Math" panose="02040503050406030204" pitchFamily="18" charset="0"/>
                      </a:rPr>
                      <m:t>+35</m:t>
                    </m:r>
                    <m:r>
                      <m:rPr>
                        <m:nor/>
                      </m:rPr>
                      <a:rPr lang="en-US" altLang="zh-CN"/>
                      <m:t> </m:t>
                    </m:r>
                    <m:r>
                      <m:rPr>
                        <m:nor/>
                      </m:rPr>
                      <a:rPr lang="en-US" altLang="zh-CN"/>
                      <m:t>ms</m:t>
                    </m:r>
                    <m:r>
                      <a:rPr lang="en-US" altLang="zh-CN">
                        <a:latin typeface="Cambria Math" panose="02040503050406030204" pitchFamily="18" charset="0"/>
                      </a:rPr>
                      <m:t>=</m:t>
                    </m:r>
                    <m:r>
                      <a:rPr lang="en-US" altLang="zh-CN" b="1">
                        <a:latin typeface="Cambria Math" panose="02040503050406030204" pitchFamily="18" charset="0"/>
                      </a:rPr>
                      <m:t>𝟑𝟖</m:t>
                    </m:r>
                    <m:r>
                      <a:rPr lang="en-US" altLang="zh-CN" b="1">
                        <a:latin typeface="Cambria Math" panose="02040503050406030204" pitchFamily="18" charset="0"/>
                      </a:rPr>
                      <m:t>.</m:t>
                    </m:r>
                    <m:r>
                      <a:rPr lang="en-US" altLang="zh-CN" b="1">
                        <a:latin typeface="Cambria Math" panose="02040503050406030204" pitchFamily="18" charset="0"/>
                      </a:rPr>
                      <m:t>𝟔</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endParaRPr lang="zh-CN" altLang="en-US" dirty="0"/>
              </a:p>
            </p:txBody>
          </p:sp>
        </mc:Choice>
        <mc:Fallback xmlns="">
          <p:sp>
            <p:nvSpPr>
              <p:cNvPr id="4" name="Content Placeholder 3">
                <a:extLst>
                  <a:ext uri="{FF2B5EF4-FFF2-40B4-BE49-F238E27FC236}">
                    <a16:creationId xmlns:a16="http://schemas.microsoft.com/office/drawing/2014/main" id="{5E09636C-0FE3-FC0D-7D46-B57D5C66B433}"/>
                  </a:ext>
                </a:extLst>
              </p:cNvPr>
              <p:cNvSpPr>
                <a:spLocks noGrp="1" noRot="1" noChangeAspect="1" noMove="1" noResize="1" noEditPoints="1" noAdjustHandles="1" noChangeArrowheads="1" noChangeShapeType="1" noTextEdit="1"/>
              </p:cNvSpPr>
              <p:nvPr>
                <p:ph sz="quarter" idx="1"/>
              </p:nvPr>
            </p:nvSpPr>
            <p:spPr>
              <a:blipFill>
                <a:blip r:embed="rId2"/>
                <a:stretch>
                  <a:fillRect l="-222" t="-1852" r="-55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7777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FC8-80E0-2095-7CDE-2206942D7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D6FD7-AE98-1271-1C05-9712FB3BBF44}"/>
              </a:ext>
            </a:extLst>
          </p:cNvPr>
          <p:cNvSpPr>
            <a:spLocks noGrp="1"/>
          </p:cNvSpPr>
          <p:nvPr>
            <p:ph type="title"/>
          </p:nvPr>
        </p:nvSpPr>
        <p:spPr/>
        <p:txBody>
          <a:bodyPr>
            <a:normAutofit/>
          </a:bodyPr>
          <a:lstStyle/>
          <a:p>
            <a:r>
              <a:rPr lang="nl-NL" altLang="zh-CN" dirty="0"/>
              <a:t>Lecture 5.1 Shortest Paths Algorithms ANS</a:t>
            </a:r>
            <a:endParaRPr lang="zh-CN" altLang="en-US" dirty="0"/>
          </a:p>
        </p:txBody>
      </p:sp>
      <p:sp>
        <p:nvSpPr>
          <p:cNvPr id="3" name="Slide Number Placeholder 2">
            <a:extLst>
              <a:ext uri="{FF2B5EF4-FFF2-40B4-BE49-F238E27FC236}">
                <a16:creationId xmlns:a16="http://schemas.microsoft.com/office/drawing/2014/main" id="{E0299471-C92A-20CE-0B0B-53199EA89CE0}"/>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351E59E-BC5E-49F4-284C-59E7611E8837}"/>
              </a:ext>
            </a:extLst>
          </p:cNvPr>
          <p:cNvSpPr>
            <a:spLocks noGrp="1"/>
          </p:cNvSpPr>
          <p:nvPr>
            <p:ph sz="quarter" idx="1"/>
          </p:nvPr>
        </p:nvSpPr>
        <p:spPr>
          <a:xfrm>
            <a:off x="609600" y="1219199"/>
            <a:ext cx="7903934" cy="1990907"/>
          </a:xfrm>
        </p:spPr>
        <p:txBody>
          <a:bodyPr>
            <a:normAutofit fontScale="92500" lnSpcReduction="20000"/>
          </a:bodyPr>
          <a:lstStyle/>
          <a:p>
            <a:r>
              <a:rPr lang="nl-NL" altLang="zh-CN" b="1" dirty="0"/>
              <a:t>Visit Order: </a:t>
            </a:r>
            <a:r>
              <a:rPr lang="nl-NL" altLang="zh-CN" dirty="0"/>
              <a:t>A, C, D, B, E</a:t>
            </a:r>
          </a:p>
          <a:p>
            <a:r>
              <a:rPr lang="en-US" altLang="zh-CN" dirty="0"/>
              <a:t>Router </a:t>
            </a:r>
            <a:r>
              <a:rPr lang="en-US" altLang="zh-CN" b="1" dirty="0"/>
              <a:t>B</a:t>
            </a:r>
            <a:r>
              <a:rPr lang="en-US" altLang="zh-CN" dirty="0"/>
              <a:t> gets updated </a:t>
            </a:r>
            <a:r>
              <a:rPr lang="en-US" altLang="zh-CN" i="1" dirty="0"/>
              <a:t>twice</a:t>
            </a:r>
            <a:r>
              <a:rPr lang="en-US" altLang="zh-CN" dirty="0"/>
              <a:t>.</a:t>
            </a:r>
          </a:p>
          <a:p>
            <a:r>
              <a:rPr lang="en-US" altLang="zh-CN" dirty="0"/>
              <a:t>First, it is discovered directly by A (Cost 6).</a:t>
            </a:r>
          </a:p>
          <a:p>
            <a:r>
              <a:rPr lang="en-US" altLang="zh-CN" dirty="0"/>
              <a:t>Then, visiting C finds a better path (2 + 3 = 5).</a:t>
            </a:r>
          </a:p>
          <a:p>
            <a:r>
              <a:rPr lang="en-US" altLang="zh-CN" dirty="0"/>
              <a:t>Finally, visiting D finds the </a:t>
            </a:r>
            <a:r>
              <a:rPr lang="en-US" altLang="zh-CN" i="1" dirty="0"/>
              <a:t>optimal</a:t>
            </a:r>
            <a:r>
              <a:rPr lang="en-US" altLang="zh-CN" dirty="0"/>
              <a:t> path (3 + 1 = 4).</a:t>
            </a:r>
            <a:endParaRPr lang="zh-CN" altLang="en-US" dirty="0"/>
          </a:p>
        </p:txBody>
      </p:sp>
      <p:sp>
        <p:nvSpPr>
          <p:cNvPr id="9" name="Oval 8">
            <a:extLst>
              <a:ext uri="{FF2B5EF4-FFF2-40B4-BE49-F238E27FC236}">
                <a16:creationId xmlns:a16="http://schemas.microsoft.com/office/drawing/2014/main" id="{2F1D342B-AFEA-7072-D071-CBD5733E5506}"/>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82B8AA2E-AD63-EA52-63CF-23A0EBC3E888}"/>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4E091C19-79DF-8245-6B46-9BCDDA7B07BE}"/>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54C88321-6714-427B-02D8-98C9DCBA8769}"/>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98F38080-3199-0EFE-AF58-119EA16B245E}"/>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97FF53D-5BA6-A057-1CF8-4DDE559A4F81}"/>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6AEC1627-758F-930C-62F3-4A806FDDE61D}"/>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BE8B0A8-7CDE-A20A-3DEF-19BC41397277}"/>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60DB8EDF-8355-66E3-3A83-0F29B8D17FC5}"/>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02C70251-994E-6BE7-F489-1251A41A5E2F}"/>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8134AA24-6645-8293-B9A2-2FC796527870}"/>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800E3C3-94AB-DC5E-3278-6984B1471DE0}"/>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1A555B99-C99F-265F-7E80-A08E101C3D31}"/>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66896E97-D0E4-88C1-85BB-AD6ADE9B1015}"/>
              </a:ext>
            </a:extLst>
          </p:cNvPr>
          <p:cNvSpPr txBox="1"/>
          <p:nvPr/>
        </p:nvSpPr>
        <p:spPr>
          <a:xfrm>
            <a:off x="9879089" y="3425052"/>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BBD01B4F-380D-45DD-C0CB-908377E664B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1D84CD9E-12AE-49AE-0E1B-92019AC7F6C7}"/>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6CAFC542-B423-79A7-1EBF-CB3E8DD3D916}"/>
              </a:ext>
            </a:extLst>
          </p:cNvPr>
          <p:cNvSpPr txBox="1"/>
          <p:nvPr/>
        </p:nvSpPr>
        <p:spPr>
          <a:xfrm>
            <a:off x="9428372" y="4099379"/>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C27ED7F4-D1F8-E837-0984-40B7CA19D382}"/>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EBB5C19D-B31F-7F2C-EE43-5A496D8C0B7A}"/>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mc:AlternateContent xmlns:mc="http://schemas.openxmlformats.org/markup-compatibility/2006" xmlns:a14="http://schemas.microsoft.com/office/drawing/2010/main">
        <mc:Choice Requires="a14">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b="0" strike="sngStrike" dirty="0">
                              <a:solidFill>
                                <a:schemeClr val="tx1"/>
                              </a:solidFill>
                            </a:rPr>
                            <a:t>6</a:t>
                          </a:r>
                          <a:r>
                            <a:rPr lang="en-US" sz="1600" b="0" dirty="0">
                              <a:solidFill>
                                <a:schemeClr val="tx1"/>
                              </a:solidFill>
                            </a:rPr>
                            <a:t> </a:t>
                          </a:r>
                          <a:r>
                            <a:rPr lang="en-US" sz="1600" b="0" strike="sngStrike" dirty="0">
                              <a:solidFill>
                                <a:schemeClr val="tx1"/>
                              </a:solidFill>
                            </a:rPr>
                            <a:t>5</a:t>
                          </a:r>
                          <a:r>
                            <a:rPr lang="en-US" sz="1600" b="0" baseline="0" dirty="0">
                              <a:solidFill>
                                <a:schemeClr val="tx1"/>
                              </a:solidFill>
                            </a:rPr>
                            <a:t> </a:t>
                          </a:r>
                          <a14:m>
                            <m:oMath xmlns:m="http://schemas.openxmlformats.org/officeDocument/2006/math">
                              <m:r>
                                <a:rPr lang="en-US" sz="1600" b="0" i="1" smtClean="0">
                                  <a:solidFill>
                                    <a:schemeClr val="tx1"/>
                                  </a:solidFill>
                                  <a:latin typeface="Cambria Math" panose="02040503050406030204" pitchFamily="18" charset="0"/>
                                </a:rPr>
                                <m:t>4</m:t>
                              </m:r>
                            </m:oMath>
                          </a14:m>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Choice>
        <mc:Fallback xmlns="">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1146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endParaRPr lang="zh-CN"/>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blipFill>
                          <a:blip r:embed="rId2"/>
                          <a:stretch>
                            <a:fillRect l="-100592" t="-218333" r="-101183" b="-313333"/>
                          </a:stretch>
                        </a:blip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354307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625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 (Simplifying assumption assuming synchronized clocks for all routers.)</a:t>
            </a:r>
          </a:p>
          <a:p>
            <a:pPr lvl="1"/>
            <a:r>
              <a:rPr lang="en-US" altLang="zh-CN" dirty="0"/>
              <a:t>Routing table entries expire after TTL=10 seconds of receiving no advertisements.</a:t>
            </a:r>
          </a:p>
          <a:p>
            <a:pPr lvl="1"/>
            <a:r>
              <a:rPr lang="en-US" altLang="zh-CN" dirty="0"/>
              <a:t>Every second, each router (1) expires routes based on TTL, then (2) processes advertisements and updates its table, then (3) sends out advertisements if </a:t>
            </a:r>
            <a:r>
              <a:rPr lang="zh-CN" altLang="en-US" dirty="0"/>
              <a:t>𝑡 </a:t>
            </a:r>
            <a:r>
              <a:rPr lang="en-US" altLang="zh-CN" dirty="0"/>
              <a:t>is even (every 2 seconds).</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 (not route poisoning.)</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1FC1-B67F-CFE7-9D3D-226138D79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B7845F-AD0E-1A27-EDF6-F5F636634860}"/>
              </a:ext>
            </a:extLst>
          </p:cNvPr>
          <p:cNvSpPr>
            <a:spLocks noGrp="1"/>
          </p:cNvSpPr>
          <p:nvPr>
            <p:ph type="title"/>
          </p:nvPr>
        </p:nvSpPr>
        <p:spPr/>
        <p:txBody>
          <a:bodyPr/>
          <a:lstStyle/>
          <a:p>
            <a:r>
              <a:rPr lang="nl-NL" altLang="zh-CN" dirty="0"/>
              <a:t>Lecture 5.2 - Distance-Vector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D8A06ECB-EB94-D4A4-021D-BFBF7ED4355E}"/>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B8CE7E34-8C98-108D-1EF2-1A32D66D64C8}"/>
              </a:ext>
            </a:extLst>
          </p:cNvPr>
          <p:cNvSpPr>
            <a:spLocks noGrp="1"/>
          </p:cNvSpPr>
          <p:nvPr>
            <p:ph sz="quarter" idx="1"/>
          </p:nvPr>
        </p:nvSpPr>
        <p:spPr>
          <a:xfrm>
            <a:off x="609600" y="1142998"/>
            <a:ext cx="10972800" cy="2514602"/>
          </a:xfrm>
        </p:spPr>
        <p:txBody>
          <a:bodyPr>
            <a:normAutofit fontScale="92500" lnSpcReduction="20000"/>
          </a:bodyPr>
          <a:lstStyle/>
          <a:p>
            <a:r>
              <a:rPr lang="en-US" altLang="zh-CN" sz="1600" dirty="0"/>
              <a:t>Q1 Fill in </a:t>
            </a:r>
            <a:r>
              <a:rPr lang="en-US" altLang="zh-CN" sz="1600" dirty="0">
                <a:solidFill>
                  <a:srgbClr val="C00000"/>
                </a:solidFill>
              </a:rPr>
              <a:t>R1’s table </a:t>
            </a:r>
            <a:r>
              <a:rPr lang="en-US" altLang="zh-CN" sz="1600" dirty="0"/>
              <a:t>at steady state. If a host is directly connected, the next hop is “Direct”  (table on left)</a:t>
            </a:r>
          </a:p>
          <a:p>
            <a:r>
              <a:rPr lang="en-US" altLang="zh-CN" sz="1600" dirty="0"/>
              <a:t>After the network converges, the R1 - R2 link is broken, and split horizon is enabled on all routers.</a:t>
            </a:r>
          </a:p>
          <a:p>
            <a:r>
              <a:rPr lang="en-US" altLang="zh-CN" sz="1600" dirty="0"/>
              <a:t>Q2 Fill in </a:t>
            </a:r>
            <a:r>
              <a:rPr lang="en-US" altLang="zh-CN" sz="1600" dirty="0">
                <a:solidFill>
                  <a:srgbClr val="C00000"/>
                </a:solidFill>
              </a:rPr>
              <a:t>R1’s table</a:t>
            </a:r>
            <a:r>
              <a:rPr lang="en-US" altLang="zh-CN" sz="1600" dirty="0"/>
              <a:t> at the new steady state after the R1 - R2 link is broken. (table on right)</a:t>
            </a:r>
          </a:p>
          <a:p>
            <a:r>
              <a:rPr lang="en-US" altLang="zh-CN" sz="1600" dirty="0"/>
              <a:t>Q3 Suppose R1’s original table entry for destination </a:t>
            </a:r>
            <a:r>
              <a:rPr lang="zh-CN" altLang="en-US" sz="1600" dirty="0"/>
              <a:t>𝐶 </a:t>
            </a:r>
            <a:r>
              <a:rPr lang="en-US" altLang="zh-CN" sz="1600" dirty="0"/>
              <a:t>expires at </a:t>
            </a:r>
            <a:r>
              <a:rPr lang="zh-CN" altLang="en-US" sz="1600" dirty="0"/>
              <a:t>𝑡 </a:t>
            </a:r>
            <a:r>
              <a:rPr lang="en-US" altLang="zh-CN" sz="1600" dirty="0"/>
              <a:t>= 20. At what time step does R1’s table reach the new steady state in Q2? </a:t>
            </a:r>
          </a:p>
          <a:p>
            <a:r>
              <a:rPr lang="en-US" altLang="zh-CN" sz="1600" dirty="0"/>
              <a:t>ANS: The route to C is the only route that changes for R1.  R1′s route to C expires at t=20, this means that the last possible advertisement for the route to C was sent from R1 to R3 at t=18.  (After t=20, R1 cannot advertise the old route to C anymore; it must wait for a new usable route to come back from R3.) It reaches R3 after 2 seconds at t=20. R3 had a route to C via R1 (R3 – R2 – R2 - C), which will expire at t=20+TTL=30 at the earliest when it will accept new route to C via R2 from R2.  Then R3 advertises back to R1 (2 seconds) to reach steady state at t=32.</a:t>
            </a:r>
            <a:br>
              <a:rPr lang="en-US" altLang="zh-CN" sz="1600" dirty="0"/>
            </a:br>
            <a:endParaRPr lang="en-US" altLang="zh-CN" sz="1600"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73E9E48F-E8AF-5634-A13A-DDAA70CC38A6}"/>
              </a:ext>
            </a:extLst>
          </p:cNvPr>
          <p:cNvPicPr>
            <a:picLocks noChangeAspect="1"/>
          </p:cNvPicPr>
          <p:nvPr/>
        </p:nvPicPr>
        <p:blipFill>
          <a:blip r:embed="rId3"/>
          <a:stretch>
            <a:fillRect/>
          </a:stretch>
        </p:blipFill>
        <p:spPr>
          <a:xfrm>
            <a:off x="76199" y="5200376"/>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D0D56582-1BE9-C073-0205-C4B5788EDB79}"/>
              </a:ext>
            </a:extLst>
          </p:cNvPr>
          <p:cNvPicPr>
            <a:picLocks noChangeAspect="1"/>
          </p:cNvPicPr>
          <p:nvPr/>
        </p:nvPicPr>
        <p:blipFill>
          <a:blip r:embed="rId4"/>
          <a:stretch>
            <a:fillRect/>
          </a:stretch>
        </p:blipFill>
        <p:spPr>
          <a:xfrm>
            <a:off x="6091656" y="5150312"/>
            <a:ext cx="5721383" cy="1631488"/>
          </a:xfrm>
          <a:prstGeom prst="rect">
            <a:avLst/>
          </a:prstGeom>
        </p:spPr>
      </p:pic>
      <p:pic>
        <p:nvPicPr>
          <p:cNvPr id="14" name="Picture 13" descr="The image presents a table displaying the routing information for a Next Hop Router, including the destination (A, B, C, D) and associated costs (1, 3, 2, 3).&#10;&#10;AI-generated content may be incorrect.">
            <a:extLst>
              <a:ext uri="{FF2B5EF4-FFF2-40B4-BE49-F238E27FC236}">
                <a16:creationId xmlns:a16="http://schemas.microsoft.com/office/drawing/2014/main" id="{A9E5DE06-9787-5EC3-306E-F396DDCD2852}"/>
              </a:ext>
            </a:extLst>
          </p:cNvPr>
          <p:cNvPicPr>
            <a:picLocks noChangeAspect="1"/>
          </p:cNvPicPr>
          <p:nvPr/>
        </p:nvPicPr>
        <p:blipFill>
          <a:blip r:embed="rId5"/>
          <a:stretch>
            <a:fillRect/>
          </a:stretch>
        </p:blipFill>
        <p:spPr>
          <a:xfrm>
            <a:off x="152400" y="3406048"/>
            <a:ext cx="5408710" cy="1794328"/>
          </a:xfrm>
          <a:prstGeom prst="rect">
            <a:avLst/>
          </a:prstGeom>
        </p:spPr>
      </p:pic>
      <p:pic>
        <p:nvPicPr>
          <p:cNvPr id="16" name="Picture 15" descr="Next Hop Router&#10;&#10;AI-generated content may be incorrect.">
            <a:extLst>
              <a:ext uri="{FF2B5EF4-FFF2-40B4-BE49-F238E27FC236}">
                <a16:creationId xmlns:a16="http://schemas.microsoft.com/office/drawing/2014/main" id="{939CD0B0-5948-B92D-9C56-80A337E9E3E4}"/>
              </a:ext>
            </a:extLst>
          </p:cNvPr>
          <p:cNvPicPr>
            <a:picLocks noChangeAspect="1"/>
          </p:cNvPicPr>
          <p:nvPr/>
        </p:nvPicPr>
        <p:blipFill>
          <a:blip r:embed="rId6"/>
          <a:stretch>
            <a:fillRect/>
          </a:stretch>
        </p:blipFill>
        <p:spPr>
          <a:xfrm>
            <a:off x="6274358" y="3376023"/>
            <a:ext cx="5538681" cy="1824353"/>
          </a:xfrm>
          <a:prstGeom prst="rect">
            <a:avLst/>
          </a:prstGeom>
        </p:spPr>
      </p:pic>
    </p:spTree>
    <p:extLst>
      <p:ext uri="{BB962C8B-B14F-4D97-AF65-F5344CB8AC3E}">
        <p14:creationId xmlns:p14="http://schemas.microsoft.com/office/powerpoint/2010/main" val="1189736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CD358-DCD5-5D54-466E-ACFF98743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33A3F-6964-20F1-79E8-FCFE8C1AEBFE}"/>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D106DA5-B39E-00EE-ADEA-C0F073DBB350}"/>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8FEE1D6E-BDD8-543E-5201-693D655D1834}"/>
              </a:ext>
            </a:extLst>
          </p:cNvPr>
          <p:cNvSpPr>
            <a:spLocks noGrp="1"/>
          </p:cNvSpPr>
          <p:nvPr>
            <p:ph sz="quarter" idx="1"/>
          </p:nvPr>
        </p:nvSpPr>
        <p:spPr>
          <a:xfrm>
            <a:off x="609600" y="1219200"/>
            <a:ext cx="6260578" cy="5137150"/>
          </a:xfrm>
        </p:spPr>
        <p:txBody>
          <a:bodyPr>
            <a:normAutofit fontScale="62500" lnSpcReduction="20000"/>
          </a:bodyPr>
          <a:lstStyle/>
          <a:p>
            <a:r>
              <a:rPr lang="en-US" altLang="zh-CN" dirty="0"/>
              <a:t>Q1. Suppose that </a:t>
            </a:r>
            <a:r>
              <a:rPr lang="en-US" altLang="zh-CN" dirty="0">
                <a:solidFill>
                  <a:srgbClr val="C00000"/>
                </a:solidFill>
              </a:rPr>
              <a:t>the</a:t>
            </a:r>
            <a:r>
              <a:rPr lang="en-US" altLang="zh-CN" dirty="0"/>
              <a:t> </a:t>
            </a:r>
            <a:r>
              <a:rPr lang="en-US" altLang="zh-CN" dirty="0">
                <a:solidFill>
                  <a:srgbClr val="C00000"/>
                </a:solidFill>
              </a:rPr>
              <a:t>link between R3 and R4 goes down</a:t>
            </a:r>
            <a:r>
              <a:rPr lang="en-US" altLang="zh-CN" dirty="0"/>
              <a:t>. R3 and R4 have recomputed their routes, but they have not yet sent updates. What route will a packet from A to C take?</a:t>
            </a:r>
          </a:p>
          <a:p>
            <a:r>
              <a:rPr lang="en-US" altLang="zh-CN" dirty="0"/>
              <a:t>ANS: </a:t>
            </a:r>
            <a:r>
              <a:rPr lang="pt-BR" altLang="zh-CN" dirty="0"/>
              <a:t> A → R1 → R2 → R3 → R2 → R3 (loop)</a:t>
            </a:r>
          </a:p>
          <a:p>
            <a:r>
              <a:rPr lang="en-US" altLang="zh-CN" dirty="0"/>
              <a:t>Explanation: Because R3 and R4 have not yet sent their Link-State Advertisements (LSAs), R1 and R2 are unaware of the failure and continue forwarding the packet toward R3, assuming it is the shortest path. However, R3 knows its link to R4 is down, so it has locally recomputed its next-best path to C, which happens to go back through R2 (R3</a:t>
            </a:r>
            <a:r>
              <a:rPr lang="pt-BR" altLang="zh-CN" dirty="0"/>
              <a:t> → R2 → R4 → R5 → C</a:t>
            </a:r>
            <a:r>
              <a:rPr lang="en-US" altLang="zh-CN" dirty="0"/>
              <a:t>).  This creates a temporary routing loop until R1 and R2 receive the updates</a:t>
            </a:r>
          </a:p>
          <a:p>
            <a:r>
              <a:rPr lang="en-US" altLang="zh-CN" dirty="0"/>
              <a:t>Q2. Suppose that </a:t>
            </a:r>
            <a:r>
              <a:rPr lang="en-US" altLang="zh-CN" dirty="0">
                <a:solidFill>
                  <a:srgbClr val="C00000"/>
                </a:solidFill>
              </a:rPr>
              <a:t>the link between R2 and R3 goes down</a:t>
            </a:r>
            <a:r>
              <a:rPr lang="en-US" altLang="zh-CN" dirty="0"/>
              <a:t>. R2 and R3 have recomputed their routes, but have not yet sent updates.  What route will a packet from A to C take? </a:t>
            </a:r>
          </a:p>
          <a:p>
            <a:r>
              <a:rPr lang="en-US" altLang="zh-CN" dirty="0"/>
              <a:t>ANS:  </a:t>
            </a:r>
            <a:r>
              <a:rPr lang="pt-BR" altLang="zh-CN" dirty="0"/>
              <a:t>A → R1 → R2 → R4 → R5 → C </a:t>
            </a:r>
          </a:p>
          <a:p>
            <a:r>
              <a:rPr lang="en-US" altLang="zh-CN" dirty="0"/>
              <a:t>Explanation: R1 is unaware of the failure and sends the packet to R2. However, R2 is aware that its link to R3 is down. R2 locally recalculates an alternate route to C via R4 and R5. Because this new path does not bounce back to an uninformed router that points back to R2, the packet successfully reaches its destination without looping.</a:t>
            </a:r>
            <a:endParaRPr lang="zh-CN" altLang="en-US" dirty="0"/>
          </a:p>
        </p:txBody>
      </p:sp>
      <p:pic>
        <p:nvPicPr>
          <p:cNvPr id="5" name="Picture 4">
            <a:extLst>
              <a:ext uri="{FF2B5EF4-FFF2-40B4-BE49-F238E27FC236}">
                <a16:creationId xmlns:a16="http://schemas.microsoft.com/office/drawing/2014/main" id="{02D6FFA8-8915-83EB-E55C-9F4A48412A9A}"/>
              </a:ext>
            </a:extLst>
          </p:cNvPr>
          <p:cNvPicPr>
            <a:picLocks noChangeAspect="1"/>
          </p:cNvPicPr>
          <p:nvPr/>
        </p:nvPicPr>
        <p:blipFill>
          <a:blip r:embed="rId2"/>
          <a:srcRect/>
          <a:stretch/>
        </p:blipFill>
        <p:spPr>
          <a:xfrm>
            <a:off x="6870178" y="1752601"/>
            <a:ext cx="5243053" cy="2743200"/>
          </a:xfrm>
          <a:prstGeom prst="rect">
            <a:avLst/>
          </a:prstGeom>
        </p:spPr>
      </p:pic>
    </p:spTree>
    <p:extLst>
      <p:ext uri="{BB962C8B-B14F-4D97-AF65-F5344CB8AC3E}">
        <p14:creationId xmlns:p14="http://schemas.microsoft.com/office/powerpoint/2010/main" val="20108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6761-7955-ADA3-105C-B6EAC4E46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EB6C4-2E42-4DDC-F4A6-93051D8C1F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5306F7A-3438-BE58-233E-6E78C6CF022B}"/>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B0EEB01-A8D9-1082-DE6B-7EA4166B6EEC}"/>
              </a:ext>
            </a:extLst>
          </p:cNvPr>
          <p:cNvSpPr>
            <a:spLocks noGrp="1"/>
          </p:cNvSpPr>
          <p:nvPr>
            <p:ph sz="quarter" idx="1"/>
          </p:nvPr>
        </p:nvSpPr>
        <p:spPr>
          <a:xfrm>
            <a:off x="609600" y="1219200"/>
            <a:ext cx="6114938" cy="5137150"/>
          </a:xfrm>
        </p:spPr>
        <p:txBody>
          <a:bodyPr>
            <a:normAutofit fontScale="700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Assume that LSAs are processed and propagated instantaneously.  A link’s propagation delay is equal to the link costs in the diagram (in seconds), i.e. R1 - R2 has a 1-second delay).  You can ignore all processing and queuing delays. Does the packet reach its destination? If so, write down the route the packet from A to C takes.</a:t>
            </a:r>
          </a:p>
          <a:p>
            <a:r>
              <a:rPr lang="en-US" altLang="zh-CN" dirty="0"/>
              <a:t>ANS:  </a:t>
            </a:r>
            <a:r>
              <a:rPr lang="pt-BR" altLang="zh-CN" dirty="0"/>
              <a:t>A → R1 → R2 → R3 → R2 →R6 → R5 → C</a:t>
            </a:r>
          </a:p>
          <a:p>
            <a:r>
              <a:rPr lang="en-US" altLang="zh-CN" dirty="0"/>
              <a:t>Explanation:</a:t>
            </a:r>
            <a:r>
              <a:rPr lang="pt-BR" altLang="zh-CN" dirty="0"/>
              <a:t> </a:t>
            </a:r>
            <a:r>
              <a:rPr lang="en-US" altLang="zh-CN" dirty="0"/>
              <a:t>Because LSA propagation delays are tied to link costs, the failure updates spread across the network at the exact same time the packet is traveling.  As the packet advances (A → R1 → R2 → R3), the routers it hits are actively updating their tables based on newly arriving LSAs. When the packet hits R3, R3 has just learned of the failure and redirects it back to R2. R2 has also just updated its table and dynamically reroutes the packet through R6 and R5 to safely reach C.</a:t>
            </a:r>
            <a:endParaRPr lang="zh-CN" altLang="en-US" dirty="0"/>
          </a:p>
        </p:txBody>
      </p:sp>
      <p:pic>
        <p:nvPicPr>
          <p:cNvPr id="5" name="Picture 4">
            <a:extLst>
              <a:ext uri="{FF2B5EF4-FFF2-40B4-BE49-F238E27FC236}">
                <a16:creationId xmlns:a16="http://schemas.microsoft.com/office/drawing/2014/main" id="{4FF72DEB-2E00-F68A-9E2B-4EC9C233B3C4}"/>
              </a:ext>
            </a:extLst>
          </p:cNvPr>
          <p:cNvPicPr>
            <a:picLocks noChangeAspect="1"/>
          </p:cNvPicPr>
          <p:nvPr/>
        </p:nvPicPr>
        <p:blipFill>
          <a:blip r:embed="rId2"/>
          <a:srcRect/>
          <a:stretch/>
        </p:blipFill>
        <p:spPr>
          <a:xfrm>
            <a:off x="6724538" y="1752601"/>
            <a:ext cx="5388693" cy="2819400"/>
          </a:xfrm>
          <a:prstGeom prst="rect">
            <a:avLst/>
          </a:prstGeom>
        </p:spPr>
      </p:pic>
    </p:spTree>
    <p:extLst>
      <p:ext uri="{BB962C8B-B14F-4D97-AF65-F5344CB8AC3E}">
        <p14:creationId xmlns:p14="http://schemas.microsoft.com/office/powerpoint/2010/main" val="931409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6A071-906A-B7B8-344E-B492C2B80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5541C-79A3-D0BE-A082-F81C5FDBF4DA}"/>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2F2E81B-AFF1-39CE-99DD-4CE747DC73D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E77568DA-E2BD-B325-7077-1F2E3BCCADD6}"/>
              </a:ext>
            </a:extLst>
          </p:cNvPr>
          <p:cNvSpPr>
            <a:spLocks noGrp="1"/>
          </p:cNvSpPr>
          <p:nvPr>
            <p:ph sz="quarter" idx="1"/>
          </p:nvPr>
        </p:nvSpPr>
        <p:spPr>
          <a:xfrm>
            <a:off x="304800" y="1096108"/>
            <a:ext cx="7162800" cy="5638800"/>
          </a:xfrm>
          <a:solidFill>
            <a:schemeClr val="bg1"/>
          </a:solidFill>
        </p:spPr>
        <p:txBody>
          <a:bodyPr>
            <a:normAutofit fontScale="92500" lnSpcReduction="20000"/>
          </a:bodyPr>
          <a:lstStyle/>
          <a:p>
            <a:r>
              <a:rPr lang="en-US" altLang="zh-CN" sz="1400" dirty="0"/>
              <a:t>Q3. in detail. Assume that at time t=0,  A sends a packet to C.  At t=0.5 seconds, </a:t>
            </a:r>
            <a:r>
              <a:rPr lang="en-US" altLang="zh-CN" sz="1400" dirty="0">
                <a:solidFill>
                  <a:srgbClr val="C00000"/>
                </a:solidFill>
              </a:rPr>
              <a:t>the link between R4 and R5 goes down</a:t>
            </a:r>
            <a:r>
              <a:rPr lang="en-US" altLang="zh-CN" sz="1400" dirty="0"/>
              <a:t>, and R4 and R5 instantaneously recognize and recompute their routes. </a:t>
            </a:r>
          </a:p>
          <a:p>
            <a:r>
              <a:rPr lang="en-US" altLang="zh-CN" sz="1400" dirty="0"/>
              <a:t>ANS:  </a:t>
            </a:r>
            <a:r>
              <a:rPr lang="pt-BR" altLang="zh-CN" sz="1400" dirty="0"/>
              <a:t>A → R1 → R2 → R3 → R2 →R6 → R5 → C</a:t>
            </a:r>
          </a:p>
          <a:p>
            <a:r>
              <a:rPr lang="en-US" altLang="zh-CN" sz="1400" dirty="0"/>
              <a:t>Explanation: Here is the detailed timeline of events for Q4.5, which is driven by the "race" between the packet's physical propagation delay and the Link-State Advertisement (LSA) propagation delay. Both delays are strictly tied to the link costs.</a:t>
            </a:r>
          </a:p>
          <a:p>
            <a:r>
              <a:rPr lang="en-US" altLang="zh-CN" sz="1400" dirty="0"/>
              <a:t>t = 0.0s. Host A sends the packet toward Host C. The packet arrives at R1, and R1 forwards it to R2. The propagation delay for the R1-R2 link is 1 second.</a:t>
            </a:r>
          </a:p>
          <a:p>
            <a:r>
              <a:rPr lang="en-US" altLang="zh-CN" sz="1400" dirty="0"/>
              <a:t>t = 0.5s. While the packet is mid-flight between R1 and R2, the link between R4 and R5 suddenly fails. R4 and R5 immediately recognize the failure and generate LSAs detailing the broken link. These LSAs begin propagating across the network at a speed dictated by the link costs.</a:t>
            </a:r>
          </a:p>
          <a:p>
            <a:r>
              <a:rPr lang="en-US" altLang="zh-CN" sz="1400" dirty="0"/>
              <a:t>t = 1.0s. Packet Location: Arrives at R2. LSA Status: The failure LSA from R4 has not yet reached R2 because it has only been propagating for 0.5 seconds, and the delay (cost) from R4 to R2 is longer than that. Action: Because R2 is unaware of the broken link, its routing table still indicates that the shortest path to C is via R3. R2 forwards the packet to R3. The delay for the R2-R3 link is 2 seconds.</a:t>
            </a:r>
          </a:p>
          <a:p>
            <a:r>
              <a:rPr lang="en-US" altLang="zh-CN" sz="1400" dirty="0"/>
              <a:t>t = 1.0s – 3.0s. Packet is in transit between R2 and R3. Meanwhile, the LSAs are continuing to propagate across the network toward R2 and R3.</a:t>
            </a:r>
          </a:p>
          <a:p>
            <a:r>
              <a:rPr lang="en-US" altLang="zh-CN" sz="1400" dirty="0"/>
              <a:t>t = 3.0s. Packet Location: Arrives at R3. LSA Status: By this time, the LSA originating from R4 has successfully arrived at R3 (at time 2.5s). R3 processes it instantaneously and updates its routing table. Action: R3 recalculates its shortest path to C because it now knows the R4-R5 link is down. The new shortest path routes back through R2 (R3</a:t>
            </a:r>
            <a:r>
              <a:rPr lang="pt-BR" altLang="zh-CN" sz="1400" dirty="0"/>
              <a:t> → R2 → R6 → R5 → C</a:t>
            </a:r>
            <a:r>
              <a:rPr lang="en-US" altLang="zh-CN" sz="1400" dirty="0"/>
              <a:t>). R3 forwards the packet back to R2, which takes another 2 seconds.</a:t>
            </a:r>
          </a:p>
          <a:p>
            <a:r>
              <a:rPr lang="en-US" altLang="zh-CN" sz="1400" dirty="0"/>
              <a:t>t = 3.0s – 5.0s. Packet travels from R3 back to R2.  During this window, </a:t>
            </a:r>
            <a:r>
              <a:rPr lang="en-US" altLang="zh-CN" sz="1400" dirty="0">
                <a:solidFill>
                  <a:srgbClr val="C00000"/>
                </a:solidFill>
              </a:rPr>
              <a:t>the LSA from R4 reaches R2 at time 4.5s</a:t>
            </a:r>
            <a:r>
              <a:rPr lang="en-US" altLang="zh-CN" sz="1400" dirty="0"/>
              <a:t>, and R2 instantaneously updates its own routing table.</a:t>
            </a:r>
          </a:p>
          <a:p>
            <a:r>
              <a:rPr lang="en-US" altLang="zh-CN" sz="1400" dirty="0"/>
              <a:t>t = 5.0s. Packet Location: Arrives back at R2. LSA Status: R2 is now fully aware of the R4-R5 link failure. Action: R2 recalculates its next-best path to C. With the old route invalidated, R2 determines the new optimal route is via R6 (</a:t>
            </a:r>
            <a:r>
              <a:rPr lang="pt-BR" altLang="zh-CN" sz="1400" dirty="0"/>
              <a:t>R2 → R6 → R5 → C</a:t>
            </a:r>
            <a:r>
              <a:rPr lang="en-US" altLang="zh-CN" sz="1400" dirty="0"/>
              <a:t>). R2 forwards the packet to R6.</a:t>
            </a:r>
          </a:p>
          <a:p>
            <a:r>
              <a:rPr lang="en-US" altLang="zh-CN" sz="1400" dirty="0"/>
              <a:t>t &gt; 5.0s. The packet successfully continues along the updated path, safely traveling from R6 → R5 → Host C.</a:t>
            </a:r>
            <a:endParaRPr lang="zh-CN" altLang="en-US" sz="1400" dirty="0"/>
          </a:p>
        </p:txBody>
      </p:sp>
      <p:pic>
        <p:nvPicPr>
          <p:cNvPr id="5" name="Picture 4">
            <a:extLst>
              <a:ext uri="{FF2B5EF4-FFF2-40B4-BE49-F238E27FC236}">
                <a16:creationId xmlns:a16="http://schemas.microsoft.com/office/drawing/2014/main" id="{F730BFBB-F9F1-7D96-F16B-61DC9E1AFD93}"/>
              </a:ext>
            </a:extLst>
          </p:cNvPr>
          <p:cNvPicPr>
            <a:picLocks noChangeAspect="1"/>
          </p:cNvPicPr>
          <p:nvPr/>
        </p:nvPicPr>
        <p:blipFill>
          <a:blip r:embed="rId2"/>
          <a:srcRect/>
          <a:stretch/>
        </p:blipFill>
        <p:spPr>
          <a:xfrm>
            <a:off x="7467599" y="1752601"/>
            <a:ext cx="4645631" cy="2430625"/>
          </a:xfrm>
          <a:prstGeom prst="rect">
            <a:avLst/>
          </a:prstGeom>
        </p:spPr>
      </p:pic>
    </p:spTree>
    <p:extLst>
      <p:ext uri="{BB962C8B-B14F-4D97-AF65-F5344CB8AC3E}">
        <p14:creationId xmlns:p14="http://schemas.microsoft.com/office/powerpoint/2010/main" val="276183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F127-DF73-7B57-BAB9-7BEAE3A82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3D220-3B2B-D769-E560-E4F7D42948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A623F4E-23D1-DDC4-29CE-A8EE9A4CE4C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FE6122BC-562C-CABB-6BF5-4C1CC4E4D457}"/>
              </a:ext>
            </a:extLst>
          </p:cNvPr>
          <p:cNvSpPr>
            <a:spLocks noGrp="1"/>
          </p:cNvSpPr>
          <p:nvPr>
            <p:ph sz="quarter" idx="1"/>
          </p:nvPr>
        </p:nvSpPr>
        <p:spPr>
          <a:xfrm>
            <a:off x="600075" y="1143000"/>
            <a:ext cx="5791200" cy="5486400"/>
          </a:xfrm>
        </p:spPr>
        <p:txBody>
          <a:bodyPr>
            <a:normAutofit fontScale="92500" lnSpcReduction="10000"/>
          </a:bodyPr>
          <a:lstStyle/>
          <a:p>
            <a:r>
              <a:rPr lang="en-US" altLang="zh-CN" dirty="0"/>
              <a:t>Q3. continued.  Why does </a:t>
            </a:r>
            <a:r>
              <a:rPr lang="en-US" altLang="zh-CN" dirty="0">
                <a:solidFill>
                  <a:srgbClr val="C00000"/>
                </a:solidFill>
              </a:rPr>
              <a:t>the LSA from R4 reach R2 at time 4.5s</a:t>
            </a:r>
            <a:r>
              <a:rPr lang="en-US" altLang="zh-CN" dirty="0"/>
              <a:t>?</a:t>
            </a:r>
          </a:p>
          <a:p>
            <a:r>
              <a:rPr lang="en-US" altLang="zh-CN" dirty="0"/>
              <a:t>ANS: LSAs are flooded across all paths. So R4 and R5 both send our LSAs with the R4-R5 link failure to all their neighbors.</a:t>
            </a:r>
          </a:p>
          <a:p>
            <a:pPr lvl="1"/>
            <a:r>
              <a:rPr lang="en-US" altLang="zh-CN" dirty="0"/>
              <a:t>Through path R4 </a:t>
            </a:r>
            <a:r>
              <a:rPr lang="pt-BR" altLang="zh-CN" dirty="0"/>
              <a:t>→ R3 → R2: LSA arrives at R2 at time 4.5s.</a:t>
            </a:r>
          </a:p>
          <a:p>
            <a:pPr lvl="1"/>
            <a:r>
              <a:rPr lang="en-US" altLang="zh-CN" dirty="0"/>
              <a:t>Through path R4 </a:t>
            </a:r>
            <a:r>
              <a:rPr lang="pt-BR" altLang="zh-CN" dirty="0"/>
              <a:t>→ R2: LSA arrives at R2 at time 5.5s.</a:t>
            </a:r>
          </a:p>
          <a:p>
            <a:pPr lvl="1"/>
            <a:r>
              <a:rPr lang="en-US" altLang="zh-CN" dirty="0"/>
              <a:t>Through path R5 </a:t>
            </a:r>
            <a:r>
              <a:rPr lang="pt-BR" altLang="zh-CN" dirty="0"/>
              <a:t>→ R6 → R2: LSA arrives at R2 at time 10.5s.</a:t>
            </a:r>
          </a:p>
          <a:p>
            <a:r>
              <a:rPr lang="pt-BR" altLang="zh-CN" dirty="0"/>
              <a:t>Therefore, the earliest time that </a:t>
            </a:r>
            <a:r>
              <a:rPr lang="en-US" altLang="zh-CN" dirty="0"/>
              <a:t>LSA from R4 reaches R2 is at time 4.5s, making R2 aware that the R4-R5 link is dead, and allowing it to correctly recalculate the route and forward the packet to R6.</a:t>
            </a:r>
            <a:endParaRPr lang="pt-BR" altLang="zh-CN" dirty="0"/>
          </a:p>
          <a:p>
            <a:endParaRPr lang="pt-BR" altLang="zh-CN" dirty="0"/>
          </a:p>
        </p:txBody>
      </p:sp>
      <p:pic>
        <p:nvPicPr>
          <p:cNvPr id="5" name="Picture 4">
            <a:extLst>
              <a:ext uri="{FF2B5EF4-FFF2-40B4-BE49-F238E27FC236}">
                <a16:creationId xmlns:a16="http://schemas.microsoft.com/office/drawing/2014/main" id="{63947111-C329-DAA1-60E5-E6186B5BF530}"/>
              </a:ext>
            </a:extLst>
          </p:cNvPr>
          <p:cNvPicPr>
            <a:picLocks noChangeAspect="1"/>
          </p:cNvPicPr>
          <p:nvPr/>
        </p:nvPicPr>
        <p:blipFill>
          <a:blip r:embed="rId2"/>
          <a:srcRect/>
          <a:stretch/>
        </p:blipFill>
        <p:spPr>
          <a:xfrm>
            <a:off x="6248400" y="1752600"/>
            <a:ext cx="5864832" cy="3068519"/>
          </a:xfrm>
          <a:prstGeom prst="rect">
            <a:avLst/>
          </a:prstGeom>
        </p:spPr>
      </p:pic>
    </p:spTree>
    <p:extLst>
      <p:ext uri="{BB962C8B-B14F-4D97-AF65-F5344CB8AC3E}">
        <p14:creationId xmlns:p14="http://schemas.microsoft.com/office/powerpoint/2010/main" val="159100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0485B-C9A3-8EB1-CB7D-87D1A92C19C5}"/>
              </a:ext>
            </a:extLst>
          </p:cNvPr>
          <p:cNvSpPr>
            <a:spLocks noGrp="1"/>
          </p:cNvSpPr>
          <p:nvPr>
            <p:ph type="title"/>
          </p:nvPr>
        </p:nvSpPr>
        <p:spPr/>
        <p:txBody>
          <a:bodyPr/>
          <a:lstStyle/>
          <a:p>
            <a:r>
              <a:rPr lang="nl-NL" altLang="zh-CN" dirty="0"/>
              <a:t>Lecture 6 - IP Addressing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4A890712-F10B-FEAE-6F06-EE11321BC4FE}"/>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E9F7465E-E24A-8171-F25B-76E56F0677E8}"/>
              </a:ext>
            </a:extLst>
          </p:cNvPr>
          <p:cNvSpPr>
            <a:spLocks noGrp="1"/>
          </p:cNvSpPr>
          <p:nvPr>
            <p:ph sz="quarter" idx="1"/>
          </p:nvPr>
        </p:nvSpPr>
        <p:spPr/>
        <p:txBody>
          <a:bodyPr>
            <a:normAutofit fontScale="85000" lnSpcReduction="20000"/>
          </a:bodyPr>
          <a:lstStyle/>
          <a:p>
            <a:r>
              <a:rPr lang="en-US" altLang="zh-CN" b="1" dirty="0"/>
              <a:t>Math:</a:t>
            </a:r>
            <a:r>
              <a:rPr lang="en-US" altLang="zh-CN" dirty="0"/>
              <a:t> 198.51.128.0/18 </a:t>
            </a:r>
          </a:p>
          <a:p>
            <a:pPr lvl="1"/>
            <a:r>
              <a:rPr lang="en-US" altLang="zh-CN" dirty="0"/>
              <a:t>Binary: </a:t>
            </a:r>
            <a:r>
              <a:rPr lang="en-US" altLang="zh-CN" dirty="0">
                <a:solidFill>
                  <a:srgbClr val="C00000"/>
                </a:solidFill>
              </a:rPr>
              <a:t>11000110 . 00110011 . 10</a:t>
            </a:r>
            <a:r>
              <a:rPr lang="en-US" altLang="zh-CN" dirty="0"/>
              <a:t> 000000 . 00000000 </a:t>
            </a:r>
          </a:p>
          <a:p>
            <a:pPr lvl="1"/>
            <a:r>
              <a:rPr lang="en-US" altLang="zh-CN" dirty="0"/>
              <a:t>Range: 198.51.128.0 to 198.51.191.255 </a:t>
            </a:r>
          </a:p>
          <a:p>
            <a:pPr lvl="1"/>
            <a:r>
              <a:rPr lang="en-US" altLang="zh-CN" dirty="0"/>
              <a:t>Addresses: 16384 </a:t>
            </a:r>
          </a:p>
          <a:p>
            <a:r>
              <a:rPr lang="en-US" altLang="zh-CN" b="1" dirty="0"/>
              <a:t>EE / CS split of 198.51.192.0/18:</a:t>
            </a:r>
            <a:r>
              <a:rPr lang="en-US" altLang="zh-CN" dirty="0"/>
              <a:t> </a:t>
            </a:r>
          </a:p>
          <a:p>
            <a:pPr lvl="1"/>
            <a:r>
              <a:rPr lang="en-US" altLang="zh-CN"/>
              <a:t>Binary</a:t>
            </a:r>
            <a:r>
              <a:rPr lang="en-US" altLang="zh-CN" dirty="0"/>
              <a:t>: </a:t>
            </a:r>
            <a:r>
              <a:rPr lang="en-US" altLang="zh-CN" dirty="0">
                <a:solidFill>
                  <a:srgbClr val="C00000"/>
                </a:solidFill>
              </a:rPr>
              <a:t>11000110 . 00110011 . 11</a:t>
            </a:r>
            <a:r>
              <a:rPr lang="en-US" altLang="zh-CN" dirty="0"/>
              <a:t> 000000 . 00000000</a:t>
            </a:r>
          </a:p>
          <a:p>
            <a:pPr lvl="1"/>
            <a:r>
              <a:rPr lang="en-US" altLang="zh-CN" dirty="0"/>
              <a:t>EE: 198.51.192.0/19 </a:t>
            </a:r>
          </a:p>
          <a:p>
            <a:pPr lvl="1"/>
            <a:r>
              <a:rPr lang="en-US" altLang="zh-CN" dirty="0"/>
              <a:t>CS: 198.51.224.0/19 </a:t>
            </a:r>
          </a:p>
          <a:p>
            <a:pPr lvl="1"/>
            <a:r>
              <a:rPr lang="en-US" altLang="zh-CN" dirty="0"/>
              <a:t>Binary: </a:t>
            </a:r>
          </a:p>
          <a:p>
            <a:pPr lvl="2"/>
            <a:r>
              <a:rPr lang="en-US" altLang="zh-CN" dirty="0">
                <a:solidFill>
                  <a:srgbClr val="C00000"/>
                </a:solidFill>
              </a:rPr>
              <a:t>11000110 . 00110011 . 110</a:t>
            </a:r>
            <a:r>
              <a:rPr lang="en-US" altLang="zh-CN" dirty="0"/>
              <a:t> 00000 . 00000000 </a:t>
            </a:r>
          </a:p>
          <a:p>
            <a:pPr lvl="2"/>
            <a:r>
              <a:rPr lang="en-US" altLang="zh-CN" dirty="0">
                <a:solidFill>
                  <a:srgbClr val="C00000"/>
                </a:solidFill>
              </a:rPr>
              <a:t>11000110 . 00110011 . 111</a:t>
            </a:r>
            <a:r>
              <a:rPr lang="en-US" altLang="zh-CN" dirty="0"/>
              <a:t> 00000 . 00000000 </a:t>
            </a:r>
          </a:p>
          <a:p>
            <a:r>
              <a:rPr lang="en-US" altLang="zh-CN" b="1" dirty="0"/>
              <a:t>Data Science:</a:t>
            </a:r>
            <a:r>
              <a:rPr lang="en-US" altLang="zh-CN" dirty="0"/>
              <a:t> 198.51.64.0/25 </a:t>
            </a:r>
          </a:p>
          <a:p>
            <a:pPr lvl="1"/>
            <a:r>
              <a:rPr lang="en-US" altLang="zh-CN" dirty="0"/>
              <a:t>Binary: </a:t>
            </a:r>
            <a:r>
              <a:rPr lang="en-US" altLang="zh-CN" dirty="0">
                <a:solidFill>
                  <a:srgbClr val="C00000"/>
                </a:solidFill>
              </a:rPr>
              <a:t>11000110 . 00110011 . 01000000 . 0</a:t>
            </a:r>
            <a:r>
              <a:rPr lang="en-US" altLang="zh-CN" dirty="0"/>
              <a:t>0000000 </a:t>
            </a:r>
          </a:p>
          <a:p>
            <a:r>
              <a:rPr lang="en-US" altLang="zh-CN" b="1" dirty="0"/>
              <a:t>Biology:</a:t>
            </a:r>
            <a:r>
              <a:rPr lang="en-US" altLang="zh-CN" dirty="0"/>
              <a:t> 198.51.64.128/27 </a:t>
            </a:r>
          </a:p>
          <a:p>
            <a:pPr lvl="1"/>
            <a:r>
              <a:rPr lang="en-US" altLang="zh-CN" dirty="0"/>
              <a:t>Binary: </a:t>
            </a:r>
            <a:r>
              <a:rPr lang="en-US" altLang="zh-CN" dirty="0">
                <a:solidFill>
                  <a:srgbClr val="C00000"/>
                </a:solidFill>
              </a:rPr>
              <a:t>11000110 . 00110011 . 01000000 . 100</a:t>
            </a:r>
            <a:r>
              <a:rPr lang="en-US" altLang="zh-CN" dirty="0"/>
              <a:t>00000 </a:t>
            </a:r>
          </a:p>
          <a:p>
            <a:endParaRPr lang="zh-CN" altLang="en-US" dirty="0"/>
          </a:p>
        </p:txBody>
      </p:sp>
      <p:graphicFrame>
        <p:nvGraphicFramePr>
          <p:cNvPr id="6" name="Table 5">
            <a:extLst>
              <a:ext uri="{FF2B5EF4-FFF2-40B4-BE49-F238E27FC236}">
                <a16:creationId xmlns:a16="http://schemas.microsoft.com/office/drawing/2014/main" id="{FCF22305-09C4-9351-A56F-F000E4123DD1}"/>
              </a:ext>
            </a:extLst>
          </p:cNvPr>
          <p:cNvGraphicFramePr>
            <a:graphicFrameLocks noGrp="1"/>
          </p:cNvGraphicFramePr>
          <p:nvPr>
            <p:extLst>
              <p:ext uri="{D42A27DB-BD31-4B8C-83A1-F6EECF244321}">
                <p14:modId xmlns:p14="http://schemas.microsoft.com/office/powerpoint/2010/main" val="3781936587"/>
              </p:ext>
            </p:extLst>
          </p:nvPr>
        </p:nvGraphicFramePr>
        <p:xfrm>
          <a:off x="8534400" y="2506964"/>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145614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40BDD-07DC-E9DD-995E-DBDF7E8AA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E6446-1724-F66F-9A47-9F8FC68CDF07}"/>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8E834400-DEED-1970-9EF8-61098F9AC29F}"/>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D41BF95-16DB-C96D-7C31-8E6BE705F612}"/>
              </a:ext>
            </a:extLst>
          </p:cNvPr>
          <p:cNvSpPr>
            <a:spLocks noGrp="1"/>
          </p:cNvSpPr>
          <p:nvPr>
            <p:ph sz="quarter" idx="1"/>
          </p:nvPr>
        </p:nvSpPr>
        <p:spPr>
          <a:xfrm>
            <a:off x="609600" y="1219200"/>
            <a:ext cx="10972800" cy="5137150"/>
          </a:xfrm>
        </p:spPr>
        <p:txBody>
          <a:bodyPr>
            <a:normAutofit fontScale="625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ANS:  198.51.0.0/16 in binary:198 = 1100011051 = 00110011So the reserved /16 block is:198.51.0.0/16= </a:t>
            </a:r>
            <a:r>
              <a:rPr lang="en-US" altLang="zh-CN" dirty="0">
                <a:solidFill>
                  <a:srgbClr val="C00000"/>
                </a:solidFill>
              </a:rPr>
              <a:t>11000110 . 00110011 </a:t>
            </a:r>
            <a:r>
              <a:rPr lang="en-US" altLang="zh-CN" dirty="0"/>
              <a:t>. 00000000 . 00000000</a:t>
            </a:r>
          </a:p>
          <a:p>
            <a:r>
              <a:rPr lang="en-US" altLang="zh-CN" dirty="0"/>
              <a:t>1) Which addresses are included in the Math department’s prefix? How many addresses are in this range?</a:t>
            </a:r>
          </a:p>
          <a:p>
            <a:pPr lvl="1"/>
            <a:r>
              <a:rPr lang="en-US" altLang="zh-CN" dirty="0"/>
              <a:t>Math is assigned: 198.51.128.0/18 = </a:t>
            </a:r>
            <a:r>
              <a:rPr lang="en-US" altLang="zh-CN" dirty="0">
                <a:solidFill>
                  <a:srgbClr val="C00000"/>
                </a:solidFill>
              </a:rPr>
              <a:t>11000110 . 00110011 . 10 </a:t>
            </a:r>
            <a:r>
              <a:rPr lang="en-US" altLang="zh-CN" dirty="0"/>
              <a:t>000000 . 00000000</a:t>
            </a:r>
          </a:p>
          <a:p>
            <a:pPr lvl="1"/>
            <a:r>
              <a:rPr lang="en-US" altLang="zh-CN" dirty="0"/>
              <a:t>Since a /18 fixes the first 18 bits, the host bits are the remaining 14 bits. So the address range is:</a:t>
            </a:r>
          </a:p>
          <a:p>
            <a:pPr lvl="1"/>
            <a:r>
              <a:rPr lang="en-US" altLang="zh-CN" dirty="0">
                <a:solidFill>
                  <a:srgbClr val="C00000"/>
                </a:solidFill>
              </a:rPr>
              <a:t>11000110 . 00110011 . 10</a:t>
            </a:r>
            <a:r>
              <a:rPr lang="en-US" altLang="zh-CN" dirty="0"/>
              <a:t> 000000 . 00000000</a:t>
            </a:r>
            <a:br>
              <a:rPr lang="en-US" altLang="zh-CN" dirty="0"/>
            </a:br>
            <a:r>
              <a:rPr lang="en-US" altLang="zh-CN" dirty="0"/>
              <a:t>through</a:t>
            </a:r>
            <a:br>
              <a:rPr lang="en-US" altLang="zh-CN" dirty="0"/>
            </a:br>
            <a:r>
              <a:rPr lang="en-US" altLang="zh-CN" dirty="0">
                <a:solidFill>
                  <a:srgbClr val="C00000"/>
                </a:solidFill>
              </a:rPr>
              <a:t>11000110 . 00110011 . 10</a:t>
            </a:r>
            <a:r>
              <a:rPr lang="en-US" altLang="zh-CN" dirty="0"/>
              <a:t> 111111 . 11111111</a:t>
            </a:r>
          </a:p>
          <a:p>
            <a:pPr lvl="1"/>
            <a:r>
              <a:rPr lang="en-US" altLang="zh-CN" dirty="0"/>
              <a:t>In decimal: 198.51.128.0  through  198.51.191.255</a:t>
            </a:r>
          </a:p>
          <a:p>
            <a:pPr lvl="1"/>
            <a:r>
              <a:rPr lang="en-US" altLang="zh-CN" b="1" dirty="0"/>
              <a:t>Number of addresses: </a:t>
            </a:r>
            <a:r>
              <a:rPr lang="en-US" altLang="zh-CN" dirty="0"/>
              <a:t>A /18 has: 2^(32 - 18) = 2^14 = 16384</a:t>
            </a:r>
          </a:p>
          <a:p>
            <a:r>
              <a:rPr lang="en-US" altLang="zh-CN" dirty="0"/>
              <a:t>2) The block 198.51.192.0/18 is reserved for EE and CS.  Assign equal halves of this address space to the two departments.</a:t>
            </a:r>
          </a:p>
          <a:p>
            <a:pPr lvl="1"/>
            <a:r>
              <a:rPr lang="en-US" altLang="zh-CN" dirty="0"/>
              <a:t>The block is: 198.51.192.0/18 = </a:t>
            </a:r>
            <a:r>
              <a:rPr lang="en-US" altLang="zh-CN" dirty="0">
                <a:solidFill>
                  <a:srgbClr val="C00000"/>
                </a:solidFill>
              </a:rPr>
              <a:t>11000110 . 00110011 . 11</a:t>
            </a:r>
            <a:r>
              <a:rPr lang="en-US" altLang="zh-CN" dirty="0"/>
              <a:t> 000000 . 00000000</a:t>
            </a:r>
          </a:p>
          <a:p>
            <a:pPr lvl="1"/>
            <a:r>
              <a:rPr lang="en-US" altLang="zh-CN" dirty="0"/>
              <a:t>To split a /18 into two equal halves, use two /19 prefixes.</a:t>
            </a:r>
          </a:p>
          <a:p>
            <a:pPr lvl="1"/>
            <a:r>
              <a:rPr lang="en-US" altLang="zh-CN" b="1" dirty="0"/>
              <a:t>EE </a:t>
            </a:r>
            <a:r>
              <a:rPr lang="en-US" altLang="zh-CN" dirty="0"/>
              <a:t>198.51.192.0/19 = </a:t>
            </a:r>
            <a:r>
              <a:rPr lang="en-US" altLang="zh-CN" dirty="0">
                <a:solidFill>
                  <a:srgbClr val="C00000"/>
                </a:solidFill>
              </a:rPr>
              <a:t>11000110 . 00110011 . 110</a:t>
            </a:r>
            <a:r>
              <a:rPr lang="en-US" altLang="zh-CN" dirty="0"/>
              <a:t> 00000 . 00000000</a:t>
            </a:r>
          </a:p>
          <a:p>
            <a:pPr lvl="1"/>
            <a:r>
              <a:rPr lang="en-US" altLang="zh-CN" b="1" dirty="0"/>
              <a:t>CS </a:t>
            </a:r>
            <a:r>
              <a:rPr lang="en-US" altLang="zh-CN" dirty="0"/>
              <a:t>198.51.224.0/19 = </a:t>
            </a:r>
            <a:r>
              <a:rPr lang="en-US" altLang="zh-CN" dirty="0">
                <a:solidFill>
                  <a:srgbClr val="C00000"/>
                </a:solidFill>
              </a:rPr>
              <a:t>11000110 . 00110011 . 111</a:t>
            </a:r>
            <a:r>
              <a:rPr lang="en-US" altLang="zh-CN" dirty="0"/>
              <a:t> 00000 . 00000000</a:t>
            </a:r>
          </a:p>
        </p:txBody>
      </p:sp>
    </p:spTree>
    <p:extLst>
      <p:ext uri="{BB962C8B-B14F-4D97-AF65-F5344CB8AC3E}">
        <p14:creationId xmlns:p14="http://schemas.microsoft.com/office/powerpoint/2010/main" val="873322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471-63B5-AF33-8E25-DB5E34388B13}"/>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F4009216-3D52-E6EA-5985-26126DE3C2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5D55CEFE-07C0-C1C0-0DB2-A53E29C3DCE1}"/>
              </a:ext>
            </a:extLst>
          </p:cNvPr>
          <p:cNvSpPr>
            <a:spLocks noGrp="1"/>
          </p:cNvSpPr>
          <p:nvPr>
            <p:ph sz="quarter" idx="1"/>
          </p:nvPr>
        </p:nvSpPr>
        <p:spPr>
          <a:xfrm>
            <a:off x="609600" y="1219200"/>
            <a:ext cx="10972800" cy="5029200"/>
          </a:xfrm>
        </p:spPr>
        <p:txBody>
          <a:bodyPr>
            <a:normAutofit fontScale="85000" lnSpcReduction="20000"/>
          </a:bodyPr>
          <a:lstStyle/>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pPr lvl="1"/>
            <a:r>
              <a:rPr lang="en-US" altLang="zh-CN" dirty="0"/>
              <a:t>Need at least 90 addresses. Smallest power of 2 that is ≥ 90 is: 128 = 2^7. So the network prefix length is: 32 - 7 = /25.  The unused block is:</a:t>
            </a:r>
          </a:p>
          <a:p>
            <a:pPr lvl="1"/>
            <a:r>
              <a:rPr lang="en-US" altLang="zh-CN" dirty="0"/>
              <a:t>198.51.64.0/18 = </a:t>
            </a:r>
            <a:r>
              <a:rPr lang="en-US" altLang="zh-CN" dirty="0">
                <a:solidFill>
                  <a:srgbClr val="C00000"/>
                </a:solidFill>
              </a:rPr>
              <a:t>11000110 . 00110011 . 01</a:t>
            </a:r>
            <a:r>
              <a:rPr lang="en-US" altLang="zh-CN" dirty="0"/>
              <a:t> 000000 . 00000000</a:t>
            </a:r>
          </a:p>
          <a:p>
            <a:pPr lvl="1"/>
            <a:r>
              <a:rPr lang="en-US" altLang="zh-CN" dirty="0"/>
              <a:t>A valid minimal assignment is: 198.51.64.0/25 = </a:t>
            </a:r>
            <a:r>
              <a:rPr lang="en-US" altLang="zh-CN" dirty="0">
                <a:solidFill>
                  <a:srgbClr val="C00000"/>
                </a:solidFill>
              </a:rPr>
              <a:t>11000110 . 00110011 . 01000000 . 0</a:t>
            </a:r>
            <a:r>
              <a:rPr lang="en-US" altLang="zh-CN" dirty="0"/>
              <a:t>0000000</a:t>
            </a:r>
          </a:p>
          <a:p>
            <a:pPr lvl="1"/>
            <a:r>
              <a:rPr lang="en-US" altLang="zh-CN" dirty="0"/>
              <a:t>This gives 128 addresses, which is enough for 90 students. (You can use arbitrary bits for bits 19-25.)</a:t>
            </a:r>
          </a:p>
          <a:p>
            <a:r>
              <a:rPr lang="en-US" altLang="zh-CN" dirty="0"/>
              <a:t>4) After assigning the Data Science prefix, suppose Biology needs an address block for 30 people. What is the smallest unused prefix you can assign to Biology without overlapping any existing assignments?</a:t>
            </a:r>
          </a:p>
          <a:p>
            <a:r>
              <a:rPr lang="en-US" altLang="zh-CN" dirty="0"/>
              <a:t>Need at least 30 addresses. Smallest power of 2 that is ≥ 30 is 32 = 2^5. So the network prefix length is: 32 - 5 = /27</a:t>
            </a:r>
          </a:p>
          <a:p>
            <a:r>
              <a:rPr lang="en-US" altLang="zh-CN" dirty="0"/>
              <a:t>After assigning: 198.51.64.0/25 = </a:t>
            </a:r>
            <a:r>
              <a:rPr lang="en-US" altLang="zh-CN" dirty="0">
                <a:solidFill>
                  <a:srgbClr val="C00000"/>
                </a:solidFill>
              </a:rPr>
              <a:t>11000110 . 00110011 . 01000000 . 0</a:t>
            </a:r>
            <a:r>
              <a:rPr lang="en-US" altLang="zh-CN" dirty="0"/>
              <a:t>0000000, the next aligned unused /27 block is: 198.51.64.128/27 = </a:t>
            </a:r>
            <a:r>
              <a:rPr lang="en-US" altLang="zh-CN" dirty="0">
                <a:solidFill>
                  <a:srgbClr val="C00000"/>
                </a:solidFill>
              </a:rPr>
              <a:t>11000110 . 00110011 . 01000000 . 100</a:t>
            </a:r>
            <a:r>
              <a:rPr lang="en-US" altLang="zh-CN" dirty="0"/>
              <a:t>00000</a:t>
            </a:r>
          </a:p>
          <a:p>
            <a:pPr lvl="1"/>
            <a:r>
              <a:rPr lang="en-US" altLang="zh-CN" dirty="0"/>
              <a:t>That is a valid unused prefix and does not overlap any existing assignment. (The last octet can be 1xx00000, as long as it starts with a 1 (xx can be arbitrary bits).)</a:t>
            </a:r>
          </a:p>
          <a:p>
            <a:pPr lvl="1"/>
            <a:endParaRPr lang="en-US" altLang="zh-CN" dirty="0"/>
          </a:p>
          <a:p>
            <a:endParaRPr lang="zh-CN" altLang="en-US" dirty="0"/>
          </a:p>
        </p:txBody>
      </p:sp>
    </p:spTree>
    <p:extLst>
      <p:ext uri="{BB962C8B-B14F-4D97-AF65-F5344CB8AC3E}">
        <p14:creationId xmlns:p14="http://schemas.microsoft.com/office/powerpoint/2010/main" val="635324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2"/>
          <a:stretch>
            <a:fillRect/>
          </a:stretch>
        </p:blipFill>
        <p:spPr>
          <a:xfrm>
            <a:off x="6324600" y="1296645"/>
            <a:ext cx="3343742" cy="4906060"/>
          </a:xfrm>
          <a:prstGeom prst="rect">
            <a:avLst/>
          </a:prstGeom>
        </p:spPr>
      </p:pic>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9700-7BE0-1BBC-B464-960AA1CFF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C6A10-EC68-47CE-B200-16CDFB260E8F}"/>
              </a:ext>
            </a:extLst>
          </p:cNvPr>
          <p:cNvSpPr>
            <a:spLocks noGrp="1"/>
          </p:cNvSpPr>
          <p:nvPr>
            <p:ph type="title"/>
          </p:nvPr>
        </p:nvSpPr>
        <p:spPr/>
        <p:txBody>
          <a:bodyPr/>
          <a:lstStyle/>
          <a:p>
            <a:r>
              <a:rPr lang="en-US" altLang="zh-CN" dirty="0"/>
              <a:t>Lecture 7 - Routers ANS </a:t>
            </a:r>
            <a:endParaRPr lang="zh-CN" altLang="en-US" dirty="0"/>
          </a:p>
        </p:txBody>
      </p:sp>
      <p:sp>
        <p:nvSpPr>
          <p:cNvPr id="3" name="Slide Number Placeholder 2">
            <a:extLst>
              <a:ext uri="{FF2B5EF4-FFF2-40B4-BE49-F238E27FC236}">
                <a16:creationId xmlns:a16="http://schemas.microsoft.com/office/drawing/2014/main" id="{79C857FD-2C2F-686D-B411-7454FD6C6BFF}"/>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4" name="Content Placeholder 3">
            <a:extLst>
              <a:ext uri="{FF2B5EF4-FFF2-40B4-BE49-F238E27FC236}">
                <a16:creationId xmlns:a16="http://schemas.microsoft.com/office/drawing/2014/main" id="{7898589E-5174-DA30-FFC3-3F4F89F16945}"/>
              </a:ext>
            </a:extLst>
          </p:cNvPr>
          <p:cNvSpPr>
            <a:spLocks noGrp="1"/>
          </p:cNvSpPr>
          <p:nvPr>
            <p:ph sz="quarter" idx="1"/>
          </p:nvPr>
        </p:nvSpPr>
        <p:spPr>
          <a:xfrm>
            <a:off x="438691" y="1112469"/>
            <a:ext cx="6039546" cy="5516931"/>
          </a:xfrm>
        </p:spPr>
        <p:txBody>
          <a:bodyPr>
            <a:normAutofit fontScale="92500" lnSpcReduction="20000"/>
          </a:bodyPr>
          <a:lstStyle/>
          <a:p>
            <a:r>
              <a:rPr lang="en-US" altLang="zh-CN" sz="1400" b="1" dirty="0"/>
              <a:t>Three rules:</a:t>
            </a:r>
          </a:p>
          <a:p>
            <a:pPr lvl="1"/>
            <a:r>
              <a:rPr lang="en-US" altLang="zh-CN" sz="1200" b="1" dirty="0"/>
              <a:t>Longest Prefix Match (LPM):</a:t>
            </a:r>
            <a:r>
              <a:rPr lang="en-US" altLang="zh-CN" sz="1200" dirty="0"/>
              <a:t> Select the route with the most specific subnet mask (highest /X number).</a:t>
            </a:r>
          </a:p>
          <a:p>
            <a:pPr lvl="1"/>
            <a:r>
              <a:rPr lang="en-US" altLang="zh-CN" sz="1200" b="1" dirty="0"/>
              <a:t>Lowest Cost:</a:t>
            </a:r>
            <a:r>
              <a:rPr lang="en-US" altLang="zh-CN" sz="1200" dirty="0"/>
              <a:t> If multiple routes tie for the longest prefix, choose the one with the lowest cost.</a:t>
            </a:r>
          </a:p>
          <a:p>
            <a:pPr lvl="1"/>
            <a:r>
              <a:rPr lang="en-US" altLang="zh-CN" sz="1200" b="1" dirty="0"/>
              <a:t>Smallest Port Number:</a:t>
            </a:r>
            <a:r>
              <a:rPr lang="en-US" altLang="zh-CN" sz="1200" dirty="0"/>
              <a:t> If costs are also identical, break the tie by choosing the lower port number.</a:t>
            </a:r>
            <a:br>
              <a:rPr lang="en-US" altLang="zh-CN" sz="1200" dirty="0"/>
            </a:br>
            <a:r>
              <a:rPr lang="en-US" altLang="zh-CN" sz="1200" i="1" dirty="0"/>
              <a:t>If no prefixes match, use the Default Route (Port 1).</a:t>
            </a:r>
            <a:endParaRPr lang="en-US" altLang="zh-CN" sz="1200" dirty="0"/>
          </a:p>
          <a:p>
            <a:r>
              <a:rPr lang="nl-NL" altLang="zh-CN" sz="1400" b="1" dirty="0"/>
              <a:t>Q1 (</a:t>
            </a:r>
            <a:r>
              <a:rPr lang="nl-NL" altLang="zh-CN" sz="1400" dirty="0"/>
              <a:t>3.4.0.1</a:t>
            </a:r>
            <a:r>
              <a:rPr lang="nl-NL" altLang="zh-CN" sz="1400" b="1" dirty="0"/>
              <a:t>):</a:t>
            </a:r>
            <a:r>
              <a:rPr lang="nl-NL" altLang="zh-CN" sz="1400" dirty="0"/>
              <a:t> Matches 3.0.0.0/8 (Port 3) and 3.4.0.0/16 (Port 4). Port 4 wins via </a:t>
            </a:r>
            <a:r>
              <a:rPr lang="nl-NL" altLang="zh-CN" sz="1400" b="1" dirty="0"/>
              <a:t>LPM</a:t>
            </a:r>
            <a:r>
              <a:rPr lang="nl-NL" altLang="zh-CN" sz="1400" dirty="0"/>
              <a:t> (/16 is more specific than /8).</a:t>
            </a:r>
          </a:p>
          <a:p>
            <a:r>
              <a:rPr lang="nl-NL" altLang="zh-CN" sz="1400" b="1" dirty="0"/>
              <a:t>Q2 (</a:t>
            </a:r>
            <a:r>
              <a:rPr lang="nl-NL" altLang="zh-CN" sz="1400" dirty="0"/>
              <a:t>4.0.0.1</a:t>
            </a:r>
            <a:r>
              <a:rPr lang="nl-NL" altLang="zh-CN" sz="1400" b="1" dirty="0"/>
              <a:t>):</a:t>
            </a:r>
            <a:r>
              <a:rPr lang="nl-NL" altLang="zh-CN" sz="1400" dirty="0"/>
              <a:t> Ties on LPM between 4.0.0.0/8 on Port 1 (Cost 10) and Port 2 (Cost 8). Port 2 wins via </a:t>
            </a:r>
            <a:r>
              <a:rPr lang="nl-NL" altLang="zh-CN" sz="1400" b="1" dirty="0"/>
              <a:t>Lowest Cost</a:t>
            </a:r>
            <a:r>
              <a:rPr lang="nl-NL" altLang="zh-CN" sz="1400" dirty="0"/>
              <a:t>.  (Such duplicate routing entries should not exist in a real router, since the higher cost route will never be taken.)</a:t>
            </a:r>
          </a:p>
          <a:p>
            <a:r>
              <a:rPr lang="nl-NL" altLang="zh-CN" sz="1400" b="1" dirty="0"/>
              <a:t>Q3 (</a:t>
            </a:r>
            <a:r>
              <a:rPr lang="nl-NL" altLang="zh-CN" sz="1400" dirty="0"/>
              <a:t>2.2.208.1</a:t>
            </a:r>
            <a:r>
              <a:rPr lang="nl-NL" altLang="zh-CN" sz="1400" b="1" dirty="0"/>
              <a:t>):</a:t>
            </a:r>
            <a:r>
              <a:rPr lang="nl-NL" altLang="zh-CN" sz="1400" dirty="0"/>
              <a:t> 208 (11010000 in binary) only matches 2.2.128.0/17 on Port 2 because it successfully checks the first bit (1) of the 3rd octet. It fails the more specific /20 checks, 2.2.192.0/20, 2.2.204.0/20, since 1101 does not match 1100 in the 3rd octet. So Port 2 wins via </a:t>
            </a:r>
            <a:r>
              <a:rPr lang="nl-NL" altLang="zh-CN" sz="1400" b="1" dirty="0"/>
              <a:t>LPM</a:t>
            </a:r>
            <a:r>
              <a:rPr lang="nl-NL" altLang="zh-CN" sz="1400" dirty="0"/>
              <a:t>.</a:t>
            </a:r>
          </a:p>
          <a:p>
            <a:r>
              <a:rPr lang="nl-NL" altLang="zh-CN" sz="1400" b="1" dirty="0"/>
              <a:t>Q4 (</a:t>
            </a:r>
            <a:r>
              <a:rPr lang="nl-NL" altLang="zh-CN" sz="1400" dirty="0"/>
              <a:t>2.3.0.10</a:t>
            </a:r>
            <a:r>
              <a:rPr lang="nl-NL" altLang="zh-CN" sz="1400" b="1" dirty="0"/>
              <a:t>):</a:t>
            </a:r>
            <a:r>
              <a:rPr lang="nl-NL" altLang="zh-CN" sz="1400" dirty="0"/>
              <a:t> Does not match any of the advertised 2.1 or 2.2 prefixes. It falls back to the </a:t>
            </a:r>
            <a:r>
              <a:rPr lang="nl-NL" altLang="zh-CN" sz="1400" b="1" dirty="0"/>
              <a:t>Default Route</a:t>
            </a:r>
            <a:r>
              <a:rPr lang="nl-NL" altLang="zh-CN" sz="1400" dirty="0"/>
              <a:t> on Port 1.</a:t>
            </a:r>
          </a:p>
          <a:p>
            <a:r>
              <a:rPr lang="nl-NL" altLang="zh-CN" sz="1400" b="1" dirty="0"/>
              <a:t>Q5 (</a:t>
            </a:r>
            <a:r>
              <a:rPr lang="nl-NL" altLang="zh-CN" sz="1400" dirty="0"/>
              <a:t>2.2.204.13</a:t>
            </a:r>
            <a:r>
              <a:rPr lang="nl-NL" altLang="zh-CN" sz="1400" b="1" dirty="0"/>
              <a:t>):</a:t>
            </a:r>
            <a:r>
              <a:rPr lang="nl-NL" altLang="zh-CN" sz="1400" dirty="0"/>
              <a:t> 204 (11001100) matches two /20 subnets:, 2.2.192.0/20, 2.2.204.0/20, since they all have 1100 in the 3rd octet. Among Port 1 (Cost 12) and Port 3 (Cost 13), Port 1 wins via </a:t>
            </a:r>
            <a:r>
              <a:rPr lang="nl-NL" altLang="zh-CN" sz="1400" b="1" dirty="0"/>
              <a:t>Lowest Cost</a:t>
            </a:r>
            <a:r>
              <a:rPr lang="nl-NL" altLang="zh-CN" sz="1400" dirty="0"/>
              <a:t>.</a:t>
            </a:r>
          </a:p>
          <a:p>
            <a:r>
              <a:rPr lang="nl-NL" altLang="zh-CN" sz="1400" b="1" dirty="0"/>
              <a:t>Q6 (</a:t>
            </a:r>
            <a:r>
              <a:rPr lang="nl-NL" altLang="zh-CN" sz="1400" dirty="0"/>
              <a:t>1.1.21.7</a:t>
            </a:r>
            <a:r>
              <a:rPr lang="nl-NL" altLang="zh-CN" sz="1400" b="1" dirty="0"/>
              <a:t>):</a:t>
            </a:r>
            <a:r>
              <a:rPr lang="nl-NL" altLang="zh-CN" sz="1400" dirty="0"/>
              <a:t> Ties on LPM between two 1.1.0.0/16 routes with equal costs (Cost 8 on both Port 2 and Port 4). Port 2 wins via the </a:t>
            </a:r>
            <a:r>
              <a:rPr lang="nl-NL" altLang="zh-CN" sz="1400" b="1" dirty="0"/>
              <a:t>Smallest Port Number</a:t>
            </a:r>
            <a:r>
              <a:rPr lang="nl-NL" altLang="zh-CN" sz="1400" dirty="0"/>
              <a:t> tie-breaker. .  (Such duplicate routing entries should not exist in a real router.)</a:t>
            </a:r>
          </a:p>
          <a:p>
            <a:r>
              <a:rPr lang="nl-NL" altLang="zh-CN" sz="1400" b="1" dirty="0"/>
              <a:t>Q7 (</a:t>
            </a:r>
            <a:r>
              <a:rPr lang="nl-NL" altLang="zh-CN" sz="1400" dirty="0"/>
              <a:t>2.2.96.22</a:t>
            </a:r>
            <a:r>
              <a:rPr lang="nl-NL" altLang="zh-CN" sz="1400" b="1" dirty="0"/>
              <a:t>):</a:t>
            </a:r>
            <a:r>
              <a:rPr lang="nl-NL" altLang="zh-CN" sz="1400" dirty="0"/>
              <a:t> 96 (01100000) matches two overlapping /17 routes 2.2.96.0/17, 2.2.0.0/17, (not 2.2.128.0/17), since both check that the first bit is 0: Port 1 (Cost 15) and Port 4 (Cost 14). Port 4 wins via </a:t>
            </a:r>
            <a:r>
              <a:rPr lang="nl-NL" altLang="zh-CN" sz="1400" b="1" dirty="0"/>
              <a:t>Lowest Cost</a:t>
            </a:r>
            <a:r>
              <a:rPr lang="nl-NL" altLang="zh-CN" sz="1400" dirty="0"/>
              <a:t>.</a:t>
            </a:r>
            <a:endParaRPr lang="zh-CN" altLang="en-US" sz="1400" dirty="0"/>
          </a:p>
        </p:txBody>
      </p:sp>
      <p:pic>
        <p:nvPicPr>
          <p:cNvPr id="6" name="Picture 5">
            <a:extLst>
              <a:ext uri="{FF2B5EF4-FFF2-40B4-BE49-F238E27FC236}">
                <a16:creationId xmlns:a16="http://schemas.microsoft.com/office/drawing/2014/main" id="{B9181E7A-A71E-D937-D984-AB8CCC45FB8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7" name="Picture 6"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550FF61E-5093-0B9F-DCAA-D5E7C117342C}"/>
              </a:ext>
            </a:extLst>
          </p:cNvPr>
          <p:cNvPicPr>
            <a:picLocks noChangeAspect="1"/>
          </p:cNvPicPr>
          <p:nvPr/>
        </p:nvPicPr>
        <p:blipFill>
          <a:blip r:embed="rId4"/>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195982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8901-F909-60AE-510F-982507237807}"/>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E66A2D49-5613-E0ED-43E3-DEDE2A56625B}"/>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47270AD2-072F-B3D6-BBA9-F8977A6EEED1}"/>
              </a:ext>
            </a:extLst>
          </p:cNvPr>
          <p:cNvSpPr>
            <a:spLocks noGrp="1"/>
          </p:cNvSpPr>
          <p:nvPr>
            <p:ph sz="quarter" idx="1"/>
          </p:nvPr>
        </p:nvSpPr>
        <p:spPr>
          <a:xfrm>
            <a:off x="609600" y="1219200"/>
            <a:ext cx="8458200" cy="4937760"/>
          </a:xfrm>
        </p:spPr>
        <p:txBody>
          <a:bodyPr>
            <a:normAutofit fontScale="92500" lnSpcReduction="10000"/>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r>
              <a:rPr lang="en-US" altLang="zh-CN" dirty="0"/>
              <a:t>ANS: First row and third row: stay the same.</a:t>
            </a:r>
          </a:p>
          <a:p>
            <a:r>
              <a:rPr lang="en-US" altLang="zh-CN" dirty="0"/>
              <a:t>Second row:  We want to use a prefix that allows for both IP prefixes 128.1.1.0/24 and 128.1.2.0/24 to map to port 2. We see that bits 17 to 24 (3rd octet from the left) for both prefixes are </a:t>
            </a:r>
            <a:r>
              <a:rPr lang="en-US" altLang="zh-CN" dirty="0">
                <a:solidFill>
                  <a:srgbClr val="C00000"/>
                </a:solidFill>
              </a:rPr>
              <a:t>000000</a:t>
            </a:r>
            <a:r>
              <a:rPr lang="en-US" altLang="zh-CN" dirty="0"/>
              <a:t>01 and </a:t>
            </a:r>
            <a:r>
              <a:rPr lang="en-US" altLang="zh-CN" dirty="0">
                <a:solidFill>
                  <a:srgbClr val="C00000"/>
                </a:solidFill>
              </a:rPr>
              <a:t>00000</a:t>
            </a:r>
            <a:r>
              <a:rPr lang="en-US" altLang="zh-CN" dirty="0"/>
              <a:t>10, respectively. Therefore, bits 1 to 22 are the same for the two IP addresses, so we can have the IP prefix 128.1.0.0/22.</a:t>
            </a:r>
          </a:p>
          <a:p>
            <a:endParaRPr lang="en-US" altLang="zh-CN" dirty="0"/>
          </a:p>
          <a:p>
            <a:endParaRPr lang="zh-CN" altLang="en-US" dirty="0"/>
          </a:p>
        </p:txBody>
      </p:sp>
      <p:graphicFrame>
        <p:nvGraphicFramePr>
          <p:cNvPr id="29" name="Table 28">
            <a:extLst>
              <a:ext uri="{FF2B5EF4-FFF2-40B4-BE49-F238E27FC236}">
                <a16:creationId xmlns:a16="http://schemas.microsoft.com/office/drawing/2014/main" id="{5F5D4238-D683-90E7-255A-FF93233591AE}"/>
              </a:ext>
            </a:extLst>
          </p:cNvPr>
          <p:cNvGraphicFramePr>
            <a:graphicFrameLocks noGrp="1"/>
          </p:cNvGraphicFramePr>
          <p:nvPr>
            <p:extLst>
              <p:ext uri="{D42A27DB-BD31-4B8C-83A1-F6EECF244321}">
                <p14:modId xmlns:p14="http://schemas.microsoft.com/office/powerpoint/2010/main" val="2871742437"/>
              </p:ext>
            </p:extLst>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6029B872-B028-244A-1F2B-BA14C64C39BF}"/>
              </a:ext>
            </a:extLst>
          </p:cNvPr>
          <p:cNvGraphicFramePr>
            <a:graphicFrameLocks noGrp="1"/>
          </p:cNvGraphicFramePr>
          <p:nvPr>
            <p:extLst>
              <p:ext uri="{D42A27DB-BD31-4B8C-83A1-F6EECF244321}">
                <p14:modId xmlns:p14="http://schemas.microsoft.com/office/powerpoint/2010/main" val="1315702745"/>
              </p:ext>
            </p:extLst>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128.1.1.0/22</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6635C8D5-1A18-520F-3135-9B75AC940F29}"/>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29120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41044-9A12-0D59-6F43-8C089993F44F}"/>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001A7362-5229-4C4D-D0FA-5572D2A3E8C6}"/>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DCD37A3C-D01C-5356-3FA6-0E7057463CE6}"/>
              </a:ext>
            </a:extLst>
          </p:cNvPr>
          <p:cNvSpPr>
            <a:spLocks noGrp="1"/>
          </p:cNvSpPr>
          <p:nvPr>
            <p:ph sz="quarter" idx="1"/>
          </p:nvPr>
        </p:nvSpPr>
        <p:spPr>
          <a:xfrm>
            <a:off x="609600" y="1219200"/>
            <a:ext cx="112014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A binary </a:t>
            </a:r>
            <a:r>
              <a:rPr lang="en-US" altLang="zh-CN" dirty="0" err="1"/>
              <a:t>trie</a:t>
            </a:r>
            <a:r>
              <a:rPr lang="en-US" altLang="zh-CN" dirty="0"/>
              <a:t> for IP prefixes branches one bit per level. Therefore, the height = length of the longest prefix. Given prefixes</a:t>
            </a:r>
          </a:p>
          <a:p>
            <a:r>
              <a:rPr lang="en-US" altLang="zh-CN" dirty="0"/>
              <a:t>17.0.0.0/8, 17.1.0.0/16, 17.1.1.0/24</a:t>
            </a:r>
          </a:p>
          <a:p>
            <a:r>
              <a:rPr lang="en-US" altLang="zh-CN" dirty="0"/>
              <a:t>The longest prefix is /24, so: Height = 24.</a:t>
            </a:r>
          </a:p>
          <a:p>
            <a:r>
              <a:rPr lang="en-US" altLang="zh-CN" dirty="0"/>
              <a:t>The </a:t>
            </a:r>
            <a:r>
              <a:rPr lang="en-US" altLang="zh-CN" dirty="0" err="1"/>
              <a:t>trie</a:t>
            </a:r>
            <a:r>
              <a:rPr lang="en-US" altLang="zh-CN" dirty="0"/>
              <a:t> is one long path (no branching), because each prefix extends the previous one. /8 is a prefix of /16; /16 is a prefix of /24. (See next page for picture drawing, which is optional.)</a:t>
            </a:r>
            <a:endParaRPr lang="zh-CN" altLang="en-US" dirty="0"/>
          </a:p>
        </p:txBody>
      </p:sp>
      <p:sp>
        <p:nvSpPr>
          <p:cNvPr id="5" name="Rectangle 4">
            <a:extLst>
              <a:ext uri="{FF2B5EF4-FFF2-40B4-BE49-F238E27FC236}">
                <a16:creationId xmlns:a16="http://schemas.microsoft.com/office/drawing/2014/main" id="{77534E22-F33C-734C-9BFF-155639F20F2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532065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BD13E-1E4D-C1E4-004D-C0CBAE2B5701}"/>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FB2FF155-EDCC-339E-00FA-E41F07D7BC49}"/>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F79D6723-9D1A-B482-BF23-8BBF193ED242}"/>
              </a:ext>
            </a:extLst>
          </p:cNvPr>
          <p:cNvSpPr>
            <a:spLocks noGrp="1"/>
          </p:cNvSpPr>
          <p:nvPr>
            <p:ph sz="quarter" idx="1"/>
          </p:nvPr>
        </p:nvSpPr>
        <p:spPr/>
        <p:txBody>
          <a:bodyPr/>
          <a:lstStyle/>
          <a:p>
            <a:endParaRPr lang="zh-CN" altLang="en-US" dirty="0"/>
          </a:p>
        </p:txBody>
      </p:sp>
      <p:pic>
        <p:nvPicPr>
          <p:cNvPr id="4099" name="Picture 3" descr="The diagram illustrates the initial step in constructing a trie data structure, starting with a common prefix of '17' and indicating the first eight bits for the prefix matching '17.0.0.0/8'.&#10;&#10;AI-generated content may be incorrect.">
            <a:extLst>
              <a:ext uri="{FF2B5EF4-FFF2-40B4-BE49-F238E27FC236}">
                <a16:creationId xmlns:a16="http://schemas.microsoft.com/office/drawing/2014/main" id="{D08BD919-B808-A43A-9E87-F407065B17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1009" y="1219200"/>
            <a:ext cx="3276600" cy="512975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The image displays a technical configuration process, showing an extension of a network chain to /16, detailing the bits used for the second octet and confirming the extension matches the specified network.&#10;&#10;AI-generated content may be incorrect.">
            <a:extLst>
              <a:ext uri="{FF2B5EF4-FFF2-40B4-BE49-F238E27FC236}">
                <a16:creationId xmlns:a16="http://schemas.microsoft.com/office/drawing/2014/main" id="{A294DCC9-D163-18EA-5D59-1F3F37FAE2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3809" y="1219200"/>
            <a:ext cx="2938492" cy="50691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descr="The image depicts a network configuration step, specifically extending a subnet to /24 with an IP address of 17.1.1.0, and it includes details about the third octet and subnet depth.&#10;&#10;AI-generated content may be incorrect.">
            <a:extLst>
              <a:ext uri="{FF2B5EF4-FFF2-40B4-BE49-F238E27FC236}">
                <a16:creationId xmlns:a16="http://schemas.microsoft.com/office/drawing/2014/main" id="{D030889B-834B-2EA4-17BE-20F58A7C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8600" y="1219200"/>
            <a:ext cx="2655751" cy="508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0601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D8DE6-F902-445F-AFFF-1B1450CB4FCD}"/>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12900808-9008-CA97-4D0A-5F31262F88D7}"/>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a:extLst>
              <a:ext uri="{FF2B5EF4-FFF2-40B4-BE49-F238E27FC236}">
                <a16:creationId xmlns:a16="http://schemas.microsoft.com/office/drawing/2014/main" id="{AA668573-5006-3407-8DE1-C0206091C6A2}"/>
              </a:ext>
            </a:extLst>
          </p:cNvPr>
          <p:cNvSpPr>
            <a:spLocks noGrp="1"/>
          </p:cNvSpPr>
          <p:nvPr>
            <p:ph sz="quarter" idx="1"/>
          </p:nvPr>
        </p:nvSpPr>
        <p:spPr>
          <a:xfrm>
            <a:off x="609600" y="1219200"/>
            <a:ext cx="11125200" cy="4937760"/>
          </a:xfrm>
        </p:spPr>
        <p:txBody>
          <a:bodyPr>
            <a:normAutofit/>
          </a:bodyPr>
          <a:lstStyle/>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Trie height = length of the longest prefix. Given prefixes: 17.0.0.0/8, 18.0.0.0/8. The longest prefix is /8, so: Height = 8.</a:t>
            </a:r>
          </a:p>
          <a:p>
            <a:r>
              <a:rPr lang="en-US" altLang="zh-CN" dirty="0"/>
              <a:t>Convert first octet to binary: 17 = </a:t>
            </a:r>
            <a:r>
              <a:rPr lang="en-US" altLang="zh-CN" dirty="0">
                <a:solidFill>
                  <a:srgbClr val="C00000"/>
                </a:solidFill>
              </a:rPr>
              <a:t>000100</a:t>
            </a:r>
            <a:r>
              <a:rPr lang="en-US" altLang="zh-CN" dirty="0"/>
              <a:t>01, 18 = </a:t>
            </a:r>
            <a:r>
              <a:rPr lang="en-US" altLang="zh-CN" dirty="0">
                <a:solidFill>
                  <a:srgbClr val="C00000"/>
                </a:solidFill>
              </a:rPr>
              <a:t>000100</a:t>
            </a:r>
            <a:r>
              <a:rPr lang="en-US" altLang="zh-CN" dirty="0"/>
              <a:t>10.  They share the first 6 bits, then split at the 7th bit. </a:t>
            </a:r>
          </a:p>
          <a:p>
            <a:pPr lvl="1"/>
            <a:r>
              <a:rPr lang="en-US" altLang="zh-CN" dirty="0"/>
              <a:t>First 6 levels: shared path.  At level 7: branch (0 vs 1).  Then each continues to depth 8. (Picture drawing is optional.)</a:t>
            </a:r>
          </a:p>
          <a:p>
            <a:endParaRPr lang="en-US" altLang="zh-CN" dirty="0"/>
          </a:p>
          <a:p>
            <a:endParaRPr lang="en-US" altLang="zh-CN" dirty="0"/>
          </a:p>
          <a:p>
            <a:endParaRPr lang="zh-CN" altLang="en-US" dirty="0"/>
          </a:p>
        </p:txBody>
      </p:sp>
    </p:spTree>
    <p:extLst>
      <p:ext uri="{BB962C8B-B14F-4D97-AF65-F5344CB8AC3E}">
        <p14:creationId xmlns:p14="http://schemas.microsoft.com/office/powerpoint/2010/main" val="1816582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AADF-F42C-D1D8-3A09-2FD7E9AC1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7DC1E-9256-DB6E-170A-A168DEA8106A}"/>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0F23157D-7D0B-29CE-89BD-216D38E8DBF5}"/>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5B2886A-338B-231A-59F1-410C6F0D8C57}"/>
              </a:ext>
            </a:extLst>
          </p:cNvPr>
          <p:cNvSpPr>
            <a:spLocks noGrp="1"/>
          </p:cNvSpPr>
          <p:nvPr>
            <p:ph sz="quarter" idx="1"/>
          </p:nvPr>
        </p:nvSpPr>
        <p:spPr>
          <a:xfrm>
            <a:off x="601038" y="1134140"/>
            <a:ext cx="5597855" cy="5638800"/>
          </a:xfrm>
        </p:spPr>
        <p:txBody>
          <a:bodyPr>
            <a:normAutofit fontScale="55000" lnSpcReduction="20000"/>
          </a:bodyPr>
          <a:lstStyle/>
          <a:p>
            <a:r>
              <a:rPr lang="en-US" altLang="zh-CN" dirty="0"/>
              <a:t>Q1 Source AS1, destination AS3.</a:t>
            </a:r>
          </a:p>
          <a:p>
            <a:pPr lvl="1"/>
            <a:r>
              <a:rPr lang="en-US" altLang="zh-CN" sz="2500" dirty="0"/>
              <a:t>ANS: There are two possible paths:</a:t>
            </a:r>
            <a:endParaRPr lang="zh-CN" altLang="zh-CN" sz="2500" dirty="0"/>
          </a:p>
          <a:p>
            <a:pPr lvl="1"/>
            <a:r>
              <a:rPr lang="en-US" altLang="zh-CN" sz="2500" dirty="0"/>
              <a:t>AS1 → AS2 → AS3: This path </a:t>
            </a:r>
            <a:r>
              <a:rPr lang="en-US" altLang="zh-CN" sz="2500" b="1" dirty="0"/>
              <a:t>works</a:t>
            </a:r>
            <a:r>
              <a:rPr lang="en-US" altLang="zh-CN" sz="2500" dirty="0"/>
              <a:t> because the intermediate AS AS2 has a customer neighbor AS3 along that path. In other words, AS3 will advertise to AS2, and AS2 will advertise to AS1, creating the path.</a:t>
            </a:r>
            <a:endParaRPr lang="zh-CN" altLang="zh-CN" sz="2500" dirty="0"/>
          </a:p>
          <a:p>
            <a:pPr lvl="1"/>
            <a:r>
              <a:rPr lang="en-US" altLang="zh-CN" sz="2500" dirty="0"/>
              <a:t>AS1 → AS2 → AS5 → AS4 → AS3: This path </a:t>
            </a:r>
            <a:r>
              <a:rPr lang="en-US" altLang="zh-CN" sz="2500" b="1" dirty="0"/>
              <a:t>does not work</a:t>
            </a:r>
            <a:r>
              <a:rPr lang="en-US" altLang="zh-CN" sz="2500" dirty="0"/>
              <a:t> because AS2 does not have a customer neighbor along that path (both neighbors are peers).</a:t>
            </a:r>
            <a:endParaRPr lang="zh-CN" altLang="zh-CN" dirty="0"/>
          </a:p>
          <a:p>
            <a:r>
              <a:rPr lang="en-US" altLang="zh-CN" dirty="0"/>
              <a:t>Q2 Source AS1, destination AS4.</a:t>
            </a:r>
          </a:p>
          <a:p>
            <a:pPr lvl="1"/>
            <a:r>
              <a:rPr lang="en-US" altLang="zh-CN" sz="2500" dirty="0"/>
              <a:t>ANS: There are two possible paths:</a:t>
            </a:r>
            <a:endParaRPr lang="zh-CN" altLang="zh-CN" sz="2500" dirty="0"/>
          </a:p>
          <a:p>
            <a:pPr lvl="1"/>
            <a:r>
              <a:rPr lang="en-US" altLang="zh-CN" sz="2500" dirty="0"/>
              <a:t>AS1 → AS2 → AS3 → AS4: This path </a:t>
            </a:r>
            <a:r>
              <a:rPr lang="en-US" altLang="zh-CN" sz="2500" b="1" dirty="0"/>
              <a:t>does not work</a:t>
            </a:r>
            <a:r>
              <a:rPr lang="en-US" altLang="zh-CN" sz="2500" dirty="0"/>
              <a:t> because AS3 does not have a customer neighbor along that path.</a:t>
            </a:r>
            <a:endParaRPr lang="zh-CN" altLang="zh-CN" sz="2500" dirty="0"/>
          </a:p>
          <a:p>
            <a:pPr lvl="1"/>
            <a:r>
              <a:rPr lang="en-US" altLang="zh-CN" sz="2500" dirty="0"/>
              <a:t>AS1 → AS2 → AS5 → AS4: This path</a:t>
            </a:r>
            <a:r>
              <a:rPr lang="en-US" altLang="zh-CN" sz="2500" b="1" dirty="0"/>
              <a:t> does not work</a:t>
            </a:r>
            <a:r>
              <a:rPr lang="en-US" altLang="zh-CN" sz="2500" dirty="0"/>
              <a:t> because AS2 does not have a customer neighbor along that path.</a:t>
            </a:r>
            <a:endParaRPr lang="zh-CN" altLang="zh-CN" sz="2500" dirty="0"/>
          </a:p>
          <a:p>
            <a:pPr lvl="1"/>
            <a:r>
              <a:rPr lang="en-US" altLang="zh-CN" sz="2500" dirty="0"/>
              <a:t>Since none of the paths are valid, it’s not possible to send packets from AS1 to AS4.</a:t>
            </a:r>
            <a:endParaRPr lang="zh-CN" altLang="zh-CN" sz="2500" dirty="0"/>
          </a:p>
          <a:p>
            <a:r>
              <a:rPr lang="en-US" altLang="zh-CN" dirty="0"/>
              <a:t>Q3 Source AS2, destination AS4.</a:t>
            </a:r>
          </a:p>
          <a:p>
            <a:pPr lvl="1"/>
            <a:r>
              <a:rPr lang="en-US" altLang="zh-CN" sz="2500" dirty="0"/>
              <a:t>ANS: There are two possible paths:</a:t>
            </a:r>
            <a:endParaRPr lang="zh-CN" altLang="zh-CN" sz="2500" dirty="0"/>
          </a:p>
          <a:p>
            <a:pPr lvl="1"/>
            <a:r>
              <a:rPr lang="en-US" altLang="zh-CN" sz="2500" dirty="0"/>
              <a:t>AS2 → AS3 → AS4: This path </a:t>
            </a:r>
            <a:r>
              <a:rPr lang="en-US" altLang="zh-CN" sz="2500" b="1" dirty="0"/>
              <a:t>doesn’t work</a:t>
            </a:r>
            <a:r>
              <a:rPr lang="en-US" altLang="zh-CN" sz="2500" dirty="0"/>
              <a:t> because AS3 does not have a customer neighbor along that path.</a:t>
            </a:r>
            <a:endParaRPr lang="zh-CN" altLang="zh-CN" sz="2500" dirty="0"/>
          </a:p>
          <a:p>
            <a:pPr lvl="1"/>
            <a:r>
              <a:rPr lang="en-US" altLang="zh-CN" sz="2500" dirty="0"/>
              <a:t>AS2 → AS5 → AS4: This path </a:t>
            </a:r>
            <a:r>
              <a:rPr lang="en-US" altLang="zh-CN" sz="2500" b="1" dirty="0"/>
              <a:t>works</a:t>
            </a:r>
            <a:r>
              <a:rPr lang="en-US" altLang="zh-CN" sz="2500" dirty="0"/>
              <a:t> because AS5 has a customer neighbor AS4 along that path. In other words, AS4 will advertise to AS5, and AS5 will advertise to AS2, creating the path..</a:t>
            </a:r>
            <a:endParaRPr lang="zh-CN" altLang="zh-CN" sz="2500" dirty="0"/>
          </a:p>
        </p:txBody>
      </p:sp>
      <p:grpSp>
        <p:nvGrpSpPr>
          <p:cNvPr id="5" name="Group 4">
            <a:extLst>
              <a:ext uri="{FF2B5EF4-FFF2-40B4-BE49-F238E27FC236}">
                <a16:creationId xmlns:a16="http://schemas.microsoft.com/office/drawing/2014/main" id="{192768B5-25EE-4CEF-8B2C-CCED0E6977F7}"/>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CDF39439-CC4D-8813-CFE1-12C37FE2DCB9}"/>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9C9BD508-C5CF-1A38-B46E-BDBA14B52B07}"/>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52E8BD3E-1786-C351-75E0-6F0CB75DCE1E}"/>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00DD0E43-44D1-365D-9024-BF5312AEA99B}"/>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25360265-EEE6-F8EA-A5AA-B7E83FB299DA}"/>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98F4FC3-A361-ADAD-FE79-5148B3623C90}"/>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B2B42E84-9DF8-2E78-04EE-0D25A877DDF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45828D98-7505-5DCB-D4BC-F0AA75802BAA}"/>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71B21A46-D8A3-B6CC-F428-3A34BC0B69AD}"/>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094B7D0D-FFDF-5B9C-FAA3-27C359E3FF2A}"/>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568592C0-A74C-945E-A02B-7CD9863F9958}"/>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85A002F0-B749-3E7E-79E4-790E287014A9}"/>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AFCC0923-BDE0-148C-FE59-54908566EA2C}"/>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D9E3B5B3-10CC-9C8D-DC9D-C11EA2794ED2}"/>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41942EA4-9208-8427-4661-B6AAC5952BB7}"/>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F28B192A-CD6A-F303-756D-8758B6409F15}"/>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0D2AAE47-3900-6749-7D09-0306089C637D}"/>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DD67C100-044B-C0E7-39CC-1FCE1CEF7CC8}"/>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E196DC5F-53F0-57E5-9213-4D1E1AECBC3A}"/>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FA177386-22F1-8EF0-9D89-894F7C0E50BF}"/>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A310E2AC-13A1-B28B-79CE-5CC024AD03D3}"/>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B7DCEC59-86B6-C995-29F7-1D6E2368ADE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CE15D38F-AF59-EB0A-6285-D1F114649AC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50230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0F24B-15AB-62C1-6ED5-3DF512DCD8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FD4-E042-A4AD-845F-A8A0149DC62C}"/>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6DA298C8-0448-CA79-2714-FB85B8A8262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7D64087-EBB0-2620-B299-7F81531E61D0}"/>
              </a:ext>
            </a:extLst>
          </p:cNvPr>
          <p:cNvSpPr>
            <a:spLocks noGrp="1"/>
          </p:cNvSpPr>
          <p:nvPr>
            <p:ph sz="quarter" idx="1"/>
          </p:nvPr>
        </p:nvSpPr>
        <p:spPr>
          <a:xfrm>
            <a:off x="601038" y="1134140"/>
            <a:ext cx="5597855" cy="5638800"/>
          </a:xfrm>
        </p:spPr>
        <p:txBody>
          <a:bodyPr>
            <a:normAutofit fontScale="77500" lnSpcReduction="20000"/>
          </a:bodyPr>
          <a:lstStyle/>
          <a:p>
            <a:r>
              <a:rPr lang="en-US" altLang="zh-CN" dirty="0"/>
              <a:t>Q4 Why is reachability not guaranteed in this AS graph? </a:t>
            </a:r>
          </a:p>
          <a:p>
            <a:pPr lvl="1"/>
            <a:r>
              <a:rPr lang="en-US" altLang="zh-CN" dirty="0"/>
              <a:t>ANS: One of the requirements for reachability is that all Tier 1 </a:t>
            </a:r>
            <a:r>
              <a:rPr lang="en-US" altLang="zh-CN" dirty="0" err="1"/>
              <a:t>ASes</a:t>
            </a:r>
            <a:r>
              <a:rPr lang="en-US" altLang="zh-CN" dirty="0"/>
              <a:t> (with no provider) form a fully connected peering clique. However, this graph does not meet this requirement, e.g.  AS1 is not connected to AS6.</a:t>
            </a:r>
            <a:endParaRPr lang="zh-CN" altLang="zh-CN" dirty="0"/>
          </a:p>
          <a:p>
            <a:r>
              <a:rPr lang="en-US" altLang="zh-CN" dirty="0"/>
              <a:t>Q5 On the graph below, draw at most 3 extra links, such that the resulting AS graph provides reachability.</a:t>
            </a:r>
          </a:p>
          <a:p>
            <a:pPr lvl="1"/>
            <a:r>
              <a:rPr lang="en-US" altLang="zh-CN" sz="2500" dirty="0"/>
              <a:t>The simplest solution is to connect all the Tier 1 </a:t>
            </a:r>
            <a:r>
              <a:rPr lang="en-US" altLang="zh-CN" sz="2500" dirty="0" err="1"/>
              <a:t>ASes</a:t>
            </a:r>
            <a:r>
              <a:rPr lang="en-US" altLang="zh-CN" sz="2500" dirty="0"/>
              <a:t> to every other Tier 1 AS:</a:t>
            </a:r>
            <a:endParaRPr lang="zh-CN" altLang="zh-CN" sz="2500" dirty="0"/>
          </a:p>
          <a:p>
            <a:pPr lvl="1"/>
            <a:r>
              <a:rPr lang="en-US" altLang="zh-CN" sz="2500" dirty="0"/>
              <a:t>Peering link from AS1–AS5</a:t>
            </a:r>
            <a:endParaRPr lang="zh-CN" altLang="zh-CN" sz="2500" dirty="0"/>
          </a:p>
          <a:p>
            <a:pPr lvl="1"/>
            <a:r>
              <a:rPr lang="en-US" altLang="zh-CN" sz="2500" dirty="0"/>
              <a:t>Peering link from AS1–AS6</a:t>
            </a:r>
            <a:endParaRPr lang="zh-CN" altLang="zh-CN" sz="2500" dirty="0"/>
          </a:p>
          <a:p>
            <a:pPr lvl="1"/>
            <a:r>
              <a:rPr lang="en-US" altLang="zh-CN" sz="2500" dirty="0"/>
              <a:t>Peering link from AS2–AS6</a:t>
            </a:r>
            <a:endParaRPr lang="zh-CN" altLang="zh-CN" sz="2500" dirty="0"/>
          </a:p>
          <a:p>
            <a:pPr lvl="1"/>
            <a:r>
              <a:rPr lang="en-US" altLang="zh-CN" sz="2500" dirty="0"/>
              <a:t>Alternate solutions may exist, although they would not be able to use the conditions from lecture to prove reachability. For these alternate solutions, you would have to manually check all pairs of </a:t>
            </a:r>
            <a:r>
              <a:rPr lang="en-US" altLang="zh-CN" sz="2500" dirty="0" err="1"/>
              <a:t>ASes</a:t>
            </a:r>
            <a:r>
              <a:rPr lang="en-US" altLang="zh-CN" sz="2500" dirty="0"/>
              <a:t> to ensure that there is a valid path between every pair of </a:t>
            </a:r>
            <a:r>
              <a:rPr lang="en-US" altLang="zh-CN" sz="2500" dirty="0" err="1"/>
              <a:t>ASes</a:t>
            </a:r>
            <a:r>
              <a:rPr lang="en-US" altLang="zh-CN" sz="2500" dirty="0"/>
              <a:t>.</a:t>
            </a:r>
            <a:endParaRPr lang="zh-CN" altLang="zh-CN" sz="2500" dirty="0"/>
          </a:p>
        </p:txBody>
      </p:sp>
      <p:grpSp>
        <p:nvGrpSpPr>
          <p:cNvPr id="5" name="Group 4">
            <a:extLst>
              <a:ext uri="{FF2B5EF4-FFF2-40B4-BE49-F238E27FC236}">
                <a16:creationId xmlns:a16="http://schemas.microsoft.com/office/drawing/2014/main" id="{C7BF3567-4219-C1FC-CB8B-B2E4492C2E5E}"/>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2E48B66B-9936-9FBA-C698-CA008119D95E}"/>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4CFC08B5-BC74-3899-3BFE-C922E9B34DF2}"/>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9804BE0D-B1F3-DAD8-1F15-F75D9CB15D1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11DD7BB8-746D-F977-75C2-DFED2EAAA078}"/>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B33CC70B-E982-5184-684C-C5DF3F47ADEE}"/>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E3C1409-5CFE-C13A-2F09-1FE6F05A0EB6}"/>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D60E5596-C5B6-114B-7A9B-E67F532E80F0}"/>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B03B72FF-FEF8-12F8-B66A-BFB74F80B223}"/>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AC94A516-09DA-AD41-8827-FF6919FA5949}"/>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C6D26A1E-057F-B70E-EABC-674F6AC80349}"/>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98DA29D3-10A7-02FF-DC16-5095D666B07F}"/>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09995E31-6485-A0BA-3D89-F4E31434A921}"/>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9954B5CB-F807-2219-FF8C-86F175031E34}"/>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86656EB8-133C-C297-814B-356253B05236}"/>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733E617-3028-0FEF-8F41-1A20EA460FF4}"/>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9C310F5A-456E-3999-5103-7FA372B04823}"/>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C8686791-03B1-598C-F1C4-4DF57A81A864}"/>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28DCDF08-272D-AE52-6967-FE7383B4AD65}"/>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6176C586-C417-891F-616A-796B39A9C8CF}"/>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8D0243CF-4047-37C2-1BCB-5E2B27623D9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3FD43D47-135E-D824-08AD-19F54534695B}"/>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CCD5DAD6-89D5-9B69-693B-5CA8232D263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37D781AC-2EA0-329B-10C5-080741D86650}"/>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9048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4674</TotalTime>
  <Words>5603</Words>
  <Application>Microsoft Office PowerPoint</Application>
  <PresentationFormat>Widescreen</PresentationFormat>
  <Paragraphs>403</Paragraphs>
  <Slides>27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Arial</vt:lpstr>
      <vt:lpstr>Bookman Old Style</vt:lpstr>
      <vt:lpstr>Calibri</vt:lpstr>
      <vt:lpstr>Cambria Math</vt:lpstr>
      <vt:lpstr>Gill Sans MT</vt:lpstr>
      <vt:lpstr>Quattrocento Sans</vt:lpstr>
      <vt:lpstr>Times New Roman</vt:lpstr>
      <vt:lpstr>Wingdings</vt:lpstr>
      <vt:lpstr>Wingdings 3</vt:lpstr>
      <vt:lpstr>Origin</vt:lpstr>
      <vt:lpstr>Z. Gu</vt:lpstr>
      <vt:lpstr>Lecture 3 - Links</vt:lpstr>
      <vt:lpstr>Lecture 3 - Links ANS</vt:lpstr>
      <vt:lpstr>Lecture 5.1 Shortest Paths Algorithms</vt:lpstr>
      <vt:lpstr>Lecture 5.1 Shortest Paths Algorithms ANS</vt:lpstr>
      <vt:lpstr>Lecture 5.2 - Distance-Vector</vt:lpstr>
      <vt:lpstr>Lecture 5.2 - Distance-Vector ANS</vt:lpstr>
      <vt:lpstr>Lecture 5.3 - Link-State</vt:lpstr>
      <vt:lpstr>Lecture 5.3 - Link-State ANS</vt:lpstr>
      <vt:lpstr>Lecture 5.3 - Link-State ANS</vt:lpstr>
      <vt:lpstr>Lecture 5.3 - Link-State ANS</vt:lpstr>
      <vt:lpstr>Lecture 5.3 - Link-State ANS</vt:lpstr>
      <vt:lpstr>Lecture 6 - IP Addressing </vt:lpstr>
      <vt:lpstr>Lecture 6 - IP Addressing ANS</vt:lpstr>
      <vt:lpstr>Lecture 6 - IP Addressing ANS Details</vt:lpstr>
      <vt:lpstr>Lecture 6 - IP Addressing ANS Details</vt:lpstr>
      <vt:lpstr>Lecture 7 - Routers</vt:lpstr>
      <vt:lpstr>Lecture 7 - Routers ANS </vt:lpstr>
      <vt:lpstr>Lecture 7 – Routers 2</vt:lpstr>
      <vt:lpstr>Lecture 7 – Routers 2</vt:lpstr>
      <vt:lpstr>Lecture 7 – Routers 2 ANS</vt:lpstr>
      <vt:lpstr>Lecture 7 – Routers 2 ANS</vt:lpstr>
      <vt:lpstr>Lecture 7 – Routers 2 ANS</vt:lpstr>
      <vt:lpstr>Lecture 7 – Routers 2 ANS</vt:lpstr>
      <vt:lpstr>Lecture 8 - Inter-Domain Routing</vt:lpstr>
      <vt:lpstr>Lecture 8 - Inter-Domain Routing ANS</vt:lpstr>
      <vt:lpstr>Lecture 8 - Inter-Domain Routing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265</cp:revision>
  <cp:lastPrinted>2018-02-28T12:51:32Z</cp:lastPrinted>
  <dcterms:created xsi:type="dcterms:W3CDTF">2014-02-09T17:12:51Z</dcterms:created>
  <dcterms:modified xsi:type="dcterms:W3CDTF">2026-03-31T21:10:48Z</dcterms:modified>
</cp:coreProperties>
</file>