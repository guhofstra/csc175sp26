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embeddedFontLst>
    <p:embeddedFont>
      <p:font typeface="Roboto Medium"/>
      <p:regular r:id="rId52"/>
      <p:bold r:id="rId53"/>
      <p:italic r:id="rId54"/>
      <p:boldItalic r:id="rId55"/>
    </p:embeddedFont>
    <p:embeddedFont>
      <p:font typeface="Roboto"/>
      <p:regular r:id="rId56"/>
      <p:bold r:id="rId57"/>
      <p:italic r:id="rId58"/>
      <p:boldItalic r:id="rId59"/>
    </p:embeddedFont>
    <p:embeddedFont>
      <p:font typeface="Roboto Light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Light-italic.fntdata"/><Relationship Id="rId61" Type="http://schemas.openxmlformats.org/officeDocument/2006/relationships/font" Target="fonts/RobotoLight-bold.fntdata"/><Relationship Id="rId20" Type="http://schemas.openxmlformats.org/officeDocument/2006/relationships/slide" Target="slides/slide15.xml"/><Relationship Id="rId63" Type="http://schemas.openxmlformats.org/officeDocument/2006/relationships/font" Target="fonts/RobotoLight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Ligh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Medium-bold.fntdata"/><Relationship Id="rId52" Type="http://schemas.openxmlformats.org/officeDocument/2006/relationships/font" Target="fonts/RobotoMedium-regular.fntdata"/><Relationship Id="rId11" Type="http://schemas.openxmlformats.org/officeDocument/2006/relationships/slide" Target="slides/slide6.xml"/><Relationship Id="rId55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Medium-italic.fntdata"/><Relationship Id="rId13" Type="http://schemas.openxmlformats.org/officeDocument/2006/relationships/slide" Target="slides/slide8.xml"/><Relationship Id="rId57" Type="http://schemas.openxmlformats.org/officeDocument/2006/relationships/font" Target="fonts/Roboto-bold.fntdata"/><Relationship Id="rId12" Type="http://schemas.openxmlformats.org/officeDocument/2006/relationships/slide" Target="slides/slide7.xml"/><Relationship Id="rId56" Type="http://schemas.openxmlformats.org/officeDocument/2006/relationships/font" Target="fonts/Roboto-regular.fntdata"/><Relationship Id="rId15" Type="http://schemas.openxmlformats.org/officeDocument/2006/relationships/slide" Target="slides/slide10.xml"/><Relationship Id="rId59" Type="http://schemas.openxmlformats.org/officeDocument/2006/relationships/font" Target="fonts/Roboto-boldItalic.fntdata"/><Relationship Id="rId14" Type="http://schemas.openxmlformats.org/officeDocument/2006/relationships/slide" Target="slides/slide9.xml"/><Relationship Id="rId58" Type="http://schemas.openxmlformats.org/officeDocument/2006/relationships/font" Target="fonts/Robo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Adsl_connections.jpg" TargetMode="Externa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34c3590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834c3590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34c3590e4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34c3590e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834c3590e4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834c3590e4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834c3590e4_0_4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834c3590e4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34c3590e4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834c3590e4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34c3590e4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834c3590e4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834c3590e4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834c3590e4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834c3590e4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834c3590e4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834c3590e4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834c3590e4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834c3590e4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834c3590e4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834c3590e4_0_69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834c3590e4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834c3590e4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834c3590e4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834c3590e4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834c3590e4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834c3590e4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834c3590e4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834c3590e4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834c3590e4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834c3590e4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834c3590e4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834c3590e4_0_12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834c3590e4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834c3590e4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834c3590e4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834c3590e4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834c3590e4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834c3590e4_0_14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834c3590e4_0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834c3590e4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834c3590e4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834c3590e4_0_1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834c3590e4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834c3590e4_0_1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834c3590e4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834c3590e4_0_14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834c3590e4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834c3590e4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834c3590e4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834c3590e4_0_1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834c3590e4_0_1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834c3590e4_0_1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834c3590e4_0_1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834c3590e4_0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834c3590e4_0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834c3590e4_0_1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834c3590e4_0_1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834c3590e4_0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834c3590e4_0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834c3590e4_0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834c3590e4_0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834c3590e4_0_1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834c3590e4_0_1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834c3590e4_0_1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834c3590e4_0_1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834c3590e4_0_1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834c3590e4_0_1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834c3590e4_0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834c3590e4_0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834c3590e4_0_1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834c3590e4_0_1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834c3590e4_0_18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834c3590e4_0_1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834c3590e4_0_1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834c3590e4_0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834c3590e4_0_1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834c3590e4_0_1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834c3590e4_0_2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834c3590e4_0_2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834c3590e4_0_22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834c3590e4_0_2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834c3590e4_0_2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834c3590e4_0_2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2834c3590e4_0_2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2834c3590e4_0_2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2834c3590e4_0_2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2834c3590e4_0_2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834c3590e4_0_2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834c3590e4_0_2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https://commons.wikimedia.org/wiki/File:Adsl_connections.jpg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834c3590e4_0_22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834c3590e4_0_2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625750"/>
            <a:ext cx="8520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Last updated: Fall 2024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4303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Traceroute Project Guide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 Networking 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1.1. Protocols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1.8. Demultiplexing with Ports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2. Introducing Traceroute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0" name="Google Shape;150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</a:t>
            </a:r>
            <a:endParaRPr/>
          </a:p>
        </p:txBody>
      </p:sp>
      <p:sp>
        <p:nvSpPr>
          <p:cNvPr id="151" name="Google Shape;151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Internet is all about designing </a:t>
            </a:r>
            <a:r>
              <a:rPr b="1" lang="en"/>
              <a:t>protocols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Protocol: A specification on how to communicate.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Syntax: Format of messages. What do the 1s and 0s mean?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Semantics: What actions should I take in response to certain messages?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Protocol for asking a question in lecture?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Raise your hand.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Wait for speaker to call on you.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Ask your question after speaker calls on you.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speaker doesn't see you after some time, say "Excuse me!"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 Networking 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1.1. Protocols</a:t>
            </a:r>
            <a:br>
              <a:rPr lang="en">
                <a:solidFill>
                  <a:srgbClr val="B7B7B7"/>
                </a:solidFill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1.8. Demultiplexing with Ports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2. Introducing Traceroute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3" name="Google Shape;163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the Internet</a:t>
            </a:r>
            <a:endParaRPr/>
          </a:p>
        </p:txBody>
      </p:sp>
      <p:sp>
        <p:nvSpPr>
          <p:cNvPr id="164" name="Google Shape;164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1 – Moving Bits Across Space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107050" y="402200"/>
            <a:ext cx="8909700" cy="10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some </a:t>
            </a:r>
            <a:r>
              <a:rPr b="1" lang="en"/>
              <a:t>physical</a:t>
            </a:r>
            <a:r>
              <a:rPr lang="en"/>
              <a:t> technology to move data across space.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Postal analogy: Mailman, Pony Express, carrier pigeon, etc.</a:t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089" y="1828475"/>
            <a:ext cx="7247426" cy="30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/>
          <p:nvPr/>
        </p:nvSpPr>
        <p:spPr>
          <a:xfrm>
            <a:off x="795725" y="4254900"/>
            <a:ext cx="5473546" cy="527561"/>
          </a:xfrm>
          <a:custGeom>
            <a:rect b="b" l="l" r="r" t="t"/>
            <a:pathLst>
              <a:path extrusionOk="0" h="1087754" w="11964035">
                <a:moveTo>
                  <a:pt x="0" y="0"/>
                </a:moveTo>
                <a:lnTo>
                  <a:pt x="11963692" y="0"/>
                </a:lnTo>
                <a:lnTo>
                  <a:pt x="11963692" y="1087360"/>
                </a:lnTo>
                <a:lnTo>
                  <a:pt x="0" y="108736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p28"/>
          <p:cNvSpPr txBox="1"/>
          <p:nvPr/>
        </p:nvSpPr>
        <p:spPr>
          <a:xfrm>
            <a:off x="941159" y="4786303"/>
            <a:ext cx="4772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Are pigeons faster than the Internet?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Layer 1 – Moving Bits Across Space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107050" y="402200"/>
            <a:ext cx="8909700" cy="23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need some </a:t>
            </a:r>
            <a:r>
              <a:rPr b="1" lang="en"/>
              <a:t>physical </a:t>
            </a:r>
            <a:r>
              <a:rPr lang="en"/>
              <a:t>technology to move bits across space.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Voltages on electrical wire.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 signals on optical fiber.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Wireless radio waves.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Won't go into detail in this class.</a:t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4545" y="3947387"/>
            <a:ext cx="54605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6050" y="3599850"/>
            <a:ext cx="703400" cy="126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/>
          <p:nvPr/>
        </p:nvSpPr>
        <p:spPr>
          <a:xfrm>
            <a:off x="2605900" y="2880375"/>
            <a:ext cx="1321200" cy="1892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Layer </a:t>
            </a:r>
            <a:r>
              <a:rPr lang="en"/>
              <a:t>2 – Local Networks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Postal analogy: Use our physical technology to connect everybody in the local town.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Forming a local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physical technology to create a </a:t>
            </a:r>
            <a:r>
              <a:rPr b="1" lang="en"/>
              <a:t>link</a:t>
            </a:r>
            <a:r>
              <a:rPr lang="en"/>
              <a:t> between machines.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links to connect all machines in a local area.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Machines can exchange </a:t>
            </a:r>
            <a:r>
              <a:rPr b="1" lang="en"/>
              <a:t>packets</a:t>
            </a:r>
            <a:r>
              <a:rPr lang="en"/>
              <a:t>: A group of bits representing a message.</a:t>
            </a:r>
            <a:endParaRPr/>
          </a:p>
        </p:txBody>
      </p:sp>
      <p:cxnSp>
        <p:nvCxnSpPr>
          <p:cNvPr id="189" name="Google Shape;189;p30"/>
          <p:cNvCxnSpPr>
            <a:stCxn id="190" idx="2"/>
          </p:cNvCxnSpPr>
          <p:nvPr/>
        </p:nvCxnSpPr>
        <p:spPr>
          <a:xfrm rot="10800000">
            <a:off x="2887738" y="3254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30"/>
          <p:cNvSpPr/>
          <p:nvPr/>
        </p:nvSpPr>
        <p:spPr>
          <a:xfrm>
            <a:off x="3271738" y="3112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30"/>
          <p:cNvCxnSpPr>
            <a:stCxn id="192" idx="2"/>
          </p:cNvCxnSpPr>
          <p:nvPr/>
        </p:nvCxnSpPr>
        <p:spPr>
          <a:xfrm rot="10800000">
            <a:off x="2887738" y="3635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0"/>
          <p:cNvSpPr/>
          <p:nvPr/>
        </p:nvSpPr>
        <p:spPr>
          <a:xfrm>
            <a:off x="3271738" y="3493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0"/>
          <p:cNvCxnSpPr>
            <a:stCxn id="194" idx="2"/>
          </p:cNvCxnSpPr>
          <p:nvPr/>
        </p:nvCxnSpPr>
        <p:spPr>
          <a:xfrm rot="10800000">
            <a:off x="2887738" y="4016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30"/>
          <p:cNvSpPr/>
          <p:nvPr/>
        </p:nvSpPr>
        <p:spPr>
          <a:xfrm>
            <a:off x="3271738" y="3874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" name="Google Shape;195;p30"/>
          <p:cNvCxnSpPr>
            <a:stCxn id="196" idx="2"/>
          </p:cNvCxnSpPr>
          <p:nvPr/>
        </p:nvCxnSpPr>
        <p:spPr>
          <a:xfrm rot="10800000">
            <a:off x="2887738" y="4397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0"/>
          <p:cNvSpPr/>
          <p:nvPr/>
        </p:nvSpPr>
        <p:spPr>
          <a:xfrm>
            <a:off x="3271738" y="4255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" name="Google Shape;197;p30"/>
          <p:cNvCxnSpPr/>
          <p:nvPr/>
        </p:nvCxnSpPr>
        <p:spPr>
          <a:xfrm rot="10800000">
            <a:off x="2882650" y="3245200"/>
            <a:ext cx="0" cy="116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Layer 3 – Connecting Local Networks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107050" y="402200"/>
            <a:ext cx="8909700" cy="12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Postal analogy: How do we connect houses from different towns?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new links between every pair of houses is inefficient.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/>
          <p:nvPr/>
        </p:nvSpPr>
        <p:spPr>
          <a:xfrm>
            <a:off x="5196700" y="2880375"/>
            <a:ext cx="1321200" cy="1892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2605900" y="2880375"/>
            <a:ext cx="1321200" cy="18921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" name="Google Shape;206;p31"/>
          <p:cNvCxnSpPr>
            <a:stCxn id="207" idx="2"/>
          </p:cNvCxnSpPr>
          <p:nvPr/>
        </p:nvCxnSpPr>
        <p:spPr>
          <a:xfrm rot="10800000">
            <a:off x="2887738" y="3254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1"/>
          <p:cNvCxnSpPr>
            <a:stCxn id="209" idx="2"/>
          </p:cNvCxnSpPr>
          <p:nvPr/>
        </p:nvCxnSpPr>
        <p:spPr>
          <a:xfrm rot="10800000">
            <a:off x="2887738" y="3635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1"/>
          <p:cNvCxnSpPr>
            <a:stCxn id="211" idx="2"/>
          </p:cNvCxnSpPr>
          <p:nvPr/>
        </p:nvCxnSpPr>
        <p:spPr>
          <a:xfrm rot="10800000">
            <a:off x="2887738" y="4016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31"/>
          <p:cNvCxnSpPr>
            <a:stCxn id="213" idx="2"/>
          </p:cNvCxnSpPr>
          <p:nvPr/>
        </p:nvCxnSpPr>
        <p:spPr>
          <a:xfrm rot="10800000">
            <a:off x="2887738" y="4397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31"/>
          <p:cNvCxnSpPr/>
          <p:nvPr/>
        </p:nvCxnSpPr>
        <p:spPr>
          <a:xfrm rot="10800000">
            <a:off x="2882650" y="3245200"/>
            <a:ext cx="0" cy="116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1"/>
          <p:cNvCxnSpPr>
            <a:stCxn id="216" idx="2"/>
          </p:cNvCxnSpPr>
          <p:nvPr/>
        </p:nvCxnSpPr>
        <p:spPr>
          <a:xfrm>
            <a:off x="5871925" y="3254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1"/>
          <p:cNvCxnSpPr>
            <a:stCxn id="218" idx="2"/>
          </p:cNvCxnSpPr>
          <p:nvPr/>
        </p:nvCxnSpPr>
        <p:spPr>
          <a:xfrm>
            <a:off x="5871925" y="3635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31"/>
          <p:cNvCxnSpPr>
            <a:stCxn id="220" idx="2"/>
          </p:cNvCxnSpPr>
          <p:nvPr/>
        </p:nvCxnSpPr>
        <p:spPr>
          <a:xfrm>
            <a:off x="5871925" y="4016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1"/>
          <p:cNvCxnSpPr>
            <a:stCxn id="222" idx="2"/>
          </p:cNvCxnSpPr>
          <p:nvPr/>
        </p:nvCxnSpPr>
        <p:spPr>
          <a:xfrm>
            <a:off x="5871925" y="4397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1"/>
          <p:cNvCxnSpPr/>
          <p:nvPr/>
        </p:nvCxnSpPr>
        <p:spPr>
          <a:xfrm rot="10800000">
            <a:off x="6261013" y="3245100"/>
            <a:ext cx="0" cy="116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4" name="Google Shape;224;p31"/>
          <p:cNvGrpSpPr/>
          <p:nvPr/>
        </p:nvGrpSpPr>
        <p:grpSpPr>
          <a:xfrm>
            <a:off x="3556738" y="3254750"/>
            <a:ext cx="2030100" cy="1143000"/>
            <a:chOff x="3556738" y="3254750"/>
            <a:chExt cx="2030100" cy="1143000"/>
          </a:xfrm>
        </p:grpSpPr>
        <p:cxnSp>
          <p:nvCxnSpPr>
            <p:cNvPr id="225" name="Google Shape;225;p31"/>
            <p:cNvCxnSpPr>
              <a:stCxn id="207" idx="6"/>
              <a:endCxn id="216" idx="6"/>
            </p:cNvCxnSpPr>
            <p:nvPr/>
          </p:nvCxnSpPr>
          <p:spPr>
            <a:xfrm>
              <a:off x="3556738" y="3254750"/>
              <a:ext cx="2030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31"/>
            <p:cNvCxnSpPr>
              <a:stCxn id="209" idx="6"/>
              <a:endCxn id="218" idx="6"/>
            </p:cNvCxnSpPr>
            <p:nvPr/>
          </p:nvCxnSpPr>
          <p:spPr>
            <a:xfrm>
              <a:off x="3556738" y="3635750"/>
              <a:ext cx="2030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31"/>
            <p:cNvCxnSpPr>
              <a:stCxn id="211" idx="6"/>
              <a:endCxn id="220" idx="6"/>
            </p:cNvCxnSpPr>
            <p:nvPr/>
          </p:nvCxnSpPr>
          <p:spPr>
            <a:xfrm>
              <a:off x="3556738" y="4016750"/>
              <a:ext cx="2030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31"/>
            <p:cNvCxnSpPr>
              <a:stCxn id="213" idx="6"/>
              <a:endCxn id="222" idx="6"/>
            </p:cNvCxnSpPr>
            <p:nvPr/>
          </p:nvCxnSpPr>
          <p:spPr>
            <a:xfrm>
              <a:off x="3556738" y="4397750"/>
              <a:ext cx="2030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31"/>
            <p:cNvCxnSpPr>
              <a:stCxn id="207" idx="6"/>
              <a:endCxn id="218" idx="6"/>
            </p:cNvCxnSpPr>
            <p:nvPr/>
          </p:nvCxnSpPr>
          <p:spPr>
            <a:xfrm>
              <a:off x="3556738" y="3254750"/>
              <a:ext cx="20301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31"/>
            <p:cNvCxnSpPr>
              <a:stCxn id="207" idx="6"/>
              <a:endCxn id="220" idx="6"/>
            </p:cNvCxnSpPr>
            <p:nvPr/>
          </p:nvCxnSpPr>
          <p:spPr>
            <a:xfrm>
              <a:off x="3556738" y="3254750"/>
              <a:ext cx="2030100" cy="762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" name="Google Shape;231;p31"/>
            <p:cNvCxnSpPr>
              <a:stCxn id="207" idx="6"/>
              <a:endCxn id="222" idx="6"/>
            </p:cNvCxnSpPr>
            <p:nvPr/>
          </p:nvCxnSpPr>
          <p:spPr>
            <a:xfrm>
              <a:off x="3556738" y="3254750"/>
              <a:ext cx="2030100" cy="1143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31"/>
            <p:cNvCxnSpPr>
              <a:stCxn id="209" idx="6"/>
              <a:endCxn id="216" idx="6"/>
            </p:cNvCxnSpPr>
            <p:nvPr/>
          </p:nvCxnSpPr>
          <p:spPr>
            <a:xfrm flipH="1" rot="10800000">
              <a:off x="3556738" y="3254750"/>
              <a:ext cx="20301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31"/>
            <p:cNvCxnSpPr>
              <a:stCxn id="209" idx="6"/>
              <a:endCxn id="220" idx="6"/>
            </p:cNvCxnSpPr>
            <p:nvPr/>
          </p:nvCxnSpPr>
          <p:spPr>
            <a:xfrm>
              <a:off x="3556738" y="3635750"/>
              <a:ext cx="20301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31"/>
            <p:cNvCxnSpPr>
              <a:stCxn id="209" idx="6"/>
              <a:endCxn id="222" idx="6"/>
            </p:cNvCxnSpPr>
            <p:nvPr/>
          </p:nvCxnSpPr>
          <p:spPr>
            <a:xfrm>
              <a:off x="3556738" y="3635750"/>
              <a:ext cx="2030100" cy="762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" name="Google Shape;235;p31"/>
            <p:cNvCxnSpPr>
              <a:stCxn id="211" idx="6"/>
              <a:endCxn id="216" idx="6"/>
            </p:cNvCxnSpPr>
            <p:nvPr/>
          </p:nvCxnSpPr>
          <p:spPr>
            <a:xfrm flipH="1" rot="10800000">
              <a:off x="3556738" y="3254750"/>
              <a:ext cx="2030100" cy="762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31"/>
            <p:cNvCxnSpPr>
              <a:stCxn id="211" idx="6"/>
              <a:endCxn id="218" idx="6"/>
            </p:cNvCxnSpPr>
            <p:nvPr/>
          </p:nvCxnSpPr>
          <p:spPr>
            <a:xfrm flipH="1" rot="10800000">
              <a:off x="3556738" y="3635750"/>
              <a:ext cx="20301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31"/>
            <p:cNvCxnSpPr>
              <a:stCxn id="211" idx="6"/>
              <a:endCxn id="222" idx="6"/>
            </p:cNvCxnSpPr>
            <p:nvPr/>
          </p:nvCxnSpPr>
          <p:spPr>
            <a:xfrm>
              <a:off x="3556738" y="4016750"/>
              <a:ext cx="20301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31"/>
            <p:cNvCxnSpPr>
              <a:stCxn id="213" idx="6"/>
              <a:endCxn id="216" idx="6"/>
            </p:cNvCxnSpPr>
            <p:nvPr/>
          </p:nvCxnSpPr>
          <p:spPr>
            <a:xfrm flipH="1" rot="10800000">
              <a:off x="3556738" y="3254750"/>
              <a:ext cx="2030100" cy="1143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31"/>
            <p:cNvCxnSpPr>
              <a:stCxn id="213" idx="6"/>
              <a:endCxn id="218" idx="6"/>
            </p:cNvCxnSpPr>
            <p:nvPr/>
          </p:nvCxnSpPr>
          <p:spPr>
            <a:xfrm flipH="1" rot="10800000">
              <a:off x="3556738" y="3635750"/>
              <a:ext cx="2030100" cy="762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31"/>
            <p:cNvCxnSpPr>
              <a:stCxn id="213" idx="6"/>
              <a:endCxn id="220" idx="6"/>
            </p:cNvCxnSpPr>
            <p:nvPr/>
          </p:nvCxnSpPr>
          <p:spPr>
            <a:xfrm flipH="1" rot="10800000">
              <a:off x="3556738" y="4016750"/>
              <a:ext cx="20301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7" name="Google Shape;207;p31"/>
          <p:cNvSpPr/>
          <p:nvPr/>
        </p:nvSpPr>
        <p:spPr>
          <a:xfrm>
            <a:off x="3271738" y="3112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31"/>
          <p:cNvSpPr/>
          <p:nvPr/>
        </p:nvSpPr>
        <p:spPr>
          <a:xfrm>
            <a:off x="3271738" y="3493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1"/>
          <p:cNvSpPr/>
          <p:nvPr/>
        </p:nvSpPr>
        <p:spPr>
          <a:xfrm>
            <a:off x="3271738" y="3874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3271738" y="4255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1"/>
          <p:cNvSpPr/>
          <p:nvPr/>
        </p:nvSpPr>
        <p:spPr>
          <a:xfrm flipH="1">
            <a:off x="5586925" y="3112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1"/>
          <p:cNvSpPr/>
          <p:nvPr/>
        </p:nvSpPr>
        <p:spPr>
          <a:xfrm flipH="1">
            <a:off x="5586925" y="3493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31"/>
          <p:cNvSpPr/>
          <p:nvPr/>
        </p:nvSpPr>
        <p:spPr>
          <a:xfrm flipH="1">
            <a:off x="5586925" y="3874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31"/>
          <p:cNvSpPr/>
          <p:nvPr/>
        </p:nvSpPr>
        <p:spPr>
          <a:xfrm flipH="1">
            <a:off x="5586925" y="4255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Layer 3 – Connecting Local Networks</a:t>
            </a:r>
            <a:endParaRPr/>
          </a:p>
        </p:txBody>
      </p:sp>
      <p:sp>
        <p:nvSpPr>
          <p:cNvPr id="246" name="Google Shape;246;p32"/>
          <p:cNvSpPr txBox="1"/>
          <p:nvPr>
            <p:ph idx="1" type="body"/>
          </p:nvPr>
        </p:nvSpPr>
        <p:spPr>
          <a:xfrm>
            <a:off x="107050" y="402200"/>
            <a:ext cx="8909700" cy="13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Postal analogy: How do we connect houses from different towns?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Introduce a </a:t>
            </a:r>
            <a:r>
              <a:rPr i="1" lang="en"/>
              <a:t>post office</a:t>
            </a:r>
            <a:r>
              <a:rPr lang="en"/>
              <a:t> in each town.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connect the two post offices.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/>
          <p:nvPr/>
        </p:nvSpPr>
        <p:spPr>
          <a:xfrm>
            <a:off x="5196700" y="2402950"/>
            <a:ext cx="1321200" cy="2369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2605900" y="2402950"/>
            <a:ext cx="1321200" cy="2369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" name="Google Shape;249;p32"/>
          <p:cNvCxnSpPr>
            <a:stCxn id="250" idx="2"/>
          </p:cNvCxnSpPr>
          <p:nvPr/>
        </p:nvCxnSpPr>
        <p:spPr>
          <a:xfrm rot="10800000">
            <a:off x="2887738" y="3254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2"/>
          <p:cNvCxnSpPr>
            <a:stCxn id="252" idx="2"/>
          </p:cNvCxnSpPr>
          <p:nvPr/>
        </p:nvCxnSpPr>
        <p:spPr>
          <a:xfrm rot="10800000">
            <a:off x="2887738" y="3635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2"/>
          <p:cNvCxnSpPr>
            <a:stCxn id="254" idx="2"/>
          </p:cNvCxnSpPr>
          <p:nvPr/>
        </p:nvCxnSpPr>
        <p:spPr>
          <a:xfrm rot="10800000">
            <a:off x="2887738" y="4016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2"/>
          <p:cNvCxnSpPr>
            <a:stCxn id="256" idx="2"/>
          </p:cNvCxnSpPr>
          <p:nvPr/>
        </p:nvCxnSpPr>
        <p:spPr>
          <a:xfrm rot="10800000">
            <a:off x="2887738" y="4397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2"/>
          <p:cNvCxnSpPr/>
          <p:nvPr/>
        </p:nvCxnSpPr>
        <p:spPr>
          <a:xfrm rot="10800000">
            <a:off x="2882650" y="2864200"/>
            <a:ext cx="0" cy="15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32"/>
          <p:cNvCxnSpPr>
            <a:stCxn id="259" idx="2"/>
          </p:cNvCxnSpPr>
          <p:nvPr/>
        </p:nvCxnSpPr>
        <p:spPr>
          <a:xfrm>
            <a:off x="5871925" y="3254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2"/>
          <p:cNvCxnSpPr>
            <a:stCxn id="261" idx="2"/>
          </p:cNvCxnSpPr>
          <p:nvPr/>
        </p:nvCxnSpPr>
        <p:spPr>
          <a:xfrm>
            <a:off x="5871925" y="3635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2"/>
          <p:cNvCxnSpPr>
            <a:stCxn id="263" idx="2"/>
          </p:cNvCxnSpPr>
          <p:nvPr/>
        </p:nvCxnSpPr>
        <p:spPr>
          <a:xfrm>
            <a:off x="5871925" y="4016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2"/>
          <p:cNvCxnSpPr>
            <a:stCxn id="265" idx="2"/>
          </p:cNvCxnSpPr>
          <p:nvPr/>
        </p:nvCxnSpPr>
        <p:spPr>
          <a:xfrm>
            <a:off x="5871925" y="4397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2"/>
          <p:cNvCxnSpPr/>
          <p:nvPr/>
        </p:nvCxnSpPr>
        <p:spPr>
          <a:xfrm rot="10800000">
            <a:off x="6261025" y="2864066"/>
            <a:ext cx="0" cy="15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2"/>
          <p:cNvSpPr/>
          <p:nvPr/>
        </p:nvSpPr>
        <p:spPr>
          <a:xfrm>
            <a:off x="3271738" y="3112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3271738" y="3493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3271738" y="3874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3271738" y="4255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2"/>
          <p:cNvSpPr/>
          <p:nvPr/>
        </p:nvSpPr>
        <p:spPr>
          <a:xfrm flipH="1">
            <a:off x="5586925" y="3112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2"/>
          <p:cNvSpPr/>
          <p:nvPr/>
        </p:nvSpPr>
        <p:spPr>
          <a:xfrm flipH="1">
            <a:off x="5586925" y="3493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2"/>
          <p:cNvSpPr/>
          <p:nvPr/>
        </p:nvSpPr>
        <p:spPr>
          <a:xfrm flipH="1">
            <a:off x="5586925" y="3874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2"/>
          <p:cNvSpPr/>
          <p:nvPr/>
        </p:nvSpPr>
        <p:spPr>
          <a:xfrm flipH="1">
            <a:off x="5586925" y="4255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" name="Google Shape;267;p32"/>
          <p:cNvCxnSpPr>
            <a:stCxn id="268" idx="1"/>
          </p:cNvCxnSpPr>
          <p:nvPr/>
        </p:nvCxnSpPr>
        <p:spPr>
          <a:xfrm rot="10800000">
            <a:off x="2887738" y="28737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2"/>
          <p:cNvCxnSpPr>
            <a:stCxn id="270" idx="3"/>
          </p:cNvCxnSpPr>
          <p:nvPr/>
        </p:nvCxnSpPr>
        <p:spPr>
          <a:xfrm>
            <a:off x="5871913" y="2873650"/>
            <a:ext cx="38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2"/>
          <p:cNvCxnSpPr>
            <a:endCxn id="270" idx="1"/>
          </p:cNvCxnSpPr>
          <p:nvPr/>
        </p:nvCxnSpPr>
        <p:spPr>
          <a:xfrm>
            <a:off x="3556813" y="2873650"/>
            <a:ext cx="20301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2"/>
          <p:cNvSpPr/>
          <p:nvPr/>
        </p:nvSpPr>
        <p:spPr>
          <a:xfrm>
            <a:off x="3271738" y="2731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5586913" y="27311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Layer 3 – Connecting Local Networks</a:t>
            </a:r>
            <a:endParaRPr/>
          </a:p>
        </p:txBody>
      </p:sp>
      <p:sp>
        <p:nvSpPr>
          <p:cNvPr id="277" name="Google Shape;277;p33"/>
          <p:cNvSpPr txBox="1"/>
          <p:nvPr>
            <p:ph idx="1" type="body"/>
          </p:nvPr>
        </p:nvSpPr>
        <p:spPr>
          <a:xfrm>
            <a:off x="107050" y="402200"/>
            <a:ext cx="8909700" cy="19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send a letter to the other town: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send the packet to...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local post office, which sends the packet to...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other town's post office, which sends the packet to...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final destination.</a:t>
            </a:r>
            <a:endParaRPr/>
          </a:p>
        </p:txBody>
      </p:sp>
      <p:sp>
        <p:nvSpPr>
          <p:cNvPr id="278" name="Google Shape;278;p33"/>
          <p:cNvSpPr/>
          <p:nvPr/>
        </p:nvSpPr>
        <p:spPr>
          <a:xfrm>
            <a:off x="5196700" y="2402950"/>
            <a:ext cx="1321200" cy="2369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2605900" y="2402950"/>
            <a:ext cx="1321200" cy="2369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0" name="Google Shape;280;p33"/>
          <p:cNvCxnSpPr>
            <a:stCxn id="281" idx="2"/>
          </p:cNvCxnSpPr>
          <p:nvPr/>
        </p:nvCxnSpPr>
        <p:spPr>
          <a:xfrm rot="10800000">
            <a:off x="2887738" y="32547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3"/>
          <p:cNvCxnSpPr>
            <a:stCxn id="283" idx="2"/>
          </p:cNvCxnSpPr>
          <p:nvPr/>
        </p:nvCxnSpPr>
        <p:spPr>
          <a:xfrm rot="10800000">
            <a:off x="2887738" y="36357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3"/>
          <p:cNvCxnSpPr>
            <a:stCxn id="285" idx="2"/>
          </p:cNvCxnSpPr>
          <p:nvPr/>
        </p:nvCxnSpPr>
        <p:spPr>
          <a:xfrm rot="10800000">
            <a:off x="2887738" y="40167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3"/>
          <p:cNvCxnSpPr>
            <a:stCxn id="287" idx="2"/>
          </p:cNvCxnSpPr>
          <p:nvPr/>
        </p:nvCxnSpPr>
        <p:spPr>
          <a:xfrm rot="10800000">
            <a:off x="2887738" y="43977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3"/>
          <p:cNvCxnSpPr/>
          <p:nvPr/>
        </p:nvCxnSpPr>
        <p:spPr>
          <a:xfrm rot="10800000">
            <a:off x="2882650" y="2864200"/>
            <a:ext cx="0" cy="1542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3"/>
          <p:cNvCxnSpPr>
            <a:stCxn id="290" idx="2"/>
          </p:cNvCxnSpPr>
          <p:nvPr/>
        </p:nvCxnSpPr>
        <p:spPr>
          <a:xfrm>
            <a:off x="5871925" y="32546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3"/>
          <p:cNvCxnSpPr>
            <a:stCxn id="292" idx="2"/>
          </p:cNvCxnSpPr>
          <p:nvPr/>
        </p:nvCxnSpPr>
        <p:spPr>
          <a:xfrm>
            <a:off x="5871925" y="36356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3"/>
          <p:cNvCxnSpPr>
            <a:stCxn id="294" idx="2"/>
          </p:cNvCxnSpPr>
          <p:nvPr/>
        </p:nvCxnSpPr>
        <p:spPr>
          <a:xfrm>
            <a:off x="5871925" y="40166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3"/>
          <p:cNvCxnSpPr>
            <a:stCxn id="296" idx="2"/>
          </p:cNvCxnSpPr>
          <p:nvPr/>
        </p:nvCxnSpPr>
        <p:spPr>
          <a:xfrm>
            <a:off x="5871925" y="43976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3"/>
          <p:cNvCxnSpPr/>
          <p:nvPr/>
        </p:nvCxnSpPr>
        <p:spPr>
          <a:xfrm rot="10800000">
            <a:off x="6261025" y="2864066"/>
            <a:ext cx="0" cy="1542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3"/>
          <p:cNvSpPr/>
          <p:nvPr/>
        </p:nvSpPr>
        <p:spPr>
          <a:xfrm>
            <a:off x="3271738" y="3112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3271738" y="3493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3"/>
          <p:cNvSpPr/>
          <p:nvPr/>
        </p:nvSpPr>
        <p:spPr>
          <a:xfrm>
            <a:off x="3271738" y="4255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3"/>
          <p:cNvSpPr/>
          <p:nvPr/>
        </p:nvSpPr>
        <p:spPr>
          <a:xfrm flipH="1">
            <a:off x="5586925" y="3493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3"/>
          <p:cNvSpPr/>
          <p:nvPr/>
        </p:nvSpPr>
        <p:spPr>
          <a:xfrm flipH="1">
            <a:off x="5586925" y="3874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3"/>
          <p:cNvSpPr/>
          <p:nvPr/>
        </p:nvSpPr>
        <p:spPr>
          <a:xfrm flipH="1">
            <a:off x="5586925" y="4255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" name="Google Shape;298;p33"/>
          <p:cNvCxnSpPr>
            <a:stCxn id="299" idx="1"/>
          </p:cNvCxnSpPr>
          <p:nvPr/>
        </p:nvCxnSpPr>
        <p:spPr>
          <a:xfrm rot="10800000">
            <a:off x="2887738" y="28737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3"/>
          <p:cNvCxnSpPr>
            <a:stCxn id="301" idx="3"/>
          </p:cNvCxnSpPr>
          <p:nvPr/>
        </p:nvCxnSpPr>
        <p:spPr>
          <a:xfrm>
            <a:off x="5871913" y="2873650"/>
            <a:ext cx="38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3"/>
          <p:cNvCxnSpPr>
            <a:endCxn id="301" idx="1"/>
          </p:cNvCxnSpPr>
          <p:nvPr/>
        </p:nvCxnSpPr>
        <p:spPr>
          <a:xfrm>
            <a:off x="3556813" y="2873650"/>
            <a:ext cx="2030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33"/>
          <p:cNvSpPr/>
          <p:nvPr/>
        </p:nvSpPr>
        <p:spPr>
          <a:xfrm>
            <a:off x="2882650" y="2871400"/>
            <a:ext cx="3378374" cy="1143575"/>
          </a:xfrm>
          <a:custGeom>
            <a:rect b="b" l="l" r="r" t="t"/>
            <a:pathLst>
              <a:path extrusionOk="0" h="45743" w="135528">
                <a:moveTo>
                  <a:pt x="15285" y="45743"/>
                </a:moveTo>
                <a:lnTo>
                  <a:pt x="0" y="45743"/>
                </a:lnTo>
                <a:lnTo>
                  <a:pt x="0" y="0"/>
                </a:lnTo>
                <a:lnTo>
                  <a:pt x="135528" y="0"/>
                </a:lnTo>
                <a:lnTo>
                  <a:pt x="135528" y="15285"/>
                </a:lnTo>
                <a:lnTo>
                  <a:pt x="119569" y="15285"/>
                </a:ln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9" name="Google Shape;299;p33"/>
          <p:cNvSpPr/>
          <p:nvPr/>
        </p:nvSpPr>
        <p:spPr>
          <a:xfrm>
            <a:off x="3271738" y="27312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5586913" y="27311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3"/>
          <p:cNvSpPr/>
          <p:nvPr/>
        </p:nvSpPr>
        <p:spPr>
          <a:xfrm flipH="1">
            <a:off x="5586925" y="31121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3271738" y="3874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 Networking 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1.1. Protocols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1.8. Demultiplexing with Ports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2. Introducing Traceroute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09" name="Google Shape;309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the Internet</a:t>
            </a:r>
            <a:endParaRPr/>
          </a:p>
        </p:txBody>
      </p:sp>
      <p:sp>
        <p:nvSpPr>
          <p:cNvPr id="310" name="Google Shape;310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/>
          <p:nvPr/>
        </p:nvSpPr>
        <p:spPr>
          <a:xfrm>
            <a:off x="3531125" y="2516450"/>
            <a:ext cx="1571400" cy="1284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3199850" y="3874700"/>
            <a:ext cx="2141400" cy="1208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6111450" y="2406275"/>
            <a:ext cx="2218800" cy="2677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793550" y="2669875"/>
            <a:ext cx="1636200" cy="2072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of Networks</a:t>
            </a:r>
            <a:endParaRPr/>
          </a:p>
        </p:txBody>
      </p:sp>
      <p:sp>
        <p:nvSpPr>
          <p:cNvPr id="320" name="Google Shape;320;p35"/>
          <p:cNvSpPr/>
          <p:nvPr/>
        </p:nvSpPr>
        <p:spPr>
          <a:xfrm>
            <a:off x="1481775" y="3949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5"/>
          <p:cNvSpPr/>
          <p:nvPr/>
        </p:nvSpPr>
        <p:spPr>
          <a:xfrm>
            <a:off x="1481775" y="3242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2079063" y="35348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5"/>
          <p:cNvSpPr/>
          <p:nvPr/>
        </p:nvSpPr>
        <p:spPr>
          <a:xfrm>
            <a:off x="1268388" y="2759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5"/>
          <p:cNvSpPr/>
          <p:nvPr/>
        </p:nvSpPr>
        <p:spPr>
          <a:xfrm>
            <a:off x="1695163" y="2759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5"/>
          <p:cNvSpPr/>
          <p:nvPr/>
        </p:nvSpPr>
        <p:spPr>
          <a:xfrm>
            <a:off x="996863" y="37321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996863" y="41673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35"/>
          <p:cNvCxnSpPr>
            <a:stCxn id="323" idx="5"/>
            <a:endCxn id="321" idx="0"/>
          </p:cNvCxnSpPr>
          <p:nvPr/>
        </p:nvCxnSpPr>
        <p:spPr>
          <a:xfrm>
            <a:off x="1511650" y="3002963"/>
            <a:ext cx="112500" cy="23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5"/>
          <p:cNvCxnSpPr>
            <a:stCxn id="321" idx="0"/>
            <a:endCxn id="324" idx="3"/>
          </p:cNvCxnSpPr>
          <p:nvPr/>
        </p:nvCxnSpPr>
        <p:spPr>
          <a:xfrm flipH="1" rot="10800000">
            <a:off x="1624275" y="3002975"/>
            <a:ext cx="112500" cy="23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5"/>
          <p:cNvCxnSpPr>
            <a:stCxn id="320" idx="1"/>
            <a:endCxn id="325" idx="6"/>
          </p:cNvCxnSpPr>
          <p:nvPr/>
        </p:nvCxnSpPr>
        <p:spPr>
          <a:xfrm rot="10800000">
            <a:off x="1281975" y="3874700"/>
            <a:ext cx="199800" cy="2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5"/>
          <p:cNvCxnSpPr>
            <a:stCxn id="320" idx="1"/>
            <a:endCxn id="326" idx="6"/>
          </p:cNvCxnSpPr>
          <p:nvPr/>
        </p:nvCxnSpPr>
        <p:spPr>
          <a:xfrm flipH="1">
            <a:off x="1281975" y="4092200"/>
            <a:ext cx="199800" cy="2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5"/>
          <p:cNvCxnSpPr>
            <a:stCxn id="320" idx="0"/>
            <a:endCxn id="322" idx="1"/>
          </p:cNvCxnSpPr>
          <p:nvPr/>
        </p:nvCxnSpPr>
        <p:spPr>
          <a:xfrm flipH="1" rot="10800000">
            <a:off x="1624275" y="3677300"/>
            <a:ext cx="454800" cy="2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5"/>
          <p:cNvCxnSpPr>
            <a:stCxn id="321" idx="2"/>
            <a:endCxn id="320" idx="0"/>
          </p:cNvCxnSpPr>
          <p:nvPr/>
        </p:nvCxnSpPr>
        <p:spPr>
          <a:xfrm>
            <a:off x="1624275" y="3527375"/>
            <a:ext cx="0" cy="42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5"/>
          <p:cNvSpPr/>
          <p:nvPr/>
        </p:nvSpPr>
        <p:spPr>
          <a:xfrm>
            <a:off x="4787625" y="297733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35"/>
          <p:cNvSpPr/>
          <p:nvPr/>
        </p:nvSpPr>
        <p:spPr>
          <a:xfrm>
            <a:off x="4052925" y="29773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4150350" y="257296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" name="Google Shape;336;p35"/>
          <p:cNvCxnSpPr>
            <a:stCxn id="333" idx="1"/>
            <a:endCxn id="335" idx="5"/>
          </p:cNvCxnSpPr>
          <p:nvPr/>
        </p:nvCxnSpPr>
        <p:spPr>
          <a:xfrm rot="10800000">
            <a:off x="4393725" y="2816238"/>
            <a:ext cx="393900" cy="30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5"/>
          <p:cNvCxnSpPr>
            <a:stCxn id="333" idx="1"/>
            <a:endCxn id="334" idx="6"/>
          </p:cNvCxnSpPr>
          <p:nvPr/>
        </p:nvCxnSpPr>
        <p:spPr>
          <a:xfrm rot="10800000">
            <a:off x="4337925" y="3119838"/>
            <a:ext cx="44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5"/>
          <p:cNvSpPr/>
          <p:nvPr/>
        </p:nvSpPr>
        <p:spPr>
          <a:xfrm>
            <a:off x="3910325" y="336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35"/>
          <p:cNvCxnSpPr>
            <a:stCxn id="333" idx="1"/>
            <a:endCxn id="338" idx="3"/>
          </p:cNvCxnSpPr>
          <p:nvPr/>
        </p:nvCxnSpPr>
        <p:spPr>
          <a:xfrm flipH="1">
            <a:off x="4195425" y="3119838"/>
            <a:ext cx="592200" cy="38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5"/>
          <p:cNvSpPr/>
          <p:nvPr/>
        </p:nvSpPr>
        <p:spPr>
          <a:xfrm>
            <a:off x="3463788" y="413583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5"/>
          <p:cNvSpPr/>
          <p:nvPr/>
        </p:nvSpPr>
        <p:spPr>
          <a:xfrm>
            <a:off x="4787625" y="413591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3463788" y="458571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35"/>
          <p:cNvCxnSpPr>
            <a:stCxn id="342" idx="0"/>
            <a:endCxn id="340" idx="2"/>
          </p:cNvCxnSpPr>
          <p:nvPr/>
        </p:nvCxnSpPr>
        <p:spPr>
          <a:xfrm rot="10800000">
            <a:off x="3606288" y="4420711"/>
            <a:ext cx="0" cy="16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5"/>
          <p:cNvCxnSpPr>
            <a:stCxn id="340" idx="3"/>
            <a:endCxn id="341" idx="1"/>
          </p:cNvCxnSpPr>
          <p:nvPr/>
        </p:nvCxnSpPr>
        <p:spPr>
          <a:xfrm>
            <a:off x="3748788" y="4278338"/>
            <a:ext cx="103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5"/>
          <p:cNvSpPr/>
          <p:nvPr/>
        </p:nvSpPr>
        <p:spPr>
          <a:xfrm>
            <a:off x="4787625" y="458563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6" name="Google Shape;346;p35"/>
          <p:cNvCxnSpPr>
            <a:stCxn id="345" idx="0"/>
            <a:endCxn id="341" idx="2"/>
          </p:cNvCxnSpPr>
          <p:nvPr/>
        </p:nvCxnSpPr>
        <p:spPr>
          <a:xfrm rot="10800000">
            <a:off x="4930125" y="4420936"/>
            <a:ext cx="0" cy="16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35"/>
          <p:cNvSpPr/>
          <p:nvPr/>
        </p:nvSpPr>
        <p:spPr>
          <a:xfrm>
            <a:off x="6158463" y="374225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6307800" y="302276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5"/>
          <p:cNvSpPr/>
          <p:nvPr/>
        </p:nvSpPr>
        <p:spPr>
          <a:xfrm>
            <a:off x="7118175" y="356190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7123975" y="413016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7123975" y="30227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" name="Google Shape;352;p35"/>
          <p:cNvCxnSpPr>
            <a:stCxn id="348" idx="3"/>
            <a:endCxn id="351" idx="2"/>
          </p:cNvCxnSpPr>
          <p:nvPr/>
        </p:nvCxnSpPr>
        <p:spPr>
          <a:xfrm>
            <a:off x="6592800" y="3165264"/>
            <a:ext cx="531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35"/>
          <p:cNvSpPr/>
          <p:nvPr/>
        </p:nvSpPr>
        <p:spPr>
          <a:xfrm>
            <a:off x="6752375" y="4625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5"/>
          <p:cNvSpPr/>
          <p:nvPr/>
        </p:nvSpPr>
        <p:spPr>
          <a:xfrm>
            <a:off x="7483950" y="4625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5" name="Google Shape;355;p35"/>
          <p:cNvCxnSpPr>
            <a:stCxn id="354" idx="1"/>
            <a:endCxn id="350" idx="2"/>
          </p:cNvCxnSpPr>
          <p:nvPr/>
        </p:nvCxnSpPr>
        <p:spPr>
          <a:xfrm rot="10800000">
            <a:off x="7266487" y="4415076"/>
            <a:ext cx="259200" cy="2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5"/>
          <p:cNvCxnSpPr>
            <a:stCxn id="353" idx="7"/>
            <a:endCxn id="350" idx="2"/>
          </p:cNvCxnSpPr>
          <p:nvPr/>
        </p:nvCxnSpPr>
        <p:spPr>
          <a:xfrm flipH="1" rot="10800000">
            <a:off x="6995638" y="4415076"/>
            <a:ext cx="270900" cy="2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5"/>
          <p:cNvCxnSpPr>
            <a:stCxn id="349" idx="0"/>
            <a:endCxn id="348" idx="3"/>
          </p:cNvCxnSpPr>
          <p:nvPr/>
        </p:nvCxnSpPr>
        <p:spPr>
          <a:xfrm rot="10800000">
            <a:off x="6592875" y="3165301"/>
            <a:ext cx="667800" cy="39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5"/>
          <p:cNvCxnSpPr>
            <a:stCxn id="349" idx="1"/>
            <a:endCxn id="347" idx="3"/>
          </p:cNvCxnSpPr>
          <p:nvPr/>
        </p:nvCxnSpPr>
        <p:spPr>
          <a:xfrm flipH="1">
            <a:off x="6443475" y="3704401"/>
            <a:ext cx="674700" cy="18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5"/>
          <p:cNvCxnSpPr>
            <a:stCxn id="349" idx="2"/>
            <a:endCxn id="350" idx="0"/>
          </p:cNvCxnSpPr>
          <p:nvPr/>
        </p:nvCxnSpPr>
        <p:spPr>
          <a:xfrm>
            <a:off x="7260675" y="3846901"/>
            <a:ext cx="5700" cy="28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35"/>
          <p:cNvSpPr/>
          <p:nvPr/>
        </p:nvSpPr>
        <p:spPr>
          <a:xfrm>
            <a:off x="7763400" y="35618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1" name="Google Shape;361;p35"/>
          <p:cNvCxnSpPr>
            <a:stCxn id="349" idx="3"/>
            <a:endCxn id="360" idx="2"/>
          </p:cNvCxnSpPr>
          <p:nvPr/>
        </p:nvCxnSpPr>
        <p:spPr>
          <a:xfrm>
            <a:off x="7403175" y="3704401"/>
            <a:ext cx="36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5"/>
          <p:cNvCxnSpPr>
            <a:stCxn id="322" idx="3"/>
            <a:endCxn id="340" idx="1"/>
          </p:cNvCxnSpPr>
          <p:nvPr/>
        </p:nvCxnSpPr>
        <p:spPr>
          <a:xfrm>
            <a:off x="2364063" y="3677375"/>
            <a:ext cx="1099800" cy="60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5"/>
          <p:cNvCxnSpPr>
            <a:stCxn id="322" idx="3"/>
            <a:endCxn id="338" idx="1"/>
          </p:cNvCxnSpPr>
          <p:nvPr/>
        </p:nvCxnSpPr>
        <p:spPr>
          <a:xfrm flipH="1" rot="10800000">
            <a:off x="2364063" y="3503975"/>
            <a:ext cx="1546200" cy="17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5"/>
          <p:cNvCxnSpPr>
            <a:stCxn id="333" idx="3"/>
            <a:endCxn id="348" idx="1"/>
          </p:cNvCxnSpPr>
          <p:nvPr/>
        </p:nvCxnSpPr>
        <p:spPr>
          <a:xfrm>
            <a:off x="5072625" y="3119838"/>
            <a:ext cx="1235100" cy="4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35"/>
          <p:cNvCxnSpPr>
            <a:stCxn id="341" idx="3"/>
            <a:endCxn id="347" idx="1"/>
          </p:cNvCxnSpPr>
          <p:nvPr/>
        </p:nvCxnSpPr>
        <p:spPr>
          <a:xfrm flipH="1" rot="10800000">
            <a:off x="5072625" y="3884813"/>
            <a:ext cx="10857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5"/>
          <p:cNvSpPr/>
          <p:nvPr/>
        </p:nvSpPr>
        <p:spPr>
          <a:xfrm>
            <a:off x="7123975" y="25655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7" name="Google Shape;367;p35"/>
          <p:cNvCxnSpPr>
            <a:stCxn id="348" idx="3"/>
            <a:endCxn id="366" idx="3"/>
          </p:cNvCxnSpPr>
          <p:nvPr/>
        </p:nvCxnSpPr>
        <p:spPr>
          <a:xfrm flipH="1" rot="10800000">
            <a:off x="6592800" y="2808864"/>
            <a:ext cx="573000" cy="35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107050" y="402200"/>
            <a:ext cx="8909700" cy="17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enough post offices, we can connect all the towns in the world!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Internet is a </a:t>
            </a:r>
            <a:r>
              <a:rPr b="1" lang="en"/>
              <a:t>network of networks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operator runs its own local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local networks connect to each other to form the Internet.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/>
          <p:nvPr/>
        </p:nvSpPr>
        <p:spPr>
          <a:xfrm>
            <a:off x="3531125" y="2516450"/>
            <a:ext cx="1571400" cy="1284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3199850" y="3874700"/>
            <a:ext cx="2141400" cy="1208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6111450" y="2406275"/>
            <a:ext cx="2218800" cy="2677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793550" y="2669875"/>
            <a:ext cx="1636200" cy="2072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Hosts vs. Switches</a:t>
            </a:r>
            <a:endParaRPr/>
          </a:p>
        </p:txBody>
      </p:sp>
      <p:sp>
        <p:nvSpPr>
          <p:cNvPr id="378" name="Google Shape;378;p36"/>
          <p:cNvSpPr/>
          <p:nvPr/>
        </p:nvSpPr>
        <p:spPr>
          <a:xfrm>
            <a:off x="1481775" y="3949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1481775" y="3242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2079063" y="35348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1268388" y="2759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6"/>
          <p:cNvSpPr/>
          <p:nvPr/>
        </p:nvSpPr>
        <p:spPr>
          <a:xfrm>
            <a:off x="1695163" y="27597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996863" y="37321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996863" y="41673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" name="Google Shape;385;p36"/>
          <p:cNvCxnSpPr>
            <a:stCxn id="381" idx="5"/>
            <a:endCxn id="379" idx="0"/>
          </p:cNvCxnSpPr>
          <p:nvPr/>
        </p:nvCxnSpPr>
        <p:spPr>
          <a:xfrm>
            <a:off x="1511650" y="3002963"/>
            <a:ext cx="112500" cy="23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6"/>
          <p:cNvCxnSpPr>
            <a:stCxn id="379" idx="0"/>
            <a:endCxn id="382" idx="3"/>
          </p:cNvCxnSpPr>
          <p:nvPr/>
        </p:nvCxnSpPr>
        <p:spPr>
          <a:xfrm flipH="1" rot="10800000">
            <a:off x="1624275" y="3002975"/>
            <a:ext cx="112500" cy="23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6"/>
          <p:cNvCxnSpPr>
            <a:stCxn id="378" idx="1"/>
            <a:endCxn id="383" idx="6"/>
          </p:cNvCxnSpPr>
          <p:nvPr/>
        </p:nvCxnSpPr>
        <p:spPr>
          <a:xfrm rot="10800000">
            <a:off x="1281975" y="3874700"/>
            <a:ext cx="199800" cy="2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6"/>
          <p:cNvCxnSpPr>
            <a:stCxn id="378" idx="1"/>
            <a:endCxn id="384" idx="6"/>
          </p:cNvCxnSpPr>
          <p:nvPr/>
        </p:nvCxnSpPr>
        <p:spPr>
          <a:xfrm flipH="1">
            <a:off x="1281975" y="4092200"/>
            <a:ext cx="199800" cy="2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6"/>
          <p:cNvCxnSpPr>
            <a:stCxn id="378" idx="0"/>
            <a:endCxn id="380" idx="1"/>
          </p:cNvCxnSpPr>
          <p:nvPr/>
        </p:nvCxnSpPr>
        <p:spPr>
          <a:xfrm flipH="1" rot="10800000">
            <a:off x="1624275" y="3677300"/>
            <a:ext cx="454800" cy="2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6"/>
          <p:cNvCxnSpPr>
            <a:stCxn id="379" idx="2"/>
            <a:endCxn id="378" idx="0"/>
          </p:cNvCxnSpPr>
          <p:nvPr/>
        </p:nvCxnSpPr>
        <p:spPr>
          <a:xfrm>
            <a:off x="1624275" y="3527375"/>
            <a:ext cx="0" cy="42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36"/>
          <p:cNvSpPr/>
          <p:nvPr/>
        </p:nvSpPr>
        <p:spPr>
          <a:xfrm>
            <a:off x="4787625" y="297733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6"/>
          <p:cNvSpPr/>
          <p:nvPr/>
        </p:nvSpPr>
        <p:spPr>
          <a:xfrm>
            <a:off x="4052925" y="29773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4150350" y="257296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4" name="Google Shape;394;p36"/>
          <p:cNvCxnSpPr>
            <a:stCxn id="391" idx="1"/>
            <a:endCxn id="393" idx="5"/>
          </p:cNvCxnSpPr>
          <p:nvPr/>
        </p:nvCxnSpPr>
        <p:spPr>
          <a:xfrm rot="10800000">
            <a:off x="4393725" y="2816238"/>
            <a:ext cx="393900" cy="30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6"/>
          <p:cNvCxnSpPr>
            <a:stCxn id="391" idx="1"/>
            <a:endCxn id="392" idx="6"/>
          </p:cNvCxnSpPr>
          <p:nvPr/>
        </p:nvCxnSpPr>
        <p:spPr>
          <a:xfrm rot="10800000">
            <a:off x="4337925" y="3119838"/>
            <a:ext cx="44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36"/>
          <p:cNvSpPr/>
          <p:nvPr/>
        </p:nvSpPr>
        <p:spPr>
          <a:xfrm>
            <a:off x="3910325" y="336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" name="Google Shape;397;p36"/>
          <p:cNvCxnSpPr>
            <a:stCxn id="391" idx="1"/>
            <a:endCxn id="396" idx="3"/>
          </p:cNvCxnSpPr>
          <p:nvPr/>
        </p:nvCxnSpPr>
        <p:spPr>
          <a:xfrm flipH="1">
            <a:off x="4195425" y="3119838"/>
            <a:ext cx="592200" cy="38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36"/>
          <p:cNvSpPr/>
          <p:nvPr/>
        </p:nvSpPr>
        <p:spPr>
          <a:xfrm>
            <a:off x="3463788" y="413583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4787625" y="413591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3463788" y="458571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1" name="Google Shape;401;p36"/>
          <p:cNvCxnSpPr>
            <a:stCxn id="400" idx="0"/>
            <a:endCxn id="398" idx="2"/>
          </p:cNvCxnSpPr>
          <p:nvPr/>
        </p:nvCxnSpPr>
        <p:spPr>
          <a:xfrm rot="10800000">
            <a:off x="3606288" y="4420711"/>
            <a:ext cx="0" cy="16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6"/>
          <p:cNvCxnSpPr>
            <a:stCxn id="398" idx="3"/>
            <a:endCxn id="399" idx="1"/>
          </p:cNvCxnSpPr>
          <p:nvPr/>
        </p:nvCxnSpPr>
        <p:spPr>
          <a:xfrm>
            <a:off x="3748788" y="4278338"/>
            <a:ext cx="103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36"/>
          <p:cNvSpPr/>
          <p:nvPr/>
        </p:nvSpPr>
        <p:spPr>
          <a:xfrm>
            <a:off x="4787625" y="458563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4" name="Google Shape;404;p36"/>
          <p:cNvCxnSpPr>
            <a:stCxn id="403" idx="0"/>
            <a:endCxn id="399" idx="2"/>
          </p:cNvCxnSpPr>
          <p:nvPr/>
        </p:nvCxnSpPr>
        <p:spPr>
          <a:xfrm rot="10800000">
            <a:off x="4930125" y="4420936"/>
            <a:ext cx="0" cy="16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6"/>
          <p:cNvSpPr/>
          <p:nvPr/>
        </p:nvSpPr>
        <p:spPr>
          <a:xfrm>
            <a:off x="6158463" y="374225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6307800" y="302276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7118175" y="356190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7123975" y="413016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7123975" y="30227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36"/>
          <p:cNvCxnSpPr>
            <a:stCxn id="406" idx="3"/>
            <a:endCxn id="409" idx="2"/>
          </p:cNvCxnSpPr>
          <p:nvPr/>
        </p:nvCxnSpPr>
        <p:spPr>
          <a:xfrm>
            <a:off x="6592800" y="3165264"/>
            <a:ext cx="531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36"/>
          <p:cNvSpPr/>
          <p:nvPr/>
        </p:nvSpPr>
        <p:spPr>
          <a:xfrm>
            <a:off x="6752375" y="4625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6"/>
          <p:cNvSpPr/>
          <p:nvPr/>
        </p:nvSpPr>
        <p:spPr>
          <a:xfrm>
            <a:off x="7483950" y="4625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" name="Google Shape;413;p36"/>
          <p:cNvCxnSpPr>
            <a:stCxn id="412" idx="1"/>
            <a:endCxn id="408" idx="2"/>
          </p:cNvCxnSpPr>
          <p:nvPr/>
        </p:nvCxnSpPr>
        <p:spPr>
          <a:xfrm rot="10800000">
            <a:off x="7266487" y="4415076"/>
            <a:ext cx="259200" cy="2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6"/>
          <p:cNvCxnSpPr>
            <a:stCxn id="411" idx="7"/>
            <a:endCxn id="408" idx="2"/>
          </p:cNvCxnSpPr>
          <p:nvPr/>
        </p:nvCxnSpPr>
        <p:spPr>
          <a:xfrm flipH="1" rot="10800000">
            <a:off x="6995638" y="4415076"/>
            <a:ext cx="270900" cy="2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6"/>
          <p:cNvCxnSpPr>
            <a:stCxn id="407" idx="0"/>
            <a:endCxn id="406" idx="3"/>
          </p:cNvCxnSpPr>
          <p:nvPr/>
        </p:nvCxnSpPr>
        <p:spPr>
          <a:xfrm rot="10800000">
            <a:off x="6592875" y="3165301"/>
            <a:ext cx="667800" cy="39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6"/>
          <p:cNvCxnSpPr>
            <a:stCxn id="407" idx="1"/>
            <a:endCxn id="405" idx="3"/>
          </p:cNvCxnSpPr>
          <p:nvPr/>
        </p:nvCxnSpPr>
        <p:spPr>
          <a:xfrm flipH="1">
            <a:off x="6443475" y="3704401"/>
            <a:ext cx="674700" cy="18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6"/>
          <p:cNvCxnSpPr>
            <a:stCxn id="407" idx="2"/>
            <a:endCxn id="408" idx="0"/>
          </p:cNvCxnSpPr>
          <p:nvPr/>
        </p:nvCxnSpPr>
        <p:spPr>
          <a:xfrm>
            <a:off x="7260675" y="3846901"/>
            <a:ext cx="5700" cy="28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36"/>
          <p:cNvSpPr/>
          <p:nvPr/>
        </p:nvSpPr>
        <p:spPr>
          <a:xfrm>
            <a:off x="7763400" y="35618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" name="Google Shape;419;p36"/>
          <p:cNvCxnSpPr>
            <a:stCxn id="407" idx="3"/>
            <a:endCxn id="418" idx="2"/>
          </p:cNvCxnSpPr>
          <p:nvPr/>
        </p:nvCxnSpPr>
        <p:spPr>
          <a:xfrm>
            <a:off x="7403175" y="3704401"/>
            <a:ext cx="36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6"/>
          <p:cNvCxnSpPr>
            <a:stCxn id="380" idx="3"/>
            <a:endCxn id="398" idx="1"/>
          </p:cNvCxnSpPr>
          <p:nvPr/>
        </p:nvCxnSpPr>
        <p:spPr>
          <a:xfrm>
            <a:off x="2364063" y="3677375"/>
            <a:ext cx="1099800" cy="60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6"/>
          <p:cNvCxnSpPr>
            <a:stCxn id="380" idx="3"/>
            <a:endCxn id="396" idx="1"/>
          </p:cNvCxnSpPr>
          <p:nvPr/>
        </p:nvCxnSpPr>
        <p:spPr>
          <a:xfrm flipH="1" rot="10800000">
            <a:off x="2364063" y="3503975"/>
            <a:ext cx="1546200" cy="17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6"/>
          <p:cNvCxnSpPr>
            <a:stCxn id="391" idx="3"/>
            <a:endCxn id="406" idx="1"/>
          </p:cNvCxnSpPr>
          <p:nvPr/>
        </p:nvCxnSpPr>
        <p:spPr>
          <a:xfrm>
            <a:off x="5072625" y="3119838"/>
            <a:ext cx="1235100" cy="4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6"/>
          <p:cNvCxnSpPr>
            <a:stCxn id="399" idx="3"/>
            <a:endCxn id="405" idx="1"/>
          </p:cNvCxnSpPr>
          <p:nvPr/>
        </p:nvCxnSpPr>
        <p:spPr>
          <a:xfrm flipH="1" rot="10800000">
            <a:off x="5072625" y="3884813"/>
            <a:ext cx="10857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36"/>
          <p:cNvSpPr/>
          <p:nvPr/>
        </p:nvSpPr>
        <p:spPr>
          <a:xfrm>
            <a:off x="7123975" y="25655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5" name="Google Shape;425;p36"/>
          <p:cNvCxnSpPr>
            <a:stCxn id="406" idx="3"/>
            <a:endCxn id="424" idx="3"/>
          </p:cNvCxnSpPr>
          <p:nvPr/>
        </p:nvCxnSpPr>
        <p:spPr>
          <a:xfrm flipH="1" rot="10800000">
            <a:off x="6592800" y="2808864"/>
            <a:ext cx="573000" cy="35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6"/>
          <p:cNvSpPr txBox="1"/>
          <p:nvPr>
            <p:ph idx="1" type="body"/>
          </p:nvPr>
        </p:nvSpPr>
        <p:spPr>
          <a:xfrm>
            <a:off x="107050" y="402200"/>
            <a:ext cx="8909700" cy="20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     End hosts </a:t>
            </a:r>
            <a:r>
              <a:rPr lang="en"/>
              <a:t>are the machines communicating over the Internet.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Houses.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 Your laptop, your phone, Google's server.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     Switches</a:t>
            </a:r>
            <a:r>
              <a:rPr lang="en"/>
              <a:t> (aka </a:t>
            </a:r>
            <a:r>
              <a:rPr b="1" lang="en"/>
              <a:t>routers</a:t>
            </a:r>
            <a:r>
              <a:rPr lang="en"/>
              <a:t>) receive packets and forward them toward their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Post offices.</a:t>
            </a: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107038" y="5570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107050" y="165388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 of Abstraction</a:t>
            </a:r>
            <a:endParaRPr/>
          </a:p>
        </p:txBody>
      </p: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107050" y="402200"/>
            <a:ext cx="8909700" cy="23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Modularity</a:t>
            </a:r>
            <a:r>
              <a:rPr lang="en"/>
              <a:t>: In our design, we decomposed the system into layers of abstraction.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layer relies on services from the layer below.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layer provides services to the layer above.</a:t>
            </a: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2050950" y="4508225"/>
            <a:ext cx="16224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2050950" y="3828413"/>
            <a:ext cx="16224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2050950" y="3148601"/>
            <a:ext cx="16224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" name="Google Shape;438;p37"/>
          <p:cNvCxnSpPr>
            <a:stCxn id="436" idx="2"/>
            <a:endCxn id="435" idx="0"/>
          </p:cNvCxnSpPr>
          <p:nvPr/>
        </p:nvCxnSpPr>
        <p:spPr>
          <a:xfrm>
            <a:off x="2862150" y="4199513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9" name="Google Shape;439;p37"/>
          <p:cNvCxnSpPr>
            <a:stCxn id="437" idx="2"/>
            <a:endCxn id="436" idx="0"/>
          </p:cNvCxnSpPr>
          <p:nvPr/>
        </p:nvCxnSpPr>
        <p:spPr>
          <a:xfrm>
            <a:off x="2862150" y="3519701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0" name="Google Shape;440;p37"/>
          <p:cNvSpPr txBox="1"/>
          <p:nvPr/>
        </p:nvSpPr>
        <p:spPr>
          <a:xfrm>
            <a:off x="1232850" y="45583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7"/>
          <p:cNvSpPr txBox="1"/>
          <p:nvPr/>
        </p:nvSpPr>
        <p:spPr>
          <a:xfrm>
            <a:off x="1232850" y="38785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37"/>
          <p:cNvSpPr txBox="1"/>
          <p:nvPr/>
        </p:nvSpPr>
        <p:spPr>
          <a:xfrm>
            <a:off x="1232850" y="31987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37"/>
          <p:cNvSpPr txBox="1"/>
          <p:nvPr/>
        </p:nvSpPr>
        <p:spPr>
          <a:xfrm>
            <a:off x="3825750" y="4558325"/>
            <a:ext cx="203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bits across space.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37"/>
          <p:cNvSpPr txBox="1"/>
          <p:nvPr/>
        </p:nvSpPr>
        <p:spPr>
          <a:xfrm>
            <a:off x="3825750" y="3872525"/>
            <a:ext cx="2520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links in a local network.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7"/>
          <p:cNvSpPr txBox="1"/>
          <p:nvPr/>
        </p:nvSpPr>
        <p:spPr>
          <a:xfrm>
            <a:off x="3825750" y="3186725"/>
            <a:ext cx="4085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many local networks to form the Internet.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8"/>
          <p:cNvSpPr/>
          <p:nvPr/>
        </p:nvSpPr>
        <p:spPr>
          <a:xfrm>
            <a:off x="3531125" y="2516450"/>
            <a:ext cx="1571400" cy="12849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3199850" y="3874700"/>
            <a:ext cx="2141400" cy="12087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6111450" y="2406275"/>
            <a:ext cx="2218800" cy="2677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793550" y="2669875"/>
            <a:ext cx="1636200" cy="2072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Delivery at Layer 3</a:t>
            </a:r>
            <a:endParaRPr/>
          </a:p>
        </p:txBody>
      </p:sp>
      <p:sp>
        <p:nvSpPr>
          <p:cNvPr id="455" name="Google Shape;455;p38"/>
          <p:cNvSpPr/>
          <p:nvPr/>
        </p:nvSpPr>
        <p:spPr>
          <a:xfrm>
            <a:off x="1481775" y="3242375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8"/>
          <p:cNvSpPr/>
          <p:nvPr/>
        </p:nvSpPr>
        <p:spPr>
          <a:xfrm>
            <a:off x="1268388" y="27597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1695163" y="27597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996863" y="4167300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9" name="Google Shape;459;p38"/>
          <p:cNvCxnSpPr>
            <a:stCxn id="456" idx="5"/>
            <a:endCxn id="455" idx="0"/>
          </p:cNvCxnSpPr>
          <p:nvPr/>
        </p:nvCxnSpPr>
        <p:spPr>
          <a:xfrm>
            <a:off x="1511650" y="3002963"/>
            <a:ext cx="112500" cy="2394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8"/>
          <p:cNvCxnSpPr>
            <a:stCxn id="455" idx="0"/>
            <a:endCxn id="457" idx="3"/>
          </p:cNvCxnSpPr>
          <p:nvPr/>
        </p:nvCxnSpPr>
        <p:spPr>
          <a:xfrm flipH="1" rot="10800000">
            <a:off x="1624275" y="3002975"/>
            <a:ext cx="112500" cy="2394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8"/>
          <p:cNvCxnSpPr>
            <a:stCxn id="462" idx="1"/>
            <a:endCxn id="458" idx="6"/>
          </p:cNvCxnSpPr>
          <p:nvPr/>
        </p:nvCxnSpPr>
        <p:spPr>
          <a:xfrm flipH="1">
            <a:off x="1281975" y="4092200"/>
            <a:ext cx="199800" cy="2175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38"/>
          <p:cNvCxnSpPr>
            <a:stCxn id="455" idx="2"/>
            <a:endCxn id="462" idx="0"/>
          </p:cNvCxnSpPr>
          <p:nvPr/>
        </p:nvCxnSpPr>
        <p:spPr>
          <a:xfrm>
            <a:off x="1624275" y="3527375"/>
            <a:ext cx="0" cy="4224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38"/>
          <p:cNvSpPr/>
          <p:nvPr/>
        </p:nvSpPr>
        <p:spPr>
          <a:xfrm>
            <a:off x="4052925" y="2977338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8"/>
          <p:cNvSpPr/>
          <p:nvPr/>
        </p:nvSpPr>
        <p:spPr>
          <a:xfrm>
            <a:off x="4150350" y="2572963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6" name="Google Shape;466;p38"/>
          <p:cNvCxnSpPr>
            <a:stCxn id="467" idx="1"/>
            <a:endCxn id="465" idx="5"/>
          </p:cNvCxnSpPr>
          <p:nvPr/>
        </p:nvCxnSpPr>
        <p:spPr>
          <a:xfrm rot="10800000">
            <a:off x="4393725" y="2816238"/>
            <a:ext cx="393900" cy="303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38"/>
          <p:cNvCxnSpPr>
            <a:stCxn id="467" idx="1"/>
            <a:endCxn id="464" idx="6"/>
          </p:cNvCxnSpPr>
          <p:nvPr/>
        </p:nvCxnSpPr>
        <p:spPr>
          <a:xfrm rot="10800000">
            <a:off x="4337925" y="3119838"/>
            <a:ext cx="4497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38"/>
          <p:cNvSpPr/>
          <p:nvPr/>
        </p:nvSpPr>
        <p:spPr>
          <a:xfrm>
            <a:off x="3463788" y="4135838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8"/>
          <p:cNvSpPr/>
          <p:nvPr/>
        </p:nvSpPr>
        <p:spPr>
          <a:xfrm>
            <a:off x="4787625" y="4135913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8"/>
          <p:cNvSpPr/>
          <p:nvPr/>
        </p:nvSpPr>
        <p:spPr>
          <a:xfrm>
            <a:off x="3463788" y="4585711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8"/>
          <p:cNvCxnSpPr>
            <a:stCxn id="471" idx="0"/>
            <a:endCxn id="469" idx="2"/>
          </p:cNvCxnSpPr>
          <p:nvPr/>
        </p:nvCxnSpPr>
        <p:spPr>
          <a:xfrm rot="10800000">
            <a:off x="3606288" y="4420711"/>
            <a:ext cx="0" cy="1650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38"/>
          <p:cNvCxnSpPr>
            <a:stCxn id="469" idx="3"/>
            <a:endCxn id="470" idx="1"/>
          </p:cNvCxnSpPr>
          <p:nvPr/>
        </p:nvCxnSpPr>
        <p:spPr>
          <a:xfrm>
            <a:off x="3748788" y="4278338"/>
            <a:ext cx="1038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38"/>
          <p:cNvSpPr/>
          <p:nvPr/>
        </p:nvSpPr>
        <p:spPr>
          <a:xfrm>
            <a:off x="4787625" y="4585636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5" name="Google Shape;475;p38"/>
          <p:cNvCxnSpPr>
            <a:stCxn id="474" idx="0"/>
            <a:endCxn id="470" idx="2"/>
          </p:cNvCxnSpPr>
          <p:nvPr/>
        </p:nvCxnSpPr>
        <p:spPr>
          <a:xfrm rot="10800000">
            <a:off x="4930125" y="4420936"/>
            <a:ext cx="0" cy="164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38"/>
          <p:cNvSpPr/>
          <p:nvPr/>
        </p:nvSpPr>
        <p:spPr>
          <a:xfrm>
            <a:off x="6158463" y="3742251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8"/>
          <p:cNvSpPr/>
          <p:nvPr/>
        </p:nvSpPr>
        <p:spPr>
          <a:xfrm>
            <a:off x="7123975" y="4130164"/>
            <a:ext cx="285000" cy="2850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7123975" y="3022764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" name="Google Shape;479;p38"/>
          <p:cNvCxnSpPr>
            <a:stCxn id="480" idx="3"/>
            <a:endCxn id="478" idx="2"/>
          </p:cNvCxnSpPr>
          <p:nvPr/>
        </p:nvCxnSpPr>
        <p:spPr>
          <a:xfrm>
            <a:off x="6592800" y="3165264"/>
            <a:ext cx="531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38"/>
          <p:cNvSpPr/>
          <p:nvPr/>
        </p:nvSpPr>
        <p:spPr>
          <a:xfrm>
            <a:off x="6752375" y="4625939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7483950" y="4625939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" name="Google Shape;483;p38"/>
          <p:cNvCxnSpPr>
            <a:stCxn id="482" idx="1"/>
            <a:endCxn id="477" idx="2"/>
          </p:cNvCxnSpPr>
          <p:nvPr/>
        </p:nvCxnSpPr>
        <p:spPr>
          <a:xfrm rot="10800000">
            <a:off x="7266487" y="4415076"/>
            <a:ext cx="259200" cy="252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8"/>
          <p:cNvCxnSpPr>
            <a:stCxn id="481" idx="7"/>
            <a:endCxn id="477" idx="2"/>
          </p:cNvCxnSpPr>
          <p:nvPr/>
        </p:nvCxnSpPr>
        <p:spPr>
          <a:xfrm flipH="1" rot="10800000">
            <a:off x="6995638" y="4415076"/>
            <a:ext cx="270900" cy="252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38"/>
          <p:cNvCxnSpPr>
            <a:stCxn id="486" idx="1"/>
            <a:endCxn id="476" idx="3"/>
          </p:cNvCxnSpPr>
          <p:nvPr/>
        </p:nvCxnSpPr>
        <p:spPr>
          <a:xfrm flipH="1">
            <a:off x="6443475" y="3704401"/>
            <a:ext cx="674700" cy="1803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8"/>
          <p:cNvCxnSpPr>
            <a:stCxn id="486" idx="2"/>
            <a:endCxn id="477" idx="0"/>
          </p:cNvCxnSpPr>
          <p:nvPr/>
        </p:nvCxnSpPr>
        <p:spPr>
          <a:xfrm>
            <a:off x="7260675" y="3846901"/>
            <a:ext cx="5700" cy="2832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8"/>
          <p:cNvCxnSpPr>
            <a:stCxn id="489" idx="3"/>
            <a:endCxn id="469" idx="1"/>
          </p:cNvCxnSpPr>
          <p:nvPr/>
        </p:nvCxnSpPr>
        <p:spPr>
          <a:xfrm>
            <a:off x="2364063" y="3677375"/>
            <a:ext cx="1099800" cy="6009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38"/>
          <p:cNvCxnSpPr>
            <a:stCxn id="470" idx="3"/>
            <a:endCxn id="476" idx="1"/>
          </p:cNvCxnSpPr>
          <p:nvPr/>
        </p:nvCxnSpPr>
        <p:spPr>
          <a:xfrm flipH="1" rot="10800000">
            <a:off x="5072625" y="3884813"/>
            <a:ext cx="1085700" cy="393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38"/>
          <p:cNvSpPr/>
          <p:nvPr/>
        </p:nvSpPr>
        <p:spPr>
          <a:xfrm>
            <a:off x="7123975" y="2565564"/>
            <a:ext cx="285000" cy="2850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2" name="Google Shape;492;p38"/>
          <p:cNvCxnSpPr>
            <a:stCxn id="480" idx="3"/>
            <a:endCxn id="491" idx="3"/>
          </p:cNvCxnSpPr>
          <p:nvPr/>
        </p:nvCxnSpPr>
        <p:spPr>
          <a:xfrm flipH="1" rot="10800000">
            <a:off x="6592800" y="2808864"/>
            <a:ext cx="573000" cy="3564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38"/>
          <p:cNvSpPr txBox="1"/>
          <p:nvPr>
            <p:ph idx="1" type="body"/>
          </p:nvPr>
        </p:nvSpPr>
        <p:spPr>
          <a:xfrm>
            <a:off x="107050" y="402200"/>
            <a:ext cx="8909700" cy="20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packet can take multiple </a:t>
            </a:r>
            <a:r>
              <a:rPr b="1" lang="en"/>
              <a:t>hops</a:t>
            </a:r>
            <a:r>
              <a:rPr lang="en"/>
              <a:t> to reach its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needs to </a:t>
            </a:r>
            <a:r>
              <a:rPr b="1" lang="en"/>
              <a:t>forward</a:t>
            </a:r>
            <a:r>
              <a:rPr lang="en"/>
              <a:t> the packet closer to its destination.</a:t>
            </a:r>
            <a:endParaRPr/>
          </a:p>
        </p:txBody>
      </p:sp>
      <p:sp>
        <p:nvSpPr>
          <p:cNvPr id="462" name="Google Shape;462;p38"/>
          <p:cNvSpPr/>
          <p:nvPr/>
        </p:nvSpPr>
        <p:spPr>
          <a:xfrm>
            <a:off x="1481775" y="39497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2079063" y="35348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38"/>
          <p:cNvSpPr/>
          <p:nvPr/>
        </p:nvSpPr>
        <p:spPr>
          <a:xfrm>
            <a:off x="996863" y="37321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5" name="Google Shape;495;p38"/>
          <p:cNvCxnSpPr>
            <a:stCxn id="462" idx="1"/>
            <a:endCxn id="494" idx="6"/>
          </p:cNvCxnSpPr>
          <p:nvPr/>
        </p:nvCxnSpPr>
        <p:spPr>
          <a:xfrm rot="10800000">
            <a:off x="1281975" y="3874700"/>
            <a:ext cx="199800" cy="21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8"/>
          <p:cNvCxnSpPr>
            <a:stCxn id="462" idx="0"/>
            <a:endCxn id="489" idx="1"/>
          </p:cNvCxnSpPr>
          <p:nvPr/>
        </p:nvCxnSpPr>
        <p:spPr>
          <a:xfrm flipH="1" rot="10800000">
            <a:off x="1624275" y="3677300"/>
            <a:ext cx="454800" cy="27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38"/>
          <p:cNvSpPr/>
          <p:nvPr/>
        </p:nvSpPr>
        <p:spPr>
          <a:xfrm>
            <a:off x="4787625" y="297733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8"/>
          <p:cNvSpPr/>
          <p:nvPr/>
        </p:nvSpPr>
        <p:spPr>
          <a:xfrm>
            <a:off x="3910325" y="336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38"/>
          <p:cNvCxnSpPr>
            <a:stCxn id="467" idx="1"/>
            <a:endCxn id="497" idx="3"/>
          </p:cNvCxnSpPr>
          <p:nvPr/>
        </p:nvCxnSpPr>
        <p:spPr>
          <a:xfrm flipH="1">
            <a:off x="4195425" y="3119838"/>
            <a:ext cx="592200" cy="384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38"/>
          <p:cNvSpPr/>
          <p:nvPr/>
        </p:nvSpPr>
        <p:spPr>
          <a:xfrm>
            <a:off x="6307800" y="3022764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7118175" y="356190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" name="Google Shape;499;p38"/>
          <p:cNvCxnSpPr>
            <a:stCxn id="486" idx="0"/>
            <a:endCxn id="480" idx="3"/>
          </p:cNvCxnSpPr>
          <p:nvPr/>
        </p:nvCxnSpPr>
        <p:spPr>
          <a:xfrm rot="10800000">
            <a:off x="6592875" y="3165301"/>
            <a:ext cx="667800" cy="39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38"/>
          <p:cNvSpPr/>
          <p:nvPr/>
        </p:nvSpPr>
        <p:spPr>
          <a:xfrm>
            <a:off x="7763400" y="35618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38"/>
          <p:cNvCxnSpPr>
            <a:stCxn id="486" idx="3"/>
            <a:endCxn id="500" idx="2"/>
          </p:cNvCxnSpPr>
          <p:nvPr/>
        </p:nvCxnSpPr>
        <p:spPr>
          <a:xfrm>
            <a:off x="7403175" y="3704401"/>
            <a:ext cx="360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8"/>
          <p:cNvCxnSpPr>
            <a:stCxn id="489" idx="3"/>
            <a:endCxn id="497" idx="1"/>
          </p:cNvCxnSpPr>
          <p:nvPr/>
        </p:nvCxnSpPr>
        <p:spPr>
          <a:xfrm flipH="1" rot="10800000">
            <a:off x="2364063" y="3503975"/>
            <a:ext cx="1546200" cy="17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8"/>
          <p:cNvCxnSpPr>
            <a:stCxn id="467" idx="3"/>
            <a:endCxn id="480" idx="1"/>
          </p:cNvCxnSpPr>
          <p:nvPr/>
        </p:nvCxnSpPr>
        <p:spPr>
          <a:xfrm>
            <a:off x="5072625" y="3119838"/>
            <a:ext cx="1235100" cy="4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 is Best-Effort</a:t>
            </a:r>
            <a:endParaRPr/>
          </a:p>
        </p:txBody>
      </p:sp>
      <p:sp>
        <p:nvSpPr>
          <p:cNvPr id="509" name="Google Shape;509;p3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3 offers a </a:t>
            </a:r>
            <a:r>
              <a:rPr b="1" lang="en"/>
              <a:t>best-effort</a:t>
            </a:r>
            <a:r>
              <a:rPr lang="en"/>
              <a:t> service model.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are limited in size.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could get lost, reordered, corrupted,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will try its best to deliver your packet, but no guarantee.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won't tell you if the delivery failed.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build more layers if we want to guarantee packet delivery.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0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 Networking 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1.1. Protocols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1.8. Demultiplexing with Ports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2. Introducing Traceroute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15" name="Google Shape;515;p4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Higher Layers</a:t>
            </a:r>
            <a:endParaRPr/>
          </a:p>
        </p:txBody>
      </p:sp>
      <p:sp>
        <p:nvSpPr>
          <p:cNvPr id="516" name="Google Shape;516;p4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4 – Reliability</a:t>
            </a:r>
            <a:endParaRPr/>
          </a:p>
        </p:txBody>
      </p:sp>
      <p:sp>
        <p:nvSpPr>
          <p:cNvPr id="522" name="Google Shape;522;p41"/>
          <p:cNvSpPr txBox="1"/>
          <p:nvPr>
            <p:ph idx="1" type="body"/>
          </p:nvPr>
        </p:nvSpPr>
        <p:spPr>
          <a:xfrm>
            <a:off x="107050" y="402200"/>
            <a:ext cx="8909700" cy="19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Transport</a:t>
            </a:r>
            <a:r>
              <a:rPr lang="en"/>
              <a:t> layer builds on top of Layer 3 (global packet delivery).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Adds extra mechanisms (e.g. re-sending lost packets) for reliable packet delivery.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Splits up large data into packets to send them. Reassembles received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individual packets, can think about </a:t>
            </a:r>
            <a:r>
              <a:rPr b="1" lang="en"/>
              <a:t>flows</a:t>
            </a:r>
            <a:r>
              <a:rPr lang="en"/>
              <a:t> (aka </a:t>
            </a:r>
            <a:r>
              <a:rPr b="1" lang="en"/>
              <a:t>connections</a:t>
            </a:r>
            <a:r>
              <a:rPr lang="en"/>
              <a:t>): A stream of packets exchanged between two endpoints.</a:t>
            </a:r>
            <a:endParaRPr/>
          </a:p>
        </p:txBody>
      </p:sp>
      <p:sp>
        <p:nvSpPr>
          <p:cNvPr id="523" name="Google Shape;523;p41"/>
          <p:cNvSpPr/>
          <p:nvPr/>
        </p:nvSpPr>
        <p:spPr>
          <a:xfrm>
            <a:off x="2050950" y="4508225"/>
            <a:ext cx="16224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41"/>
          <p:cNvSpPr/>
          <p:nvPr/>
        </p:nvSpPr>
        <p:spPr>
          <a:xfrm>
            <a:off x="2050950" y="3828413"/>
            <a:ext cx="16224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41"/>
          <p:cNvSpPr/>
          <p:nvPr/>
        </p:nvSpPr>
        <p:spPr>
          <a:xfrm>
            <a:off x="2050950" y="3148601"/>
            <a:ext cx="16224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41"/>
          <p:cNvCxnSpPr>
            <a:stCxn id="524" idx="2"/>
            <a:endCxn id="523" idx="0"/>
          </p:cNvCxnSpPr>
          <p:nvPr/>
        </p:nvCxnSpPr>
        <p:spPr>
          <a:xfrm>
            <a:off x="2862150" y="4199513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27" name="Google Shape;527;p41"/>
          <p:cNvCxnSpPr>
            <a:stCxn id="525" idx="2"/>
            <a:endCxn id="524" idx="0"/>
          </p:cNvCxnSpPr>
          <p:nvPr/>
        </p:nvCxnSpPr>
        <p:spPr>
          <a:xfrm>
            <a:off x="2862150" y="3519701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28" name="Google Shape;528;p41"/>
          <p:cNvSpPr txBox="1"/>
          <p:nvPr/>
        </p:nvSpPr>
        <p:spPr>
          <a:xfrm>
            <a:off x="1232850" y="45583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41"/>
          <p:cNvSpPr txBox="1"/>
          <p:nvPr/>
        </p:nvSpPr>
        <p:spPr>
          <a:xfrm>
            <a:off x="1232850" y="38785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41"/>
          <p:cNvSpPr txBox="1"/>
          <p:nvPr/>
        </p:nvSpPr>
        <p:spPr>
          <a:xfrm>
            <a:off x="1232850" y="31987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41"/>
          <p:cNvSpPr txBox="1"/>
          <p:nvPr/>
        </p:nvSpPr>
        <p:spPr>
          <a:xfrm>
            <a:off x="3825750" y="4558325"/>
            <a:ext cx="203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bits across space.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41"/>
          <p:cNvSpPr txBox="1"/>
          <p:nvPr/>
        </p:nvSpPr>
        <p:spPr>
          <a:xfrm>
            <a:off x="3825750" y="3872525"/>
            <a:ext cx="2520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links in a local network.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41"/>
          <p:cNvSpPr txBox="1"/>
          <p:nvPr/>
        </p:nvSpPr>
        <p:spPr>
          <a:xfrm>
            <a:off x="3825750" y="3186725"/>
            <a:ext cx="4085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many local networks to form the Internet.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41"/>
          <p:cNvSpPr/>
          <p:nvPr/>
        </p:nvSpPr>
        <p:spPr>
          <a:xfrm>
            <a:off x="2050950" y="2462801"/>
            <a:ext cx="16224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5" name="Google Shape;535;p41"/>
          <p:cNvCxnSpPr>
            <a:stCxn id="534" idx="2"/>
            <a:endCxn id="525" idx="0"/>
          </p:cNvCxnSpPr>
          <p:nvPr/>
        </p:nvCxnSpPr>
        <p:spPr>
          <a:xfrm>
            <a:off x="2862150" y="2833901"/>
            <a:ext cx="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36" name="Google Shape;536;p41"/>
          <p:cNvSpPr txBox="1"/>
          <p:nvPr/>
        </p:nvSpPr>
        <p:spPr>
          <a:xfrm>
            <a:off x="1232850" y="25129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41"/>
          <p:cNvSpPr txBox="1"/>
          <p:nvPr/>
        </p:nvSpPr>
        <p:spPr>
          <a:xfrm>
            <a:off x="3825750" y="2500925"/>
            <a:ext cx="4085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Reliably deliver packets, forming connections.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7 – Application</a:t>
            </a:r>
            <a:endParaRPr/>
          </a:p>
        </p:txBody>
      </p:sp>
      <p:sp>
        <p:nvSpPr>
          <p:cNvPr id="543" name="Google Shape;543;p42"/>
          <p:cNvSpPr txBox="1"/>
          <p:nvPr>
            <p:ph idx="1" type="body"/>
          </p:nvPr>
        </p:nvSpPr>
        <p:spPr>
          <a:xfrm>
            <a:off x="107050" y="402200"/>
            <a:ext cx="8909700" cy="1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Application </a:t>
            </a:r>
            <a:r>
              <a:rPr lang="en"/>
              <a:t>layer builds services (e.g. websites, video streaming) on top of Layer 4.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design lets us build different services, all on the same infrastructure.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Layers 5 and 6 are now obsolete.</a:t>
            </a:r>
            <a:endParaRPr/>
          </a:p>
        </p:txBody>
      </p:sp>
      <p:sp>
        <p:nvSpPr>
          <p:cNvPr id="544" name="Google Shape;544;p42"/>
          <p:cNvSpPr/>
          <p:nvPr/>
        </p:nvSpPr>
        <p:spPr>
          <a:xfrm>
            <a:off x="2050950" y="4508225"/>
            <a:ext cx="16224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42"/>
          <p:cNvSpPr/>
          <p:nvPr/>
        </p:nvSpPr>
        <p:spPr>
          <a:xfrm>
            <a:off x="2050950" y="3828413"/>
            <a:ext cx="16224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2"/>
          <p:cNvSpPr/>
          <p:nvPr/>
        </p:nvSpPr>
        <p:spPr>
          <a:xfrm>
            <a:off x="2050950" y="3148601"/>
            <a:ext cx="16224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42"/>
          <p:cNvCxnSpPr>
            <a:stCxn id="545" idx="2"/>
            <a:endCxn id="544" idx="0"/>
          </p:cNvCxnSpPr>
          <p:nvPr/>
        </p:nvCxnSpPr>
        <p:spPr>
          <a:xfrm>
            <a:off x="2862150" y="4199513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8" name="Google Shape;548;p42"/>
          <p:cNvCxnSpPr>
            <a:stCxn id="546" idx="2"/>
            <a:endCxn id="545" idx="0"/>
          </p:cNvCxnSpPr>
          <p:nvPr/>
        </p:nvCxnSpPr>
        <p:spPr>
          <a:xfrm>
            <a:off x="2862150" y="3519701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9" name="Google Shape;549;p42"/>
          <p:cNvSpPr txBox="1"/>
          <p:nvPr/>
        </p:nvSpPr>
        <p:spPr>
          <a:xfrm>
            <a:off x="1232850" y="45583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42"/>
          <p:cNvSpPr txBox="1"/>
          <p:nvPr/>
        </p:nvSpPr>
        <p:spPr>
          <a:xfrm>
            <a:off x="1232850" y="38785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42"/>
          <p:cNvSpPr txBox="1"/>
          <p:nvPr/>
        </p:nvSpPr>
        <p:spPr>
          <a:xfrm>
            <a:off x="1232850" y="31987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42"/>
          <p:cNvSpPr txBox="1"/>
          <p:nvPr/>
        </p:nvSpPr>
        <p:spPr>
          <a:xfrm>
            <a:off x="3825750" y="4558325"/>
            <a:ext cx="203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bits across space.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42"/>
          <p:cNvSpPr txBox="1"/>
          <p:nvPr/>
        </p:nvSpPr>
        <p:spPr>
          <a:xfrm>
            <a:off x="3825750" y="3872525"/>
            <a:ext cx="2520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links in a local network.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42"/>
          <p:cNvSpPr txBox="1"/>
          <p:nvPr/>
        </p:nvSpPr>
        <p:spPr>
          <a:xfrm>
            <a:off x="3825750" y="3186725"/>
            <a:ext cx="4085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many local networks to form the Internet.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2050950" y="2462801"/>
            <a:ext cx="16224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6" name="Google Shape;556;p42"/>
          <p:cNvCxnSpPr>
            <a:stCxn id="555" idx="2"/>
            <a:endCxn id="546" idx="0"/>
          </p:cNvCxnSpPr>
          <p:nvPr/>
        </p:nvCxnSpPr>
        <p:spPr>
          <a:xfrm>
            <a:off x="2862150" y="2833901"/>
            <a:ext cx="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57" name="Google Shape;557;p42"/>
          <p:cNvSpPr txBox="1"/>
          <p:nvPr/>
        </p:nvSpPr>
        <p:spPr>
          <a:xfrm>
            <a:off x="1232850" y="25129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42"/>
          <p:cNvSpPr txBox="1"/>
          <p:nvPr/>
        </p:nvSpPr>
        <p:spPr>
          <a:xfrm>
            <a:off x="3825750" y="2500925"/>
            <a:ext cx="4085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Reliably deliver packets, forming connections.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42"/>
          <p:cNvSpPr/>
          <p:nvPr/>
        </p:nvSpPr>
        <p:spPr>
          <a:xfrm>
            <a:off x="2050950" y="1777001"/>
            <a:ext cx="16224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0" name="Google Shape;560;p42"/>
          <p:cNvCxnSpPr>
            <a:stCxn id="559" idx="2"/>
            <a:endCxn id="555" idx="0"/>
          </p:cNvCxnSpPr>
          <p:nvPr/>
        </p:nvCxnSpPr>
        <p:spPr>
          <a:xfrm>
            <a:off x="2862150" y="2148101"/>
            <a:ext cx="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61" name="Google Shape;561;p42"/>
          <p:cNvSpPr txBox="1"/>
          <p:nvPr/>
        </p:nvSpPr>
        <p:spPr>
          <a:xfrm>
            <a:off x="1232850" y="182712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42"/>
          <p:cNvSpPr txBox="1"/>
          <p:nvPr/>
        </p:nvSpPr>
        <p:spPr>
          <a:xfrm>
            <a:off x="3825750" y="1815125"/>
            <a:ext cx="449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 services on top of the Internet infrastructure.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3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 Networking 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1.1. Protocols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1.8. Demultiplexing with Ports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2. Introducing Traceroute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68" name="Google Shape;568;p4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Headers</a:t>
            </a:r>
            <a:endParaRPr/>
          </a:p>
        </p:txBody>
      </p:sp>
      <p:sp>
        <p:nvSpPr>
          <p:cNvPr id="569" name="Google Shape;569;p4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Headers?</a:t>
            </a:r>
            <a:endParaRPr/>
          </a:p>
        </p:txBody>
      </p:sp>
      <p:sp>
        <p:nvSpPr>
          <p:cNvPr id="575" name="Google Shape;575;p44"/>
          <p:cNvSpPr txBox="1"/>
          <p:nvPr>
            <p:ph idx="1" type="body"/>
          </p:nvPr>
        </p:nvSpPr>
        <p:spPr>
          <a:xfrm>
            <a:off x="107050" y="402200"/>
            <a:ext cx="8909700" cy="27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A wants to send an image to B.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forms a packet with the bits of the image.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May need to split image into multiple packets.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sends the packet to the next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router has no idea what these bits are for!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packet needs some extra </a:t>
            </a:r>
            <a:r>
              <a:rPr b="1" lang="en"/>
              <a:t>metadata</a:t>
            </a:r>
            <a:r>
              <a:rPr lang="en"/>
              <a:t>, to tell us what to do with the packet.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Letter needs to be put in an envelope.</a:t>
            </a:r>
            <a:br>
              <a:rPr lang="en"/>
            </a:br>
            <a:r>
              <a:rPr lang="en"/>
              <a:t>Envelope describes what to do with the letter.</a:t>
            </a:r>
            <a:endParaRPr/>
          </a:p>
        </p:txBody>
      </p:sp>
      <p:sp>
        <p:nvSpPr>
          <p:cNvPr id="576" name="Google Shape;576;p44"/>
          <p:cNvSpPr/>
          <p:nvPr/>
        </p:nvSpPr>
        <p:spPr>
          <a:xfrm>
            <a:off x="30387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44"/>
          <p:cNvSpPr/>
          <p:nvPr/>
        </p:nvSpPr>
        <p:spPr>
          <a:xfrm>
            <a:off x="1667088" y="4265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" name="Google Shape;578;p44"/>
          <p:cNvCxnSpPr>
            <a:stCxn id="577" idx="6"/>
            <a:endCxn id="576" idx="1"/>
          </p:cNvCxnSpPr>
          <p:nvPr/>
        </p:nvCxnSpPr>
        <p:spPr>
          <a:xfrm>
            <a:off x="1952088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" name="Google Shape;579;p44"/>
          <p:cNvSpPr/>
          <p:nvPr/>
        </p:nvSpPr>
        <p:spPr>
          <a:xfrm>
            <a:off x="44103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0" name="Google Shape;580;p44"/>
          <p:cNvCxnSpPr>
            <a:stCxn id="576" idx="3"/>
            <a:endCxn id="579" idx="1"/>
          </p:cNvCxnSpPr>
          <p:nvPr/>
        </p:nvCxnSpPr>
        <p:spPr>
          <a:xfrm>
            <a:off x="3323700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44"/>
          <p:cNvSpPr/>
          <p:nvPr/>
        </p:nvSpPr>
        <p:spPr>
          <a:xfrm>
            <a:off x="57819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2" name="Google Shape;582;p44"/>
          <p:cNvCxnSpPr>
            <a:stCxn id="579" idx="3"/>
            <a:endCxn id="581" idx="1"/>
          </p:cNvCxnSpPr>
          <p:nvPr/>
        </p:nvCxnSpPr>
        <p:spPr>
          <a:xfrm>
            <a:off x="4695300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4"/>
          <p:cNvCxnSpPr>
            <a:stCxn id="581" idx="3"/>
            <a:endCxn id="584" idx="2"/>
          </p:cNvCxnSpPr>
          <p:nvPr/>
        </p:nvCxnSpPr>
        <p:spPr>
          <a:xfrm>
            <a:off x="6066900" y="440787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44"/>
          <p:cNvSpPr/>
          <p:nvPr/>
        </p:nvSpPr>
        <p:spPr>
          <a:xfrm>
            <a:off x="7077288" y="4265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44"/>
          <p:cNvSpPr txBox="1"/>
          <p:nvPr/>
        </p:nvSpPr>
        <p:spPr>
          <a:xfrm>
            <a:off x="14907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/>
          </a:p>
        </p:txBody>
      </p:sp>
      <p:sp>
        <p:nvSpPr>
          <p:cNvPr id="586" name="Google Shape;586;p44"/>
          <p:cNvSpPr txBox="1"/>
          <p:nvPr/>
        </p:nvSpPr>
        <p:spPr>
          <a:xfrm>
            <a:off x="6786300" y="4599625"/>
            <a:ext cx="86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/>
          </a:p>
        </p:txBody>
      </p:sp>
      <p:sp>
        <p:nvSpPr>
          <p:cNvPr id="587" name="Google Shape;587;p44"/>
          <p:cNvSpPr txBox="1"/>
          <p:nvPr/>
        </p:nvSpPr>
        <p:spPr>
          <a:xfrm>
            <a:off x="28623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588" name="Google Shape;588;p44"/>
          <p:cNvSpPr txBox="1"/>
          <p:nvPr/>
        </p:nvSpPr>
        <p:spPr>
          <a:xfrm>
            <a:off x="42339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589" name="Google Shape;589;p44"/>
          <p:cNvSpPr txBox="1"/>
          <p:nvPr/>
        </p:nvSpPr>
        <p:spPr>
          <a:xfrm>
            <a:off x="56055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590" name="Google Shape;590;p44"/>
          <p:cNvSpPr/>
          <p:nvPr/>
        </p:nvSpPr>
        <p:spPr>
          <a:xfrm>
            <a:off x="1855800" y="3363325"/>
            <a:ext cx="1279200" cy="520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01000111100010101001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44"/>
          <p:cNvCxnSpPr/>
          <p:nvPr/>
        </p:nvCxnSpPr>
        <p:spPr>
          <a:xfrm>
            <a:off x="1970875" y="4065075"/>
            <a:ext cx="1037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2" name="Google Shape;592;p44"/>
          <p:cNvSpPr/>
          <p:nvPr/>
        </p:nvSpPr>
        <p:spPr>
          <a:xfrm>
            <a:off x="3365750" y="3856725"/>
            <a:ext cx="505500" cy="359400"/>
          </a:xfrm>
          <a:prstGeom prst="wedgeRoundRectCallout">
            <a:avLst>
              <a:gd fmla="val -74639" name="adj1"/>
              <a:gd fmla="val 49889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Header Fields</a:t>
            </a:r>
            <a:endParaRPr/>
          </a:p>
        </p:txBody>
      </p:sp>
      <p:sp>
        <p:nvSpPr>
          <p:cNvPr id="598" name="Google Shape;598;p45"/>
          <p:cNvSpPr txBox="1"/>
          <p:nvPr>
            <p:ph idx="1" type="body"/>
          </p:nvPr>
        </p:nvSpPr>
        <p:spPr>
          <a:xfrm>
            <a:off x="107050" y="402200"/>
            <a:ext cx="8909700" cy="21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packet </a:t>
            </a:r>
            <a:r>
              <a:rPr b="1" lang="en"/>
              <a:t>header</a:t>
            </a:r>
            <a:r>
              <a:rPr lang="en"/>
              <a:t> contains metadata describing how the data should be sent.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common fields in a header: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 address: Required to deliver the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address: Useful if the recipient wants to send replies back.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actual data in the packet is called the </a:t>
            </a:r>
            <a:r>
              <a:rPr b="1" lang="en"/>
              <a:t>payload</a:t>
            </a:r>
            <a:r>
              <a:rPr lang="en"/>
              <a:t>.</a:t>
            </a:r>
            <a:endParaRPr/>
          </a:p>
        </p:txBody>
      </p:sp>
      <p:sp>
        <p:nvSpPr>
          <p:cNvPr id="599" name="Google Shape;599;p45"/>
          <p:cNvSpPr/>
          <p:nvPr/>
        </p:nvSpPr>
        <p:spPr>
          <a:xfrm>
            <a:off x="30387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45"/>
          <p:cNvSpPr/>
          <p:nvPr/>
        </p:nvSpPr>
        <p:spPr>
          <a:xfrm>
            <a:off x="1667088" y="4265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" name="Google Shape;601;p45"/>
          <p:cNvCxnSpPr>
            <a:stCxn id="600" idx="6"/>
            <a:endCxn id="599" idx="1"/>
          </p:cNvCxnSpPr>
          <p:nvPr/>
        </p:nvCxnSpPr>
        <p:spPr>
          <a:xfrm>
            <a:off x="1952088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45"/>
          <p:cNvSpPr/>
          <p:nvPr/>
        </p:nvSpPr>
        <p:spPr>
          <a:xfrm>
            <a:off x="44103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45"/>
          <p:cNvCxnSpPr>
            <a:stCxn id="599" idx="3"/>
            <a:endCxn id="602" idx="1"/>
          </p:cNvCxnSpPr>
          <p:nvPr/>
        </p:nvCxnSpPr>
        <p:spPr>
          <a:xfrm>
            <a:off x="3323700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45"/>
          <p:cNvSpPr/>
          <p:nvPr/>
        </p:nvSpPr>
        <p:spPr>
          <a:xfrm>
            <a:off x="57819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" name="Google Shape;605;p45"/>
          <p:cNvCxnSpPr>
            <a:stCxn id="602" idx="3"/>
            <a:endCxn id="604" idx="1"/>
          </p:cNvCxnSpPr>
          <p:nvPr/>
        </p:nvCxnSpPr>
        <p:spPr>
          <a:xfrm>
            <a:off x="4695300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45"/>
          <p:cNvCxnSpPr>
            <a:stCxn id="604" idx="3"/>
            <a:endCxn id="607" idx="2"/>
          </p:cNvCxnSpPr>
          <p:nvPr/>
        </p:nvCxnSpPr>
        <p:spPr>
          <a:xfrm>
            <a:off x="6066900" y="440787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45"/>
          <p:cNvSpPr/>
          <p:nvPr/>
        </p:nvSpPr>
        <p:spPr>
          <a:xfrm>
            <a:off x="7077288" y="4265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45"/>
          <p:cNvSpPr txBox="1"/>
          <p:nvPr/>
        </p:nvSpPr>
        <p:spPr>
          <a:xfrm>
            <a:off x="14907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/>
          </a:p>
        </p:txBody>
      </p:sp>
      <p:sp>
        <p:nvSpPr>
          <p:cNvPr id="609" name="Google Shape;609;p45"/>
          <p:cNvSpPr txBox="1"/>
          <p:nvPr/>
        </p:nvSpPr>
        <p:spPr>
          <a:xfrm>
            <a:off x="6786300" y="4599625"/>
            <a:ext cx="86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/>
          </a:p>
        </p:txBody>
      </p:sp>
      <p:sp>
        <p:nvSpPr>
          <p:cNvPr id="610" name="Google Shape;610;p45"/>
          <p:cNvSpPr txBox="1"/>
          <p:nvPr/>
        </p:nvSpPr>
        <p:spPr>
          <a:xfrm>
            <a:off x="28623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611" name="Google Shape;611;p45"/>
          <p:cNvSpPr txBox="1"/>
          <p:nvPr/>
        </p:nvSpPr>
        <p:spPr>
          <a:xfrm>
            <a:off x="42339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612" name="Google Shape;612;p45"/>
          <p:cNvSpPr txBox="1"/>
          <p:nvPr/>
        </p:nvSpPr>
        <p:spPr>
          <a:xfrm>
            <a:off x="56055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613" name="Google Shape;613;p45"/>
          <p:cNvSpPr/>
          <p:nvPr/>
        </p:nvSpPr>
        <p:spPr>
          <a:xfrm>
            <a:off x="1855800" y="2795600"/>
            <a:ext cx="1279200" cy="1088700"/>
          </a:xfrm>
          <a:prstGeom prst="roundRect">
            <a:avLst>
              <a:gd fmla="val 11165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From: A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To: B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01000111100010101001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4" name="Google Shape;614;p45"/>
          <p:cNvCxnSpPr/>
          <p:nvPr/>
        </p:nvCxnSpPr>
        <p:spPr>
          <a:xfrm>
            <a:off x="1970875" y="4065075"/>
            <a:ext cx="1037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45"/>
          <p:cNvCxnSpPr>
            <a:stCxn id="613" idx="1"/>
          </p:cNvCxnSpPr>
          <p:nvPr/>
        </p:nvCxnSpPr>
        <p:spPr>
          <a:xfrm>
            <a:off x="1855800" y="3339950"/>
            <a:ext cx="127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45"/>
          <p:cNvSpPr txBox="1"/>
          <p:nvPr/>
        </p:nvSpPr>
        <p:spPr>
          <a:xfrm>
            <a:off x="1059100" y="2940013"/>
            <a:ext cx="75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45"/>
          <p:cNvSpPr txBox="1"/>
          <p:nvPr/>
        </p:nvSpPr>
        <p:spPr>
          <a:xfrm>
            <a:off x="1059100" y="3468988"/>
            <a:ext cx="75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Headers are Standardized</a:t>
            </a:r>
            <a:endParaRPr/>
          </a:p>
        </p:txBody>
      </p:sp>
      <p:sp>
        <p:nvSpPr>
          <p:cNvPr id="623" name="Google Shape;623;p46"/>
          <p:cNvSpPr txBox="1"/>
          <p:nvPr>
            <p:ph idx="1" type="body"/>
          </p:nvPr>
        </p:nvSpPr>
        <p:spPr>
          <a:xfrm>
            <a:off x="107050" y="402200"/>
            <a:ext cx="8909700" cy="14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Everybody needs to agree on the format of the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"First 8 bits are the source, next 8 bits are the destination..."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use a different format, others won't understand the header.</a:t>
            </a:r>
            <a:endParaRPr/>
          </a:p>
        </p:txBody>
      </p:sp>
      <p:sp>
        <p:nvSpPr>
          <p:cNvPr id="624" name="Google Shape;624;p46"/>
          <p:cNvSpPr/>
          <p:nvPr/>
        </p:nvSpPr>
        <p:spPr>
          <a:xfrm>
            <a:off x="30387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46"/>
          <p:cNvSpPr/>
          <p:nvPr/>
        </p:nvSpPr>
        <p:spPr>
          <a:xfrm>
            <a:off x="1667088" y="4265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6" name="Google Shape;626;p46"/>
          <p:cNvCxnSpPr>
            <a:stCxn id="625" idx="6"/>
            <a:endCxn id="624" idx="1"/>
          </p:cNvCxnSpPr>
          <p:nvPr/>
        </p:nvCxnSpPr>
        <p:spPr>
          <a:xfrm>
            <a:off x="1952088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46"/>
          <p:cNvSpPr/>
          <p:nvPr/>
        </p:nvSpPr>
        <p:spPr>
          <a:xfrm>
            <a:off x="44103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8" name="Google Shape;628;p46"/>
          <p:cNvCxnSpPr>
            <a:stCxn id="624" idx="3"/>
            <a:endCxn id="627" idx="1"/>
          </p:cNvCxnSpPr>
          <p:nvPr/>
        </p:nvCxnSpPr>
        <p:spPr>
          <a:xfrm>
            <a:off x="3323700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46"/>
          <p:cNvSpPr/>
          <p:nvPr/>
        </p:nvSpPr>
        <p:spPr>
          <a:xfrm>
            <a:off x="5781900" y="42653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0" name="Google Shape;630;p46"/>
          <p:cNvCxnSpPr>
            <a:stCxn id="627" idx="3"/>
            <a:endCxn id="629" idx="1"/>
          </p:cNvCxnSpPr>
          <p:nvPr/>
        </p:nvCxnSpPr>
        <p:spPr>
          <a:xfrm>
            <a:off x="4695300" y="4407875"/>
            <a:ext cx="1086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46"/>
          <p:cNvCxnSpPr>
            <a:stCxn id="629" idx="3"/>
            <a:endCxn id="632" idx="2"/>
          </p:cNvCxnSpPr>
          <p:nvPr/>
        </p:nvCxnSpPr>
        <p:spPr>
          <a:xfrm>
            <a:off x="6066900" y="4407875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46"/>
          <p:cNvSpPr/>
          <p:nvPr/>
        </p:nvSpPr>
        <p:spPr>
          <a:xfrm>
            <a:off x="7077288" y="42653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46"/>
          <p:cNvSpPr txBox="1"/>
          <p:nvPr/>
        </p:nvSpPr>
        <p:spPr>
          <a:xfrm>
            <a:off x="14907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/>
          </a:p>
        </p:txBody>
      </p:sp>
      <p:sp>
        <p:nvSpPr>
          <p:cNvPr id="634" name="Google Shape;634;p46"/>
          <p:cNvSpPr txBox="1"/>
          <p:nvPr/>
        </p:nvSpPr>
        <p:spPr>
          <a:xfrm>
            <a:off x="6786300" y="4599625"/>
            <a:ext cx="86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/>
          </a:p>
        </p:txBody>
      </p:sp>
      <p:sp>
        <p:nvSpPr>
          <p:cNvPr id="635" name="Google Shape;635;p46"/>
          <p:cNvSpPr txBox="1"/>
          <p:nvPr/>
        </p:nvSpPr>
        <p:spPr>
          <a:xfrm>
            <a:off x="28623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636" name="Google Shape;636;p46"/>
          <p:cNvSpPr txBox="1"/>
          <p:nvPr/>
        </p:nvSpPr>
        <p:spPr>
          <a:xfrm>
            <a:off x="42339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637" name="Google Shape;637;p46"/>
          <p:cNvSpPr txBox="1"/>
          <p:nvPr/>
        </p:nvSpPr>
        <p:spPr>
          <a:xfrm>
            <a:off x="5605500" y="4599625"/>
            <a:ext cx="637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/>
          </a:p>
        </p:txBody>
      </p:sp>
      <p:sp>
        <p:nvSpPr>
          <p:cNvPr id="638" name="Google Shape;638;p46"/>
          <p:cNvSpPr/>
          <p:nvPr/>
        </p:nvSpPr>
        <p:spPr>
          <a:xfrm>
            <a:off x="1855800" y="2795600"/>
            <a:ext cx="1279200" cy="1088700"/>
          </a:xfrm>
          <a:prstGeom prst="roundRect">
            <a:avLst>
              <a:gd fmla="val 11165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From: A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To: B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01000111100010101001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9" name="Google Shape;639;p46"/>
          <p:cNvCxnSpPr/>
          <p:nvPr/>
        </p:nvCxnSpPr>
        <p:spPr>
          <a:xfrm>
            <a:off x="1970875" y="4065075"/>
            <a:ext cx="1037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46"/>
          <p:cNvCxnSpPr>
            <a:stCxn id="638" idx="1"/>
          </p:cNvCxnSpPr>
          <p:nvPr/>
        </p:nvCxnSpPr>
        <p:spPr>
          <a:xfrm>
            <a:off x="1855800" y="3339950"/>
            <a:ext cx="127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46"/>
          <p:cNvSpPr txBox="1"/>
          <p:nvPr/>
        </p:nvSpPr>
        <p:spPr>
          <a:xfrm>
            <a:off x="1059100" y="2940013"/>
            <a:ext cx="75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46"/>
          <p:cNvSpPr txBox="1"/>
          <p:nvPr/>
        </p:nvSpPr>
        <p:spPr>
          <a:xfrm>
            <a:off x="1059100" y="3468988"/>
            <a:ext cx="75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7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 Networking 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1.1. Protocols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1.8. Demultiplexing with Ports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2. Introducing Traceroute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Headers</a:t>
            </a:r>
            <a:endParaRPr/>
          </a:p>
        </p:txBody>
      </p:sp>
      <p:sp>
        <p:nvSpPr>
          <p:cNvPr id="649" name="Google Shape;649;p4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Postal Analogy</a:t>
            </a:r>
            <a:endParaRPr/>
          </a:p>
        </p:txBody>
      </p:sp>
      <p:sp>
        <p:nvSpPr>
          <p:cNvPr id="655" name="Google Shape;655;p48"/>
          <p:cNvSpPr txBox="1"/>
          <p:nvPr>
            <p:ph idx="1" type="body"/>
          </p:nvPr>
        </p:nvSpPr>
        <p:spPr>
          <a:xfrm>
            <a:off x="107050" y="402200"/>
            <a:ext cx="89097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CEO Alice wants to send a message to CEO Bob.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writes a letter.</a:t>
            </a:r>
            <a:endParaRPr/>
          </a:p>
        </p:txBody>
      </p:sp>
      <p:sp>
        <p:nvSpPr>
          <p:cNvPr id="656" name="Google Shape;656;p48"/>
          <p:cNvSpPr/>
          <p:nvPr/>
        </p:nvSpPr>
        <p:spPr>
          <a:xfrm>
            <a:off x="1319475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48"/>
          <p:cNvSpPr/>
          <p:nvPr/>
        </p:nvSpPr>
        <p:spPr>
          <a:xfrm>
            <a:off x="1319475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8" name="Google Shape;658;p48"/>
          <p:cNvCxnSpPr>
            <a:stCxn id="657" idx="2"/>
            <a:endCxn id="656" idx="0"/>
          </p:cNvCxnSpPr>
          <p:nvPr/>
        </p:nvCxnSpPr>
        <p:spPr>
          <a:xfrm>
            <a:off x="1976475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59" name="Google Shape;659;p48"/>
          <p:cNvSpPr/>
          <p:nvPr/>
        </p:nvSpPr>
        <p:spPr>
          <a:xfrm>
            <a:off x="1319475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0" name="Google Shape;660;p48"/>
          <p:cNvCxnSpPr>
            <a:stCxn id="659" idx="2"/>
            <a:endCxn id="657" idx="0"/>
          </p:cNvCxnSpPr>
          <p:nvPr/>
        </p:nvCxnSpPr>
        <p:spPr>
          <a:xfrm>
            <a:off x="1976475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61" name="Google Shape;661;p48"/>
          <p:cNvSpPr/>
          <p:nvPr/>
        </p:nvSpPr>
        <p:spPr>
          <a:xfrm>
            <a:off x="6490300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48"/>
          <p:cNvSpPr/>
          <p:nvPr/>
        </p:nvSpPr>
        <p:spPr>
          <a:xfrm>
            <a:off x="6490300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3" name="Google Shape;663;p48"/>
          <p:cNvCxnSpPr>
            <a:stCxn id="662" idx="2"/>
            <a:endCxn id="661" idx="0"/>
          </p:cNvCxnSpPr>
          <p:nvPr/>
        </p:nvCxnSpPr>
        <p:spPr>
          <a:xfrm>
            <a:off x="7147300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64" name="Google Shape;664;p48"/>
          <p:cNvSpPr/>
          <p:nvPr/>
        </p:nvSpPr>
        <p:spPr>
          <a:xfrm>
            <a:off x="6490300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5" name="Google Shape;665;p48"/>
          <p:cNvCxnSpPr>
            <a:stCxn id="664" idx="2"/>
            <a:endCxn id="662" idx="0"/>
          </p:cNvCxnSpPr>
          <p:nvPr/>
        </p:nvCxnSpPr>
        <p:spPr>
          <a:xfrm>
            <a:off x="7147300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66" name="Google Shape;666;p48"/>
          <p:cNvSpPr/>
          <p:nvPr/>
        </p:nvSpPr>
        <p:spPr>
          <a:xfrm>
            <a:off x="2977650" y="1724475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9"/>
          <p:cNvSpPr/>
          <p:nvPr/>
        </p:nvSpPr>
        <p:spPr>
          <a:xfrm>
            <a:off x="2849100" y="2442225"/>
            <a:ext cx="1722900" cy="10230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Alice, To: Bob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Postal Analogy</a:t>
            </a:r>
            <a:endParaRPr/>
          </a:p>
        </p:txBody>
      </p:sp>
      <p:sp>
        <p:nvSpPr>
          <p:cNvPr id="673" name="Google Shape;673;p49"/>
          <p:cNvSpPr txBox="1"/>
          <p:nvPr>
            <p:ph idx="1" type="body"/>
          </p:nvPr>
        </p:nvSpPr>
        <p:spPr>
          <a:xfrm>
            <a:off x="107050" y="402200"/>
            <a:ext cx="8909700" cy="11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passes the letter down to her secretary.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Her secretary puts the letter in an envelope.</a:t>
            </a:r>
            <a:endParaRPr/>
          </a:p>
        </p:txBody>
      </p:sp>
      <p:sp>
        <p:nvSpPr>
          <p:cNvPr id="674" name="Google Shape;674;p49"/>
          <p:cNvSpPr/>
          <p:nvPr/>
        </p:nvSpPr>
        <p:spPr>
          <a:xfrm>
            <a:off x="1319475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49"/>
          <p:cNvSpPr/>
          <p:nvPr/>
        </p:nvSpPr>
        <p:spPr>
          <a:xfrm>
            <a:off x="1319475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6" name="Google Shape;676;p49"/>
          <p:cNvCxnSpPr>
            <a:stCxn id="675" idx="2"/>
            <a:endCxn id="674" idx="0"/>
          </p:cNvCxnSpPr>
          <p:nvPr/>
        </p:nvCxnSpPr>
        <p:spPr>
          <a:xfrm>
            <a:off x="1976475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77" name="Google Shape;677;p49"/>
          <p:cNvSpPr/>
          <p:nvPr/>
        </p:nvSpPr>
        <p:spPr>
          <a:xfrm>
            <a:off x="1319475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8" name="Google Shape;678;p49"/>
          <p:cNvCxnSpPr>
            <a:stCxn id="677" idx="2"/>
            <a:endCxn id="675" idx="0"/>
          </p:cNvCxnSpPr>
          <p:nvPr/>
        </p:nvCxnSpPr>
        <p:spPr>
          <a:xfrm>
            <a:off x="1976475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79" name="Google Shape;679;p49"/>
          <p:cNvSpPr/>
          <p:nvPr/>
        </p:nvSpPr>
        <p:spPr>
          <a:xfrm>
            <a:off x="6490300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49"/>
          <p:cNvSpPr/>
          <p:nvPr/>
        </p:nvSpPr>
        <p:spPr>
          <a:xfrm>
            <a:off x="6490300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1" name="Google Shape;681;p49"/>
          <p:cNvCxnSpPr>
            <a:stCxn id="680" idx="2"/>
            <a:endCxn id="679" idx="0"/>
          </p:cNvCxnSpPr>
          <p:nvPr/>
        </p:nvCxnSpPr>
        <p:spPr>
          <a:xfrm>
            <a:off x="7147300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82" name="Google Shape;682;p49"/>
          <p:cNvSpPr/>
          <p:nvPr/>
        </p:nvSpPr>
        <p:spPr>
          <a:xfrm>
            <a:off x="6490300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3" name="Google Shape;683;p49"/>
          <p:cNvCxnSpPr>
            <a:stCxn id="682" idx="2"/>
            <a:endCxn id="680" idx="0"/>
          </p:cNvCxnSpPr>
          <p:nvPr/>
        </p:nvCxnSpPr>
        <p:spPr>
          <a:xfrm>
            <a:off x="7147300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84" name="Google Shape;684;p49"/>
          <p:cNvSpPr/>
          <p:nvPr/>
        </p:nvSpPr>
        <p:spPr>
          <a:xfrm>
            <a:off x="2985450" y="2864200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0"/>
          <p:cNvSpPr/>
          <p:nvPr/>
        </p:nvSpPr>
        <p:spPr>
          <a:xfrm>
            <a:off x="2849100" y="3075075"/>
            <a:ext cx="1972500" cy="17385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123 Alice St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456 Bob 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50"/>
          <p:cNvSpPr/>
          <p:nvPr/>
        </p:nvSpPr>
        <p:spPr>
          <a:xfrm>
            <a:off x="2973900" y="3656875"/>
            <a:ext cx="1722900" cy="10230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Alice, To: Bob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Postal Analogy</a:t>
            </a:r>
            <a:endParaRPr/>
          </a:p>
        </p:txBody>
      </p:sp>
      <p:sp>
        <p:nvSpPr>
          <p:cNvPr id="692" name="Google Shape;692;p50"/>
          <p:cNvSpPr txBox="1"/>
          <p:nvPr>
            <p:ph idx="1" type="body"/>
          </p:nvPr>
        </p:nvSpPr>
        <p:spPr>
          <a:xfrm>
            <a:off x="107050" y="402200"/>
            <a:ext cx="8909700" cy="11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Her secretary passes the letter down to the mailman.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mailman puts the envelope in a box.</a:t>
            </a:r>
            <a:endParaRPr/>
          </a:p>
        </p:txBody>
      </p:sp>
      <p:sp>
        <p:nvSpPr>
          <p:cNvPr id="693" name="Google Shape;693;p50"/>
          <p:cNvSpPr/>
          <p:nvPr/>
        </p:nvSpPr>
        <p:spPr>
          <a:xfrm>
            <a:off x="1319475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50"/>
          <p:cNvSpPr/>
          <p:nvPr/>
        </p:nvSpPr>
        <p:spPr>
          <a:xfrm>
            <a:off x="1319475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5" name="Google Shape;695;p50"/>
          <p:cNvCxnSpPr>
            <a:stCxn id="694" idx="2"/>
            <a:endCxn id="693" idx="0"/>
          </p:cNvCxnSpPr>
          <p:nvPr/>
        </p:nvCxnSpPr>
        <p:spPr>
          <a:xfrm>
            <a:off x="1976475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6" name="Google Shape;696;p50"/>
          <p:cNvSpPr/>
          <p:nvPr/>
        </p:nvSpPr>
        <p:spPr>
          <a:xfrm>
            <a:off x="1319475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7" name="Google Shape;697;p50"/>
          <p:cNvCxnSpPr>
            <a:stCxn id="696" idx="2"/>
            <a:endCxn id="694" idx="0"/>
          </p:cNvCxnSpPr>
          <p:nvPr/>
        </p:nvCxnSpPr>
        <p:spPr>
          <a:xfrm>
            <a:off x="1976475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8" name="Google Shape;698;p50"/>
          <p:cNvSpPr/>
          <p:nvPr/>
        </p:nvSpPr>
        <p:spPr>
          <a:xfrm>
            <a:off x="6490300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50"/>
          <p:cNvSpPr/>
          <p:nvPr/>
        </p:nvSpPr>
        <p:spPr>
          <a:xfrm>
            <a:off x="6490300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0" name="Google Shape;700;p50"/>
          <p:cNvCxnSpPr>
            <a:stCxn id="699" idx="2"/>
            <a:endCxn id="698" idx="0"/>
          </p:cNvCxnSpPr>
          <p:nvPr/>
        </p:nvCxnSpPr>
        <p:spPr>
          <a:xfrm>
            <a:off x="7147300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01" name="Google Shape;701;p50"/>
          <p:cNvSpPr/>
          <p:nvPr/>
        </p:nvSpPr>
        <p:spPr>
          <a:xfrm>
            <a:off x="6490300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2" name="Google Shape;702;p50"/>
          <p:cNvCxnSpPr>
            <a:stCxn id="701" idx="2"/>
            <a:endCxn id="699" idx="0"/>
          </p:cNvCxnSpPr>
          <p:nvPr/>
        </p:nvCxnSpPr>
        <p:spPr>
          <a:xfrm>
            <a:off x="7147300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03" name="Google Shape;703;p50"/>
          <p:cNvSpPr/>
          <p:nvPr/>
        </p:nvSpPr>
        <p:spPr>
          <a:xfrm>
            <a:off x="3110250" y="4078850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1"/>
          <p:cNvSpPr/>
          <p:nvPr/>
        </p:nvSpPr>
        <p:spPr>
          <a:xfrm>
            <a:off x="4296900" y="3075075"/>
            <a:ext cx="1972500" cy="17385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123 Alice St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456 Bob 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51"/>
          <p:cNvSpPr/>
          <p:nvPr/>
        </p:nvSpPr>
        <p:spPr>
          <a:xfrm>
            <a:off x="4421700" y="3656875"/>
            <a:ext cx="1722900" cy="10230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Alice, To: Bob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Postal Analogy</a:t>
            </a:r>
            <a:endParaRPr/>
          </a:p>
        </p:txBody>
      </p:sp>
      <p:sp>
        <p:nvSpPr>
          <p:cNvPr id="711" name="Google Shape;711;p51"/>
          <p:cNvSpPr txBox="1"/>
          <p:nvPr>
            <p:ph idx="1" type="body"/>
          </p:nvPr>
        </p:nvSpPr>
        <p:spPr>
          <a:xfrm>
            <a:off x="107050" y="402200"/>
            <a:ext cx="8909700" cy="11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packet travels through the postal system, to Bob's building.</a:t>
            </a:r>
            <a:endParaRPr/>
          </a:p>
        </p:txBody>
      </p:sp>
      <p:sp>
        <p:nvSpPr>
          <p:cNvPr id="712" name="Google Shape;712;p51"/>
          <p:cNvSpPr/>
          <p:nvPr/>
        </p:nvSpPr>
        <p:spPr>
          <a:xfrm>
            <a:off x="1319475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51"/>
          <p:cNvSpPr/>
          <p:nvPr/>
        </p:nvSpPr>
        <p:spPr>
          <a:xfrm>
            <a:off x="1319475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51"/>
          <p:cNvCxnSpPr>
            <a:stCxn id="713" idx="2"/>
            <a:endCxn id="712" idx="0"/>
          </p:cNvCxnSpPr>
          <p:nvPr/>
        </p:nvCxnSpPr>
        <p:spPr>
          <a:xfrm>
            <a:off x="1976475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15" name="Google Shape;715;p51"/>
          <p:cNvSpPr/>
          <p:nvPr/>
        </p:nvSpPr>
        <p:spPr>
          <a:xfrm>
            <a:off x="1319475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6" name="Google Shape;716;p51"/>
          <p:cNvCxnSpPr>
            <a:stCxn id="715" idx="2"/>
            <a:endCxn id="713" idx="0"/>
          </p:cNvCxnSpPr>
          <p:nvPr/>
        </p:nvCxnSpPr>
        <p:spPr>
          <a:xfrm>
            <a:off x="1976475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17" name="Google Shape;717;p51"/>
          <p:cNvSpPr/>
          <p:nvPr/>
        </p:nvSpPr>
        <p:spPr>
          <a:xfrm>
            <a:off x="6490300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51"/>
          <p:cNvSpPr/>
          <p:nvPr/>
        </p:nvSpPr>
        <p:spPr>
          <a:xfrm>
            <a:off x="6490300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9" name="Google Shape;719;p51"/>
          <p:cNvCxnSpPr>
            <a:stCxn id="718" idx="2"/>
            <a:endCxn id="717" idx="0"/>
          </p:cNvCxnSpPr>
          <p:nvPr/>
        </p:nvCxnSpPr>
        <p:spPr>
          <a:xfrm>
            <a:off x="7147300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20" name="Google Shape;720;p51"/>
          <p:cNvSpPr/>
          <p:nvPr/>
        </p:nvSpPr>
        <p:spPr>
          <a:xfrm>
            <a:off x="6490300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1" name="Google Shape;721;p51"/>
          <p:cNvCxnSpPr>
            <a:stCxn id="720" idx="2"/>
            <a:endCxn id="718" idx="0"/>
          </p:cNvCxnSpPr>
          <p:nvPr/>
        </p:nvCxnSpPr>
        <p:spPr>
          <a:xfrm>
            <a:off x="7147300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22" name="Google Shape;722;p51"/>
          <p:cNvSpPr/>
          <p:nvPr/>
        </p:nvSpPr>
        <p:spPr>
          <a:xfrm>
            <a:off x="4558050" y="4078850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2"/>
          <p:cNvSpPr/>
          <p:nvPr/>
        </p:nvSpPr>
        <p:spPr>
          <a:xfrm>
            <a:off x="4421700" y="2437675"/>
            <a:ext cx="1722900" cy="10230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Alice, To: Bob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Postal Analogy</a:t>
            </a:r>
            <a:endParaRPr/>
          </a:p>
        </p:txBody>
      </p:sp>
      <p:sp>
        <p:nvSpPr>
          <p:cNvPr id="729" name="Google Shape;729;p52"/>
          <p:cNvSpPr txBox="1"/>
          <p:nvPr>
            <p:ph idx="1" type="body"/>
          </p:nvPr>
        </p:nvSpPr>
        <p:spPr>
          <a:xfrm>
            <a:off x="107050" y="402200"/>
            <a:ext cx="8909700" cy="11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mailman </a:t>
            </a:r>
            <a:r>
              <a:rPr i="1" lang="en"/>
              <a:t>unwraps</a:t>
            </a:r>
            <a:r>
              <a:rPr lang="en"/>
              <a:t> the box, revealing the envelope inside.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mailman passes the envelope up to the secretary.</a:t>
            </a:r>
            <a:endParaRPr/>
          </a:p>
        </p:txBody>
      </p:sp>
      <p:sp>
        <p:nvSpPr>
          <p:cNvPr id="730" name="Google Shape;730;p52"/>
          <p:cNvSpPr/>
          <p:nvPr/>
        </p:nvSpPr>
        <p:spPr>
          <a:xfrm>
            <a:off x="1319475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52"/>
          <p:cNvSpPr/>
          <p:nvPr/>
        </p:nvSpPr>
        <p:spPr>
          <a:xfrm>
            <a:off x="1319475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2" name="Google Shape;732;p52"/>
          <p:cNvCxnSpPr>
            <a:stCxn id="731" idx="2"/>
            <a:endCxn id="730" idx="0"/>
          </p:cNvCxnSpPr>
          <p:nvPr/>
        </p:nvCxnSpPr>
        <p:spPr>
          <a:xfrm>
            <a:off x="1976475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33" name="Google Shape;733;p52"/>
          <p:cNvSpPr/>
          <p:nvPr/>
        </p:nvSpPr>
        <p:spPr>
          <a:xfrm>
            <a:off x="1319475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4" name="Google Shape;734;p52"/>
          <p:cNvCxnSpPr>
            <a:stCxn id="733" idx="2"/>
            <a:endCxn id="731" idx="0"/>
          </p:cNvCxnSpPr>
          <p:nvPr/>
        </p:nvCxnSpPr>
        <p:spPr>
          <a:xfrm>
            <a:off x="1976475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35" name="Google Shape;735;p52"/>
          <p:cNvSpPr/>
          <p:nvPr/>
        </p:nvSpPr>
        <p:spPr>
          <a:xfrm>
            <a:off x="6490300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52"/>
          <p:cNvSpPr/>
          <p:nvPr/>
        </p:nvSpPr>
        <p:spPr>
          <a:xfrm>
            <a:off x="6490300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7" name="Google Shape;737;p52"/>
          <p:cNvCxnSpPr>
            <a:stCxn id="736" idx="2"/>
            <a:endCxn id="735" idx="0"/>
          </p:cNvCxnSpPr>
          <p:nvPr/>
        </p:nvCxnSpPr>
        <p:spPr>
          <a:xfrm>
            <a:off x="7147300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38" name="Google Shape;738;p52"/>
          <p:cNvSpPr/>
          <p:nvPr/>
        </p:nvSpPr>
        <p:spPr>
          <a:xfrm>
            <a:off x="6490300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9" name="Google Shape;739;p52"/>
          <p:cNvCxnSpPr>
            <a:stCxn id="738" idx="2"/>
            <a:endCxn id="736" idx="0"/>
          </p:cNvCxnSpPr>
          <p:nvPr/>
        </p:nvCxnSpPr>
        <p:spPr>
          <a:xfrm>
            <a:off x="7147300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40" name="Google Shape;740;p52"/>
          <p:cNvSpPr/>
          <p:nvPr/>
        </p:nvSpPr>
        <p:spPr>
          <a:xfrm>
            <a:off x="4558050" y="2859650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Postal Analogy</a:t>
            </a:r>
            <a:endParaRPr/>
          </a:p>
        </p:txBody>
      </p:sp>
      <p:sp>
        <p:nvSpPr>
          <p:cNvPr id="746" name="Google Shape;746;p53"/>
          <p:cNvSpPr txBox="1"/>
          <p:nvPr>
            <p:ph idx="1" type="body"/>
          </p:nvPr>
        </p:nvSpPr>
        <p:spPr>
          <a:xfrm>
            <a:off x="107050" y="402200"/>
            <a:ext cx="8909700" cy="11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secretary </a:t>
            </a:r>
            <a:r>
              <a:rPr i="1" lang="en"/>
              <a:t>unwraps</a:t>
            </a:r>
            <a:r>
              <a:rPr lang="en"/>
              <a:t> the envelope, revealing the letter inside.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secretary passes the letter up to Bob.</a:t>
            </a:r>
            <a:endParaRPr/>
          </a:p>
        </p:txBody>
      </p:sp>
      <p:sp>
        <p:nvSpPr>
          <p:cNvPr id="747" name="Google Shape;747;p53"/>
          <p:cNvSpPr/>
          <p:nvPr/>
        </p:nvSpPr>
        <p:spPr>
          <a:xfrm>
            <a:off x="1319475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53"/>
          <p:cNvSpPr/>
          <p:nvPr/>
        </p:nvSpPr>
        <p:spPr>
          <a:xfrm>
            <a:off x="1319475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9" name="Google Shape;749;p53"/>
          <p:cNvCxnSpPr>
            <a:stCxn id="748" idx="2"/>
            <a:endCxn id="747" idx="0"/>
          </p:cNvCxnSpPr>
          <p:nvPr/>
        </p:nvCxnSpPr>
        <p:spPr>
          <a:xfrm>
            <a:off x="1976475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50" name="Google Shape;750;p53"/>
          <p:cNvSpPr/>
          <p:nvPr/>
        </p:nvSpPr>
        <p:spPr>
          <a:xfrm>
            <a:off x="1319475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1" name="Google Shape;751;p53"/>
          <p:cNvCxnSpPr>
            <a:stCxn id="750" idx="2"/>
            <a:endCxn id="748" idx="0"/>
          </p:cNvCxnSpPr>
          <p:nvPr/>
        </p:nvCxnSpPr>
        <p:spPr>
          <a:xfrm>
            <a:off x="1976475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52" name="Google Shape;752;p53"/>
          <p:cNvSpPr/>
          <p:nvPr/>
        </p:nvSpPr>
        <p:spPr>
          <a:xfrm>
            <a:off x="6490300" y="37587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53"/>
          <p:cNvSpPr/>
          <p:nvPr/>
        </p:nvSpPr>
        <p:spPr>
          <a:xfrm>
            <a:off x="6490300" y="27681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4" name="Google Shape;754;p53"/>
          <p:cNvCxnSpPr>
            <a:stCxn id="753" idx="2"/>
            <a:endCxn id="752" idx="0"/>
          </p:cNvCxnSpPr>
          <p:nvPr/>
        </p:nvCxnSpPr>
        <p:spPr>
          <a:xfrm>
            <a:off x="7147300" y="31392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55" name="Google Shape;755;p53"/>
          <p:cNvSpPr/>
          <p:nvPr/>
        </p:nvSpPr>
        <p:spPr>
          <a:xfrm>
            <a:off x="6490300" y="1777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6" name="Google Shape;756;p53"/>
          <p:cNvCxnSpPr>
            <a:stCxn id="755" idx="2"/>
            <a:endCxn id="753" idx="0"/>
          </p:cNvCxnSpPr>
          <p:nvPr/>
        </p:nvCxnSpPr>
        <p:spPr>
          <a:xfrm>
            <a:off x="7147300" y="2148675"/>
            <a:ext cx="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57" name="Google Shape;757;p53"/>
          <p:cNvSpPr/>
          <p:nvPr/>
        </p:nvSpPr>
        <p:spPr>
          <a:xfrm>
            <a:off x="4558050" y="1716650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2" name="Google Shape;762;p54"/>
          <p:cNvCxnSpPr/>
          <p:nvPr/>
        </p:nvCxnSpPr>
        <p:spPr>
          <a:xfrm>
            <a:off x="2547250" y="4451665"/>
            <a:ext cx="11532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54"/>
          <p:cNvCxnSpPr/>
          <p:nvPr/>
        </p:nvCxnSpPr>
        <p:spPr>
          <a:xfrm>
            <a:off x="5423350" y="4451665"/>
            <a:ext cx="1134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54"/>
          <p:cNvCxnSpPr/>
          <p:nvPr/>
        </p:nvCxnSpPr>
        <p:spPr>
          <a:xfrm>
            <a:off x="2547250" y="4680265"/>
            <a:ext cx="11532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5" name="Google Shape;765;p54"/>
          <p:cNvCxnSpPr/>
          <p:nvPr/>
        </p:nvCxnSpPr>
        <p:spPr>
          <a:xfrm>
            <a:off x="5423350" y="4680265"/>
            <a:ext cx="1134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6" name="Google Shape;766;p54"/>
          <p:cNvCxnSpPr/>
          <p:nvPr/>
        </p:nvCxnSpPr>
        <p:spPr>
          <a:xfrm>
            <a:off x="4005088" y="2962400"/>
            <a:ext cx="1113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54"/>
          <p:cNvCxnSpPr/>
          <p:nvPr/>
        </p:nvCxnSpPr>
        <p:spPr>
          <a:xfrm>
            <a:off x="5775713" y="2462150"/>
            <a:ext cx="0" cy="314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8" name="Google Shape;768;p54"/>
          <p:cNvCxnSpPr/>
          <p:nvPr/>
        </p:nvCxnSpPr>
        <p:spPr>
          <a:xfrm>
            <a:off x="5775713" y="1776350"/>
            <a:ext cx="0" cy="314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9" name="Google Shape;769;p54"/>
          <p:cNvCxnSpPr/>
          <p:nvPr/>
        </p:nvCxnSpPr>
        <p:spPr>
          <a:xfrm>
            <a:off x="3348088" y="2462150"/>
            <a:ext cx="0" cy="314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0" name="Google Shape;770;p54"/>
          <p:cNvCxnSpPr/>
          <p:nvPr/>
        </p:nvCxnSpPr>
        <p:spPr>
          <a:xfrm>
            <a:off x="3348088" y="1776350"/>
            <a:ext cx="0" cy="314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1" name="Google Shape;771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Postal Analogy</a:t>
            </a:r>
            <a:endParaRPr/>
          </a:p>
        </p:txBody>
      </p:sp>
      <p:sp>
        <p:nvSpPr>
          <p:cNvPr id="772" name="Google Shape;772;p54"/>
          <p:cNvSpPr txBox="1"/>
          <p:nvPr>
            <p:ph idx="1" type="body"/>
          </p:nvPr>
        </p:nvSpPr>
        <p:spPr>
          <a:xfrm>
            <a:off x="107050" y="402200"/>
            <a:ext cx="8909700" cy="11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we move to lower layers, we wrap additional headers around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we move to higher layers, we peel off headers, revealing the inner headers.</a:t>
            </a:r>
            <a:endParaRPr/>
          </a:p>
        </p:txBody>
      </p:sp>
      <p:sp>
        <p:nvSpPr>
          <p:cNvPr id="773" name="Google Shape;773;p54"/>
          <p:cNvSpPr/>
          <p:nvPr/>
        </p:nvSpPr>
        <p:spPr>
          <a:xfrm>
            <a:off x="2691088" y="2776850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54"/>
          <p:cNvSpPr/>
          <p:nvPr/>
        </p:nvSpPr>
        <p:spPr>
          <a:xfrm>
            <a:off x="2691088" y="2091050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5" name="Google Shape;775;p54"/>
          <p:cNvCxnSpPr>
            <a:stCxn id="774" idx="2"/>
            <a:endCxn id="773" idx="0"/>
          </p:cNvCxnSpPr>
          <p:nvPr/>
        </p:nvCxnSpPr>
        <p:spPr>
          <a:xfrm>
            <a:off x="3348088" y="2462150"/>
            <a:ext cx="0" cy="314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6" name="Google Shape;776;p54"/>
          <p:cNvSpPr/>
          <p:nvPr/>
        </p:nvSpPr>
        <p:spPr>
          <a:xfrm>
            <a:off x="2691088" y="1405250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7" name="Google Shape;777;p54"/>
          <p:cNvCxnSpPr>
            <a:stCxn id="776" idx="2"/>
            <a:endCxn id="774" idx="0"/>
          </p:cNvCxnSpPr>
          <p:nvPr/>
        </p:nvCxnSpPr>
        <p:spPr>
          <a:xfrm>
            <a:off x="3348088" y="1776350"/>
            <a:ext cx="0" cy="314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8" name="Google Shape;778;p54"/>
          <p:cNvSpPr/>
          <p:nvPr/>
        </p:nvSpPr>
        <p:spPr>
          <a:xfrm>
            <a:off x="5118713" y="2776850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54"/>
          <p:cNvSpPr/>
          <p:nvPr/>
        </p:nvSpPr>
        <p:spPr>
          <a:xfrm>
            <a:off x="5118713" y="2091050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0" name="Google Shape;780;p54"/>
          <p:cNvCxnSpPr>
            <a:stCxn id="779" idx="2"/>
            <a:endCxn id="778" idx="0"/>
          </p:cNvCxnSpPr>
          <p:nvPr/>
        </p:nvCxnSpPr>
        <p:spPr>
          <a:xfrm>
            <a:off x="5775713" y="2462150"/>
            <a:ext cx="0" cy="314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81" name="Google Shape;781;p54"/>
          <p:cNvSpPr/>
          <p:nvPr/>
        </p:nvSpPr>
        <p:spPr>
          <a:xfrm>
            <a:off x="5118713" y="1405250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54"/>
          <p:cNvCxnSpPr>
            <a:stCxn id="781" idx="2"/>
            <a:endCxn id="779" idx="0"/>
          </p:cNvCxnSpPr>
          <p:nvPr/>
        </p:nvCxnSpPr>
        <p:spPr>
          <a:xfrm>
            <a:off x="5775713" y="1776350"/>
            <a:ext cx="0" cy="314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83" name="Google Shape;783;p54"/>
          <p:cNvCxnSpPr>
            <a:stCxn id="773" idx="3"/>
            <a:endCxn id="778" idx="1"/>
          </p:cNvCxnSpPr>
          <p:nvPr/>
        </p:nvCxnSpPr>
        <p:spPr>
          <a:xfrm>
            <a:off x="4005088" y="2962400"/>
            <a:ext cx="1113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4" name="Google Shape;784;p54"/>
          <p:cNvSpPr/>
          <p:nvPr/>
        </p:nvSpPr>
        <p:spPr>
          <a:xfrm>
            <a:off x="6550850" y="3462650"/>
            <a:ext cx="1972500" cy="15063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123 Alice St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456 Bob 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54"/>
          <p:cNvSpPr/>
          <p:nvPr/>
        </p:nvSpPr>
        <p:spPr>
          <a:xfrm>
            <a:off x="6675650" y="4011415"/>
            <a:ext cx="1722900" cy="8805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Alice, To: Bob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54"/>
          <p:cNvSpPr/>
          <p:nvPr/>
        </p:nvSpPr>
        <p:spPr>
          <a:xfrm>
            <a:off x="6812000" y="4335167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54"/>
          <p:cNvSpPr/>
          <p:nvPr/>
        </p:nvSpPr>
        <p:spPr>
          <a:xfrm>
            <a:off x="3700450" y="4011415"/>
            <a:ext cx="1722900" cy="8805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Alice, To: Bob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54"/>
          <p:cNvSpPr/>
          <p:nvPr/>
        </p:nvSpPr>
        <p:spPr>
          <a:xfrm>
            <a:off x="3836800" y="4335167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p54"/>
          <p:cNvSpPr/>
          <p:nvPr/>
        </p:nvSpPr>
        <p:spPr>
          <a:xfrm>
            <a:off x="1097000" y="4335167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0" name="Google Shape;790;p54"/>
          <p:cNvCxnSpPr>
            <a:endCxn id="787" idx="1"/>
          </p:cNvCxnSpPr>
          <p:nvPr/>
        </p:nvCxnSpPr>
        <p:spPr>
          <a:xfrm>
            <a:off x="2547250" y="4451665"/>
            <a:ext cx="1153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54"/>
          <p:cNvCxnSpPr>
            <a:stCxn id="787" idx="3"/>
          </p:cNvCxnSpPr>
          <p:nvPr/>
        </p:nvCxnSpPr>
        <p:spPr>
          <a:xfrm>
            <a:off x="5423350" y="4451665"/>
            <a:ext cx="1134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54"/>
          <p:cNvCxnSpPr/>
          <p:nvPr/>
        </p:nvCxnSpPr>
        <p:spPr>
          <a:xfrm>
            <a:off x="2547250" y="4680265"/>
            <a:ext cx="1153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3" name="Google Shape;793;p54"/>
          <p:cNvCxnSpPr/>
          <p:nvPr/>
        </p:nvCxnSpPr>
        <p:spPr>
          <a:xfrm>
            <a:off x="5423350" y="4680265"/>
            <a:ext cx="1134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Postal Analogy</a:t>
            </a:r>
            <a:endParaRPr/>
          </a:p>
        </p:txBody>
      </p:sp>
      <p:sp>
        <p:nvSpPr>
          <p:cNvPr id="799" name="Google Shape;799;p55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person only cares about the headers at their layer.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Mailman reads the green header, ignores all the payload inside.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person communicates with its peers at the same layer.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Alice's secretary writes the blue header, for Bob's secretary to read.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protocol at a specific layer only makes sense to people at that layer.</a:t>
            </a:r>
            <a:endParaRPr/>
          </a:p>
        </p:txBody>
      </p:sp>
      <p:sp>
        <p:nvSpPr>
          <p:cNvPr id="800" name="Google Shape;800;p55"/>
          <p:cNvSpPr/>
          <p:nvPr/>
        </p:nvSpPr>
        <p:spPr>
          <a:xfrm>
            <a:off x="405075" y="44445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55"/>
          <p:cNvSpPr/>
          <p:nvPr/>
        </p:nvSpPr>
        <p:spPr>
          <a:xfrm>
            <a:off x="405075" y="36825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55"/>
          <p:cNvSpPr/>
          <p:nvPr/>
        </p:nvSpPr>
        <p:spPr>
          <a:xfrm>
            <a:off x="405075" y="2920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55"/>
          <p:cNvSpPr/>
          <p:nvPr/>
        </p:nvSpPr>
        <p:spPr>
          <a:xfrm>
            <a:off x="2451700" y="4444575"/>
            <a:ext cx="13140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Mail Room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55"/>
          <p:cNvSpPr/>
          <p:nvPr/>
        </p:nvSpPr>
        <p:spPr>
          <a:xfrm>
            <a:off x="2451700" y="3682575"/>
            <a:ext cx="13140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Secretary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55"/>
          <p:cNvSpPr/>
          <p:nvPr/>
        </p:nvSpPr>
        <p:spPr>
          <a:xfrm>
            <a:off x="2451700" y="2920575"/>
            <a:ext cx="13140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6" name="Google Shape;806;p55"/>
          <p:cNvCxnSpPr>
            <a:stCxn id="802" idx="3"/>
            <a:endCxn id="805" idx="1"/>
          </p:cNvCxnSpPr>
          <p:nvPr/>
        </p:nvCxnSpPr>
        <p:spPr>
          <a:xfrm>
            <a:off x="1719075" y="3106125"/>
            <a:ext cx="73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7" name="Google Shape;807;p55"/>
          <p:cNvCxnSpPr>
            <a:stCxn id="801" idx="3"/>
            <a:endCxn id="804" idx="1"/>
          </p:cNvCxnSpPr>
          <p:nvPr/>
        </p:nvCxnSpPr>
        <p:spPr>
          <a:xfrm>
            <a:off x="1719075" y="3868125"/>
            <a:ext cx="73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8" name="Google Shape;808;p55"/>
          <p:cNvCxnSpPr>
            <a:stCxn id="800" idx="3"/>
            <a:endCxn id="803" idx="1"/>
          </p:cNvCxnSpPr>
          <p:nvPr/>
        </p:nvCxnSpPr>
        <p:spPr>
          <a:xfrm>
            <a:off x="1719075" y="4630125"/>
            <a:ext cx="73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9" name="Google Shape;809;p55"/>
          <p:cNvSpPr/>
          <p:nvPr/>
        </p:nvSpPr>
        <p:spPr>
          <a:xfrm>
            <a:off x="4286950" y="2998875"/>
            <a:ext cx="1972500" cy="17385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123 Alice St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456 Bob 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55"/>
          <p:cNvSpPr/>
          <p:nvPr/>
        </p:nvSpPr>
        <p:spPr>
          <a:xfrm>
            <a:off x="4411750" y="3580675"/>
            <a:ext cx="1722900" cy="10230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Alice, To: Bob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55"/>
          <p:cNvSpPr/>
          <p:nvPr/>
        </p:nvSpPr>
        <p:spPr>
          <a:xfrm>
            <a:off x="4548100" y="4002650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55"/>
          <p:cNvSpPr txBox="1"/>
          <p:nvPr/>
        </p:nvSpPr>
        <p:spPr>
          <a:xfrm>
            <a:off x="6369400" y="3106125"/>
            <a:ext cx="2532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Mailman only cares about this.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5"/>
          <p:cNvSpPr txBox="1"/>
          <p:nvPr/>
        </p:nvSpPr>
        <p:spPr>
          <a:xfrm>
            <a:off x="6369400" y="3586608"/>
            <a:ext cx="2532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Secretary only cares about this.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55"/>
          <p:cNvSpPr txBox="1"/>
          <p:nvPr/>
        </p:nvSpPr>
        <p:spPr>
          <a:xfrm>
            <a:off x="6369400" y="4105858"/>
            <a:ext cx="2532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CEO only cares about this.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Addressing at Different Layers</a:t>
            </a:r>
            <a:endParaRPr/>
          </a:p>
        </p:txBody>
      </p:sp>
      <p:sp>
        <p:nvSpPr>
          <p:cNvPr id="820" name="Google Shape;820;p56"/>
          <p:cNvSpPr txBox="1"/>
          <p:nvPr>
            <p:ph idx="1" type="body"/>
          </p:nvPr>
        </p:nvSpPr>
        <p:spPr>
          <a:xfrm>
            <a:off x="107050" y="402200"/>
            <a:ext cx="8909700" cy="20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Different layers use different addressing schemes.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Inside a building: "413 Soda Hall."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postal system: "2551 Hearst Ave, Berkeley, CA."</a:t>
            </a:r>
            <a:endParaRPr/>
          </a:p>
        </p:txBody>
      </p:sp>
      <p:sp>
        <p:nvSpPr>
          <p:cNvPr id="821" name="Google Shape;821;p56"/>
          <p:cNvSpPr/>
          <p:nvPr/>
        </p:nvSpPr>
        <p:spPr>
          <a:xfrm>
            <a:off x="1641825" y="3125100"/>
            <a:ext cx="1972500" cy="17385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123 Alice St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456 Bob 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56"/>
          <p:cNvSpPr/>
          <p:nvPr/>
        </p:nvSpPr>
        <p:spPr>
          <a:xfrm>
            <a:off x="1766625" y="3706900"/>
            <a:ext cx="1722900" cy="10230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Alice, To: Bob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56"/>
          <p:cNvSpPr/>
          <p:nvPr/>
        </p:nvSpPr>
        <p:spPr>
          <a:xfrm>
            <a:off x="1902975" y="4128875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6"/>
          <p:cNvSpPr txBox="1"/>
          <p:nvPr/>
        </p:nvSpPr>
        <p:spPr>
          <a:xfrm>
            <a:off x="3724275" y="3232350"/>
            <a:ext cx="3777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These addresses make sense to the mailman.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56"/>
          <p:cNvSpPr txBox="1"/>
          <p:nvPr/>
        </p:nvSpPr>
        <p:spPr>
          <a:xfrm>
            <a:off x="3724275" y="3712825"/>
            <a:ext cx="3491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These names make sense to the secretary.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7"/>
          <p:cNvSpPr/>
          <p:nvPr/>
        </p:nvSpPr>
        <p:spPr>
          <a:xfrm>
            <a:off x="3036775" y="2190750"/>
            <a:ext cx="2169000" cy="2204400"/>
          </a:xfrm>
          <a:prstGeom prst="roundRect">
            <a:avLst>
              <a:gd fmla="val 8208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Headers</a:t>
            </a:r>
            <a:endParaRPr/>
          </a:p>
        </p:txBody>
      </p:sp>
      <p:sp>
        <p:nvSpPr>
          <p:cNvPr id="832" name="Google Shape;832;p57"/>
          <p:cNvSpPr/>
          <p:nvPr/>
        </p:nvSpPr>
        <p:spPr>
          <a:xfrm>
            <a:off x="1316500" y="4404950"/>
            <a:ext cx="11061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57"/>
          <p:cNvSpPr/>
          <p:nvPr/>
        </p:nvSpPr>
        <p:spPr>
          <a:xfrm>
            <a:off x="1316500" y="3648938"/>
            <a:ext cx="11061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57"/>
          <p:cNvSpPr/>
          <p:nvPr/>
        </p:nvSpPr>
        <p:spPr>
          <a:xfrm>
            <a:off x="1316500" y="2892925"/>
            <a:ext cx="11061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5" name="Google Shape;835;p57"/>
          <p:cNvCxnSpPr>
            <a:stCxn id="833" idx="2"/>
            <a:endCxn id="832" idx="0"/>
          </p:cNvCxnSpPr>
          <p:nvPr/>
        </p:nvCxnSpPr>
        <p:spPr>
          <a:xfrm>
            <a:off x="1869550" y="4020038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6" name="Google Shape;836;p57"/>
          <p:cNvCxnSpPr>
            <a:stCxn id="834" idx="2"/>
            <a:endCxn id="833" idx="0"/>
          </p:cNvCxnSpPr>
          <p:nvPr/>
        </p:nvCxnSpPr>
        <p:spPr>
          <a:xfrm>
            <a:off x="1869550" y="3264025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7" name="Google Shape;837;p57"/>
          <p:cNvSpPr txBox="1"/>
          <p:nvPr/>
        </p:nvSpPr>
        <p:spPr>
          <a:xfrm>
            <a:off x="498400" y="4455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57"/>
          <p:cNvSpPr txBox="1"/>
          <p:nvPr/>
        </p:nvSpPr>
        <p:spPr>
          <a:xfrm>
            <a:off x="498400" y="3699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57"/>
          <p:cNvSpPr txBox="1"/>
          <p:nvPr/>
        </p:nvSpPr>
        <p:spPr>
          <a:xfrm>
            <a:off x="498400" y="2943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57"/>
          <p:cNvSpPr/>
          <p:nvPr/>
        </p:nvSpPr>
        <p:spPr>
          <a:xfrm>
            <a:off x="1316500" y="2130925"/>
            <a:ext cx="11061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1" name="Google Shape;841;p57"/>
          <p:cNvCxnSpPr>
            <a:stCxn id="840" idx="2"/>
            <a:endCxn id="834" idx="0"/>
          </p:cNvCxnSpPr>
          <p:nvPr/>
        </p:nvCxnSpPr>
        <p:spPr>
          <a:xfrm>
            <a:off x="1869550" y="250202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2" name="Google Shape;842;p57"/>
          <p:cNvSpPr txBox="1"/>
          <p:nvPr/>
        </p:nvSpPr>
        <p:spPr>
          <a:xfrm>
            <a:off x="498400" y="2181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57"/>
          <p:cNvSpPr/>
          <p:nvPr/>
        </p:nvSpPr>
        <p:spPr>
          <a:xfrm>
            <a:off x="1316500" y="1368925"/>
            <a:ext cx="11061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57"/>
          <p:cNvCxnSpPr>
            <a:stCxn id="843" idx="2"/>
            <a:endCxn id="840" idx="0"/>
          </p:cNvCxnSpPr>
          <p:nvPr/>
        </p:nvCxnSpPr>
        <p:spPr>
          <a:xfrm>
            <a:off x="1869550" y="174002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5" name="Google Shape;845;p57"/>
          <p:cNvSpPr txBox="1"/>
          <p:nvPr/>
        </p:nvSpPr>
        <p:spPr>
          <a:xfrm>
            <a:off x="498400" y="1419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57"/>
          <p:cNvSpPr/>
          <p:nvPr/>
        </p:nvSpPr>
        <p:spPr>
          <a:xfrm>
            <a:off x="7488700" y="4404950"/>
            <a:ext cx="11061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57"/>
          <p:cNvSpPr/>
          <p:nvPr/>
        </p:nvSpPr>
        <p:spPr>
          <a:xfrm>
            <a:off x="7488700" y="3648938"/>
            <a:ext cx="11061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8" name="Google Shape;848;p57"/>
          <p:cNvSpPr/>
          <p:nvPr/>
        </p:nvSpPr>
        <p:spPr>
          <a:xfrm>
            <a:off x="7488700" y="2892925"/>
            <a:ext cx="11061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9" name="Google Shape;849;p57"/>
          <p:cNvCxnSpPr>
            <a:stCxn id="847" idx="2"/>
            <a:endCxn id="846" idx="0"/>
          </p:cNvCxnSpPr>
          <p:nvPr/>
        </p:nvCxnSpPr>
        <p:spPr>
          <a:xfrm>
            <a:off x="8041750" y="4020038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50" name="Google Shape;850;p57"/>
          <p:cNvCxnSpPr>
            <a:stCxn id="848" idx="2"/>
            <a:endCxn id="847" idx="0"/>
          </p:cNvCxnSpPr>
          <p:nvPr/>
        </p:nvCxnSpPr>
        <p:spPr>
          <a:xfrm>
            <a:off x="8041750" y="3264025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1" name="Google Shape;851;p57"/>
          <p:cNvSpPr/>
          <p:nvPr/>
        </p:nvSpPr>
        <p:spPr>
          <a:xfrm>
            <a:off x="7488700" y="2130925"/>
            <a:ext cx="11061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2" name="Google Shape;852;p57"/>
          <p:cNvCxnSpPr>
            <a:stCxn id="851" idx="2"/>
            <a:endCxn id="848" idx="0"/>
          </p:cNvCxnSpPr>
          <p:nvPr/>
        </p:nvCxnSpPr>
        <p:spPr>
          <a:xfrm>
            <a:off x="8041750" y="250202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3" name="Google Shape;853;p57"/>
          <p:cNvSpPr/>
          <p:nvPr/>
        </p:nvSpPr>
        <p:spPr>
          <a:xfrm>
            <a:off x="7488700" y="1368925"/>
            <a:ext cx="11061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4" name="Google Shape;854;p57"/>
          <p:cNvCxnSpPr>
            <a:stCxn id="853" idx="2"/>
            <a:endCxn id="851" idx="0"/>
          </p:cNvCxnSpPr>
          <p:nvPr/>
        </p:nvCxnSpPr>
        <p:spPr>
          <a:xfrm>
            <a:off x="8041750" y="174002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5" name="Google Shape;855;p57"/>
          <p:cNvSpPr/>
          <p:nvPr/>
        </p:nvSpPr>
        <p:spPr>
          <a:xfrm>
            <a:off x="3135025" y="2775899"/>
            <a:ext cx="1972500" cy="15231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57"/>
          <p:cNvSpPr/>
          <p:nvPr/>
        </p:nvSpPr>
        <p:spPr>
          <a:xfrm>
            <a:off x="3259825" y="3142342"/>
            <a:ext cx="1722900" cy="10230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57"/>
          <p:cNvSpPr/>
          <p:nvPr/>
        </p:nvSpPr>
        <p:spPr>
          <a:xfrm>
            <a:off x="3396175" y="3564317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57"/>
          <p:cNvSpPr/>
          <p:nvPr/>
        </p:nvSpPr>
        <p:spPr>
          <a:xfrm>
            <a:off x="2641675" y="2070950"/>
            <a:ext cx="2959200" cy="334800"/>
          </a:xfrm>
          <a:prstGeom prst="roundRect">
            <a:avLst>
              <a:gd fmla="val 20978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Converted to bits and transmitted.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57"/>
          <p:cNvSpPr txBox="1"/>
          <p:nvPr>
            <p:ph idx="1" type="body"/>
          </p:nvPr>
        </p:nvSpPr>
        <p:spPr>
          <a:xfrm>
            <a:off x="107050" y="402200"/>
            <a:ext cx="8909700" cy="7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we move to lower layers, we wrap additional headers around the packet.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8"/>
          <p:cNvSpPr/>
          <p:nvPr/>
        </p:nvSpPr>
        <p:spPr>
          <a:xfrm>
            <a:off x="4713175" y="2190750"/>
            <a:ext cx="2169000" cy="2204400"/>
          </a:xfrm>
          <a:prstGeom prst="roundRect">
            <a:avLst>
              <a:gd fmla="val 8208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Headers</a:t>
            </a:r>
            <a:endParaRPr/>
          </a:p>
        </p:txBody>
      </p:sp>
      <p:sp>
        <p:nvSpPr>
          <p:cNvPr id="866" name="Google Shape;866;p58"/>
          <p:cNvSpPr/>
          <p:nvPr/>
        </p:nvSpPr>
        <p:spPr>
          <a:xfrm>
            <a:off x="4811425" y="2775899"/>
            <a:ext cx="1972500" cy="15231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58"/>
          <p:cNvSpPr/>
          <p:nvPr/>
        </p:nvSpPr>
        <p:spPr>
          <a:xfrm>
            <a:off x="4936225" y="3142342"/>
            <a:ext cx="1722900" cy="1023000"/>
          </a:xfrm>
          <a:prstGeom prst="roundRect">
            <a:avLst>
              <a:gd fmla="val 1040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58"/>
          <p:cNvSpPr/>
          <p:nvPr/>
        </p:nvSpPr>
        <p:spPr>
          <a:xfrm>
            <a:off x="5072575" y="3564317"/>
            <a:ext cx="1450200" cy="477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"Your days are numbered."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58"/>
          <p:cNvSpPr/>
          <p:nvPr/>
        </p:nvSpPr>
        <p:spPr>
          <a:xfrm>
            <a:off x="4318075" y="2070950"/>
            <a:ext cx="2959200" cy="334800"/>
          </a:xfrm>
          <a:prstGeom prst="roundRect">
            <a:avLst>
              <a:gd fmla="val 20978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Bits received over wire.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58"/>
          <p:cNvSpPr/>
          <p:nvPr/>
        </p:nvSpPr>
        <p:spPr>
          <a:xfrm>
            <a:off x="1316500" y="4404950"/>
            <a:ext cx="11061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58"/>
          <p:cNvSpPr/>
          <p:nvPr/>
        </p:nvSpPr>
        <p:spPr>
          <a:xfrm>
            <a:off x="1316500" y="3648938"/>
            <a:ext cx="11061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58"/>
          <p:cNvSpPr/>
          <p:nvPr/>
        </p:nvSpPr>
        <p:spPr>
          <a:xfrm>
            <a:off x="1316500" y="2892925"/>
            <a:ext cx="11061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3" name="Google Shape;873;p58"/>
          <p:cNvCxnSpPr>
            <a:stCxn id="871" idx="2"/>
            <a:endCxn id="870" idx="0"/>
          </p:cNvCxnSpPr>
          <p:nvPr/>
        </p:nvCxnSpPr>
        <p:spPr>
          <a:xfrm>
            <a:off x="1869550" y="4020038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4" name="Google Shape;874;p58"/>
          <p:cNvCxnSpPr>
            <a:stCxn id="872" idx="2"/>
            <a:endCxn id="871" idx="0"/>
          </p:cNvCxnSpPr>
          <p:nvPr/>
        </p:nvCxnSpPr>
        <p:spPr>
          <a:xfrm>
            <a:off x="1869550" y="3264025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5" name="Google Shape;875;p58"/>
          <p:cNvSpPr txBox="1"/>
          <p:nvPr/>
        </p:nvSpPr>
        <p:spPr>
          <a:xfrm>
            <a:off x="498400" y="4455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58"/>
          <p:cNvSpPr txBox="1"/>
          <p:nvPr/>
        </p:nvSpPr>
        <p:spPr>
          <a:xfrm>
            <a:off x="498400" y="3699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58"/>
          <p:cNvSpPr txBox="1"/>
          <p:nvPr/>
        </p:nvSpPr>
        <p:spPr>
          <a:xfrm>
            <a:off x="498400" y="2943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58"/>
          <p:cNvSpPr/>
          <p:nvPr/>
        </p:nvSpPr>
        <p:spPr>
          <a:xfrm>
            <a:off x="1316500" y="2130925"/>
            <a:ext cx="11061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9" name="Google Shape;879;p58"/>
          <p:cNvCxnSpPr>
            <a:stCxn id="878" idx="2"/>
            <a:endCxn id="872" idx="0"/>
          </p:cNvCxnSpPr>
          <p:nvPr/>
        </p:nvCxnSpPr>
        <p:spPr>
          <a:xfrm>
            <a:off x="1869550" y="250202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0" name="Google Shape;880;p58"/>
          <p:cNvSpPr txBox="1"/>
          <p:nvPr/>
        </p:nvSpPr>
        <p:spPr>
          <a:xfrm>
            <a:off x="498400" y="2181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58"/>
          <p:cNvSpPr/>
          <p:nvPr/>
        </p:nvSpPr>
        <p:spPr>
          <a:xfrm>
            <a:off x="1316500" y="1368925"/>
            <a:ext cx="11061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2" name="Google Shape;882;p58"/>
          <p:cNvCxnSpPr>
            <a:stCxn id="881" idx="2"/>
            <a:endCxn id="878" idx="0"/>
          </p:cNvCxnSpPr>
          <p:nvPr/>
        </p:nvCxnSpPr>
        <p:spPr>
          <a:xfrm>
            <a:off x="1869550" y="174002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3" name="Google Shape;883;p58"/>
          <p:cNvSpPr txBox="1"/>
          <p:nvPr/>
        </p:nvSpPr>
        <p:spPr>
          <a:xfrm>
            <a:off x="498400" y="1419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58"/>
          <p:cNvSpPr/>
          <p:nvPr/>
        </p:nvSpPr>
        <p:spPr>
          <a:xfrm>
            <a:off x="7488700" y="4404950"/>
            <a:ext cx="11061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58"/>
          <p:cNvSpPr/>
          <p:nvPr/>
        </p:nvSpPr>
        <p:spPr>
          <a:xfrm>
            <a:off x="7488700" y="3648938"/>
            <a:ext cx="11061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58"/>
          <p:cNvSpPr/>
          <p:nvPr/>
        </p:nvSpPr>
        <p:spPr>
          <a:xfrm>
            <a:off x="7488700" y="2892925"/>
            <a:ext cx="11061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7" name="Google Shape;887;p58"/>
          <p:cNvCxnSpPr>
            <a:stCxn id="885" idx="2"/>
            <a:endCxn id="884" idx="0"/>
          </p:cNvCxnSpPr>
          <p:nvPr/>
        </p:nvCxnSpPr>
        <p:spPr>
          <a:xfrm>
            <a:off x="8041750" y="4020038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8" name="Google Shape;888;p58"/>
          <p:cNvCxnSpPr>
            <a:stCxn id="886" idx="2"/>
            <a:endCxn id="885" idx="0"/>
          </p:cNvCxnSpPr>
          <p:nvPr/>
        </p:nvCxnSpPr>
        <p:spPr>
          <a:xfrm>
            <a:off x="8041750" y="3264025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9" name="Google Shape;889;p58"/>
          <p:cNvSpPr/>
          <p:nvPr/>
        </p:nvSpPr>
        <p:spPr>
          <a:xfrm>
            <a:off x="7488700" y="2130925"/>
            <a:ext cx="11061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58"/>
          <p:cNvCxnSpPr>
            <a:stCxn id="889" idx="2"/>
            <a:endCxn id="886" idx="0"/>
          </p:cNvCxnSpPr>
          <p:nvPr/>
        </p:nvCxnSpPr>
        <p:spPr>
          <a:xfrm>
            <a:off x="8041750" y="250202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91" name="Google Shape;891;p58"/>
          <p:cNvSpPr/>
          <p:nvPr/>
        </p:nvSpPr>
        <p:spPr>
          <a:xfrm>
            <a:off x="7488700" y="1368925"/>
            <a:ext cx="11061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58"/>
          <p:cNvCxnSpPr>
            <a:stCxn id="891" idx="2"/>
            <a:endCxn id="889" idx="0"/>
          </p:cNvCxnSpPr>
          <p:nvPr/>
        </p:nvCxnSpPr>
        <p:spPr>
          <a:xfrm>
            <a:off x="8041750" y="174002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93" name="Google Shape;893;p58"/>
          <p:cNvSpPr txBox="1"/>
          <p:nvPr>
            <p:ph idx="1" type="body"/>
          </p:nvPr>
        </p:nvSpPr>
        <p:spPr>
          <a:xfrm>
            <a:off x="107050" y="402200"/>
            <a:ext cx="8909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we move to higher layers, we peel off headers, revealing the inner headers.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Headers</a:t>
            </a:r>
            <a:endParaRPr/>
          </a:p>
        </p:txBody>
      </p:sp>
      <p:sp>
        <p:nvSpPr>
          <p:cNvPr id="899" name="Google Shape;899;p59"/>
          <p:cNvSpPr/>
          <p:nvPr/>
        </p:nvSpPr>
        <p:spPr>
          <a:xfrm>
            <a:off x="1316500" y="4404950"/>
            <a:ext cx="11061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59"/>
          <p:cNvSpPr/>
          <p:nvPr/>
        </p:nvSpPr>
        <p:spPr>
          <a:xfrm>
            <a:off x="1316500" y="3648938"/>
            <a:ext cx="11061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59"/>
          <p:cNvSpPr/>
          <p:nvPr/>
        </p:nvSpPr>
        <p:spPr>
          <a:xfrm>
            <a:off x="1316500" y="2892925"/>
            <a:ext cx="11061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59"/>
          <p:cNvSpPr txBox="1"/>
          <p:nvPr/>
        </p:nvSpPr>
        <p:spPr>
          <a:xfrm>
            <a:off x="498400" y="4455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59"/>
          <p:cNvSpPr txBox="1"/>
          <p:nvPr/>
        </p:nvSpPr>
        <p:spPr>
          <a:xfrm>
            <a:off x="498400" y="3699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2: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59"/>
          <p:cNvSpPr txBox="1"/>
          <p:nvPr/>
        </p:nvSpPr>
        <p:spPr>
          <a:xfrm>
            <a:off x="498400" y="2943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59"/>
          <p:cNvSpPr/>
          <p:nvPr/>
        </p:nvSpPr>
        <p:spPr>
          <a:xfrm>
            <a:off x="1316500" y="2130925"/>
            <a:ext cx="11061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59"/>
          <p:cNvSpPr txBox="1"/>
          <p:nvPr/>
        </p:nvSpPr>
        <p:spPr>
          <a:xfrm>
            <a:off x="498400" y="2181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59"/>
          <p:cNvSpPr/>
          <p:nvPr/>
        </p:nvSpPr>
        <p:spPr>
          <a:xfrm>
            <a:off x="1316500" y="1368925"/>
            <a:ext cx="11061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59"/>
          <p:cNvSpPr txBox="1"/>
          <p:nvPr/>
        </p:nvSpPr>
        <p:spPr>
          <a:xfrm>
            <a:off x="498400" y="1419050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59"/>
          <p:cNvSpPr/>
          <p:nvPr/>
        </p:nvSpPr>
        <p:spPr>
          <a:xfrm>
            <a:off x="7488700" y="4404950"/>
            <a:ext cx="11061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59"/>
          <p:cNvSpPr/>
          <p:nvPr/>
        </p:nvSpPr>
        <p:spPr>
          <a:xfrm>
            <a:off x="7488700" y="3648938"/>
            <a:ext cx="11061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59"/>
          <p:cNvSpPr/>
          <p:nvPr/>
        </p:nvSpPr>
        <p:spPr>
          <a:xfrm>
            <a:off x="7488700" y="2892925"/>
            <a:ext cx="11061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59"/>
          <p:cNvSpPr/>
          <p:nvPr/>
        </p:nvSpPr>
        <p:spPr>
          <a:xfrm>
            <a:off x="7488700" y="2130925"/>
            <a:ext cx="11061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59"/>
          <p:cNvSpPr/>
          <p:nvPr/>
        </p:nvSpPr>
        <p:spPr>
          <a:xfrm>
            <a:off x="7488700" y="1368925"/>
            <a:ext cx="11061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59"/>
          <p:cNvCxnSpPr>
            <a:stCxn id="913" idx="1"/>
            <a:endCxn id="907" idx="3"/>
          </p:cNvCxnSpPr>
          <p:nvPr/>
        </p:nvCxnSpPr>
        <p:spPr>
          <a:xfrm rot="10800000">
            <a:off x="2422600" y="1554475"/>
            <a:ext cx="5066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5" name="Google Shape;915;p59"/>
          <p:cNvCxnSpPr>
            <a:stCxn id="912" idx="1"/>
            <a:endCxn id="905" idx="3"/>
          </p:cNvCxnSpPr>
          <p:nvPr/>
        </p:nvCxnSpPr>
        <p:spPr>
          <a:xfrm rot="10800000">
            <a:off x="2422600" y="2316475"/>
            <a:ext cx="5066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6" name="Google Shape;916;p59"/>
          <p:cNvCxnSpPr>
            <a:stCxn id="911" idx="1"/>
            <a:endCxn id="901" idx="3"/>
          </p:cNvCxnSpPr>
          <p:nvPr/>
        </p:nvCxnSpPr>
        <p:spPr>
          <a:xfrm rot="10800000">
            <a:off x="2422600" y="3078475"/>
            <a:ext cx="5066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7" name="Google Shape;917;p59"/>
          <p:cNvCxnSpPr>
            <a:stCxn id="910" idx="1"/>
            <a:endCxn id="900" idx="3"/>
          </p:cNvCxnSpPr>
          <p:nvPr/>
        </p:nvCxnSpPr>
        <p:spPr>
          <a:xfrm rot="10800000">
            <a:off x="2422600" y="3834488"/>
            <a:ext cx="5066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8" name="Google Shape;918;p59"/>
          <p:cNvCxnSpPr>
            <a:stCxn id="909" idx="1"/>
            <a:endCxn id="899" idx="3"/>
          </p:cNvCxnSpPr>
          <p:nvPr/>
        </p:nvCxnSpPr>
        <p:spPr>
          <a:xfrm rot="10800000">
            <a:off x="2422600" y="4590500"/>
            <a:ext cx="5066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9" name="Google Shape;919;p59"/>
          <p:cNvSpPr txBox="1"/>
          <p:nvPr>
            <p:ph idx="1" type="body"/>
          </p:nvPr>
        </p:nvSpPr>
        <p:spPr>
          <a:xfrm>
            <a:off x="107050" y="402200"/>
            <a:ext cx="8909700" cy="5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Peers at the same layer communicate with each other using the header at that layer.</a:t>
            </a:r>
            <a:endParaRPr/>
          </a:p>
        </p:txBody>
      </p:sp>
      <p:sp>
        <p:nvSpPr>
          <p:cNvPr id="920" name="Google Shape;920;p59"/>
          <p:cNvSpPr txBox="1"/>
          <p:nvPr/>
        </p:nvSpPr>
        <p:spPr>
          <a:xfrm>
            <a:off x="3918250" y="1283575"/>
            <a:ext cx="207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HTTP, DNS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p59"/>
          <p:cNvSpPr txBox="1"/>
          <p:nvPr/>
        </p:nvSpPr>
        <p:spPr>
          <a:xfrm>
            <a:off x="3918250" y="2045575"/>
            <a:ext cx="207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TCP, UDP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59"/>
          <p:cNvSpPr txBox="1"/>
          <p:nvPr/>
        </p:nvSpPr>
        <p:spPr>
          <a:xfrm>
            <a:off x="3918250" y="2807575"/>
            <a:ext cx="207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59"/>
          <p:cNvSpPr txBox="1"/>
          <p:nvPr/>
        </p:nvSpPr>
        <p:spPr>
          <a:xfrm>
            <a:off x="3918250" y="3569575"/>
            <a:ext cx="207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p59"/>
          <p:cNvSpPr txBox="1"/>
          <p:nvPr/>
        </p:nvSpPr>
        <p:spPr>
          <a:xfrm>
            <a:off x="3918250" y="4331575"/>
            <a:ext cx="207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 wire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0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 Networking 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1.1. Protocols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1.8. Demultiplexing with Ports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2. Introducing Traceroute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30" name="Google Shape;930;p6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Demultiplexing</a:t>
            </a:r>
            <a:endParaRPr/>
          </a:p>
        </p:txBody>
      </p:sp>
      <p:sp>
        <p:nvSpPr>
          <p:cNvPr id="931" name="Google Shape;931;p6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 at Different Internet Layers</a:t>
            </a:r>
            <a:endParaRPr/>
          </a:p>
        </p:txBody>
      </p:sp>
      <p:sp>
        <p:nvSpPr>
          <p:cNvPr id="937" name="Google Shape;937;p61"/>
          <p:cNvSpPr/>
          <p:nvPr/>
        </p:nvSpPr>
        <p:spPr>
          <a:xfrm>
            <a:off x="1562575" y="4578275"/>
            <a:ext cx="11061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61"/>
          <p:cNvSpPr/>
          <p:nvPr/>
        </p:nvSpPr>
        <p:spPr>
          <a:xfrm>
            <a:off x="1562575" y="3898463"/>
            <a:ext cx="11061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61"/>
          <p:cNvSpPr/>
          <p:nvPr/>
        </p:nvSpPr>
        <p:spPr>
          <a:xfrm>
            <a:off x="1562575" y="3218650"/>
            <a:ext cx="11061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0" name="Google Shape;940;p61"/>
          <p:cNvCxnSpPr>
            <a:stCxn id="938" idx="2"/>
            <a:endCxn id="937" idx="0"/>
          </p:cNvCxnSpPr>
          <p:nvPr/>
        </p:nvCxnSpPr>
        <p:spPr>
          <a:xfrm>
            <a:off x="2115625" y="4269563"/>
            <a:ext cx="0" cy="308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61"/>
          <p:cNvCxnSpPr>
            <a:stCxn id="939" idx="2"/>
            <a:endCxn id="938" idx="0"/>
          </p:cNvCxnSpPr>
          <p:nvPr/>
        </p:nvCxnSpPr>
        <p:spPr>
          <a:xfrm>
            <a:off x="2115625" y="3589750"/>
            <a:ext cx="0" cy="308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2" name="Google Shape;942;p61"/>
          <p:cNvSpPr txBox="1"/>
          <p:nvPr/>
        </p:nvSpPr>
        <p:spPr>
          <a:xfrm>
            <a:off x="744475" y="46283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1: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61"/>
          <p:cNvSpPr txBox="1"/>
          <p:nvPr/>
        </p:nvSpPr>
        <p:spPr>
          <a:xfrm>
            <a:off x="744475" y="39485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2: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61"/>
          <p:cNvSpPr txBox="1"/>
          <p:nvPr/>
        </p:nvSpPr>
        <p:spPr>
          <a:xfrm>
            <a:off x="744475" y="32687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3: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61"/>
          <p:cNvSpPr/>
          <p:nvPr/>
        </p:nvSpPr>
        <p:spPr>
          <a:xfrm>
            <a:off x="1562575" y="2532850"/>
            <a:ext cx="1106100" cy="37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6" name="Google Shape;946;p61"/>
          <p:cNvCxnSpPr>
            <a:stCxn id="945" idx="2"/>
            <a:endCxn id="939" idx="0"/>
          </p:cNvCxnSpPr>
          <p:nvPr/>
        </p:nvCxnSpPr>
        <p:spPr>
          <a:xfrm>
            <a:off x="2115625" y="2903950"/>
            <a:ext cx="0" cy="314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7" name="Google Shape;947;p61"/>
          <p:cNvSpPr txBox="1"/>
          <p:nvPr/>
        </p:nvSpPr>
        <p:spPr>
          <a:xfrm>
            <a:off x="744475" y="25829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4: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61"/>
          <p:cNvSpPr/>
          <p:nvPr/>
        </p:nvSpPr>
        <p:spPr>
          <a:xfrm>
            <a:off x="1562575" y="1847050"/>
            <a:ext cx="11061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9" name="Google Shape;949;p61"/>
          <p:cNvCxnSpPr>
            <a:stCxn id="948" idx="2"/>
            <a:endCxn id="945" idx="0"/>
          </p:cNvCxnSpPr>
          <p:nvPr/>
        </p:nvCxnSpPr>
        <p:spPr>
          <a:xfrm>
            <a:off x="2115625" y="2218150"/>
            <a:ext cx="0" cy="314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61"/>
          <p:cNvSpPr txBox="1"/>
          <p:nvPr/>
        </p:nvSpPr>
        <p:spPr>
          <a:xfrm>
            <a:off x="744475" y="18971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7: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61"/>
          <p:cNvSpPr txBox="1"/>
          <p:nvPr>
            <p:ph idx="1" type="body"/>
          </p:nvPr>
        </p:nvSpPr>
        <p:spPr>
          <a:xfrm>
            <a:off x="107050" y="402200"/>
            <a:ext cx="8909700" cy="12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Multiple protocols exist at each layer.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 hosts can agree on the L4 and L7 protocols they want to use.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on each link can agree on the L1 and L2 protocols they want to use.</a:t>
            </a:r>
            <a:endParaRPr/>
          </a:p>
        </p:txBody>
      </p:sp>
      <p:sp>
        <p:nvSpPr>
          <p:cNvPr id="952" name="Google Shape;952;p61"/>
          <p:cNvSpPr/>
          <p:nvPr/>
        </p:nvSpPr>
        <p:spPr>
          <a:xfrm>
            <a:off x="3273025" y="4578275"/>
            <a:ext cx="7923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Optical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61"/>
          <p:cNvSpPr/>
          <p:nvPr/>
        </p:nvSpPr>
        <p:spPr>
          <a:xfrm>
            <a:off x="4217725" y="4578275"/>
            <a:ext cx="12342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Copper Wire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61"/>
          <p:cNvSpPr/>
          <p:nvPr/>
        </p:nvSpPr>
        <p:spPr>
          <a:xfrm>
            <a:off x="5604325" y="4578275"/>
            <a:ext cx="12342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Radio Waves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61"/>
          <p:cNvSpPr/>
          <p:nvPr/>
        </p:nvSpPr>
        <p:spPr>
          <a:xfrm>
            <a:off x="6990925" y="4578275"/>
            <a:ext cx="13884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Telephone Line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61"/>
          <p:cNvSpPr/>
          <p:nvPr/>
        </p:nvSpPr>
        <p:spPr>
          <a:xfrm>
            <a:off x="5888125" y="3898475"/>
            <a:ext cx="6666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Wi-Fi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61"/>
          <p:cNvCxnSpPr>
            <a:stCxn id="956" idx="2"/>
            <a:endCxn id="954" idx="0"/>
          </p:cNvCxnSpPr>
          <p:nvPr/>
        </p:nvCxnSpPr>
        <p:spPr>
          <a:xfrm>
            <a:off x="6221425" y="4269575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61"/>
          <p:cNvSpPr/>
          <p:nvPr/>
        </p:nvSpPr>
        <p:spPr>
          <a:xfrm>
            <a:off x="7049275" y="3898475"/>
            <a:ext cx="12717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Point-to-Point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61"/>
          <p:cNvCxnSpPr>
            <a:stCxn id="958" idx="2"/>
            <a:endCxn id="955" idx="0"/>
          </p:cNvCxnSpPr>
          <p:nvPr/>
        </p:nvCxnSpPr>
        <p:spPr>
          <a:xfrm>
            <a:off x="7685125" y="4269575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61"/>
          <p:cNvSpPr/>
          <p:nvPr/>
        </p:nvSpPr>
        <p:spPr>
          <a:xfrm>
            <a:off x="4393975" y="3898475"/>
            <a:ext cx="8817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Ethernet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1" name="Google Shape;961;p61"/>
          <p:cNvCxnSpPr>
            <a:stCxn id="960" idx="2"/>
            <a:endCxn id="953" idx="0"/>
          </p:cNvCxnSpPr>
          <p:nvPr/>
        </p:nvCxnSpPr>
        <p:spPr>
          <a:xfrm>
            <a:off x="4834825" y="4269575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61"/>
          <p:cNvSpPr/>
          <p:nvPr/>
        </p:nvSpPr>
        <p:spPr>
          <a:xfrm>
            <a:off x="3385825" y="3898475"/>
            <a:ext cx="5667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FDDI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3" name="Google Shape;963;p61"/>
          <p:cNvCxnSpPr>
            <a:stCxn id="962" idx="2"/>
            <a:endCxn id="952" idx="0"/>
          </p:cNvCxnSpPr>
          <p:nvPr/>
        </p:nvCxnSpPr>
        <p:spPr>
          <a:xfrm>
            <a:off x="3669175" y="4269575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61"/>
          <p:cNvSpPr/>
          <p:nvPr/>
        </p:nvSpPr>
        <p:spPr>
          <a:xfrm>
            <a:off x="5244675" y="3215663"/>
            <a:ext cx="6666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5" name="Google Shape;965;p61"/>
          <p:cNvCxnSpPr>
            <a:stCxn id="962" idx="0"/>
            <a:endCxn id="964" idx="2"/>
          </p:cNvCxnSpPr>
          <p:nvPr/>
        </p:nvCxnSpPr>
        <p:spPr>
          <a:xfrm flipH="1" rot="10800000">
            <a:off x="3669175" y="3586775"/>
            <a:ext cx="19089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61"/>
          <p:cNvCxnSpPr>
            <a:stCxn id="960" idx="0"/>
            <a:endCxn id="964" idx="2"/>
          </p:cNvCxnSpPr>
          <p:nvPr/>
        </p:nvCxnSpPr>
        <p:spPr>
          <a:xfrm flipH="1" rot="10800000">
            <a:off x="4834825" y="3586775"/>
            <a:ext cx="7431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61"/>
          <p:cNvCxnSpPr>
            <a:stCxn id="956" idx="0"/>
            <a:endCxn id="964" idx="2"/>
          </p:cNvCxnSpPr>
          <p:nvPr/>
        </p:nvCxnSpPr>
        <p:spPr>
          <a:xfrm rot="10800000">
            <a:off x="5577925" y="3586775"/>
            <a:ext cx="6435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61"/>
          <p:cNvCxnSpPr>
            <a:stCxn id="958" idx="0"/>
            <a:endCxn id="964" idx="2"/>
          </p:cNvCxnSpPr>
          <p:nvPr/>
        </p:nvCxnSpPr>
        <p:spPr>
          <a:xfrm rot="10800000">
            <a:off x="5577925" y="3586775"/>
            <a:ext cx="21072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61"/>
          <p:cNvSpPr/>
          <p:nvPr/>
        </p:nvSpPr>
        <p:spPr>
          <a:xfrm>
            <a:off x="4101675" y="2532863"/>
            <a:ext cx="6666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61"/>
          <p:cNvSpPr/>
          <p:nvPr/>
        </p:nvSpPr>
        <p:spPr>
          <a:xfrm>
            <a:off x="6387675" y="2532863"/>
            <a:ext cx="6666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1" name="Google Shape;971;p61"/>
          <p:cNvCxnSpPr>
            <a:stCxn id="972" idx="2"/>
            <a:endCxn id="969" idx="0"/>
          </p:cNvCxnSpPr>
          <p:nvPr/>
        </p:nvCxnSpPr>
        <p:spPr>
          <a:xfrm>
            <a:off x="3977775" y="2218163"/>
            <a:ext cx="4572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61"/>
          <p:cNvCxnSpPr>
            <a:stCxn id="969" idx="0"/>
            <a:endCxn id="974" idx="2"/>
          </p:cNvCxnSpPr>
          <p:nvPr/>
        </p:nvCxnSpPr>
        <p:spPr>
          <a:xfrm flipH="1" rot="10800000">
            <a:off x="4434975" y="2218163"/>
            <a:ext cx="4572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61"/>
          <p:cNvCxnSpPr>
            <a:stCxn id="970" idx="0"/>
            <a:endCxn id="976" idx="2"/>
          </p:cNvCxnSpPr>
          <p:nvPr/>
        </p:nvCxnSpPr>
        <p:spPr>
          <a:xfrm rot="10800000">
            <a:off x="6263775" y="2218163"/>
            <a:ext cx="4572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61"/>
          <p:cNvCxnSpPr>
            <a:stCxn id="970" idx="0"/>
            <a:endCxn id="978" idx="2"/>
          </p:cNvCxnSpPr>
          <p:nvPr/>
        </p:nvCxnSpPr>
        <p:spPr>
          <a:xfrm flipH="1" rot="10800000">
            <a:off x="6720975" y="2218163"/>
            <a:ext cx="4572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61"/>
          <p:cNvCxnSpPr>
            <a:stCxn id="964" idx="0"/>
            <a:endCxn id="969" idx="2"/>
          </p:cNvCxnSpPr>
          <p:nvPr/>
        </p:nvCxnSpPr>
        <p:spPr>
          <a:xfrm rot="10800000">
            <a:off x="4434975" y="2903963"/>
            <a:ext cx="11430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61"/>
          <p:cNvCxnSpPr>
            <a:stCxn id="964" idx="0"/>
            <a:endCxn id="970" idx="2"/>
          </p:cNvCxnSpPr>
          <p:nvPr/>
        </p:nvCxnSpPr>
        <p:spPr>
          <a:xfrm flipH="1" rot="10800000">
            <a:off x="5577975" y="2903963"/>
            <a:ext cx="11430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61"/>
          <p:cNvSpPr/>
          <p:nvPr/>
        </p:nvSpPr>
        <p:spPr>
          <a:xfrm>
            <a:off x="3644475" y="1847063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SMTP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61"/>
          <p:cNvSpPr/>
          <p:nvPr/>
        </p:nvSpPr>
        <p:spPr>
          <a:xfrm>
            <a:off x="5930475" y="1847063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61"/>
          <p:cNvSpPr/>
          <p:nvPr/>
        </p:nvSpPr>
        <p:spPr>
          <a:xfrm>
            <a:off x="4558875" y="1847063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HTTP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61"/>
          <p:cNvSpPr/>
          <p:nvPr/>
        </p:nvSpPr>
        <p:spPr>
          <a:xfrm>
            <a:off x="6844875" y="1847063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NTP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Demultiplexing</a:t>
            </a:r>
            <a:endParaRPr/>
          </a:p>
        </p:txBody>
      </p:sp>
      <p:sp>
        <p:nvSpPr>
          <p:cNvPr id="986" name="Google Shape;986;p62"/>
          <p:cNvSpPr/>
          <p:nvPr/>
        </p:nvSpPr>
        <p:spPr>
          <a:xfrm>
            <a:off x="1562575" y="4578275"/>
            <a:ext cx="11061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62"/>
          <p:cNvSpPr/>
          <p:nvPr/>
        </p:nvSpPr>
        <p:spPr>
          <a:xfrm>
            <a:off x="1562575" y="3898463"/>
            <a:ext cx="11061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62"/>
          <p:cNvSpPr/>
          <p:nvPr/>
        </p:nvSpPr>
        <p:spPr>
          <a:xfrm>
            <a:off x="1562575" y="3218650"/>
            <a:ext cx="11061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9" name="Google Shape;989;p62"/>
          <p:cNvCxnSpPr>
            <a:stCxn id="987" idx="2"/>
            <a:endCxn id="986" idx="0"/>
          </p:cNvCxnSpPr>
          <p:nvPr/>
        </p:nvCxnSpPr>
        <p:spPr>
          <a:xfrm>
            <a:off x="2115625" y="4269563"/>
            <a:ext cx="0" cy="308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62"/>
          <p:cNvCxnSpPr>
            <a:stCxn id="988" idx="2"/>
            <a:endCxn id="987" idx="0"/>
          </p:cNvCxnSpPr>
          <p:nvPr/>
        </p:nvCxnSpPr>
        <p:spPr>
          <a:xfrm>
            <a:off x="2115625" y="3589750"/>
            <a:ext cx="0" cy="308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1" name="Google Shape;991;p62"/>
          <p:cNvSpPr txBox="1"/>
          <p:nvPr/>
        </p:nvSpPr>
        <p:spPr>
          <a:xfrm>
            <a:off x="744475" y="46283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1: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62"/>
          <p:cNvSpPr txBox="1"/>
          <p:nvPr/>
        </p:nvSpPr>
        <p:spPr>
          <a:xfrm>
            <a:off x="744475" y="39485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2: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62"/>
          <p:cNvSpPr txBox="1"/>
          <p:nvPr/>
        </p:nvSpPr>
        <p:spPr>
          <a:xfrm>
            <a:off x="744475" y="32687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3: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62"/>
          <p:cNvSpPr/>
          <p:nvPr/>
        </p:nvSpPr>
        <p:spPr>
          <a:xfrm>
            <a:off x="1562575" y="2532850"/>
            <a:ext cx="1106100" cy="371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5" name="Google Shape;995;p62"/>
          <p:cNvCxnSpPr>
            <a:stCxn id="994" idx="2"/>
            <a:endCxn id="988" idx="0"/>
          </p:cNvCxnSpPr>
          <p:nvPr/>
        </p:nvCxnSpPr>
        <p:spPr>
          <a:xfrm>
            <a:off x="2115625" y="2903950"/>
            <a:ext cx="0" cy="314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62"/>
          <p:cNvSpPr txBox="1"/>
          <p:nvPr/>
        </p:nvSpPr>
        <p:spPr>
          <a:xfrm>
            <a:off x="744475" y="25829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4: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2"/>
          <p:cNvSpPr/>
          <p:nvPr/>
        </p:nvSpPr>
        <p:spPr>
          <a:xfrm>
            <a:off x="1562575" y="1847050"/>
            <a:ext cx="11061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62"/>
          <p:cNvCxnSpPr>
            <a:stCxn id="997" idx="2"/>
            <a:endCxn id="994" idx="0"/>
          </p:cNvCxnSpPr>
          <p:nvPr/>
        </p:nvCxnSpPr>
        <p:spPr>
          <a:xfrm>
            <a:off x="2115625" y="2218150"/>
            <a:ext cx="0" cy="314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62"/>
          <p:cNvSpPr txBox="1"/>
          <p:nvPr/>
        </p:nvSpPr>
        <p:spPr>
          <a:xfrm>
            <a:off x="744475" y="1897175"/>
            <a:ext cx="74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Layer 7: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0" name="Google Shape;1000;p62"/>
          <p:cNvSpPr txBox="1"/>
          <p:nvPr>
            <p:ph idx="1" type="body"/>
          </p:nvPr>
        </p:nvSpPr>
        <p:spPr>
          <a:xfrm>
            <a:off x="107050" y="402200"/>
            <a:ext cx="8909700" cy="12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a packet, you pass it up the stack, to higher-layer protocols.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did IP know to pass up to TCP, not UDP?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did TCP know to pass up to HTTP, not SMTP?</a:t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3273025" y="4578275"/>
            <a:ext cx="7923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Optical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62"/>
          <p:cNvSpPr/>
          <p:nvPr/>
        </p:nvSpPr>
        <p:spPr>
          <a:xfrm>
            <a:off x="4217725" y="4578275"/>
            <a:ext cx="12342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Copper Wire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62"/>
          <p:cNvSpPr/>
          <p:nvPr/>
        </p:nvSpPr>
        <p:spPr>
          <a:xfrm>
            <a:off x="5604325" y="4578275"/>
            <a:ext cx="12342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Radio Waves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62"/>
          <p:cNvSpPr/>
          <p:nvPr/>
        </p:nvSpPr>
        <p:spPr>
          <a:xfrm>
            <a:off x="6990925" y="4578275"/>
            <a:ext cx="1388400" cy="3711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Telephone Line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62"/>
          <p:cNvSpPr/>
          <p:nvPr/>
        </p:nvSpPr>
        <p:spPr>
          <a:xfrm>
            <a:off x="5888125" y="3898475"/>
            <a:ext cx="6666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Wi-Fi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6" name="Google Shape;1006;p62"/>
          <p:cNvCxnSpPr>
            <a:stCxn id="1005" idx="2"/>
            <a:endCxn id="1003" idx="0"/>
          </p:cNvCxnSpPr>
          <p:nvPr/>
        </p:nvCxnSpPr>
        <p:spPr>
          <a:xfrm>
            <a:off x="6221425" y="4269575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62"/>
          <p:cNvSpPr/>
          <p:nvPr/>
        </p:nvSpPr>
        <p:spPr>
          <a:xfrm>
            <a:off x="7049275" y="3898475"/>
            <a:ext cx="12717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Point-to-Point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8" name="Google Shape;1008;p62"/>
          <p:cNvCxnSpPr>
            <a:stCxn id="1007" idx="2"/>
            <a:endCxn id="1004" idx="0"/>
          </p:cNvCxnSpPr>
          <p:nvPr/>
        </p:nvCxnSpPr>
        <p:spPr>
          <a:xfrm>
            <a:off x="7685125" y="4269575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62"/>
          <p:cNvSpPr/>
          <p:nvPr/>
        </p:nvSpPr>
        <p:spPr>
          <a:xfrm>
            <a:off x="4393975" y="3898475"/>
            <a:ext cx="8817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Ethernet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62"/>
          <p:cNvCxnSpPr>
            <a:stCxn id="1009" idx="2"/>
            <a:endCxn id="1002" idx="0"/>
          </p:cNvCxnSpPr>
          <p:nvPr/>
        </p:nvCxnSpPr>
        <p:spPr>
          <a:xfrm>
            <a:off x="4834825" y="4269575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1" name="Google Shape;1011;p62"/>
          <p:cNvSpPr/>
          <p:nvPr/>
        </p:nvSpPr>
        <p:spPr>
          <a:xfrm>
            <a:off x="3385825" y="3898475"/>
            <a:ext cx="566700" cy="371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FDDI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2" name="Google Shape;1012;p62"/>
          <p:cNvCxnSpPr>
            <a:stCxn id="1011" idx="2"/>
            <a:endCxn id="1001" idx="0"/>
          </p:cNvCxnSpPr>
          <p:nvPr/>
        </p:nvCxnSpPr>
        <p:spPr>
          <a:xfrm>
            <a:off x="3669175" y="4269575"/>
            <a:ext cx="0" cy="30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3" name="Google Shape;1013;p62"/>
          <p:cNvSpPr/>
          <p:nvPr/>
        </p:nvSpPr>
        <p:spPr>
          <a:xfrm>
            <a:off x="5244675" y="3215663"/>
            <a:ext cx="6666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4" name="Google Shape;1014;p62"/>
          <p:cNvCxnSpPr>
            <a:stCxn id="1011" idx="0"/>
            <a:endCxn id="1013" idx="2"/>
          </p:cNvCxnSpPr>
          <p:nvPr/>
        </p:nvCxnSpPr>
        <p:spPr>
          <a:xfrm flipH="1" rot="10800000">
            <a:off x="3669175" y="3586775"/>
            <a:ext cx="19089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62"/>
          <p:cNvCxnSpPr>
            <a:stCxn id="1009" idx="0"/>
            <a:endCxn id="1013" idx="2"/>
          </p:cNvCxnSpPr>
          <p:nvPr/>
        </p:nvCxnSpPr>
        <p:spPr>
          <a:xfrm flipH="1" rot="10800000">
            <a:off x="4834825" y="3586775"/>
            <a:ext cx="7431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62"/>
          <p:cNvCxnSpPr>
            <a:stCxn id="1005" idx="0"/>
            <a:endCxn id="1013" idx="2"/>
          </p:cNvCxnSpPr>
          <p:nvPr/>
        </p:nvCxnSpPr>
        <p:spPr>
          <a:xfrm rot="10800000">
            <a:off x="5577925" y="3586775"/>
            <a:ext cx="6435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7" name="Google Shape;1017;p62"/>
          <p:cNvCxnSpPr>
            <a:stCxn id="1007" idx="0"/>
            <a:endCxn id="1013" idx="2"/>
          </p:cNvCxnSpPr>
          <p:nvPr/>
        </p:nvCxnSpPr>
        <p:spPr>
          <a:xfrm rot="10800000">
            <a:off x="5577925" y="3586775"/>
            <a:ext cx="21072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62"/>
          <p:cNvSpPr/>
          <p:nvPr/>
        </p:nvSpPr>
        <p:spPr>
          <a:xfrm>
            <a:off x="4101675" y="2532863"/>
            <a:ext cx="6666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62"/>
          <p:cNvSpPr/>
          <p:nvPr/>
        </p:nvSpPr>
        <p:spPr>
          <a:xfrm>
            <a:off x="6387675" y="2532863"/>
            <a:ext cx="6666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0" name="Google Shape;1020;p62"/>
          <p:cNvCxnSpPr>
            <a:stCxn id="1021" idx="2"/>
            <a:endCxn id="1018" idx="0"/>
          </p:cNvCxnSpPr>
          <p:nvPr/>
        </p:nvCxnSpPr>
        <p:spPr>
          <a:xfrm>
            <a:off x="3977775" y="2218163"/>
            <a:ext cx="4572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62"/>
          <p:cNvCxnSpPr>
            <a:stCxn id="1018" idx="0"/>
            <a:endCxn id="1023" idx="2"/>
          </p:cNvCxnSpPr>
          <p:nvPr/>
        </p:nvCxnSpPr>
        <p:spPr>
          <a:xfrm flipH="1" rot="10800000">
            <a:off x="4434975" y="2218163"/>
            <a:ext cx="4572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62"/>
          <p:cNvCxnSpPr>
            <a:stCxn id="1019" idx="0"/>
            <a:endCxn id="1025" idx="2"/>
          </p:cNvCxnSpPr>
          <p:nvPr/>
        </p:nvCxnSpPr>
        <p:spPr>
          <a:xfrm rot="10800000">
            <a:off x="6263775" y="2218163"/>
            <a:ext cx="4572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62"/>
          <p:cNvCxnSpPr>
            <a:stCxn id="1019" idx="0"/>
            <a:endCxn id="1027" idx="2"/>
          </p:cNvCxnSpPr>
          <p:nvPr/>
        </p:nvCxnSpPr>
        <p:spPr>
          <a:xfrm flipH="1" rot="10800000">
            <a:off x="6720975" y="2218163"/>
            <a:ext cx="4572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62"/>
          <p:cNvCxnSpPr>
            <a:stCxn id="1013" idx="0"/>
            <a:endCxn id="1018" idx="2"/>
          </p:cNvCxnSpPr>
          <p:nvPr/>
        </p:nvCxnSpPr>
        <p:spPr>
          <a:xfrm rot="10800000">
            <a:off x="4434975" y="2903963"/>
            <a:ext cx="11430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62"/>
          <p:cNvCxnSpPr>
            <a:stCxn id="1013" idx="0"/>
            <a:endCxn id="1019" idx="2"/>
          </p:cNvCxnSpPr>
          <p:nvPr/>
        </p:nvCxnSpPr>
        <p:spPr>
          <a:xfrm flipH="1" rot="10800000">
            <a:off x="5577975" y="2903963"/>
            <a:ext cx="11430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62"/>
          <p:cNvSpPr/>
          <p:nvPr/>
        </p:nvSpPr>
        <p:spPr>
          <a:xfrm>
            <a:off x="3644475" y="1847063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SMTP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p62"/>
          <p:cNvSpPr/>
          <p:nvPr/>
        </p:nvSpPr>
        <p:spPr>
          <a:xfrm>
            <a:off x="5930475" y="1847063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3" name="Google Shape;1023;p62"/>
          <p:cNvSpPr/>
          <p:nvPr/>
        </p:nvSpPr>
        <p:spPr>
          <a:xfrm>
            <a:off x="4558875" y="1847063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HTTP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62"/>
          <p:cNvSpPr/>
          <p:nvPr/>
        </p:nvSpPr>
        <p:spPr>
          <a:xfrm>
            <a:off x="6844875" y="1847063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NTP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62"/>
          <p:cNvSpPr/>
          <p:nvPr/>
        </p:nvSpPr>
        <p:spPr>
          <a:xfrm>
            <a:off x="4643184" y="2124150"/>
            <a:ext cx="1202650" cy="2559400"/>
          </a:xfrm>
          <a:custGeom>
            <a:rect b="b" l="l" r="r" t="t"/>
            <a:pathLst>
              <a:path extrusionOk="0" h="102376" w="48106">
                <a:moveTo>
                  <a:pt x="19657" y="0"/>
                </a:moveTo>
                <a:cubicBezTo>
                  <a:pt x="16496" y="4275"/>
                  <a:pt x="-3990" y="17597"/>
                  <a:pt x="693" y="25648"/>
                </a:cubicBezTo>
                <a:cubicBezTo>
                  <a:pt x="5377" y="33699"/>
                  <a:pt x="44281" y="40448"/>
                  <a:pt x="47758" y="48304"/>
                </a:cubicBezTo>
                <a:cubicBezTo>
                  <a:pt x="51235" y="56160"/>
                  <a:pt x="27673" y="63772"/>
                  <a:pt x="21553" y="72784"/>
                </a:cubicBezTo>
                <a:cubicBezTo>
                  <a:pt x="15433" y="81796"/>
                  <a:pt x="12790" y="97444"/>
                  <a:pt x="11037" y="102376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sp>
      <p:cxnSp>
        <p:nvCxnSpPr>
          <p:cNvPr id="1031" name="Google Shape;1031;p62"/>
          <p:cNvCxnSpPr/>
          <p:nvPr/>
        </p:nvCxnSpPr>
        <p:spPr>
          <a:xfrm rot="10800000">
            <a:off x="5178675" y="2928125"/>
            <a:ext cx="401700" cy="161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2" name="Google Shape;1032;p62"/>
          <p:cNvCxnSpPr/>
          <p:nvPr/>
        </p:nvCxnSpPr>
        <p:spPr>
          <a:xfrm flipH="1" rot="10800000">
            <a:off x="5573028" y="2928125"/>
            <a:ext cx="401700" cy="161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3" name="Google Shape;1033;p62"/>
          <p:cNvSpPr txBox="1"/>
          <p:nvPr/>
        </p:nvSpPr>
        <p:spPr>
          <a:xfrm>
            <a:off x="5063025" y="2640988"/>
            <a:ext cx="1029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Which way?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4" name="Google Shape;1034;p62"/>
          <p:cNvCxnSpPr/>
          <p:nvPr/>
        </p:nvCxnSpPr>
        <p:spPr>
          <a:xfrm rot="10800000">
            <a:off x="4176057" y="2273660"/>
            <a:ext cx="264000" cy="161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5" name="Google Shape;1035;p62"/>
          <p:cNvCxnSpPr/>
          <p:nvPr/>
        </p:nvCxnSpPr>
        <p:spPr>
          <a:xfrm flipH="1" rot="10800000">
            <a:off x="4429892" y="2273660"/>
            <a:ext cx="264000" cy="161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6" name="Google Shape;1036;p62"/>
          <p:cNvSpPr txBox="1"/>
          <p:nvPr/>
        </p:nvSpPr>
        <p:spPr>
          <a:xfrm>
            <a:off x="3158025" y="2284613"/>
            <a:ext cx="1029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Which way?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Demultiplexing at Layer 3</a:t>
            </a:r>
            <a:endParaRPr/>
          </a:p>
        </p:txBody>
      </p:sp>
      <p:sp>
        <p:nvSpPr>
          <p:cNvPr id="1042" name="Google Shape;1042;p63"/>
          <p:cNvSpPr txBox="1"/>
          <p:nvPr>
            <p:ph idx="1" type="body"/>
          </p:nvPr>
        </p:nvSpPr>
        <p:spPr>
          <a:xfrm>
            <a:off x="107050" y="402200"/>
            <a:ext cx="89097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Demultiplexing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header field that tells us what the next (higher) layer protocol 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the IP code to pass the rest of the packet to the appropriate L4 code.</a:t>
            </a:r>
            <a:endParaRPr/>
          </a:p>
        </p:txBody>
      </p:sp>
      <p:sp>
        <p:nvSpPr>
          <p:cNvPr id="1043" name="Google Shape;1043;p63"/>
          <p:cNvSpPr/>
          <p:nvPr/>
        </p:nvSpPr>
        <p:spPr>
          <a:xfrm>
            <a:off x="4228600" y="4561688"/>
            <a:ext cx="666600" cy="37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63"/>
          <p:cNvSpPr/>
          <p:nvPr/>
        </p:nvSpPr>
        <p:spPr>
          <a:xfrm>
            <a:off x="3085600" y="3878888"/>
            <a:ext cx="6666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5371600" y="3878888"/>
            <a:ext cx="6666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6" name="Google Shape;1046;p63"/>
          <p:cNvCxnSpPr>
            <a:stCxn id="1043" idx="0"/>
            <a:endCxn id="1044" idx="2"/>
          </p:cNvCxnSpPr>
          <p:nvPr/>
        </p:nvCxnSpPr>
        <p:spPr>
          <a:xfrm rot="10800000">
            <a:off x="3418900" y="4249988"/>
            <a:ext cx="11430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63"/>
          <p:cNvCxnSpPr>
            <a:stCxn id="1043" idx="0"/>
            <a:endCxn id="1045" idx="2"/>
          </p:cNvCxnSpPr>
          <p:nvPr/>
        </p:nvCxnSpPr>
        <p:spPr>
          <a:xfrm flipH="1" rot="10800000">
            <a:off x="4561900" y="4249988"/>
            <a:ext cx="11430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63"/>
          <p:cNvCxnSpPr/>
          <p:nvPr/>
        </p:nvCxnSpPr>
        <p:spPr>
          <a:xfrm rot="10800000">
            <a:off x="4162600" y="4274150"/>
            <a:ext cx="401700" cy="161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63"/>
          <p:cNvCxnSpPr/>
          <p:nvPr/>
        </p:nvCxnSpPr>
        <p:spPr>
          <a:xfrm flipH="1" rot="10800000">
            <a:off x="4556953" y="4274150"/>
            <a:ext cx="401700" cy="161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0" name="Google Shape;1050;p63"/>
          <p:cNvSpPr txBox="1"/>
          <p:nvPr/>
        </p:nvSpPr>
        <p:spPr>
          <a:xfrm>
            <a:off x="4046950" y="3987013"/>
            <a:ext cx="1029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Which way?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63"/>
          <p:cNvSpPr/>
          <p:nvPr/>
        </p:nvSpPr>
        <p:spPr>
          <a:xfrm>
            <a:off x="2407150" y="2006475"/>
            <a:ext cx="2023500" cy="17061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Alice's computer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Bob's computer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Next layer is TCP.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63"/>
          <p:cNvSpPr/>
          <p:nvPr/>
        </p:nvSpPr>
        <p:spPr>
          <a:xfrm>
            <a:off x="2511980" y="2807625"/>
            <a:ext cx="1813800" cy="8283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Layer 4 headers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63"/>
          <p:cNvSpPr/>
          <p:nvPr/>
        </p:nvSpPr>
        <p:spPr>
          <a:xfrm>
            <a:off x="2611513" y="3201475"/>
            <a:ext cx="1614600" cy="354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"Potato."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3"/>
          <p:cNvSpPr/>
          <p:nvPr/>
        </p:nvSpPr>
        <p:spPr>
          <a:xfrm>
            <a:off x="4693150" y="2006475"/>
            <a:ext cx="2023500" cy="17061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Alice's computer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Bob's computer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Next layer is UDP.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3"/>
          <p:cNvSpPr/>
          <p:nvPr/>
        </p:nvSpPr>
        <p:spPr>
          <a:xfrm>
            <a:off x="4797980" y="2807625"/>
            <a:ext cx="1813800" cy="8283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Layer 4 headers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63"/>
          <p:cNvSpPr/>
          <p:nvPr/>
        </p:nvSpPr>
        <p:spPr>
          <a:xfrm>
            <a:off x="4897513" y="3201475"/>
            <a:ext cx="1614600" cy="354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"Potato."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4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 Networking 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1.1. Protocols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1.8. Demultiplexing with Ports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2. Introducing Traceroute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2" name="Google Shape;1062;p6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Demultiplexing with Ports</a:t>
            </a:r>
            <a:endParaRPr/>
          </a:p>
        </p:txBody>
      </p:sp>
      <p:sp>
        <p:nvSpPr>
          <p:cNvPr id="1063" name="Google Shape;1063;p6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8" name="Google Shape;1068;p65"/>
          <p:cNvCxnSpPr>
            <a:stCxn id="1069" idx="0"/>
            <a:endCxn id="1070" idx="2"/>
          </p:cNvCxnSpPr>
          <p:nvPr/>
        </p:nvCxnSpPr>
        <p:spPr>
          <a:xfrm rot="10800000">
            <a:off x="2234800" y="4006938"/>
            <a:ext cx="228600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65"/>
          <p:cNvCxnSpPr>
            <a:stCxn id="1069" idx="0"/>
            <a:endCxn id="1072" idx="2"/>
          </p:cNvCxnSpPr>
          <p:nvPr/>
        </p:nvCxnSpPr>
        <p:spPr>
          <a:xfrm flipH="1" rot="10800000">
            <a:off x="4520800" y="4006938"/>
            <a:ext cx="232710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0" name="Google Shape;1070;p65"/>
          <p:cNvSpPr/>
          <p:nvPr/>
        </p:nvSpPr>
        <p:spPr>
          <a:xfrm>
            <a:off x="1860350" y="3635850"/>
            <a:ext cx="7488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Demultiplexing at Layer 4</a:t>
            </a:r>
            <a:endParaRPr/>
          </a:p>
        </p:txBody>
      </p:sp>
      <p:sp>
        <p:nvSpPr>
          <p:cNvPr id="1074" name="Google Shape;1074;p65"/>
          <p:cNvSpPr txBox="1"/>
          <p:nvPr>
            <p:ph idx="1" type="body"/>
          </p:nvPr>
        </p:nvSpPr>
        <p:spPr>
          <a:xfrm>
            <a:off x="107050" y="402200"/>
            <a:ext cx="8909700" cy="17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Demultiplexing also works at Layer 4.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running application on your computer is associated with a </a:t>
            </a:r>
            <a:r>
              <a:rPr b="1" lang="en"/>
              <a:t>port number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L4 receives a packet, it uses the port number to pass the packet to the corresponding application.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5"/>
          <p:cNvSpPr/>
          <p:nvPr/>
        </p:nvSpPr>
        <p:spPr>
          <a:xfrm>
            <a:off x="4187500" y="4397838"/>
            <a:ext cx="666600" cy="3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65"/>
          <p:cNvSpPr/>
          <p:nvPr/>
        </p:nvSpPr>
        <p:spPr>
          <a:xfrm>
            <a:off x="4187500" y="3635838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65"/>
          <p:cNvCxnSpPr>
            <a:stCxn id="1069" idx="0"/>
            <a:endCxn id="1075" idx="2"/>
          </p:cNvCxnSpPr>
          <p:nvPr/>
        </p:nvCxnSpPr>
        <p:spPr>
          <a:xfrm rot="10800000">
            <a:off x="4520800" y="4006938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65"/>
          <p:cNvCxnSpPr/>
          <p:nvPr/>
        </p:nvCxnSpPr>
        <p:spPr>
          <a:xfrm flipH="1" rot="10800000">
            <a:off x="4846200" y="4268524"/>
            <a:ext cx="420600" cy="7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8" name="Google Shape;1078;p65"/>
          <p:cNvSpPr txBox="1"/>
          <p:nvPr/>
        </p:nvSpPr>
        <p:spPr>
          <a:xfrm>
            <a:off x="4005850" y="4768938"/>
            <a:ext cx="1029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Which way?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9" name="Google Shape;1079;p65"/>
          <p:cNvSpPr/>
          <p:nvPr/>
        </p:nvSpPr>
        <p:spPr>
          <a:xfrm>
            <a:off x="3613900" y="2430813"/>
            <a:ext cx="1813800" cy="9879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Port 587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Port 50000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65"/>
          <p:cNvSpPr/>
          <p:nvPr/>
        </p:nvSpPr>
        <p:spPr>
          <a:xfrm>
            <a:off x="3713450" y="2945323"/>
            <a:ext cx="1614600" cy="393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Stop watching YouTube and answer your email.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65"/>
          <p:cNvCxnSpPr/>
          <p:nvPr/>
        </p:nvCxnSpPr>
        <p:spPr>
          <a:xfrm rot="10800000">
            <a:off x="3759324" y="4268524"/>
            <a:ext cx="420600" cy="70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2" name="Google Shape;1082;p65"/>
          <p:cNvCxnSpPr/>
          <p:nvPr/>
        </p:nvCxnSpPr>
        <p:spPr>
          <a:xfrm rot="10800000">
            <a:off x="4520809" y="4057725"/>
            <a:ext cx="0" cy="297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3" name="Google Shape;1083;p65"/>
          <p:cNvSpPr/>
          <p:nvPr/>
        </p:nvSpPr>
        <p:spPr>
          <a:xfrm>
            <a:off x="5941000" y="2430813"/>
            <a:ext cx="1813800" cy="9879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Port 194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Port 60000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65"/>
          <p:cNvSpPr/>
          <p:nvPr/>
        </p:nvSpPr>
        <p:spPr>
          <a:xfrm>
            <a:off x="6040550" y="2945323"/>
            <a:ext cx="1614600" cy="393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you're fired!!!</a:t>
            </a:r>
            <a:endParaRPr sz="11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65"/>
          <p:cNvSpPr/>
          <p:nvPr/>
        </p:nvSpPr>
        <p:spPr>
          <a:xfrm>
            <a:off x="1327900" y="2430813"/>
            <a:ext cx="1813800" cy="9879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Port 80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Port 40000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65"/>
          <p:cNvSpPr/>
          <p:nvPr/>
        </p:nvSpPr>
        <p:spPr>
          <a:xfrm>
            <a:off x="1427450" y="2945323"/>
            <a:ext cx="1614600" cy="393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Here's that YouTube video you asked for.</a:t>
            </a:r>
            <a:endParaRPr sz="11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65"/>
          <p:cNvSpPr/>
          <p:nvPr/>
        </p:nvSpPr>
        <p:spPr>
          <a:xfrm>
            <a:off x="6514600" y="3635838"/>
            <a:ext cx="666600" cy="37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7" name="Google Shape;1087;p65"/>
          <p:cNvCxnSpPr/>
          <p:nvPr/>
        </p:nvCxnSpPr>
        <p:spPr>
          <a:xfrm flipH="1">
            <a:off x="4797575" y="594600"/>
            <a:ext cx="347100" cy="360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8" name="Google Shape;1088;p65"/>
          <p:cNvSpPr txBox="1"/>
          <p:nvPr/>
        </p:nvSpPr>
        <p:spPr>
          <a:xfrm>
            <a:off x="5137100" y="466725"/>
            <a:ext cx="2559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More specifically, each open connection on your computer.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65"/>
          <p:cNvSpPr txBox="1"/>
          <p:nvPr/>
        </p:nvSpPr>
        <p:spPr>
          <a:xfrm>
            <a:off x="2685350" y="3685950"/>
            <a:ext cx="701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(40000)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65"/>
          <p:cNvSpPr txBox="1"/>
          <p:nvPr/>
        </p:nvSpPr>
        <p:spPr>
          <a:xfrm>
            <a:off x="4930300" y="3685950"/>
            <a:ext cx="701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(50000)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65"/>
          <p:cNvSpPr txBox="1"/>
          <p:nvPr/>
        </p:nvSpPr>
        <p:spPr>
          <a:xfrm>
            <a:off x="7257400" y="3685950"/>
            <a:ext cx="701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(60000)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Ports at Layer 4</a:t>
            </a:r>
            <a:endParaRPr/>
          </a:p>
        </p:txBody>
      </p:sp>
      <p:sp>
        <p:nvSpPr>
          <p:cNvPr id="1097" name="Google Shape;1097;p66"/>
          <p:cNvSpPr txBox="1"/>
          <p:nvPr>
            <p:ph idx="1" type="body"/>
          </p:nvPr>
        </p:nvSpPr>
        <p:spPr>
          <a:xfrm>
            <a:off x="107050" y="402200"/>
            <a:ext cx="8909700" cy="27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 numbers help us distinguish between applications on the same computer.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address (Layer 3) for all the applications is the same.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each connection is associated with a different port number.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Analogy: Room numbers.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and your housemate both have the same street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someone sends a letter to your house, who is it for?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Distinguish by assigning room numbers to each housemate.</a:t>
            </a:r>
            <a:endParaRPr i="1"/>
          </a:p>
        </p:txBody>
      </p:sp>
      <p:sp>
        <p:nvSpPr>
          <p:cNvPr id="1098" name="Google Shape;1098;p66"/>
          <p:cNvSpPr/>
          <p:nvPr/>
        </p:nvSpPr>
        <p:spPr>
          <a:xfrm>
            <a:off x="2290350" y="3142300"/>
            <a:ext cx="2023500" cy="17109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YouTube server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Bob's computer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Next layer is TCP.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66"/>
          <p:cNvSpPr/>
          <p:nvPr/>
        </p:nvSpPr>
        <p:spPr>
          <a:xfrm>
            <a:off x="2395175" y="3921350"/>
            <a:ext cx="1813800" cy="8625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Port 80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Port 40000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66"/>
          <p:cNvSpPr/>
          <p:nvPr/>
        </p:nvSpPr>
        <p:spPr>
          <a:xfrm>
            <a:off x="2494725" y="4458900"/>
            <a:ext cx="1614600" cy="254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[cat video]</a:t>
            </a:r>
            <a:endParaRPr sz="11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1" name="Google Shape;1101;p66"/>
          <p:cNvCxnSpPr>
            <a:stCxn id="1102" idx="1"/>
          </p:cNvCxnSpPr>
          <p:nvPr/>
        </p:nvCxnSpPr>
        <p:spPr>
          <a:xfrm rot="10800000">
            <a:off x="4410800" y="3727775"/>
            <a:ext cx="914700" cy="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2" name="Google Shape;1102;p66"/>
          <p:cNvSpPr txBox="1"/>
          <p:nvPr/>
        </p:nvSpPr>
        <p:spPr>
          <a:xfrm>
            <a:off x="5325500" y="3592325"/>
            <a:ext cx="271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Demultiplex: Which L4 protocol?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3" name="Google Shape;1103;p66"/>
          <p:cNvCxnSpPr>
            <a:stCxn id="1104" idx="1"/>
          </p:cNvCxnSpPr>
          <p:nvPr/>
        </p:nvCxnSpPr>
        <p:spPr>
          <a:xfrm rot="10800000">
            <a:off x="4410800" y="4275325"/>
            <a:ext cx="914700" cy="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4" name="Google Shape;1104;p66"/>
          <p:cNvSpPr txBox="1"/>
          <p:nvPr/>
        </p:nvSpPr>
        <p:spPr>
          <a:xfrm>
            <a:off x="5325500" y="4139875"/>
            <a:ext cx="2869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Demultiplex: Which L7 application?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Ports at Layer 4</a:t>
            </a:r>
            <a:endParaRPr/>
          </a:p>
        </p:txBody>
      </p:sp>
      <p:sp>
        <p:nvSpPr>
          <p:cNvPr id="1110" name="Google Shape;1110;p67"/>
          <p:cNvSpPr txBox="1"/>
          <p:nvPr>
            <p:ph idx="1" type="body"/>
          </p:nvPr>
        </p:nvSpPr>
        <p:spPr>
          <a:xfrm>
            <a:off x="107050" y="402200"/>
            <a:ext cx="8909700" cy="24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end hosts in a connection have a port number.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private client (e.g. your computer) can use a randomly-generated port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public server (e.g. YouTube) must use a fixed, well-known port number.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Analogy: Room numbers.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any number for your bedroom. No one cares.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 room numbers (e.g. in Soda Hall) must be fixed and well-known.</a:t>
            </a:r>
            <a:endParaRPr i="1"/>
          </a:p>
        </p:txBody>
      </p:sp>
      <p:sp>
        <p:nvSpPr>
          <p:cNvPr id="1111" name="Google Shape;1111;p67"/>
          <p:cNvSpPr/>
          <p:nvPr/>
        </p:nvSpPr>
        <p:spPr>
          <a:xfrm>
            <a:off x="2029900" y="3001450"/>
            <a:ext cx="2023500" cy="17109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Bob's computer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YouTube server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layer is TCP.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67"/>
          <p:cNvSpPr/>
          <p:nvPr/>
        </p:nvSpPr>
        <p:spPr>
          <a:xfrm>
            <a:off x="2134725" y="3780500"/>
            <a:ext cx="1813800" cy="8625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Port 40000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Port 80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67"/>
          <p:cNvSpPr/>
          <p:nvPr/>
        </p:nvSpPr>
        <p:spPr>
          <a:xfrm>
            <a:off x="2234275" y="4318050"/>
            <a:ext cx="1614600" cy="254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give me cat video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67"/>
          <p:cNvSpPr/>
          <p:nvPr/>
        </p:nvSpPr>
        <p:spPr>
          <a:xfrm>
            <a:off x="4633400" y="3001450"/>
            <a:ext cx="2023500" cy="1710900"/>
          </a:xfrm>
          <a:prstGeom prst="roundRect">
            <a:avLst>
              <a:gd fmla="val 8208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YouTube server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Bob's computer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Next layer is TCP.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67"/>
          <p:cNvSpPr/>
          <p:nvPr/>
        </p:nvSpPr>
        <p:spPr>
          <a:xfrm>
            <a:off x="4738225" y="3780500"/>
            <a:ext cx="1813800" cy="8625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Port 80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Port 40000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p67"/>
          <p:cNvSpPr/>
          <p:nvPr/>
        </p:nvSpPr>
        <p:spPr>
          <a:xfrm>
            <a:off x="4837775" y="4318050"/>
            <a:ext cx="1614600" cy="254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[cat video]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67"/>
          <p:cNvSpPr txBox="1"/>
          <p:nvPr/>
        </p:nvSpPr>
        <p:spPr>
          <a:xfrm>
            <a:off x="251400" y="3290506"/>
            <a:ext cx="17013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Outgoing packet: Bob picks a random port number, but sends to YouTube's fixed port, 80.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67"/>
          <p:cNvSpPr txBox="1"/>
          <p:nvPr/>
        </p:nvSpPr>
        <p:spPr>
          <a:xfrm>
            <a:off x="6885500" y="3182650"/>
            <a:ext cx="2023500" cy="13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Incoming reply: YouTube replies to Bob's chosen port. Bob's computer passes the packet to the correct application (Firefox, not Slack).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Caution – Terminology Conflict</a:t>
            </a:r>
            <a:endParaRPr/>
          </a:p>
        </p:txBody>
      </p:sp>
      <p:sp>
        <p:nvSpPr>
          <p:cNvPr id="1124" name="Google Shape;1124;p68"/>
          <p:cNvSpPr txBox="1"/>
          <p:nvPr>
            <p:ph idx="1" type="body"/>
          </p:nvPr>
        </p:nvSpPr>
        <p:spPr>
          <a:xfrm>
            <a:off x="107050" y="402200"/>
            <a:ext cx="8909700" cy="15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networking, there are two different things, both called "ports."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it's unclear, we will specify "logical port" or "physical port."</a:t>
            </a:r>
            <a:endParaRPr/>
          </a:p>
        </p:txBody>
      </p:sp>
      <p:pic>
        <p:nvPicPr>
          <p:cNvPr id="1125" name="Google Shape;1125;p68"/>
          <p:cNvPicPr preferRelativeResize="0"/>
          <p:nvPr/>
        </p:nvPicPr>
        <p:blipFill rotWithShape="1">
          <a:blip r:embed="rId3">
            <a:alphaModFix/>
          </a:blip>
          <a:srcRect b="10153" l="0" r="0" t="21098"/>
          <a:stretch/>
        </p:blipFill>
        <p:spPr>
          <a:xfrm>
            <a:off x="5167600" y="2475000"/>
            <a:ext cx="2620149" cy="120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68"/>
          <p:cNvSpPr/>
          <p:nvPr/>
        </p:nvSpPr>
        <p:spPr>
          <a:xfrm>
            <a:off x="1369750" y="2644675"/>
            <a:ext cx="1813800" cy="862500"/>
          </a:xfrm>
          <a:prstGeom prst="roundRect">
            <a:avLst>
              <a:gd fmla="val 10409" name="adj"/>
            </a:avLst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Port 80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Port 40000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7" name="Google Shape;1127;p68"/>
          <p:cNvSpPr/>
          <p:nvPr/>
        </p:nvSpPr>
        <p:spPr>
          <a:xfrm>
            <a:off x="1469300" y="3182225"/>
            <a:ext cx="1614600" cy="254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[cat video]</a:t>
            </a:r>
            <a:endParaRPr sz="11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68"/>
          <p:cNvSpPr txBox="1"/>
          <p:nvPr/>
        </p:nvSpPr>
        <p:spPr>
          <a:xfrm>
            <a:off x="460900" y="3830425"/>
            <a:ext cx="363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Logical port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 number identifying an application. Exists in software.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68"/>
          <p:cNvSpPr txBox="1"/>
          <p:nvPr/>
        </p:nvSpPr>
        <p:spPr>
          <a:xfrm>
            <a:off x="4661925" y="3830425"/>
            <a:ext cx="363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 port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The hole you plug a cable into. Exists in hardware.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69"/>
          <p:cNvSpPr txBox="1"/>
          <p:nvPr>
            <p:ph idx="1" type="body"/>
          </p:nvPr>
        </p:nvSpPr>
        <p:spPr>
          <a:xfrm>
            <a:off x="4812375" y="121650"/>
            <a:ext cx="4038000" cy="49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1. Networking Background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	1.1. Pr</a:t>
            </a:r>
            <a:r>
              <a:rPr lang="en">
                <a:solidFill>
                  <a:srgbClr val="B7B7B7"/>
                </a:solidFill>
              </a:rPr>
              <a:t>otocols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1.2. Building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1.3. Properties of the Internet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1.4. Higher Layers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1.5.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1.6. Multiple Headers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1.7. Demultiplexing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1.8. Demultiplexing with Ports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2. Introducing Traceroute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2.1. Time-to-Live (TTL)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2.2. Exploiting TTL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2.3. Repeated Probing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	2.4. Unreachable Ports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35" name="Google Shape;1135;p6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Time-to-Live</a:t>
            </a:r>
            <a:endParaRPr/>
          </a:p>
        </p:txBody>
      </p:sp>
      <p:sp>
        <p:nvSpPr>
          <p:cNvPr id="1136" name="Google Shape;1136;p6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Traceroute Project Guide, CS 168</a:t>
            </a:r>
            <a:endParaRPr/>
          </a:p>
        </p:txBody>
      </p:sp>
      <p:sp>
        <p:nvSpPr>
          <p:cNvPr id="1137" name="Google Shape;1137;p69"/>
          <p:cNvSpPr txBox="1"/>
          <p:nvPr/>
        </p:nvSpPr>
        <p:spPr>
          <a:xfrm>
            <a:off x="433900" y="1063500"/>
            <a:ext cx="28836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 construction, should be done by September 1, 2024 or so.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