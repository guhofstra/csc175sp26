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7" r:id="rId2"/>
    <p:sldId id="281" r:id="rId3"/>
    <p:sldId id="282" r:id="rId4"/>
    <p:sldId id="284" r:id="rId5"/>
    <p:sldId id="285" r:id="rId6"/>
    <p:sldId id="287" r:id="rId7"/>
    <p:sldId id="1148" r:id="rId8"/>
    <p:sldId id="1149" r:id="rId9"/>
    <p:sldId id="1150" r:id="rId10"/>
    <p:sldId id="1151" r:id="rId11"/>
    <p:sldId id="1152" r:id="rId12"/>
    <p:sldId id="1153" r:id="rId13"/>
    <p:sldId id="1154" r:id="rId14"/>
    <p:sldId id="1155" r:id="rId15"/>
    <p:sldId id="1156" r:id="rId16"/>
    <p:sldId id="115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04" userDrawn="1">
          <p15:clr>
            <a:srgbClr val="A4A3A4"/>
          </p15:clr>
        </p15:guide>
        <p15:guide id="2" pos="5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A3"/>
    <a:srgbClr val="9CDFF9"/>
    <a:srgbClr val="010086"/>
    <a:srgbClr val="CCCCFF"/>
    <a:srgbClr val="3C6CDF"/>
    <a:srgbClr val="0000A8"/>
    <a:srgbClr val="C96B72"/>
    <a:srgbClr val="B8C2C9"/>
    <a:srgbClr val="D6DCE0"/>
    <a:srgbClr val="01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64BA91-CBB3-4550-BFFB-D57C90384BDE}" v="17" dt="2026-01-31T19:40:25.3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118"/>
    <p:restoredTop sz="79593"/>
  </p:normalViewPr>
  <p:slideViewPr>
    <p:cSldViewPr snapToGrid="0" snapToObjects="1">
      <p:cViewPr varScale="1">
        <p:scale>
          <a:sx n="65" d="100"/>
          <a:sy n="65" d="100"/>
        </p:scale>
        <p:origin x="758" y="58"/>
      </p:cViewPr>
      <p:guideLst>
        <p:guide orient="horz" pos="1104"/>
        <p:guide pos="576"/>
      </p:guideLst>
    </p:cSldViewPr>
  </p:slideViewPr>
  <p:outlineViewPr>
    <p:cViewPr>
      <p:scale>
        <a:sx n="33" d="100"/>
        <a:sy n="33" d="100"/>
      </p:scale>
      <p:origin x="0" y="-415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addSld delSld modSld modMainMaster">
      <pc:chgData name="Zonghua Gu" userId="9a7e1853e1951ef5" providerId="LiveId" clId="{CF1FAA12-072C-4ED5-BA76-0FFFAEFDB88A}" dt="2026-01-31T19:41:36.417" v="293" actId="47"/>
      <pc:docMkLst>
        <pc:docMk/>
      </pc:docMkLst>
      <pc:sldChg chg="addSp delSp modSp add mod">
        <pc:chgData name="Zonghua Gu" userId="9a7e1853e1951ef5" providerId="LiveId" clId="{CF1FAA12-072C-4ED5-BA76-0FFFAEFDB88A}" dt="2026-01-31T19:40:47.299" v="292" actId="478"/>
        <pc:sldMkLst>
          <pc:docMk/>
          <pc:sldMk cId="0" sldId="257"/>
        </pc:sldMkLst>
        <pc:spChg chg="add del mod">
          <ac:chgData name="Zonghua Gu" userId="9a7e1853e1951ef5" providerId="LiveId" clId="{CF1FAA12-072C-4ED5-BA76-0FFFAEFDB88A}" dt="2026-01-31T19:40:39.507" v="288" actId="478"/>
          <ac:spMkLst>
            <pc:docMk/>
            <pc:sldMk cId="0" sldId="257"/>
            <ac:spMk id="4" creationId="{BE3E3455-54FD-2EF0-7007-0234A4418F1B}"/>
          </ac:spMkLst>
        </pc:spChg>
        <pc:spChg chg="add del mod">
          <ac:chgData name="Zonghua Gu" userId="9a7e1853e1951ef5" providerId="LiveId" clId="{CF1FAA12-072C-4ED5-BA76-0FFFAEFDB88A}" dt="2026-01-31T19:40:47.299" v="292" actId="478"/>
          <ac:spMkLst>
            <pc:docMk/>
            <pc:sldMk cId="0" sldId="257"/>
            <ac:spMk id="6" creationId="{832118A1-B013-CF5C-84E1-58117415AF83}"/>
          </ac:spMkLst>
        </pc:spChg>
        <pc:spChg chg="del">
          <ac:chgData name="Zonghua Gu" userId="9a7e1853e1951ef5" providerId="LiveId" clId="{CF1FAA12-072C-4ED5-BA76-0FFFAEFDB88A}" dt="2026-01-31T19:40:45.460" v="291" actId="478"/>
          <ac:spMkLst>
            <pc:docMk/>
            <pc:sldMk cId="0" sldId="257"/>
            <ac:spMk id="150" creationId="{00000000-0000-0000-0000-000000000000}"/>
          </ac:spMkLst>
        </pc:spChg>
        <pc:spChg chg="mod">
          <ac:chgData name="Zonghua Gu" userId="9a7e1853e1951ef5" providerId="LiveId" clId="{CF1FAA12-072C-4ED5-BA76-0FFFAEFDB88A}" dt="2026-01-31T19:40:33.998" v="286" actId="20577"/>
          <ac:spMkLst>
            <pc:docMk/>
            <pc:sldMk cId="0" sldId="257"/>
            <ac:spMk id="151" creationId="{00000000-0000-0000-0000-000000000000}"/>
          </ac:spMkLst>
        </pc:spChg>
        <pc:spChg chg="add del mod">
          <ac:chgData name="Zonghua Gu" userId="9a7e1853e1951ef5" providerId="LiveId" clId="{CF1FAA12-072C-4ED5-BA76-0FFFAEFDB88A}" dt="2026-01-31T19:40:41.855" v="290" actId="6549"/>
          <ac:spMkLst>
            <pc:docMk/>
            <pc:sldMk cId="0" sldId="257"/>
            <ac:spMk id="152" creationId="{00000000-0000-0000-0000-000000000000}"/>
          </ac:spMkLst>
        </pc:spChg>
      </pc:sldChg>
      <pc:sldChg chg="modSp add mod">
        <pc:chgData name="Zonghua Gu" userId="9a7e1853e1951ef5" providerId="LiveId" clId="{CF1FAA12-072C-4ED5-BA76-0FFFAEFDB88A}" dt="2026-01-31T19:23:20.467" v="127" actId="404"/>
        <pc:sldMkLst>
          <pc:docMk/>
          <pc:sldMk cId="0" sldId="281"/>
        </pc:sldMkLst>
        <pc:spChg chg="mod">
          <ac:chgData name="Zonghua Gu" userId="9a7e1853e1951ef5" providerId="LiveId" clId="{CF1FAA12-072C-4ED5-BA76-0FFFAEFDB88A}" dt="2026-01-31T19:22:20.876" v="69" actId="27636"/>
          <ac:spMkLst>
            <pc:docMk/>
            <pc:sldMk cId="0" sldId="281"/>
            <ac:spMk id="608" creationId="{00000000-0000-0000-0000-000000000000}"/>
          </ac:spMkLst>
        </pc:spChg>
        <pc:spChg chg="mod">
          <ac:chgData name="Zonghua Gu" userId="9a7e1853e1951ef5" providerId="LiveId" clId="{CF1FAA12-072C-4ED5-BA76-0FFFAEFDB88A}" dt="2026-01-31T19:23:20.467" v="127" actId="404"/>
          <ac:spMkLst>
            <pc:docMk/>
            <pc:sldMk cId="0" sldId="281"/>
            <ac:spMk id="611" creationId="{00000000-0000-0000-0000-000000000000}"/>
          </ac:spMkLst>
        </pc:spChg>
        <pc:cxnChg chg="mod">
          <ac:chgData name="Zonghua Gu" userId="9a7e1853e1951ef5" providerId="LiveId" clId="{CF1FAA12-072C-4ED5-BA76-0FFFAEFDB88A}" dt="2026-01-31T19:23:17.904" v="126" actId="14100"/>
          <ac:cxnSpMkLst>
            <pc:docMk/>
            <pc:sldMk cId="0" sldId="281"/>
            <ac:cxnSpMk id="627" creationId="{00000000-0000-0000-0000-000000000000}"/>
          </ac:cxnSpMkLst>
        </pc:cxnChg>
      </pc:sldChg>
      <pc:sldChg chg="modSp add mod">
        <pc:chgData name="Zonghua Gu" userId="9a7e1853e1951ef5" providerId="LiveId" clId="{CF1FAA12-072C-4ED5-BA76-0FFFAEFDB88A}" dt="2026-01-31T19:24:03.647" v="134" actId="20577"/>
        <pc:sldMkLst>
          <pc:docMk/>
          <pc:sldMk cId="0" sldId="282"/>
        </pc:sldMkLst>
        <pc:spChg chg="mod">
          <ac:chgData name="Zonghua Gu" userId="9a7e1853e1951ef5" providerId="LiveId" clId="{CF1FAA12-072C-4ED5-BA76-0FFFAEFDB88A}" dt="2026-01-31T19:24:03.647" v="134" actId="20577"/>
          <ac:spMkLst>
            <pc:docMk/>
            <pc:sldMk cId="0" sldId="282"/>
            <ac:spMk id="640" creationId="{00000000-0000-0000-0000-000000000000}"/>
          </ac:spMkLst>
        </pc:spChg>
      </pc:sldChg>
      <pc:sldChg chg="add del">
        <pc:chgData name="Zonghua Gu" userId="9a7e1853e1951ef5" providerId="LiveId" clId="{CF1FAA12-072C-4ED5-BA76-0FFFAEFDB88A}" dt="2026-01-31T19:24:06.557" v="135" actId="47"/>
        <pc:sldMkLst>
          <pc:docMk/>
          <pc:sldMk cId="0" sldId="283"/>
        </pc:sldMkLst>
      </pc:sldChg>
      <pc:sldChg chg="modSp add mod">
        <pc:chgData name="Zonghua Gu" userId="9a7e1853e1951ef5" providerId="LiveId" clId="{CF1FAA12-072C-4ED5-BA76-0FFFAEFDB88A}" dt="2026-01-31T19:25:38.374" v="156" actId="14100"/>
        <pc:sldMkLst>
          <pc:docMk/>
          <pc:sldMk cId="0" sldId="284"/>
        </pc:sldMkLst>
        <pc:spChg chg="mod">
          <ac:chgData name="Zonghua Gu" userId="9a7e1853e1951ef5" providerId="LiveId" clId="{CF1FAA12-072C-4ED5-BA76-0FFFAEFDB88A}" dt="2026-01-31T19:25:22.883" v="154" actId="20577"/>
          <ac:spMkLst>
            <pc:docMk/>
            <pc:sldMk cId="0" sldId="284"/>
            <ac:spMk id="667" creationId="{00000000-0000-0000-0000-000000000000}"/>
          </ac:spMkLst>
        </pc:spChg>
        <pc:spChg chg="mod">
          <ac:chgData name="Zonghua Gu" userId="9a7e1853e1951ef5" providerId="LiveId" clId="{CF1FAA12-072C-4ED5-BA76-0FFFAEFDB88A}" dt="2026-01-31T19:25:38.374" v="156" actId="14100"/>
          <ac:spMkLst>
            <pc:docMk/>
            <pc:sldMk cId="0" sldId="284"/>
            <ac:spMk id="672" creationId="{00000000-0000-0000-0000-000000000000}"/>
          </ac:spMkLst>
        </pc:spChg>
        <pc:cxnChg chg="mod">
          <ac:chgData name="Zonghua Gu" userId="9a7e1853e1951ef5" providerId="LiveId" clId="{CF1FAA12-072C-4ED5-BA76-0FFFAEFDB88A}" dt="2026-01-31T19:25:38.374" v="156" actId="14100"/>
          <ac:cxnSpMkLst>
            <pc:docMk/>
            <pc:sldMk cId="0" sldId="284"/>
            <ac:cxnSpMk id="676" creationId="{00000000-0000-0000-0000-000000000000}"/>
          </ac:cxnSpMkLst>
        </pc:cxnChg>
      </pc:sldChg>
      <pc:sldChg chg="modSp add mod">
        <pc:chgData name="Zonghua Gu" userId="9a7e1853e1951ef5" providerId="LiveId" clId="{CF1FAA12-072C-4ED5-BA76-0FFFAEFDB88A}" dt="2026-01-31T19:36:44.153" v="192" actId="20577"/>
        <pc:sldMkLst>
          <pc:docMk/>
          <pc:sldMk cId="0" sldId="285"/>
        </pc:sldMkLst>
        <pc:spChg chg="mod">
          <ac:chgData name="Zonghua Gu" userId="9a7e1853e1951ef5" providerId="LiveId" clId="{CF1FAA12-072C-4ED5-BA76-0FFFAEFDB88A}" dt="2026-01-31T19:36:44.153" v="192" actId="20577"/>
          <ac:spMkLst>
            <pc:docMk/>
            <pc:sldMk cId="0" sldId="285"/>
            <ac:spMk id="683" creationId="{00000000-0000-0000-0000-000000000000}"/>
          </ac:spMkLst>
        </pc:spChg>
        <pc:spChg chg="mod">
          <ac:chgData name="Zonghua Gu" userId="9a7e1853e1951ef5" providerId="LiveId" clId="{CF1FAA12-072C-4ED5-BA76-0FFFAEFDB88A}" dt="2026-01-31T19:26:04.250" v="158" actId="21"/>
          <ac:spMkLst>
            <pc:docMk/>
            <pc:sldMk cId="0" sldId="285"/>
            <ac:spMk id="695" creationId="{00000000-0000-0000-0000-000000000000}"/>
          </ac:spMkLst>
        </pc:spChg>
      </pc:sldChg>
      <pc:sldChg chg="add del">
        <pc:chgData name="Zonghua Gu" userId="9a7e1853e1951ef5" providerId="LiveId" clId="{CF1FAA12-072C-4ED5-BA76-0FFFAEFDB88A}" dt="2026-01-31T19:36:47.053" v="193" actId="47"/>
        <pc:sldMkLst>
          <pc:docMk/>
          <pc:sldMk cId="0" sldId="286"/>
        </pc:sldMkLst>
      </pc:sldChg>
      <pc:sldChg chg="modSp add mod modNotesTx">
        <pc:chgData name="Zonghua Gu" userId="9a7e1853e1951ef5" providerId="LiveId" clId="{CF1FAA12-072C-4ED5-BA76-0FFFAEFDB88A}" dt="2026-01-31T19:39:30.043" v="269" actId="20577"/>
        <pc:sldMkLst>
          <pc:docMk/>
          <pc:sldMk cId="0" sldId="287"/>
        </pc:sldMkLst>
        <pc:spChg chg="mod">
          <ac:chgData name="Zonghua Gu" userId="9a7e1853e1951ef5" providerId="LiveId" clId="{CF1FAA12-072C-4ED5-BA76-0FFFAEFDB88A}" dt="2026-01-31T19:39:30.043" v="269" actId="20577"/>
          <ac:spMkLst>
            <pc:docMk/>
            <pc:sldMk cId="0" sldId="287"/>
            <ac:spMk id="724" creationId="{00000000-0000-0000-0000-000000000000}"/>
          </ac:spMkLst>
        </pc:spChg>
      </pc:sldChg>
      <pc:sldChg chg="modSp add del mod">
        <pc:chgData name="Zonghua Gu" userId="9a7e1853e1951ef5" providerId="LiveId" clId="{CF1FAA12-072C-4ED5-BA76-0FFFAEFDB88A}" dt="2026-01-31T19:38:10.934" v="208" actId="47"/>
        <pc:sldMkLst>
          <pc:docMk/>
          <pc:sldMk cId="0" sldId="288"/>
        </pc:sldMkLst>
        <pc:spChg chg="mod">
          <ac:chgData name="Zonghua Gu" userId="9a7e1853e1951ef5" providerId="LiveId" clId="{CF1FAA12-072C-4ED5-BA76-0FFFAEFDB88A}" dt="2026-01-31T19:37:16.640" v="195" actId="21"/>
          <ac:spMkLst>
            <pc:docMk/>
            <pc:sldMk cId="0" sldId="288"/>
            <ac:spMk id="731" creationId="{00000000-0000-0000-0000-000000000000}"/>
          </ac:spMkLst>
        </pc:spChg>
      </pc:sldChg>
      <pc:sldChg chg="addSp delSp modSp del mod">
        <pc:chgData name="Zonghua Gu" userId="9a7e1853e1951ef5" providerId="LiveId" clId="{CF1FAA12-072C-4ED5-BA76-0FFFAEFDB88A}" dt="2026-01-31T19:41:36.417" v="293" actId="47"/>
        <pc:sldMkLst>
          <pc:docMk/>
          <pc:sldMk cId="2314825519" sldId="960"/>
        </pc:sldMkLst>
        <pc:spChg chg="del">
          <ac:chgData name="Zonghua Gu" userId="9a7e1853e1951ef5" providerId="LiveId" clId="{CF1FAA12-072C-4ED5-BA76-0FFFAEFDB88A}" dt="2026-01-31T16:36:09.960" v="11" actId="478"/>
          <ac:spMkLst>
            <pc:docMk/>
            <pc:sldMk cId="2314825519" sldId="960"/>
            <ac:spMk id="2" creationId="{98C65C94-9E94-6144-BDBB-A8F5D511E4DD}"/>
          </ac:spMkLst>
        </pc:spChg>
        <pc:spChg chg="del">
          <ac:chgData name="Zonghua Gu" userId="9a7e1853e1951ef5" providerId="LiveId" clId="{CF1FAA12-072C-4ED5-BA76-0FFFAEFDB88A}" dt="2026-01-31T16:36:16.658" v="12" actId="478"/>
          <ac:spMkLst>
            <pc:docMk/>
            <pc:sldMk cId="2314825519" sldId="960"/>
            <ac:spMk id="3" creationId="{C9F93B67-6614-8FA7-B2D6-DC499B441623}"/>
          </ac:spMkLst>
        </pc:spChg>
        <pc:spChg chg="add del">
          <ac:chgData name="Zonghua Gu" userId="9a7e1853e1951ef5" providerId="LiveId" clId="{CF1FAA12-072C-4ED5-BA76-0FFFAEFDB88A}" dt="2026-01-31T16:36:27.029" v="16" actId="22"/>
          <ac:spMkLst>
            <pc:docMk/>
            <pc:sldMk cId="2314825519" sldId="960"/>
            <ac:spMk id="5" creationId="{2EF1CFD2-90CB-25D7-FAE3-E6BF24A587D2}"/>
          </ac:spMkLst>
        </pc:spChg>
        <pc:spChg chg="mod">
          <ac:chgData name="Zonghua Gu" userId="9a7e1853e1951ef5" providerId="LiveId" clId="{CF1FAA12-072C-4ED5-BA76-0FFFAEFDB88A}" dt="2026-01-31T16:37:21.734" v="65" actId="14100"/>
          <ac:spMkLst>
            <pc:docMk/>
            <pc:sldMk cId="2314825519" sldId="960"/>
            <ac:spMk id="6" creationId="{9A9F684E-5DD1-6543-95D2-8EB5E7619BE2}"/>
          </ac:spMkLst>
        </pc:spChg>
        <pc:spChg chg="add del">
          <ac:chgData name="Zonghua Gu" userId="9a7e1853e1951ef5" providerId="LiveId" clId="{CF1FAA12-072C-4ED5-BA76-0FFFAEFDB88A}" dt="2026-01-31T16:36:40.698" v="29" actId="478"/>
          <ac:spMkLst>
            <pc:docMk/>
            <pc:sldMk cId="2314825519" sldId="960"/>
            <ac:spMk id="8" creationId="{AF45EB4B-094B-B643-57D7-D4D1F073CA8B}"/>
          </ac:spMkLst>
        </pc:spChg>
        <pc:spChg chg="del">
          <ac:chgData name="Zonghua Gu" userId="9a7e1853e1951ef5" providerId="LiveId" clId="{CF1FAA12-072C-4ED5-BA76-0FFFAEFDB88A}" dt="2026-01-31T16:36:16.658" v="12" actId="478"/>
          <ac:spMkLst>
            <pc:docMk/>
            <pc:sldMk cId="2314825519" sldId="960"/>
            <ac:spMk id="11" creationId="{AD67D27E-258D-C546-967D-65B4E6ACE4BA}"/>
          </ac:spMkLst>
        </pc:spChg>
        <pc:picChg chg="del">
          <ac:chgData name="Zonghua Gu" userId="9a7e1853e1951ef5" providerId="LiveId" clId="{CF1FAA12-072C-4ED5-BA76-0FFFAEFDB88A}" dt="2026-01-31T16:36:09.960" v="11" actId="478"/>
          <ac:picMkLst>
            <pc:docMk/>
            <pc:sldMk cId="2314825519" sldId="960"/>
            <ac:picMk id="12" creationId="{3BE6A818-0DC7-1C43-B5D9-6718F2878FB3}"/>
          </ac:picMkLst>
        </pc:picChg>
      </pc:sldChg>
      <pc:sldChg chg="del">
        <pc:chgData name="Zonghua Gu" userId="9a7e1853e1951ef5" providerId="LiveId" clId="{CF1FAA12-072C-4ED5-BA76-0FFFAEFDB88A}" dt="2026-01-31T16:37:02.337" v="33" actId="47"/>
        <pc:sldMkLst>
          <pc:docMk/>
          <pc:sldMk cId="315409998" sldId="1053"/>
        </pc:sldMkLst>
      </pc:sldChg>
      <pc:sldMasterChg chg="modSldLayout">
        <pc:chgData name="Zonghua Gu" userId="9a7e1853e1951ef5" providerId="LiveId" clId="{CF1FAA12-072C-4ED5-BA76-0FFFAEFDB88A}" dt="2026-01-31T19:25:05.342" v="143" actId="478"/>
        <pc:sldMasterMkLst>
          <pc:docMk/>
          <pc:sldMasterMk cId="2775165307" sldId="2147483648"/>
        </pc:sldMasterMkLst>
        <pc:sldLayoutChg chg="delSp modSp mod">
          <pc:chgData name="Zonghua Gu" userId="9a7e1853e1951ef5" providerId="LiveId" clId="{CF1FAA12-072C-4ED5-BA76-0FFFAEFDB88A}" dt="2026-01-31T19:24:22.282" v="140" actId="478"/>
          <pc:sldLayoutMkLst>
            <pc:docMk/>
            <pc:sldMasterMk cId="2775165307" sldId="2147483648"/>
            <pc:sldLayoutMk cId="2677842193" sldId="2147483655"/>
          </pc:sldLayoutMkLst>
          <pc:spChg chg="mod">
            <ac:chgData name="Zonghua Gu" userId="9a7e1853e1951ef5" providerId="LiveId" clId="{CF1FAA12-072C-4ED5-BA76-0FFFAEFDB88A}" dt="2026-01-31T19:22:53.129" v="125" actId="14100"/>
            <ac:spMkLst>
              <pc:docMk/>
              <pc:sldMasterMk cId="2775165307" sldId="2147483648"/>
              <pc:sldLayoutMk cId="2677842193" sldId="2147483655"/>
              <ac:spMk id="14" creationId="{00000000-0000-0000-0000-000000000000}"/>
            </ac:spMkLst>
          </pc:spChg>
          <pc:spChg chg="mod">
            <ac:chgData name="Zonghua Gu" userId="9a7e1853e1951ef5" providerId="LiveId" clId="{CF1FAA12-072C-4ED5-BA76-0FFFAEFDB88A}" dt="2026-01-31T19:22:49.638" v="123" actId="14100"/>
            <ac:spMkLst>
              <pc:docMk/>
              <pc:sldMasterMk cId="2775165307" sldId="2147483648"/>
              <pc:sldLayoutMk cId="2677842193" sldId="2147483655"/>
              <ac:spMk id="15" creationId="{00000000-0000-0000-0000-000000000000}"/>
            </ac:spMkLst>
          </pc:spChg>
          <pc:cxnChg chg="del mod">
            <ac:chgData name="Zonghua Gu" userId="9a7e1853e1951ef5" providerId="LiveId" clId="{CF1FAA12-072C-4ED5-BA76-0FFFAEFDB88A}" dt="2026-01-31T19:24:22.282" v="140" actId="478"/>
            <ac:cxnSpMkLst>
              <pc:docMk/>
              <pc:sldMasterMk cId="2775165307" sldId="2147483648"/>
              <pc:sldLayoutMk cId="2677842193" sldId="2147483655"/>
              <ac:cxnSpMk id="17" creationId="{00000000-0000-0000-0000-000000000000}"/>
            </ac:cxnSpMkLst>
          </pc:cxnChg>
        </pc:sldLayoutChg>
        <pc:sldLayoutChg chg="delSp modSp mod">
          <pc:chgData name="Zonghua Gu" userId="9a7e1853e1951ef5" providerId="LiveId" clId="{CF1FAA12-072C-4ED5-BA76-0FFFAEFDB88A}" dt="2026-01-31T19:25:05.342" v="143" actId="478"/>
          <pc:sldLayoutMkLst>
            <pc:docMk/>
            <pc:sldMasterMk cId="2775165307" sldId="2147483648"/>
            <pc:sldLayoutMk cId="1532812521" sldId="2147483656"/>
          </pc:sldLayoutMkLst>
          <pc:spChg chg="mod">
            <ac:chgData name="Zonghua Gu" userId="9a7e1853e1951ef5" providerId="LiveId" clId="{CF1FAA12-072C-4ED5-BA76-0FFFAEFDB88A}" dt="2026-01-31T19:24:57.733" v="141" actId="1076"/>
            <ac:spMkLst>
              <pc:docMk/>
              <pc:sldMasterMk cId="2775165307" sldId="2147483648"/>
              <pc:sldLayoutMk cId="1532812521" sldId="2147483656"/>
              <ac:spMk id="92" creationId="{00000000-0000-0000-0000-000000000000}"/>
            </ac:spMkLst>
          </pc:spChg>
          <pc:spChg chg="mod">
            <ac:chgData name="Zonghua Gu" userId="9a7e1853e1951ef5" providerId="LiveId" clId="{CF1FAA12-072C-4ED5-BA76-0FFFAEFDB88A}" dt="2026-01-31T19:24:57.733" v="141" actId="1076"/>
            <ac:spMkLst>
              <pc:docMk/>
              <pc:sldMasterMk cId="2775165307" sldId="2147483648"/>
              <pc:sldLayoutMk cId="1532812521" sldId="2147483656"/>
              <ac:spMk id="95" creationId="{00000000-0000-0000-0000-000000000000}"/>
            </ac:spMkLst>
          </pc:spChg>
          <pc:cxnChg chg="del mod">
            <ac:chgData name="Zonghua Gu" userId="9a7e1853e1951ef5" providerId="LiveId" clId="{CF1FAA12-072C-4ED5-BA76-0FFFAEFDB88A}" dt="2026-01-31T19:25:05.342" v="143" actId="478"/>
            <ac:cxnSpMkLst>
              <pc:docMk/>
              <pc:sldMasterMk cId="2775165307" sldId="2147483648"/>
              <pc:sldLayoutMk cId="1532812521" sldId="2147483656"/>
              <ac:cxnSpMk id="94" creationId="{00000000-0000-0000-0000-000000000000}"/>
            </ac:cxnSpMkLst>
          </pc:cxn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ef9f5a5496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ef9f5a5496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here we go okay okay so this is cs168 second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0:29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lecture all about the internet design principles so to start off with today I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0:36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just want to set the stage for what today's all about last time we showed you how the internet was built we told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0:41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you things like here are some layers and layer three provides best effort and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0:46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routers understand the first three layers and end hosts understand all five layers so we kind of just told you that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0:54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this is how the internet was built and you trusted us that was how the internet's built and everything was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0:59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great so today's question is not how but why why did we make all those choices who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1:05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was it that decided that layer three is all about best effort and that there are no reliability guarantees at layer three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1:12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who was it that decided that there are these five layers and that they're built in this particular way and are there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1:18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other ways that we could have designed the internet 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6a8a0962f5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6" name="Google Shape;606;g36a8a0962f5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6a8a0962f5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7" name="Google Shape;637;g36a8a0962f5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6a8a0962f5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5" name="Google Shape;665;g36a8a0962f5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6a8a0962f5_0_7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1" name="Google Shape;681;g36a8a0962f5_0_7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i="1" dirty="0">
                <a:solidFill>
                  <a:srgbClr val="0C343D"/>
                </a:solidFill>
                <a:latin typeface="Roboto"/>
                <a:ea typeface="Roboto"/>
                <a:cs typeface="Roboto"/>
                <a:sym typeface="Roboto"/>
              </a:rPr>
              <a:t>Are addresses enough to make this work?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6a8a0962f5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6" name="Google Shape;716;g36a8a0962f5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09585" indent="-474121">
              <a:buClr>
                <a:srgbClr val="0C343D"/>
              </a:buClr>
              <a:buSzPts val="2000"/>
              <a:buFont typeface="Roboto"/>
              <a:buChar char="●"/>
            </a:pPr>
            <a:r>
              <a:rPr lang="en-US" sz="1100" dirty="0">
                <a:solidFill>
                  <a:srgbClr val="0C343D"/>
                </a:solidFill>
                <a:latin typeface="Roboto"/>
                <a:ea typeface="Roboto"/>
                <a:cs typeface="Roboto"/>
                <a:sym typeface="Roboto"/>
              </a:rPr>
              <a:t>Packets carry port number Client process connects to </a:t>
            </a:r>
          </a:p>
          <a:p>
            <a:pPr>
              <a:buClr>
                <a:srgbClr val="000000"/>
              </a:buClr>
              <a:buSzPts val="1800"/>
            </a:pPr>
            <a:r>
              <a:rPr lang="en-US" sz="1100" dirty="0">
                <a:solidFill>
                  <a:srgbClr val="0C343D"/>
                </a:solidFill>
                <a:latin typeface="Roboto"/>
                <a:ea typeface="Roboto"/>
                <a:cs typeface="Roboto"/>
                <a:sym typeface="Roboto"/>
              </a:rPr>
              <a:t> 	well known port</a:t>
            </a:r>
          </a:p>
          <a:p>
            <a:pPr marL="609585" indent="-474121">
              <a:buClr>
                <a:srgbClr val="0C343D"/>
              </a:buClr>
              <a:buSzPts val="2000"/>
              <a:buFont typeface="Roboto"/>
              <a:buChar char="●"/>
            </a:pPr>
            <a:endParaRPr lang="en-US" sz="1100" dirty="0">
              <a:solidFill>
                <a:srgbClr val="0C343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84898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9916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07068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20744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UDO and TCP code updates 3/23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42414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92166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8130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52090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18579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2284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7F1199A-45E4-9E4D-95C0-396A8A9C6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767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5" name="Google Shape;15;p58"/>
          <p:cNvSpPr txBox="1">
            <a:spLocks noGrp="1"/>
          </p:cNvSpPr>
          <p:nvPr>
            <p:ph type="body" idx="1"/>
          </p:nvPr>
        </p:nvSpPr>
        <p:spPr>
          <a:xfrm>
            <a:off x="142733" y="933256"/>
            <a:ext cx="11879600" cy="5643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57189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Char char="○"/>
              <a:defRPr/>
            </a:lvl2pPr>
            <a:lvl3pPr marL="1828754" lvl="2" indent="-457189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Char char="■"/>
              <a:defRPr/>
            </a:lvl3pPr>
            <a:lvl4pPr marL="2438339" lvl="3" indent="-457189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Char char="●"/>
              <a:defRPr/>
            </a:lvl4pPr>
            <a:lvl5pPr marL="3047924" lvl="4" indent="-457189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Char char="○"/>
              <a:defRPr/>
            </a:lvl5pPr>
            <a:lvl6pPr marL="3657509" lvl="5" indent="-457189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Char char="■"/>
              <a:defRPr/>
            </a:lvl6pPr>
            <a:lvl7pPr marL="4267093" lvl="6" indent="-457189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Char char="●"/>
              <a:defRPr/>
            </a:lvl7pPr>
            <a:lvl8pPr marL="4876678" lvl="7" indent="-457189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Char char="○"/>
              <a:defRPr/>
            </a:lvl8pPr>
            <a:lvl9pPr marL="5486263" lvl="8" indent="-457189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 dirty="0"/>
          </a:p>
        </p:txBody>
      </p:sp>
      <p:sp>
        <p:nvSpPr>
          <p:cNvPr id="16" name="Google Shape;16;p5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77842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7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67"/>
          <p:cNvSpPr txBox="1">
            <a:spLocks noGrp="1"/>
          </p:cNvSpPr>
          <p:nvPr>
            <p:ph type="body" idx="1"/>
          </p:nvPr>
        </p:nvSpPr>
        <p:spPr>
          <a:xfrm>
            <a:off x="6416508" y="1087871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170" lvl="1" indent="-457189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754" lvl="2" indent="-457189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339" lvl="3" indent="-457189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924" lvl="4" indent="-457189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509" lvl="5" indent="-457189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7093" lvl="6" indent="-457189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678" lvl="7" indent="-457189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6263" lvl="8" indent="-457189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93" name="Google Shape;93;p6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95" name="Google Shape;95;p67"/>
          <p:cNvSpPr txBox="1">
            <a:spLocks noGrp="1"/>
          </p:cNvSpPr>
          <p:nvPr>
            <p:ph type="body" idx="2"/>
          </p:nvPr>
        </p:nvSpPr>
        <p:spPr>
          <a:xfrm>
            <a:off x="127241" y="1087871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170" lvl="1" indent="-457189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754" lvl="2" indent="-457189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339" lvl="3" indent="-457189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924" lvl="4" indent="-457189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509" lvl="5" indent="-457189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7093" lvl="6" indent="-457189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678" lvl="7" indent="-457189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6263" lvl="8" indent="-457189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32812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admap">
  <p:cSld name="Roadmap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67"/>
            <a:ext cx="6096000" cy="6858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6416500" y="536264"/>
            <a:ext cx="5333200" cy="56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6263" lvl="8" indent="-457189" rtl="0">
              <a:spcBef>
                <a:spcPts val="8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237233" y="2671067"/>
            <a:ext cx="5384000" cy="271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cxnSp>
        <p:nvCxnSpPr>
          <p:cNvPr id="27" name="Google Shape;27;p5"/>
          <p:cNvCxnSpPr/>
          <p:nvPr/>
        </p:nvCxnSpPr>
        <p:spPr>
          <a:xfrm>
            <a:off x="355967" y="5398900"/>
            <a:ext cx="5384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237233" y="5424000"/>
            <a:ext cx="5544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38604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C6EBB-9D5E-E84A-9BCA-EA7E05FD1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F37773-264D-B517-95FD-E3D297D8C7D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363325" y="63500"/>
            <a:ext cx="78740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E" sz="8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Begränsad delning</a:t>
            </a:r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5" r:id="rId5"/>
    <p:sldLayoutId id="2147483656" r:id="rId6"/>
    <p:sldLayoutId id="2147483657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>
            <a:spLocks noGrp="1"/>
          </p:cNvSpPr>
          <p:nvPr>
            <p:ph type="title"/>
          </p:nvPr>
        </p:nvSpPr>
        <p:spPr>
          <a:xfrm>
            <a:off x="237233" y="2671067"/>
            <a:ext cx="5384000" cy="2717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en-US" altLang="en-US" dirty="0">
                <a:solidFill>
                  <a:srgbClr val="000099"/>
                </a:solidFill>
              </a:rPr>
              <a:t>Lab1 Background: Socket Programming with UDP and TCP</a:t>
            </a:r>
          </a:p>
        </p:txBody>
      </p:sp>
      <p:sp>
        <p:nvSpPr>
          <p:cNvPr id="152" name="Google Shape;152;p25"/>
          <p:cNvSpPr txBox="1">
            <a:spLocks noGrp="1"/>
          </p:cNvSpPr>
          <p:nvPr>
            <p:ph type="subTitle" idx="2"/>
          </p:nvPr>
        </p:nvSpPr>
        <p:spPr>
          <a:xfrm>
            <a:off x="231501" y="5424000"/>
            <a:ext cx="55440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8B3F31-0835-49C3-5714-A8C77E0783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</a:t>
            </a:fld>
            <a:endParaRPr lang="e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6a8a0962f5_0_9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39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>
              <a:buSzPts val="3600"/>
            </a:pPr>
            <a:r>
              <a:rPr lang="en" dirty="0"/>
              <a:t>Sockets</a:t>
            </a:r>
            <a:endParaRPr dirty="0"/>
          </a:p>
        </p:txBody>
      </p:sp>
      <p:sp>
        <p:nvSpPr>
          <p:cNvPr id="609" name="Google Shape;609;g36a8a0962f5_0_93"/>
          <p:cNvSpPr txBox="1">
            <a:spLocks noGrp="1"/>
          </p:cNvSpPr>
          <p:nvPr>
            <p:ph type="body" idx="1"/>
          </p:nvPr>
        </p:nvSpPr>
        <p:spPr>
          <a:xfrm>
            <a:off x="156200" y="581233"/>
            <a:ext cx="11879600" cy="4530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474121">
              <a:spcBef>
                <a:spcPts val="0"/>
              </a:spcBef>
              <a:buClr>
                <a:srgbClr val="0C343D"/>
              </a:buClr>
              <a:buSzPts val="2000"/>
              <a:buFont typeface="Arial"/>
              <a:buChar char="●"/>
            </a:pPr>
            <a:r>
              <a:rPr lang="en" sz="2667" dirty="0">
                <a:solidFill>
                  <a:srgbClr val="000000"/>
                </a:solidFill>
              </a:rPr>
              <a:t>Endpoint for sending or receiving data across a network</a:t>
            </a:r>
            <a:endParaRPr sz="2667" dirty="0">
              <a:solidFill>
                <a:srgbClr val="000000"/>
              </a:solidFill>
            </a:endParaRPr>
          </a:p>
          <a:p>
            <a:pPr indent="-474121">
              <a:spcBef>
                <a:spcPts val="0"/>
              </a:spcBef>
              <a:buClr>
                <a:srgbClr val="0C343D"/>
              </a:buClr>
              <a:buSzPts val="2000"/>
              <a:buFont typeface="Arial"/>
              <a:buChar char="●"/>
            </a:pPr>
            <a:r>
              <a:rPr lang="en" sz="2667" dirty="0">
                <a:solidFill>
                  <a:srgbClr val="000000"/>
                </a:solidFill>
              </a:rPr>
              <a:t>OS abstraction for </a:t>
            </a:r>
            <a:r>
              <a:rPr lang="en" sz="2667" b="1" dirty="0">
                <a:solidFill>
                  <a:srgbClr val="000000"/>
                </a:solidFill>
              </a:rPr>
              <a:t>connections</a:t>
            </a:r>
            <a:endParaRPr sz="2667" dirty="0">
              <a:solidFill>
                <a:srgbClr val="000000"/>
              </a:solidFill>
            </a:endParaRPr>
          </a:p>
          <a:p>
            <a:pPr indent="-474121">
              <a:spcBef>
                <a:spcPts val="0"/>
              </a:spcBef>
              <a:buClr>
                <a:srgbClr val="000000"/>
              </a:buClr>
              <a:buSzPts val="2000"/>
            </a:pPr>
            <a:r>
              <a:rPr lang="en" sz="2667" dirty="0">
                <a:solidFill>
                  <a:srgbClr val="000000"/>
                </a:solidFill>
              </a:rPr>
              <a:t>Allow L7 applications to operate on data streams (not packets)</a:t>
            </a:r>
            <a:endParaRPr sz="2667" dirty="0">
              <a:solidFill>
                <a:srgbClr val="000000"/>
              </a:solidFill>
            </a:endParaRPr>
          </a:p>
          <a:p>
            <a:pPr lvl="1" indent="-474121">
              <a:spcBef>
                <a:spcPts val="0"/>
              </a:spcBef>
              <a:buClr>
                <a:srgbClr val="000000"/>
              </a:buClr>
              <a:buSzPts val="2000"/>
            </a:pPr>
            <a:r>
              <a:rPr lang="en" sz="2667" dirty="0">
                <a:solidFill>
                  <a:srgbClr val="000000"/>
                </a:solidFill>
              </a:rPr>
              <a:t>Connect, listen, accept, send, receive</a:t>
            </a:r>
            <a:endParaRPr sz="2667" dirty="0">
              <a:solidFill>
                <a:srgbClr val="000000"/>
              </a:solidFill>
            </a:endParaRPr>
          </a:p>
          <a:p>
            <a:pPr indent="-474121">
              <a:spcBef>
                <a:spcPts val="0"/>
              </a:spcBef>
              <a:buClr>
                <a:srgbClr val="000000"/>
              </a:buClr>
              <a:buSzPts val="2000"/>
            </a:pPr>
            <a:r>
              <a:rPr lang="en" sz="2667" dirty="0">
                <a:solidFill>
                  <a:srgbClr val="000000"/>
                </a:solidFill>
              </a:rPr>
              <a:t>Open a socket between:</a:t>
            </a:r>
            <a:endParaRPr sz="2667" dirty="0">
              <a:solidFill>
                <a:srgbClr val="000000"/>
              </a:solidFill>
            </a:endParaRPr>
          </a:p>
          <a:p>
            <a:pPr lvl="1" indent="-474121">
              <a:spcBef>
                <a:spcPts val="0"/>
              </a:spcBef>
              <a:buClr>
                <a:srgbClr val="000000"/>
              </a:buClr>
              <a:buSzPts val="2000"/>
            </a:pPr>
            <a:r>
              <a:rPr lang="en" sz="2667" dirty="0">
                <a:solidFill>
                  <a:srgbClr val="000000"/>
                </a:solidFill>
              </a:rPr>
              <a:t>Source IP address : </a:t>
            </a:r>
            <a:r>
              <a:rPr lang="en" sz="2667" i="1" dirty="0">
                <a:solidFill>
                  <a:srgbClr val="000000"/>
                </a:solidFill>
              </a:rPr>
              <a:t>port</a:t>
            </a:r>
            <a:endParaRPr sz="2667" dirty="0">
              <a:solidFill>
                <a:srgbClr val="000000"/>
              </a:solidFill>
            </a:endParaRPr>
          </a:p>
          <a:p>
            <a:pPr lvl="1" indent="-474121">
              <a:spcBef>
                <a:spcPts val="0"/>
              </a:spcBef>
              <a:buClr>
                <a:srgbClr val="000000"/>
              </a:buClr>
              <a:buSzPts val="2000"/>
            </a:pPr>
            <a:r>
              <a:rPr lang="en" sz="2667" dirty="0">
                <a:solidFill>
                  <a:srgbClr val="000000"/>
                </a:solidFill>
              </a:rPr>
              <a:t>Destination IP address : </a:t>
            </a:r>
            <a:r>
              <a:rPr lang="en" sz="2667" i="1" dirty="0">
                <a:solidFill>
                  <a:srgbClr val="000000"/>
                </a:solidFill>
              </a:rPr>
              <a:t>port</a:t>
            </a:r>
            <a:endParaRPr sz="2667" dirty="0">
              <a:solidFill>
                <a:srgbClr val="000000"/>
              </a:solidFill>
            </a:endParaRPr>
          </a:p>
        </p:txBody>
      </p:sp>
      <p:sp>
        <p:nvSpPr>
          <p:cNvPr id="610" name="Google Shape;610;g36a8a0962f5_0_93"/>
          <p:cNvSpPr txBox="1">
            <a:spLocks noGrp="1"/>
          </p:cNvSpPr>
          <p:nvPr>
            <p:ph type="sldNum" idx="12"/>
          </p:nvPr>
        </p:nvSpPr>
        <p:spPr>
          <a:xfrm>
            <a:off x="11296611" y="4663217"/>
            <a:ext cx="731600" cy="39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</a:t>
            </a:fld>
            <a:endParaRPr/>
          </a:p>
        </p:txBody>
      </p:sp>
      <p:sp>
        <p:nvSpPr>
          <p:cNvPr id="611" name="Google Shape;611;g36a8a0962f5_0_93"/>
          <p:cNvSpPr/>
          <p:nvPr/>
        </p:nvSpPr>
        <p:spPr>
          <a:xfrm>
            <a:off x="5485884" y="3926267"/>
            <a:ext cx="1512800" cy="3924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" b="1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Application</a:t>
            </a:r>
            <a:endParaRPr b="1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12" name="Google Shape;612;g36a8a0962f5_0_93"/>
          <p:cNvSpPr/>
          <p:nvPr/>
        </p:nvSpPr>
        <p:spPr>
          <a:xfrm>
            <a:off x="5485884" y="4318667"/>
            <a:ext cx="1512800" cy="3924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" sz="1867" b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Transport</a:t>
            </a:r>
            <a:endParaRPr sz="1867" b="1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13" name="Google Shape;613;g36a8a0962f5_0_93"/>
          <p:cNvSpPr/>
          <p:nvPr/>
        </p:nvSpPr>
        <p:spPr>
          <a:xfrm>
            <a:off x="5485884" y="4711067"/>
            <a:ext cx="1512800" cy="392400"/>
          </a:xfrm>
          <a:prstGeom prst="rect">
            <a:avLst/>
          </a:prstGeom>
          <a:solidFill>
            <a:srgbClr val="9FC5E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" sz="1867" b="1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Network</a:t>
            </a:r>
            <a:endParaRPr sz="1867" b="1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14" name="Google Shape;614;g36a8a0962f5_0_93"/>
          <p:cNvSpPr/>
          <p:nvPr/>
        </p:nvSpPr>
        <p:spPr>
          <a:xfrm>
            <a:off x="5485884" y="5103467"/>
            <a:ext cx="1512800" cy="392400"/>
          </a:xfrm>
          <a:prstGeom prst="rect">
            <a:avLst/>
          </a:prstGeom>
          <a:solidFill>
            <a:srgbClr val="9FC5E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" sz="1867" b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Datalink</a:t>
            </a:r>
            <a:endParaRPr sz="1867" b="1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15" name="Google Shape;615;g36a8a0962f5_0_93"/>
          <p:cNvSpPr/>
          <p:nvPr/>
        </p:nvSpPr>
        <p:spPr>
          <a:xfrm>
            <a:off x="5485884" y="5495867"/>
            <a:ext cx="1512800" cy="392400"/>
          </a:xfrm>
          <a:prstGeom prst="rect">
            <a:avLst/>
          </a:prstGeom>
          <a:solidFill>
            <a:srgbClr val="9FC5E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" sz="1867" b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Physical</a:t>
            </a:r>
            <a:endParaRPr sz="1867" b="1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16" name="Google Shape;616;g36a8a0962f5_0_93"/>
          <p:cNvSpPr/>
          <p:nvPr/>
        </p:nvSpPr>
        <p:spPr>
          <a:xfrm>
            <a:off x="8198800" y="3376633"/>
            <a:ext cx="2848800" cy="26624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g36a8a0962f5_0_93"/>
          <p:cNvSpPr/>
          <p:nvPr/>
        </p:nvSpPr>
        <p:spPr>
          <a:xfrm>
            <a:off x="8487000" y="3638033"/>
            <a:ext cx="671600" cy="671600"/>
          </a:xfrm>
          <a:prstGeom prst="ellipse">
            <a:avLst/>
          </a:prstGeom>
          <a:solidFill>
            <a:srgbClr val="666666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" sz="186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</a:t>
            </a:r>
            <a:endParaRPr sz="186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g36a8a0962f5_0_93"/>
          <p:cNvSpPr/>
          <p:nvPr/>
        </p:nvSpPr>
        <p:spPr>
          <a:xfrm>
            <a:off x="8487000" y="4702151"/>
            <a:ext cx="2272400" cy="671600"/>
          </a:xfrm>
          <a:prstGeom prst="roundRect">
            <a:avLst>
              <a:gd name="adj" fmla="val 16667"/>
            </a:avLst>
          </a:prstGeom>
          <a:solidFill>
            <a:srgbClr val="666666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" sz="186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OS</a:t>
            </a:r>
            <a:endParaRPr sz="186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1200"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(networking stack)</a:t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9" name="Google Shape;619;g36a8a0962f5_0_9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585" y="5766299"/>
            <a:ext cx="950416" cy="503701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g36a8a0962f5_0_93"/>
          <p:cNvSpPr/>
          <p:nvPr/>
        </p:nvSpPr>
        <p:spPr>
          <a:xfrm>
            <a:off x="9287400" y="3638033"/>
            <a:ext cx="671600" cy="671600"/>
          </a:xfrm>
          <a:prstGeom prst="ellipse">
            <a:avLst/>
          </a:prstGeom>
          <a:solidFill>
            <a:srgbClr val="666666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" sz="186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</a:t>
            </a:r>
            <a:endParaRPr sz="186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g36a8a0962f5_0_93"/>
          <p:cNvSpPr/>
          <p:nvPr/>
        </p:nvSpPr>
        <p:spPr>
          <a:xfrm>
            <a:off x="10087800" y="3638033"/>
            <a:ext cx="671600" cy="671600"/>
          </a:xfrm>
          <a:prstGeom prst="ellipse">
            <a:avLst/>
          </a:prstGeom>
          <a:solidFill>
            <a:srgbClr val="666666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" sz="186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</a:t>
            </a:r>
            <a:endParaRPr sz="186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2" name="Google Shape;622;g36a8a0962f5_0_93"/>
          <p:cNvCxnSpPr>
            <a:stCxn id="617" idx="4"/>
          </p:cNvCxnSpPr>
          <p:nvPr/>
        </p:nvCxnSpPr>
        <p:spPr>
          <a:xfrm>
            <a:off x="8822800" y="4309633"/>
            <a:ext cx="259200" cy="398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23" name="Google Shape;623;g36a8a0962f5_0_93"/>
          <p:cNvCxnSpPr>
            <a:stCxn id="620" idx="4"/>
            <a:endCxn id="618" idx="0"/>
          </p:cNvCxnSpPr>
          <p:nvPr/>
        </p:nvCxnSpPr>
        <p:spPr>
          <a:xfrm>
            <a:off x="9623200" y="4309633"/>
            <a:ext cx="0" cy="392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24" name="Google Shape;624;g36a8a0962f5_0_93"/>
          <p:cNvCxnSpPr>
            <a:stCxn id="621" idx="4"/>
          </p:cNvCxnSpPr>
          <p:nvPr/>
        </p:nvCxnSpPr>
        <p:spPr>
          <a:xfrm flipH="1">
            <a:off x="10276400" y="4309633"/>
            <a:ext cx="147200" cy="398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25" name="Google Shape;625;g36a8a0962f5_0_93"/>
          <p:cNvCxnSpPr>
            <a:stCxn id="618" idx="2"/>
            <a:endCxn id="619" idx="0"/>
          </p:cNvCxnSpPr>
          <p:nvPr/>
        </p:nvCxnSpPr>
        <p:spPr>
          <a:xfrm flipH="1">
            <a:off x="9464800" y="5373751"/>
            <a:ext cx="158400" cy="392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626" name="Google Shape;626;g36a8a0962f5_0_93"/>
          <p:cNvSpPr txBox="1"/>
          <p:nvPr/>
        </p:nvSpPr>
        <p:spPr>
          <a:xfrm>
            <a:off x="10087800" y="5940300"/>
            <a:ext cx="783600" cy="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NIC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7" name="Google Shape;627;g36a8a0962f5_0_93"/>
          <p:cNvCxnSpPr>
            <a:cxnSpLocks/>
            <a:stCxn id="611" idx="3"/>
            <a:endCxn id="617" idx="2"/>
          </p:cNvCxnSpPr>
          <p:nvPr/>
        </p:nvCxnSpPr>
        <p:spPr>
          <a:xfrm flipV="1">
            <a:off x="6998684" y="3973833"/>
            <a:ext cx="1488316" cy="148634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28" name="Google Shape;628;g36a8a0962f5_0_93"/>
          <p:cNvCxnSpPr>
            <a:stCxn id="612" idx="3"/>
            <a:endCxn id="618" idx="1"/>
          </p:cNvCxnSpPr>
          <p:nvPr/>
        </p:nvCxnSpPr>
        <p:spPr>
          <a:xfrm>
            <a:off x="6998684" y="4514867"/>
            <a:ext cx="1488400" cy="523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29" name="Google Shape;629;g36a8a0962f5_0_93"/>
          <p:cNvCxnSpPr>
            <a:stCxn id="613" idx="3"/>
            <a:endCxn id="618" idx="1"/>
          </p:cNvCxnSpPr>
          <p:nvPr/>
        </p:nvCxnSpPr>
        <p:spPr>
          <a:xfrm>
            <a:off x="6998684" y="4907267"/>
            <a:ext cx="1488400" cy="130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30" name="Google Shape;630;g36a8a0962f5_0_93"/>
          <p:cNvCxnSpPr>
            <a:stCxn id="614" idx="3"/>
            <a:endCxn id="619" idx="1"/>
          </p:cNvCxnSpPr>
          <p:nvPr/>
        </p:nvCxnSpPr>
        <p:spPr>
          <a:xfrm>
            <a:off x="6998684" y="5299667"/>
            <a:ext cx="1990800" cy="718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31" name="Google Shape;631;g36a8a0962f5_0_93"/>
          <p:cNvCxnSpPr>
            <a:stCxn id="615" idx="3"/>
            <a:endCxn id="619" idx="1"/>
          </p:cNvCxnSpPr>
          <p:nvPr/>
        </p:nvCxnSpPr>
        <p:spPr>
          <a:xfrm>
            <a:off x="6998684" y="5692067"/>
            <a:ext cx="1990800" cy="326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32" name="Google Shape;632;g36a8a0962f5_0_93"/>
          <p:cNvSpPr txBox="1"/>
          <p:nvPr/>
        </p:nvSpPr>
        <p:spPr>
          <a:xfrm>
            <a:off x="11178600" y="4122467"/>
            <a:ext cx="783600" cy="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" sz="1867">
                <a:solidFill>
                  <a:srgbClr val="674EA7"/>
                </a:solidFill>
                <a:latin typeface="Arial"/>
                <a:ea typeface="Arial"/>
                <a:cs typeface="Arial"/>
                <a:sym typeface="Arial"/>
              </a:rPr>
              <a:t>Port</a:t>
            </a:r>
            <a:endParaRPr sz="1867">
              <a:solidFill>
                <a:srgbClr val="674EA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3" name="Google Shape;633;g36a8a0962f5_0_93"/>
          <p:cNvCxnSpPr>
            <a:stCxn id="632" idx="1"/>
          </p:cNvCxnSpPr>
          <p:nvPr/>
        </p:nvCxnSpPr>
        <p:spPr>
          <a:xfrm flipH="1">
            <a:off x="10426200" y="4284267"/>
            <a:ext cx="752400" cy="231200"/>
          </a:xfrm>
          <a:prstGeom prst="straightConnector1">
            <a:avLst/>
          </a:prstGeom>
          <a:noFill/>
          <a:ln w="9525" cap="flat" cmpd="sng">
            <a:solidFill>
              <a:srgbClr val="674EA7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34" name="Google Shape;634;g36a8a0962f5_0_93"/>
          <p:cNvSpPr txBox="1"/>
          <p:nvPr/>
        </p:nvSpPr>
        <p:spPr>
          <a:xfrm>
            <a:off x="7874000" y="6271575"/>
            <a:ext cx="45372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en" sz="2667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rPr>
              <a:t>(Network Interface Card)</a:t>
            </a:r>
            <a:endParaRPr sz="2667">
              <a:solidFill>
                <a:srgbClr val="0C343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6a8a0962f5_0_123"/>
          <p:cNvSpPr/>
          <p:nvPr/>
        </p:nvSpPr>
        <p:spPr>
          <a:xfrm>
            <a:off x="8814200" y="3161600"/>
            <a:ext cx="3199600" cy="3206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g36a8a0962f5_0_123"/>
          <p:cNvSpPr txBox="1">
            <a:spLocks noGrp="1"/>
          </p:cNvSpPr>
          <p:nvPr>
            <p:ph type="body" idx="1"/>
          </p:nvPr>
        </p:nvSpPr>
        <p:spPr>
          <a:xfrm>
            <a:off x="156200" y="540833"/>
            <a:ext cx="11879600" cy="4530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474121">
              <a:spcBef>
                <a:spcPts val="0"/>
              </a:spcBef>
              <a:buClr>
                <a:srgbClr val="0C343D"/>
              </a:buClr>
              <a:buSzPts val="2000"/>
              <a:buFont typeface="Open Sans"/>
              <a:buChar char="●"/>
            </a:pPr>
            <a:r>
              <a:rPr lang="en" sz="2667" dirty="0">
                <a:solidFill>
                  <a:srgbClr val="0C343D"/>
                </a:solidFill>
              </a:rPr>
              <a:t>Pipes data between two processes (on different hosts)</a:t>
            </a:r>
            <a:endParaRPr sz="2667" dirty="0">
              <a:solidFill>
                <a:srgbClr val="0C343D"/>
              </a:solidFill>
            </a:endParaRPr>
          </a:p>
          <a:p>
            <a:pPr indent="-474121">
              <a:spcBef>
                <a:spcPts val="0"/>
              </a:spcBef>
              <a:buClr>
                <a:srgbClr val="0C343D"/>
              </a:buClr>
              <a:buSzPts val="2000"/>
              <a:buFont typeface="Open Sans"/>
              <a:buChar char="●"/>
            </a:pPr>
            <a:r>
              <a:rPr lang="en" sz="2667" dirty="0">
                <a:solidFill>
                  <a:srgbClr val="0C343D"/>
                </a:solidFill>
              </a:rPr>
              <a:t>Data flows both ways</a:t>
            </a:r>
          </a:p>
          <a:p>
            <a:pPr indent="-474121">
              <a:spcBef>
                <a:spcPts val="0"/>
              </a:spcBef>
              <a:buClr>
                <a:srgbClr val="0C343D"/>
              </a:buClr>
              <a:buSzPts val="2000"/>
              <a:buFont typeface="Open Sans"/>
              <a:buChar char="●"/>
            </a:pPr>
            <a:r>
              <a:rPr lang="en-US" sz="2667" dirty="0">
                <a:solidFill>
                  <a:srgbClr val="0C343D"/>
                </a:solidFill>
              </a:rPr>
              <a:t>Data is sent as a stream of bits</a:t>
            </a:r>
          </a:p>
          <a:p>
            <a:pPr indent="-474121">
              <a:spcBef>
                <a:spcPts val="0"/>
              </a:spcBef>
              <a:buClr>
                <a:srgbClr val="0C343D"/>
              </a:buClr>
              <a:buSzPts val="2000"/>
              <a:buFont typeface="Open Sans"/>
              <a:buChar char="●"/>
            </a:pPr>
            <a:r>
              <a:rPr lang="en-US" sz="2667" dirty="0">
                <a:solidFill>
                  <a:srgbClr val="0C343D"/>
                </a:solidFill>
              </a:rPr>
              <a:t>Reconstruction of bits only at the endpoints</a:t>
            </a:r>
          </a:p>
        </p:txBody>
      </p:sp>
      <p:sp>
        <p:nvSpPr>
          <p:cNvPr id="641" name="Google Shape;641;g36a8a0962f5_0_123"/>
          <p:cNvSpPr/>
          <p:nvPr/>
        </p:nvSpPr>
        <p:spPr>
          <a:xfrm>
            <a:off x="178200" y="3161600"/>
            <a:ext cx="3199600" cy="3206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g36a8a0962f5_0_123"/>
          <p:cNvSpPr/>
          <p:nvPr/>
        </p:nvSpPr>
        <p:spPr>
          <a:xfrm>
            <a:off x="3811700" y="3705867"/>
            <a:ext cx="4780368" cy="2477808"/>
          </a:xfrm>
          <a:prstGeom prst="cloud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" sz="1867" b="1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The Internet</a:t>
            </a:r>
            <a:endParaRPr sz="1867" b="1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g36a8a0962f5_0_123"/>
          <p:cNvSpPr/>
          <p:nvPr/>
        </p:nvSpPr>
        <p:spPr>
          <a:xfrm>
            <a:off x="3214300" y="5218900"/>
            <a:ext cx="5975200" cy="7636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" sz="186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Connection</a:t>
            </a:r>
            <a:endParaRPr sz="186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g36a8a0962f5_0_123"/>
          <p:cNvSpPr/>
          <p:nvPr/>
        </p:nvSpPr>
        <p:spPr>
          <a:xfrm>
            <a:off x="1838300" y="4888100"/>
            <a:ext cx="1376000" cy="1425200"/>
          </a:xfrm>
          <a:prstGeom prst="roundRect">
            <a:avLst>
              <a:gd name="adj" fmla="val 16667"/>
            </a:avLst>
          </a:prstGeom>
          <a:solidFill>
            <a:srgbClr val="4A86E8"/>
          </a:solidFill>
          <a:ln w="9525" cap="flat" cmpd="sng">
            <a:solidFill>
              <a:srgbClr val="1C45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" sz="186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 sz="186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g36a8a0962f5_0_123"/>
          <p:cNvSpPr/>
          <p:nvPr/>
        </p:nvSpPr>
        <p:spPr>
          <a:xfrm>
            <a:off x="9087867" y="4888100"/>
            <a:ext cx="1376000" cy="1425200"/>
          </a:xfrm>
          <a:prstGeom prst="roundRect">
            <a:avLst>
              <a:gd name="adj" fmla="val 16667"/>
            </a:avLst>
          </a:prstGeom>
          <a:solidFill>
            <a:srgbClr val="4A86E8"/>
          </a:solidFill>
          <a:ln w="9525" cap="flat" cmpd="sng">
            <a:solidFill>
              <a:srgbClr val="1C45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" sz="186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 sz="186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g36a8a0962f5_0_123"/>
          <p:cNvSpPr/>
          <p:nvPr/>
        </p:nvSpPr>
        <p:spPr>
          <a:xfrm>
            <a:off x="9087867" y="3364100"/>
            <a:ext cx="1376000" cy="1425200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rgbClr val="1C45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" sz="186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 sz="186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g36a8a0962f5_0_123"/>
          <p:cNvSpPr/>
          <p:nvPr/>
        </p:nvSpPr>
        <p:spPr>
          <a:xfrm>
            <a:off x="10510267" y="3364100"/>
            <a:ext cx="1376000" cy="1425200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rgbClr val="1C45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" sz="186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 sz="186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g36a8a0962f5_0_123"/>
          <p:cNvSpPr/>
          <p:nvPr/>
        </p:nvSpPr>
        <p:spPr>
          <a:xfrm>
            <a:off x="10510267" y="4888100"/>
            <a:ext cx="1376000" cy="1425200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rgbClr val="1C45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" sz="186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 sz="186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36a8a0962f5_0_123"/>
          <p:cNvSpPr/>
          <p:nvPr/>
        </p:nvSpPr>
        <p:spPr>
          <a:xfrm>
            <a:off x="451867" y="3364100"/>
            <a:ext cx="1376000" cy="1425200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rgbClr val="1C45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" sz="186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 sz="186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g36a8a0962f5_0_123"/>
          <p:cNvSpPr/>
          <p:nvPr/>
        </p:nvSpPr>
        <p:spPr>
          <a:xfrm>
            <a:off x="1874267" y="3364100"/>
            <a:ext cx="1376000" cy="1425200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rgbClr val="1C45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" sz="186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 sz="186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g36a8a0962f5_0_123"/>
          <p:cNvSpPr/>
          <p:nvPr/>
        </p:nvSpPr>
        <p:spPr>
          <a:xfrm>
            <a:off x="397455" y="4888100"/>
            <a:ext cx="1376000" cy="1425200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rgbClr val="1C45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" sz="186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 sz="186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g36a8a0962f5_0_12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39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SzPts val="3600"/>
            </a:pPr>
            <a:r>
              <a:rPr lang="en"/>
              <a:t>Connection (the basic abstraction)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6a8a0962f5_0_151"/>
          <p:cNvSpPr txBox="1">
            <a:spLocks noGrp="1"/>
          </p:cNvSpPr>
          <p:nvPr>
            <p:ph type="body" idx="1"/>
          </p:nvPr>
        </p:nvSpPr>
        <p:spPr>
          <a:xfrm>
            <a:off x="238367" y="559700"/>
            <a:ext cx="6948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474121">
              <a:spcBef>
                <a:spcPts val="0"/>
              </a:spcBef>
              <a:buClr>
                <a:srgbClr val="0C343D"/>
              </a:buClr>
              <a:buSzPts val="2000"/>
              <a:buFont typeface="Roboto"/>
              <a:buChar char="●"/>
            </a:pPr>
            <a:r>
              <a:rPr lang="en" sz="2667" dirty="0">
                <a:solidFill>
                  <a:srgbClr val="0C343D"/>
                </a:solidFill>
                <a:latin typeface="Roboto"/>
                <a:ea typeface="Roboto"/>
                <a:cs typeface="Roboto"/>
                <a:sym typeface="Roboto"/>
              </a:rPr>
              <a:t>Two types of sockets</a:t>
            </a:r>
            <a:endParaRPr sz="2667" dirty="0">
              <a:solidFill>
                <a:srgbClr val="0C343D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1" indent="-474121">
              <a:spcBef>
                <a:spcPts val="0"/>
              </a:spcBef>
              <a:buClr>
                <a:srgbClr val="0C343D"/>
              </a:buClr>
              <a:buSzPts val="2000"/>
              <a:buFont typeface="Roboto"/>
              <a:buChar char="○"/>
            </a:pPr>
            <a:r>
              <a:rPr lang="en" sz="2667" b="1" dirty="0">
                <a:solidFill>
                  <a:srgbClr val="0C343D"/>
                </a:solidFill>
                <a:latin typeface="Roboto"/>
                <a:ea typeface="Roboto"/>
                <a:cs typeface="Roboto"/>
                <a:sym typeface="Roboto"/>
              </a:rPr>
              <a:t>Server</a:t>
            </a:r>
            <a:r>
              <a:rPr lang="en" sz="2667" dirty="0">
                <a:solidFill>
                  <a:srgbClr val="0C343D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" sz="2667" b="1" dirty="0">
                <a:solidFill>
                  <a:srgbClr val="0C343D"/>
                </a:solidFill>
                <a:latin typeface="Roboto"/>
                <a:ea typeface="Roboto"/>
                <a:cs typeface="Roboto"/>
                <a:sym typeface="Roboto"/>
              </a:rPr>
              <a:t>Client</a:t>
            </a:r>
            <a:r>
              <a:rPr lang="en" sz="2667" dirty="0">
                <a:solidFill>
                  <a:srgbClr val="0C343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667" dirty="0">
              <a:solidFill>
                <a:srgbClr val="0C343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74121">
              <a:spcBef>
                <a:spcPts val="0"/>
              </a:spcBef>
              <a:buClr>
                <a:srgbClr val="0C343D"/>
              </a:buClr>
              <a:buSzPts val="2000"/>
              <a:buFont typeface="Roboto"/>
              <a:buChar char="●"/>
            </a:pPr>
            <a:r>
              <a:rPr lang="en" sz="2667" dirty="0">
                <a:solidFill>
                  <a:srgbClr val="0C343D"/>
                </a:solidFill>
                <a:latin typeface="Roboto"/>
                <a:ea typeface="Roboto"/>
                <a:cs typeface="Roboto"/>
                <a:sym typeface="Roboto"/>
              </a:rPr>
              <a:t>Servers </a:t>
            </a:r>
            <a:r>
              <a:rPr lang="en" sz="2667" i="1" dirty="0">
                <a:solidFill>
                  <a:srgbClr val="0C343D"/>
                </a:solidFill>
                <a:latin typeface="Roboto"/>
                <a:ea typeface="Roboto"/>
                <a:cs typeface="Roboto"/>
                <a:sym typeface="Roboto"/>
              </a:rPr>
              <a:t>listen</a:t>
            </a:r>
            <a:r>
              <a:rPr lang="en" sz="2667" dirty="0">
                <a:solidFill>
                  <a:srgbClr val="0C343D"/>
                </a:solidFill>
                <a:latin typeface="Roboto"/>
                <a:ea typeface="Roboto"/>
                <a:cs typeface="Roboto"/>
                <a:sym typeface="Roboto"/>
              </a:rPr>
              <a:t> for clients to connect to them</a:t>
            </a:r>
            <a:endParaRPr sz="2667" dirty="0">
              <a:solidFill>
                <a:srgbClr val="0C343D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1" indent="-474121">
              <a:spcBef>
                <a:spcPts val="0"/>
              </a:spcBef>
              <a:buClr>
                <a:srgbClr val="0C343D"/>
              </a:buClr>
              <a:buSzPts val="2000"/>
              <a:buFont typeface="Roboto"/>
              <a:buChar char="○"/>
            </a:pPr>
            <a:r>
              <a:rPr lang="en" sz="2667" dirty="0">
                <a:solidFill>
                  <a:srgbClr val="0C343D"/>
                </a:solidFill>
                <a:latin typeface="Roboto"/>
                <a:ea typeface="Roboto"/>
                <a:cs typeface="Roboto"/>
                <a:sym typeface="Roboto"/>
              </a:rPr>
              <a:t>Wait until a connection is attempted</a:t>
            </a:r>
            <a:endParaRPr sz="2667" dirty="0">
              <a:solidFill>
                <a:srgbClr val="0C343D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2" indent="-474121">
              <a:spcBef>
                <a:spcPts val="0"/>
              </a:spcBef>
              <a:buClr>
                <a:srgbClr val="0C343D"/>
              </a:buClr>
              <a:buSzPts val="2000"/>
              <a:buFont typeface="Roboto"/>
              <a:buChar char="■"/>
            </a:pPr>
            <a:r>
              <a:rPr lang="en" sz="2667" dirty="0">
                <a:solidFill>
                  <a:srgbClr val="0C343D"/>
                </a:solidFill>
                <a:latin typeface="Roboto"/>
                <a:ea typeface="Roboto"/>
                <a:cs typeface="Roboto"/>
                <a:sym typeface="Roboto"/>
              </a:rPr>
              <a:t>Accept and dispatch connection</a:t>
            </a:r>
            <a:endParaRPr sz="2667" dirty="0">
              <a:solidFill>
                <a:srgbClr val="0C343D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1" indent="-474121">
              <a:spcBef>
                <a:spcPts val="0"/>
              </a:spcBef>
              <a:buClr>
                <a:srgbClr val="0C343D"/>
              </a:buClr>
              <a:buSzPts val="2000"/>
              <a:buFont typeface="Roboto"/>
              <a:buChar char="○"/>
            </a:pPr>
            <a:r>
              <a:rPr lang="en" sz="2667" dirty="0">
                <a:solidFill>
                  <a:srgbClr val="0C343D"/>
                </a:solidFill>
                <a:latin typeface="Roboto"/>
                <a:ea typeface="Roboto"/>
                <a:cs typeface="Roboto"/>
                <a:sym typeface="Roboto"/>
              </a:rPr>
              <a:t>Usually serving many clients at once</a:t>
            </a:r>
            <a:endParaRPr sz="2667" dirty="0">
              <a:solidFill>
                <a:srgbClr val="0C343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74121">
              <a:spcBef>
                <a:spcPts val="0"/>
              </a:spcBef>
              <a:buClr>
                <a:srgbClr val="0C343D"/>
              </a:buClr>
              <a:buSzPts val="2000"/>
              <a:buFont typeface="Roboto"/>
              <a:buChar char="●"/>
            </a:pPr>
            <a:r>
              <a:rPr lang="en" sz="2667" dirty="0">
                <a:solidFill>
                  <a:srgbClr val="0C343D"/>
                </a:solidFill>
                <a:latin typeface="Roboto"/>
                <a:ea typeface="Roboto"/>
                <a:cs typeface="Roboto"/>
                <a:sym typeface="Roboto"/>
              </a:rPr>
              <a:t>Clients </a:t>
            </a:r>
            <a:r>
              <a:rPr lang="en" sz="2667" i="1" dirty="0">
                <a:solidFill>
                  <a:srgbClr val="0C343D"/>
                </a:solidFill>
                <a:latin typeface="Roboto"/>
                <a:ea typeface="Roboto"/>
                <a:cs typeface="Roboto"/>
                <a:sym typeface="Roboto"/>
              </a:rPr>
              <a:t>initiate</a:t>
            </a:r>
            <a:r>
              <a:rPr lang="en" sz="2667" dirty="0">
                <a:solidFill>
                  <a:srgbClr val="0C343D"/>
                </a:solidFill>
                <a:latin typeface="Roboto"/>
                <a:ea typeface="Roboto"/>
                <a:cs typeface="Roboto"/>
                <a:sym typeface="Roboto"/>
              </a:rPr>
              <a:t> new connections to servers</a:t>
            </a:r>
            <a:endParaRPr sz="2667" dirty="0">
              <a:solidFill>
                <a:srgbClr val="0C343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74121">
              <a:spcBef>
                <a:spcPts val="0"/>
              </a:spcBef>
              <a:buClr>
                <a:srgbClr val="0C343D"/>
              </a:buClr>
              <a:buSzPts val="2000"/>
              <a:buFont typeface="Roboto"/>
              <a:buChar char="●"/>
            </a:pPr>
            <a:r>
              <a:rPr lang="en" sz="2667" dirty="0">
                <a:solidFill>
                  <a:srgbClr val="0C343D"/>
                </a:solidFill>
                <a:latin typeface="Roboto"/>
                <a:ea typeface="Roboto"/>
                <a:cs typeface="Roboto"/>
                <a:sym typeface="Roboto"/>
              </a:rPr>
              <a:t>Example</a:t>
            </a:r>
            <a:endParaRPr sz="2667" dirty="0">
              <a:solidFill>
                <a:srgbClr val="0C343D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1" indent="-474121">
              <a:spcBef>
                <a:spcPts val="0"/>
              </a:spcBef>
              <a:buClr>
                <a:srgbClr val="0C343D"/>
              </a:buClr>
              <a:buSzPts val="2000"/>
              <a:buFont typeface="Roboto"/>
              <a:buChar char="○"/>
            </a:pPr>
            <a:r>
              <a:rPr lang="en" sz="2667" dirty="0">
                <a:solidFill>
                  <a:srgbClr val="0C343D"/>
                </a:solidFill>
                <a:latin typeface="Roboto"/>
                <a:ea typeface="Roboto"/>
                <a:cs typeface="Roboto"/>
                <a:sym typeface="Roboto"/>
              </a:rPr>
              <a:t>Server: www.hofstra.edu</a:t>
            </a:r>
            <a:endParaRPr sz="2667" dirty="0">
              <a:solidFill>
                <a:srgbClr val="0C343D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1" indent="-474121">
              <a:spcBef>
                <a:spcPts val="0"/>
              </a:spcBef>
              <a:buClr>
                <a:srgbClr val="0C343D"/>
              </a:buClr>
              <a:buSzPts val="2000"/>
              <a:buFont typeface="Roboto"/>
              <a:buChar char="○"/>
            </a:pPr>
            <a:r>
              <a:rPr lang="en" sz="2667" dirty="0">
                <a:solidFill>
                  <a:srgbClr val="0C343D"/>
                </a:solidFill>
                <a:latin typeface="Roboto"/>
                <a:ea typeface="Roboto"/>
                <a:cs typeface="Roboto"/>
                <a:sym typeface="Roboto"/>
              </a:rPr>
              <a:t>Client: Your internet browser </a:t>
            </a:r>
            <a:endParaRPr sz="2667" i="1" dirty="0">
              <a:solidFill>
                <a:srgbClr val="0C343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68" name="Google Shape;668;g36a8a0962f5_0_151"/>
          <p:cNvGrpSpPr/>
          <p:nvPr/>
        </p:nvGrpSpPr>
        <p:grpSpPr>
          <a:xfrm>
            <a:off x="6782351" y="1046783"/>
            <a:ext cx="5219375" cy="4800859"/>
            <a:chOff x="4634850" y="1018725"/>
            <a:chExt cx="4197438" cy="3683900"/>
          </a:xfrm>
        </p:grpSpPr>
        <p:sp>
          <p:nvSpPr>
            <p:cNvPr id="669" name="Google Shape;669;g36a8a0962f5_0_151"/>
            <p:cNvSpPr/>
            <p:nvPr/>
          </p:nvSpPr>
          <p:spPr>
            <a:xfrm>
              <a:off x="4634850" y="1018725"/>
              <a:ext cx="985800" cy="985800"/>
            </a:xfrm>
            <a:prstGeom prst="ellipse">
              <a:avLst/>
            </a:prstGeom>
            <a:solidFill>
              <a:srgbClr val="0C5394"/>
            </a:solidFill>
            <a:ln w="9525" cap="flat" cmpd="sng">
              <a:solidFill>
                <a:srgbClr val="1C45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500"/>
              </a:pPr>
              <a:r>
                <a:rPr lang="en" sz="24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Client</a:t>
              </a:r>
              <a:endParaRPr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0" name="Google Shape;670;g36a8a0962f5_0_151"/>
            <p:cNvSpPr/>
            <p:nvPr/>
          </p:nvSpPr>
          <p:spPr>
            <a:xfrm>
              <a:off x="7846488" y="1018725"/>
              <a:ext cx="985800" cy="985800"/>
            </a:xfrm>
            <a:prstGeom prst="ellipse">
              <a:avLst/>
            </a:prstGeom>
            <a:solidFill>
              <a:srgbClr val="0C5394"/>
            </a:solidFill>
            <a:ln w="9525" cap="flat" cmpd="sng">
              <a:solidFill>
                <a:srgbClr val="1C45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500"/>
              </a:pPr>
              <a:r>
                <a:rPr lang="en" sz="24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Client</a:t>
              </a:r>
              <a:endParaRPr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1" name="Google Shape;671;g36a8a0962f5_0_151"/>
            <p:cNvSpPr/>
            <p:nvPr/>
          </p:nvSpPr>
          <p:spPr>
            <a:xfrm>
              <a:off x="4639625" y="3716825"/>
              <a:ext cx="985800" cy="985800"/>
            </a:xfrm>
            <a:prstGeom prst="ellipse">
              <a:avLst/>
            </a:prstGeom>
            <a:solidFill>
              <a:srgbClr val="0C5394"/>
            </a:solidFill>
            <a:ln w="9525" cap="flat" cmpd="sng">
              <a:solidFill>
                <a:srgbClr val="1C45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500"/>
              </a:pPr>
              <a:r>
                <a:rPr lang="en" sz="24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Client</a:t>
              </a:r>
              <a:endParaRPr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2" name="Google Shape;672;g36a8a0962f5_0_151"/>
            <p:cNvSpPr/>
            <p:nvPr/>
          </p:nvSpPr>
          <p:spPr>
            <a:xfrm>
              <a:off x="7841725" y="3716825"/>
              <a:ext cx="985800" cy="985800"/>
            </a:xfrm>
            <a:prstGeom prst="ellipse">
              <a:avLst/>
            </a:prstGeom>
            <a:solidFill>
              <a:srgbClr val="0C5394"/>
            </a:solidFill>
            <a:ln w="9525" cap="flat" cmpd="sng">
              <a:solidFill>
                <a:srgbClr val="1C45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500"/>
              </a:pPr>
              <a:r>
                <a:rPr lang="en" sz="24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Client</a:t>
              </a:r>
              <a:endParaRPr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3" name="Google Shape;673;g36a8a0962f5_0_151"/>
            <p:cNvSpPr/>
            <p:nvPr/>
          </p:nvSpPr>
          <p:spPr>
            <a:xfrm>
              <a:off x="5944125" y="2243875"/>
              <a:ext cx="1578900" cy="1233600"/>
            </a:xfrm>
            <a:prstGeom prst="ellipse">
              <a:avLst/>
            </a:prstGeom>
            <a:solidFill>
              <a:srgbClr val="38761D"/>
            </a:solidFill>
            <a:ln w="9525" cap="flat" cmpd="sng">
              <a:solidFill>
                <a:srgbClr val="783F0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500"/>
              </a:pPr>
              <a:r>
                <a:rPr lang="en" sz="2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Server</a:t>
              </a:r>
              <a:endParaRPr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674" name="Google Shape;674;g36a8a0962f5_0_151"/>
            <p:cNvCxnSpPr>
              <a:stCxn id="669" idx="5"/>
              <a:endCxn id="673" idx="1"/>
            </p:cNvCxnSpPr>
            <p:nvPr/>
          </p:nvCxnSpPr>
          <p:spPr>
            <a:xfrm>
              <a:off x="5476283" y="1860158"/>
              <a:ext cx="699000" cy="5643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675" name="Google Shape;675;g36a8a0962f5_0_151"/>
            <p:cNvCxnSpPr>
              <a:stCxn id="670" idx="3"/>
              <a:endCxn id="673" idx="7"/>
            </p:cNvCxnSpPr>
            <p:nvPr/>
          </p:nvCxnSpPr>
          <p:spPr>
            <a:xfrm flipH="1">
              <a:off x="7291855" y="1860158"/>
              <a:ext cx="699000" cy="5643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676" name="Google Shape;676;g36a8a0962f5_0_151"/>
            <p:cNvCxnSpPr>
              <a:cxnSpLocks/>
              <a:stCxn id="672" idx="1"/>
              <a:endCxn id="673" idx="5"/>
            </p:cNvCxnSpPr>
            <p:nvPr/>
          </p:nvCxnSpPr>
          <p:spPr>
            <a:xfrm rot="10800000">
              <a:off x="7291892" y="3296892"/>
              <a:ext cx="694200" cy="5643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677" name="Google Shape;677;g36a8a0962f5_0_151"/>
            <p:cNvCxnSpPr>
              <a:stCxn id="671" idx="7"/>
              <a:endCxn id="673" idx="3"/>
            </p:cNvCxnSpPr>
            <p:nvPr/>
          </p:nvCxnSpPr>
          <p:spPr>
            <a:xfrm rot="10800000" flipH="1">
              <a:off x="5481058" y="3296892"/>
              <a:ext cx="694200" cy="5643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678" name="Google Shape;678;g36a8a0962f5_0_15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39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SzPts val="3600"/>
            </a:pPr>
            <a:r>
              <a:rPr lang="en"/>
              <a:t>Connections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6a8a0962f5_0_777"/>
          <p:cNvSpPr txBox="1">
            <a:spLocks noGrp="1"/>
          </p:cNvSpPr>
          <p:nvPr>
            <p:ph type="body" idx="1"/>
          </p:nvPr>
        </p:nvSpPr>
        <p:spPr>
          <a:xfrm>
            <a:off x="238367" y="559700"/>
            <a:ext cx="6948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474121">
              <a:spcBef>
                <a:spcPts val="0"/>
              </a:spcBef>
              <a:buClr>
                <a:srgbClr val="0C343D"/>
              </a:buClr>
              <a:buSzPts val="2000"/>
              <a:buFont typeface="Roboto"/>
              <a:buChar char="●"/>
            </a:pPr>
            <a:r>
              <a:rPr lang="en" sz="2667" dirty="0">
                <a:solidFill>
                  <a:srgbClr val="0C343D"/>
                </a:solidFill>
                <a:latin typeface="Roboto"/>
                <a:ea typeface="Roboto"/>
                <a:cs typeface="Roboto"/>
                <a:sym typeface="Roboto"/>
              </a:rPr>
              <a:t>Hosts have addresses</a:t>
            </a:r>
            <a:endParaRPr sz="2667" dirty="0">
              <a:solidFill>
                <a:srgbClr val="0C343D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1" indent="-474121">
              <a:spcBef>
                <a:spcPts val="0"/>
              </a:spcBef>
              <a:buClr>
                <a:srgbClr val="0C343D"/>
              </a:buClr>
              <a:buSzPts val="2000"/>
              <a:buFont typeface="Roboto"/>
              <a:buChar char="○"/>
            </a:pPr>
            <a:r>
              <a:rPr lang="en" sz="2667" dirty="0">
                <a:solidFill>
                  <a:srgbClr val="0C343D"/>
                </a:solidFill>
                <a:latin typeface="Roboto"/>
                <a:ea typeface="Roboto"/>
                <a:cs typeface="Roboto"/>
                <a:sym typeface="Roboto"/>
              </a:rPr>
              <a:t>Unique identifier (just like a street address)</a:t>
            </a:r>
            <a:endParaRPr sz="2667" dirty="0">
              <a:solidFill>
                <a:srgbClr val="0C343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74121">
              <a:spcBef>
                <a:spcPts val="0"/>
              </a:spcBef>
              <a:buClr>
                <a:srgbClr val="0C343D"/>
              </a:buClr>
              <a:buSzPts val="2000"/>
              <a:buFont typeface="Roboto"/>
              <a:buChar char="●"/>
            </a:pPr>
            <a:r>
              <a:rPr lang="en" sz="2667" dirty="0">
                <a:solidFill>
                  <a:srgbClr val="0C343D"/>
                </a:solidFill>
                <a:latin typeface="Roboto"/>
                <a:ea typeface="Roboto"/>
                <a:cs typeface="Roboto"/>
                <a:sym typeface="Roboto"/>
              </a:rPr>
              <a:t>Clients (different users) find servers with their addresses</a:t>
            </a:r>
            <a:endParaRPr sz="2667" dirty="0">
              <a:solidFill>
                <a:srgbClr val="0C343D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1" indent="-474121">
              <a:spcBef>
                <a:spcPts val="0"/>
              </a:spcBef>
              <a:buClr>
                <a:srgbClr val="0C343D"/>
              </a:buClr>
              <a:buSzPts val="2000"/>
              <a:buFont typeface="Roboto"/>
              <a:buChar char="○"/>
            </a:pPr>
            <a:r>
              <a:rPr lang="en" sz="2667" dirty="0">
                <a:solidFill>
                  <a:srgbClr val="0C343D"/>
                </a:solidFill>
                <a:latin typeface="Roboto"/>
                <a:ea typeface="Roboto"/>
                <a:cs typeface="Roboto"/>
                <a:sym typeface="Roboto"/>
              </a:rPr>
              <a:t>Servers send data back with the client address</a:t>
            </a:r>
          </a:p>
          <a:p>
            <a:pPr indent="-474121">
              <a:spcBef>
                <a:spcPts val="0"/>
              </a:spcBef>
              <a:buClr>
                <a:srgbClr val="0C343D"/>
              </a:buClr>
              <a:buSzPts val="2000"/>
              <a:buFont typeface="Roboto"/>
              <a:buChar char="○"/>
            </a:pPr>
            <a:r>
              <a:rPr lang="en-US" sz="3067" dirty="0">
                <a:solidFill>
                  <a:srgbClr val="0C343D"/>
                </a:solidFill>
                <a:latin typeface="Roboto"/>
                <a:ea typeface="Roboto"/>
                <a:cs typeface="Roboto"/>
                <a:sym typeface="Roboto"/>
              </a:rPr>
              <a:t>IP addresses are not enough</a:t>
            </a:r>
          </a:p>
          <a:p>
            <a:pPr lvl="1" indent="-474121">
              <a:spcBef>
                <a:spcPts val="0"/>
              </a:spcBef>
              <a:buClr>
                <a:srgbClr val="0C343D"/>
              </a:buClr>
              <a:buSzPts val="2000"/>
              <a:buFont typeface="Roboto"/>
              <a:buChar char="○"/>
            </a:pPr>
            <a:r>
              <a:rPr lang="en-US" sz="2667" dirty="0">
                <a:solidFill>
                  <a:srgbClr val="0C343D"/>
                </a:solidFill>
                <a:latin typeface="Roboto"/>
                <a:ea typeface="Roboto"/>
                <a:cs typeface="Roboto"/>
                <a:sym typeface="Roboto"/>
              </a:rPr>
              <a:t>Also need ports</a:t>
            </a:r>
            <a:endParaRPr sz="2667" dirty="0">
              <a:solidFill>
                <a:srgbClr val="0C343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84" name="Google Shape;684;g36a8a0962f5_0_777"/>
          <p:cNvGrpSpPr/>
          <p:nvPr/>
        </p:nvGrpSpPr>
        <p:grpSpPr>
          <a:xfrm>
            <a:off x="6782351" y="1046783"/>
            <a:ext cx="5219375" cy="4800859"/>
            <a:chOff x="4634850" y="1018725"/>
            <a:chExt cx="4197438" cy="3683900"/>
          </a:xfrm>
        </p:grpSpPr>
        <p:sp>
          <p:nvSpPr>
            <p:cNvPr id="685" name="Google Shape;685;g36a8a0962f5_0_777"/>
            <p:cNvSpPr/>
            <p:nvPr/>
          </p:nvSpPr>
          <p:spPr>
            <a:xfrm>
              <a:off x="4634850" y="1018725"/>
              <a:ext cx="985800" cy="985800"/>
            </a:xfrm>
            <a:prstGeom prst="ellipse">
              <a:avLst/>
            </a:prstGeom>
            <a:solidFill>
              <a:srgbClr val="0C5394"/>
            </a:solidFill>
            <a:ln w="9525" cap="flat" cmpd="sng">
              <a:solidFill>
                <a:srgbClr val="1C45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500"/>
              </a:pPr>
              <a:r>
                <a:rPr lang="en" sz="24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Client</a:t>
              </a:r>
              <a:endParaRPr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86" name="Google Shape;686;g36a8a0962f5_0_777"/>
            <p:cNvSpPr/>
            <p:nvPr/>
          </p:nvSpPr>
          <p:spPr>
            <a:xfrm>
              <a:off x="7846488" y="1018725"/>
              <a:ext cx="985800" cy="985800"/>
            </a:xfrm>
            <a:prstGeom prst="ellipse">
              <a:avLst/>
            </a:prstGeom>
            <a:solidFill>
              <a:srgbClr val="0C5394"/>
            </a:solidFill>
            <a:ln w="9525" cap="flat" cmpd="sng">
              <a:solidFill>
                <a:srgbClr val="1C45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500"/>
              </a:pPr>
              <a:r>
                <a:rPr lang="en" sz="24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Client</a:t>
              </a:r>
              <a:endParaRPr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87" name="Google Shape;687;g36a8a0962f5_0_777"/>
            <p:cNvSpPr/>
            <p:nvPr/>
          </p:nvSpPr>
          <p:spPr>
            <a:xfrm>
              <a:off x="4639625" y="3716825"/>
              <a:ext cx="985800" cy="985800"/>
            </a:xfrm>
            <a:prstGeom prst="ellipse">
              <a:avLst/>
            </a:prstGeom>
            <a:solidFill>
              <a:srgbClr val="0C5394"/>
            </a:solidFill>
            <a:ln w="9525" cap="flat" cmpd="sng">
              <a:solidFill>
                <a:srgbClr val="1C45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500"/>
              </a:pPr>
              <a:r>
                <a:rPr lang="en" sz="24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Client</a:t>
              </a:r>
              <a:endParaRPr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88" name="Google Shape;688;g36a8a0962f5_0_777"/>
            <p:cNvSpPr/>
            <p:nvPr/>
          </p:nvSpPr>
          <p:spPr>
            <a:xfrm>
              <a:off x="7841725" y="3716825"/>
              <a:ext cx="985800" cy="985800"/>
            </a:xfrm>
            <a:prstGeom prst="ellipse">
              <a:avLst/>
            </a:prstGeom>
            <a:solidFill>
              <a:srgbClr val="0C5394"/>
            </a:solidFill>
            <a:ln w="9525" cap="flat" cmpd="sng">
              <a:solidFill>
                <a:srgbClr val="1C45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500"/>
              </a:pPr>
              <a:r>
                <a:rPr lang="en" sz="24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Client</a:t>
              </a:r>
              <a:endParaRPr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89" name="Google Shape;689;g36a8a0962f5_0_777"/>
            <p:cNvSpPr/>
            <p:nvPr/>
          </p:nvSpPr>
          <p:spPr>
            <a:xfrm>
              <a:off x="5944125" y="2243875"/>
              <a:ext cx="1578900" cy="1233600"/>
            </a:xfrm>
            <a:prstGeom prst="ellipse">
              <a:avLst/>
            </a:prstGeom>
            <a:solidFill>
              <a:srgbClr val="38761D"/>
            </a:solidFill>
            <a:ln w="9525" cap="flat" cmpd="sng">
              <a:solidFill>
                <a:srgbClr val="783F0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500"/>
              </a:pPr>
              <a:r>
                <a:rPr lang="en" sz="2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Server</a:t>
              </a:r>
              <a:endParaRPr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690" name="Google Shape;690;g36a8a0962f5_0_777"/>
            <p:cNvCxnSpPr>
              <a:stCxn id="685" idx="5"/>
              <a:endCxn id="689" idx="1"/>
            </p:cNvCxnSpPr>
            <p:nvPr/>
          </p:nvCxnSpPr>
          <p:spPr>
            <a:xfrm>
              <a:off x="5476283" y="1860158"/>
              <a:ext cx="699000" cy="5643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691" name="Google Shape;691;g36a8a0962f5_0_777"/>
            <p:cNvCxnSpPr>
              <a:stCxn id="686" idx="3"/>
              <a:endCxn id="689" idx="7"/>
            </p:cNvCxnSpPr>
            <p:nvPr/>
          </p:nvCxnSpPr>
          <p:spPr>
            <a:xfrm flipH="1">
              <a:off x="7291855" y="1860158"/>
              <a:ext cx="699000" cy="5643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692" name="Google Shape;692;g36a8a0962f5_0_777"/>
            <p:cNvCxnSpPr>
              <a:stCxn id="688" idx="1"/>
              <a:endCxn id="689" idx="5"/>
            </p:cNvCxnSpPr>
            <p:nvPr/>
          </p:nvCxnSpPr>
          <p:spPr>
            <a:xfrm rot="10800000">
              <a:off x="7291892" y="3296892"/>
              <a:ext cx="694200" cy="5643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693" name="Google Shape;693;g36a8a0962f5_0_777"/>
            <p:cNvCxnSpPr>
              <a:stCxn id="687" idx="7"/>
              <a:endCxn id="689" idx="3"/>
            </p:cNvCxnSpPr>
            <p:nvPr/>
          </p:nvCxnSpPr>
          <p:spPr>
            <a:xfrm rot="10800000" flipH="1">
              <a:off x="5481058" y="3296892"/>
              <a:ext cx="694200" cy="5643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694" name="Google Shape;694;g36a8a0962f5_0_777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39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SzPts val="3600"/>
            </a:pPr>
            <a:r>
              <a:rPr lang="en"/>
              <a:t>Connections</a:t>
            </a:r>
            <a:endParaRPr/>
          </a:p>
        </p:txBody>
      </p:sp>
      <p:sp>
        <p:nvSpPr>
          <p:cNvPr id="695" name="Google Shape;695;g36a8a0962f5_0_777"/>
          <p:cNvSpPr txBox="1"/>
          <p:nvPr/>
        </p:nvSpPr>
        <p:spPr>
          <a:xfrm>
            <a:off x="830800" y="5150433"/>
            <a:ext cx="4762000" cy="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lnSpc>
                <a:spcPct val="115000"/>
              </a:lnSpc>
              <a:spcAft>
                <a:spcPts val="2133"/>
              </a:spcAft>
              <a:buClr>
                <a:srgbClr val="000000"/>
              </a:buClr>
              <a:buSzPts val="1800"/>
            </a:pPr>
            <a:endParaRPr sz="2667" i="1" dirty="0">
              <a:solidFill>
                <a:srgbClr val="0C343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6" name="Google Shape;696;g36a8a0962f5_0_777"/>
          <p:cNvSpPr txBox="1"/>
          <p:nvPr/>
        </p:nvSpPr>
        <p:spPr>
          <a:xfrm>
            <a:off x="6838200" y="644167"/>
            <a:ext cx="11920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" sz="2000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rPr>
              <a:t>1.2.3.4</a:t>
            </a:r>
            <a:endParaRPr sz="2000">
              <a:solidFill>
                <a:srgbClr val="0C343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g36a8a0962f5_0_777"/>
          <p:cNvSpPr txBox="1"/>
          <p:nvPr/>
        </p:nvSpPr>
        <p:spPr>
          <a:xfrm>
            <a:off x="10899333" y="644167"/>
            <a:ext cx="11024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" sz="2000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rPr>
              <a:t>5.6.7.8</a:t>
            </a:r>
            <a:endParaRPr sz="2000">
              <a:solidFill>
                <a:srgbClr val="0C343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g36a8a0962f5_0_777"/>
          <p:cNvSpPr txBox="1"/>
          <p:nvPr/>
        </p:nvSpPr>
        <p:spPr>
          <a:xfrm>
            <a:off x="8567000" y="2217584"/>
            <a:ext cx="28812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" sz="2000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rPr>
              <a:t>10.20.30.40</a:t>
            </a:r>
            <a:endParaRPr sz="2000">
              <a:solidFill>
                <a:srgbClr val="0C343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g36a8a0962f5_0_777"/>
          <p:cNvSpPr txBox="1"/>
          <p:nvPr/>
        </p:nvSpPr>
        <p:spPr>
          <a:xfrm>
            <a:off x="6662200" y="4137633"/>
            <a:ext cx="1544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" sz="2000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rPr>
              <a:t>9.10.11.12</a:t>
            </a:r>
            <a:endParaRPr sz="2000">
              <a:solidFill>
                <a:srgbClr val="0C343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g36a8a0962f5_0_777"/>
          <p:cNvSpPr txBox="1"/>
          <p:nvPr/>
        </p:nvSpPr>
        <p:spPr>
          <a:xfrm>
            <a:off x="10552800" y="4137633"/>
            <a:ext cx="16392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" sz="2000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rPr>
              <a:t>13.14.15.16</a:t>
            </a:r>
            <a:endParaRPr sz="2000">
              <a:solidFill>
                <a:srgbClr val="0C343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6a8a0962f5_0_215"/>
          <p:cNvSpPr/>
          <p:nvPr/>
        </p:nvSpPr>
        <p:spPr>
          <a:xfrm>
            <a:off x="8755296" y="960736"/>
            <a:ext cx="3292400" cy="2671200"/>
          </a:xfrm>
          <a:prstGeom prst="ellipse">
            <a:avLst/>
          </a:prstGeom>
          <a:solidFill>
            <a:srgbClr val="38761D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Server Machine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9" name="Google Shape;719;g36a8a0962f5_0_215"/>
          <p:cNvSpPr/>
          <p:nvPr/>
        </p:nvSpPr>
        <p:spPr>
          <a:xfrm>
            <a:off x="5359167" y="1101367"/>
            <a:ext cx="2969600" cy="413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" sz="2000" b="1">
                <a:solidFill>
                  <a:srgbClr val="0C343D"/>
                </a:solidFill>
                <a:latin typeface="Roboto"/>
                <a:ea typeface="Roboto"/>
                <a:cs typeface="Roboto"/>
                <a:sym typeface="Roboto"/>
              </a:rPr>
              <a:t>Client Machine (1.2.3.4)</a:t>
            </a:r>
            <a:endParaRPr sz="2000" b="1">
              <a:solidFill>
                <a:srgbClr val="0C343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0" name="Google Shape;720;g36a8a0962f5_0_215"/>
          <p:cNvSpPr/>
          <p:nvPr/>
        </p:nvSpPr>
        <p:spPr>
          <a:xfrm>
            <a:off x="5463563" y="2129900"/>
            <a:ext cx="1984400" cy="1086800"/>
          </a:xfrm>
          <a:prstGeom prst="roundRect">
            <a:avLst>
              <a:gd name="adj" fmla="val 16667"/>
            </a:avLst>
          </a:prstGeom>
          <a:solidFill>
            <a:srgbClr val="0C5394"/>
          </a:solidFill>
          <a:ln w="9525" cap="flat" cmpd="sng">
            <a:solidFill>
              <a:srgbClr val="1C45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500"/>
            </a:pPr>
            <a:r>
              <a:rPr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Process 1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ctr">
              <a:buClr>
                <a:srgbClr val="000000"/>
              </a:buClr>
              <a:buSzPts val="1500"/>
            </a:pPr>
            <a:r>
              <a:rPr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(Port 10000)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1" name="Google Shape;721;g36a8a0962f5_0_215"/>
          <p:cNvSpPr/>
          <p:nvPr/>
        </p:nvSpPr>
        <p:spPr>
          <a:xfrm>
            <a:off x="5463564" y="3800267"/>
            <a:ext cx="1984400" cy="1086800"/>
          </a:xfrm>
          <a:prstGeom prst="roundRect">
            <a:avLst>
              <a:gd name="adj" fmla="val 16667"/>
            </a:avLst>
          </a:prstGeom>
          <a:solidFill>
            <a:srgbClr val="0C5394"/>
          </a:solidFill>
          <a:ln w="9525" cap="flat" cmpd="sng">
            <a:solidFill>
              <a:srgbClr val="1C45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500"/>
            </a:pPr>
            <a:r>
              <a:rPr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Process 2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ctr">
              <a:buClr>
                <a:srgbClr val="000000"/>
              </a:buClr>
              <a:buSzPts val="1500"/>
            </a:pPr>
            <a:r>
              <a:rPr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(Port 20000)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22" name="Google Shape;722;g36a8a0962f5_0_215"/>
          <p:cNvCxnSpPr>
            <a:stCxn id="720" idx="3"/>
            <a:endCxn id="723" idx="1"/>
          </p:cNvCxnSpPr>
          <p:nvPr/>
        </p:nvCxnSpPr>
        <p:spPr>
          <a:xfrm rot="10800000" flipH="1">
            <a:off x="7447963" y="2436900"/>
            <a:ext cx="2102400" cy="2364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724" name="Google Shape;724;g36a8a0962f5_0_215"/>
          <p:cNvSpPr txBox="1"/>
          <p:nvPr/>
        </p:nvSpPr>
        <p:spPr>
          <a:xfrm>
            <a:off x="263167" y="593366"/>
            <a:ext cx="4872800" cy="6006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indent="-474121">
              <a:buClr>
                <a:srgbClr val="0C343D"/>
              </a:buClr>
              <a:buSzPts val="2000"/>
              <a:buFont typeface="Roboto"/>
              <a:buChar char="●"/>
            </a:pPr>
            <a:r>
              <a:rPr lang="en" sz="2000" dirty="0">
                <a:solidFill>
                  <a:srgbClr val="0C343D"/>
                </a:solidFill>
                <a:latin typeface="Roboto"/>
                <a:ea typeface="Roboto"/>
                <a:cs typeface="Roboto"/>
                <a:sym typeface="Roboto"/>
              </a:rPr>
              <a:t>Sockets are identified by unique IP:port pairs</a:t>
            </a:r>
            <a:endParaRPr sz="2000" dirty="0">
              <a:solidFill>
                <a:srgbClr val="0C343D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09585" indent="-474121">
              <a:buClr>
                <a:srgbClr val="0C343D"/>
              </a:buClr>
              <a:buSzPts val="2000"/>
              <a:buFont typeface="Roboto"/>
              <a:buChar char="●"/>
            </a:pPr>
            <a:r>
              <a:rPr lang="en" sz="2000" dirty="0">
                <a:solidFill>
                  <a:srgbClr val="0C343D"/>
                </a:solidFill>
                <a:latin typeface="Roboto"/>
                <a:ea typeface="Roboto"/>
                <a:cs typeface="Roboto"/>
                <a:sym typeface="Roboto"/>
              </a:rPr>
              <a:t>A port is a number associated with a socket when it is created</a:t>
            </a:r>
            <a:endParaRPr sz="2000" dirty="0">
              <a:solidFill>
                <a:srgbClr val="0C343D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19170" lvl="1" indent="-474121">
              <a:buClr>
                <a:srgbClr val="0C343D"/>
              </a:buClr>
              <a:buSzPts val="2000"/>
              <a:buFont typeface="Roboto"/>
              <a:buChar char="○"/>
            </a:pPr>
            <a:r>
              <a:rPr lang="en" sz="2000" dirty="0">
                <a:solidFill>
                  <a:srgbClr val="0C343D"/>
                </a:solidFill>
                <a:latin typeface="Roboto"/>
                <a:ea typeface="Roboto"/>
                <a:cs typeface="Roboto"/>
                <a:sym typeface="Roboto"/>
              </a:rPr>
              <a:t>i.e. sending to address “1.2.3.4:10000” would send data to the socket owned by Process 1</a:t>
            </a:r>
          </a:p>
          <a:p>
            <a:pPr marL="609585" indent="-474121">
              <a:buClr>
                <a:srgbClr val="0C343D"/>
              </a:buClr>
              <a:buSzPts val="2000"/>
              <a:buFont typeface="Roboto"/>
              <a:buChar char="●"/>
            </a:pPr>
            <a:r>
              <a:rPr lang="en-US" sz="2000" dirty="0">
                <a:solidFill>
                  <a:srgbClr val="0C343D"/>
                </a:solidFill>
                <a:latin typeface="Roboto"/>
                <a:ea typeface="Roboto"/>
                <a:cs typeface="Roboto"/>
                <a:sym typeface="Roboto"/>
              </a:rPr>
              <a:t>Each server listens on a well-known port</a:t>
            </a:r>
          </a:p>
          <a:p>
            <a:pPr marL="1219170" lvl="1" indent="-474121">
              <a:buClr>
                <a:srgbClr val="0C343D"/>
              </a:buClr>
              <a:buSzPts val="2000"/>
              <a:buFont typeface="Roboto"/>
              <a:buChar char="○"/>
            </a:pPr>
            <a:r>
              <a:rPr lang="en-US" sz="2000" dirty="0">
                <a:solidFill>
                  <a:srgbClr val="0C343D"/>
                </a:solidFill>
                <a:latin typeface="Roboto"/>
                <a:ea typeface="Roboto"/>
                <a:cs typeface="Roboto"/>
                <a:sym typeface="Roboto"/>
              </a:rPr>
              <a:t>Which one depends on application</a:t>
            </a:r>
          </a:p>
          <a:p>
            <a:pPr marL="1219170" lvl="1" indent="-474121">
              <a:buClr>
                <a:srgbClr val="0C343D"/>
              </a:buClr>
              <a:buSzPts val="2000"/>
              <a:buFont typeface="Roboto"/>
              <a:buChar char="○"/>
            </a:pPr>
            <a:r>
              <a:rPr lang="en-US" sz="2000" dirty="0">
                <a:solidFill>
                  <a:srgbClr val="0C343D"/>
                </a:solidFill>
                <a:latin typeface="Roboto"/>
                <a:ea typeface="Roboto"/>
                <a:cs typeface="Roboto"/>
                <a:sym typeface="Roboto"/>
              </a:rPr>
              <a:t>HTTP: 80</a:t>
            </a:r>
          </a:p>
          <a:p>
            <a:pPr marL="1219170" lvl="1" indent="-474121">
              <a:buClr>
                <a:srgbClr val="0C343D"/>
              </a:buClr>
              <a:buSzPts val="2000"/>
              <a:buFont typeface="Roboto"/>
              <a:buChar char="○"/>
            </a:pPr>
            <a:r>
              <a:rPr lang="en-US" sz="2000" dirty="0">
                <a:solidFill>
                  <a:srgbClr val="0C343D"/>
                </a:solidFill>
                <a:latin typeface="Roboto"/>
                <a:ea typeface="Roboto"/>
                <a:cs typeface="Roboto"/>
                <a:sym typeface="Roboto"/>
              </a:rPr>
              <a:t>SSH: 22</a:t>
            </a:r>
          </a:p>
          <a:p>
            <a:pPr marL="609585" indent="-474121">
              <a:buClr>
                <a:srgbClr val="0C343D"/>
              </a:buClr>
              <a:buSzPts val="2000"/>
              <a:buFont typeface="Roboto"/>
              <a:buChar char="●"/>
            </a:pPr>
            <a:r>
              <a:rPr lang="en-US" sz="2000" dirty="0">
                <a:solidFill>
                  <a:srgbClr val="0C343D"/>
                </a:solidFill>
                <a:latin typeface="Roboto"/>
                <a:ea typeface="Roboto"/>
                <a:cs typeface="Roboto"/>
                <a:sym typeface="Roboto"/>
              </a:rPr>
              <a:t>Client also has a port</a:t>
            </a:r>
          </a:p>
          <a:p>
            <a:pPr marL="1219170" lvl="1" indent="-474121">
              <a:buClr>
                <a:srgbClr val="0C343D"/>
              </a:buClr>
              <a:buSzPts val="2000"/>
              <a:buFont typeface="Roboto"/>
              <a:buChar char="○"/>
            </a:pPr>
            <a:r>
              <a:rPr lang="en-US" sz="2000" dirty="0">
                <a:solidFill>
                  <a:srgbClr val="0C343D"/>
                </a:solidFill>
                <a:latin typeface="Roboto"/>
                <a:ea typeface="Roboto"/>
                <a:cs typeface="Roboto"/>
                <a:sym typeface="Roboto"/>
              </a:rPr>
              <a:t>Port number can be any (large) number</a:t>
            </a:r>
            <a:endParaRPr sz="2000" dirty="0">
              <a:solidFill>
                <a:srgbClr val="0C343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3" name="Google Shape;723;g36a8a0962f5_0_215"/>
          <p:cNvSpPr/>
          <p:nvPr/>
        </p:nvSpPr>
        <p:spPr>
          <a:xfrm>
            <a:off x="9550500" y="1893567"/>
            <a:ext cx="1702000" cy="1086800"/>
          </a:xfrm>
          <a:prstGeom prst="roundRect">
            <a:avLst>
              <a:gd name="adj" fmla="val 16667"/>
            </a:avLst>
          </a:prstGeom>
          <a:solidFill>
            <a:srgbClr val="0C5394"/>
          </a:solidFill>
          <a:ln w="9525" cap="flat" cmpd="sng">
            <a:solidFill>
              <a:srgbClr val="1C45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500"/>
            </a:pPr>
            <a:r>
              <a:rPr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Process 1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ctr">
              <a:buClr>
                <a:srgbClr val="000000"/>
              </a:buClr>
              <a:buSzPts val="1500"/>
            </a:pPr>
            <a:r>
              <a:rPr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(Port 80)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25" name="Google Shape;725;g36a8a0962f5_0_215"/>
          <p:cNvCxnSpPr>
            <a:stCxn id="721" idx="3"/>
            <a:endCxn id="723" idx="2"/>
          </p:cNvCxnSpPr>
          <p:nvPr/>
        </p:nvCxnSpPr>
        <p:spPr>
          <a:xfrm rot="10800000" flipH="1">
            <a:off x="7447964" y="2980467"/>
            <a:ext cx="2953600" cy="1363200"/>
          </a:xfrm>
          <a:prstGeom prst="bent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726" name="Google Shape;726;g36a8a0962f5_0_2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39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SzPts val="3600"/>
            </a:pPr>
            <a:r>
              <a:rPr lang="en"/>
              <a:t>Ports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Socket programming </a:t>
            </a:r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id="{DE711DC5-9C34-FB4F-827E-14567B9170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446842"/>
            <a:ext cx="11124616" cy="153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goal:</a:t>
            </a: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 learn how to build client/server applications that communicate using sockets</a:t>
            </a:r>
            <a:endParaRPr kumimoji="0" lang="en-US" altLang="en-US" sz="3200" b="0" i="1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socket:</a:t>
            </a: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 door between application process and end-end-transport protocol </a:t>
            </a:r>
          </a:p>
        </p:txBody>
      </p:sp>
      <p:sp>
        <p:nvSpPr>
          <p:cNvPr id="117" name="Freeform 66">
            <a:extLst>
              <a:ext uri="{FF2B5EF4-FFF2-40B4-BE49-F238E27FC236}">
                <a16:creationId xmlns:a16="http://schemas.microsoft.com/office/drawing/2014/main" id="{532EF64A-98FA-854C-BC6E-37DCF5442402}"/>
              </a:ext>
            </a:extLst>
          </p:cNvPr>
          <p:cNvSpPr>
            <a:spLocks/>
          </p:cNvSpPr>
          <p:nvPr/>
        </p:nvSpPr>
        <p:spPr bwMode="auto">
          <a:xfrm>
            <a:off x="8379242" y="3598233"/>
            <a:ext cx="736600" cy="1998662"/>
          </a:xfrm>
          <a:custGeom>
            <a:avLst/>
            <a:gdLst>
              <a:gd name="T0" fmla="*/ 2147483647 w 464"/>
              <a:gd name="T1" fmla="*/ 2147483647 h 1259"/>
              <a:gd name="T2" fmla="*/ 0 w 464"/>
              <a:gd name="T3" fmla="*/ 0 h 1259"/>
              <a:gd name="T4" fmla="*/ 2147483647 w 464"/>
              <a:gd name="T5" fmla="*/ 2147483647 h 1259"/>
              <a:gd name="T6" fmla="*/ 2147483647 w 464"/>
              <a:gd name="T7" fmla="*/ 2147483647 h 1259"/>
              <a:gd name="T8" fmla="*/ 2147483647 w 464"/>
              <a:gd name="T9" fmla="*/ 2147483647 h 12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64"/>
              <a:gd name="T16" fmla="*/ 0 h 1259"/>
              <a:gd name="T17" fmla="*/ 464 w 464"/>
              <a:gd name="T18" fmla="*/ 1259 h 12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64" h="1259">
                <a:moveTo>
                  <a:pt x="464" y="1060"/>
                </a:moveTo>
                <a:lnTo>
                  <a:pt x="0" y="0"/>
                </a:lnTo>
                <a:lnTo>
                  <a:pt x="6" y="1258"/>
                </a:lnTo>
                <a:lnTo>
                  <a:pt x="382" y="1259"/>
                </a:lnTo>
                <a:lnTo>
                  <a:pt x="464" y="1060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chemeClr val="accent1">
                  <a:lumMod val="75000"/>
                </a:schemeClr>
              </a:gs>
            </a:gsLst>
            <a:lin ang="10800000" scaled="0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8" name="Freeform 7">
            <a:extLst>
              <a:ext uri="{FF2B5EF4-FFF2-40B4-BE49-F238E27FC236}">
                <a16:creationId xmlns:a16="http://schemas.microsoft.com/office/drawing/2014/main" id="{0B3FAB7F-D751-694B-8438-BA60B5BE46B5}"/>
              </a:ext>
            </a:extLst>
          </p:cNvPr>
          <p:cNvSpPr>
            <a:spLocks/>
          </p:cNvSpPr>
          <p:nvPr/>
        </p:nvSpPr>
        <p:spPr bwMode="auto">
          <a:xfrm>
            <a:off x="5064542" y="4895220"/>
            <a:ext cx="1808162" cy="1031875"/>
          </a:xfrm>
          <a:custGeom>
            <a:avLst/>
            <a:gdLst>
              <a:gd name="T0" fmla="*/ 2147483647 w 2135"/>
              <a:gd name="T1" fmla="*/ 2147483647 h 1662"/>
              <a:gd name="T2" fmla="*/ 2147483647 w 2135"/>
              <a:gd name="T3" fmla="*/ 2147483647 h 1662"/>
              <a:gd name="T4" fmla="*/ 2147483647 w 2135"/>
              <a:gd name="T5" fmla="*/ 2147483647 h 1662"/>
              <a:gd name="T6" fmla="*/ 2147483647 w 2135"/>
              <a:gd name="T7" fmla="*/ 2147483647 h 1662"/>
              <a:gd name="T8" fmla="*/ 2147483647 w 2135"/>
              <a:gd name="T9" fmla="*/ 2147483647 h 1662"/>
              <a:gd name="T10" fmla="*/ 2147483647 w 2135"/>
              <a:gd name="T11" fmla="*/ 2147483647 h 1662"/>
              <a:gd name="T12" fmla="*/ 2147483647 w 2135"/>
              <a:gd name="T13" fmla="*/ 2147483647 h 1662"/>
              <a:gd name="T14" fmla="*/ 2147483647 w 2135"/>
              <a:gd name="T15" fmla="*/ 2147483647 h 1662"/>
              <a:gd name="T16" fmla="*/ 2147483647 w 2135"/>
              <a:gd name="T17" fmla="*/ 2147483647 h 1662"/>
              <a:gd name="T18" fmla="*/ 2147483647 w 2135"/>
              <a:gd name="T19" fmla="*/ 2147483647 h 1662"/>
              <a:gd name="T20" fmla="*/ 2147483647 w 2135"/>
              <a:gd name="T21" fmla="*/ 2147483647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9" name="Text Box 51">
            <a:extLst>
              <a:ext uri="{FF2B5EF4-FFF2-40B4-BE49-F238E27FC236}">
                <a16:creationId xmlns:a16="http://schemas.microsoft.com/office/drawing/2014/main" id="{31F42B0C-9D7E-B148-8731-AA200CC8E7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2692" y="5026983"/>
            <a:ext cx="8747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Internet</a:t>
            </a:r>
          </a:p>
        </p:txBody>
      </p:sp>
      <p:sp>
        <p:nvSpPr>
          <p:cNvPr id="120" name="Line 52">
            <a:extLst>
              <a:ext uri="{FF2B5EF4-FFF2-40B4-BE49-F238E27FC236}">
                <a16:creationId xmlns:a16="http://schemas.microsoft.com/office/drawing/2014/main" id="{4BBAA32D-9FE8-6946-993E-FD9CF5FF2D22}"/>
              </a:ext>
            </a:extLst>
          </p:cNvPr>
          <p:cNvSpPr>
            <a:spLocks noChangeShapeType="1"/>
          </p:cNvSpPr>
          <p:nvPr/>
        </p:nvSpPr>
        <p:spPr bwMode="auto">
          <a:xfrm>
            <a:off x="4823242" y="5438145"/>
            <a:ext cx="22113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1" name="Text Box 53">
            <a:extLst>
              <a:ext uri="{FF2B5EF4-FFF2-40B4-BE49-F238E27FC236}">
                <a16:creationId xmlns:a16="http://schemas.microsoft.com/office/drawing/2014/main" id="{8DD3EB16-70D9-0E41-9219-8BACFD2FF0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4379" y="4663445"/>
            <a:ext cx="106362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controlled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by 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2" name="Text Box 56">
            <a:extLst>
              <a:ext uri="{FF2B5EF4-FFF2-40B4-BE49-F238E27FC236}">
                <a16:creationId xmlns:a16="http://schemas.microsoft.com/office/drawing/2014/main" id="{DE211F08-2700-6642-9DC3-1997DC8ED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2154" y="3763333"/>
            <a:ext cx="14700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controlled by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app developer</a:t>
            </a:r>
          </a:p>
        </p:txBody>
      </p:sp>
      <p:sp>
        <p:nvSpPr>
          <p:cNvPr id="123" name="Freeform 45">
            <a:extLst>
              <a:ext uri="{FF2B5EF4-FFF2-40B4-BE49-F238E27FC236}">
                <a16:creationId xmlns:a16="http://schemas.microsoft.com/office/drawing/2014/main" id="{07B0F571-0623-E94E-AC3A-B1389138AC28}"/>
              </a:ext>
            </a:extLst>
          </p:cNvPr>
          <p:cNvSpPr>
            <a:spLocks/>
          </p:cNvSpPr>
          <p:nvPr/>
        </p:nvSpPr>
        <p:spPr bwMode="auto">
          <a:xfrm>
            <a:off x="2638842" y="3661733"/>
            <a:ext cx="758825" cy="1997075"/>
          </a:xfrm>
          <a:custGeom>
            <a:avLst/>
            <a:gdLst>
              <a:gd name="T0" fmla="*/ 0 w 478"/>
              <a:gd name="T1" fmla="*/ 2147483647 h 1258"/>
              <a:gd name="T2" fmla="*/ 2147483647 w 478"/>
              <a:gd name="T3" fmla="*/ 0 h 1258"/>
              <a:gd name="T4" fmla="*/ 2147483647 w 478"/>
              <a:gd name="T5" fmla="*/ 2147483647 h 1258"/>
              <a:gd name="T6" fmla="*/ 2147483647 w 478"/>
              <a:gd name="T7" fmla="*/ 2147483647 h 1258"/>
              <a:gd name="T8" fmla="*/ 0 w 478"/>
              <a:gd name="T9" fmla="*/ 2147483647 h 125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78"/>
              <a:gd name="T16" fmla="*/ 0 h 1258"/>
              <a:gd name="T17" fmla="*/ 478 w 478"/>
              <a:gd name="T18" fmla="*/ 1258 h 125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78" h="1258">
                <a:moveTo>
                  <a:pt x="0" y="1040"/>
                </a:moveTo>
                <a:lnTo>
                  <a:pt x="478" y="0"/>
                </a:lnTo>
                <a:lnTo>
                  <a:pt x="472" y="1258"/>
                </a:lnTo>
                <a:lnTo>
                  <a:pt x="41" y="1246"/>
                </a:lnTo>
                <a:lnTo>
                  <a:pt x="0" y="1040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chemeClr val="accent1">
                  <a:lumMod val="75000"/>
                </a:schemeClr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4" name="Rectangle 23">
            <a:extLst>
              <a:ext uri="{FF2B5EF4-FFF2-40B4-BE49-F238E27FC236}">
                <a16:creationId xmlns:a16="http://schemas.microsoft.com/office/drawing/2014/main" id="{5F3EC8D2-BC57-284F-B438-D2889E964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2117" y="3617283"/>
            <a:ext cx="1296987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5" name="Rectangle 24">
            <a:extLst>
              <a:ext uri="{FF2B5EF4-FFF2-40B4-BE49-F238E27FC236}">
                <a16:creationId xmlns:a16="http://schemas.microsoft.com/office/drawing/2014/main" id="{48E3F4A8-8297-154C-8417-C2DCBDE27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4017" y="3671258"/>
            <a:ext cx="1273175" cy="1979612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6" name="Line 25">
            <a:extLst>
              <a:ext uri="{FF2B5EF4-FFF2-40B4-BE49-F238E27FC236}">
                <a16:creationId xmlns:a16="http://schemas.microsoft.com/office/drawing/2014/main" id="{105AE91D-03CF-5F44-82E5-D8920536B375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3542" y="4431670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7" name="Text Box 26">
            <a:extLst>
              <a:ext uri="{FF2B5EF4-FFF2-40B4-BE49-F238E27FC236}">
                <a16:creationId xmlns:a16="http://schemas.microsoft.com/office/drawing/2014/main" id="{68C4EA48-A98F-F641-BB8C-5DF3E3907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0679" y="441420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128" name="Line 27">
            <a:extLst>
              <a:ext uri="{FF2B5EF4-FFF2-40B4-BE49-F238E27FC236}">
                <a16:creationId xmlns:a16="http://schemas.microsoft.com/office/drawing/2014/main" id="{E85BFD82-4C55-F145-9B37-39406E46DD3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1479" y="4752345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9" name="Line 28">
            <a:extLst>
              <a:ext uri="{FF2B5EF4-FFF2-40B4-BE49-F238E27FC236}">
                <a16:creationId xmlns:a16="http://schemas.microsoft.com/office/drawing/2014/main" id="{428A6E03-2BA0-6243-85AC-2DD8D7EB6CA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07192" y="5061908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0" name="Line 29">
            <a:extLst>
              <a:ext uri="{FF2B5EF4-FFF2-40B4-BE49-F238E27FC236}">
                <a16:creationId xmlns:a16="http://schemas.microsoft.com/office/drawing/2014/main" id="{80E8C02C-0DBA-6E4F-BBEC-8772FE1F38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407192" y="5347658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1" name="Text Box 26">
            <a:extLst>
              <a:ext uri="{FF2B5EF4-FFF2-40B4-BE49-F238E27FC236}">
                <a16:creationId xmlns:a16="http://schemas.microsoft.com/office/drawing/2014/main" id="{E521FADF-C422-1E4C-A4EF-0C457D015D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5604" y="366173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application</a:t>
            </a:r>
          </a:p>
        </p:txBody>
      </p:sp>
      <p:sp>
        <p:nvSpPr>
          <p:cNvPr id="132" name="Text Box 26">
            <a:extLst>
              <a:ext uri="{FF2B5EF4-FFF2-40B4-BE49-F238E27FC236}">
                <a16:creationId xmlns:a16="http://schemas.microsoft.com/office/drawing/2014/main" id="{2BD2A730-1670-1444-BFD6-C3B745F28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1154" y="531908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physical</a:t>
            </a:r>
          </a:p>
        </p:txBody>
      </p:sp>
      <p:sp>
        <p:nvSpPr>
          <p:cNvPr id="133" name="Text Box 26">
            <a:extLst>
              <a:ext uri="{FF2B5EF4-FFF2-40B4-BE49-F238E27FC236}">
                <a16:creationId xmlns:a16="http://schemas.microsoft.com/office/drawing/2014/main" id="{F1BA5AB6-F404-DF48-BA11-738F64F02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0204" y="503333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link</a:t>
            </a:r>
          </a:p>
        </p:txBody>
      </p:sp>
      <p:sp>
        <p:nvSpPr>
          <p:cNvPr id="134" name="Text Box 26">
            <a:extLst>
              <a:ext uri="{FF2B5EF4-FFF2-40B4-BE49-F238E27FC236}">
                <a16:creationId xmlns:a16="http://schemas.microsoft.com/office/drawing/2014/main" id="{E65C1E73-F682-E145-9DAF-B7E55ECCE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0679" y="473805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</a:p>
        </p:txBody>
      </p:sp>
      <p:sp>
        <p:nvSpPr>
          <p:cNvPr id="135" name="Oval 57">
            <a:extLst>
              <a:ext uri="{FF2B5EF4-FFF2-40B4-BE49-F238E27FC236}">
                <a16:creationId xmlns:a16="http://schemas.microsoft.com/office/drawing/2014/main" id="{64DC0B32-AD14-4F4C-AA5D-A0175C3E0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954" y="3936370"/>
            <a:ext cx="990600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process</a:t>
            </a:r>
          </a:p>
        </p:txBody>
      </p:sp>
      <p:sp>
        <p:nvSpPr>
          <p:cNvPr id="141" name="Rectangle 23">
            <a:extLst>
              <a:ext uri="{FF2B5EF4-FFF2-40B4-BE49-F238E27FC236}">
                <a16:creationId xmlns:a16="http://schemas.microsoft.com/office/drawing/2014/main" id="{54E0D8CA-A90B-D443-A809-60E5D3C43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4479" y="3588708"/>
            <a:ext cx="1296988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2" name="Rectangle 24">
            <a:extLst>
              <a:ext uri="{FF2B5EF4-FFF2-40B4-BE49-F238E27FC236}">
                <a16:creationId xmlns:a16="http://schemas.microsoft.com/office/drawing/2014/main" id="{68855CF6-22DF-7942-990A-E44BCC268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6379" y="3642683"/>
            <a:ext cx="1273175" cy="1979612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3" name="Line 25">
            <a:extLst>
              <a:ext uri="{FF2B5EF4-FFF2-40B4-BE49-F238E27FC236}">
                <a16:creationId xmlns:a16="http://schemas.microsoft.com/office/drawing/2014/main" id="{333B2DFF-19AD-5D41-A13A-CAD8D4D1E7AA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5904" y="4403095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4" name="Text Box 26">
            <a:extLst>
              <a:ext uri="{FF2B5EF4-FFF2-40B4-BE49-F238E27FC236}">
                <a16:creationId xmlns:a16="http://schemas.microsoft.com/office/drawing/2014/main" id="{ABD5AE77-C968-524B-8267-F5F9D07A9C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3042" y="438563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145" name="Line 27">
            <a:extLst>
              <a:ext uri="{FF2B5EF4-FFF2-40B4-BE49-F238E27FC236}">
                <a16:creationId xmlns:a16="http://schemas.microsoft.com/office/drawing/2014/main" id="{E655A70A-1998-F04C-9071-DB527B7184C0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3842" y="4723770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6" name="Line 28">
            <a:extLst>
              <a:ext uri="{FF2B5EF4-FFF2-40B4-BE49-F238E27FC236}">
                <a16:creationId xmlns:a16="http://schemas.microsoft.com/office/drawing/2014/main" id="{FFFB9613-6926-D64E-9BCE-95B470FE283A}"/>
              </a:ext>
            </a:extLst>
          </p:cNvPr>
          <p:cNvSpPr>
            <a:spLocks noChangeShapeType="1"/>
          </p:cNvSpPr>
          <p:nvPr/>
        </p:nvSpPr>
        <p:spPr bwMode="auto">
          <a:xfrm>
            <a:off x="7069554" y="5033333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7" name="Line 29">
            <a:extLst>
              <a:ext uri="{FF2B5EF4-FFF2-40B4-BE49-F238E27FC236}">
                <a16:creationId xmlns:a16="http://schemas.microsoft.com/office/drawing/2014/main" id="{74AA23EE-17EA-094E-A14C-C35EF1D4E761}"/>
              </a:ext>
            </a:extLst>
          </p:cNvPr>
          <p:cNvSpPr>
            <a:spLocks noChangeShapeType="1"/>
          </p:cNvSpPr>
          <p:nvPr/>
        </p:nvSpPr>
        <p:spPr bwMode="auto">
          <a:xfrm>
            <a:off x="7069554" y="5319083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8" name="Text Box 26">
            <a:extLst>
              <a:ext uri="{FF2B5EF4-FFF2-40B4-BE49-F238E27FC236}">
                <a16:creationId xmlns:a16="http://schemas.microsoft.com/office/drawing/2014/main" id="{159414D4-A31C-4C4B-AD86-719BE126A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7967" y="363315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application</a:t>
            </a:r>
          </a:p>
        </p:txBody>
      </p:sp>
      <p:sp>
        <p:nvSpPr>
          <p:cNvPr id="149" name="Text Box 26">
            <a:extLst>
              <a:ext uri="{FF2B5EF4-FFF2-40B4-BE49-F238E27FC236}">
                <a16:creationId xmlns:a16="http://schemas.microsoft.com/office/drawing/2014/main" id="{6D188352-EF4C-FE42-8176-6AE1E5353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3517" y="529050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physical</a:t>
            </a:r>
          </a:p>
        </p:txBody>
      </p:sp>
      <p:sp>
        <p:nvSpPr>
          <p:cNvPr id="150" name="Text Box 26">
            <a:extLst>
              <a:ext uri="{FF2B5EF4-FFF2-40B4-BE49-F238E27FC236}">
                <a16:creationId xmlns:a16="http://schemas.microsoft.com/office/drawing/2014/main" id="{2E91368D-F47D-2247-9B9B-1AA9BD1A56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2567" y="500475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link</a:t>
            </a:r>
          </a:p>
        </p:txBody>
      </p:sp>
      <p:sp>
        <p:nvSpPr>
          <p:cNvPr id="151" name="Text Box 26">
            <a:extLst>
              <a:ext uri="{FF2B5EF4-FFF2-40B4-BE49-F238E27FC236}">
                <a16:creationId xmlns:a16="http://schemas.microsoft.com/office/drawing/2014/main" id="{CF4D2E62-8AC3-6447-8A4A-38E1546DB9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3042" y="470948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</a:p>
        </p:txBody>
      </p:sp>
      <p:sp>
        <p:nvSpPr>
          <p:cNvPr id="152" name="Oval 78">
            <a:extLst>
              <a:ext uri="{FF2B5EF4-FFF2-40B4-BE49-F238E27FC236}">
                <a16:creationId xmlns:a16="http://schemas.microsoft.com/office/drawing/2014/main" id="{24268CA0-4017-FA41-A0A9-063CDE36F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1317" y="3907795"/>
            <a:ext cx="990600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process</a:t>
            </a:r>
          </a:p>
        </p:txBody>
      </p:sp>
      <p:sp>
        <p:nvSpPr>
          <p:cNvPr id="158" name="Line 88">
            <a:extLst>
              <a:ext uri="{FF2B5EF4-FFF2-40B4-BE49-F238E27FC236}">
                <a16:creationId xmlns:a16="http://schemas.microsoft.com/office/drawing/2014/main" id="{357D04DF-5A8F-3946-A05F-B134A08152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58592" y="4039558"/>
            <a:ext cx="609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9" name="Line 89">
            <a:extLst>
              <a:ext uri="{FF2B5EF4-FFF2-40B4-BE49-F238E27FC236}">
                <a16:creationId xmlns:a16="http://schemas.microsoft.com/office/drawing/2014/main" id="{1F64B7FA-0FDF-AA41-954C-B46F96B69793}"/>
              </a:ext>
            </a:extLst>
          </p:cNvPr>
          <p:cNvSpPr>
            <a:spLocks noChangeShapeType="1"/>
          </p:cNvSpPr>
          <p:nvPr/>
        </p:nvSpPr>
        <p:spPr bwMode="auto">
          <a:xfrm>
            <a:off x="8484017" y="4465008"/>
            <a:ext cx="0" cy="102235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0" name="Line 90">
            <a:extLst>
              <a:ext uri="{FF2B5EF4-FFF2-40B4-BE49-F238E27FC236}">
                <a16:creationId xmlns:a16="http://schemas.microsoft.com/office/drawing/2014/main" id="{1C49FAA4-451C-9346-B2A1-9DADDB3735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07829" y="4965070"/>
            <a:ext cx="609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E6F8F39-CC95-5944-86C7-18592B3F79C2}"/>
              </a:ext>
            </a:extLst>
          </p:cNvPr>
          <p:cNvGrpSpPr/>
          <p:nvPr/>
        </p:nvGrpSpPr>
        <p:grpSpPr>
          <a:xfrm>
            <a:off x="3786604" y="3720470"/>
            <a:ext cx="4208463" cy="801688"/>
            <a:chOff x="3786604" y="3720470"/>
            <a:chExt cx="4208463" cy="801688"/>
          </a:xfrm>
        </p:grpSpPr>
        <p:grpSp>
          <p:nvGrpSpPr>
            <p:cNvPr id="136" name="Group 58">
              <a:extLst>
                <a:ext uri="{FF2B5EF4-FFF2-40B4-BE49-F238E27FC236}">
                  <a16:creationId xmlns:a16="http://schemas.microsoft.com/office/drawing/2014/main" id="{E675645C-771D-1C4D-BD09-0A50219A70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6604" y="4296733"/>
              <a:ext cx="546100" cy="225425"/>
              <a:chOff x="1287" y="2524"/>
              <a:chExt cx="260" cy="100"/>
            </a:xfrm>
          </p:grpSpPr>
          <p:sp>
            <p:nvSpPr>
              <p:cNvPr id="137" name="Rectangle 59">
                <a:extLst>
                  <a:ext uri="{FF2B5EF4-FFF2-40B4-BE49-F238E27FC236}">
                    <a16:creationId xmlns:a16="http://schemas.microsoft.com/office/drawing/2014/main" id="{4BD7EDAC-534F-D84F-8E24-977FE250A0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" y="2524"/>
                <a:ext cx="260" cy="100"/>
              </a:xfrm>
              <a:prstGeom prst="rect">
                <a:avLst/>
              </a:prstGeom>
              <a:solidFill>
                <a:srgbClr val="C96B72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8" name="Rectangle 60">
                <a:extLst>
                  <a:ext uri="{FF2B5EF4-FFF2-40B4-BE49-F238E27FC236}">
                    <a16:creationId xmlns:a16="http://schemas.microsoft.com/office/drawing/2014/main" id="{522C0AA5-89A7-AE45-9EA6-0984C3D367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8" y="2537"/>
                <a:ext cx="156" cy="7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9" name="Rectangle 61">
                <a:extLst>
                  <a:ext uri="{FF2B5EF4-FFF2-40B4-BE49-F238E27FC236}">
                    <a16:creationId xmlns:a16="http://schemas.microsoft.com/office/drawing/2014/main" id="{E45B888C-A7C7-C04F-96C2-AC5495901C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3" y="2582"/>
                <a:ext cx="27" cy="27"/>
              </a:xfrm>
              <a:prstGeom prst="rect">
                <a:avLst/>
              </a:prstGeom>
              <a:solidFill>
                <a:srgbClr val="C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0" name="Rectangle 62">
                <a:extLst>
                  <a:ext uri="{FF2B5EF4-FFF2-40B4-BE49-F238E27FC236}">
                    <a16:creationId xmlns:a16="http://schemas.microsoft.com/office/drawing/2014/main" id="{6D259067-30CA-3A43-B969-2FED80C101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8" y="2583"/>
                <a:ext cx="26" cy="27"/>
              </a:xfrm>
              <a:prstGeom prst="rect">
                <a:avLst/>
              </a:prstGeom>
              <a:solidFill>
                <a:srgbClr val="C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53" name="Group 79">
              <a:extLst>
                <a:ext uri="{FF2B5EF4-FFF2-40B4-BE49-F238E27FC236}">
                  <a16:creationId xmlns:a16="http://schemas.microsoft.com/office/drawing/2014/main" id="{2953A696-2D0B-4946-96FC-8F6534A2F1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48967" y="4268158"/>
              <a:ext cx="546100" cy="225425"/>
              <a:chOff x="1287" y="2524"/>
              <a:chExt cx="260" cy="100"/>
            </a:xfrm>
          </p:grpSpPr>
          <p:sp>
            <p:nvSpPr>
              <p:cNvPr id="154" name="Rectangle 80">
                <a:extLst>
                  <a:ext uri="{FF2B5EF4-FFF2-40B4-BE49-F238E27FC236}">
                    <a16:creationId xmlns:a16="http://schemas.microsoft.com/office/drawing/2014/main" id="{313605CC-1AC5-8944-94FF-94268AD804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" y="2524"/>
                <a:ext cx="260" cy="100"/>
              </a:xfrm>
              <a:prstGeom prst="rect">
                <a:avLst/>
              </a:prstGeom>
              <a:solidFill>
                <a:srgbClr val="C96B7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55" name="Rectangle 81">
                <a:extLst>
                  <a:ext uri="{FF2B5EF4-FFF2-40B4-BE49-F238E27FC236}">
                    <a16:creationId xmlns:a16="http://schemas.microsoft.com/office/drawing/2014/main" id="{BAFE64F2-A025-9F4E-99C9-ACC9BFF25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8" y="2537"/>
                <a:ext cx="156" cy="7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56" name="Rectangle 82">
                <a:extLst>
                  <a:ext uri="{FF2B5EF4-FFF2-40B4-BE49-F238E27FC236}">
                    <a16:creationId xmlns:a16="http://schemas.microsoft.com/office/drawing/2014/main" id="{3829DF34-8663-6146-9BA0-7632285CE6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3" y="2582"/>
                <a:ext cx="27" cy="27"/>
              </a:xfrm>
              <a:prstGeom prst="rect">
                <a:avLst/>
              </a:prstGeom>
              <a:solidFill>
                <a:srgbClr val="C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57" name="Rectangle 83">
                <a:extLst>
                  <a:ext uri="{FF2B5EF4-FFF2-40B4-BE49-F238E27FC236}">
                    <a16:creationId xmlns:a16="http://schemas.microsoft.com/office/drawing/2014/main" id="{D148D136-2E3F-5745-9E50-2A0525F6E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8" y="2583"/>
                <a:ext cx="26" cy="27"/>
              </a:xfrm>
              <a:prstGeom prst="rect">
                <a:avLst/>
              </a:prstGeom>
              <a:solidFill>
                <a:srgbClr val="C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61" name="Text Box 56">
              <a:extLst>
                <a:ext uri="{FF2B5EF4-FFF2-40B4-BE49-F238E27FC236}">
                  <a16:creationId xmlns:a16="http://schemas.microsoft.com/office/drawing/2014/main" id="{0AD3AB67-1B7A-DC4C-8CF0-ED4CE6AD67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1729" y="3720470"/>
              <a:ext cx="917575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socket</a:t>
              </a:r>
            </a:p>
          </p:txBody>
        </p:sp>
        <p:sp>
          <p:nvSpPr>
            <p:cNvPr id="162" name="Line 92">
              <a:extLst>
                <a:ext uri="{FF2B5EF4-FFF2-40B4-BE49-F238E27FC236}">
                  <a16:creationId xmlns:a16="http://schemas.microsoft.com/office/drawing/2014/main" id="{143E3CCF-902D-1B48-A226-00DCF5BF00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24779" y="3920495"/>
              <a:ext cx="968375" cy="434975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3" name="Line 93">
              <a:extLst>
                <a:ext uri="{FF2B5EF4-FFF2-40B4-BE49-F238E27FC236}">
                  <a16:creationId xmlns:a16="http://schemas.microsoft.com/office/drawing/2014/main" id="{C4134BE9-E71D-0348-B019-E892502C5F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359942" y="3909383"/>
              <a:ext cx="968375" cy="434975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64" name="Group 96">
            <a:extLst>
              <a:ext uri="{FF2B5EF4-FFF2-40B4-BE49-F238E27FC236}">
                <a16:creationId xmlns:a16="http://schemas.microsoft.com/office/drawing/2014/main" id="{9A6CA79B-4989-1B42-B637-EB423445684E}"/>
              </a:ext>
            </a:extLst>
          </p:cNvPr>
          <p:cNvGrpSpPr>
            <a:grpSpLocks/>
          </p:cNvGrpSpPr>
          <p:nvPr/>
        </p:nvGrpSpPr>
        <p:grpSpPr bwMode="auto">
          <a:xfrm>
            <a:off x="2214979" y="4974595"/>
            <a:ext cx="719138" cy="773113"/>
            <a:chOff x="-44" y="1473"/>
            <a:chExt cx="981" cy="1105"/>
          </a:xfrm>
        </p:grpSpPr>
        <p:pic>
          <p:nvPicPr>
            <p:cNvPr id="165" name="Picture 97" descr="desktop_computer_stylized_medium">
              <a:extLst>
                <a:ext uri="{FF2B5EF4-FFF2-40B4-BE49-F238E27FC236}">
                  <a16:creationId xmlns:a16="http://schemas.microsoft.com/office/drawing/2014/main" id="{52A0739D-A2B2-9B4C-808E-15A031326E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6" name="Freeform 98">
              <a:extLst>
                <a:ext uri="{FF2B5EF4-FFF2-40B4-BE49-F238E27FC236}">
                  <a16:creationId xmlns:a16="http://schemas.microsoft.com/office/drawing/2014/main" id="{DA46FEF0-4E21-2249-B7F5-7F6F7B7F0DE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67" name="Group 99">
            <a:extLst>
              <a:ext uri="{FF2B5EF4-FFF2-40B4-BE49-F238E27FC236}">
                <a16:creationId xmlns:a16="http://schemas.microsoft.com/office/drawing/2014/main" id="{05F61B1A-C7F7-544F-B009-739C54EFEA0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911054" y="5169858"/>
            <a:ext cx="719138" cy="773112"/>
            <a:chOff x="-44" y="1473"/>
            <a:chExt cx="981" cy="1105"/>
          </a:xfrm>
        </p:grpSpPr>
        <p:pic>
          <p:nvPicPr>
            <p:cNvPr id="168" name="Picture 100" descr="desktop_computer_stylized_medium">
              <a:extLst>
                <a:ext uri="{FF2B5EF4-FFF2-40B4-BE49-F238E27FC236}">
                  <a16:creationId xmlns:a16="http://schemas.microsoft.com/office/drawing/2014/main" id="{23181BD9-C2D1-5E4C-A8EE-29F5422B96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9" name="Freeform 101">
              <a:extLst>
                <a:ext uri="{FF2B5EF4-FFF2-40B4-BE49-F238E27FC236}">
                  <a16:creationId xmlns:a16="http://schemas.microsoft.com/office/drawing/2014/main" id="{2BA7DD97-C4EE-0C4B-B331-0E1CF367ECA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58" name="Slide Number Placeholder 2">
            <a:extLst>
              <a:ext uri="{FF2B5EF4-FFF2-40B4-BE49-F238E27FC236}">
                <a16:creationId xmlns:a16="http://schemas.microsoft.com/office/drawing/2014/main" id="{1C5A2542-7006-334B-B956-C24DF5F2D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70D8B2-BC03-7ADB-4D72-379493709C61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4052617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Socket programming </a:t>
            </a:r>
          </a:p>
        </p:txBody>
      </p:sp>
      <p:sp>
        <p:nvSpPr>
          <p:cNvPr id="58" name="Rectangle 3">
            <a:extLst>
              <a:ext uri="{FF2B5EF4-FFF2-40B4-BE49-F238E27FC236}">
                <a16:creationId xmlns:a16="http://schemas.microsoft.com/office/drawing/2014/main" id="{616F4545-210A-A74D-A31A-E4339596B3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199" y="1513591"/>
            <a:ext cx="10798277" cy="1742641"/>
          </a:xfrm>
        </p:spPr>
        <p:txBody>
          <a:bodyPr>
            <a:normAutofit/>
          </a:bodyPr>
          <a:lstStyle/>
          <a:p>
            <a:pPr marL="342900" lvl="1" indent="-342900">
              <a:buSzPct val="65000"/>
              <a:buFont typeface="Wingdings" pitchFamily="2" charset="2"/>
              <a:buNone/>
            </a:pPr>
            <a:r>
              <a:rPr lang="en-US" altLang="en-US" sz="3200" dirty="0">
                <a:solidFill>
                  <a:srgbClr val="22228B"/>
                </a:solidFill>
                <a:ea typeface="ＭＳ Ｐゴシック" panose="020B0600070205080204" pitchFamily="34" charset="-128"/>
              </a:rPr>
              <a:t>Two socket types for two transport services:</a:t>
            </a:r>
          </a:p>
          <a:p>
            <a:pPr marL="631825" lvl="1" indent="-457200">
              <a:buSzPct val="100000"/>
              <a:buFont typeface="Wingdings" pitchFamily="2" charset="2"/>
              <a:buChar char="§"/>
            </a:pPr>
            <a:r>
              <a:rPr lang="en-US" altLang="en-US" sz="32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UDP:</a:t>
            </a:r>
            <a:r>
              <a:rPr lang="en-US" altLang="en-US" sz="3200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sz="3200" dirty="0">
                <a:ea typeface="ＭＳ Ｐゴシック" panose="020B0600070205080204" pitchFamily="34" charset="-128"/>
              </a:rPr>
              <a:t>unreliable datagram </a:t>
            </a:r>
          </a:p>
          <a:p>
            <a:pPr marL="631825" lvl="1" indent="-457200">
              <a:buSzPct val="100000"/>
              <a:buFont typeface="Wingdings" pitchFamily="2" charset="2"/>
              <a:buChar char="§"/>
            </a:pPr>
            <a:r>
              <a:rPr lang="en-US" altLang="en-US" sz="32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TCP:</a:t>
            </a:r>
            <a:r>
              <a:rPr lang="en-US" altLang="en-US" sz="3200" dirty="0">
                <a:ea typeface="ＭＳ Ｐゴシック" panose="020B0600070205080204" pitchFamily="34" charset="-128"/>
              </a:rPr>
              <a:t> reliable, byte stream-oriented</a:t>
            </a:r>
            <a:endParaRPr lang="en-US" altLang="en-US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</p:txBody>
      </p:sp>
      <p:sp>
        <p:nvSpPr>
          <p:cNvPr id="59" name="Rectangle 3">
            <a:extLst>
              <a:ext uri="{FF2B5EF4-FFF2-40B4-BE49-F238E27FC236}">
                <a16:creationId xmlns:a16="http://schemas.microsoft.com/office/drawing/2014/main" id="{E8FBE9BD-5125-8341-AC98-0DB0D8C28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760" y="3291529"/>
            <a:ext cx="10798277" cy="3481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marR="0" lvl="1" indent="-34290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Application Example:</a:t>
            </a:r>
          </a:p>
          <a:p>
            <a:pPr marL="514350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ＭＳ Ｐゴシック" charset="0"/>
              </a:rPr>
              <a:t>client reads a line of characters (data) from its keyboard and sends data to server</a:t>
            </a:r>
          </a:p>
          <a:p>
            <a:pPr marL="514350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ＭＳ Ｐゴシック" charset="0"/>
              </a:rPr>
              <a:t>server receives the data and converts characters to uppercase</a:t>
            </a:r>
          </a:p>
          <a:p>
            <a:pPr marL="514350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ＭＳ Ｐゴシック" charset="0"/>
              </a:rPr>
              <a:t>server sends modified data to client</a:t>
            </a:r>
          </a:p>
          <a:p>
            <a:pPr marL="514350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ＭＳ Ｐゴシック" charset="0"/>
              </a:rPr>
              <a:t>client receives modified data and displays line on its screen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B86523E8-8571-1B4B-B7F3-5188B31687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07A2F6-09FE-5B51-EA38-112DA9ABF8D8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3762298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33" y="333288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Socket programming with UDP 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CF53D30-07DA-0041-8212-FA74FE4546A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714803" y="1318820"/>
            <a:ext cx="6363331" cy="4853335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en-US" altLang="en-US" sz="32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UDP: </a:t>
            </a:r>
            <a:r>
              <a:rPr lang="en-US" altLang="en-US" sz="3200" dirty="0">
                <a:solidFill>
                  <a:srgbClr val="0000A3"/>
                </a:solidFill>
                <a:ea typeface="ＭＳ Ｐゴシック" panose="020B0600070205080204" pitchFamily="34" charset="-128"/>
              </a:rPr>
              <a:t>no “</a:t>
            </a:r>
            <a:r>
              <a:rPr lang="en-US" altLang="ja-JP" sz="3200" dirty="0">
                <a:solidFill>
                  <a:srgbClr val="0000A3"/>
                </a:solidFill>
                <a:ea typeface="ＭＳ Ｐゴシック" panose="020B0600070205080204" pitchFamily="34" charset="-128"/>
              </a:rPr>
              <a:t>connection” between client and server:</a:t>
            </a:r>
          </a:p>
          <a:p>
            <a:pPr marL="466725" indent="-292100">
              <a:spcBef>
                <a:spcPts val="4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no handshaking before sending data</a:t>
            </a:r>
          </a:p>
          <a:p>
            <a:pPr marL="466725" indent="-292100">
              <a:spcBef>
                <a:spcPts val="4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sender explicitly attaches IP destination address and port # to each packet</a:t>
            </a:r>
          </a:p>
          <a:p>
            <a:pPr marL="466725" indent="-292100">
              <a:spcBef>
                <a:spcPts val="4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receiver extracts sender IP address and port# from received packet</a:t>
            </a: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0E341AE-C6C9-1C45-BF8F-D552077CBC01}"/>
              </a:ext>
            </a:extLst>
          </p:cNvPr>
          <p:cNvSpPr txBox="1">
            <a:spLocks noChangeArrowheads="1"/>
          </p:cNvSpPr>
          <p:nvPr/>
        </p:nvSpPr>
        <p:spPr>
          <a:xfrm>
            <a:off x="680936" y="4553087"/>
            <a:ext cx="10352496" cy="2177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UDP: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transmitted data may be lost or received out-of-order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 viewpoint:</a:t>
            </a:r>
          </a:p>
          <a:p>
            <a:pPr marL="466725" marR="0" lvl="0" indent="-2921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10086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UDP provides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unreliable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transfer  of groups of bytes (“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datagrams”)  between client and server processes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32626431-77B6-C54A-8DC7-1033C90BA8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C0DFD8-BDBA-147D-DD05-080249CD8266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498042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Client/server socket interaction: UDP</a:t>
            </a:r>
          </a:p>
        </p:txBody>
      </p:sp>
      <p:grpSp>
        <p:nvGrpSpPr>
          <p:cNvPr id="37" name="Group 4">
            <a:extLst>
              <a:ext uri="{FF2B5EF4-FFF2-40B4-BE49-F238E27FC236}">
                <a16:creationId xmlns:a16="http://schemas.microsoft.com/office/drawing/2014/main" id="{7F44DCB0-3AAB-534C-89CD-DB913DF09229}"/>
              </a:ext>
            </a:extLst>
          </p:cNvPr>
          <p:cNvGrpSpPr>
            <a:grpSpLocks/>
          </p:cNvGrpSpPr>
          <p:nvPr/>
        </p:nvGrpSpPr>
        <p:grpSpPr bwMode="auto">
          <a:xfrm>
            <a:off x="7008229" y="4140035"/>
            <a:ext cx="2211387" cy="2200275"/>
            <a:chOff x="3485" y="2494"/>
            <a:chExt cx="1393" cy="1386"/>
          </a:xfrm>
        </p:grpSpPr>
        <p:grpSp>
          <p:nvGrpSpPr>
            <p:cNvPr id="38" name="Group 5">
              <a:extLst>
                <a:ext uri="{FF2B5EF4-FFF2-40B4-BE49-F238E27FC236}">
                  <a16:creationId xmlns:a16="http://schemas.microsoft.com/office/drawing/2014/main" id="{702C97B7-DA60-0149-85AB-47F1FE0F7F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85" y="2964"/>
              <a:ext cx="1393" cy="916"/>
              <a:chOff x="3485" y="2964"/>
              <a:chExt cx="1393" cy="916"/>
            </a:xfrm>
          </p:grpSpPr>
          <p:sp>
            <p:nvSpPr>
              <p:cNvPr id="40" name="Text Box 6">
                <a:extLst>
                  <a:ext uri="{FF2B5EF4-FFF2-40B4-BE49-F238E27FC236}">
                    <a16:creationId xmlns:a16="http://schemas.microsoft.com/office/drawing/2014/main" id="{ACD138B3-6FD3-074F-B4D6-833745FCB1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9" y="3473"/>
                <a:ext cx="900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close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clientSocke</a:t>
                </a: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t</a:t>
                </a: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" name="Line 7">
                <a:extLst>
                  <a:ext uri="{FF2B5EF4-FFF2-40B4-BE49-F238E27FC236}">
                    <a16:creationId xmlns:a16="http://schemas.microsoft.com/office/drawing/2014/main" id="{4F1734AF-E8AC-FE4D-A9A8-4AF1B202B4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7" y="3335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" name="Text Box 8">
                <a:extLst>
                  <a:ext uri="{FF2B5EF4-FFF2-40B4-BE49-F238E27FC236}">
                    <a16:creationId xmlns:a16="http://schemas.microsoft.com/office/drawing/2014/main" id="{81054262-2955-D24D-A204-BF36CA6FD4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85" y="2964"/>
                <a:ext cx="139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read datagram from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clientSocket</a:t>
                </a: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9" name="Line 9">
              <a:extLst>
                <a:ext uri="{FF2B5EF4-FFF2-40B4-BE49-F238E27FC236}">
                  <a16:creationId xmlns:a16="http://schemas.microsoft.com/office/drawing/2014/main" id="{FC178652-3FBA-1743-A65B-D82CC0E63C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4" y="2494"/>
              <a:ext cx="0" cy="522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5" name="Text Box 14">
            <a:extLst>
              <a:ext uri="{FF2B5EF4-FFF2-40B4-BE49-F238E27FC236}">
                <a16:creationId xmlns:a16="http://schemas.microsoft.com/office/drawing/2014/main" id="{9FDD06E3-D412-AA43-B8B8-10BB6577E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5392" y="1480972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CA67099-9B1F-AF4B-AADB-081B7A2FC10D}"/>
              </a:ext>
            </a:extLst>
          </p:cNvPr>
          <p:cNvGrpSpPr/>
          <p:nvPr/>
        </p:nvGrpSpPr>
        <p:grpSpPr>
          <a:xfrm>
            <a:off x="6878054" y="2115972"/>
            <a:ext cx="4198939" cy="2055813"/>
            <a:chOff x="6878054" y="2115972"/>
            <a:chExt cx="4198939" cy="2055813"/>
          </a:xfrm>
        </p:grpSpPr>
        <p:grpSp>
          <p:nvGrpSpPr>
            <p:cNvPr id="44" name="Group 11">
              <a:extLst>
                <a:ext uri="{FF2B5EF4-FFF2-40B4-BE49-F238E27FC236}">
                  <a16:creationId xmlns:a16="http://schemas.microsoft.com/office/drawing/2014/main" id="{798733F7-216A-784C-9688-7517E2CC98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90754" y="2115972"/>
              <a:ext cx="3635376" cy="971550"/>
              <a:chOff x="3241" y="1750"/>
              <a:chExt cx="2290" cy="612"/>
            </a:xfrm>
          </p:grpSpPr>
          <p:sp>
            <p:nvSpPr>
              <p:cNvPr id="49" name="Text Box 12">
                <a:extLst>
                  <a:ext uri="{FF2B5EF4-FFF2-40B4-BE49-F238E27FC236}">
                    <a16:creationId xmlns:a16="http://schemas.microsoft.com/office/drawing/2014/main" id="{4BB2271A-4FFC-8048-A612-7E12F9F50E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41" y="1750"/>
                <a:ext cx="1021" cy="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create socket: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0" name="Text Box 13">
                <a:extLst>
                  <a:ext uri="{FF2B5EF4-FFF2-40B4-BE49-F238E27FC236}">
                    <a16:creationId xmlns:a16="http://schemas.microsoft.com/office/drawing/2014/main" id="{277D84D0-CE11-2846-B401-8AB4D0BF51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41" y="1944"/>
                <a:ext cx="2290" cy="4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ts val="2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clientSocket =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ts val="2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socket(AF_INET,SOCK_DGRAM)</a:t>
                </a: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6" name="Text Box 15">
              <a:extLst>
                <a:ext uri="{FF2B5EF4-FFF2-40B4-BE49-F238E27FC236}">
                  <a16:creationId xmlns:a16="http://schemas.microsoft.com/office/drawing/2014/main" id="{97D964F3-BC0D-9344-837B-2B0BF990E4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78054" y="3247860"/>
              <a:ext cx="4198939" cy="923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Create datagram with serverIP address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And port=x; send datagram via</a:t>
              </a:r>
              <a:b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</a:b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clientSocket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7" name="Line 16">
              <a:extLst>
                <a:ext uri="{FF2B5EF4-FFF2-40B4-BE49-F238E27FC236}">
                  <a16:creationId xmlns:a16="http://schemas.microsoft.com/office/drawing/2014/main" id="{7EC03F56-353B-7E42-A0A2-334C1287EA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74967" y="3052597"/>
              <a:ext cx="0" cy="32385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8" name="Line 17">
            <a:extLst>
              <a:ext uri="{FF2B5EF4-FFF2-40B4-BE49-F238E27FC236}">
                <a16:creationId xmlns:a16="http://schemas.microsoft.com/office/drawing/2014/main" id="{40634A1C-2FFB-FC4C-80CE-D90FD19221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98391" y="3652672"/>
            <a:ext cx="2409826" cy="4000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1" name="Text Box 18">
            <a:extLst>
              <a:ext uri="{FF2B5EF4-FFF2-40B4-BE49-F238E27FC236}">
                <a16:creationId xmlns:a16="http://schemas.microsoft.com/office/drawing/2014/main" id="{C819A4BA-113E-964D-96AD-ED683094A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8754" y="2335047"/>
            <a:ext cx="24622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create socket, port= x:</a:t>
            </a: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2" name="Text Box 19">
            <a:extLst>
              <a:ext uri="{FF2B5EF4-FFF2-40B4-BE49-F238E27FC236}">
                <a16:creationId xmlns:a16="http://schemas.microsoft.com/office/drawing/2014/main" id="{E75AC30B-2B60-9B49-9BC6-1121B1556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1454" y="2630322"/>
            <a:ext cx="3635375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serverSocket =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socket(AF_INET,SOCK_DGRAM)</a:t>
            </a: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3" name="Group 20">
            <a:extLst>
              <a:ext uri="{FF2B5EF4-FFF2-40B4-BE49-F238E27FC236}">
                <a16:creationId xmlns:a16="http://schemas.microsoft.com/office/drawing/2014/main" id="{105B53F6-4E11-9B4F-83AD-A12D7B45002E}"/>
              </a:ext>
            </a:extLst>
          </p:cNvPr>
          <p:cNvGrpSpPr>
            <a:grpSpLocks/>
          </p:cNvGrpSpPr>
          <p:nvPr/>
        </p:nvGrpSpPr>
        <p:grpSpPr bwMode="auto">
          <a:xfrm>
            <a:off x="2344154" y="3293897"/>
            <a:ext cx="2211387" cy="1109663"/>
            <a:chOff x="589" y="1982"/>
            <a:chExt cx="1393" cy="699"/>
          </a:xfrm>
        </p:grpSpPr>
        <p:sp>
          <p:nvSpPr>
            <p:cNvPr id="54" name="Line 21">
              <a:extLst>
                <a:ext uri="{FF2B5EF4-FFF2-40B4-BE49-F238E27FC236}">
                  <a16:creationId xmlns:a16="http://schemas.microsoft.com/office/drawing/2014/main" id="{2DB889B3-B55C-E94B-B323-72AECF179D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6" y="1982"/>
              <a:ext cx="0" cy="366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" name="Text Box 22">
              <a:extLst>
                <a:ext uri="{FF2B5EF4-FFF2-40B4-BE49-F238E27FC236}">
                  <a16:creationId xmlns:a16="http://schemas.microsoft.com/office/drawing/2014/main" id="{9FE4B9D3-FE8A-7E4C-8E08-01C28E8102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" y="2274"/>
              <a:ext cx="1393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read datagram from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serverSocke</a:t>
              </a: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6" name="Group 23">
            <a:extLst>
              <a:ext uri="{FF2B5EF4-FFF2-40B4-BE49-F238E27FC236}">
                <a16:creationId xmlns:a16="http://schemas.microsoft.com/office/drawing/2014/main" id="{6729A767-0894-134A-B58D-6CE959F3ABBB}"/>
              </a:ext>
            </a:extLst>
          </p:cNvPr>
          <p:cNvGrpSpPr>
            <a:grpSpLocks/>
          </p:cNvGrpSpPr>
          <p:nvPr/>
        </p:nvGrpSpPr>
        <p:grpSpPr bwMode="auto">
          <a:xfrm>
            <a:off x="2607679" y="4405147"/>
            <a:ext cx="4202112" cy="1698625"/>
            <a:chOff x="755" y="2696"/>
            <a:chExt cx="2647" cy="1070"/>
          </a:xfrm>
        </p:grpSpPr>
        <p:sp>
          <p:nvSpPr>
            <p:cNvPr id="57" name="Text Box 24">
              <a:extLst>
                <a:ext uri="{FF2B5EF4-FFF2-40B4-BE49-F238E27FC236}">
                  <a16:creationId xmlns:a16="http://schemas.microsoft.com/office/drawing/2014/main" id="{45FE834E-F5E7-9341-B57D-B054DC6E28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5" y="2835"/>
              <a:ext cx="1062" cy="9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write reply to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serverSocket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specifying </a:t>
              </a:r>
              <a:b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</a:b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client address,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port number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8" name="Line 25">
              <a:extLst>
                <a:ext uri="{FF2B5EF4-FFF2-40B4-BE49-F238E27FC236}">
                  <a16:creationId xmlns:a16="http://schemas.microsoft.com/office/drawing/2014/main" id="{77A2D0F4-2C33-7B48-B528-6DAF87636F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8" y="2696"/>
              <a:ext cx="0" cy="198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9" name="Line 26">
              <a:extLst>
                <a:ext uri="{FF2B5EF4-FFF2-40B4-BE49-F238E27FC236}">
                  <a16:creationId xmlns:a16="http://schemas.microsoft.com/office/drawing/2014/main" id="{77CA0ACB-6768-D649-A01B-D103D4E2B5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6" y="2970"/>
              <a:ext cx="1536" cy="18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60" name="Text Box 22">
            <a:extLst>
              <a:ext uri="{FF2B5EF4-FFF2-40B4-BE49-F238E27FC236}">
                <a16:creationId xmlns:a16="http://schemas.microsoft.com/office/drawing/2014/main" id="{BA5A099E-C76D-334B-B273-AED0342E4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6195" y="1465007"/>
            <a:ext cx="328609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server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(running on serverIP)</a:t>
            </a:r>
          </a:p>
        </p:txBody>
      </p:sp>
      <p:sp>
        <p:nvSpPr>
          <p:cNvPr id="61" name="Text Box 23">
            <a:extLst>
              <a:ext uri="{FF2B5EF4-FFF2-40B4-BE49-F238E27FC236}">
                <a16:creationId xmlns:a16="http://schemas.microsoft.com/office/drawing/2014/main" id="{2C0B647E-1C2C-574A-86D4-A8DBF2427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0313" y="1416392"/>
            <a:ext cx="110100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</a:t>
            </a:r>
          </a:p>
        </p:txBody>
      </p:sp>
      <p:grpSp>
        <p:nvGrpSpPr>
          <p:cNvPr id="64" name="Group 34">
            <a:extLst>
              <a:ext uri="{FF2B5EF4-FFF2-40B4-BE49-F238E27FC236}">
                <a16:creationId xmlns:a16="http://schemas.microsoft.com/office/drawing/2014/main" id="{B18363F5-9DA8-C844-9FF5-8607E23ECAE0}"/>
              </a:ext>
            </a:extLst>
          </p:cNvPr>
          <p:cNvGrpSpPr>
            <a:grpSpLocks/>
          </p:cNvGrpSpPr>
          <p:nvPr/>
        </p:nvGrpSpPr>
        <p:grpSpPr bwMode="auto">
          <a:xfrm>
            <a:off x="1534349" y="1399326"/>
            <a:ext cx="422275" cy="685800"/>
            <a:chOff x="4140" y="429"/>
            <a:chExt cx="1425" cy="2396"/>
          </a:xfrm>
        </p:grpSpPr>
        <p:sp>
          <p:nvSpPr>
            <p:cNvPr id="65" name="Freeform 35">
              <a:extLst>
                <a:ext uri="{FF2B5EF4-FFF2-40B4-BE49-F238E27FC236}">
                  <a16:creationId xmlns:a16="http://schemas.microsoft.com/office/drawing/2014/main" id="{0528A8CB-65E5-964D-B654-85E03FD18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Rectangle 36">
              <a:extLst>
                <a:ext uri="{FF2B5EF4-FFF2-40B4-BE49-F238E27FC236}">
                  <a16:creationId xmlns:a16="http://schemas.microsoft.com/office/drawing/2014/main" id="{6E84855E-322D-B04A-A7A9-4DC033725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0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7" name="Freeform 37">
              <a:extLst>
                <a:ext uri="{FF2B5EF4-FFF2-40B4-BE49-F238E27FC236}">
                  <a16:creationId xmlns:a16="http://schemas.microsoft.com/office/drawing/2014/main" id="{0DE429C7-30A9-C04A-A526-765AC5EAA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Freeform 38">
              <a:extLst>
                <a:ext uri="{FF2B5EF4-FFF2-40B4-BE49-F238E27FC236}">
                  <a16:creationId xmlns:a16="http://schemas.microsoft.com/office/drawing/2014/main" id="{DF53DCF7-7CCE-A14D-89D6-6AAAE8C14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Rectangle 39">
              <a:extLst>
                <a:ext uri="{FF2B5EF4-FFF2-40B4-BE49-F238E27FC236}">
                  <a16:creationId xmlns:a16="http://schemas.microsoft.com/office/drawing/2014/main" id="{FCF7FE3C-7CB1-1949-80FD-5DEB7C2DF8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5"/>
              <a:ext cx="600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0" name="Group 40">
              <a:extLst>
                <a:ext uri="{FF2B5EF4-FFF2-40B4-BE49-F238E27FC236}">
                  <a16:creationId xmlns:a16="http://schemas.microsoft.com/office/drawing/2014/main" id="{9EA93011-9988-1C46-8FFD-C704F4A48C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5" name="AutoShape 41">
                <a:extLst>
                  <a:ext uri="{FF2B5EF4-FFF2-40B4-BE49-F238E27FC236}">
                    <a16:creationId xmlns:a16="http://schemas.microsoft.com/office/drawing/2014/main" id="{79ABB3C1-EE56-6F45-9499-45BC801291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6" name="AutoShape 42">
                <a:extLst>
                  <a:ext uri="{FF2B5EF4-FFF2-40B4-BE49-F238E27FC236}">
                    <a16:creationId xmlns:a16="http://schemas.microsoft.com/office/drawing/2014/main" id="{3CE416CE-22C1-B44C-A8BC-DD8D49FA1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1" name="Rectangle 43">
              <a:extLst>
                <a:ext uri="{FF2B5EF4-FFF2-40B4-BE49-F238E27FC236}">
                  <a16:creationId xmlns:a16="http://schemas.microsoft.com/office/drawing/2014/main" id="{E9AF4519-635B-C444-AD0B-889732CA4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17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2" name="Group 44">
              <a:extLst>
                <a:ext uri="{FF2B5EF4-FFF2-40B4-BE49-F238E27FC236}">
                  <a16:creationId xmlns:a16="http://schemas.microsoft.com/office/drawing/2014/main" id="{AE3F7048-2B7F-8146-8234-207ED13E90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3" name="AutoShape 45">
                <a:extLst>
                  <a:ext uri="{FF2B5EF4-FFF2-40B4-BE49-F238E27FC236}">
                    <a16:creationId xmlns:a16="http://schemas.microsoft.com/office/drawing/2014/main" id="{53908CFC-D723-4742-8456-2D30C66E35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9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4" name="AutoShape 46">
                <a:extLst>
                  <a:ext uri="{FF2B5EF4-FFF2-40B4-BE49-F238E27FC236}">
                    <a16:creationId xmlns:a16="http://schemas.microsoft.com/office/drawing/2014/main" id="{3A7947BE-FF10-9D41-9767-56A9F87FC3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3" name="Rectangle 47">
              <a:extLst>
                <a:ext uri="{FF2B5EF4-FFF2-40B4-BE49-F238E27FC236}">
                  <a16:creationId xmlns:a16="http://schemas.microsoft.com/office/drawing/2014/main" id="{A116F8BE-CE6D-0046-BBDF-ED91EC563C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Rectangle 48">
              <a:extLst>
                <a:ext uri="{FF2B5EF4-FFF2-40B4-BE49-F238E27FC236}">
                  <a16:creationId xmlns:a16="http://schemas.microsoft.com/office/drawing/2014/main" id="{EDDDAA43-84E9-5649-B997-CD32383C8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5" name="Group 49">
              <a:extLst>
                <a:ext uri="{FF2B5EF4-FFF2-40B4-BE49-F238E27FC236}">
                  <a16:creationId xmlns:a16="http://schemas.microsoft.com/office/drawing/2014/main" id="{ED22CCB4-0F75-C14E-8FF6-F0FB9D3FC9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1" name="AutoShape 50">
                <a:extLst>
                  <a:ext uri="{FF2B5EF4-FFF2-40B4-BE49-F238E27FC236}">
                    <a16:creationId xmlns:a16="http://schemas.microsoft.com/office/drawing/2014/main" id="{23A963E3-E563-8243-8CD5-AD41B731D0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2" name="AutoShape 51">
                <a:extLst>
                  <a:ext uri="{FF2B5EF4-FFF2-40B4-BE49-F238E27FC236}">
                    <a16:creationId xmlns:a16="http://schemas.microsoft.com/office/drawing/2014/main" id="{3CDFE710-0763-8B45-AFC8-16BE12CABF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6" name="Freeform 52">
              <a:extLst>
                <a:ext uri="{FF2B5EF4-FFF2-40B4-BE49-F238E27FC236}">
                  <a16:creationId xmlns:a16="http://schemas.microsoft.com/office/drawing/2014/main" id="{DFF03B02-CD58-954F-8277-362C27F82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7" name="Group 53">
              <a:extLst>
                <a:ext uri="{FF2B5EF4-FFF2-40B4-BE49-F238E27FC236}">
                  <a16:creationId xmlns:a16="http://schemas.microsoft.com/office/drawing/2014/main" id="{3E689C5E-F98B-8049-943E-5C1ACD1083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9" name="AutoShape 54">
                <a:extLst>
                  <a:ext uri="{FF2B5EF4-FFF2-40B4-BE49-F238E27FC236}">
                    <a16:creationId xmlns:a16="http://schemas.microsoft.com/office/drawing/2014/main" id="{6761E2B1-103D-4445-A2AE-88446D262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0" name="AutoShape 55">
                <a:extLst>
                  <a:ext uri="{FF2B5EF4-FFF2-40B4-BE49-F238E27FC236}">
                    <a16:creationId xmlns:a16="http://schemas.microsoft.com/office/drawing/2014/main" id="{EAB91C60-8F54-7C41-988D-5BE6CF0595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5"/>
                <a:ext cx="687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8" name="Rectangle 56">
              <a:extLst>
                <a:ext uri="{FF2B5EF4-FFF2-40B4-BE49-F238E27FC236}">
                  <a16:creationId xmlns:a16="http://schemas.microsoft.com/office/drawing/2014/main" id="{87AAEB8B-15DB-FF40-9AE1-E4AF827B8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70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Freeform 57">
              <a:extLst>
                <a:ext uri="{FF2B5EF4-FFF2-40B4-BE49-F238E27FC236}">
                  <a16:creationId xmlns:a16="http://schemas.microsoft.com/office/drawing/2014/main" id="{CC9C0288-5815-DA49-8C3D-91F3048A63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 58">
              <a:extLst>
                <a:ext uri="{FF2B5EF4-FFF2-40B4-BE49-F238E27FC236}">
                  <a16:creationId xmlns:a16="http://schemas.microsoft.com/office/drawing/2014/main" id="{298D6A78-AAD4-6C42-8184-6B5B0ADD7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Oval 59">
              <a:extLst>
                <a:ext uri="{FF2B5EF4-FFF2-40B4-BE49-F238E27FC236}">
                  <a16:creationId xmlns:a16="http://schemas.microsoft.com/office/drawing/2014/main" id="{2C2ADEA9-27C8-8047-B295-9313B8ABB6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09"/>
              <a:ext cx="48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2" name="Freeform 60">
              <a:extLst>
                <a:ext uri="{FF2B5EF4-FFF2-40B4-BE49-F238E27FC236}">
                  <a16:creationId xmlns:a16="http://schemas.microsoft.com/office/drawing/2014/main" id="{9CAEC79C-34C3-884C-93EA-251A84F706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AutoShape 61">
              <a:extLst>
                <a:ext uri="{FF2B5EF4-FFF2-40B4-BE49-F238E27FC236}">
                  <a16:creationId xmlns:a16="http://schemas.microsoft.com/office/drawing/2014/main" id="{36B22FB8-29CC-B041-B349-ADB1A1CF0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4" name="AutoShape 62">
              <a:extLst>
                <a:ext uri="{FF2B5EF4-FFF2-40B4-BE49-F238E27FC236}">
                  <a16:creationId xmlns:a16="http://schemas.microsoft.com/office/drawing/2014/main" id="{A568E896-D157-6749-8B5C-38036DCDA9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9"/>
              <a:ext cx="1071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5" name="Oval 63">
              <a:extLst>
                <a:ext uri="{FF2B5EF4-FFF2-40B4-BE49-F238E27FC236}">
                  <a16:creationId xmlns:a16="http://schemas.microsoft.com/office/drawing/2014/main" id="{76E67DE4-8580-984E-96DB-32AA41DD13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1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Oval 64">
              <a:extLst>
                <a:ext uri="{FF2B5EF4-FFF2-40B4-BE49-F238E27FC236}">
                  <a16:creationId xmlns:a16="http://schemas.microsoft.com/office/drawing/2014/main" id="{B85D964A-BC7F-0243-8B3C-55498AEBC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1"/>
              <a:ext cx="155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87" name="Oval 65">
              <a:extLst>
                <a:ext uri="{FF2B5EF4-FFF2-40B4-BE49-F238E27FC236}">
                  <a16:creationId xmlns:a16="http://schemas.microsoft.com/office/drawing/2014/main" id="{1023622E-7290-DB4F-BDFC-4AE5806C35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1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8" name="Rectangle 66">
              <a:extLst>
                <a:ext uri="{FF2B5EF4-FFF2-40B4-BE49-F238E27FC236}">
                  <a16:creationId xmlns:a16="http://schemas.microsoft.com/office/drawing/2014/main" id="{C404F913-10F9-264F-B4B2-2C47E82E0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6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97" name="Group 67">
            <a:extLst>
              <a:ext uri="{FF2B5EF4-FFF2-40B4-BE49-F238E27FC236}">
                <a16:creationId xmlns:a16="http://schemas.microsoft.com/office/drawing/2014/main" id="{CED85610-CD29-5E4F-BB21-F275B7666450}"/>
              </a:ext>
            </a:extLst>
          </p:cNvPr>
          <p:cNvGrpSpPr>
            <a:grpSpLocks/>
          </p:cNvGrpSpPr>
          <p:nvPr/>
        </p:nvGrpSpPr>
        <p:grpSpPr bwMode="auto">
          <a:xfrm>
            <a:off x="7841666" y="1346443"/>
            <a:ext cx="742950" cy="742950"/>
            <a:chOff x="-44" y="1473"/>
            <a:chExt cx="981" cy="1105"/>
          </a:xfrm>
        </p:grpSpPr>
        <p:pic>
          <p:nvPicPr>
            <p:cNvPr id="98" name="Picture 68" descr="desktop_computer_stylized_medium">
              <a:extLst>
                <a:ext uri="{FF2B5EF4-FFF2-40B4-BE49-F238E27FC236}">
                  <a16:creationId xmlns:a16="http://schemas.microsoft.com/office/drawing/2014/main" id="{1830ACA4-0FBE-1142-BE23-D05178A5FE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9" name="Freeform 69">
              <a:extLst>
                <a:ext uri="{FF2B5EF4-FFF2-40B4-BE49-F238E27FC236}">
                  <a16:creationId xmlns:a16="http://schemas.microsoft.com/office/drawing/2014/main" id="{E76D0C82-A009-EE46-B2AF-9D042C9D0FC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0" name="Slide Number Placeholder 2">
            <a:extLst>
              <a:ext uri="{FF2B5EF4-FFF2-40B4-BE49-F238E27FC236}">
                <a16:creationId xmlns:a16="http://schemas.microsoft.com/office/drawing/2014/main" id="{AC47B214-54CF-3041-98BF-A73AC365F8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5262BF-8746-DA22-B9F4-7F0AB164CADF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1432250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4400" dirty="0">
                <a:solidFill>
                  <a:srgbClr val="000099"/>
                </a:solidFill>
                <a:ea typeface="ＭＳ Ｐゴシック" panose="020B0600070205080204" pitchFamily="34" charset="-128"/>
                <a:cs typeface="+mn-cs"/>
              </a:rPr>
              <a:t>Example app: UDP client</a:t>
            </a:r>
            <a:endParaRPr lang="en-US" altLang="en-US" sz="5400" dirty="0">
              <a:solidFill>
                <a:srgbClr val="000099"/>
              </a:solidFill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0" name="TextBox 1">
            <a:extLst>
              <a:ext uri="{FF2B5EF4-FFF2-40B4-BE49-F238E27FC236}">
                <a16:creationId xmlns:a16="http://schemas.microsoft.com/office/drawing/2014/main" id="{536333E5-2CE2-9346-82C1-DACAC29464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4044" y="1906313"/>
            <a:ext cx="5889754" cy="4267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from socket import *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serverName = 'hostname'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serverPort = 12000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clientSocket = socket(AF_INET, 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                              SOCK_DGRAM)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message = input('Input lowercase sentence:')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clientSocket.sendto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(message.encode(),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                                 (serverName, serverPort))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modifiedMessage, serverAddress = 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                              clientSocket.recvfrom(2048)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print(modifiedMessage.decode())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clientSocket.close()</a:t>
            </a:r>
          </a:p>
        </p:txBody>
      </p:sp>
      <p:sp>
        <p:nvSpPr>
          <p:cNvPr id="101" name="TextBox 2">
            <a:extLst>
              <a:ext uri="{FF2B5EF4-FFF2-40B4-BE49-F238E27FC236}">
                <a16:creationId xmlns:a16="http://schemas.microsoft.com/office/drawing/2014/main" id="{71D41B91-E8C8-6145-A56E-4FC2D52EA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6744" y="1423713"/>
            <a:ext cx="27416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Python UDPClient</a:t>
            </a:r>
          </a:p>
        </p:txBody>
      </p:sp>
      <p:grpSp>
        <p:nvGrpSpPr>
          <p:cNvPr id="102" name="Group 46">
            <a:extLst>
              <a:ext uri="{FF2B5EF4-FFF2-40B4-BE49-F238E27FC236}">
                <a16:creationId xmlns:a16="http://schemas.microsoft.com/office/drawing/2014/main" id="{F406A622-9128-8442-A93C-56AFB56A7A29}"/>
              </a:ext>
            </a:extLst>
          </p:cNvPr>
          <p:cNvGrpSpPr>
            <a:grpSpLocks/>
          </p:cNvGrpSpPr>
          <p:nvPr/>
        </p:nvGrpSpPr>
        <p:grpSpPr bwMode="auto">
          <a:xfrm>
            <a:off x="2456662" y="1963666"/>
            <a:ext cx="3023734" cy="297517"/>
            <a:chOff x="-242132" y="1766968"/>
            <a:chExt cx="3023579" cy="298280"/>
          </a:xfrm>
        </p:grpSpPr>
        <p:sp>
          <p:nvSpPr>
            <p:cNvPr id="103" name="TextBox 3">
              <a:extLst>
                <a:ext uri="{FF2B5EF4-FFF2-40B4-BE49-F238E27FC236}">
                  <a16:creationId xmlns:a16="http://schemas.microsoft.com/office/drawing/2014/main" id="{12DA0434-01DE-E046-B7D5-1EDBB8B2D0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42132" y="1766968"/>
              <a:ext cx="3023579" cy="298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include Python’s socket library</a:t>
              </a:r>
            </a:p>
          </p:txBody>
        </p:sp>
        <p:cxnSp>
          <p:nvCxnSpPr>
            <p:cNvPr id="104" name="Straight Connector 10">
              <a:extLst>
                <a:ext uri="{FF2B5EF4-FFF2-40B4-BE49-F238E27FC236}">
                  <a16:creationId xmlns:a16="http://schemas.microsoft.com/office/drawing/2014/main" id="{3C3F6D39-A2A8-4349-A503-867255F17A1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09371" y="1930400"/>
              <a:ext cx="370329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5" name="Group 47">
            <a:extLst>
              <a:ext uri="{FF2B5EF4-FFF2-40B4-BE49-F238E27FC236}">
                <a16:creationId xmlns:a16="http://schemas.microsoft.com/office/drawing/2014/main" id="{0A55EB29-DB79-7645-BE78-7EACF4B9A12B}"/>
              </a:ext>
            </a:extLst>
          </p:cNvPr>
          <p:cNvGrpSpPr>
            <a:grpSpLocks/>
          </p:cNvGrpSpPr>
          <p:nvPr/>
        </p:nvGrpSpPr>
        <p:grpSpPr bwMode="auto">
          <a:xfrm>
            <a:off x="3344907" y="2997131"/>
            <a:ext cx="2943680" cy="307777"/>
            <a:chOff x="1211823" y="2904386"/>
            <a:chExt cx="2271818" cy="307392"/>
          </a:xfrm>
        </p:grpSpPr>
        <p:sp>
          <p:nvSpPr>
            <p:cNvPr id="106" name="TextBox 31">
              <a:extLst>
                <a:ext uri="{FF2B5EF4-FFF2-40B4-BE49-F238E27FC236}">
                  <a16:creationId xmlns:a16="http://schemas.microsoft.com/office/drawing/2014/main" id="{75D75C6C-85BB-3C40-92D3-8502CEABFB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1823" y="2904386"/>
              <a:ext cx="2271818" cy="307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create UDP socket</a:t>
              </a:r>
            </a:p>
          </p:txBody>
        </p:sp>
        <p:cxnSp>
          <p:nvCxnSpPr>
            <p:cNvPr id="107" name="Straight Connector 32">
              <a:extLst>
                <a:ext uri="{FF2B5EF4-FFF2-40B4-BE49-F238E27FC236}">
                  <a16:creationId xmlns:a16="http://schemas.microsoft.com/office/drawing/2014/main" id="{DCDED167-6BDC-964B-B56B-76A2BB37206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488965" y="3080272"/>
              <a:ext cx="288707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8" name="Group 48">
            <a:extLst>
              <a:ext uri="{FF2B5EF4-FFF2-40B4-BE49-F238E27FC236}">
                <a16:creationId xmlns:a16="http://schemas.microsoft.com/office/drawing/2014/main" id="{25E66BBE-B082-AC48-AE42-0CA9F6FF4A7B}"/>
              </a:ext>
            </a:extLst>
          </p:cNvPr>
          <p:cNvGrpSpPr>
            <a:grpSpLocks/>
          </p:cNvGrpSpPr>
          <p:nvPr/>
        </p:nvGrpSpPr>
        <p:grpSpPr bwMode="auto">
          <a:xfrm>
            <a:off x="2988803" y="3664103"/>
            <a:ext cx="2943680" cy="297517"/>
            <a:chOff x="320502" y="3822598"/>
            <a:chExt cx="2944213" cy="297415"/>
          </a:xfrm>
        </p:grpSpPr>
        <p:sp>
          <p:nvSpPr>
            <p:cNvPr id="109" name="TextBox 34">
              <a:extLst>
                <a:ext uri="{FF2B5EF4-FFF2-40B4-BE49-F238E27FC236}">
                  <a16:creationId xmlns:a16="http://schemas.microsoft.com/office/drawing/2014/main" id="{CD0C6081-C6B7-2641-80D1-E2DED8EB5B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502" y="3822598"/>
              <a:ext cx="2944213" cy="2974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get user keyboard input </a:t>
              </a:r>
            </a:p>
          </p:txBody>
        </p:sp>
        <p:cxnSp>
          <p:nvCxnSpPr>
            <p:cNvPr id="110" name="Straight Connector 35">
              <a:extLst>
                <a:ext uri="{FF2B5EF4-FFF2-40B4-BE49-F238E27FC236}">
                  <a16:creationId xmlns:a16="http://schemas.microsoft.com/office/drawing/2014/main" id="{A49CAC45-33DD-284A-9C51-3E8086DB4A3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40360" y="3968752"/>
              <a:ext cx="381069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1" name="Group 49">
            <a:extLst>
              <a:ext uri="{FF2B5EF4-FFF2-40B4-BE49-F238E27FC236}">
                <a16:creationId xmlns:a16="http://schemas.microsoft.com/office/drawing/2014/main" id="{48C468B7-1DC1-CB4A-8733-4EA18F6E3330}"/>
              </a:ext>
            </a:extLst>
          </p:cNvPr>
          <p:cNvGrpSpPr>
            <a:grpSpLocks/>
          </p:cNvGrpSpPr>
          <p:nvPr/>
        </p:nvGrpSpPr>
        <p:grpSpPr bwMode="auto">
          <a:xfrm>
            <a:off x="589926" y="4010877"/>
            <a:ext cx="4778572" cy="307777"/>
            <a:chOff x="-2057015" y="4094341"/>
            <a:chExt cx="4779099" cy="307008"/>
          </a:xfrm>
        </p:grpSpPr>
        <p:sp>
          <p:nvSpPr>
            <p:cNvPr id="112" name="TextBox 36">
              <a:extLst>
                <a:ext uri="{FF2B5EF4-FFF2-40B4-BE49-F238E27FC236}">
                  <a16:creationId xmlns:a16="http://schemas.microsoft.com/office/drawing/2014/main" id="{829D5E68-A72B-B34D-8934-6A58024541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057015" y="4094341"/>
              <a:ext cx="4723287" cy="307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attach server name, port to message; send into socket</a:t>
              </a:r>
            </a:p>
          </p:txBody>
        </p:sp>
        <p:cxnSp>
          <p:nvCxnSpPr>
            <p:cNvPr id="113" name="Straight Connector 39">
              <a:extLst>
                <a:ext uri="{FF2B5EF4-FFF2-40B4-BE49-F238E27FC236}">
                  <a16:creationId xmlns:a16="http://schemas.microsoft.com/office/drawing/2014/main" id="{B03E6B6D-23CC-9947-A802-0FCAD6FEFCE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360668" y="4261938"/>
              <a:ext cx="361416" cy="557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4" name="Group 55">
            <a:extLst>
              <a:ext uri="{FF2B5EF4-FFF2-40B4-BE49-F238E27FC236}">
                <a16:creationId xmlns:a16="http://schemas.microsoft.com/office/drawing/2014/main" id="{D3297448-7869-B14A-9507-C168A822334C}"/>
              </a:ext>
            </a:extLst>
          </p:cNvPr>
          <p:cNvGrpSpPr>
            <a:grpSpLocks/>
          </p:cNvGrpSpPr>
          <p:nvPr/>
        </p:nvGrpSpPr>
        <p:grpSpPr bwMode="auto">
          <a:xfrm>
            <a:off x="1645918" y="5411634"/>
            <a:ext cx="3787622" cy="307776"/>
            <a:chOff x="-1061954" y="5487008"/>
            <a:chExt cx="3788048" cy="307391"/>
          </a:xfrm>
        </p:grpSpPr>
        <p:sp>
          <p:nvSpPr>
            <p:cNvPr id="115" name="TextBox 61">
              <a:extLst>
                <a:ext uri="{FF2B5EF4-FFF2-40B4-BE49-F238E27FC236}">
                  <a16:creationId xmlns:a16="http://schemas.microsoft.com/office/drawing/2014/main" id="{F3DDBD5F-F332-4149-B743-63C7CFA3F0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061954" y="5487008"/>
              <a:ext cx="3684841" cy="3073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print out received string and close socket</a:t>
              </a:r>
            </a:p>
          </p:txBody>
        </p:sp>
        <p:cxnSp>
          <p:nvCxnSpPr>
            <p:cNvPr id="116" name="Straight Connector 62">
              <a:extLst>
                <a:ext uri="{FF2B5EF4-FFF2-40B4-BE49-F238E27FC236}">
                  <a16:creationId xmlns:a16="http://schemas.microsoft.com/office/drawing/2014/main" id="{0E7498AA-C1D3-274D-B0D2-D6ED3F088FD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09661" y="5657831"/>
              <a:ext cx="416433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7" name="Group 54">
            <a:extLst>
              <a:ext uri="{FF2B5EF4-FFF2-40B4-BE49-F238E27FC236}">
                <a16:creationId xmlns:a16="http://schemas.microsoft.com/office/drawing/2014/main" id="{7E74A29F-5607-FC4D-9A4A-9324DFA726A6}"/>
              </a:ext>
            </a:extLst>
          </p:cNvPr>
          <p:cNvGrpSpPr>
            <a:grpSpLocks/>
          </p:cNvGrpSpPr>
          <p:nvPr/>
        </p:nvGrpSpPr>
        <p:grpSpPr bwMode="auto">
          <a:xfrm>
            <a:off x="2137532" y="4571815"/>
            <a:ext cx="4091095" cy="440025"/>
            <a:chOff x="-493741" y="4530536"/>
            <a:chExt cx="4090757" cy="440321"/>
          </a:xfrm>
        </p:grpSpPr>
        <p:sp>
          <p:nvSpPr>
            <p:cNvPr id="118" name="TextBox 56">
              <a:extLst>
                <a:ext uri="{FF2B5EF4-FFF2-40B4-BE49-F238E27FC236}">
                  <a16:creationId xmlns:a16="http://schemas.microsoft.com/office/drawing/2014/main" id="{4535E505-0C85-C345-9726-A22F78213A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93741" y="4662874"/>
              <a:ext cx="4090757" cy="307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read reply data (bytes) from socket</a:t>
              </a:r>
            </a:p>
          </p:txBody>
        </p:sp>
        <p:cxnSp>
          <p:nvCxnSpPr>
            <p:cNvPr id="119" name="Straight Connector 59">
              <a:extLst>
                <a:ext uri="{FF2B5EF4-FFF2-40B4-BE49-F238E27FC236}">
                  <a16:creationId xmlns:a16="http://schemas.microsoft.com/office/drawing/2014/main" id="{DD1F2FDB-E293-DF42-9B53-AA2F24A605E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415586" y="4830837"/>
              <a:ext cx="327418" cy="416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0" name="TextBox 53">
              <a:extLst>
                <a:ext uri="{FF2B5EF4-FFF2-40B4-BE49-F238E27FC236}">
                  <a16:creationId xmlns:a16="http://schemas.microsoft.com/office/drawing/2014/main" id="{97123429-EC80-5746-ADCF-168DB6F1FD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57119" y="4530536"/>
              <a:ext cx="18466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E72D9EA9-9DC6-CC43-A093-63DB326C6F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716B03-306D-C35F-E056-9A7C759C2994}"/>
              </a:ext>
            </a:extLst>
          </p:cNvPr>
          <p:cNvSpPr txBox="1"/>
          <p:nvPr/>
        </p:nvSpPr>
        <p:spPr>
          <a:xfrm>
            <a:off x="589926" y="6443089"/>
            <a:ext cx="32508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Note: this code update (2023) to Python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E42EF1-8EF8-F47C-B216-787C1AE4F978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2512656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4400" dirty="0">
                <a:solidFill>
                  <a:srgbClr val="000099"/>
                </a:solidFill>
                <a:ea typeface="ＭＳ Ｐゴシック" panose="020B0600070205080204" pitchFamily="34" charset="-128"/>
                <a:cs typeface="+mn-cs"/>
              </a:rPr>
              <a:t>Example app: UDP server</a:t>
            </a:r>
            <a:endParaRPr lang="en-US" altLang="en-US" sz="5400" dirty="0">
              <a:solidFill>
                <a:srgbClr val="000099"/>
              </a:solidFill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1" name="TextBox 2">
            <a:extLst>
              <a:ext uri="{FF2B5EF4-FFF2-40B4-BE49-F238E27FC236}">
                <a16:creationId xmlns:a16="http://schemas.microsoft.com/office/drawing/2014/main" id="{71D41B91-E8C8-6145-A56E-4FC2D52EA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6744" y="1423713"/>
            <a:ext cx="27863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Python UDPServer</a:t>
            </a:r>
          </a:p>
        </p:txBody>
      </p:sp>
      <p:sp>
        <p:nvSpPr>
          <p:cNvPr id="25" name="TextBox 1">
            <a:extLst>
              <a:ext uri="{FF2B5EF4-FFF2-40B4-BE49-F238E27FC236}">
                <a16:creationId xmlns:a16="http://schemas.microsoft.com/office/drawing/2014/main" id="{69C030C5-F3D0-9E44-ABCB-6457753A9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6744" y="1962946"/>
            <a:ext cx="6128601" cy="3453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from socket import *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serverPort = 12000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serverSocket = socket(AF_INET, SOCK_DGRAM)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serverSocket.bind((</a:t>
            </a:r>
            <a:r>
              <a:rPr kumimoji="0" lang="fr-F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''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, serverPort))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print('</a:t>
            </a:r>
            <a:r>
              <a:rPr kumimoji="0" lang="en-US" altLang="ja-JP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The server is ready to receive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')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while True: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message, clientAddress = serverSocket.recvfrom(2048)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modifiedMessage = message.decode().upper()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serverSocket.sendto(modifiedMessage.encode(),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                                 clientAddress)</a:t>
            </a:r>
          </a:p>
        </p:txBody>
      </p:sp>
      <p:grpSp>
        <p:nvGrpSpPr>
          <p:cNvPr id="26" name="Group 13">
            <a:extLst>
              <a:ext uri="{FF2B5EF4-FFF2-40B4-BE49-F238E27FC236}">
                <a16:creationId xmlns:a16="http://schemas.microsoft.com/office/drawing/2014/main" id="{E6794E5D-F097-A04E-9B91-603D87E112BE}"/>
              </a:ext>
            </a:extLst>
          </p:cNvPr>
          <p:cNvGrpSpPr>
            <a:grpSpLocks/>
          </p:cNvGrpSpPr>
          <p:nvPr/>
        </p:nvGrpSpPr>
        <p:grpSpPr bwMode="auto">
          <a:xfrm>
            <a:off x="3352917" y="2744875"/>
            <a:ext cx="2558753" cy="307975"/>
            <a:chOff x="732830" y="2581901"/>
            <a:chExt cx="2559082" cy="307777"/>
          </a:xfrm>
        </p:grpSpPr>
        <p:sp>
          <p:nvSpPr>
            <p:cNvPr id="27" name="TextBox 31">
              <a:extLst>
                <a:ext uri="{FF2B5EF4-FFF2-40B4-BE49-F238E27FC236}">
                  <a16:creationId xmlns:a16="http://schemas.microsoft.com/office/drawing/2014/main" id="{529ABA9E-2387-AB44-B717-09C05F742B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2830" y="2581901"/>
              <a:ext cx="255908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create UDP socket</a:t>
              </a:r>
            </a:p>
          </p:txBody>
        </p:sp>
        <p:cxnSp>
          <p:nvCxnSpPr>
            <p:cNvPr id="28" name="Straight Connector 32">
              <a:extLst>
                <a:ext uri="{FF2B5EF4-FFF2-40B4-BE49-F238E27FC236}">
                  <a16:creationId xmlns:a16="http://schemas.microsoft.com/office/drawing/2014/main" id="{103D9E9D-7411-A240-B0CE-7B858CF05BF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94178" y="2749550"/>
              <a:ext cx="358094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9" name="Group 14">
            <a:extLst>
              <a:ext uri="{FF2B5EF4-FFF2-40B4-BE49-F238E27FC236}">
                <a16:creationId xmlns:a16="http://schemas.microsoft.com/office/drawing/2014/main" id="{F985C9C4-F94B-CC47-9BE8-1892C6168FD0}"/>
              </a:ext>
            </a:extLst>
          </p:cNvPr>
          <p:cNvGrpSpPr>
            <a:grpSpLocks/>
          </p:cNvGrpSpPr>
          <p:nvPr/>
        </p:nvGrpSpPr>
        <p:grpSpPr bwMode="auto">
          <a:xfrm>
            <a:off x="1773888" y="3108924"/>
            <a:ext cx="3605785" cy="307777"/>
            <a:chOff x="-896820" y="3018353"/>
            <a:chExt cx="3607385" cy="307392"/>
          </a:xfrm>
        </p:grpSpPr>
        <p:sp>
          <p:nvSpPr>
            <p:cNvPr id="30" name="TextBox 26">
              <a:extLst>
                <a:ext uri="{FF2B5EF4-FFF2-40B4-BE49-F238E27FC236}">
                  <a16:creationId xmlns:a16="http://schemas.microsoft.com/office/drawing/2014/main" id="{8032DBCE-C286-BB46-BD1F-9805EEA319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896820" y="3018353"/>
              <a:ext cx="3607385" cy="307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bind socket to local port number 12000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B47DB91-CB9C-004F-8F0B-B960A536FB1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75948" y="3171825"/>
              <a:ext cx="334255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2" name="Group 15">
            <a:extLst>
              <a:ext uri="{FF2B5EF4-FFF2-40B4-BE49-F238E27FC236}">
                <a16:creationId xmlns:a16="http://schemas.microsoft.com/office/drawing/2014/main" id="{D747856B-2F4C-494D-8DDA-72B42F0090C3}"/>
              </a:ext>
            </a:extLst>
          </p:cNvPr>
          <p:cNvGrpSpPr>
            <a:grpSpLocks/>
          </p:cNvGrpSpPr>
          <p:nvPr/>
        </p:nvGrpSpPr>
        <p:grpSpPr bwMode="auto">
          <a:xfrm>
            <a:off x="3884090" y="3825856"/>
            <a:ext cx="1488056" cy="298450"/>
            <a:chOff x="1222134" y="3803733"/>
            <a:chExt cx="1488522" cy="299227"/>
          </a:xfrm>
        </p:grpSpPr>
        <p:sp>
          <p:nvSpPr>
            <p:cNvPr id="33" name="TextBox 34">
              <a:extLst>
                <a:ext uri="{FF2B5EF4-FFF2-40B4-BE49-F238E27FC236}">
                  <a16:creationId xmlns:a16="http://schemas.microsoft.com/office/drawing/2014/main" id="{B9333DFF-5997-FD45-82AB-CE3AE4734E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2134" y="3803733"/>
              <a:ext cx="1194763" cy="299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loop forever</a:t>
              </a:r>
            </a:p>
          </p:txBody>
        </p:sp>
        <p:cxnSp>
          <p:nvCxnSpPr>
            <p:cNvPr id="34" name="Straight Connector 35">
              <a:extLst>
                <a:ext uri="{FF2B5EF4-FFF2-40B4-BE49-F238E27FC236}">
                  <a16:creationId xmlns:a16="http://schemas.microsoft.com/office/drawing/2014/main" id="{C5C98F9A-B437-0647-8271-AFD3AB07BC4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67604" y="3964781"/>
              <a:ext cx="343052" cy="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5" name="Group 17">
            <a:extLst>
              <a:ext uri="{FF2B5EF4-FFF2-40B4-BE49-F238E27FC236}">
                <a16:creationId xmlns:a16="http://schemas.microsoft.com/office/drawing/2014/main" id="{D0BDCF5E-DA2B-5844-BD1C-AC1F96949F3B}"/>
              </a:ext>
            </a:extLst>
          </p:cNvPr>
          <p:cNvGrpSpPr>
            <a:grpSpLocks/>
          </p:cNvGrpSpPr>
          <p:nvPr/>
        </p:nvGrpSpPr>
        <p:grpSpPr bwMode="auto">
          <a:xfrm>
            <a:off x="1304089" y="4147117"/>
            <a:ext cx="4068011" cy="502702"/>
            <a:chOff x="-1394433" y="3835897"/>
            <a:chExt cx="4067973" cy="502591"/>
          </a:xfrm>
        </p:grpSpPr>
        <p:sp>
          <p:nvSpPr>
            <p:cNvPr id="36" name="TextBox 36">
              <a:extLst>
                <a:ext uri="{FF2B5EF4-FFF2-40B4-BE49-F238E27FC236}">
                  <a16:creationId xmlns:a16="http://schemas.microsoft.com/office/drawing/2014/main" id="{156E8BB3-6722-944E-9388-9EAA07C523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394433" y="3835897"/>
              <a:ext cx="3841634" cy="5025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Read from UDP socket into message, getting client’s address (client IP and port)</a:t>
              </a:r>
            </a:p>
          </p:txBody>
        </p:sp>
        <p:cxnSp>
          <p:nvCxnSpPr>
            <p:cNvPr id="37" name="Straight Connector 39">
              <a:extLst>
                <a:ext uri="{FF2B5EF4-FFF2-40B4-BE49-F238E27FC236}">
                  <a16:creationId xmlns:a16="http://schemas.microsoft.com/office/drawing/2014/main" id="{BAFF573C-9254-4D42-BF1F-B58175A5C60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30643" y="3987004"/>
              <a:ext cx="342897" cy="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8" name="Group 18">
            <a:extLst>
              <a:ext uri="{FF2B5EF4-FFF2-40B4-BE49-F238E27FC236}">
                <a16:creationId xmlns:a16="http://schemas.microsoft.com/office/drawing/2014/main" id="{49C1836C-5DBA-F94B-B925-ABC592A1A1AD}"/>
              </a:ext>
            </a:extLst>
          </p:cNvPr>
          <p:cNvGrpSpPr>
            <a:grpSpLocks/>
          </p:cNvGrpSpPr>
          <p:nvPr/>
        </p:nvGrpSpPr>
        <p:grpSpPr bwMode="auto">
          <a:xfrm>
            <a:off x="1619318" y="4783930"/>
            <a:ext cx="3841670" cy="307777"/>
            <a:chOff x="-1179917" y="4521468"/>
            <a:chExt cx="3842964" cy="307392"/>
          </a:xfrm>
        </p:grpSpPr>
        <p:sp>
          <p:nvSpPr>
            <p:cNvPr id="39" name="TextBox 61">
              <a:extLst>
                <a:ext uri="{FF2B5EF4-FFF2-40B4-BE49-F238E27FC236}">
                  <a16:creationId xmlns:a16="http://schemas.microsoft.com/office/drawing/2014/main" id="{19797EBA-27BC-C641-806F-7436C22CF6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179917" y="4521468"/>
              <a:ext cx="3842964" cy="307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send upper case string back to this client</a:t>
              </a:r>
            </a:p>
          </p:txBody>
        </p:sp>
        <p:cxnSp>
          <p:nvCxnSpPr>
            <p:cNvPr id="40" name="Straight Connector 62">
              <a:extLst>
                <a:ext uri="{FF2B5EF4-FFF2-40B4-BE49-F238E27FC236}">
                  <a16:creationId xmlns:a16="http://schemas.microsoft.com/office/drawing/2014/main" id="{D86F62BC-7674-424E-BFC8-DE9ED1B6052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17617" y="4675165"/>
              <a:ext cx="356512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E32FD753-2E15-6843-B14D-A35BDF167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A565F1-FD73-BCAD-130F-72DB894CAF62}"/>
              </a:ext>
            </a:extLst>
          </p:cNvPr>
          <p:cNvSpPr txBox="1"/>
          <p:nvPr/>
        </p:nvSpPr>
        <p:spPr>
          <a:xfrm>
            <a:off x="589926" y="6443089"/>
            <a:ext cx="32508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Note: this code update (2023) to Python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1F487B-7DC0-F121-1CB5-D8B9BCA9BCFC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3068576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4400" dirty="0">
                <a:solidFill>
                  <a:srgbClr val="000099"/>
                </a:solidFill>
                <a:ea typeface="ＭＳ Ｐゴシック" panose="020B0600070205080204" pitchFamily="34" charset="-128"/>
                <a:cs typeface="+mn-cs"/>
              </a:rPr>
              <a:t>Socket programming </a:t>
            </a:r>
            <a:r>
              <a:rPr lang="en-US" altLang="en-US" sz="4400" dirty="0">
                <a:solidFill>
                  <a:srgbClr val="C00000"/>
                </a:solidFill>
                <a:ea typeface="ＭＳ Ｐゴシック" panose="020B0600070205080204" pitchFamily="34" charset="-128"/>
                <a:cs typeface="+mn-cs"/>
              </a:rPr>
              <a:t>with TCP</a:t>
            </a:r>
            <a:endParaRPr lang="en-US" altLang="en-US" sz="5400" dirty="0">
              <a:solidFill>
                <a:srgbClr val="C00000"/>
              </a:solidFill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3" name="Rectangle 3">
            <a:extLst>
              <a:ext uri="{FF2B5EF4-FFF2-40B4-BE49-F238E27FC236}">
                <a16:creationId xmlns:a16="http://schemas.microsoft.com/office/drawing/2014/main" id="{6F8F00D4-4B13-DD4C-9070-F4C3E1AA319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61829" y="1455785"/>
            <a:ext cx="5074444" cy="5090539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None/>
            </a:pPr>
            <a:r>
              <a:rPr lang="en-US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Client must contact server</a:t>
            </a:r>
          </a:p>
          <a:p>
            <a:pPr marL="466725" indent="-233363"/>
            <a:r>
              <a:rPr lang="en-US" altLang="en-US" sz="2400" dirty="0">
                <a:ea typeface="ＭＳ Ｐゴシック" panose="020B0600070205080204" pitchFamily="34" charset="-128"/>
              </a:rPr>
              <a:t>server process must first be running</a:t>
            </a:r>
          </a:p>
          <a:p>
            <a:pPr marL="466725" indent="-233363"/>
            <a:r>
              <a:rPr lang="en-US" altLang="en-US" sz="2400" dirty="0">
                <a:ea typeface="ＭＳ Ｐゴシック" panose="020B0600070205080204" pitchFamily="34" charset="-128"/>
              </a:rPr>
              <a:t>server must have created socket (door) that welcomes client’</a:t>
            </a:r>
            <a:r>
              <a:rPr lang="en-US" altLang="ja-JP" sz="2400" dirty="0">
                <a:ea typeface="ＭＳ Ｐゴシック" panose="020B0600070205080204" pitchFamily="34" charset="-128"/>
              </a:rPr>
              <a:t>s contact</a:t>
            </a: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Client contacts server by:</a:t>
            </a:r>
          </a:p>
          <a:p>
            <a:pPr marL="466725" indent="-292100"/>
            <a:r>
              <a:rPr lang="en-US" altLang="en-US" sz="2400" dirty="0">
                <a:ea typeface="ＭＳ Ｐゴシック" panose="020B0600070205080204" pitchFamily="34" charset="-128"/>
              </a:rPr>
              <a:t>Creating TCP socket, specifying IP address, port number of server process</a:t>
            </a:r>
          </a:p>
          <a:p>
            <a:pPr marL="466725" indent="-233363"/>
            <a:r>
              <a:rPr lang="en-US" altLang="en-US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when client creates socket:</a:t>
            </a:r>
            <a:r>
              <a:rPr lang="en-US" altLang="en-US" sz="2400" dirty="0">
                <a:ea typeface="ＭＳ Ｐゴシック" panose="020B0600070205080204" pitchFamily="34" charset="-128"/>
              </a:rPr>
              <a:t> client TCP establishes connection to server TCP</a:t>
            </a:r>
            <a:endParaRPr lang="en-US" altLang="en-US" sz="2200" dirty="0">
              <a:ea typeface="ＭＳ Ｐゴシック" panose="020B0600070205080204" pitchFamily="34" charset="-128"/>
            </a:endParaRPr>
          </a:p>
          <a:p>
            <a:endParaRPr lang="en-US" altLang="en-US" sz="2000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</p:txBody>
      </p:sp>
      <p:sp>
        <p:nvSpPr>
          <p:cNvPr id="44" name="Rectangle 4">
            <a:extLst>
              <a:ext uri="{FF2B5EF4-FFF2-40B4-BE49-F238E27FC236}">
                <a16:creationId xmlns:a16="http://schemas.microsoft.com/office/drawing/2014/main" id="{B1AC5695-3887-C247-97DD-C7F6FB635E1B}"/>
              </a:ext>
            </a:extLst>
          </p:cNvPr>
          <p:cNvSpPr txBox="1">
            <a:spLocks noChangeArrowheads="1"/>
          </p:cNvSpPr>
          <p:nvPr/>
        </p:nvSpPr>
        <p:spPr>
          <a:xfrm>
            <a:off x="5735469" y="1426964"/>
            <a:ext cx="5794702" cy="30003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when contacted by client,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server TCP creates new socket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for server process to communicate with that particular client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allows server to talk with multiple clients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client source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port # and IP address used to distinguish clients (more in Chap 3)</a:t>
            </a:r>
            <a:endParaRPr kumimoji="0" lang="en-US" altLang="en-US" sz="2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48E49A6-28AD-904A-9A83-FE9DE35715C0}"/>
              </a:ext>
            </a:extLst>
          </p:cNvPr>
          <p:cNvGrpSpPr/>
          <p:nvPr/>
        </p:nvGrpSpPr>
        <p:grpSpPr>
          <a:xfrm>
            <a:off x="6267640" y="4602113"/>
            <a:ext cx="4660490" cy="1933598"/>
            <a:chOff x="5928853" y="4608645"/>
            <a:chExt cx="4660490" cy="193359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1FDF457-3529-1A4B-B2F1-0A6DF5BAF2E1}"/>
                </a:ext>
              </a:extLst>
            </p:cNvPr>
            <p:cNvSpPr/>
            <p:nvPr/>
          </p:nvSpPr>
          <p:spPr>
            <a:xfrm>
              <a:off x="5928853" y="4896465"/>
              <a:ext cx="4660490" cy="164577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Text Box 6">
              <a:extLst>
                <a:ext uri="{FF2B5EF4-FFF2-40B4-BE49-F238E27FC236}">
                  <a16:creationId xmlns:a16="http://schemas.microsoft.com/office/drawing/2014/main" id="{3290FC86-CCC3-9042-8394-E0092848BE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3124" y="5097182"/>
              <a:ext cx="4091065" cy="13508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TCP provides reliable, in-order</a:t>
              </a:r>
            </a:p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byte-stream transfer (“</a:t>
              </a:r>
              <a:r>
                <a:rPr kumimoji="0" lang="en-US" altLang="ja-JP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pipe”) </a:t>
              </a:r>
            </a:p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between client and server processes</a:t>
              </a:r>
            </a:p>
          </p:txBody>
        </p:sp>
        <p:grpSp>
          <p:nvGrpSpPr>
            <p:cNvPr id="46" name="Group 8">
              <a:extLst>
                <a:ext uri="{FF2B5EF4-FFF2-40B4-BE49-F238E27FC236}">
                  <a16:creationId xmlns:a16="http://schemas.microsoft.com/office/drawing/2014/main" id="{8B55559B-7D61-6147-A322-49E351E9DC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41246" y="4608645"/>
              <a:ext cx="3452811" cy="550863"/>
              <a:chOff x="-195" y="3766"/>
              <a:chExt cx="2175" cy="347"/>
            </a:xfrm>
          </p:grpSpPr>
          <p:sp>
            <p:nvSpPr>
              <p:cNvPr id="47" name="Rectangle 9">
                <a:extLst>
                  <a:ext uri="{FF2B5EF4-FFF2-40B4-BE49-F238E27FC236}">
                    <a16:creationId xmlns:a16="http://schemas.microsoft.com/office/drawing/2014/main" id="{4B1395F7-3763-B74C-AF37-1DAC6BC4F9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" y="3825"/>
                <a:ext cx="116" cy="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8" name="Text Box 10">
                <a:extLst>
                  <a:ext uri="{FF2B5EF4-FFF2-40B4-BE49-F238E27FC236}">
                    <a16:creationId xmlns:a16="http://schemas.microsoft.com/office/drawing/2014/main" id="{EC474FEA-9E73-5248-89ED-9528E3BFBC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195" y="3766"/>
                <a:ext cx="2175" cy="33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Application viewpoint</a:t>
                </a:r>
              </a:p>
            </p:txBody>
          </p:sp>
        </p:grpSp>
      </p:grp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43ECFECD-C9B5-E345-AAD0-01569E2A9E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D72926-F411-4DA1-FF6F-CF76FDCBE9C2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2898692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Client/server socket interaction: TCP</a:t>
            </a:r>
          </a:p>
        </p:txBody>
      </p:sp>
      <p:sp>
        <p:nvSpPr>
          <p:cNvPr id="60" name="Text Box 22">
            <a:extLst>
              <a:ext uri="{FF2B5EF4-FFF2-40B4-BE49-F238E27FC236}">
                <a16:creationId xmlns:a16="http://schemas.microsoft.com/office/drawing/2014/main" id="{BA5A099E-C76D-334B-B273-AED0342E4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5141" y="1421154"/>
            <a:ext cx="31073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server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(running on hostid)</a:t>
            </a:r>
          </a:p>
        </p:txBody>
      </p:sp>
      <p:sp>
        <p:nvSpPr>
          <p:cNvPr id="61" name="Text Box 23">
            <a:extLst>
              <a:ext uri="{FF2B5EF4-FFF2-40B4-BE49-F238E27FC236}">
                <a16:creationId xmlns:a16="http://schemas.microsoft.com/office/drawing/2014/main" id="{2C0B647E-1C2C-574A-86D4-A8DBF2427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0313" y="1416392"/>
            <a:ext cx="110100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</a:t>
            </a:r>
          </a:p>
        </p:txBody>
      </p:sp>
      <p:grpSp>
        <p:nvGrpSpPr>
          <p:cNvPr id="64" name="Group 34">
            <a:extLst>
              <a:ext uri="{FF2B5EF4-FFF2-40B4-BE49-F238E27FC236}">
                <a16:creationId xmlns:a16="http://schemas.microsoft.com/office/drawing/2014/main" id="{B18363F5-9DA8-C844-9FF5-8607E23ECAE0}"/>
              </a:ext>
            </a:extLst>
          </p:cNvPr>
          <p:cNvGrpSpPr>
            <a:grpSpLocks/>
          </p:cNvGrpSpPr>
          <p:nvPr/>
        </p:nvGrpSpPr>
        <p:grpSpPr bwMode="auto">
          <a:xfrm>
            <a:off x="1947735" y="1365879"/>
            <a:ext cx="422275" cy="685800"/>
            <a:chOff x="4140" y="429"/>
            <a:chExt cx="1425" cy="2396"/>
          </a:xfrm>
        </p:grpSpPr>
        <p:sp>
          <p:nvSpPr>
            <p:cNvPr id="65" name="Freeform 35">
              <a:extLst>
                <a:ext uri="{FF2B5EF4-FFF2-40B4-BE49-F238E27FC236}">
                  <a16:creationId xmlns:a16="http://schemas.microsoft.com/office/drawing/2014/main" id="{0528A8CB-65E5-964D-B654-85E03FD18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Rectangle 36">
              <a:extLst>
                <a:ext uri="{FF2B5EF4-FFF2-40B4-BE49-F238E27FC236}">
                  <a16:creationId xmlns:a16="http://schemas.microsoft.com/office/drawing/2014/main" id="{6E84855E-322D-B04A-A7A9-4DC033725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0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7" name="Freeform 37">
              <a:extLst>
                <a:ext uri="{FF2B5EF4-FFF2-40B4-BE49-F238E27FC236}">
                  <a16:creationId xmlns:a16="http://schemas.microsoft.com/office/drawing/2014/main" id="{0DE429C7-30A9-C04A-A526-765AC5EAA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Freeform 38">
              <a:extLst>
                <a:ext uri="{FF2B5EF4-FFF2-40B4-BE49-F238E27FC236}">
                  <a16:creationId xmlns:a16="http://schemas.microsoft.com/office/drawing/2014/main" id="{DF53DCF7-7CCE-A14D-89D6-6AAAE8C14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Rectangle 39">
              <a:extLst>
                <a:ext uri="{FF2B5EF4-FFF2-40B4-BE49-F238E27FC236}">
                  <a16:creationId xmlns:a16="http://schemas.microsoft.com/office/drawing/2014/main" id="{FCF7FE3C-7CB1-1949-80FD-5DEB7C2DF8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5"/>
              <a:ext cx="600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0" name="Group 40">
              <a:extLst>
                <a:ext uri="{FF2B5EF4-FFF2-40B4-BE49-F238E27FC236}">
                  <a16:creationId xmlns:a16="http://schemas.microsoft.com/office/drawing/2014/main" id="{9EA93011-9988-1C46-8FFD-C704F4A48C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5" name="AutoShape 41">
                <a:extLst>
                  <a:ext uri="{FF2B5EF4-FFF2-40B4-BE49-F238E27FC236}">
                    <a16:creationId xmlns:a16="http://schemas.microsoft.com/office/drawing/2014/main" id="{79ABB3C1-EE56-6F45-9499-45BC801291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6" name="AutoShape 42">
                <a:extLst>
                  <a:ext uri="{FF2B5EF4-FFF2-40B4-BE49-F238E27FC236}">
                    <a16:creationId xmlns:a16="http://schemas.microsoft.com/office/drawing/2014/main" id="{3CE416CE-22C1-B44C-A8BC-DD8D49FA1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1" name="Rectangle 43">
              <a:extLst>
                <a:ext uri="{FF2B5EF4-FFF2-40B4-BE49-F238E27FC236}">
                  <a16:creationId xmlns:a16="http://schemas.microsoft.com/office/drawing/2014/main" id="{E9AF4519-635B-C444-AD0B-889732CA4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17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2" name="Group 44">
              <a:extLst>
                <a:ext uri="{FF2B5EF4-FFF2-40B4-BE49-F238E27FC236}">
                  <a16:creationId xmlns:a16="http://schemas.microsoft.com/office/drawing/2014/main" id="{AE3F7048-2B7F-8146-8234-207ED13E90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3" name="AutoShape 45">
                <a:extLst>
                  <a:ext uri="{FF2B5EF4-FFF2-40B4-BE49-F238E27FC236}">
                    <a16:creationId xmlns:a16="http://schemas.microsoft.com/office/drawing/2014/main" id="{53908CFC-D723-4742-8456-2D30C66E35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9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4" name="AutoShape 46">
                <a:extLst>
                  <a:ext uri="{FF2B5EF4-FFF2-40B4-BE49-F238E27FC236}">
                    <a16:creationId xmlns:a16="http://schemas.microsoft.com/office/drawing/2014/main" id="{3A7947BE-FF10-9D41-9767-56A9F87FC3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3" name="Rectangle 47">
              <a:extLst>
                <a:ext uri="{FF2B5EF4-FFF2-40B4-BE49-F238E27FC236}">
                  <a16:creationId xmlns:a16="http://schemas.microsoft.com/office/drawing/2014/main" id="{A116F8BE-CE6D-0046-BBDF-ED91EC563C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Rectangle 48">
              <a:extLst>
                <a:ext uri="{FF2B5EF4-FFF2-40B4-BE49-F238E27FC236}">
                  <a16:creationId xmlns:a16="http://schemas.microsoft.com/office/drawing/2014/main" id="{EDDDAA43-84E9-5649-B997-CD32383C8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5" name="Group 49">
              <a:extLst>
                <a:ext uri="{FF2B5EF4-FFF2-40B4-BE49-F238E27FC236}">
                  <a16:creationId xmlns:a16="http://schemas.microsoft.com/office/drawing/2014/main" id="{ED22CCB4-0F75-C14E-8FF6-F0FB9D3FC9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1" name="AutoShape 50">
                <a:extLst>
                  <a:ext uri="{FF2B5EF4-FFF2-40B4-BE49-F238E27FC236}">
                    <a16:creationId xmlns:a16="http://schemas.microsoft.com/office/drawing/2014/main" id="{23A963E3-E563-8243-8CD5-AD41B731D0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2" name="AutoShape 51">
                <a:extLst>
                  <a:ext uri="{FF2B5EF4-FFF2-40B4-BE49-F238E27FC236}">
                    <a16:creationId xmlns:a16="http://schemas.microsoft.com/office/drawing/2014/main" id="{3CDFE710-0763-8B45-AFC8-16BE12CABF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6" name="Freeform 52">
              <a:extLst>
                <a:ext uri="{FF2B5EF4-FFF2-40B4-BE49-F238E27FC236}">
                  <a16:creationId xmlns:a16="http://schemas.microsoft.com/office/drawing/2014/main" id="{DFF03B02-CD58-954F-8277-362C27F82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7" name="Group 53">
              <a:extLst>
                <a:ext uri="{FF2B5EF4-FFF2-40B4-BE49-F238E27FC236}">
                  <a16:creationId xmlns:a16="http://schemas.microsoft.com/office/drawing/2014/main" id="{3E689C5E-F98B-8049-943E-5C1ACD1083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9" name="AutoShape 54">
                <a:extLst>
                  <a:ext uri="{FF2B5EF4-FFF2-40B4-BE49-F238E27FC236}">
                    <a16:creationId xmlns:a16="http://schemas.microsoft.com/office/drawing/2014/main" id="{6761E2B1-103D-4445-A2AE-88446D262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0" name="AutoShape 55">
                <a:extLst>
                  <a:ext uri="{FF2B5EF4-FFF2-40B4-BE49-F238E27FC236}">
                    <a16:creationId xmlns:a16="http://schemas.microsoft.com/office/drawing/2014/main" id="{EAB91C60-8F54-7C41-988D-5BE6CF0595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5"/>
                <a:ext cx="687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8" name="Rectangle 56">
              <a:extLst>
                <a:ext uri="{FF2B5EF4-FFF2-40B4-BE49-F238E27FC236}">
                  <a16:creationId xmlns:a16="http://schemas.microsoft.com/office/drawing/2014/main" id="{87AAEB8B-15DB-FF40-9AE1-E4AF827B8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70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Freeform 57">
              <a:extLst>
                <a:ext uri="{FF2B5EF4-FFF2-40B4-BE49-F238E27FC236}">
                  <a16:creationId xmlns:a16="http://schemas.microsoft.com/office/drawing/2014/main" id="{CC9C0288-5815-DA49-8C3D-91F3048A63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 58">
              <a:extLst>
                <a:ext uri="{FF2B5EF4-FFF2-40B4-BE49-F238E27FC236}">
                  <a16:creationId xmlns:a16="http://schemas.microsoft.com/office/drawing/2014/main" id="{298D6A78-AAD4-6C42-8184-6B5B0ADD7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Oval 59">
              <a:extLst>
                <a:ext uri="{FF2B5EF4-FFF2-40B4-BE49-F238E27FC236}">
                  <a16:creationId xmlns:a16="http://schemas.microsoft.com/office/drawing/2014/main" id="{2C2ADEA9-27C8-8047-B295-9313B8ABB6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09"/>
              <a:ext cx="48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2" name="Freeform 60">
              <a:extLst>
                <a:ext uri="{FF2B5EF4-FFF2-40B4-BE49-F238E27FC236}">
                  <a16:creationId xmlns:a16="http://schemas.microsoft.com/office/drawing/2014/main" id="{9CAEC79C-34C3-884C-93EA-251A84F706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AutoShape 61">
              <a:extLst>
                <a:ext uri="{FF2B5EF4-FFF2-40B4-BE49-F238E27FC236}">
                  <a16:creationId xmlns:a16="http://schemas.microsoft.com/office/drawing/2014/main" id="{36B22FB8-29CC-B041-B349-ADB1A1CF0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4" name="AutoShape 62">
              <a:extLst>
                <a:ext uri="{FF2B5EF4-FFF2-40B4-BE49-F238E27FC236}">
                  <a16:creationId xmlns:a16="http://schemas.microsoft.com/office/drawing/2014/main" id="{A568E896-D157-6749-8B5C-38036DCDA9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9"/>
              <a:ext cx="1071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5" name="Oval 63">
              <a:extLst>
                <a:ext uri="{FF2B5EF4-FFF2-40B4-BE49-F238E27FC236}">
                  <a16:creationId xmlns:a16="http://schemas.microsoft.com/office/drawing/2014/main" id="{76E67DE4-8580-984E-96DB-32AA41DD13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1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Oval 64">
              <a:extLst>
                <a:ext uri="{FF2B5EF4-FFF2-40B4-BE49-F238E27FC236}">
                  <a16:creationId xmlns:a16="http://schemas.microsoft.com/office/drawing/2014/main" id="{B85D964A-BC7F-0243-8B3C-55498AEBC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1"/>
              <a:ext cx="155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87" name="Oval 65">
              <a:extLst>
                <a:ext uri="{FF2B5EF4-FFF2-40B4-BE49-F238E27FC236}">
                  <a16:creationId xmlns:a16="http://schemas.microsoft.com/office/drawing/2014/main" id="{1023622E-7290-DB4F-BDFC-4AE5806C35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1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8" name="Rectangle 66">
              <a:extLst>
                <a:ext uri="{FF2B5EF4-FFF2-40B4-BE49-F238E27FC236}">
                  <a16:creationId xmlns:a16="http://schemas.microsoft.com/office/drawing/2014/main" id="{C404F913-10F9-264F-B4B2-2C47E82E0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6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97" name="Group 67">
            <a:extLst>
              <a:ext uri="{FF2B5EF4-FFF2-40B4-BE49-F238E27FC236}">
                <a16:creationId xmlns:a16="http://schemas.microsoft.com/office/drawing/2014/main" id="{CED85610-CD29-5E4F-BB21-F275B7666450}"/>
              </a:ext>
            </a:extLst>
          </p:cNvPr>
          <p:cNvGrpSpPr>
            <a:grpSpLocks/>
          </p:cNvGrpSpPr>
          <p:nvPr/>
        </p:nvGrpSpPr>
        <p:grpSpPr bwMode="auto">
          <a:xfrm>
            <a:off x="7841666" y="1346443"/>
            <a:ext cx="742950" cy="742950"/>
            <a:chOff x="-44" y="1473"/>
            <a:chExt cx="981" cy="1105"/>
          </a:xfrm>
        </p:grpSpPr>
        <p:pic>
          <p:nvPicPr>
            <p:cNvPr id="98" name="Picture 68" descr="desktop_computer_stylized_medium">
              <a:extLst>
                <a:ext uri="{FF2B5EF4-FFF2-40B4-BE49-F238E27FC236}">
                  <a16:creationId xmlns:a16="http://schemas.microsoft.com/office/drawing/2014/main" id="{1830ACA4-0FBE-1142-BE23-D05178A5FE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9" name="Freeform 69">
              <a:extLst>
                <a:ext uri="{FF2B5EF4-FFF2-40B4-BE49-F238E27FC236}">
                  <a16:creationId xmlns:a16="http://schemas.microsoft.com/office/drawing/2014/main" id="{E76D0C82-A009-EE46-B2AF-9D042C9D0FC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0" name="Group 3">
            <a:extLst>
              <a:ext uri="{FF2B5EF4-FFF2-40B4-BE49-F238E27FC236}">
                <a16:creationId xmlns:a16="http://schemas.microsoft.com/office/drawing/2014/main" id="{17F245AD-D1C8-1047-B190-F3B9F38A51DA}"/>
              </a:ext>
            </a:extLst>
          </p:cNvPr>
          <p:cNvGrpSpPr>
            <a:grpSpLocks/>
          </p:cNvGrpSpPr>
          <p:nvPr/>
        </p:nvGrpSpPr>
        <p:grpSpPr bwMode="auto">
          <a:xfrm>
            <a:off x="3761300" y="3384960"/>
            <a:ext cx="1931987" cy="930275"/>
            <a:chOff x="827" y="2027"/>
            <a:chExt cx="1217" cy="586"/>
          </a:xfrm>
        </p:grpSpPr>
        <p:sp>
          <p:nvSpPr>
            <p:cNvPr id="101" name="Text Box 4">
              <a:extLst>
                <a:ext uri="{FF2B5EF4-FFF2-40B4-BE49-F238E27FC236}">
                  <a16:creationId xmlns:a16="http://schemas.microsoft.com/office/drawing/2014/main" id="{96ECA07F-984C-9640-8279-02E0C42A59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7" y="2027"/>
              <a:ext cx="1059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wait for incoming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connection request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2" name="Text Box 5">
              <a:extLst>
                <a:ext uri="{FF2B5EF4-FFF2-40B4-BE49-F238E27FC236}">
                  <a16:creationId xmlns:a16="http://schemas.microsoft.com/office/drawing/2014/main" id="{3EED45EC-0C3C-CD4F-8B77-F31CC4D8B6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8" y="2283"/>
              <a:ext cx="121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connectionSocket =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serverSocket.accept()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3" name="Group 6">
            <a:extLst>
              <a:ext uri="{FF2B5EF4-FFF2-40B4-BE49-F238E27FC236}">
                <a16:creationId xmlns:a16="http://schemas.microsoft.com/office/drawing/2014/main" id="{942F4A59-7245-424D-B343-8B3AE10F149D}"/>
              </a:ext>
            </a:extLst>
          </p:cNvPr>
          <p:cNvGrpSpPr>
            <a:grpSpLocks/>
          </p:cNvGrpSpPr>
          <p:nvPr/>
        </p:nvGrpSpPr>
        <p:grpSpPr bwMode="auto">
          <a:xfrm>
            <a:off x="3742250" y="2145123"/>
            <a:ext cx="2357437" cy="1317625"/>
            <a:chOff x="821" y="1246"/>
            <a:chExt cx="1485" cy="830"/>
          </a:xfrm>
        </p:grpSpPr>
        <p:grpSp>
          <p:nvGrpSpPr>
            <p:cNvPr id="104" name="Group 7">
              <a:extLst>
                <a:ext uri="{FF2B5EF4-FFF2-40B4-BE49-F238E27FC236}">
                  <a16:creationId xmlns:a16="http://schemas.microsoft.com/office/drawing/2014/main" id="{26B7DDA9-00F9-674D-BF38-CB98156F7D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1" y="1246"/>
              <a:ext cx="1485" cy="586"/>
              <a:chOff x="329" y="1270"/>
              <a:chExt cx="1485" cy="586"/>
            </a:xfrm>
          </p:grpSpPr>
          <p:sp>
            <p:nvSpPr>
              <p:cNvPr id="106" name="Text Box 8">
                <a:extLst>
                  <a:ext uri="{FF2B5EF4-FFF2-40B4-BE49-F238E27FC236}">
                    <a16:creationId xmlns:a16="http://schemas.microsoft.com/office/drawing/2014/main" id="{EB10976F-C234-F04E-BDCB-D23AD81426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9" y="1270"/>
                <a:ext cx="1213" cy="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create socket,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port=</a:t>
                </a:r>
                <a:r>
                  <a:rPr kumimoji="0" lang="en-US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ＭＳ Ｐゴシック" panose="020B0600070205080204" pitchFamily="34" charset="-128"/>
                    <a:cs typeface="+mn-cs"/>
                  </a:rPr>
                  <a:t>x</a:t>
                </a: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, for incoming request: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7" name="Text Box 9">
                <a:extLst>
                  <a:ext uri="{FF2B5EF4-FFF2-40B4-BE49-F238E27FC236}">
                    <a16:creationId xmlns:a16="http://schemas.microsoft.com/office/drawing/2014/main" id="{FE1C48C3-1411-C842-B695-AE75246E0D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3" y="1662"/>
                <a:ext cx="1481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serverSocket = socket()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05" name="Line 10">
              <a:extLst>
                <a:ext uri="{FF2B5EF4-FFF2-40B4-BE49-F238E27FC236}">
                  <a16:creationId xmlns:a16="http://schemas.microsoft.com/office/drawing/2014/main" id="{EFE8B30D-7531-1F4B-8F1D-2889E29181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4" y="1872"/>
              <a:ext cx="0" cy="204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8" name="Group 11">
            <a:extLst>
              <a:ext uri="{FF2B5EF4-FFF2-40B4-BE49-F238E27FC236}">
                <a16:creationId xmlns:a16="http://schemas.microsoft.com/office/drawing/2014/main" id="{ACBB7887-7AB9-1344-A0D2-33A736B32882}"/>
              </a:ext>
            </a:extLst>
          </p:cNvPr>
          <p:cNvGrpSpPr>
            <a:grpSpLocks/>
          </p:cNvGrpSpPr>
          <p:nvPr/>
        </p:nvGrpSpPr>
        <p:grpSpPr bwMode="auto">
          <a:xfrm>
            <a:off x="7539550" y="3389723"/>
            <a:ext cx="2357437" cy="731837"/>
            <a:chOff x="3333" y="1202"/>
            <a:chExt cx="1485" cy="461"/>
          </a:xfrm>
        </p:grpSpPr>
        <p:sp>
          <p:nvSpPr>
            <p:cNvPr id="109" name="Text Box 12">
              <a:extLst>
                <a:ext uri="{FF2B5EF4-FFF2-40B4-BE49-F238E27FC236}">
                  <a16:creationId xmlns:a16="http://schemas.microsoft.com/office/drawing/2014/main" id="{7C40D8E2-34BB-B14D-99EA-EC4D8E46BD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5" y="1202"/>
              <a:ext cx="146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create socket,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connect to </a:t>
              </a:r>
              <a:r>
                <a:rPr kumimoji="0" lang="en-US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hostid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, port=</a:t>
              </a:r>
              <a:r>
                <a:rPr kumimoji="0" lang="en-US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x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0" name="Text Box 13">
              <a:extLst>
                <a:ext uri="{FF2B5EF4-FFF2-40B4-BE49-F238E27FC236}">
                  <a16:creationId xmlns:a16="http://schemas.microsoft.com/office/drawing/2014/main" id="{7AB5735E-62F0-3342-99B5-3AA0751455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3" y="1469"/>
              <a:ext cx="1485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clientSocket = socket()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1" name="Group 24">
            <a:extLst>
              <a:ext uri="{FF2B5EF4-FFF2-40B4-BE49-F238E27FC236}">
                <a16:creationId xmlns:a16="http://schemas.microsoft.com/office/drawing/2014/main" id="{EE4290C4-C540-4C43-B98B-8DA5381EA7C7}"/>
              </a:ext>
            </a:extLst>
          </p:cNvPr>
          <p:cNvGrpSpPr>
            <a:grpSpLocks/>
          </p:cNvGrpSpPr>
          <p:nvPr/>
        </p:nvGrpSpPr>
        <p:grpSpPr bwMode="auto">
          <a:xfrm>
            <a:off x="5382137" y="4177123"/>
            <a:ext cx="4062413" cy="1371600"/>
            <a:chOff x="1848" y="2526"/>
            <a:chExt cx="2559" cy="864"/>
          </a:xfrm>
        </p:grpSpPr>
        <p:sp>
          <p:nvSpPr>
            <p:cNvPr id="112" name="Line 25">
              <a:extLst>
                <a:ext uri="{FF2B5EF4-FFF2-40B4-BE49-F238E27FC236}">
                  <a16:creationId xmlns:a16="http://schemas.microsoft.com/office/drawing/2014/main" id="{F96A14E1-46BB-E441-BD29-639D3BF8A8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92" y="2964"/>
              <a:ext cx="6" cy="426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13" name="Group 26">
              <a:extLst>
                <a:ext uri="{FF2B5EF4-FFF2-40B4-BE49-F238E27FC236}">
                  <a16:creationId xmlns:a16="http://schemas.microsoft.com/office/drawing/2014/main" id="{5ED3F8AA-60DC-A346-9E5F-E29F6BA4D5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8" y="2526"/>
              <a:ext cx="2559" cy="516"/>
              <a:chOff x="1848" y="2526"/>
              <a:chExt cx="2559" cy="516"/>
            </a:xfrm>
          </p:grpSpPr>
          <p:sp>
            <p:nvSpPr>
              <p:cNvPr id="114" name="Text Box 27">
                <a:extLst>
                  <a:ext uri="{FF2B5EF4-FFF2-40B4-BE49-F238E27FC236}">
                    <a16:creationId xmlns:a16="http://schemas.microsoft.com/office/drawing/2014/main" id="{8F25CD2B-A067-E44F-BD6A-549F5C3DB5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35" y="2673"/>
                <a:ext cx="1072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send request using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clientSocket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" name="Line 28">
                <a:extLst>
                  <a:ext uri="{FF2B5EF4-FFF2-40B4-BE49-F238E27FC236}">
                    <a16:creationId xmlns:a16="http://schemas.microsoft.com/office/drawing/2014/main" id="{AD461D4B-E47B-A345-9632-F935FCFBB0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2" y="2526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6" name="Line 29">
                <a:extLst>
                  <a:ext uri="{FF2B5EF4-FFF2-40B4-BE49-F238E27FC236}">
                    <a16:creationId xmlns:a16="http://schemas.microsoft.com/office/drawing/2014/main" id="{A6330BBE-6EEE-7E44-A9AE-95D14BB594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48" y="2790"/>
                <a:ext cx="1518" cy="252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7" name="Group 30">
            <a:extLst>
              <a:ext uri="{FF2B5EF4-FFF2-40B4-BE49-F238E27FC236}">
                <a16:creationId xmlns:a16="http://schemas.microsoft.com/office/drawing/2014/main" id="{C2C60A7C-9F85-CC40-A5F2-4EA4B69999A4}"/>
              </a:ext>
            </a:extLst>
          </p:cNvPr>
          <p:cNvGrpSpPr>
            <a:grpSpLocks/>
          </p:cNvGrpSpPr>
          <p:nvPr/>
        </p:nvGrpSpPr>
        <p:grpSpPr bwMode="auto">
          <a:xfrm>
            <a:off x="3751775" y="4272373"/>
            <a:ext cx="4097337" cy="1490662"/>
            <a:chOff x="821" y="2586"/>
            <a:chExt cx="2581" cy="939"/>
          </a:xfrm>
        </p:grpSpPr>
        <p:sp>
          <p:nvSpPr>
            <p:cNvPr id="118" name="Text Box 31">
              <a:extLst>
                <a:ext uri="{FF2B5EF4-FFF2-40B4-BE49-F238E27FC236}">
                  <a16:creationId xmlns:a16="http://schemas.microsoft.com/office/drawing/2014/main" id="{9B1FDBB8-2D0E-0148-926C-35E78571D5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" y="2787"/>
              <a:ext cx="101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read request from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connectionSocke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9" name="Text Box 32">
              <a:extLst>
                <a:ext uri="{FF2B5EF4-FFF2-40B4-BE49-F238E27FC236}">
                  <a16:creationId xmlns:a16="http://schemas.microsoft.com/office/drawing/2014/main" id="{E067E97F-BD76-CA4D-8001-FDBBB19C2B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1" y="3195"/>
              <a:ext cx="101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write reply to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connectionSocket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0" name="Line 33">
              <a:extLst>
                <a:ext uri="{FF2B5EF4-FFF2-40B4-BE49-F238E27FC236}">
                  <a16:creationId xmlns:a16="http://schemas.microsoft.com/office/drawing/2014/main" id="{B80CAF82-B68A-6743-9CBF-29BD445037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8" y="2586"/>
              <a:ext cx="0" cy="24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" name="Line 34">
              <a:extLst>
                <a:ext uri="{FF2B5EF4-FFF2-40B4-BE49-F238E27FC236}">
                  <a16:creationId xmlns:a16="http://schemas.microsoft.com/office/drawing/2014/main" id="{21022D29-A2BF-2F42-AB7D-DD5736B2CC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84" y="3090"/>
              <a:ext cx="6" cy="156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" name="Line 35">
              <a:extLst>
                <a:ext uri="{FF2B5EF4-FFF2-40B4-BE49-F238E27FC236}">
                  <a16:creationId xmlns:a16="http://schemas.microsoft.com/office/drawing/2014/main" id="{82228A3E-396F-244B-822E-ACF1690A6D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6" y="3306"/>
              <a:ext cx="1536" cy="18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23" name="Group 52">
            <a:extLst>
              <a:ext uri="{FF2B5EF4-FFF2-40B4-BE49-F238E27FC236}">
                <a16:creationId xmlns:a16="http://schemas.microsoft.com/office/drawing/2014/main" id="{DD1A5005-D6A8-DF4C-876E-C0F3D852EBA6}"/>
              </a:ext>
            </a:extLst>
          </p:cNvPr>
          <p:cNvGrpSpPr>
            <a:grpSpLocks/>
          </p:cNvGrpSpPr>
          <p:nvPr/>
        </p:nvGrpSpPr>
        <p:grpSpPr bwMode="auto">
          <a:xfrm>
            <a:off x="5371025" y="3472273"/>
            <a:ext cx="2200275" cy="587375"/>
            <a:chOff x="3043" y="1189"/>
            <a:chExt cx="1386" cy="370"/>
          </a:xfrm>
        </p:grpSpPr>
        <p:sp>
          <p:nvSpPr>
            <p:cNvPr id="124" name="Line 37">
              <a:extLst>
                <a:ext uri="{FF2B5EF4-FFF2-40B4-BE49-F238E27FC236}">
                  <a16:creationId xmlns:a16="http://schemas.microsoft.com/office/drawing/2014/main" id="{81B4F580-1F65-E540-9F46-45075CD5F0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3" y="1372"/>
              <a:ext cx="1386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prstDash val="dash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" name="Text Box 38">
              <a:extLst>
                <a:ext uri="{FF2B5EF4-FFF2-40B4-BE49-F238E27FC236}">
                  <a16:creationId xmlns:a16="http://schemas.microsoft.com/office/drawing/2014/main" id="{30516E51-0850-1846-9E67-14E9AE0CDE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6" y="1189"/>
              <a:ext cx="1204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TCP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connection setup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6" name="Group 53">
            <a:extLst>
              <a:ext uri="{FF2B5EF4-FFF2-40B4-BE49-F238E27FC236}">
                <a16:creationId xmlns:a16="http://schemas.microsoft.com/office/drawing/2014/main" id="{76CBC147-BDC3-9B41-973C-967836913ABE}"/>
              </a:ext>
            </a:extLst>
          </p:cNvPr>
          <p:cNvGrpSpPr>
            <a:grpSpLocks/>
          </p:cNvGrpSpPr>
          <p:nvPr/>
        </p:nvGrpSpPr>
        <p:grpSpPr bwMode="auto">
          <a:xfrm>
            <a:off x="3702562" y="4620035"/>
            <a:ext cx="5457825" cy="1954213"/>
            <a:chOff x="832" y="2713"/>
            <a:chExt cx="3438" cy="1231"/>
          </a:xfrm>
        </p:grpSpPr>
        <p:sp>
          <p:nvSpPr>
            <p:cNvPr id="127" name="Text Box 15">
              <a:extLst>
                <a:ext uri="{FF2B5EF4-FFF2-40B4-BE49-F238E27FC236}">
                  <a16:creationId xmlns:a16="http://schemas.microsoft.com/office/drawing/2014/main" id="{BD49C61F-B268-184F-AF89-17A24E5209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7" y="3512"/>
              <a:ext cx="101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close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connectionSocket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8" name="Line 16">
              <a:extLst>
                <a:ext uri="{FF2B5EF4-FFF2-40B4-BE49-F238E27FC236}">
                  <a16:creationId xmlns:a16="http://schemas.microsoft.com/office/drawing/2014/main" id="{2835A62D-1D4C-F44E-B258-9FD622CDE7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8" y="3437"/>
              <a:ext cx="0" cy="204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" name="Freeform 17">
              <a:extLst>
                <a:ext uri="{FF2B5EF4-FFF2-40B4-BE49-F238E27FC236}">
                  <a16:creationId xmlns:a16="http://schemas.microsoft.com/office/drawing/2014/main" id="{196F5095-8EB1-E544-AC83-27077BF9FE26}"/>
                </a:ext>
              </a:extLst>
            </p:cNvPr>
            <p:cNvSpPr>
              <a:spLocks/>
            </p:cNvSpPr>
            <p:nvPr/>
          </p:nvSpPr>
          <p:spPr bwMode="auto">
            <a:xfrm>
              <a:off x="832" y="2713"/>
              <a:ext cx="492" cy="306"/>
            </a:xfrm>
            <a:custGeom>
              <a:avLst/>
              <a:gdLst>
                <a:gd name="T0" fmla="*/ 492 w 492"/>
                <a:gd name="T1" fmla="*/ 0 h 2112"/>
                <a:gd name="T2" fmla="*/ 492 w 492"/>
                <a:gd name="T3" fmla="*/ 0 h 2112"/>
                <a:gd name="T4" fmla="*/ 0 w 492"/>
                <a:gd name="T5" fmla="*/ 0 h 2112"/>
                <a:gd name="T6" fmla="*/ 0 w 492"/>
                <a:gd name="T7" fmla="*/ 0 h 2112"/>
                <a:gd name="T8" fmla="*/ 402 w 492"/>
                <a:gd name="T9" fmla="*/ 0 h 21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2"/>
                <a:gd name="T16" fmla="*/ 0 h 2112"/>
                <a:gd name="T17" fmla="*/ 492 w 492"/>
                <a:gd name="T18" fmla="*/ 2112 h 21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2" h="2112">
                  <a:moveTo>
                    <a:pt x="492" y="1968"/>
                  </a:moveTo>
                  <a:lnTo>
                    <a:pt x="492" y="2112"/>
                  </a:lnTo>
                  <a:lnTo>
                    <a:pt x="0" y="2112"/>
                  </a:lnTo>
                  <a:lnTo>
                    <a:pt x="0" y="0"/>
                  </a:lnTo>
                  <a:lnTo>
                    <a:pt x="402" y="0"/>
                  </a:lnTo>
                </a:path>
              </a:pathLst>
            </a:cu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0" name="Group 18">
              <a:extLst>
                <a:ext uri="{FF2B5EF4-FFF2-40B4-BE49-F238E27FC236}">
                  <a16:creationId xmlns:a16="http://schemas.microsoft.com/office/drawing/2014/main" id="{F4224D9F-D1DB-8E48-A119-9B3F4C3D1B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93" y="3248"/>
              <a:ext cx="877" cy="696"/>
              <a:chOff x="3365" y="3375"/>
              <a:chExt cx="877" cy="696"/>
            </a:xfrm>
          </p:grpSpPr>
          <p:sp>
            <p:nvSpPr>
              <p:cNvPr id="131" name="Text Box 19">
                <a:extLst>
                  <a:ext uri="{FF2B5EF4-FFF2-40B4-BE49-F238E27FC236}">
                    <a16:creationId xmlns:a16="http://schemas.microsoft.com/office/drawing/2014/main" id="{F57939D5-24DF-6642-BEE7-6FF967E1DC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5" y="3375"/>
                <a:ext cx="877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read reply from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clientSocket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2" name="Text Box 20">
                <a:extLst>
                  <a:ext uri="{FF2B5EF4-FFF2-40B4-BE49-F238E27FC236}">
                    <a16:creationId xmlns:a16="http://schemas.microsoft.com/office/drawing/2014/main" id="{B8D472E2-53BD-364D-B6B9-D8A6525EDD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89" y="3741"/>
                <a:ext cx="730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close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clientSocket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3" name="Line 21">
                <a:extLst>
                  <a:ext uri="{FF2B5EF4-FFF2-40B4-BE49-F238E27FC236}">
                    <a16:creationId xmlns:a16="http://schemas.microsoft.com/office/drawing/2014/main" id="{92CB88C5-2A25-EE44-A282-4291659B12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6" y="3690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34" name="Slide Number Placeholder 2">
            <a:extLst>
              <a:ext uri="{FF2B5EF4-FFF2-40B4-BE49-F238E27FC236}">
                <a16:creationId xmlns:a16="http://schemas.microsoft.com/office/drawing/2014/main" id="{ED1B064B-3835-7243-A075-A2B6E297B7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870A9B-D66A-ED5A-2652-39E85AF28E56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1000015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4400" dirty="0">
                <a:solidFill>
                  <a:srgbClr val="000099"/>
                </a:solidFill>
                <a:ea typeface="ＭＳ Ｐゴシック" panose="020B0600070205080204" pitchFamily="34" charset="-128"/>
                <a:cs typeface="+mn-cs"/>
              </a:rPr>
              <a:t>Example app: TCP client</a:t>
            </a:r>
            <a:endParaRPr lang="en-US" altLang="en-US" sz="5400" dirty="0">
              <a:solidFill>
                <a:srgbClr val="000099"/>
              </a:solidFill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" name="TextBox 1">
            <a:extLst>
              <a:ext uri="{FF2B5EF4-FFF2-40B4-BE49-F238E27FC236}">
                <a16:creationId xmlns:a16="http://schemas.microsoft.com/office/drawing/2014/main" id="{32242A8E-B3CB-194E-B2B0-D62D05F94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3332" y="2021516"/>
            <a:ext cx="5878982" cy="3651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from socket import *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serverName = '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servername'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serverPort = 12000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clientSocket = socket(AF_INET, SOCK_STREAM)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clientSocket.connect((serverName,serverPort))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sentence = input('Input lowercase sentence:')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clientSocket.send(sentence.encode())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modifiedSentence = clientSocket.recv(1024)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print ('From Server:', modifiedSentence.decode())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clientSocket.close()</a:t>
            </a:r>
          </a:p>
        </p:txBody>
      </p:sp>
      <p:sp>
        <p:nvSpPr>
          <p:cNvPr id="26" name="TextBox 2">
            <a:extLst>
              <a:ext uri="{FF2B5EF4-FFF2-40B4-BE49-F238E27FC236}">
                <a16:creationId xmlns:a16="http://schemas.microsoft.com/office/drawing/2014/main" id="{CB8056E7-3F65-9A48-BB93-0E9B6178A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6032" y="1538916"/>
            <a:ext cx="27066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Python TCPClient</a:t>
            </a:r>
          </a:p>
        </p:txBody>
      </p:sp>
      <p:grpSp>
        <p:nvGrpSpPr>
          <p:cNvPr id="27" name="Group 47">
            <a:extLst>
              <a:ext uri="{FF2B5EF4-FFF2-40B4-BE49-F238E27FC236}">
                <a16:creationId xmlns:a16="http://schemas.microsoft.com/office/drawing/2014/main" id="{500AF080-AE8D-BA48-B682-89E723677E64}"/>
              </a:ext>
            </a:extLst>
          </p:cNvPr>
          <p:cNvGrpSpPr>
            <a:grpSpLocks/>
          </p:cNvGrpSpPr>
          <p:nvPr/>
        </p:nvGrpSpPr>
        <p:grpSpPr bwMode="auto">
          <a:xfrm>
            <a:off x="1656643" y="3166108"/>
            <a:ext cx="3481226" cy="584775"/>
            <a:chOff x="-792500" y="2796587"/>
            <a:chExt cx="3481672" cy="584044"/>
          </a:xfrm>
        </p:grpSpPr>
        <p:sp>
          <p:nvSpPr>
            <p:cNvPr id="28" name="TextBox 31">
              <a:extLst>
                <a:ext uri="{FF2B5EF4-FFF2-40B4-BE49-F238E27FC236}">
                  <a16:creationId xmlns:a16="http://schemas.microsoft.com/office/drawing/2014/main" id="{8564B35A-2400-144A-A554-A0822DEA8F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792500" y="2796587"/>
              <a:ext cx="2888177" cy="5840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create TCP socket for server, remote port 12000</a:t>
              </a:r>
            </a:p>
          </p:txBody>
        </p:sp>
        <p:cxnSp>
          <p:nvCxnSpPr>
            <p:cNvPr id="29" name="Straight Connector 32">
              <a:extLst>
                <a:ext uri="{FF2B5EF4-FFF2-40B4-BE49-F238E27FC236}">
                  <a16:creationId xmlns:a16="http://schemas.microsoft.com/office/drawing/2014/main" id="{729CE148-4BC3-9844-81FA-3A670DB40EA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61643" y="2959715"/>
              <a:ext cx="727529" cy="272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34C8C54F-60CE-974F-8DEC-48BF9D4DF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0541" y="2993923"/>
            <a:ext cx="2133599" cy="589517"/>
          </a:xfrm>
          <a:prstGeom prst="ellipse">
            <a:avLst/>
          </a:prstGeom>
          <a:noFill/>
          <a:ln w="1905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1" name="Group 47">
            <a:extLst>
              <a:ext uri="{FF2B5EF4-FFF2-40B4-BE49-F238E27FC236}">
                <a16:creationId xmlns:a16="http://schemas.microsoft.com/office/drawing/2014/main" id="{E21D3C68-B8EF-A444-80F9-31E682114E08}"/>
              </a:ext>
            </a:extLst>
          </p:cNvPr>
          <p:cNvGrpSpPr>
            <a:grpSpLocks/>
          </p:cNvGrpSpPr>
          <p:nvPr/>
        </p:nvGrpSpPr>
        <p:grpSpPr bwMode="auto">
          <a:xfrm>
            <a:off x="970933" y="4616284"/>
            <a:ext cx="4182811" cy="338554"/>
            <a:chOff x="-1495096" y="3006031"/>
            <a:chExt cx="4184250" cy="337708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6254A49-A84C-F34C-9198-710668B581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495096" y="3006031"/>
              <a:ext cx="3779615" cy="337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No need to attach server name, port </a:t>
              </a: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433589B-C5F2-A648-B005-02E951C7EF7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61625" y="3165929"/>
              <a:ext cx="727529" cy="272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F8EE22D5-1E7E-E545-A607-D85E87E6C1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9B8A40-56D4-9DD2-AF0E-9F099B943017}"/>
              </a:ext>
            </a:extLst>
          </p:cNvPr>
          <p:cNvSpPr txBox="1"/>
          <p:nvPr/>
        </p:nvSpPr>
        <p:spPr>
          <a:xfrm>
            <a:off x="589926" y="6443089"/>
            <a:ext cx="32508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Note: this code update (2023) to Python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291010-C9D7-8A75-333E-224833A56823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951576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4400" dirty="0">
                <a:solidFill>
                  <a:srgbClr val="000099"/>
                </a:solidFill>
                <a:ea typeface="ＭＳ Ｐゴシック" panose="020B0600070205080204" pitchFamily="34" charset="-128"/>
                <a:cs typeface="+mn-cs"/>
              </a:rPr>
              <a:t>Example app: TCP server</a:t>
            </a:r>
            <a:endParaRPr lang="en-US" altLang="en-US" sz="5400" dirty="0">
              <a:solidFill>
                <a:srgbClr val="000099"/>
              </a:solidFill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" name="TextBox 1">
            <a:extLst>
              <a:ext uri="{FF2B5EF4-FFF2-40B4-BE49-F238E27FC236}">
                <a16:creationId xmlns:a16="http://schemas.microsoft.com/office/drawing/2014/main" id="{5950741E-8292-7E41-84C1-46A070CA3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4060" y="1922450"/>
            <a:ext cx="6269665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from socket import *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serverPort = 12000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serverSocket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= socket(AF_INET,SOCK_STREAM)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serverSocket.bind(('',serverPort))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serverSocket.listen(1)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print('The server is ready to receive')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while True: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connectionSocket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, addr = serverSocket.accept()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sentence = connectionSocket.recv(1024).decode()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capitalizedSentence = sentence.upper()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connectionSocket.send(capitalizedSentence.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                                                       encode())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connectionSocket.close()</a:t>
            </a: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311EF17F-3D4A-0B47-8BA1-C2C1035869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4060" y="1439850"/>
            <a:ext cx="28273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Python TCPServer</a:t>
            </a:r>
          </a:p>
        </p:txBody>
      </p:sp>
      <p:grpSp>
        <p:nvGrpSpPr>
          <p:cNvPr id="15" name="Group 13">
            <a:extLst>
              <a:ext uri="{FF2B5EF4-FFF2-40B4-BE49-F238E27FC236}">
                <a16:creationId xmlns:a16="http://schemas.microsoft.com/office/drawing/2014/main" id="{FE11A28B-1D9C-5D4D-9B45-8F8462E7E906}"/>
              </a:ext>
            </a:extLst>
          </p:cNvPr>
          <p:cNvGrpSpPr>
            <a:grpSpLocks/>
          </p:cNvGrpSpPr>
          <p:nvPr/>
        </p:nvGrpSpPr>
        <p:grpSpPr bwMode="auto">
          <a:xfrm>
            <a:off x="1724351" y="2556715"/>
            <a:ext cx="3374285" cy="338554"/>
            <a:chOff x="-749058" y="2414108"/>
            <a:chExt cx="3374330" cy="338257"/>
          </a:xfrm>
        </p:grpSpPr>
        <p:sp>
          <p:nvSpPr>
            <p:cNvPr id="16" name="TextBox 31">
              <a:extLst>
                <a:ext uri="{FF2B5EF4-FFF2-40B4-BE49-F238E27FC236}">
                  <a16:creationId xmlns:a16="http://schemas.microsoft.com/office/drawing/2014/main" id="{BE7B84C0-FF81-284C-B893-87D2A5F776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749058" y="2414108"/>
              <a:ext cx="3062331" cy="338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create TCP welcoming socket</a:t>
              </a:r>
            </a:p>
          </p:txBody>
        </p:sp>
        <p:cxnSp>
          <p:nvCxnSpPr>
            <p:cNvPr id="17" name="Straight Connector 32">
              <a:extLst>
                <a:ext uri="{FF2B5EF4-FFF2-40B4-BE49-F238E27FC236}">
                  <a16:creationId xmlns:a16="http://schemas.microsoft.com/office/drawing/2014/main" id="{9AC227D5-ACE3-9D45-9809-D827F0E36A3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136730" y="2597150"/>
              <a:ext cx="488542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8" name="Group 14">
            <a:extLst>
              <a:ext uri="{FF2B5EF4-FFF2-40B4-BE49-F238E27FC236}">
                <a16:creationId xmlns:a16="http://schemas.microsoft.com/office/drawing/2014/main" id="{FAAA7E9C-BFC7-834D-AA16-2DA4A476CDA2}"/>
              </a:ext>
            </a:extLst>
          </p:cNvPr>
          <p:cNvGrpSpPr>
            <a:grpSpLocks/>
          </p:cNvGrpSpPr>
          <p:nvPr/>
        </p:nvGrpSpPr>
        <p:grpSpPr bwMode="auto">
          <a:xfrm>
            <a:off x="2080634" y="3063061"/>
            <a:ext cx="3036870" cy="584775"/>
            <a:chOff x="-1667664" y="2908339"/>
            <a:chExt cx="4371910" cy="584044"/>
          </a:xfrm>
        </p:grpSpPr>
        <p:sp>
          <p:nvSpPr>
            <p:cNvPr id="19" name="TextBox 26">
              <a:extLst>
                <a:ext uri="{FF2B5EF4-FFF2-40B4-BE49-F238E27FC236}">
                  <a16:creationId xmlns:a16="http://schemas.microsoft.com/office/drawing/2014/main" id="{DDD9E670-279E-624F-9241-0F4EB31CF7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667664" y="2908339"/>
              <a:ext cx="4139198" cy="584044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server begins listening for  incoming TCP requests</a:t>
              </a:r>
            </a:p>
          </p:txBody>
        </p:sp>
        <p:cxnSp>
          <p:nvCxnSpPr>
            <p:cNvPr id="20" name="Straight Connector 30">
              <a:extLst>
                <a:ext uri="{FF2B5EF4-FFF2-40B4-BE49-F238E27FC236}">
                  <a16:creationId xmlns:a16="http://schemas.microsoft.com/office/drawing/2014/main" id="{24B55155-A531-764D-80EA-161809A2835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67825" y="3217286"/>
              <a:ext cx="736421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1" name="Group 15">
            <a:extLst>
              <a:ext uri="{FF2B5EF4-FFF2-40B4-BE49-F238E27FC236}">
                <a16:creationId xmlns:a16="http://schemas.microsoft.com/office/drawing/2014/main" id="{4E398AB3-CA85-1246-9B45-0A62FCD962C1}"/>
              </a:ext>
            </a:extLst>
          </p:cNvPr>
          <p:cNvGrpSpPr>
            <a:grpSpLocks/>
          </p:cNvGrpSpPr>
          <p:nvPr/>
        </p:nvGrpSpPr>
        <p:grpSpPr bwMode="auto">
          <a:xfrm>
            <a:off x="3328500" y="3824136"/>
            <a:ext cx="1858624" cy="297517"/>
            <a:chOff x="905004" y="3819988"/>
            <a:chExt cx="1859872" cy="298292"/>
          </a:xfrm>
        </p:grpSpPr>
        <p:sp>
          <p:nvSpPr>
            <p:cNvPr id="22" name="TextBox 34">
              <a:extLst>
                <a:ext uri="{FF2B5EF4-FFF2-40B4-BE49-F238E27FC236}">
                  <a16:creationId xmlns:a16="http://schemas.microsoft.com/office/drawing/2014/main" id="{94C20932-E37A-A347-85B8-6A71FAB668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5004" y="3819988"/>
              <a:ext cx="1859872" cy="298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loop forever</a:t>
              </a:r>
            </a:p>
          </p:txBody>
        </p:sp>
        <p:cxnSp>
          <p:nvCxnSpPr>
            <p:cNvPr id="23" name="Straight Connector 35">
              <a:extLst>
                <a:ext uri="{FF2B5EF4-FFF2-40B4-BE49-F238E27FC236}">
                  <a16:creationId xmlns:a16="http://schemas.microsoft.com/office/drawing/2014/main" id="{FAC42719-5F1D-0749-8621-F7DF2A166C6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187464" y="3964782"/>
              <a:ext cx="523192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4" name="Group 17">
            <a:extLst>
              <a:ext uri="{FF2B5EF4-FFF2-40B4-BE49-F238E27FC236}">
                <a16:creationId xmlns:a16="http://schemas.microsoft.com/office/drawing/2014/main" id="{F3B50B89-48C8-7E48-8FDE-4D6D8A826B11}"/>
              </a:ext>
            </a:extLst>
          </p:cNvPr>
          <p:cNvGrpSpPr>
            <a:grpSpLocks/>
          </p:cNvGrpSpPr>
          <p:nvPr/>
        </p:nvGrpSpPr>
        <p:grpSpPr bwMode="auto">
          <a:xfrm>
            <a:off x="906051" y="4140995"/>
            <a:ext cx="4273089" cy="502702"/>
            <a:chOff x="-812680" y="4044670"/>
            <a:chExt cx="3634217" cy="502843"/>
          </a:xfrm>
        </p:grpSpPr>
        <p:sp>
          <p:nvSpPr>
            <p:cNvPr id="34" name="TextBox 36">
              <a:extLst>
                <a:ext uri="{FF2B5EF4-FFF2-40B4-BE49-F238E27FC236}">
                  <a16:creationId xmlns:a16="http://schemas.microsoft.com/office/drawing/2014/main" id="{C7F6449F-1FAC-0144-AA7B-940049031E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812680" y="4044670"/>
              <a:ext cx="3634217" cy="5028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server waits on accept() for incoming requests, new socket created on return</a:t>
              </a:r>
            </a:p>
          </p:txBody>
        </p:sp>
        <p:cxnSp>
          <p:nvCxnSpPr>
            <p:cNvPr id="35" name="Straight Connector 39">
              <a:extLst>
                <a:ext uri="{FF2B5EF4-FFF2-40B4-BE49-F238E27FC236}">
                  <a16:creationId xmlns:a16="http://schemas.microsoft.com/office/drawing/2014/main" id="{1E61EC2C-2AF0-BD40-B849-E841D4D3D3F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37575" y="4188416"/>
              <a:ext cx="435213" cy="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6" name="Group 18">
            <a:extLst>
              <a:ext uri="{FF2B5EF4-FFF2-40B4-BE49-F238E27FC236}">
                <a16:creationId xmlns:a16="http://schemas.microsoft.com/office/drawing/2014/main" id="{2B25A781-3C5A-4345-B1BA-DEACB59F98D7}"/>
              </a:ext>
            </a:extLst>
          </p:cNvPr>
          <p:cNvGrpSpPr>
            <a:grpSpLocks/>
          </p:cNvGrpSpPr>
          <p:nvPr/>
        </p:nvGrpSpPr>
        <p:grpSpPr bwMode="auto">
          <a:xfrm>
            <a:off x="1951002" y="4771416"/>
            <a:ext cx="3154397" cy="584775"/>
            <a:chOff x="-463314" y="4140337"/>
            <a:chExt cx="3153124" cy="585085"/>
          </a:xfrm>
        </p:grpSpPr>
        <p:sp>
          <p:nvSpPr>
            <p:cNvPr id="37" name="TextBox 61">
              <a:extLst>
                <a:ext uri="{FF2B5EF4-FFF2-40B4-BE49-F238E27FC236}">
                  <a16:creationId xmlns:a16="http://schemas.microsoft.com/office/drawing/2014/main" id="{A4995AED-D7BB-0A43-8C79-4CAECC669A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63314" y="4140337"/>
              <a:ext cx="2746043" cy="585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read bytes from socket (but not address as in UDP)</a:t>
              </a:r>
            </a:p>
          </p:txBody>
        </p:sp>
        <p:cxnSp>
          <p:nvCxnSpPr>
            <p:cNvPr id="38" name="Straight Connector 62">
              <a:extLst>
                <a:ext uri="{FF2B5EF4-FFF2-40B4-BE49-F238E27FC236}">
                  <a16:creationId xmlns:a16="http://schemas.microsoft.com/office/drawing/2014/main" id="{39CA9B6C-408E-C74F-BCDD-01EC8665E7B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194710" y="4288764"/>
              <a:ext cx="495100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9" name="Group 28">
            <a:extLst>
              <a:ext uri="{FF2B5EF4-FFF2-40B4-BE49-F238E27FC236}">
                <a16:creationId xmlns:a16="http://schemas.microsoft.com/office/drawing/2014/main" id="{2EF79CA3-2450-FB47-A075-DE884877B7F1}"/>
              </a:ext>
            </a:extLst>
          </p:cNvPr>
          <p:cNvGrpSpPr>
            <a:grpSpLocks/>
          </p:cNvGrpSpPr>
          <p:nvPr/>
        </p:nvGrpSpPr>
        <p:grpSpPr bwMode="auto">
          <a:xfrm>
            <a:off x="1026276" y="5902558"/>
            <a:ext cx="4079124" cy="584775"/>
            <a:chOff x="-1411416" y="4686923"/>
            <a:chExt cx="4079374" cy="585153"/>
          </a:xfrm>
        </p:grpSpPr>
        <p:sp>
          <p:nvSpPr>
            <p:cNvPr id="40" name="TextBox 29">
              <a:extLst>
                <a:ext uri="{FF2B5EF4-FFF2-40B4-BE49-F238E27FC236}">
                  <a16:creationId xmlns:a16="http://schemas.microsoft.com/office/drawing/2014/main" id="{4729B12D-4BE5-7649-A39B-A68529411C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411416" y="4686923"/>
              <a:ext cx="3902071" cy="585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close connection to this client (but </a:t>
              </a: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not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welcoming socket)</a:t>
              </a:r>
            </a:p>
          </p:txBody>
        </p:sp>
        <p:cxnSp>
          <p:nvCxnSpPr>
            <p:cNvPr id="41" name="Straight Connector 33">
              <a:extLst>
                <a:ext uri="{FF2B5EF4-FFF2-40B4-BE49-F238E27FC236}">
                  <a16:creationId xmlns:a16="http://schemas.microsoft.com/office/drawing/2014/main" id="{445EB81E-B12F-454D-80B8-5484BE29F55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172628" y="4843734"/>
              <a:ext cx="495330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5" name="Slide Number Placeholder 2">
            <a:extLst>
              <a:ext uri="{FF2B5EF4-FFF2-40B4-BE49-F238E27FC236}">
                <a16:creationId xmlns:a16="http://schemas.microsoft.com/office/drawing/2014/main" id="{CBD18514-E668-5544-8BF7-53F711E4F9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F920B5-7A1E-85CA-515F-41A5A4755525}"/>
              </a:ext>
            </a:extLst>
          </p:cNvPr>
          <p:cNvSpPr txBox="1"/>
          <p:nvPr/>
        </p:nvSpPr>
        <p:spPr>
          <a:xfrm>
            <a:off x="589926" y="6443089"/>
            <a:ext cx="32508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Note: this code update (2023) to Python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BE7B1B-1EBE-6FEF-1868-B0AF03BE484A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1453320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13b610e-d3b5-490f-b165-988100e8232a}" enabled="1" method="Standard" siteId="{5a4ba6f9-f531-4f32-9467-398f19e69de4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18430</TotalTime>
  <Words>1566</Words>
  <Application>Microsoft Office PowerPoint</Application>
  <PresentationFormat>Widescreen</PresentationFormat>
  <Paragraphs>361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32" baseType="lpstr">
      <vt:lpstr>ＭＳ Ｐゴシック</vt:lpstr>
      <vt:lpstr>ZapfDingbats</vt:lpstr>
      <vt:lpstr>Arial</vt:lpstr>
      <vt:lpstr>Calibri</vt:lpstr>
      <vt:lpstr>Calibri Light</vt:lpstr>
      <vt:lpstr>Comic Sans MS</vt:lpstr>
      <vt:lpstr>Courier New</vt:lpstr>
      <vt:lpstr>Gill Sans MT</vt:lpstr>
      <vt:lpstr>Open Sans</vt:lpstr>
      <vt:lpstr>Proxima Nova</vt:lpstr>
      <vt:lpstr>Roboto</vt:lpstr>
      <vt:lpstr>Roboto Light</vt:lpstr>
      <vt:lpstr>Tahoma</vt:lpstr>
      <vt:lpstr>Times New Roman</vt:lpstr>
      <vt:lpstr>Wingdings</vt:lpstr>
      <vt:lpstr>Office Theme</vt:lpstr>
      <vt:lpstr>Lab1 Background: Socket Programming with UDP and TCP</vt:lpstr>
      <vt:lpstr>Sockets</vt:lpstr>
      <vt:lpstr>Connection (the basic abstraction)</vt:lpstr>
      <vt:lpstr>Connections</vt:lpstr>
      <vt:lpstr>Connections</vt:lpstr>
      <vt:lpstr>Ports</vt:lpstr>
      <vt:lpstr>Socket programming </vt:lpstr>
      <vt:lpstr>Socket programming </vt:lpstr>
      <vt:lpstr>Socket programming with UDP </vt:lpstr>
      <vt:lpstr>Client/server socket interaction: UDP</vt:lpstr>
      <vt:lpstr>Example app: UDP client</vt:lpstr>
      <vt:lpstr>Example app: UDP server</vt:lpstr>
      <vt:lpstr>Socket programming with TCP</vt:lpstr>
      <vt:lpstr>Client/server socket interaction: TCP</vt:lpstr>
      <vt:lpstr>Example app: TCP client</vt:lpstr>
      <vt:lpstr>Example app: TCP server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Zonghua Gu</cp:lastModifiedBy>
  <cp:revision>330</cp:revision>
  <dcterms:created xsi:type="dcterms:W3CDTF">2020-01-18T07:24:59Z</dcterms:created>
  <dcterms:modified xsi:type="dcterms:W3CDTF">2026-01-31T19:41:37Z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Theme:5</vt:lpwstr>
  </property>
  <property fmtid="{D5CDD505-2E9C-101B-9397-08002B2CF9AE}" pid="3" name="ClassificationContentMarkingHeaderText">
    <vt:lpwstr>Begränsad delning</vt:lpwstr>
  </property>
</Properties>
</file>