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960" r:id="rId2"/>
    <p:sldId id="1053" r:id="rId3"/>
    <p:sldId id="1148" r:id="rId4"/>
    <p:sldId id="1149" r:id="rId5"/>
    <p:sldId id="1150" r:id="rId6"/>
    <p:sldId id="1151" r:id="rId7"/>
    <p:sldId id="1152" r:id="rId8"/>
    <p:sldId id="1153" r:id="rId9"/>
    <p:sldId id="1154" r:id="rId10"/>
    <p:sldId id="1155" r:id="rId11"/>
    <p:sldId id="1156" r:id="rId12"/>
    <p:sldId id="115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8118"/>
    <p:restoredTop sz="79593"/>
  </p:normalViewPr>
  <p:slideViewPr>
    <p:cSldViewPr snapToGrid="0" snapToObjects="1">
      <p:cViewPr varScale="1">
        <p:scale>
          <a:sx n="65" d="100"/>
          <a:sy n="65" d="100"/>
        </p:scale>
        <p:origin x="758" y="38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delSld modSld">
      <pc:chgData name="Zonghua Gu" userId="9a7e1853e1951ef5" providerId="LiveId" clId="{CF1FAA12-072C-4ED5-BA76-0FFFAEFDB88A}" dt="2026-01-29T03:36:05.950" v="10" actId="47"/>
      <pc:docMkLst>
        <pc:docMk/>
      </pc:docMkLst>
      <pc:sldChg chg="modSp mod">
        <pc:chgData name="Zonghua Gu" userId="9a7e1853e1951ef5" providerId="LiveId" clId="{CF1FAA12-072C-4ED5-BA76-0FFFAEFDB88A}" dt="2026-01-29T03:35:30.129" v="9" actId="404"/>
        <pc:sldMkLst>
          <pc:docMk/>
          <pc:sldMk cId="2314825519" sldId="960"/>
        </pc:sldMkLst>
        <pc:spChg chg="mod">
          <ac:chgData name="Zonghua Gu" userId="9a7e1853e1951ef5" providerId="LiveId" clId="{CF1FAA12-072C-4ED5-BA76-0FFFAEFDB88A}" dt="2026-01-29T03:35:30.129" v="9" actId="404"/>
          <ac:spMkLst>
            <pc:docMk/>
            <pc:sldMk cId="2314825519" sldId="960"/>
            <ac:spMk id="6" creationId="{9A9F684E-5DD1-6543-95D2-8EB5E7619BE2}"/>
          </ac:spMkLst>
        </pc:spChg>
      </pc:sldChg>
      <pc:sldChg chg="del">
        <pc:chgData name="Zonghua Gu" userId="9a7e1853e1951ef5" providerId="LiveId" clId="{CF1FAA12-072C-4ED5-BA76-0FFFAEFDB88A}" dt="2026-01-29T03:34:52.213" v="0" actId="47"/>
        <pc:sldMkLst>
          <pc:docMk/>
          <pc:sldMk cId="3950370121" sldId="1048"/>
        </pc:sldMkLst>
      </pc:sldChg>
      <pc:sldChg chg="del">
        <pc:chgData name="Zonghua Gu" userId="9a7e1853e1951ef5" providerId="LiveId" clId="{CF1FAA12-072C-4ED5-BA76-0FFFAEFDB88A}" dt="2026-01-29T03:36:05.950" v="10" actId="47"/>
        <pc:sldMkLst>
          <pc:docMk/>
          <pc:sldMk cId="4058411749" sldId="1158"/>
        </pc:sldMkLst>
      </pc:sldChg>
      <pc:sldChg chg="del">
        <pc:chgData name="Zonghua Gu" userId="9a7e1853e1951ef5" providerId="LiveId" clId="{CF1FAA12-072C-4ED5-BA76-0FFFAEFDB88A}" dt="2026-01-29T03:36:05.950" v="10" actId="47"/>
        <pc:sldMkLst>
          <pc:docMk/>
          <pc:sldMk cId="3988395307" sldId="1159"/>
        </pc:sldMkLst>
      </pc:sldChg>
      <pc:sldChg chg="del">
        <pc:chgData name="Zonghua Gu" userId="9a7e1853e1951ef5" providerId="LiveId" clId="{CF1FAA12-072C-4ED5-BA76-0FFFAEFDB88A}" dt="2026-01-29T03:36:05.950" v="10" actId="47"/>
        <pc:sldMkLst>
          <pc:docMk/>
          <pc:sldMk cId="2577590304" sldId="12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40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489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91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06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074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UDO and TCP code updates 3/23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241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216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13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209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857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8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37773-264D-B517-95FD-E3D297D8C7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363325" y="63500"/>
            <a:ext cx="7874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E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Begränsad delning</a:t>
            </a:r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aia.cs.umass.edu/kurose_ross/index.ph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5" y="561975"/>
            <a:ext cx="53784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4800" b="1" dirty="0">
                <a:solidFill>
                  <a:srgbClr val="000099"/>
                </a:solidFill>
                <a:latin typeface="+mj-lt"/>
              </a:rPr>
              <a:t>Chapter 2</a:t>
            </a:r>
            <a:br>
              <a:rPr lang="en-US" altLang="en-US" sz="54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48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4800" b="1" dirty="0">
                <a:solidFill>
                  <a:srgbClr val="000099"/>
                </a:solidFill>
                <a:latin typeface="+mj-lt"/>
              </a:rPr>
              <a:t>Socket Programming with UDP and TCP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D27E-258D-C546-967D-65B4E6ACE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    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12" name="Picture 11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3BE6A818-0DC7-1C43-B5D9-6718F287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  <p:sp>
        <p:nvSpPr>
          <p:cNvPr id="3" name="Text Box 7">
            <a:extLst>
              <a:ext uri="{FF2B5EF4-FFF2-40B4-BE49-F238E27FC236}">
                <a16:creationId xmlns:a16="http://schemas.microsoft.com/office/drawing/2014/main" id="{C9F93B67-6614-8FA7-B2D6-DC499B44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708" y="6020834"/>
            <a:ext cx="5661104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000" dirty="0">
                <a:latin typeface="+mn-lt"/>
              </a:rPr>
              <a:t>Acknowledgement: Based on the textbook’s website: </a:t>
            </a:r>
            <a:r>
              <a:rPr lang="en-US" altLang="en-US" sz="2000" dirty="0">
                <a:latin typeface="+mn-lt"/>
                <a:hlinkClick r:id="rId4"/>
              </a:rPr>
              <a:t>https://gaia.cs.umass.edu/kurose_ross/index.php</a:t>
            </a:r>
            <a:r>
              <a:rPr lang="en-US" altLang="en-US" sz="20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32D6009B-3949-F544-A9DE-CB9BC7D5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DE711DC5-9C34-FB4F-827E-14567B91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6842"/>
            <a:ext cx="11124616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goal: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learn how to build client/server applications that communicate using sockets</a:t>
            </a:r>
            <a:endParaRPr kumimoji="0" lang="en-US" altLang="en-US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door between application process and end-end-transport protocol </a:t>
            </a:r>
          </a:p>
        </p:txBody>
      </p:sp>
      <p:sp>
        <p:nvSpPr>
          <p:cNvPr id="117" name="Freeform 66">
            <a:extLst>
              <a:ext uri="{FF2B5EF4-FFF2-40B4-BE49-F238E27FC236}">
                <a16:creationId xmlns:a16="http://schemas.microsoft.com/office/drawing/2014/main" id="{532EF64A-98FA-854C-BC6E-37DCF5442402}"/>
              </a:ext>
            </a:extLst>
          </p:cNvPr>
          <p:cNvSpPr>
            <a:spLocks/>
          </p:cNvSpPr>
          <p:nvPr/>
        </p:nvSpPr>
        <p:spPr bwMode="auto">
          <a:xfrm>
            <a:off x="8379242" y="359823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10800000" scaled="0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7">
            <a:extLst>
              <a:ext uri="{FF2B5EF4-FFF2-40B4-BE49-F238E27FC236}">
                <a16:creationId xmlns:a16="http://schemas.microsoft.com/office/drawing/2014/main" id="{0B3FAB7F-D751-694B-8438-BA60B5BE46B5}"/>
              </a:ext>
            </a:extLst>
          </p:cNvPr>
          <p:cNvSpPr>
            <a:spLocks/>
          </p:cNvSpPr>
          <p:nvPr/>
        </p:nvSpPr>
        <p:spPr bwMode="auto">
          <a:xfrm>
            <a:off x="5064542" y="4895220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9" name="Text Box 51">
            <a:extLst>
              <a:ext uri="{FF2B5EF4-FFF2-40B4-BE49-F238E27FC236}">
                <a16:creationId xmlns:a16="http://schemas.microsoft.com/office/drawing/2014/main" id="{31F42B0C-9D7E-B148-8731-AA200CC8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692" y="502698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120" name="Line 52">
            <a:extLst>
              <a:ext uri="{FF2B5EF4-FFF2-40B4-BE49-F238E27FC236}">
                <a16:creationId xmlns:a16="http://schemas.microsoft.com/office/drawing/2014/main" id="{4BBAA32D-9FE8-6946-993E-FD9CF5FF2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3242" y="5438145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1" name="Text Box 53">
            <a:extLst>
              <a:ext uri="{FF2B5EF4-FFF2-40B4-BE49-F238E27FC236}">
                <a16:creationId xmlns:a16="http://schemas.microsoft.com/office/drawing/2014/main" id="{8DD3EB16-70D9-0E41-9219-8BACFD2F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4379" y="466344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" name="Text Box 56">
            <a:extLst>
              <a:ext uri="{FF2B5EF4-FFF2-40B4-BE49-F238E27FC236}">
                <a16:creationId xmlns:a16="http://schemas.microsoft.com/office/drawing/2014/main" id="{DE211F08-2700-6642-9DC3-1997DC8E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154" y="376333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123" name="Freeform 45">
            <a:extLst>
              <a:ext uri="{FF2B5EF4-FFF2-40B4-BE49-F238E27FC236}">
                <a16:creationId xmlns:a16="http://schemas.microsoft.com/office/drawing/2014/main" id="{07B0F571-0623-E94E-AC3A-B1389138AC28}"/>
              </a:ext>
            </a:extLst>
          </p:cNvPr>
          <p:cNvSpPr>
            <a:spLocks/>
          </p:cNvSpPr>
          <p:nvPr/>
        </p:nvSpPr>
        <p:spPr bwMode="auto">
          <a:xfrm>
            <a:off x="2638842" y="3661733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Rectangle 23">
            <a:extLst>
              <a:ext uri="{FF2B5EF4-FFF2-40B4-BE49-F238E27FC236}">
                <a16:creationId xmlns:a16="http://schemas.microsoft.com/office/drawing/2014/main" id="{5F3EC8D2-BC57-284F-B438-D2889E96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17" y="361728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48E3F4A8-8297-154C-8417-C2DCBDE2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017" y="3671258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Line 25">
            <a:extLst>
              <a:ext uri="{FF2B5EF4-FFF2-40B4-BE49-F238E27FC236}">
                <a16:creationId xmlns:a16="http://schemas.microsoft.com/office/drawing/2014/main" id="{105AE91D-03CF-5F44-82E5-D8920536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542" y="44316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7" name="Text Box 26">
            <a:extLst>
              <a:ext uri="{FF2B5EF4-FFF2-40B4-BE49-F238E27FC236}">
                <a16:creationId xmlns:a16="http://schemas.microsoft.com/office/drawing/2014/main" id="{68C4EA48-A98F-F641-BB8C-5DF3E390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4142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E85BFD82-4C55-F145-9B37-39406E46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1479" y="475234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Line 28">
            <a:extLst>
              <a:ext uri="{FF2B5EF4-FFF2-40B4-BE49-F238E27FC236}">
                <a16:creationId xmlns:a16="http://schemas.microsoft.com/office/drawing/2014/main" id="{428A6E03-2BA0-6243-85AC-2DD8D7EB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06190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Line 29">
            <a:extLst>
              <a:ext uri="{FF2B5EF4-FFF2-40B4-BE49-F238E27FC236}">
                <a16:creationId xmlns:a16="http://schemas.microsoft.com/office/drawing/2014/main" id="{80E8C02C-0DBA-6E4F-BBEC-8772FE1F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34765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E521FADF-C422-1E4C-A4EF-0C457D01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04" y="36617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32" name="Text Box 26">
            <a:extLst>
              <a:ext uri="{FF2B5EF4-FFF2-40B4-BE49-F238E27FC236}">
                <a16:creationId xmlns:a16="http://schemas.microsoft.com/office/drawing/2014/main" id="{2BD2A730-1670-1444-BFD6-C3B745F2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1154" y="53190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33" name="Text Box 26">
            <a:extLst>
              <a:ext uri="{FF2B5EF4-FFF2-40B4-BE49-F238E27FC236}">
                <a16:creationId xmlns:a16="http://schemas.microsoft.com/office/drawing/2014/main" id="{F1BA5AB6-F404-DF48-BA11-738F64F0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204" y="50333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34" name="Text Box 26">
            <a:extLst>
              <a:ext uri="{FF2B5EF4-FFF2-40B4-BE49-F238E27FC236}">
                <a16:creationId xmlns:a16="http://schemas.microsoft.com/office/drawing/2014/main" id="{E65C1E73-F682-E145-9DAF-B7E55EC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7380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35" name="Oval 57">
            <a:extLst>
              <a:ext uri="{FF2B5EF4-FFF2-40B4-BE49-F238E27FC236}">
                <a16:creationId xmlns:a16="http://schemas.microsoft.com/office/drawing/2014/main" id="{64DC0B32-AD14-4F4C-AA5D-A0175C3E0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954" y="393637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54E0D8CA-A90B-D443-A809-60E5D3C4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479" y="358870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68855CF6-22DF-7942-990A-E44BCC26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379" y="3642683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333B2DFF-19AD-5D41-A13A-CAD8D4D1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904" y="440309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ABD5AE77-C968-524B-8267-F5F9D07A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3856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655A70A-1998-F04C-9071-DB527B718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842" y="47237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FFFB9613-6926-D64E-9BCE-95B470FE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03333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4AA23EE-17EA-094E-A14C-C35EF1D4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31908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159414D4-A31C-4C4B-AD86-719BE126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967" y="36331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6D188352-EF4C-FE42-8176-6AE1E535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517" y="52905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2E91368D-F47D-2247-9B9B-1AA9BD1A5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567" y="50047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CF4D2E62-8AC3-6447-8A4A-38E1546D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7094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78">
            <a:extLst>
              <a:ext uri="{FF2B5EF4-FFF2-40B4-BE49-F238E27FC236}">
                <a16:creationId xmlns:a16="http://schemas.microsoft.com/office/drawing/2014/main" id="{24268CA0-4017-FA41-A0A9-063CDE36F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317" y="390779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58" name="Line 88">
            <a:extLst>
              <a:ext uri="{FF2B5EF4-FFF2-40B4-BE49-F238E27FC236}">
                <a16:creationId xmlns:a16="http://schemas.microsoft.com/office/drawing/2014/main" id="{357D04DF-5A8F-3946-A05F-B134A0815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8592" y="403955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Line 89">
            <a:extLst>
              <a:ext uri="{FF2B5EF4-FFF2-40B4-BE49-F238E27FC236}">
                <a16:creationId xmlns:a16="http://schemas.microsoft.com/office/drawing/2014/main" id="{1F64B7FA-0FDF-AA41-954C-B46F96B6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4017" y="446500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90">
            <a:extLst>
              <a:ext uri="{FF2B5EF4-FFF2-40B4-BE49-F238E27FC236}">
                <a16:creationId xmlns:a16="http://schemas.microsoft.com/office/drawing/2014/main" id="{1C49FAA4-451C-9346-B2A1-9DADDB373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07829" y="496507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6F8F39-CC95-5944-86C7-18592B3F79C2}"/>
              </a:ext>
            </a:extLst>
          </p:cNvPr>
          <p:cNvGrpSpPr/>
          <p:nvPr/>
        </p:nvGrpSpPr>
        <p:grpSpPr>
          <a:xfrm>
            <a:off x="3786604" y="3720470"/>
            <a:ext cx="4208463" cy="801688"/>
            <a:chOff x="3786604" y="3720470"/>
            <a:chExt cx="4208463" cy="801688"/>
          </a:xfrm>
        </p:grpSpPr>
        <p:grpSp>
          <p:nvGrpSpPr>
            <p:cNvPr id="136" name="Group 58">
              <a:extLst>
                <a:ext uri="{FF2B5EF4-FFF2-40B4-BE49-F238E27FC236}">
                  <a16:creationId xmlns:a16="http://schemas.microsoft.com/office/drawing/2014/main" id="{E675645C-771D-1C4D-BD09-0A50219A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37" name="Rectangle 59">
                <a:extLst>
                  <a:ext uri="{FF2B5EF4-FFF2-40B4-BE49-F238E27FC236}">
                    <a16:creationId xmlns:a16="http://schemas.microsoft.com/office/drawing/2014/main" id="{4BD7EDAC-534F-D84F-8E24-977FE250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Rectangle 60">
                <a:extLst>
                  <a:ext uri="{FF2B5EF4-FFF2-40B4-BE49-F238E27FC236}">
                    <a16:creationId xmlns:a16="http://schemas.microsoft.com/office/drawing/2014/main" id="{522C0AA5-89A7-AE45-9EA6-0984C3D3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Rectangle 61">
                <a:extLst>
                  <a:ext uri="{FF2B5EF4-FFF2-40B4-BE49-F238E27FC236}">
                    <a16:creationId xmlns:a16="http://schemas.microsoft.com/office/drawing/2014/main" id="{E45B888C-A7C7-C04F-96C2-AC549590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62">
                <a:extLst>
                  <a:ext uri="{FF2B5EF4-FFF2-40B4-BE49-F238E27FC236}">
                    <a16:creationId xmlns:a16="http://schemas.microsoft.com/office/drawing/2014/main" id="{6D259067-30CA-3A43-B969-2FED80C1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2953A696-2D0B-4946-96FC-8F6534A2F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54" name="Rectangle 80">
                <a:extLst>
                  <a:ext uri="{FF2B5EF4-FFF2-40B4-BE49-F238E27FC236}">
                    <a16:creationId xmlns:a16="http://schemas.microsoft.com/office/drawing/2014/main" id="{313605CC-1AC5-8944-94FF-94268AD80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1">
                <a:extLst>
                  <a:ext uri="{FF2B5EF4-FFF2-40B4-BE49-F238E27FC236}">
                    <a16:creationId xmlns:a16="http://schemas.microsoft.com/office/drawing/2014/main" id="{BAFE64F2-A025-9F4E-99C9-ACC9BFF2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Rectangle 82">
                <a:extLst>
                  <a:ext uri="{FF2B5EF4-FFF2-40B4-BE49-F238E27FC236}">
                    <a16:creationId xmlns:a16="http://schemas.microsoft.com/office/drawing/2014/main" id="{3829DF34-8663-6146-9BA0-7632285C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83">
                <a:extLst>
                  <a:ext uri="{FF2B5EF4-FFF2-40B4-BE49-F238E27FC236}">
                    <a16:creationId xmlns:a16="http://schemas.microsoft.com/office/drawing/2014/main" id="{D148D136-2E3F-5745-9E50-2A0525F6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1" name="Text Box 56">
              <a:extLst>
                <a:ext uri="{FF2B5EF4-FFF2-40B4-BE49-F238E27FC236}">
                  <a16:creationId xmlns:a16="http://schemas.microsoft.com/office/drawing/2014/main" id="{0AD3AB67-1B7A-DC4C-8CF0-ED4CE6AD6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socket</a:t>
              </a:r>
            </a:p>
          </p:txBody>
        </p:sp>
        <p:sp>
          <p:nvSpPr>
            <p:cNvPr id="162" name="Line 92">
              <a:extLst>
                <a:ext uri="{FF2B5EF4-FFF2-40B4-BE49-F238E27FC236}">
                  <a16:creationId xmlns:a16="http://schemas.microsoft.com/office/drawing/2014/main" id="{143E3CCF-902D-1B48-A226-00DCF5BF0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779" y="3920495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Line 93">
              <a:extLst>
                <a:ext uri="{FF2B5EF4-FFF2-40B4-BE49-F238E27FC236}">
                  <a16:creationId xmlns:a16="http://schemas.microsoft.com/office/drawing/2014/main" id="{C4134BE9-E71D-0348-B019-E892502C5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59942" y="3909383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4" name="Group 96">
            <a:extLst>
              <a:ext uri="{FF2B5EF4-FFF2-40B4-BE49-F238E27FC236}">
                <a16:creationId xmlns:a16="http://schemas.microsoft.com/office/drawing/2014/main" id="{9A6CA79B-4989-1B42-B637-EB423445684E}"/>
              </a:ext>
            </a:extLst>
          </p:cNvPr>
          <p:cNvGrpSpPr>
            <a:grpSpLocks/>
          </p:cNvGrpSpPr>
          <p:nvPr/>
        </p:nvGrpSpPr>
        <p:grpSpPr bwMode="auto">
          <a:xfrm>
            <a:off x="2214979" y="4974595"/>
            <a:ext cx="719138" cy="773113"/>
            <a:chOff x="-44" y="1473"/>
            <a:chExt cx="981" cy="1105"/>
          </a:xfrm>
        </p:grpSpPr>
        <p:pic>
          <p:nvPicPr>
            <p:cNvPr id="165" name="Picture 97" descr="desktop_computer_stylized_medium">
              <a:extLst>
                <a:ext uri="{FF2B5EF4-FFF2-40B4-BE49-F238E27FC236}">
                  <a16:creationId xmlns:a16="http://schemas.microsoft.com/office/drawing/2014/main" id="{52A0739D-A2B2-9B4C-808E-15A031326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Freeform 98">
              <a:extLst>
                <a:ext uri="{FF2B5EF4-FFF2-40B4-BE49-F238E27FC236}">
                  <a16:creationId xmlns:a16="http://schemas.microsoft.com/office/drawing/2014/main" id="{DA46FEF0-4E21-2249-B7F5-7F6F7B7F0D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7" name="Group 99">
            <a:extLst>
              <a:ext uri="{FF2B5EF4-FFF2-40B4-BE49-F238E27FC236}">
                <a16:creationId xmlns:a16="http://schemas.microsoft.com/office/drawing/2014/main" id="{05F61B1A-C7F7-544F-B009-739C54EFEA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911054" y="5169858"/>
            <a:ext cx="719138" cy="773112"/>
            <a:chOff x="-44" y="1473"/>
            <a:chExt cx="981" cy="1105"/>
          </a:xfrm>
        </p:grpSpPr>
        <p:pic>
          <p:nvPicPr>
            <p:cNvPr id="168" name="Picture 100" descr="desktop_computer_stylized_medium">
              <a:extLst>
                <a:ext uri="{FF2B5EF4-FFF2-40B4-BE49-F238E27FC236}">
                  <a16:creationId xmlns:a16="http://schemas.microsoft.com/office/drawing/2014/main" id="{23181BD9-C2D1-5E4C-A8EE-29F5422B9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Freeform 101">
              <a:extLst>
                <a:ext uri="{FF2B5EF4-FFF2-40B4-BE49-F238E27FC236}">
                  <a16:creationId xmlns:a16="http://schemas.microsoft.com/office/drawing/2014/main" id="{2BA7DD97-C4EE-0C4B-B331-0E1CF367E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Slide Number Placeholder 2">
            <a:extLst>
              <a:ext uri="{FF2B5EF4-FFF2-40B4-BE49-F238E27FC236}">
                <a16:creationId xmlns:a16="http://schemas.microsoft.com/office/drawing/2014/main" id="{1C5A2542-7006-334B-B956-C24DF5F2D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0D8B2-BC03-7ADB-4D72-379493709C61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40526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16F4545-210A-A74D-A31A-E4339596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3591"/>
            <a:ext cx="10798277" cy="1742641"/>
          </a:xfrm>
        </p:spPr>
        <p:txBody>
          <a:bodyPr>
            <a:normAutofit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32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sz="3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unreliable datagram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sz="3200" dirty="0">
                <a:ea typeface="ＭＳ Ｐゴシック" panose="020B0600070205080204" pitchFamily="34" charset="-128"/>
              </a:rPr>
              <a:t> reliable, byte stream-oriented</a:t>
            </a:r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E8FBE9BD-5125-8341-AC98-0DB0D8C28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60" y="3291529"/>
            <a:ext cx="10798277" cy="348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Application Example: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reads a line of characters (data) from its keyboard and sends data to server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receives the data and converts characters to uppercase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sends modified data to client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receives modified data and displays line on its screen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86523E8-8571-1B4B-B7F3-5188B3168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7A2F6-09FE-5B51-EA38-112DA9ABF8D8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76229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33328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with UDP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F53D30-07DA-0041-8212-FA74FE4546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14803" y="1318820"/>
            <a:ext cx="6363331" cy="48533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E341AE-C6C9-1C45-BF8F-D552077CBC01}"/>
              </a:ext>
            </a:extLst>
          </p:cNvPr>
          <p:cNvSpPr txBox="1">
            <a:spLocks noChangeArrowheads="1"/>
          </p:cNvSpPr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 data may be lost or received out-of-order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viewpoint: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10086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provides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transfer  of groups of bytes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datagrams”) 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2626431-77B6-C54A-8DC7-1033C90BA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0DFD8-BDBA-147D-DD05-080249CD8266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4980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7F44DCB0-3AAB-534C-89CD-DB913DF09229}"/>
              </a:ext>
            </a:extLst>
          </p:cNvPr>
          <p:cNvGrpSpPr>
            <a:grpSpLocks/>
          </p:cNvGrpSpPr>
          <p:nvPr/>
        </p:nvGrpSpPr>
        <p:grpSpPr bwMode="auto">
          <a:xfrm>
            <a:off x="7008229" y="4140035"/>
            <a:ext cx="2211387" cy="2200275"/>
            <a:chOff x="3485" y="2494"/>
            <a:chExt cx="1393" cy="1386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702C97B7-DA60-0149-85AB-47F1FE0F7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40" name="Text Box 6">
                <a:extLst>
                  <a:ext uri="{FF2B5EF4-FFF2-40B4-BE49-F238E27FC236}">
                    <a16:creationId xmlns:a16="http://schemas.microsoft.com/office/drawing/2014/main" id="{ACD138B3-6FD3-074F-B4D6-833745FCB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</a:t>
                </a: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4F1734AF-E8AC-FE4D-A9A8-4AF1B202B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333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:a16="http://schemas.microsoft.com/office/drawing/2014/main" id="{81054262-2955-D24D-A204-BF36CA6FD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datagram from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FC178652-3FBA-1743-A65B-D82CC0E6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9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" name="Text Box 14">
            <a:extLst>
              <a:ext uri="{FF2B5EF4-FFF2-40B4-BE49-F238E27FC236}">
                <a16:creationId xmlns:a16="http://schemas.microsoft.com/office/drawing/2014/main" id="{9FDD06E3-D412-AA43-B8B8-10BB6577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67099-9B1F-AF4B-AADB-081B7A2FC10D}"/>
              </a:ext>
            </a:extLst>
          </p:cNvPr>
          <p:cNvGrpSpPr/>
          <p:nvPr/>
        </p:nvGrpSpPr>
        <p:grpSpPr>
          <a:xfrm>
            <a:off x="6878054" y="2115972"/>
            <a:ext cx="4198939" cy="2055813"/>
            <a:chOff x="6878054" y="2115972"/>
            <a:chExt cx="4198939" cy="2055813"/>
          </a:xfrm>
        </p:grpSpPr>
        <p:grpSp>
          <p:nvGrpSpPr>
            <p:cNvPr id="44" name="Group 11">
              <a:extLst>
                <a:ext uri="{FF2B5EF4-FFF2-40B4-BE49-F238E27FC236}">
                  <a16:creationId xmlns:a16="http://schemas.microsoft.com/office/drawing/2014/main" id="{798733F7-216A-784C-9688-7517E2C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0754" y="2115972"/>
              <a:ext cx="3635376" cy="971550"/>
              <a:chOff x="3241" y="1750"/>
              <a:chExt cx="2290" cy="612"/>
            </a:xfrm>
          </p:grpSpPr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4BB2271A-4FFC-8048-A612-7E12F9F50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277D84D0-CE11-2846-B401-8AB4D0BF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 =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socket(AF_INET,SOCK_DGRAM)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97D964F3-BC0D-9344-837B-2B0BF990E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054" y="3247860"/>
              <a:ext cx="4198939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datagram with serverIP address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And port=x; send datagram via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7EC03F56-353B-7E42-A0A2-334C1287E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967" y="3052597"/>
              <a:ext cx="0" cy="3238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" name="Line 17">
            <a:extLst>
              <a:ext uri="{FF2B5EF4-FFF2-40B4-BE49-F238E27FC236}">
                <a16:creationId xmlns:a16="http://schemas.microsoft.com/office/drawing/2014/main" id="{40634A1C-2FFB-FC4C-80CE-D90FD1922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391" y="3652672"/>
            <a:ext cx="2409826" cy="4000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C819A4BA-113E-964D-96AD-ED683094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754" y="2335047"/>
            <a:ext cx="2462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create socket, port= x: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E75AC30B-2B60-9B49-9BC6-1121B155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454" y="2630322"/>
            <a:ext cx="36353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socket(AF_INET,SOCK_DGRAM)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105B53F6-4E11-9B4F-83AD-A12D7B45002E}"/>
              </a:ext>
            </a:extLst>
          </p:cNvPr>
          <p:cNvGrpSpPr>
            <a:grpSpLocks/>
          </p:cNvGrpSpPr>
          <p:nvPr/>
        </p:nvGrpSpPr>
        <p:grpSpPr bwMode="auto">
          <a:xfrm>
            <a:off x="2344154" y="3293897"/>
            <a:ext cx="2211387" cy="1109663"/>
            <a:chOff x="589" y="1982"/>
            <a:chExt cx="1393" cy="699"/>
          </a:xfrm>
        </p:grpSpPr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2DB889B3-B55C-E94B-B323-72AECF179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9FE4B9D3-FE8A-7E4C-8E08-01C28E8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274"/>
              <a:ext cx="139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datagram from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6729A767-0894-134A-B58D-6CE959F3ABBB}"/>
              </a:ext>
            </a:extLst>
          </p:cNvPr>
          <p:cNvGrpSpPr>
            <a:grpSpLocks/>
          </p:cNvGrpSpPr>
          <p:nvPr/>
        </p:nvGrpSpPr>
        <p:grpSpPr bwMode="auto">
          <a:xfrm>
            <a:off x="2607679" y="4405147"/>
            <a:ext cx="4202112" cy="1698625"/>
            <a:chOff x="755" y="2696"/>
            <a:chExt cx="2647" cy="1070"/>
          </a:xfrm>
        </p:grpSpPr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45FE834E-F5E7-9341-B57D-B054DC6E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2835"/>
              <a:ext cx="106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specifying 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 address,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 number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77A2D0F4-2C33-7B48-B528-6DAF87636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696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7CA0ACB-6768-D649-A01B-D103D4E2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95" y="1465007"/>
            <a:ext cx="3286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serverIP)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534349" y="1399326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C47B214-54CF-3041-98BF-A73AC365F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262BF-8746-DA22-B9F4-7F0AB164CADF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43225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36333E5-2CE2-9346-82C1-DACAC29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044" y="1906313"/>
            <a:ext cx="5889754" cy="4267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'hostname'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message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clientSocket.sendto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(serverName,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modifiedMessage, serverAddress = 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clientSocket.recvfrom(2048)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print(modifiedMessage.decode())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4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UDPClient</a:t>
            </a:r>
          </a:p>
        </p:txBody>
      </p:sp>
      <p:grpSp>
        <p:nvGrpSpPr>
          <p:cNvPr id="102" name="Group 46">
            <a:extLst>
              <a:ext uri="{FF2B5EF4-FFF2-40B4-BE49-F238E27FC236}">
                <a16:creationId xmlns:a16="http://schemas.microsoft.com/office/drawing/2014/main" id="{F406A622-9128-8442-A93C-56AFB56A7A29}"/>
              </a:ext>
            </a:extLst>
          </p:cNvPr>
          <p:cNvGrpSpPr>
            <a:grpSpLocks/>
          </p:cNvGrpSpPr>
          <p:nvPr/>
        </p:nvGrpSpPr>
        <p:grpSpPr bwMode="auto">
          <a:xfrm>
            <a:off x="2456662" y="1963666"/>
            <a:ext cx="3023734" cy="297517"/>
            <a:chOff x="-242132" y="1766968"/>
            <a:chExt cx="3023579" cy="298280"/>
          </a:xfrm>
        </p:grpSpPr>
        <p:sp>
          <p:nvSpPr>
            <p:cNvPr id="103" name="TextBox 3">
              <a:extLst>
                <a:ext uri="{FF2B5EF4-FFF2-40B4-BE49-F238E27FC236}">
                  <a16:creationId xmlns:a16="http://schemas.microsoft.com/office/drawing/2014/main" id="{12DA0434-01DE-E046-B7D5-1EDBB8B2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2132" y="1766968"/>
              <a:ext cx="3023579" cy="298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include Python’s socket library</a:t>
              </a:r>
            </a:p>
          </p:txBody>
        </p:sp>
        <p:cxnSp>
          <p:nvCxnSpPr>
            <p:cNvPr id="104" name="Straight Connector 10">
              <a:extLst>
                <a:ext uri="{FF2B5EF4-FFF2-40B4-BE49-F238E27FC236}">
                  <a16:creationId xmlns:a16="http://schemas.microsoft.com/office/drawing/2014/main" id="{3C3F6D39-A2A8-4349-A503-867255F17A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371" y="1930400"/>
              <a:ext cx="37032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0A55EB29-DB79-7645-BE78-7EACF4B9A12B}"/>
              </a:ext>
            </a:extLst>
          </p:cNvPr>
          <p:cNvGrpSpPr>
            <a:grpSpLocks/>
          </p:cNvGrpSpPr>
          <p:nvPr/>
        </p:nvGrpSpPr>
        <p:grpSpPr bwMode="auto">
          <a:xfrm>
            <a:off x="3344907" y="2997131"/>
            <a:ext cx="2943680" cy="307777"/>
            <a:chOff x="1211823" y="2904386"/>
            <a:chExt cx="2271818" cy="307392"/>
          </a:xfrm>
        </p:grpSpPr>
        <p:sp>
          <p:nvSpPr>
            <p:cNvPr id="106" name="TextBox 31">
              <a:extLst>
                <a:ext uri="{FF2B5EF4-FFF2-40B4-BE49-F238E27FC236}">
                  <a16:creationId xmlns:a16="http://schemas.microsoft.com/office/drawing/2014/main" id="{75D75C6C-85BB-3C40-92D3-8502CEAB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23" y="2904386"/>
              <a:ext cx="2271818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107" name="Straight Connector 32">
              <a:extLst>
                <a:ext uri="{FF2B5EF4-FFF2-40B4-BE49-F238E27FC236}">
                  <a16:creationId xmlns:a16="http://schemas.microsoft.com/office/drawing/2014/main" id="{DCDED167-6BDC-964B-B56B-76A2BB3720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8965" y="3080272"/>
              <a:ext cx="28870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48">
            <a:extLst>
              <a:ext uri="{FF2B5EF4-FFF2-40B4-BE49-F238E27FC236}">
                <a16:creationId xmlns:a16="http://schemas.microsoft.com/office/drawing/2014/main" id="{25E66BBE-B082-AC48-AE42-0CA9F6FF4A7B}"/>
              </a:ext>
            </a:extLst>
          </p:cNvPr>
          <p:cNvGrpSpPr>
            <a:grpSpLocks/>
          </p:cNvGrpSpPr>
          <p:nvPr/>
        </p:nvGrpSpPr>
        <p:grpSpPr bwMode="auto">
          <a:xfrm>
            <a:off x="2988803" y="3664103"/>
            <a:ext cx="2943680" cy="297517"/>
            <a:chOff x="320502" y="3822598"/>
            <a:chExt cx="2944213" cy="297415"/>
          </a:xfrm>
        </p:grpSpPr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CD0C6081-C6B7-2641-80D1-E2DED8E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02" y="3822598"/>
              <a:ext cx="2944213" cy="297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get user keyboard input </a:t>
              </a:r>
            </a:p>
          </p:txBody>
        </p:sp>
        <p:cxnSp>
          <p:nvCxnSpPr>
            <p:cNvPr id="110" name="Straight Connector 35">
              <a:extLst>
                <a:ext uri="{FF2B5EF4-FFF2-40B4-BE49-F238E27FC236}">
                  <a16:creationId xmlns:a16="http://schemas.microsoft.com/office/drawing/2014/main" id="{A49CAC45-33DD-284A-9C51-3E8086DB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0360" y="3968752"/>
              <a:ext cx="38106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" name="Group 49">
            <a:extLst>
              <a:ext uri="{FF2B5EF4-FFF2-40B4-BE49-F238E27FC236}">
                <a16:creationId xmlns:a16="http://schemas.microsoft.com/office/drawing/2014/main" id="{48C468B7-1DC1-CB4A-8733-4EA18F6E3330}"/>
              </a:ext>
            </a:extLst>
          </p:cNvPr>
          <p:cNvGrpSpPr>
            <a:grpSpLocks/>
          </p:cNvGrpSpPr>
          <p:nvPr/>
        </p:nvGrpSpPr>
        <p:grpSpPr bwMode="auto">
          <a:xfrm>
            <a:off x="589926" y="4010877"/>
            <a:ext cx="4778572" cy="307777"/>
            <a:chOff x="-2057015" y="4094341"/>
            <a:chExt cx="4779099" cy="307008"/>
          </a:xfrm>
        </p:grpSpPr>
        <p:sp>
          <p:nvSpPr>
            <p:cNvPr id="112" name="TextBox 36">
              <a:extLst>
                <a:ext uri="{FF2B5EF4-FFF2-40B4-BE49-F238E27FC236}">
                  <a16:creationId xmlns:a16="http://schemas.microsoft.com/office/drawing/2014/main" id="{829D5E68-A72B-B34D-8934-6A5802454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57015" y="4094341"/>
              <a:ext cx="4723287" cy="307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attach server name, port to message; send into socket</a:t>
              </a:r>
            </a:p>
          </p:txBody>
        </p:sp>
        <p:cxnSp>
          <p:nvCxnSpPr>
            <p:cNvPr id="113" name="Straight Connector 39">
              <a:extLst>
                <a:ext uri="{FF2B5EF4-FFF2-40B4-BE49-F238E27FC236}">
                  <a16:creationId xmlns:a16="http://schemas.microsoft.com/office/drawing/2014/main" id="{B03E6B6D-23CC-9947-A802-0FCAD6FE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0668" y="4261938"/>
              <a:ext cx="361416" cy="55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55">
            <a:extLst>
              <a:ext uri="{FF2B5EF4-FFF2-40B4-BE49-F238E27FC236}">
                <a16:creationId xmlns:a16="http://schemas.microsoft.com/office/drawing/2014/main" id="{D3297448-7869-B14A-9507-C168A822334C}"/>
              </a:ext>
            </a:extLst>
          </p:cNvPr>
          <p:cNvGrpSpPr>
            <a:grpSpLocks/>
          </p:cNvGrpSpPr>
          <p:nvPr/>
        </p:nvGrpSpPr>
        <p:grpSpPr bwMode="auto">
          <a:xfrm>
            <a:off x="1645918" y="5411634"/>
            <a:ext cx="3787622" cy="307776"/>
            <a:chOff x="-1061954" y="5487008"/>
            <a:chExt cx="3788048" cy="307391"/>
          </a:xfrm>
        </p:grpSpPr>
        <p:sp>
          <p:nvSpPr>
            <p:cNvPr id="115" name="TextBox 61">
              <a:extLst>
                <a:ext uri="{FF2B5EF4-FFF2-40B4-BE49-F238E27FC236}">
                  <a16:creationId xmlns:a16="http://schemas.microsoft.com/office/drawing/2014/main" id="{F3DDBD5F-F332-4149-B743-63C7CFA3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1954" y="5487008"/>
              <a:ext cx="3684841" cy="307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print out received string and close socket</a:t>
              </a:r>
            </a:p>
          </p:txBody>
        </p:sp>
        <p:cxnSp>
          <p:nvCxnSpPr>
            <p:cNvPr id="116" name="Straight Connector 62">
              <a:extLst>
                <a:ext uri="{FF2B5EF4-FFF2-40B4-BE49-F238E27FC236}">
                  <a16:creationId xmlns:a16="http://schemas.microsoft.com/office/drawing/2014/main" id="{0E7498AA-C1D3-274D-B0D2-D6ED3F088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661" y="5657831"/>
              <a:ext cx="41643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" name="Group 54">
            <a:extLst>
              <a:ext uri="{FF2B5EF4-FFF2-40B4-BE49-F238E27FC236}">
                <a16:creationId xmlns:a16="http://schemas.microsoft.com/office/drawing/2014/main" id="{7E74A29F-5607-FC4D-9A4A-9324DFA726A6}"/>
              </a:ext>
            </a:extLst>
          </p:cNvPr>
          <p:cNvGrpSpPr>
            <a:grpSpLocks/>
          </p:cNvGrpSpPr>
          <p:nvPr/>
        </p:nvGrpSpPr>
        <p:grpSpPr bwMode="auto">
          <a:xfrm>
            <a:off x="2137532" y="4571815"/>
            <a:ext cx="4091095" cy="440025"/>
            <a:chOff x="-493741" y="4530536"/>
            <a:chExt cx="4090757" cy="440321"/>
          </a:xfrm>
        </p:grpSpPr>
        <p:sp>
          <p:nvSpPr>
            <p:cNvPr id="118" name="TextBox 56">
              <a:extLst>
                <a:ext uri="{FF2B5EF4-FFF2-40B4-BE49-F238E27FC236}">
                  <a16:creationId xmlns:a16="http://schemas.microsoft.com/office/drawing/2014/main" id="{4535E505-0C85-C345-9726-A22F7821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93741" y="4662874"/>
              <a:ext cx="4090757" cy="30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reply data (bytes) from socket</a:t>
              </a:r>
            </a:p>
          </p:txBody>
        </p:sp>
        <p:cxnSp>
          <p:nvCxnSpPr>
            <p:cNvPr id="119" name="Straight Connector 59">
              <a:extLst>
                <a:ext uri="{FF2B5EF4-FFF2-40B4-BE49-F238E27FC236}">
                  <a16:creationId xmlns:a16="http://schemas.microsoft.com/office/drawing/2014/main" id="{DD1F2FDB-E293-DF42-9B53-AA2F24A60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53">
              <a:extLst>
                <a:ext uri="{FF2B5EF4-FFF2-40B4-BE49-F238E27FC236}">
                  <a16:creationId xmlns:a16="http://schemas.microsoft.com/office/drawing/2014/main" id="{97123429-EC80-5746-ADCF-168DB6F1F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72D9EA9-9DC6-CC43-A093-63DB326C6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716B03-306D-C35F-E056-9A7C759C2994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42EF1-8EF8-F47C-B216-787C1AE4F978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51265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86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UDPServer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69C030C5-F3D0-9E44-ABCB-6457753A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962946"/>
            <a:ext cx="6128601" cy="345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</a:t>
            </a:r>
            <a:r>
              <a:rPr kumimoji="0" lang="fr-F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''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 server is ready to receive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message, clientAddress = serverSocket.recvfrom(2048)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modifiedMessage = message.decode().upper()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serverSocket.sendto(modifiedMessage.encode(),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clientAddress)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E6794E5D-F097-A04E-9B91-603D87E112BE}"/>
              </a:ext>
            </a:extLst>
          </p:cNvPr>
          <p:cNvGrpSpPr>
            <a:grpSpLocks/>
          </p:cNvGrpSpPr>
          <p:nvPr/>
        </p:nvGrpSpPr>
        <p:grpSpPr bwMode="auto">
          <a:xfrm>
            <a:off x="3352917" y="2744875"/>
            <a:ext cx="2558753" cy="307975"/>
            <a:chOff x="732830" y="2581901"/>
            <a:chExt cx="2559082" cy="307777"/>
          </a:xfrm>
        </p:grpSpPr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529ABA9E-2387-AB44-B717-09C05F742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30" y="2581901"/>
              <a:ext cx="25590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28" name="Straight Connector 32">
              <a:extLst>
                <a:ext uri="{FF2B5EF4-FFF2-40B4-BE49-F238E27FC236}">
                  <a16:creationId xmlns:a16="http://schemas.microsoft.com/office/drawing/2014/main" id="{103D9E9D-7411-A240-B0CE-7B858CF05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4178" y="2749550"/>
              <a:ext cx="358094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F985C9C4-F94B-CC47-9BE8-1892C6168FD0}"/>
              </a:ext>
            </a:extLst>
          </p:cNvPr>
          <p:cNvGrpSpPr>
            <a:grpSpLocks/>
          </p:cNvGrpSpPr>
          <p:nvPr/>
        </p:nvGrpSpPr>
        <p:grpSpPr bwMode="auto">
          <a:xfrm>
            <a:off x="1773888" y="3108924"/>
            <a:ext cx="3605785" cy="307777"/>
            <a:chOff x="-896820" y="3018353"/>
            <a:chExt cx="3607385" cy="307392"/>
          </a:xfrm>
        </p:grpSpPr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8032DBCE-C286-BB46-BD1F-9805EEA31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6820" y="3018353"/>
              <a:ext cx="3607385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bind socket to local port number 12000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47DB91-CB9C-004F-8F0B-B960A536F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75948" y="3171825"/>
              <a:ext cx="334255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D747856B-2F4C-494D-8DDA-72B42F0090C3}"/>
              </a:ext>
            </a:extLst>
          </p:cNvPr>
          <p:cNvGrpSpPr>
            <a:grpSpLocks/>
          </p:cNvGrpSpPr>
          <p:nvPr/>
        </p:nvGrpSpPr>
        <p:grpSpPr bwMode="auto">
          <a:xfrm>
            <a:off x="3884090" y="3825856"/>
            <a:ext cx="1488056" cy="298450"/>
            <a:chOff x="1222134" y="3803733"/>
            <a:chExt cx="1488522" cy="299227"/>
          </a:xfrm>
        </p:grpSpPr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B9333DFF-5997-FD45-82AB-CE3AE473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134" y="3803733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C5C98F9A-B437-0647-8271-AFD3AB07B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7604" y="3964781"/>
              <a:ext cx="343052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D0BDCF5E-DA2B-5844-BD1C-AC1F96949F3B}"/>
              </a:ext>
            </a:extLst>
          </p:cNvPr>
          <p:cNvGrpSpPr>
            <a:grpSpLocks/>
          </p:cNvGrpSpPr>
          <p:nvPr/>
        </p:nvGrpSpPr>
        <p:grpSpPr bwMode="auto">
          <a:xfrm>
            <a:off x="1304089" y="4147117"/>
            <a:ext cx="4068011" cy="502702"/>
            <a:chOff x="-1394433" y="3835897"/>
            <a:chExt cx="4067973" cy="502591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56E8BB3-6722-944E-9388-9EAA07C52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94433" y="3835897"/>
              <a:ext cx="3841634" cy="50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from UDP socket into message, getting client’s address (client IP and port)</a:t>
              </a:r>
            </a:p>
          </p:txBody>
        </p: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BAFF573C-9254-4D42-BF1F-B58175A5C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0643" y="3987004"/>
              <a:ext cx="342897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49C1836C-5DBA-F94B-B925-ABC592A1A1AD}"/>
              </a:ext>
            </a:extLst>
          </p:cNvPr>
          <p:cNvGrpSpPr>
            <a:grpSpLocks/>
          </p:cNvGrpSpPr>
          <p:nvPr/>
        </p:nvGrpSpPr>
        <p:grpSpPr bwMode="auto">
          <a:xfrm>
            <a:off x="1619318" y="4783930"/>
            <a:ext cx="3841670" cy="307777"/>
            <a:chOff x="-1179917" y="4521468"/>
            <a:chExt cx="3842964" cy="307392"/>
          </a:xfrm>
        </p:grpSpPr>
        <p:sp>
          <p:nvSpPr>
            <p:cNvPr id="39" name="TextBox 61">
              <a:extLst>
                <a:ext uri="{FF2B5EF4-FFF2-40B4-BE49-F238E27FC236}">
                  <a16:creationId xmlns:a16="http://schemas.microsoft.com/office/drawing/2014/main" id="{19797EBA-27BC-C641-806F-7436C22CF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79917" y="4521468"/>
              <a:ext cx="3842964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 upper case string back to this client</a:t>
              </a:r>
            </a:p>
          </p:txBody>
        </p:sp>
        <p:cxnSp>
          <p:nvCxnSpPr>
            <p:cNvPr id="40" name="Straight Connector 62">
              <a:extLst>
                <a:ext uri="{FF2B5EF4-FFF2-40B4-BE49-F238E27FC236}">
                  <a16:creationId xmlns:a16="http://schemas.microsoft.com/office/drawing/2014/main" id="{D86F62BC-7674-424E-BFC8-DE9ED1B60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7617" y="4675165"/>
              <a:ext cx="35651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E32FD753-2E15-6843-B14D-A35BDF16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565F1-FD73-BCAD-130F-72DB894CAF62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F487B-7DC0-F121-1CB5-D8B9BCA9BCFC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30685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 </a:t>
            </a:r>
            <a:r>
              <a:rPr lang="en-US" altLang="en-US" sz="4400" dirty="0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with TCP</a:t>
            </a:r>
            <a:endParaRPr lang="en-US" altLang="en-US" sz="5400" dirty="0">
              <a:solidFill>
                <a:srgbClr val="C00000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F8F00D4-4B13-DD4C-9070-F4C3E1AA319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29" y="1455785"/>
            <a:ext cx="5074444" cy="509053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must have created socket (door) that welcomes client’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contact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pPr marL="466725" indent="-292100"/>
            <a:r>
              <a:rPr lang="en-US" altLang="en-US" sz="2400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pPr marL="466725" indent="-233363"/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 client creates socket: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client TCP establishes connection to server TCP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1AC5695-3887-C247-97DD-C7F6FB635E1B}"/>
              </a:ext>
            </a:extLst>
          </p:cNvPr>
          <p:cNvSpPr txBox="1">
            <a:spLocks noChangeArrowheads="1"/>
          </p:cNvSpPr>
          <p:nvPr/>
        </p:nvSpPr>
        <p:spPr>
          <a:xfrm>
            <a:off x="5735469" y="1426964"/>
            <a:ext cx="5794702" cy="3000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contacted by client,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 TCP creates new socket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for server process to communicate with that particular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allows server to talk with multiple clients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 source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port # and IP address used to distinguish clients (more in Chap 3)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E49A6-28AD-904A-9A83-FE9DE35715C0}"/>
              </a:ext>
            </a:extLst>
          </p:cNvPr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FDF457-3529-1A4B-B2F1-0A6DF5BAF2E1}"/>
                </a:ext>
              </a:extLst>
            </p:cNvPr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Box 6">
              <a:extLst>
                <a:ext uri="{FF2B5EF4-FFF2-40B4-BE49-F238E27FC236}">
                  <a16:creationId xmlns:a16="http://schemas.microsoft.com/office/drawing/2014/main" id="{3290FC86-CCC3-9042-8394-E0092848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TCP provides reliable, in-order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byte-stream transfer 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pipe”)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between client and server processes</a:t>
              </a:r>
            </a:p>
          </p:txBody>
        </p: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8B55559B-7D61-6147-A322-49E351E9D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4B1395F7-3763-B74C-AF37-1DAC6BC4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EC474FEA-9E73-5248-89ED-9528E3BFB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viewpoint</a:t>
                </a:r>
              </a:p>
            </p:txBody>
          </p:sp>
        </p:grp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3ECFECD-C9B5-E345-AAD0-01569E2A9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72926-F411-4DA1-FF6F-CF76FDCBE9C2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289869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141" y="1421154"/>
            <a:ext cx="31073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hostid)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947735" y="136587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3">
            <a:extLst>
              <a:ext uri="{FF2B5EF4-FFF2-40B4-BE49-F238E27FC236}">
                <a16:creationId xmlns:a16="http://schemas.microsoft.com/office/drawing/2014/main" id="{17F245AD-D1C8-1047-B190-F3B9F38A51DA}"/>
              </a:ext>
            </a:extLst>
          </p:cNvPr>
          <p:cNvGrpSpPr>
            <a:grpSpLocks/>
          </p:cNvGrpSpPr>
          <p:nvPr/>
        </p:nvGrpSpPr>
        <p:grpSpPr bwMode="auto">
          <a:xfrm>
            <a:off x="3761300" y="3384960"/>
            <a:ext cx="1931987" cy="930275"/>
            <a:chOff x="827" y="2027"/>
            <a:chExt cx="1217" cy="586"/>
          </a:xfrm>
        </p:grpSpPr>
        <p:sp>
          <p:nvSpPr>
            <p:cNvPr id="101" name="Text Box 4">
              <a:extLst>
                <a:ext uri="{FF2B5EF4-FFF2-40B4-BE49-F238E27FC236}">
                  <a16:creationId xmlns:a16="http://schemas.microsoft.com/office/drawing/2014/main" id="{96ECA07F-984C-9640-8279-02E0C42A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incoming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3EED45EC-0C3C-CD4F-8B77-F31CC4D8B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 =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serverSocket.accept()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3" name="Group 6">
            <a:extLst>
              <a:ext uri="{FF2B5EF4-FFF2-40B4-BE49-F238E27FC236}">
                <a16:creationId xmlns:a16="http://schemas.microsoft.com/office/drawing/2014/main" id="{942F4A59-7245-424D-B343-8B3AE10F149D}"/>
              </a:ext>
            </a:extLst>
          </p:cNvPr>
          <p:cNvGrpSpPr>
            <a:grpSpLocks/>
          </p:cNvGrpSpPr>
          <p:nvPr/>
        </p:nvGrpSpPr>
        <p:grpSpPr bwMode="auto">
          <a:xfrm>
            <a:off x="3742250" y="2145123"/>
            <a:ext cx="2357437" cy="1317625"/>
            <a:chOff x="821" y="1246"/>
            <a:chExt cx="1485" cy="830"/>
          </a:xfrm>
        </p:grpSpPr>
        <p:grpSp>
          <p:nvGrpSpPr>
            <p:cNvPr id="104" name="Group 7">
              <a:extLst>
                <a:ext uri="{FF2B5EF4-FFF2-40B4-BE49-F238E27FC236}">
                  <a16:creationId xmlns:a16="http://schemas.microsoft.com/office/drawing/2014/main" id="{26B7DDA9-00F9-674D-BF38-CB98156F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106" name="Text Box 8">
                <a:extLst>
                  <a:ext uri="{FF2B5EF4-FFF2-40B4-BE49-F238E27FC236}">
                    <a16:creationId xmlns:a16="http://schemas.microsoft.com/office/drawing/2014/main" id="{EB10976F-C234-F04E-BDCB-D23AD8142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port=</a:t>
                </a:r>
                <a:r>
                  <a:rPr kumimoji="0" lang="en-US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ＭＳ Ｐゴシック" panose="020B0600070205080204" pitchFamily="34" charset="-128"/>
                    <a:cs typeface="+mn-cs"/>
                  </a:rPr>
                  <a:t>x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, for incoming request: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Text Box 9">
                <a:extLst>
                  <a:ext uri="{FF2B5EF4-FFF2-40B4-BE49-F238E27FC236}">
                    <a16:creationId xmlns:a16="http://schemas.microsoft.com/office/drawing/2014/main" id="{FE1C48C3-1411-C842-B695-AE75246E0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serverSocket = socket()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EFE8B30D-7531-1F4B-8F1D-2889E291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8" name="Group 11">
            <a:extLst>
              <a:ext uri="{FF2B5EF4-FFF2-40B4-BE49-F238E27FC236}">
                <a16:creationId xmlns:a16="http://schemas.microsoft.com/office/drawing/2014/main" id="{ACBB7887-7AB9-1344-A0D2-33A736B32882}"/>
              </a:ext>
            </a:extLst>
          </p:cNvPr>
          <p:cNvGrpSpPr>
            <a:grpSpLocks/>
          </p:cNvGrpSpPr>
          <p:nvPr/>
        </p:nvGrpSpPr>
        <p:grpSpPr bwMode="auto">
          <a:xfrm>
            <a:off x="7539550" y="3389723"/>
            <a:ext cx="2357437" cy="731837"/>
            <a:chOff x="3333" y="1202"/>
            <a:chExt cx="1485" cy="461"/>
          </a:xfrm>
        </p:grpSpPr>
        <p:sp>
          <p:nvSpPr>
            <p:cNvPr id="109" name="Text Box 12">
              <a:extLst>
                <a:ext uri="{FF2B5EF4-FFF2-40B4-BE49-F238E27FC236}">
                  <a16:creationId xmlns:a16="http://schemas.microsoft.com/office/drawing/2014/main" id="{7C40D8E2-34BB-B14D-99EA-EC4D8E46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202"/>
              <a:ext cx="14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socket,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 to 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hostid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, port=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x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13">
              <a:extLst>
                <a:ext uri="{FF2B5EF4-FFF2-40B4-BE49-F238E27FC236}">
                  <a16:creationId xmlns:a16="http://schemas.microsoft.com/office/drawing/2014/main" id="{7AB5735E-62F0-3342-99B5-3AA075145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 = socket()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24">
            <a:extLst>
              <a:ext uri="{FF2B5EF4-FFF2-40B4-BE49-F238E27FC236}">
                <a16:creationId xmlns:a16="http://schemas.microsoft.com/office/drawing/2014/main" id="{EE4290C4-C540-4C43-B98B-8DA5381EA7C7}"/>
              </a:ext>
            </a:extLst>
          </p:cNvPr>
          <p:cNvGrpSpPr>
            <a:grpSpLocks/>
          </p:cNvGrpSpPr>
          <p:nvPr/>
        </p:nvGrpSpPr>
        <p:grpSpPr bwMode="auto">
          <a:xfrm>
            <a:off x="5382137" y="4177123"/>
            <a:ext cx="4062413" cy="1371600"/>
            <a:chOff x="1848" y="2526"/>
            <a:chExt cx="2559" cy="864"/>
          </a:xfrm>
        </p:grpSpPr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F96A14E1-46BB-E441-BD29-639D3BF8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" name="Group 26">
              <a:extLst>
                <a:ext uri="{FF2B5EF4-FFF2-40B4-BE49-F238E27FC236}">
                  <a16:creationId xmlns:a16="http://schemas.microsoft.com/office/drawing/2014/main" id="{5ED3F8AA-60DC-A346-9E5F-E29F6BA4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9" cy="516"/>
              <a:chOff x="1848" y="2526"/>
              <a:chExt cx="2559" cy="516"/>
            </a:xfrm>
          </p:grpSpPr>
          <p:sp>
            <p:nvSpPr>
              <p:cNvPr id="114" name="Text Box 27">
                <a:extLst>
                  <a:ext uri="{FF2B5EF4-FFF2-40B4-BE49-F238E27FC236}">
                    <a16:creationId xmlns:a16="http://schemas.microsoft.com/office/drawing/2014/main" id="{8F25CD2B-A067-E44F-BD6A-549F5C3DB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7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 request using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28">
                <a:extLst>
                  <a:ext uri="{FF2B5EF4-FFF2-40B4-BE49-F238E27FC236}">
                    <a16:creationId xmlns:a16="http://schemas.microsoft.com/office/drawing/2014/main" id="{AD461D4B-E47B-A345-9632-F935FCFBB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Line 29">
                <a:extLst>
                  <a:ext uri="{FF2B5EF4-FFF2-40B4-BE49-F238E27FC236}">
                    <a16:creationId xmlns:a16="http://schemas.microsoft.com/office/drawing/2014/main" id="{A6330BBE-6EEE-7E44-A9AE-95D14BB59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7" name="Group 30">
            <a:extLst>
              <a:ext uri="{FF2B5EF4-FFF2-40B4-BE49-F238E27FC236}">
                <a16:creationId xmlns:a16="http://schemas.microsoft.com/office/drawing/2014/main" id="{C2C60A7C-9F85-CC40-A5F2-4EA4B69999A4}"/>
              </a:ext>
            </a:extLst>
          </p:cNvPr>
          <p:cNvGrpSpPr>
            <a:grpSpLocks/>
          </p:cNvGrpSpPr>
          <p:nvPr/>
        </p:nvGrpSpPr>
        <p:grpSpPr bwMode="auto">
          <a:xfrm>
            <a:off x="3751775" y="4272373"/>
            <a:ext cx="4097337" cy="1490662"/>
            <a:chOff x="821" y="2586"/>
            <a:chExt cx="2581" cy="939"/>
          </a:xfrm>
        </p:grpSpPr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9B1FDBB8-2D0E-0148-926C-35E78571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request from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E067E97F-BD76-CA4D-8001-FDBBB19C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B80CAF82-B68A-6743-9CBF-29BD44503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21022D29-A2BF-2F42-AB7D-DD5736B2C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82228A3E-396F-244B-822E-ACF1690A6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DD1A5005-D6A8-DF4C-876E-C0F3D852EBA6}"/>
              </a:ext>
            </a:extLst>
          </p:cNvPr>
          <p:cNvGrpSpPr>
            <a:grpSpLocks/>
          </p:cNvGrpSpPr>
          <p:nvPr/>
        </p:nvGrpSpPr>
        <p:grpSpPr bwMode="auto">
          <a:xfrm>
            <a:off x="5371025" y="3472273"/>
            <a:ext cx="2200275" cy="587375"/>
            <a:chOff x="3043" y="1189"/>
            <a:chExt cx="1386" cy="370"/>
          </a:xfrm>
        </p:grpSpPr>
        <p:sp>
          <p:nvSpPr>
            <p:cNvPr id="124" name="Line 37">
              <a:extLst>
                <a:ext uri="{FF2B5EF4-FFF2-40B4-BE49-F238E27FC236}">
                  <a16:creationId xmlns:a16="http://schemas.microsoft.com/office/drawing/2014/main" id="{81B4F580-1F65-E540-9F46-45075CD5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Text Box 38">
              <a:extLst>
                <a:ext uri="{FF2B5EF4-FFF2-40B4-BE49-F238E27FC236}">
                  <a16:creationId xmlns:a16="http://schemas.microsoft.com/office/drawing/2014/main" id="{30516E51-0850-1846-9E67-14E9AE0C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TCP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setup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6" name="Group 53">
            <a:extLst>
              <a:ext uri="{FF2B5EF4-FFF2-40B4-BE49-F238E27FC236}">
                <a16:creationId xmlns:a16="http://schemas.microsoft.com/office/drawing/2014/main" id="{76CBC147-BDC3-9B41-973C-967836913ABE}"/>
              </a:ext>
            </a:extLst>
          </p:cNvPr>
          <p:cNvGrpSpPr>
            <a:grpSpLocks/>
          </p:cNvGrpSpPr>
          <p:nvPr/>
        </p:nvGrpSpPr>
        <p:grpSpPr bwMode="auto">
          <a:xfrm>
            <a:off x="3702562" y="4620035"/>
            <a:ext cx="5457825" cy="1954213"/>
            <a:chOff x="832" y="2713"/>
            <a:chExt cx="3438" cy="1231"/>
          </a:xfrm>
        </p:grpSpPr>
        <p:sp>
          <p:nvSpPr>
            <p:cNvPr id="127" name="Text Box 15">
              <a:extLst>
                <a:ext uri="{FF2B5EF4-FFF2-40B4-BE49-F238E27FC236}">
                  <a16:creationId xmlns:a16="http://schemas.microsoft.com/office/drawing/2014/main" id="{BD49C61F-B268-184F-AF89-17A24E52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12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6">
              <a:extLst>
                <a:ext uri="{FF2B5EF4-FFF2-40B4-BE49-F238E27FC236}">
                  <a16:creationId xmlns:a16="http://schemas.microsoft.com/office/drawing/2014/main" id="{2835A62D-1D4C-F44E-B258-9FD622CDE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196F5095-8EB1-E544-AC83-27077BF9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13"/>
              <a:ext cx="492" cy="306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0" name="Group 18">
              <a:extLst>
                <a:ext uri="{FF2B5EF4-FFF2-40B4-BE49-F238E27FC236}">
                  <a16:creationId xmlns:a16="http://schemas.microsoft.com/office/drawing/2014/main" id="{F4224D9F-D1DB-8E48-A119-9B3F4C3D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48"/>
              <a:ext cx="877" cy="696"/>
              <a:chOff x="3365" y="3375"/>
              <a:chExt cx="877" cy="696"/>
            </a:xfrm>
          </p:grpSpPr>
          <p:sp>
            <p:nvSpPr>
              <p:cNvPr id="131" name="Text Box 19">
                <a:extLst>
                  <a:ext uri="{FF2B5EF4-FFF2-40B4-BE49-F238E27FC236}">
                    <a16:creationId xmlns:a16="http://schemas.microsoft.com/office/drawing/2014/main" id="{F57939D5-24DF-6642-BEE7-6FF967E1D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reply from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20">
                <a:extLst>
                  <a:ext uri="{FF2B5EF4-FFF2-40B4-BE49-F238E27FC236}">
                    <a16:creationId xmlns:a16="http://schemas.microsoft.com/office/drawing/2014/main" id="{B8D472E2-53BD-364D-B6B9-D8A6525ED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3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Line 21">
                <a:extLst>
                  <a:ext uri="{FF2B5EF4-FFF2-40B4-BE49-F238E27FC236}">
                    <a16:creationId xmlns:a16="http://schemas.microsoft.com/office/drawing/2014/main" id="{92CB88C5-2A25-EE44-A282-4291659B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Slide Number Placeholder 2">
            <a:extLst>
              <a:ext uri="{FF2B5EF4-FFF2-40B4-BE49-F238E27FC236}">
                <a16:creationId xmlns:a16="http://schemas.microsoft.com/office/drawing/2014/main" id="{ED1B064B-3835-7243-A075-A2B6E297B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70A9B-D66A-ED5A-2652-39E85AF28E56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00001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32242A8E-B3CB-194E-B2B0-D62D05F9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332" y="2021516"/>
            <a:ext cx="5878982" cy="365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SOCK_STREAM)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clientSocket.connect((serverName,serverPort))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clientSocket.send(sentence.encode())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modifiedSentence = clientSocket.recv(1024)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('From Server:', modifiedSentence.decode())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B8056E7-3F65-9A48-BB93-0E9B6178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032" y="1538916"/>
            <a:ext cx="270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TCPClient</a:t>
            </a:r>
          </a:p>
        </p:txBody>
      </p: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0AF080-AE8D-BA48-B682-89E723677E64}"/>
              </a:ext>
            </a:extLst>
          </p:cNvPr>
          <p:cNvGrpSpPr>
            <a:grpSpLocks/>
          </p:cNvGrpSpPr>
          <p:nvPr/>
        </p:nvGrpSpPr>
        <p:grpSpPr bwMode="auto">
          <a:xfrm>
            <a:off x="1656643" y="3166108"/>
            <a:ext cx="3481226" cy="584775"/>
            <a:chOff x="-792500" y="2796587"/>
            <a:chExt cx="3481672" cy="584044"/>
          </a:xfrm>
        </p:grpSpPr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8564B35A-2400-144A-A554-A0822DEA8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2500" y="2796587"/>
              <a:ext cx="2888177" cy="584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socket for server, remote port 12000</a:t>
              </a:r>
            </a:p>
          </p:txBody>
        </p:sp>
        <p:cxnSp>
          <p:nvCxnSpPr>
            <p:cNvPr id="29" name="Straight Connector 32">
              <a:extLst>
                <a:ext uri="{FF2B5EF4-FFF2-40B4-BE49-F238E27FC236}">
                  <a16:creationId xmlns:a16="http://schemas.microsoft.com/office/drawing/2014/main" id="{729CE148-4BC3-9844-81FA-3A670DB40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4C8C54F-60CE-974F-8DEC-48BF9D4D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541" y="2993923"/>
            <a:ext cx="2133599" cy="589517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1" name="Group 47">
            <a:extLst>
              <a:ext uri="{FF2B5EF4-FFF2-40B4-BE49-F238E27FC236}">
                <a16:creationId xmlns:a16="http://schemas.microsoft.com/office/drawing/2014/main" id="{E21D3C68-B8EF-A444-80F9-31E682114E08}"/>
              </a:ext>
            </a:extLst>
          </p:cNvPr>
          <p:cNvGrpSpPr>
            <a:grpSpLocks/>
          </p:cNvGrpSpPr>
          <p:nvPr/>
        </p:nvGrpSpPr>
        <p:grpSpPr bwMode="auto">
          <a:xfrm>
            <a:off x="970933" y="4616284"/>
            <a:ext cx="4182811" cy="338554"/>
            <a:chOff x="-1495096" y="3006031"/>
            <a:chExt cx="4184250" cy="33770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54A49-A84C-F34C-9198-710668B5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5096" y="3006031"/>
              <a:ext cx="3779615" cy="33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 need to attach server name, port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3589B-C5F2-A648-B005-02E951C7E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8EE22D5-1E7E-E545-A607-D85E87E6C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B8A40-56D4-9DD2-AF0E-9F099B943017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91010-C9D7-8A75-333E-224833A56823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95157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950741E-8292-7E41-84C1-46A070CA3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922450"/>
            <a:ext cx="626966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from socket import 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serverSocket.bind(('',serverPort))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serverSocket.listen(1)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print('The server is ready to receive')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addr = serverSocket.accept()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sentence = connectionSocket.recv(1024).decode()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capitalizedSentence = sentence.upper()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connectionSocket.send(capitalizedSentence.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                      encode())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connectionSocket.close()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1EF17F-3D4A-0B47-8BA1-C2C10358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439850"/>
            <a:ext cx="2827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TCPServer</a:t>
            </a: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E11A28B-1D9C-5D4D-9B45-8F8462E7E906}"/>
              </a:ext>
            </a:extLst>
          </p:cNvPr>
          <p:cNvGrpSpPr>
            <a:grpSpLocks/>
          </p:cNvGrpSpPr>
          <p:nvPr/>
        </p:nvGrpSpPr>
        <p:grpSpPr bwMode="auto">
          <a:xfrm>
            <a:off x="1724351" y="2556715"/>
            <a:ext cx="3374285" cy="338554"/>
            <a:chOff x="-749058" y="2414108"/>
            <a:chExt cx="3374330" cy="338257"/>
          </a:xfrm>
        </p:grpSpPr>
        <p:sp>
          <p:nvSpPr>
            <p:cNvPr id="16" name="TextBox 31">
              <a:extLst>
                <a:ext uri="{FF2B5EF4-FFF2-40B4-BE49-F238E27FC236}">
                  <a16:creationId xmlns:a16="http://schemas.microsoft.com/office/drawing/2014/main" id="{BE7B84C0-FF81-284C-B893-87D2A5F77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9058" y="2414108"/>
              <a:ext cx="3062331" cy="338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welcoming socket</a:t>
              </a:r>
            </a:p>
          </p:txBody>
        </p:sp>
        <p:cxnSp>
          <p:nvCxnSpPr>
            <p:cNvPr id="17" name="Straight Connector 32">
              <a:extLst>
                <a:ext uri="{FF2B5EF4-FFF2-40B4-BE49-F238E27FC236}">
                  <a16:creationId xmlns:a16="http://schemas.microsoft.com/office/drawing/2014/main" id="{9AC227D5-ACE3-9D45-9809-D827F0E36A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6730" y="2597150"/>
              <a:ext cx="4885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AAA7E9C-BFC7-834D-AA16-2DA4A476CDA2}"/>
              </a:ext>
            </a:extLst>
          </p:cNvPr>
          <p:cNvGrpSpPr>
            <a:grpSpLocks/>
          </p:cNvGrpSpPr>
          <p:nvPr/>
        </p:nvGrpSpPr>
        <p:grpSpPr bwMode="auto">
          <a:xfrm>
            <a:off x="2080634" y="3063061"/>
            <a:ext cx="3036870" cy="584775"/>
            <a:chOff x="-1667664" y="2908339"/>
            <a:chExt cx="4371910" cy="584044"/>
          </a:xfrm>
        </p:grpSpPr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DDD9E670-279E-624F-9241-0F4EB31CF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67664" y="2908339"/>
              <a:ext cx="4139198" cy="58404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begins listening for  incoming TCP requests</a:t>
              </a:r>
            </a:p>
          </p:txBody>
        </p:sp>
        <p:cxnSp>
          <p:nvCxnSpPr>
            <p:cNvPr id="20" name="Straight Connector 30">
              <a:extLst>
                <a:ext uri="{FF2B5EF4-FFF2-40B4-BE49-F238E27FC236}">
                  <a16:creationId xmlns:a16="http://schemas.microsoft.com/office/drawing/2014/main" id="{24B55155-A531-764D-80EA-161809A283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7825" y="3217286"/>
              <a:ext cx="73642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4E398AB3-CA85-1246-9B45-0A62FCD962C1}"/>
              </a:ext>
            </a:extLst>
          </p:cNvPr>
          <p:cNvGrpSpPr>
            <a:grpSpLocks/>
          </p:cNvGrpSpPr>
          <p:nvPr/>
        </p:nvGrpSpPr>
        <p:grpSpPr bwMode="auto">
          <a:xfrm>
            <a:off x="3328500" y="3824136"/>
            <a:ext cx="1858624" cy="297517"/>
            <a:chOff x="905004" y="3819988"/>
            <a:chExt cx="1859872" cy="298292"/>
          </a:xfrm>
        </p:grpSpPr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94C20932-E37A-A347-85B8-6A71FAB66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004" y="3819988"/>
              <a:ext cx="1859872" cy="29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23" name="Straight Connector 35">
              <a:extLst>
                <a:ext uri="{FF2B5EF4-FFF2-40B4-BE49-F238E27FC236}">
                  <a16:creationId xmlns:a16="http://schemas.microsoft.com/office/drawing/2014/main" id="{FAC42719-5F1D-0749-8621-F7DF2A166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64" y="3964782"/>
              <a:ext cx="52319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17">
            <a:extLst>
              <a:ext uri="{FF2B5EF4-FFF2-40B4-BE49-F238E27FC236}">
                <a16:creationId xmlns:a16="http://schemas.microsoft.com/office/drawing/2014/main" id="{F3B50B89-48C8-7E48-8FDE-4D6D8A826B11}"/>
              </a:ext>
            </a:extLst>
          </p:cNvPr>
          <p:cNvGrpSpPr>
            <a:grpSpLocks/>
          </p:cNvGrpSpPr>
          <p:nvPr/>
        </p:nvGrpSpPr>
        <p:grpSpPr bwMode="auto">
          <a:xfrm>
            <a:off x="906051" y="4140995"/>
            <a:ext cx="4273089" cy="502702"/>
            <a:chOff x="-812680" y="4044670"/>
            <a:chExt cx="3634217" cy="502843"/>
          </a:xfrm>
        </p:grpSpPr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F6449F-1FAC-0144-AA7B-94004903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2680" y="4044670"/>
              <a:ext cx="3634217" cy="502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waits on accept() for incoming requests, new socket created on return</a:t>
              </a:r>
            </a:p>
          </p:txBody>
        </p:sp>
        <p:cxnSp>
          <p:nvCxnSpPr>
            <p:cNvPr id="35" name="Straight Connector 39">
              <a:extLst>
                <a:ext uri="{FF2B5EF4-FFF2-40B4-BE49-F238E27FC236}">
                  <a16:creationId xmlns:a16="http://schemas.microsoft.com/office/drawing/2014/main" id="{1E61EC2C-2AF0-BD40-B849-E841D4D3D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7575" y="4188416"/>
              <a:ext cx="435213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2B25A781-3C5A-4345-B1BA-DEACB59F98D7}"/>
              </a:ext>
            </a:extLst>
          </p:cNvPr>
          <p:cNvGrpSpPr>
            <a:grpSpLocks/>
          </p:cNvGrpSpPr>
          <p:nvPr/>
        </p:nvGrpSpPr>
        <p:grpSpPr bwMode="auto">
          <a:xfrm>
            <a:off x="1951002" y="4771416"/>
            <a:ext cx="3154397" cy="584775"/>
            <a:chOff x="-463314" y="4140337"/>
            <a:chExt cx="3153124" cy="585085"/>
          </a:xfrm>
        </p:grpSpPr>
        <p:sp>
          <p:nvSpPr>
            <p:cNvPr id="37" name="TextBox 61">
              <a:extLst>
                <a:ext uri="{FF2B5EF4-FFF2-40B4-BE49-F238E27FC236}">
                  <a16:creationId xmlns:a16="http://schemas.microsoft.com/office/drawing/2014/main" id="{A4995AED-D7BB-0A43-8C79-4CAECC669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3314" y="4140337"/>
              <a:ext cx="2746043" cy="58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bytes from socket (but not address as in UDP)</a:t>
              </a:r>
            </a:p>
          </p:txBody>
        </p:sp>
        <p:cxnSp>
          <p:nvCxnSpPr>
            <p:cNvPr id="38" name="Straight Connector 62">
              <a:extLst>
                <a:ext uri="{FF2B5EF4-FFF2-40B4-BE49-F238E27FC236}">
                  <a16:creationId xmlns:a16="http://schemas.microsoft.com/office/drawing/2014/main" id="{39CA9B6C-408E-C74F-BCDD-01EC8665E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94710" y="4288764"/>
              <a:ext cx="49510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2EF79CA3-2450-FB47-A075-DE884877B7F1}"/>
              </a:ext>
            </a:extLst>
          </p:cNvPr>
          <p:cNvGrpSpPr>
            <a:grpSpLocks/>
          </p:cNvGrpSpPr>
          <p:nvPr/>
        </p:nvGrpSpPr>
        <p:grpSpPr bwMode="auto">
          <a:xfrm>
            <a:off x="1026276" y="5902558"/>
            <a:ext cx="4079124" cy="584775"/>
            <a:chOff x="-1411416" y="4686923"/>
            <a:chExt cx="4079374" cy="585153"/>
          </a:xfrm>
        </p:grpSpPr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4729B12D-4BE5-7649-A39B-A68529411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1416" y="4686923"/>
              <a:ext cx="3902071" cy="585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 connection to this client (but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welcoming socket)</a:t>
              </a:r>
            </a:p>
          </p:txBody>
        </p:sp>
        <p:cxnSp>
          <p:nvCxnSpPr>
            <p:cNvPr id="41" name="Straight Connector 33">
              <a:extLst>
                <a:ext uri="{FF2B5EF4-FFF2-40B4-BE49-F238E27FC236}">
                  <a16:creationId xmlns:a16="http://schemas.microsoft.com/office/drawing/2014/main" id="{445EB81E-B12F-454D-80B8-5484BE29F5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72628" y="4843734"/>
              <a:ext cx="49533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CBD18514-E668-5544-8BF7-53F711E4F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920B5-7A1E-85CA-515F-41A5A4755525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E7B1B-1EBE-6FEF-1868-B0AF03BE484A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ln w="381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IMPORTANT</a:t>
            </a:r>
            <a:endParaRPr lang="en-SE" sz="2800" dirty="0"/>
          </a:p>
        </p:txBody>
      </p:sp>
    </p:spTree>
    <p:extLst>
      <p:ext uri="{BB962C8B-B14F-4D97-AF65-F5344CB8AC3E}">
        <p14:creationId xmlns:p14="http://schemas.microsoft.com/office/powerpoint/2010/main" val="145332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13b610e-d3b5-490f-b165-988100e8232a}" enabled="1" method="Standard" siteId="{5a4ba6f9-f531-4f32-9467-398f19e69de4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18245</TotalTime>
  <Words>1196</Words>
  <Application>Microsoft Office PowerPoint</Application>
  <PresentationFormat>Widescreen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ＭＳ Ｐゴシック</vt:lpstr>
      <vt:lpstr>ZapfDingbats</vt:lpstr>
      <vt:lpstr>Arial</vt:lpstr>
      <vt:lpstr>Calibri</vt:lpstr>
      <vt:lpstr>Calibri Light</vt:lpstr>
      <vt:lpstr>Comic Sans MS</vt:lpstr>
      <vt:lpstr>Courier New</vt:lpstr>
      <vt:lpstr>Gill Sans MT</vt:lpstr>
      <vt:lpstr>Tahoma</vt:lpstr>
      <vt:lpstr>Times New Roman</vt:lpstr>
      <vt:lpstr>Wingdings</vt:lpstr>
      <vt:lpstr>Office Theme</vt:lpstr>
      <vt:lpstr>PowerPoint Presentation</vt:lpstr>
      <vt:lpstr>Application Layer: Overview</vt:lpstr>
      <vt:lpstr>Socket programming </vt:lpstr>
      <vt:lpstr>Socket programming </vt:lpstr>
      <vt:lpstr>Socket programming with UDP </vt:lpstr>
      <vt:lpstr>Client/server socket interaction: UDP</vt:lpstr>
      <vt:lpstr>Example app: UDP client</vt:lpstr>
      <vt:lpstr>Example app: UDP server</vt:lpstr>
      <vt:lpstr>Socket programming with TCP</vt:lpstr>
      <vt:lpstr>Client/server socket interaction: TCP</vt:lpstr>
      <vt:lpstr>Example app: TCP client</vt:lpstr>
      <vt:lpstr>Example app: TCP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Zonghua Gu</cp:lastModifiedBy>
  <cp:revision>330</cp:revision>
  <dcterms:created xsi:type="dcterms:W3CDTF">2020-01-18T07:24:59Z</dcterms:created>
  <dcterms:modified xsi:type="dcterms:W3CDTF">2026-01-29T03:36:14Z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Theme:5</vt:lpwstr>
  </property>
  <property fmtid="{D5CDD505-2E9C-101B-9397-08002B2CF9AE}" pid="3" name="ClassificationContentMarkingHeaderText">
    <vt:lpwstr>Begränsad delning</vt:lpwstr>
  </property>
</Properties>
</file>